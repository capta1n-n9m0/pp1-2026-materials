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087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0B957-968D-4726-A96C-462913478188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A7E7C-E62B-4E36-B626-CD3676C5D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2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programs of this class are on Blackboard: Week 6 module, Class 11 code. It is a zip file. Unzip it and open the folder in Visual Studio Code. Every file has a comment at the top: what the program does, how to run it, and a list called Try with small changes to make. Make them.</a:t>
            </a:r>
          </a:p>
          <a:p>
            <a:endParaRPr lang="en-US"/>
          </a:p>
          <a:p>
            <a:r>
              <a:rPr lang="en-US"/>
              <a:t>How to run a program. Same as every week. In the terminal type gcc -Wall name.c -o name and press Enter, then ./name (or .\name in Windows PowerShell) and press Enter.</a:t>
            </a:r>
          </a:p>
          <a:p>
            <a:endParaRPr lang="en-US"/>
          </a:p>
          <a:p>
            <a:r>
              <a:rPr lang="en-US"/>
              <a:t>Until now every value in your programs was a number. Today your programs start to work with text: one character, and then whole words and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3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Quiz 3 is on Friday 16 October, in the first 25 minutes of class. It covers classes 7 to 10: functions, scope, call-by-value, recursion, arrays, search, min and max, bubble sort. Nothing from today. Paper and pen, no laptop. Knowledge checks 7 to 10 and the practice tests on Blackboard are the best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0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You send an array to a function together with its size: f(a, n).</a:t>
            </a:r>
          </a:p>
          <a:p>
            <a:r>
              <a:rPr lang="en-US"/>
              <a:t>- A function can change the caller's array.</a:t>
            </a:r>
          </a:p>
          <a:p>
            <a:r>
              <a:rPr lang="en-US"/>
              <a:t>- A search returns the index, or -1 after the loop.</a:t>
            </a:r>
          </a:p>
          <a:p>
            <a:r>
              <a:rPr lang="en-US"/>
              <a:t>- Min and max start from a[0].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65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what are the two lines? There is no i &lt; 6 in the loop. What stops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54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loop runs while a[i] != 0. At i = 5 it meets the 0 and stops. It prints 4 8 15 16 23  and then count: 5.</a:t>
            </a:r>
          </a:p>
          <a:p>
            <a:endParaRPr lang="en-US"/>
          </a:p>
          <a:p>
            <a:r>
              <a:rPr lang="en-US"/>
              <a:t>The 0 is an end mark: the loop does not need the size of the array. Strings work in exactly this way. File: 01_recap_stop_at_zero.c.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24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character, a character is a number, testing characters, strings, reading strings, loops over a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05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type 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1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char holds one character: a letter, a digit, a space or a sign. Write it in single quotes and print it with %c:</a:t>
            </a:r>
          </a:p>
          <a:p>
            <a:endParaRPr lang="en-US"/>
          </a:p>
          <a:p>
            <a:r>
              <a:rPr lang="en-US"/>
              <a:t>char grade = 'A';</a:t>
            </a:r>
          </a:p>
          <a:p>
            <a:r>
              <a:rPr lang="en-US"/>
              <a:t>printf("%c\n", grade);     // prints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9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grade = 'A';</a:t>
            </a:r>
          </a:p>
          <a:p>
            <a:r>
              <a:rPr lang="en-US"/>
              <a:t>char digit = '7';</a:t>
            </a:r>
          </a:p>
          <a:p>
            <a:r>
              <a:rPr lang="en-US"/>
              <a:t>char space = ' ';</a:t>
            </a:r>
          </a:p>
          <a:p>
            <a:r>
              <a:rPr lang="en-US"/>
              <a:t>printf("[%c] [%c] [%c]\n", grade, digit, space);</a:t>
            </a:r>
          </a:p>
          <a:p>
            <a:endParaRPr lang="en-US"/>
          </a:p>
          <a:p>
            <a:r>
              <a:rPr lang="en-US"/>
              <a:t>It prints [A] [7] [ ]. The brackets are only in the printf, so you can see the space. '7' is the character 7, the symbol on the keyboard key, not the number 7. File: 02_char_basics.c.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05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Inside the computer every character is stored as a whole number, its code. 'A' is 65, 'a' is 97, '0' is 48. This table of codes is called ASCII. The same value prints as a character with %c and as a number with %d.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28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printf("%c = %d\n", 'A', 'A'); prints A = 65. The program prints:</a:t>
            </a:r>
          </a:p>
          <a:p>
            <a:endParaRPr lang="en-US"/>
          </a:p>
          <a:p>
            <a:r>
              <a:rPr lang="en-US"/>
              <a:t>A = 65</a:t>
            </a:r>
          </a:p>
          <a:p>
            <a:r>
              <a:rPr lang="en-US"/>
              <a:t>B = 66</a:t>
            </a:r>
          </a:p>
          <a:p>
            <a:r>
              <a:rPr lang="en-US"/>
              <a:t>a = 97</a:t>
            </a:r>
          </a:p>
          <a:p>
            <a:r>
              <a:rPr lang="en-US"/>
              <a:t>0 = 48</a:t>
            </a:r>
          </a:p>
          <a:p>
            <a:r>
              <a:rPr lang="en-US"/>
              <a:t>9 = 57</a:t>
            </a:r>
          </a:p>
          <a:p>
            <a:r>
              <a:rPr lang="en-US"/>
              <a:t>[ ] = 32</a:t>
            </a:r>
          </a:p>
          <a:p>
            <a:endParaRPr lang="en-US"/>
          </a:p>
          <a:p>
            <a:r>
              <a:rPr lang="en-US"/>
              <a:t>File: 03_ascii.c.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62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'A' to 'Z' are 65 to 90, in order.</a:t>
            </a:r>
          </a:p>
          <a:p>
            <a:r>
              <a:rPr lang="en-US"/>
              <a:t>- 'a' to 'z' are 97 to 122, in order.</a:t>
            </a:r>
          </a:p>
          <a:p>
            <a:r>
              <a:rPr lang="en-US"/>
              <a:t>- '0' to '9' are 48 to 57, in order.</a:t>
            </a:r>
          </a:p>
          <a:p>
            <a:r>
              <a:rPr lang="en-US"/>
              <a:t>- The space is 32.</a:t>
            </a:r>
          </a:p>
          <a:p>
            <a:endParaRPr lang="en-US"/>
          </a:p>
          <a:p>
            <a:r>
              <a:rPr lang="en-US"/>
              <a:t>You do not need to learn the numbers. Remember the order: it is what makes arithmetic on characters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416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(char c = 'A'; c &lt;= 'Z'; c++) {</a:t>
            </a:r>
          </a:p>
          <a:p>
            <a:r>
              <a:rPr lang="en-US"/>
              <a:t>    printf("%c", c);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c++ adds 1 to the code, so 'A' (65) becomes 'B' (66). It prints ABCDEFGHIJKLMNOPQRSTUVWXYZ. File: 04_alphabet.c.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72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Because a character is a number, you can calculate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1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'a' is 97. What are the four lines?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09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 + 1 is 98. Printed with %c it is b; printed with %d it is 98.</a:t>
            </a:r>
          </a:p>
          <a:p>
            <a:r>
              <a:rPr lang="en-US"/>
              <a:t>- 'A' + 25 is 90, the code of Z.</a:t>
            </a:r>
          </a:p>
          <a:p>
            <a:r>
              <a:rPr lang="en-US"/>
              <a:t>- x - 'a' + 1 with x = 'e' is 5.</a:t>
            </a:r>
          </a:p>
          <a:p>
            <a:endParaRPr lang="en-US"/>
          </a:p>
          <a:p>
            <a:r>
              <a:rPr lang="en-US"/>
              <a:t>The program prints b, 98, Z, e: letter 5. File: 05_char_arith.c.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014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letter - 'a' is the place of the letter, counting from 0:</a:t>
            </a:r>
          </a:p>
          <a:p>
            <a:endParaRPr lang="en-US"/>
          </a:p>
          <a:p>
            <a:r>
              <a:rPr lang="en-US"/>
              <a:t>- 'a' - 'a' is 0</a:t>
            </a:r>
          </a:p>
          <a:p>
            <a:r>
              <a:rPr lang="en-US"/>
              <a:t>- 'b' - 'a' is 1</a:t>
            </a:r>
          </a:p>
          <a:p>
            <a:r>
              <a:rPr lang="en-US"/>
              <a:t>- 'e' - 'a' is 101 - 97 = 4</a:t>
            </a:r>
          </a:p>
          <a:p>
            <a:endParaRPr lang="en-US"/>
          </a:p>
          <a:p>
            <a:r>
              <a:rPr lang="en-US"/>
              <a:t>Add 1 to count from 1: e is letter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9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c = 'g';</a:t>
            </a:r>
          </a:p>
          <a:p>
            <a:r>
              <a:rPr lang="en-US"/>
              <a:t>char big = c - 'a' + 'A';</a:t>
            </a:r>
          </a:p>
          <a:p>
            <a:endParaRPr lang="en-US"/>
          </a:p>
          <a:p>
            <a:r>
              <a:rPr lang="en-US"/>
              <a:t>c - 'a' is 6, the place of g. Adding 'A' gives the capital at place 6: 'G'. It prints g becomes G and 103 becomes 71. A small letter and its capital are always 32 apart. File: 06_case_by_hand.c.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27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d holds '7'. What are the three numbers?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202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d = '7';</a:t>
            </a:r>
          </a:p>
          <a:p>
            <a:r>
              <a:rPr lang="en-US"/>
              <a:t>printf("%d\n", d);              // 55</a:t>
            </a:r>
          </a:p>
          <a:p>
            <a:r>
              <a:rPr lang="en-US"/>
              <a:t>printf("%d\n", d - '0');        // 7</a:t>
            </a:r>
          </a:p>
          <a:p>
            <a:r>
              <a:rPr lang="en-US"/>
              <a:t>printf("%d\n", (d - '0') * 2);  // 14</a:t>
            </a:r>
          </a:p>
          <a:p>
            <a:endParaRPr lang="en-US"/>
          </a:p>
          <a:p>
            <a:r>
              <a:rPr lang="en-US"/>
              <a:t>The character '7' has the code 55. Subtract '0' (48) and you get 7, the value of the digit. File: 07_digit_value.c.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32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value of a digit character c is c - '0'. '0' - '0' is 0, '7' - '0' is 7, '9' - '0' is 9. It works because the digits have codes in order. Class 12 uses this to turn a whole string like "2026" into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18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char c = "A"; with double quotes. Does it compile?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135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 the course compiler (gcc 16) it does not compile:</a:t>
            </a:r>
          </a:p>
          <a:p>
            <a:endParaRPr lang="en-US"/>
          </a:p>
          <a:p>
            <a:r>
              <a:rPr lang="en-US"/>
              <a:t>error: initialization of 'char' from 'char *' makes integer from pointer without a cast</a:t>
            </a:r>
          </a:p>
          <a:p>
            <a:endParaRPr lang="en-US"/>
          </a:p>
          <a:p>
            <a:r>
              <a:rPr lang="en-US"/>
              <a:t>"A" in double quotes is a string, not one character. A char takes 'A' in single quotes. (An older gcc only warns and prints a strange character. It is wrong either way.) File: 08_bug_char_quotes.c.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923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'A': one character, the number 65. It goes in a char.</a:t>
            </a:r>
          </a:p>
          <a:p>
            <a:r>
              <a:rPr lang="en-US"/>
              <a:t>- "A": a string. It takes two boxes: A and the end mark '\0'. It goes in a char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90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 it a letter? A digit? A capital?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97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Because letters and digits are in order, a range test works:</a:t>
            </a:r>
          </a:p>
          <a:p>
            <a:endParaRPr lang="en-US"/>
          </a:p>
          <a:p>
            <a:r>
              <a:rPr lang="en-US"/>
              <a:t>if (c &gt;= 'a' &amp;&amp; c &lt;= 'z') {</a:t>
            </a:r>
          </a:p>
          <a:p>
            <a:r>
              <a:rPr lang="en-US"/>
              <a:t>    printf("%c is a small letter\n", c);</a:t>
            </a:r>
          </a:p>
          <a:p>
            <a:r>
              <a:rPr lang="en-US"/>
              <a:t>} else if (c &gt;= 'A' &amp;&amp; c &lt;= 'Z') {</a:t>
            </a:r>
          </a:p>
          <a:p>
            <a:r>
              <a:rPr lang="en-US"/>
              <a:t>    printf("%c is a capital letter\n", c);</a:t>
            </a:r>
          </a:p>
          <a:p>
            <a:r>
              <a:rPr lang="en-US"/>
              <a:t>} else if (c &gt;= '0' &amp;&amp; c &lt;= '9') {</a:t>
            </a:r>
          </a:p>
          <a:p>
            <a:r>
              <a:rPr lang="en-US"/>
              <a:t>    printf("%c is a digit\n", c);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With input Q it prints Q is a capital letter. The space in scanf(" %c", &amp;c) skips spaces and Enter keys. File: 09_read_char.c.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457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Put #include &lt;ctype.h&gt; at the top of the program. Then:</a:t>
            </a:r>
          </a:p>
          <a:p>
            <a:endParaRPr lang="en-US"/>
          </a:p>
          <a:p>
            <a:r>
              <a:rPr lang="en-US"/>
              <a:t>- isdigit(c), isalpha(c), isupper(c), islower(c) answer yes or no.</a:t>
            </a:r>
          </a:p>
          <a:p>
            <a:r>
              <a:rPr lang="en-US"/>
              <a:t>- toupper(c) and tolower(c) give the letter in the other case.</a:t>
            </a:r>
          </a:p>
          <a:p>
            <a:r>
              <a:rPr lang="en-US"/>
              <a:t>- If c is not a letter, toupper and tolower give it back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811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call: question or job · example</a:t>
            </a:r>
          </a:p>
          <a:p>
            <a:r>
              <a:rPr lang="en-US"/>
              <a:t>isdigit(c): a digit? · '7': yes</a:t>
            </a:r>
          </a:p>
          <a:p>
            <a:r>
              <a:rPr lang="en-US"/>
              <a:t>isalpha(c): a letter? · '?': no</a:t>
            </a:r>
          </a:p>
          <a:p>
            <a:r>
              <a:rPr lang="en-US"/>
              <a:t>isupper(c): a capital? · 'Q': yes</a:t>
            </a:r>
          </a:p>
          <a:p>
            <a:r>
              <a:rPr lang="en-US"/>
              <a:t>islower(c): a small letter? · 'Q': no</a:t>
            </a:r>
          </a:p>
          <a:p>
            <a:r>
              <a:rPr lang="en-US"/>
              <a:t>toupper(c): make it a capital · 'g' gives 'G'</a:t>
            </a:r>
          </a:p>
          <a:p>
            <a:r>
              <a:rPr lang="en-US"/>
              <a:t>tolower(c): make it small · 'Q' gives 'q'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535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printf("%c %c\n", toupper('g'), tolower('Q'));   // G q</a:t>
            </a:r>
          </a:p>
          <a:p>
            <a:r>
              <a:rPr lang="en-US"/>
              <a:t>printf("%c %c\n", toupper('G'), toupper('7'));   // G 7</a:t>
            </a:r>
          </a:p>
          <a:p>
            <a:r>
              <a:rPr lang="en-US"/>
              <a:t>if (isdigit('7')) {</a:t>
            </a:r>
          </a:p>
          <a:p>
            <a:r>
              <a:rPr lang="en-US"/>
              <a:t>    printf("7 is a digit\n");</a:t>
            </a:r>
          </a:p>
          <a:p>
            <a:r>
              <a:rPr lang="en-US"/>
              <a:t>}</a:t>
            </a:r>
          </a:p>
          <a:p>
            <a:r>
              <a:rPr lang="en-US"/>
              <a:t>if (!isalpha('?')) {</a:t>
            </a:r>
          </a:p>
          <a:p>
            <a:r>
              <a:rPr lang="en-US"/>
              <a:t>    printf("? is not a letter\n");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The is... functions are made for an if. ! means "not". File: 10_ctype.c.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311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what are the three numbers?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5161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 the course compiler it prints 1, 2, 0. isalpha('x') gives 2.</a:t>
            </a:r>
          </a:p>
          <a:p>
            <a:endParaRPr lang="en-US"/>
          </a:p>
          <a:p>
            <a:r>
              <a:rPr lang="en-US"/>
              <a:t>In C, "no" is 0 and "yes" is any number that is not 0. So:</a:t>
            </a:r>
          </a:p>
          <a:p>
            <a:endParaRPr lang="en-US"/>
          </a:p>
          <a:p>
            <a:r>
              <a:rPr lang="en-US"/>
              <a:t>if (isalpha(c))         // right</a:t>
            </a:r>
          </a:p>
          <a:p>
            <a:r>
              <a:rPr lang="en-US"/>
              <a:t>if (isalpha(c) == 1)    // wrong: false when isalpha gives 2</a:t>
            </a:r>
          </a:p>
          <a:p>
            <a:endParaRPr lang="en-US"/>
          </a:p>
          <a:p>
            <a:r>
              <a:rPr lang="en-US"/>
              <a:t>File: 11_ctype_true.c.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089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same program, shorter, with isupper, islower, isdigit. For a small letter it also prints toupper(c); for a digit it prints c - '0'. With input g it prints small, capital G; with 4 it prints digit, value 4. File: 12_classify.c.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962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Text as an array of 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364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string is an array of char: one character in each box, and after the last character one more box with the end mark '\0', the null character. Its code is 0. A string in double quotes gets the '\0' automatically. It is like the 0 at the end of the recap array on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633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index: 0 · 1 · 2 · 3 · 4 · 5</a:t>
            </a:r>
          </a:p>
          <a:p>
            <a:r>
              <a:rPr lang="en-US"/>
              <a:t>box: h · e · l · l · o · \0</a:t>
            </a:r>
          </a:p>
          <a:p>
            <a:endParaRPr lang="en-US"/>
          </a:p>
          <a:p>
            <a:r>
              <a:rPr lang="en-US"/>
              <a:t>Five letters, six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649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w[6] = {'h', 'e', 'l', 'l', 'o', '\0'};   // box by box</a:t>
            </a:r>
          </a:p>
          <a:p>
            <a:r>
              <a:rPr lang="en-US"/>
              <a:t>char s[] = "hello";                              // the short way</a:t>
            </a:r>
          </a:p>
          <a:p>
            <a:endParaRPr lang="en-US"/>
          </a:p>
          <a:p>
            <a:r>
              <a:rPr lang="en-US"/>
              <a:t>With empty brackets gcc counts the boxes (6) and adds the '\0'. printf("%s\n", s); prints characters until it meets '\0'. Both lines print hello. File: 13_string_boxes.c.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880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what are the two lines? What is in s[2]?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420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s[] = "hi";</a:t>
            </a:r>
          </a:p>
          <a:p>
            <a:r>
              <a:rPr lang="en-US"/>
              <a:t>printf("%d %d %d\n", s[0], s[1], s[2]);</a:t>
            </a:r>
          </a:p>
          <a:p>
            <a:endParaRPr lang="en-US"/>
          </a:p>
          <a:p>
            <a:r>
              <a:rPr lang="en-US"/>
              <a:t>It prints 104 105 0: the codes of h and i, then the '\0', whose code is 0. File: 14_null_char.c.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171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string of n letters needs n + 1 boxes. "hi" needs 3, "hello" needs 6. char name[20]; has room for 19 letters and the '\0'.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114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char word[3] = "cat"; has no room for the '\0'. What is printed?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075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next[] = "dog";</a:t>
            </a:r>
          </a:p>
          <a:p>
            <a:r>
              <a:rPr lang="en-US"/>
              <a:t>char word[3] = "cat";</a:t>
            </a:r>
          </a:p>
          <a:p>
            <a:r>
              <a:rPr lang="en-US"/>
              <a:t>printf("%s\n", word);</a:t>
            </a:r>
          </a:p>
          <a:p>
            <a:endParaRPr lang="en-US"/>
          </a:p>
          <a:p>
            <a:r>
              <a:rPr lang="en-US"/>
              <a:t>On the course compiler it prints catdog. With no '\0' after t, %s does not know where to stop: it goes on into the memory after the array, which here holds dog. On another computer it can print something else.</a:t>
            </a:r>
          </a:p>
          <a:p>
            <a:endParaRPr lang="en-US"/>
          </a:p>
          <a:p>
            <a:r>
              <a:rPr lang="en-US"/>
              <a:t>gcc -Wall gives no warning here. gcc -Wall -Wextra warns: initializer-string for array of 'char' truncates NUL terminator. The fix: char word[4] or char word[]. File: 15_bug_no_room.c.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214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name[] = "Leyla";</a:t>
            </a:r>
          </a:p>
          <a:p>
            <a:r>
              <a:rPr lang="en-US"/>
              <a:t>printf("Hello, %s!\n", name);            // Hello, Leyla!</a:t>
            </a:r>
          </a:p>
          <a:p>
            <a:r>
              <a:rPr lang="en-US"/>
              <a:t>printf("First letter: %c\n", name[0]);   // First letter: L</a:t>
            </a:r>
          </a:p>
          <a:p>
            <a:endParaRPr lang="en-US"/>
          </a:p>
          <a:p>
            <a:r>
              <a:rPr lang="en-US"/>
              <a:t>%s with the array name prints the whole string. %c with one box prints one character. File: 16_print_string.c.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129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string is an array, so you can change a box:</a:t>
            </a:r>
          </a:p>
          <a:p>
            <a:endParaRPr lang="en-US"/>
          </a:p>
          <a:p>
            <a:r>
              <a:rPr lang="en-US"/>
              <a:t>char word[] = "cat";</a:t>
            </a:r>
          </a:p>
          <a:p>
            <a:r>
              <a:rPr lang="en-US"/>
              <a:t>word[0] = 'b';     // bat</a:t>
            </a:r>
          </a:p>
          <a:p>
            <a:r>
              <a:rPr lang="en-US"/>
              <a:t>word[2] = 'r';     // bar</a:t>
            </a:r>
          </a:p>
          <a:p>
            <a:endParaRPr lang="en-US"/>
          </a:p>
          <a:p>
            <a:r>
              <a:rPr lang="en-US"/>
              <a:t>It prints cat, bat, bar. File: 17_change_letter.c.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58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word[] = "cat";    // fine: = when the array is made</a:t>
            </a:r>
          </a:p>
          <a:p>
            <a:r>
              <a:rPr lang="en-US"/>
              <a:t>word = "dog";           // error</a:t>
            </a:r>
          </a:p>
          <a:p>
            <a:endParaRPr lang="en-US"/>
          </a:p>
          <a:p>
            <a:r>
              <a:rPr lang="en-US"/>
              <a:t>gcc says error: assignment to expression with array type, the same error as b = a; for arrays in class 9. Class 12 shows the library function that copies a string. File: 18_bug_assign_string.c.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154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scanf and fgets.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8180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name[20];</a:t>
            </a:r>
          </a:p>
          <a:p>
            <a:r>
              <a:rPr lang="en-US"/>
              <a:t>printf("Your name: ");</a:t>
            </a:r>
          </a:p>
          <a:p>
            <a:r>
              <a:rPr lang="en-US"/>
              <a:t>scanf("%s", name);</a:t>
            </a:r>
          </a:p>
          <a:p>
            <a:r>
              <a:rPr lang="en-US"/>
              <a:t>printf("Hello, %s!\n", name);</a:t>
            </a:r>
          </a:p>
          <a:p>
            <a:endParaRPr lang="en-US"/>
          </a:p>
          <a:p>
            <a:r>
              <a:rPr lang="en-US"/>
              <a:t>With input Leyla it prints Hello, Leyla!. There is no &amp; before name. File: 19_scanf_string.c.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974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scanf("%d", &amp;n); an int needs the &amp;.</a:t>
            </a:r>
          </a:p>
          <a:p>
            <a:r>
              <a:rPr lang="en-US"/>
              <a:t>- scanf("%s", name); an array does not: its name already says where it is.</a:t>
            </a:r>
          </a:p>
          <a:p>
            <a:endParaRPr lang="en-US"/>
          </a:p>
          <a:p>
            <a:r>
              <a:rPr lang="en-US"/>
              <a:t>Why exactly? Pointers explain it, after the midterm.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121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you type Leyla Aliyeva. What is printed?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860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prints Hello, Leyla!. %s reads one word: it stops at a space or Enter. Aliyeva is not read into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005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scanf("%s", &amp;name); gets a warning from gcc -Wall:</a:t>
            </a:r>
          </a:p>
          <a:p>
            <a:endParaRPr lang="en-US"/>
          </a:p>
          <a:p>
            <a:r>
              <a:rPr lang="en-US"/>
              <a:t>warning: format '%s' expects argument of type 'char *', but argument 2 has type 'char (*)[20]'</a:t>
            </a:r>
          </a:p>
          <a:p>
            <a:endParaRPr lang="en-US"/>
          </a:p>
          <a:p>
            <a:r>
              <a:rPr lang="en-US"/>
              <a:t>Argument 2 is &amp;name. Delete the &amp;. File: 20_bug_scanf_amp.c.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665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line[50];</a:t>
            </a:r>
          </a:p>
          <a:p>
            <a:r>
              <a:rPr lang="en-US"/>
              <a:t>fgets(line, 50, stdin);</a:t>
            </a:r>
          </a:p>
          <a:p>
            <a:r>
              <a:rPr lang="en-US"/>
              <a:t>printf("&lt;%s&gt;\n", line);</a:t>
            </a:r>
          </a:p>
          <a:p>
            <a:endParaRPr lang="en-US"/>
          </a:p>
          <a:p>
            <a:r>
              <a:rPr lang="en-US"/>
              <a:t>fgets(where, how many boxes, stdin) reads a whole line, spaces too. stdin is the keyboard. With input Leyla Aliyeva it prints:</a:t>
            </a:r>
          </a:p>
          <a:p>
            <a:endParaRPr lang="en-US"/>
          </a:p>
          <a:p>
            <a:r>
              <a:rPr lang="en-US"/>
              <a:t>&lt;Leyla Aliyeva</a:t>
            </a:r>
          </a:p>
          <a:p>
            <a:r>
              <a:rPr lang="en-US"/>
              <a:t>&gt;</a:t>
            </a:r>
          </a:p>
          <a:p>
            <a:endParaRPr lang="en-US"/>
          </a:p>
          <a:p>
            <a:r>
              <a:rPr lang="en-US"/>
              <a:t>The &gt; is on the next line. File: 21_fgets.c.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336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Leyla Aliyeva is 13 characters (the space counts): boxes 0 to 12. fgets also stores the Enter key, '\n', in box 13, and then '\0' in box 14. That '\n' is why the &gt; went to the next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00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scanf("%s", s): one word, stops at a space, no '\n' stored.</a:t>
            </a:r>
          </a:p>
          <a:p>
            <a:r>
              <a:rPr lang="en-US"/>
              <a:t>- fgets(s, 50, stdin): a whole line, spaces too, keeps the '\n'.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396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along the string until the end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146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(int i = 0; s[i] != '\0'; i++) {</a:t>
            </a:r>
          </a:p>
          <a:p>
            <a:r>
              <a:rPr lang="en-US"/>
              <a:t>    // work with s[i]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No size is needed: the '\0' tells the loop where to stop. It is the recap loop of slide 4, with '\0' instead of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9238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 s[] = "cat";</a:t>
            </a:r>
          </a:p>
          <a:p>
            <a:r>
              <a:rPr lang="en-US"/>
              <a:t>int len = 0;</a:t>
            </a:r>
          </a:p>
          <a:p>
            <a:r>
              <a:rPr lang="en-US"/>
              <a:t>while (s[len] != '\0') {</a:t>
            </a:r>
          </a:p>
          <a:p>
            <a:r>
              <a:rPr lang="en-US"/>
              <a:t>    len++;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len starts at 0, the first box. s[0] is 'c', not the end mark, so len becomes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1888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len: s[len] · not '\0'?</a:t>
            </a:r>
          </a:p>
          <a:p>
            <a:r>
              <a:rPr lang="en-US"/>
              <a:t>0: 'c' · yes</a:t>
            </a:r>
          </a:p>
          <a:p>
            <a:r>
              <a:rPr lang="en-US"/>
              <a:t>1: 'a' · yes</a:t>
            </a:r>
          </a:p>
          <a:p>
            <a:r>
              <a:rPr lang="en-US"/>
              <a:t>2: 't' · yes</a:t>
            </a:r>
          </a:p>
          <a:p>
            <a:r>
              <a:rPr lang="en-US"/>
              <a:t>3: '\0' · no: stop</a:t>
            </a:r>
          </a:p>
          <a:p>
            <a:endParaRPr lang="en-US"/>
          </a:p>
          <a:p>
            <a:r>
              <a:rPr lang="en-US"/>
              <a:t>len is 3. It prints length of cat: 3. File: 22_length_loop.c.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16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length(char s[]) {</a:t>
            </a:r>
          </a:p>
          <a:p>
            <a:r>
              <a:rPr lang="en-US"/>
              <a:t>    int len = 0;</a:t>
            </a:r>
          </a:p>
          <a:p>
            <a:r>
              <a:rPr lang="en-US"/>
              <a:t>    while (s[len] != '\0') {</a:t>
            </a:r>
          </a:p>
          <a:p>
            <a:r>
              <a:rPr lang="en-US"/>
              <a:t>        len++;</a:t>
            </a:r>
          </a:p>
          <a:p>
            <a:r>
              <a:rPr lang="en-US"/>
              <a:t>    }</a:t>
            </a:r>
          </a:p>
          <a:p>
            <a:r>
              <a:rPr lang="en-US"/>
              <a:t>    return len;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There is no size parameter. length("Baku") is 4, length("Programming") is 11, length("") is 0: the empty string holds only the '\0'. File: 23_length_function.c.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3145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An int array does not know its size: print_array(a, 5).</a:t>
            </a:r>
          </a:p>
          <a:p>
            <a:r>
              <a:rPr lang="en-US"/>
              <a:t>- A string carries its own end, the '\0': length(city).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4398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(int i = 0; line[i] != '\0'; i++) {</a:t>
            </a:r>
          </a:p>
          <a:p>
            <a:r>
              <a:rPr lang="en-US"/>
              <a:t>    if (line[i] == '\n') {</a:t>
            </a:r>
          </a:p>
          <a:p>
            <a:r>
              <a:rPr lang="en-US"/>
              <a:t>        line[i] = '\0';</a:t>
            </a:r>
          </a:p>
          <a:p>
            <a:r>
              <a:rPr lang="en-US"/>
              <a:t>  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After fgets the line Leyla Aliyeva has length 14 (13 characters and the '\n'). The loop puts '\0' where the '\n' was. Now the length is 13 and it prints &lt;Leyla Aliyeva&gt; on one line. File: 24_remove_newline.c.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8285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how many vowels does count_vowels("Azerbaijan") count?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7266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prints vowels in Azerbaijan: 5: A, e, a, i, a. The capital A counts because tolower(s[i]) turns it into 'a' first. File: 25_count_vowels.c.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8098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 reads a line with fgets and counts with isalpha, isdigit and line[i] == ' '. For the input Room B102, 16:00 it prints letters 5, digits 7, spaces 2. The comma and the : are none of the three. File: 26_count_kinds.c.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8375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it before you look at the next slide: to_upper returns nothing. What does main print?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7790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void to_upper(char s[]) {</a:t>
            </a:r>
          </a:p>
          <a:p>
            <a:r>
              <a:rPr lang="en-US"/>
              <a:t>    for (int i = 0; s[i] != '\0'; i++) {</a:t>
            </a:r>
          </a:p>
          <a:p>
            <a:r>
              <a:rPr lang="en-US"/>
              <a:t>        s[i] = toupper(s[i]);</a:t>
            </a:r>
          </a:p>
          <a:p>
            <a:r>
              <a:rPr lang="en-US"/>
              <a:t>  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main prints HELLO, WORLD 2026. The function changes the caller's string, because an array is not copied (class 10). toupper leaves the comma, the space and the digits alone. File: 27_to_upper.c.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5141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Next class: the library &lt;string.h&gt; measures, copies, joins and compares strings (strlen, strcpy, strcat, strcmp). Today you wrote by hand the loop that strlen hides. Class 12 also turns "2026" into the number 2026 and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614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small string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7798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int count_char(char s[], char c). It returns how many times c is in s. count_char("banana", 'a') is 3. Try it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5960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count_char(char s[], char c) {</a:t>
            </a:r>
          </a:p>
          <a:p>
            <a:r>
              <a:rPr lang="en-US"/>
              <a:t>    int count = 0;</a:t>
            </a:r>
          </a:p>
          <a:p>
            <a:r>
              <a:rPr lang="en-US"/>
              <a:t>    for (int i = 0; s[i] != '\0'; i++) {</a:t>
            </a:r>
          </a:p>
          <a:p>
            <a:r>
              <a:rPr lang="en-US"/>
              <a:t>        if (s[i] == c) {</a:t>
            </a:r>
          </a:p>
          <a:p>
            <a:r>
              <a:rPr lang="en-US"/>
              <a:t>            count++;</a:t>
            </a:r>
          </a:p>
          <a:p>
            <a:r>
              <a:rPr lang="en-US"/>
              <a:t>        }</a:t>
            </a:r>
          </a:p>
          <a:p>
            <a:r>
              <a:rPr lang="en-US"/>
              <a:t>    }</a:t>
            </a:r>
          </a:p>
          <a:p>
            <a:r>
              <a:rPr lang="en-US"/>
              <a:t>    return count;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It prints 3 for 'a' and 0 for 'z'. File: 28_task_count_char.c.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0082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 a string backwards: "stressed" gives desserts. Hint: find the length first. Try it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7077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count the length. Then print from len - 1 down to 0:</a:t>
            </a:r>
          </a:p>
          <a:p>
            <a:endParaRPr lang="en-US"/>
          </a:p>
          <a:p>
            <a:r>
              <a:rPr lang="en-US"/>
              <a:t>for (int i = len - 1; i &gt;= 0; i--) {</a:t>
            </a:r>
          </a:p>
          <a:p>
            <a:r>
              <a:rPr lang="en-US"/>
              <a:t>    printf("%c", s[i]);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Start at len - 1, because box len holds the '\0'. It prints desserts. File: 29_task_backwards.c.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4298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 char is one character in single quotes, stored as a code.</a:t>
            </a:r>
          </a:p>
          <a:p>
            <a:r>
              <a:rPr lang="en-US"/>
              <a:t>- c - 'a' is the place of a letter; c - '0' is the value of a digit.</a:t>
            </a:r>
          </a:p>
          <a:p>
            <a:r>
              <a:rPr lang="en-US"/>
              <a:t>- &lt;ctype.h&gt;: isdigit, isalpha, isupper, islower, toupper, tolower. "Yes" is any number that is not 0.</a:t>
            </a:r>
          </a:p>
          <a:p>
            <a:r>
              <a:rPr lang="en-US"/>
              <a:t>- A string is char boxes ending in '\0', printed with %s.</a:t>
            </a:r>
          </a:p>
          <a:p>
            <a:r>
              <a:rPr lang="en-US"/>
              <a:t>- scanf("%s", s) reads one word, no &amp;; fgets reads a line and keeps the '\n'.</a:t>
            </a:r>
          </a:p>
          <a:p>
            <a:r>
              <a:rPr lang="en-US"/>
              <a:t>- The string loop stops at '\0': no size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9079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Knowledge check 11 on Blackboard, on this class.</a:t>
            </a:r>
          </a:p>
          <a:p>
            <a:r>
              <a:rPr lang="en-US"/>
              <a:t>- Quiz 3 is on Friday 16 October and covers classes 7 to 10.</a:t>
            </a:r>
          </a:p>
          <a:p>
            <a:r>
              <a:rPr lang="en-US"/>
              <a:t>- This class's code: Blackboard, Week 6 module, Class 11 code.</a:t>
            </a:r>
          </a:p>
          <a:p>
            <a:endParaRPr lang="en-US"/>
          </a:p>
          <a:p>
            <a:r>
              <a:rPr lang="en-US"/>
              <a:t>Next class: &lt;string.h&gt;, and turning numbers into strings and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7E7C-E62B-4E36-B626-CD3676C5D73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20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6 · Class 11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Characters and strings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One character · a character is a number · text as an array of char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4114800"/>
            <a:ext cx="7863840" cy="138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731520" y="4114800"/>
            <a:ext cx="7863840" cy="138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name[] = "Leyla";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printf("Hello, %s!\n", name);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Quiz 3 is this Friday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Fri 16 October, the first 25 minutes of class.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It covers classes 7 to 10: functions, scope, recursion,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arrays, search, min and max, bubble sort.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Paper and pen. No laptop, no phone.</a:t>
            </a:r>
            <a:endParaRPr lang="en-US" sz="3000" dirty="0"/>
          </a:p>
        </p:txBody>
      </p:sp>
      <p:sp>
        <p:nvSpPr>
          <p:cNvPr id="9" name="Shape 9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Prepare with Knowledge checks 7 to 10 and the practice tests.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Friday gave us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Send an array </a:t>
            </a:r>
            <a:r>
              <a:rPr lang="en-US" sz="2800" b="1" dirty="0">
                <a:solidFill>
                  <a:srgbClr val="18324A"/>
                </a:solidFill>
              </a:rPr>
              <a:t>and its size</a:t>
            </a:r>
            <a:r>
              <a:rPr lang="en-US" sz="2800" dirty="0">
                <a:solidFill>
                  <a:srgbClr val="18324A"/>
                </a:solidFill>
              </a:rPr>
              <a:t>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f(a, n)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function can </a:t>
            </a:r>
            <a:r>
              <a:rPr lang="en-US" sz="2800" b="1" dirty="0">
                <a:solidFill>
                  <a:srgbClr val="18324A"/>
                </a:solidFill>
              </a:rPr>
              <a:t>change</a:t>
            </a:r>
            <a:r>
              <a:rPr lang="en-US" sz="2800" dirty="0">
                <a:solidFill>
                  <a:srgbClr val="18324A"/>
                </a:solidFill>
              </a:rPr>
              <a:t> the caller's array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Search: return the index, or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-1</a:t>
            </a:r>
            <a:r>
              <a:rPr lang="en-US" sz="2800" dirty="0">
                <a:solidFill>
                  <a:srgbClr val="18324A"/>
                </a:solidFill>
              </a:rPr>
              <a:t> </a:t>
            </a:r>
            <a:r>
              <a:rPr lang="en-US" sz="2800" b="1" dirty="0">
                <a:solidFill>
                  <a:srgbClr val="18324A"/>
                </a:solidFill>
              </a:rPr>
              <a:t>after</a:t>
            </a:r>
            <a:r>
              <a:rPr lang="en-US" sz="2800" dirty="0">
                <a:solidFill>
                  <a:srgbClr val="18324A"/>
                </a:solidFill>
              </a:rPr>
              <a:t> the loop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Min and max start from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a[0]</a:t>
            </a:r>
            <a:r>
              <a:rPr lang="en-US" sz="2800" dirty="0">
                <a:solidFill>
                  <a:srgbClr val="18324A"/>
                </a:solidFill>
              </a:rPr>
              <a:t>; bubble sort swaps neighbours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where does it stop?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There is no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 &lt; 6</a:t>
            </a:r>
            <a:r>
              <a:rPr lang="en-US" sz="3200" dirty="0">
                <a:solidFill>
                  <a:srgbClr val="18324A"/>
                </a:solidFill>
              </a:rPr>
              <a:t> here.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stops the loop?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two lines?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15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15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a[6] = {4, 8, 15, 16, 23, 0};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i =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while (a[i] != 0)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printf("%d ", a[i]);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i++;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printf("\ncount: %d\n", i);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where does it stop?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There is no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 &lt; 6</a:t>
            </a:r>
            <a:r>
              <a:rPr lang="en-US" sz="3200" dirty="0">
                <a:solidFill>
                  <a:srgbClr val="18324A"/>
                </a:solidFill>
              </a:rPr>
              <a:t> here.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stops the loop?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two lines?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15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2527427"/>
            <a:ext cx="5882335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2527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760720" y="1261872"/>
            <a:ext cx="5882335" cy="315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a[6] = {4, 8, 15, 16, 23, 0};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i =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while (a[i] != 0)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 ", a[i]);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i++;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printf("\ncount: %d\n", i);</a:t>
            </a:r>
            <a:endParaRPr lang="en-US" sz="2200" dirty="0"/>
          </a:p>
        </p:txBody>
      </p:sp>
      <p:sp>
        <p:nvSpPr>
          <p:cNvPr id="12" name="Shape 12"/>
          <p:cNvSpPr/>
          <p:nvPr/>
        </p:nvSpPr>
        <p:spPr>
          <a:xfrm>
            <a:off x="548640" y="4251960"/>
            <a:ext cx="4937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4251960"/>
            <a:ext cx="109728" cy="20116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allout"/>
          <p:cNvSpPr/>
          <p:nvPr/>
        </p:nvSpPr>
        <p:spPr>
          <a:xfrm>
            <a:off x="658368" y="4251960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4 8 15 16 23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then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count: 5</a:t>
            </a:r>
            <a:r>
              <a:rPr lang="en-US" sz="2600" dirty="0">
                <a:solidFill>
                  <a:srgbClr val="18324A"/>
                </a:solidFill>
              </a:rPr>
              <a:t>.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The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2600" dirty="0">
                <a:solidFill>
                  <a:srgbClr val="18324A"/>
                </a:solidFill>
              </a:rPr>
              <a:t> marks the end.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Today's roadmap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544068" cy="54406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595628" y="1307592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One </a:t>
            </a:r>
            <a:r>
              <a:rPr lang="en-US" sz="2800" b="1" dirty="0">
                <a:solidFill>
                  <a:srgbClr val="18324A"/>
                </a:solidFill>
              </a:rPr>
              <a:t>character</a:t>
            </a:r>
            <a:r>
              <a:rPr lang="en-US" sz="2800" dirty="0">
                <a:solidFill>
                  <a:srgbClr val="18324A"/>
                </a:solidFill>
              </a:rPr>
              <a:t>: the type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1988820"/>
            <a:ext cx="544068" cy="544068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595628" y="1988820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character </a:t>
            </a:r>
            <a:r>
              <a:rPr lang="en-US" sz="2800" b="1" dirty="0">
                <a:solidFill>
                  <a:srgbClr val="18324A"/>
                </a:solidFill>
              </a:rPr>
              <a:t>is a number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2670048"/>
            <a:ext cx="544068" cy="5440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595628" y="2670048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Testing characters: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&lt;ctype.h&gt;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3351276"/>
            <a:ext cx="544068" cy="5440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595628" y="3351276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</a:t>
            </a:r>
            <a:r>
              <a:rPr lang="en-US" sz="2800" b="1" dirty="0">
                <a:solidFill>
                  <a:srgbClr val="18324A"/>
                </a:solidFill>
              </a:rPr>
              <a:t>string</a:t>
            </a:r>
            <a:r>
              <a:rPr lang="en-US" sz="2800" dirty="0">
                <a:solidFill>
                  <a:srgbClr val="18324A"/>
                </a:solidFill>
              </a:rPr>
              <a:t>: an array of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2800" dirty="0">
                <a:solidFill>
                  <a:srgbClr val="18324A"/>
                </a:solidFill>
              </a:rPr>
              <a:t> with an end mark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032504"/>
            <a:ext cx="544068" cy="5440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595628" y="4032504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Reading strings: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scanf</a:t>
            </a:r>
            <a:r>
              <a:rPr lang="en-US" sz="2800" dirty="0">
                <a:solidFill>
                  <a:srgbClr val="18324A"/>
                </a:solidFill>
              </a:rPr>
              <a:t> and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fgets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731520" y="4713732"/>
            <a:ext cx="544068" cy="5440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1595628" y="4713732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Loops over a string</a:t>
            </a:r>
            <a:endParaRPr lang="en-US" sz="2800" dirty="0"/>
          </a:p>
        </p:txBody>
      </p:sp>
      <p:sp>
        <p:nvSpPr>
          <p:cNvPr id="18" name="Shape 18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Today's recap loop comes back at the end, with letters instead of numbers.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1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One character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The type char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char holds one character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A letter, a digit, a space, a sign: one of them.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Written in </a:t>
            </a:r>
            <a:r>
              <a:rPr lang="en-US" sz="3000" b="1" dirty="0">
                <a:solidFill>
                  <a:srgbClr val="18324A"/>
                </a:solidFill>
              </a:rPr>
              <a:t>single</a:t>
            </a:r>
            <a:r>
              <a:rPr lang="en-US" sz="3000" dirty="0">
                <a:solidFill>
                  <a:srgbClr val="18324A"/>
                </a:solidFill>
              </a:rPr>
              <a:t> quotes: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'7'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 '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'?'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Printed with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%c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You met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3000" dirty="0">
                <a:solidFill>
                  <a:srgbClr val="18324A"/>
                </a:solidFill>
              </a:rPr>
              <a:t> in class 3. Today it gets a job.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Three characters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8229600" cy="2112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79677"/>
            <a:ext cx="822960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79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1828927"/>
            <a:ext cx="822960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828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178177"/>
            <a:ext cx="822960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8229600" cy="2112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grade = 'A';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digit = '7';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space = ' ';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printf("[%c] [%c] [%c]\n", grade, digit, space);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9052560" y="1261872"/>
            <a:ext cx="25904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9052560" y="1645920"/>
            <a:ext cx="259049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9052560" y="1645920"/>
            <a:ext cx="259049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[A] [7] [ ]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9052560" y="2667000"/>
            <a:ext cx="259049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9052560" y="26670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9162288" y="2667000"/>
            <a:ext cx="248076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'7'</a:t>
            </a:r>
            <a:r>
              <a:rPr lang="en-US" sz="2400" dirty="0">
                <a:solidFill>
                  <a:srgbClr val="18324A"/>
                </a:solidFill>
              </a:rPr>
              <a:t> is the </a:t>
            </a:r>
            <a:r>
              <a:rPr lang="en-US" sz="2400" b="1" dirty="0">
                <a:solidFill>
                  <a:srgbClr val="18324A"/>
                </a:solidFill>
              </a:rPr>
              <a:t>character</a:t>
            </a:r>
            <a:r>
              <a:rPr lang="en-US" sz="2400" dirty="0">
                <a:solidFill>
                  <a:srgbClr val="18324A"/>
                </a:solidFill>
              </a:rPr>
              <a:t> 7.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9052560" y="3919728"/>
            <a:ext cx="259049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9052560" y="3919728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Callout"/>
          <p:cNvSpPr/>
          <p:nvPr/>
        </p:nvSpPr>
        <p:spPr>
          <a:xfrm>
            <a:off x="9162288" y="3919728"/>
            <a:ext cx="248076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space is a character too.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char is a small number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Inside the computer, every character is a code.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3000" dirty="0">
                <a:solidFill>
                  <a:srgbClr val="18324A"/>
                </a:solidFill>
              </a:rPr>
              <a:t> is stored as 65.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3000" dirty="0">
                <a:solidFill>
                  <a:srgbClr val="18324A"/>
                </a:solidFill>
              </a:rPr>
              <a:t> as 97.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'0'</a:t>
            </a:r>
            <a:r>
              <a:rPr lang="en-US" sz="3000" dirty="0">
                <a:solidFill>
                  <a:srgbClr val="18324A"/>
                </a:solidFill>
              </a:rPr>
              <a:t> as 48.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table of codes is called </a:t>
            </a:r>
            <a:r>
              <a:rPr lang="en-US" sz="3000" b="1" dirty="0">
                <a:solidFill>
                  <a:srgbClr val="18324A"/>
                </a:solidFill>
              </a:rPr>
              <a:t>ASCII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%c</a:t>
            </a:r>
            <a:r>
              <a:rPr lang="en-US" sz="3000" dirty="0">
                <a:solidFill>
                  <a:srgbClr val="18324A"/>
                </a:solidFill>
              </a:rPr>
              <a:t> shows the character,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%d</a:t>
            </a:r>
            <a:r>
              <a:rPr lang="en-US" sz="3000" dirty="0">
                <a:solidFill>
                  <a:srgbClr val="18324A"/>
                </a:solidFill>
              </a:rPr>
              <a:t> shows its code.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same value, two ways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223760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7223760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 = %d\n", 'A', 'A');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 = %d\n", 'B', 'B');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 = %d\n", 'a', 'a');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 = %d\n", '0', '0');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 = %d\n", '9', '9');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printf("[%c] = %d\n", ' ', ' ');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8046720" y="1261872"/>
            <a:ext cx="35963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8046720" y="1645920"/>
            <a:ext cx="3596335" cy="2651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8046720" y="1645920"/>
            <a:ext cx="3596335" cy="265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 = 65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B = 66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 = 97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 = 48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9 = 57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[ ] = 32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8046720" y="4572000"/>
            <a:ext cx="35963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8046720" y="4572000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8156448" y="4572000"/>
            <a:ext cx="34866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%c</a:t>
            </a:r>
            <a:r>
              <a:rPr lang="en-US" sz="2400" dirty="0">
                <a:solidFill>
                  <a:srgbClr val="18324A"/>
                </a:solidFill>
              </a:rPr>
              <a:t> then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%d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Codes to remember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You do not learn the numbers. You use the </a:t>
            </a:r>
            <a:r>
              <a:rPr lang="en-US" sz="2400" b="1" dirty="0">
                <a:solidFill>
                  <a:srgbClr val="18324A"/>
                </a:solidFill>
              </a:rPr>
              <a:t>order</a:t>
            </a:r>
            <a:r>
              <a:rPr lang="en-US" sz="2400" dirty="0">
                <a:solidFill>
                  <a:srgbClr val="18324A"/>
                </a:solidFill>
              </a:rPr>
              <a:t>: letters and digits come one after another.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4519947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characters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5068587" y="1261872"/>
            <a:ext cx="369813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codes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8766725" y="1261872"/>
            <a:ext cx="2876330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 order?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48640" y="1920240"/>
            <a:ext cx="45199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2600" dirty="0">
                <a:solidFill>
                  <a:srgbClr val="18324A"/>
                </a:solidFill>
              </a:rPr>
              <a:t> to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'Z'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5068587" y="1920240"/>
            <a:ext cx="369813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65 to 90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8766725" y="1920240"/>
            <a:ext cx="287633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E9F6E"/>
                </a:solidFill>
              </a:rPr>
              <a:t>yes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548640" y="2578608"/>
            <a:ext cx="4519947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2600" dirty="0">
                <a:solidFill>
                  <a:srgbClr val="18324A"/>
                </a:solidFill>
              </a:rPr>
              <a:t> to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'z'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5068587" y="2578608"/>
            <a:ext cx="369813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97 to 122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8766725" y="2578608"/>
            <a:ext cx="287633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E9F6E"/>
                </a:solidFill>
              </a:rPr>
              <a:t>yes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548640" y="3236976"/>
            <a:ext cx="45199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'0'</a:t>
            </a:r>
            <a:r>
              <a:rPr lang="en-US" sz="2600" dirty="0">
                <a:solidFill>
                  <a:srgbClr val="18324A"/>
                </a:solidFill>
              </a:rPr>
              <a:t> to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'9'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5068587" y="3236976"/>
            <a:ext cx="369813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48 to 57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8766725" y="3236976"/>
            <a:ext cx="287633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E9F6E"/>
                </a:solidFill>
              </a:rPr>
              <a:t>yes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548640" y="3895344"/>
            <a:ext cx="4519947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space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5068587" y="3895344"/>
            <a:ext cx="369813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32</a:t>
            </a:r>
            <a:endParaRPr lang="en-US" sz="2600" dirty="0"/>
          </a:p>
        </p:txBody>
      </p:sp>
      <p:sp>
        <p:nvSpPr>
          <p:cNvPr id="23" name="Shape 23"/>
          <p:cNvSpPr/>
          <p:nvPr/>
        </p:nvSpPr>
        <p:spPr>
          <a:xfrm>
            <a:off x="8766725" y="3895344"/>
            <a:ext cx="287633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loop over the alphabet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c++</a:t>
            </a:r>
            <a:r>
              <a:rPr lang="en-US" sz="2400" dirty="0">
                <a:solidFill>
                  <a:srgbClr val="18324A"/>
                </a:solidFill>
              </a:rPr>
              <a:t> adds 1 to the code: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2400" dirty="0">
                <a:solidFill>
                  <a:srgbClr val="18324A"/>
                </a:solidFill>
              </a:rPr>
              <a:t> (65) becomes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'B'</a:t>
            </a:r>
            <a:r>
              <a:rPr lang="en-US" sz="2400" dirty="0">
                <a:solidFill>
                  <a:srgbClr val="18324A"/>
                </a:solidFill>
              </a:rPr>
              <a:t> (66). The loop stops after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'Z'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400800" cy="188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482852"/>
            <a:ext cx="640080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1482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6400800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(char c = 'A'; c &lt;= 'Z'; c++)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printf("%c", c);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printf("\n");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223760" y="1261872"/>
            <a:ext cx="44192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7223760" y="1645920"/>
            <a:ext cx="4419295" cy="7150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7223760" y="1645920"/>
            <a:ext cx="4419295" cy="715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ABCDEFGHIJKLMNOPQRSTUVWXYZ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2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A character is a number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Arithmetic on characters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letters plus numbers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7680960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c = 'a';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printf("%c\n", c + 1);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c + 1);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printf("%c\n", 'A' + 25);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x = 'e';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printf("%c: letter %d\n", x, x - 'a' + 1);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8503920" y="1261872"/>
            <a:ext cx="31391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8503920" y="1261872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8613648" y="1261872"/>
            <a:ext cx="30294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2400" dirty="0">
                <a:solidFill>
                  <a:srgbClr val="18324A"/>
                </a:solidFill>
              </a:rPr>
              <a:t> is 97.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8503920" y="214884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8503920" y="214884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8613648" y="214884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What are the four lines?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Letters plus numbers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63852"/>
            <a:ext cx="76809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63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244852"/>
            <a:ext cx="76809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625852"/>
            <a:ext cx="76809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625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3768852"/>
            <a:ext cx="76809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768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548640" y="1261872"/>
            <a:ext cx="7680960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c = 'a';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printf("%c\n", c + 1);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c + 1);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printf("%c\n", 'A' + 25);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x = 'e';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printf("%c: letter %d\n", x, x - 'a' + 1);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7" name="Shape 17"/>
          <p:cNvSpPr/>
          <p:nvPr/>
        </p:nvSpPr>
        <p:spPr>
          <a:xfrm>
            <a:off x="8503920" y="1645920"/>
            <a:ext cx="313913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ode"/>
          <p:cNvSpPr/>
          <p:nvPr/>
        </p:nvSpPr>
        <p:spPr>
          <a:xfrm>
            <a:off x="8503920" y="1645920"/>
            <a:ext cx="313913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b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98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Z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e: letter 5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8503920" y="38100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8503920" y="381000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Callout"/>
          <p:cNvSpPr/>
          <p:nvPr/>
        </p:nvSpPr>
        <p:spPr>
          <a:xfrm>
            <a:off x="8613648" y="38100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Same value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98</a:t>
            </a:r>
            <a:r>
              <a:rPr lang="en-US" sz="2400" dirty="0">
                <a:solidFill>
                  <a:srgbClr val="18324A"/>
                </a:solidFill>
              </a:rPr>
              <a:t>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%c</a:t>
            </a:r>
            <a:r>
              <a:rPr lang="en-US" sz="2400" dirty="0">
                <a:solidFill>
                  <a:srgbClr val="18324A"/>
                </a:solidFill>
              </a:rPr>
              <a:t> gives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b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place of a letter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1C48D"/>
                </a:solidFill>
                <a:latin typeface="Consolas"/>
                <a:ea typeface="Consolas"/>
                <a:cs typeface="Consolas"/>
              </a:rPr>
              <a:t>letter - 'a'</a:t>
            </a:r>
            <a:r>
              <a:rPr lang="en-US" sz="4000" b="1" dirty="0">
                <a:solidFill>
                  <a:srgbClr val="18324A"/>
                </a:solidFill>
              </a:rPr>
              <a:t> is its place, counting from 0.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'a' - 'a'</a:t>
            </a:r>
            <a:r>
              <a:rPr lang="en-US" sz="3000" dirty="0">
                <a:solidFill>
                  <a:srgbClr val="18324A"/>
                </a:solidFill>
              </a:rPr>
              <a:t> is 0.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'b' - 'a'</a:t>
            </a:r>
            <a:r>
              <a:rPr lang="en-US" sz="3000" dirty="0">
                <a:solidFill>
                  <a:srgbClr val="18324A"/>
                </a:solidFill>
              </a:rPr>
              <a:t> is 1.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'e' - 'a'</a:t>
            </a:r>
            <a:r>
              <a:rPr lang="en-US" sz="3000" dirty="0">
                <a:solidFill>
                  <a:srgbClr val="18324A"/>
                </a:solidFill>
              </a:rPr>
              <a:t> is 101 - 97 = 4.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Add 1 to count from 1: e is letter 5.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small letter becomes a capital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933702"/>
            <a:ext cx="731520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933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315200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c = 'g';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big = c - 'a' + 'A';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printf("%c becomes %c\n", c, big);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printf("%d becomes %d\n", c, big);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138160" y="1645920"/>
            <a:ext cx="350489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138160" y="1645920"/>
            <a:ext cx="350489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g becomes G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103 becomes 71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138160" y="3048000"/>
            <a:ext cx="350489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13816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247888" y="3048000"/>
            <a:ext cx="339516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Place of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</a:t>
            </a:r>
            <a:r>
              <a:rPr lang="en-US" sz="2400" dirty="0">
                <a:solidFill>
                  <a:srgbClr val="18324A"/>
                </a:solidFill>
              </a:rPr>
              <a:t>: 6. Plus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2400" dirty="0">
                <a:solidFill>
                  <a:srgbClr val="18324A"/>
                </a:solidFill>
              </a:rPr>
              <a:t>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'G'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8138160" y="4300728"/>
            <a:ext cx="35048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138160" y="4300728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8247888" y="4300728"/>
            <a:ext cx="33951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Always 32 apart.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the character 7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</a:t>
            </a:r>
            <a:r>
              <a:rPr lang="en-US" sz="3200" dirty="0">
                <a:solidFill>
                  <a:srgbClr val="18324A"/>
                </a:solidFill>
              </a:rPr>
              <a:t> holds the character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'7'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three numbers?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429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2429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d = '7';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d);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d - '0');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(d - '0') * 2);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character 7 is not the number 7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78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8227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822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267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267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766560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d = '7';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d);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d - '0');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printf("%d\n", (d - '0') * 2);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55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7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14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3429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3429000"/>
            <a:ext cx="109728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3429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'7'</a:t>
            </a:r>
            <a:r>
              <a:rPr lang="en-US" sz="2400" dirty="0">
                <a:solidFill>
                  <a:srgbClr val="18324A"/>
                </a:solidFill>
              </a:rPr>
              <a:t> has the code 55.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7589520" y="4315968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7589520" y="4315968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Callout"/>
          <p:cNvSpPr/>
          <p:nvPr/>
        </p:nvSpPr>
        <p:spPr>
          <a:xfrm>
            <a:off x="7699248" y="4315968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d - '0'</a:t>
            </a:r>
            <a:r>
              <a:rPr lang="en-US" sz="2400" dirty="0">
                <a:solidFill>
                  <a:srgbClr val="18324A"/>
                </a:solidFill>
              </a:rPr>
              <a:t>: 55 - 48 = 7.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digit and its value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The value of a digit character is </a:t>
            </a:r>
            <a:r>
              <a:rPr lang="en-US" sz="4000" b="1" dirty="0">
                <a:solidFill>
                  <a:srgbClr val="31C48D"/>
                </a:solidFill>
                <a:latin typeface="Consolas"/>
                <a:ea typeface="Consolas"/>
                <a:cs typeface="Consolas"/>
              </a:rPr>
              <a:t>c - '0'</a:t>
            </a:r>
            <a:r>
              <a:rPr lang="en-US" sz="4000" b="1" dirty="0">
                <a:solidFill>
                  <a:srgbClr val="18324A"/>
                </a:solidFill>
              </a:rPr>
              <a:t>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'0' - '0'</a:t>
            </a:r>
            <a:r>
              <a:rPr lang="en-US" sz="3000" dirty="0">
                <a:solidFill>
                  <a:srgbClr val="18324A"/>
                </a:solidFill>
              </a:rPr>
              <a:t> is 0,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'7' - '0'</a:t>
            </a:r>
            <a:r>
              <a:rPr lang="en-US" sz="3000" dirty="0">
                <a:solidFill>
                  <a:srgbClr val="18324A"/>
                </a:solidFill>
              </a:rPr>
              <a:t> is 7,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'9' - '0'</a:t>
            </a:r>
            <a:r>
              <a:rPr lang="en-US" sz="3000" dirty="0">
                <a:solidFill>
                  <a:srgbClr val="18324A"/>
                </a:solidFill>
              </a:rPr>
              <a:t> is 9.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Now it is a number: you can add it, multiply it.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Class 12 turns a whole string like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"2026"</a:t>
            </a:r>
            <a:r>
              <a:rPr lang="en-US" sz="3000" dirty="0">
                <a:solidFill>
                  <a:srgbClr val="18324A"/>
                </a:solidFill>
              </a:rPr>
              <a:t> into a number.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which quotes?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One letter in </a:t>
            </a:r>
            <a:r>
              <a:rPr lang="en-US" sz="3200" b="1" dirty="0">
                <a:solidFill>
                  <a:srgbClr val="18324A"/>
                </a:solidFill>
              </a:rPr>
              <a:t>double</a:t>
            </a:r>
            <a:r>
              <a:rPr lang="en-US" sz="3200" dirty="0">
                <a:solidFill>
                  <a:srgbClr val="18324A"/>
                </a:solidFill>
              </a:rPr>
              <a:t> quotes.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gcc say?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38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38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c = "A";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printf("%c\n", c);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Double quotes: gcc refuses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"A"</a:t>
            </a:r>
            <a:r>
              <a:rPr lang="en-US" sz="2400" dirty="0">
                <a:solidFill>
                  <a:srgbClr val="18324A"/>
                </a:solidFill>
              </a:rPr>
              <a:t> is a </a:t>
            </a:r>
            <a:r>
              <a:rPr lang="en-US" sz="2400" b="1" dirty="0">
                <a:solidFill>
                  <a:srgbClr val="18324A"/>
                </a:solidFill>
              </a:rPr>
              <a:t>string</a:t>
            </a:r>
            <a:r>
              <a:rPr lang="en-US" sz="2400" dirty="0">
                <a:solidFill>
                  <a:srgbClr val="18324A"/>
                </a:solidFill>
              </a:rPr>
              <a:t>, not one character. A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2400" dirty="0">
                <a:solidFill>
                  <a:srgbClr val="18324A"/>
                </a:solidFill>
              </a:rPr>
              <a:t> takes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2400" dirty="0">
                <a:solidFill>
                  <a:srgbClr val="18324A"/>
                </a:solidFill>
              </a:rPr>
              <a:t>, in single quotes.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766560" cy="138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495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1495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6766560" cy="138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c = "A";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printf("%c\n", c);</a:t>
            </a:r>
            <a:endParaRPr lang="en-US" sz="3200" dirty="0"/>
          </a:p>
        </p:txBody>
      </p:sp>
      <p:sp>
        <p:nvSpPr>
          <p:cNvPr id="13" name="Shape 13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-Wall says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7589520" y="1645920"/>
            <a:ext cx="4053535" cy="21120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7589520" y="1645920"/>
            <a:ext cx="4053535" cy="2112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initialization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of 'char' from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'char *' makes integer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from pointer without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 cast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'A' or "A"?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5432908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'A' single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one </a:t>
            </a:r>
            <a:r>
              <a:rPr lang="en-US" sz="2400" b="1" dirty="0">
                <a:solidFill>
                  <a:srgbClr val="18324A"/>
                </a:solidFill>
              </a:rPr>
              <a:t>character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number 65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goes in a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6210148" y="1536192"/>
            <a:ext cx="5432908" cy="7315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"A" double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6210148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a </a:t>
            </a:r>
            <a:r>
              <a:rPr lang="en-US" sz="2400" b="1" dirty="0">
                <a:solidFill>
                  <a:srgbClr val="18324A"/>
                </a:solidFill>
              </a:rPr>
              <a:t>string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two boxes: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2400" dirty="0">
                <a:solidFill>
                  <a:srgbClr val="18324A"/>
                </a:solidFill>
              </a:rPr>
              <a:t> and the end mark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goes in a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2400" dirty="0">
                <a:solidFill>
                  <a:srgbClr val="18324A"/>
                </a:solidFill>
              </a:rPr>
              <a:t> array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658368" y="5166360"/>
            <a:ext cx="10984687" cy="9144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end mark is the next big idea of today.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Testing characters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Is it a letter? A digit?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11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Which kind of character?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949440" cy="4207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78177"/>
            <a:ext cx="69494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876677"/>
            <a:ext cx="69494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876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575177"/>
            <a:ext cx="69494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575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949440" cy="4207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scanf(" %c", &amp;c);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(c &gt;= 'a' &amp;&amp; c &lt;= 'z')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printf("%c is a small letter\n", c);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 else if (c &gt;= 'A' &amp;&amp; c &lt;= 'Z')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printf("%c is a capital letter\n", c);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 else if (c &gt;= '0' &amp;&amp; c &lt;= '9')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printf("%c is a digit\n", c);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 else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printf("%c is something else\n", c);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7772400" y="1261872"/>
            <a:ext cx="38706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Run, input Q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7772400" y="1645920"/>
            <a:ext cx="3870655" cy="1064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7772400" y="1645920"/>
            <a:ext cx="3870655" cy="1064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Type one character: Q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Q is a capital letter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&lt;ctype.h&gt; does it for you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Add </a:t>
            </a:r>
            <a:r>
              <a:rPr lang="en-US" sz="4000" b="1" dirty="0">
                <a:solidFill>
                  <a:srgbClr val="06B6D4"/>
                </a:solidFill>
                <a:latin typeface="Consolas"/>
                <a:ea typeface="Consolas"/>
                <a:cs typeface="Consolas"/>
              </a:rPr>
              <a:t>#include &lt;ctype.h&gt;</a:t>
            </a:r>
            <a:r>
              <a:rPr lang="en-US" sz="4000" b="1" dirty="0">
                <a:solidFill>
                  <a:srgbClr val="18324A"/>
                </a:solidFill>
              </a:rPr>
              <a:t> at the top.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isdigit(c)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isalpha(c)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isupper(c)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islower(c)</a:t>
            </a:r>
            <a:r>
              <a:rPr lang="en-US" sz="3000" dirty="0">
                <a:solidFill>
                  <a:srgbClr val="18324A"/>
                </a:solidFill>
              </a:rPr>
              <a:t>: yes or no.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toupper(c)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tolower(c)</a:t>
            </a:r>
            <a:r>
              <a:rPr lang="en-US" sz="3000" dirty="0">
                <a:solidFill>
                  <a:srgbClr val="18324A"/>
                </a:solidFill>
              </a:rPr>
              <a:t>: the letter in the other case.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Not a letter?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toupper</a:t>
            </a:r>
            <a:r>
              <a:rPr lang="en-US" sz="3000" dirty="0">
                <a:solidFill>
                  <a:srgbClr val="18324A"/>
                </a:solidFill>
              </a:rPr>
              <a:t> gives it back unchanged.</a:t>
            </a:r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six functions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326306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call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3811703" y="1261872"/>
            <a:ext cx="391567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question or job</a:t>
            </a:r>
            <a:endParaRPr lang="en-US" sz="1800" dirty="0"/>
          </a:p>
        </p:txBody>
      </p:sp>
      <p:sp>
        <p:nvSpPr>
          <p:cNvPr id="8" name="Shape 8"/>
          <p:cNvSpPr/>
          <p:nvPr/>
        </p:nvSpPr>
        <p:spPr>
          <a:xfrm>
            <a:off x="7727379" y="1261872"/>
            <a:ext cx="391567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example</a:t>
            </a:r>
            <a:endParaRPr lang="en-US" sz="1800" dirty="0"/>
          </a:p>
        </p:txBody>
      </p:sp>
      <p:sp>
        <p:nvSpPr>
          <p:cNvPr id="9" name="Shape 9"/>
          <p:cNvSpPr/>
          <p:nvPr/>
        </p:nvSpPr>
        <p:spPr>
          <a:xfrm>
            <a:off x="548640" y="1920240"/>
            <a:ext cx="326306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isdigit(c)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3811703" y="1920240"/>
            <a:ext cx="391567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a digit?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7727379" y="1920240"/>
            <a:ext cx="391567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'7'</a:t>
            </a:r>
            <a:r>
              <a:rPr lang="en-US" sz="2400" dirty="0">
                <a:solidFill>
                  <a:srgbClr val="18324A"/>
                </a:solidFill>
              </a:rPr>
              <a:t>: yes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548640" y="2578608"/>
            <a:ext cx="326306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isalpha(c)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3811703" y="2578608"/>
            <a:ext cx="391567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a letter?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727379" y="2578608"/>
            <a:ext cx="391567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'?'</a:t>
            </a:r>
            <a:r>
              <a:rPr lang="en-US" sz="2400" dirty="0">
                <a:solidFill>
                  <a:srgbClr val="18324A"/>
                </a:solidFill>
              </a:rPr>
              <a:t>: no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548640" y="3236976"/>
            <a:ext cx="326306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isupper(c)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3811703" y="3236976"/>
            <a:ext cx="391567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a capital?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727379" y="3236976"/>
            <a:ext cx="391567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'Q'</a:t>
            </a:r>
            <a:r>
              <a:rPr lang="en-US" sz="2400" dirty="0">
                <a:solidFill>
                  <a:srgbClr val="18324A"/>
                </a:solidFill>
              </a:rPr>
              <a:t>: yes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548640" y="3895344"/>
            <a:ext cx="326306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islower(c)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3811703" y="3895344"/>
            <a:ext cx="391567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a small letter?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7727379" y="3895344"/>
            <a:ext cx="391567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'Q'</a:t>
            </a:r>
            <a:r>
              <a:rPr lang="en-US" sz="2400" dirty="0">
                <a:solidFill>
                  <a:srgbClr val="18324A"/>
                </a:solidFill>
              </a:rPr>
              <a:t>: no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548640" y="4553712"/>
            <a:ext cx="326306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toupper(c)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3811703" y="4553712"/>
            <a:ext cx="391567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make it a capital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7727379" y="4553712"/>
            <a:ext cx="391567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'g'</a:t>
            </a:r>
            <a:r>
              <a:rPr lang="en-US" sz="2400" dirty="0">
                <a:solidFill>
                  <a:srgbClr val="18324A"/>
                </a:solidFill>
              </a:rPr>
              <a:t> gives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'G'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548640" y="5212080"/>
            <a:ext cx="326306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tolower(c)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3811703" y="5212080"/>
            <a:ext cx="391567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make it small</a:t>
            </a:r>
            <a:endParaRPr lang="en-US" sz="2400" dirty="0"/>
          </a:p>
        </p:txBody>
      </p:sp>
      <p:sp>
        <p:nvSpPr>
          <p:cNvPr id="26" name="Shape 26"/>
          <p:cNvSpPr/>
          <p:nvPr/>
        </p:nvSpPr>
        <p:spPr>
          <a:xfrm>
            <a:off x="7727379" y="5212080"/>
            <a:ext cx="391567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'Q'</a:t>
            </a:r>
            <a:r>
              <a:rPr lang="en-US" sz="2400" dirty="0">
                <a:solidFill>
                  <a:srgbClr val="18324A"/>
                </a:solidFill>
              </a:rPr>
              <a:t> gives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'q'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ctype.h at work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498080" cy="4556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79677"/>
            <a:ext cx="749808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79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1828927"/>
            <a:ext cx="749808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828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498080" cy="455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printf("%c %c\n", toupper('g'), tolower('Q'));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printf("%c %c\n", toupper('G'), toupper('7'));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if (isdigit('7'))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printf("7 is a digit\n");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if (isupper('Q'))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printf("Q is a capital\n");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if (!isalpha('?'))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printf("? is not a letter\n");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2" name="Shape 12"/>
          <p:cNvSpPr/>
          <p:nvPr/>
        </p:nvSpPr>
        <p:spPr>
          <a:xfrm>
            <a:off x="8321040" y="1261872"/>
            <a:ext cx="33220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321040" y="1645920"/>
            <a:ext cx="3322015" cy="227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321040" y="1645920"/>
            <a:ext cx="3322015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G q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G 7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7 is a digit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Q is a capital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? is not a letter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321040" y="4191000"/>
            <a:ext cx="33220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321040" y="4191000"/>
            <a:ext cx="10972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430768" y="4191000"/>
            <a:ext cx="32122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toupper('7')</a:t>
            </a:r>
            <a:r>
              <a:rPr lang="en-US" sz="2400" dirty="0">
                <a:solidFill>
                  <a:srgbClr val="18324A"/>
                </a:solidFill>
              </a:rPr>
              <a:t>: still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7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what is "yes"?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Three tests, printed with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%d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three numbers?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604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604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isdigit('7'));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isalpha('x'));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isdigit('x'));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"Yes" is not always 1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Write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if (isdigit(c))</a:t>
            </a:r>
            <a:r>
              <a:rPr lang="en-US" sz="2400" dirty="0">
                <a:solidFill>
                  <a:srgbClr val="18324A"/>
                </a:solidFill>
              </a:rPr>
              <a:t>. Never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if (isdigit(c) == 1)</a:t>
            </a:r>
            <a:r>
              <a:rPr lang="en-US" sz="2400" dirty="0">
                <a:solidFill>
                  <a:srgbClr val="18324A"/>
                </a:solidFill>
              </a:rPr>
              <a:t>: it is false when the answer is 2.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766560" cy="1699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548640" y="1261872"/>
            <a:ext cx="6766560" cy="1699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isdigit('7'));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isalpha('x'));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isdigit('x'));</a:t>
            </a:r>
            <a:endParaRPr lang="en-US" sz="2800" dirty="0"/>
          </a:p>
        </p:txBody>
      </p:sp>
      <p:sp>
        <p:nvSpPr>
          <p:cNvPr id="11" name="Shape 11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2" name="Shape 12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3429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3429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3429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isalpha</a:t>
            </a:r>
            <a:r>
              <a:rPr lang="en-US" sz="2400" dirty="0">
                <a:solidFill>
                  <a:srgbClr val="18324A"/>
                </a:solidFill>
              </a:rPr>
              <a:t> said 2. Yes is "not 0".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same test, with ctype.h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498080" cy="3509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79677"/>
            <a:ext cx="749808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79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178177"/>
            <a:ext cx="749808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876677"/>
            <a:ext cx="749808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876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498080" cy="3509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(isupper(c))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printf("capital letter\n");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 else if (islower(c))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printf("small, capital %c\n", toupper(c));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 else if (isdigit(c))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printf("digit, value %d\n", c - '0');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 else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printf("something else\n");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8321040" y="1261872"/>
            <a:ext cx="33220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Run, input g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8321040" y="1645920"/>
            <a:ext cx="3322015" cy="100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8321040" y="1645920"/>
            <a:ext cx="3322015" cy="100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Type one character: g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small, capital G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4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Strings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Text as an array of char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11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string is an array of char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The characters, one per box, then an end mark.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end mark is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3000" dirty="0">
                <a:solidFill>
                  <a:srgbClr val="18324A"/>
                </a:solidFill>
              </a:rPr>
              <a:t>, the </a:t>
            </a:r>
            <a:r>
              <a:rPr lang="en-US" sz="3000" b="1" dirty="0">
                <a:solidFill>
                  <a:srgbClr val="18324A"/>
                </a:solidFill>
              </a:rPr>
              <a:t>null character</a:t>
            </a:r>
            <a:r>
              <a:rPr lang="en-US" sz="3000" dirty="0">
                <a:solidFill>
                  <a:srgbClr val="18324A"/>
                </a:solidFill>
              </a:rPr>
              <a:t>. Its code is 0.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A string in double quotes gets the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3000" dirty="0">
                <a:solidFill>
                  <a:srgbClr val="18324A"/>
                </a:solidFill>
              </a:rPr>
              <a:t> for free.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Like the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3000" dirty="0">
                <a:solidFill>
                  <a:srgbClr val="18324A"/>
                </a:solidFill>
              </a:rPr>
              <a:t> at the end of today's recap array.</a:t>
            </a:r>
            <a:endParaRPr lang="en-US" sz="3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"hello" in memory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5 letters, </a:t>
            </a:r>
            <a:r>
              <a:rPr lang="en-US" sz="2400" b="1" dirty="0">
                <a:solidFill>
                  <a:srgbClr val="18324A"/>
                </a:solidFill>
              </a:rPr>
              <a:t>6</a:t>
            </a:r>
            <a:r>
              <a:rPr lang="en-US" sz="2400" dirty="0">
                <a:solidFill>
                  <a:srgbClr val="18324A"/>
                </a:solidFill>
              </a:rPr>
              <a:t> boxes. The last box holds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2364384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index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2913024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4368029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823034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7278039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733045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10188050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548640" y="1920240"/>
            <a:ext cx="23643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box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2913024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h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4368029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e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5823034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l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7278039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l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8733045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o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10188050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\0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Two ways to make a string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%s</a:t>
            </a:r>
            <a:r>
              <a:rPr lang="en-US" sz="2400" dirty="0">
                <a:solidFill>
                  <a:srgbClr val="18324A"/>
                </a:solidFill>
              </a:rPr>
              <a:t> prints the characters, box by box, until it meets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7955280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482852"/>
            <a:ext cx="795528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1482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1863852"/>
            <a:ext cx="795528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1863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548640" y="1261872"/>
            <a:ext cx="7955280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w[6] = {'h', 'e', 'l', 'l', 'o', '\0'};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s[] = "hello";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printf("%s\n", w);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printf("%s\n", s);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778240" y="1261872"/>
            <a:ext cx="28648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6" name="Shape 16"/>
          <p:cNvSpPr/>
          <p:nvPr/>
        </p:nvSpPr>
        <p:spPr>
          <a:xfrm>
            <a:off x="8778240" y="1645920"/>
            <a:ext cx="286481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ode"/>
          <p:cNvSpPr/>
          <p:nvPr/>
        </p:nvSpPr>
        <p:spPr>
          <a:xfrm>
            <a:off x="8778240" y="1645920"/>
            <a:ext cx="286481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how many boxes?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"hi"</a:t>
            </a:r>
            <a:r>
              <a:rPr lang="en-US" sz="3200" dirty="0">
                <a:solidFill>
                  <a:srgbClr val="18324A"/>
                </a:solidFill>
              </a:rPr>
              <a:t> is in the array.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two lines?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63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63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s[] = "hi";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printf("%c %c\n", s[0], s[1]);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 %d %d\n", s[0], s[1], s[2]);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"hi" takes three boxes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176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52742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527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176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s[] = "hi";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printf("%c %c\n", s[0], s[1]);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printf("%d %d %d\n", s[0], s[1], s[2]);</a:t>
            </a:r>
            <a:endParaRPr lang="en-US" sz="22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 i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104 105 0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048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048000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048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s[2]</a:t>
            </a:r>
            <a:r>
              <a:rPr lang="en-US" sz="2400" dirty="0">
                <a:solidFill>
                  <a:srgbClr val="18324A"/>
                </a:solidFill>
              </a:rPr>
              <a:t> is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: code 0.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Count the end mark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A string of n letters needs n + 1 boxes.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"hi"</a:t>
            </a:r>
            <a:r>
              <a:rPr lang="en-US" sz="3000" dirty="0">
                <a:solidFill>
                  <a:srgbClr val="18324A"/>
                </a:solidFill>
              </a:rPr>
              <a:t>: 3 boxes.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"hello"</a:t>
            </a:r>
            <a:r>
              <a:rPr lang="en-US" sz="3000" dirty="0">
                <a:solidFill>
                  <a:srgbClr val="18324A"/>
                </a:solidFill>
              </a:rPr>
              <a:t>: 6 boxes.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 s[] = "hello";</a:t>
            </a:r>
            <a:r>
              <a:rPr lang="en-US" sz="3000" dirty="0">
                <a:solidFill>
                  <a:srgbClr val="18324A"/>
                </a:solidFill>
              </a:rPr>
              <a:t> gcc counts for you.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 name[20];</a:t>
            </a:r>
            <a:r>
              <a:rPr lang="en-US" sz="3000" dirty="0">
                <a:solidFill>
                  <a:srgbClr val="18324A"/>
                </a:solidFill>
              </a:rPr>
              <a:t> room for 19 letters and the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three boxes for "cat"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word</a:t>
            </a:r>
            <a:r>
              <a:rPr lang="en-US" sz="3200" dirty="0">
                <a:solidFill>
                  <a:srgbClr val="18324A"/>
                </a:solidFill>
              </a:rPr>
              <a:t> has 3 boxes.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"cat"</a:t>
            </a:r>
            <a:r>
              <a:rPr lang="en-US" sz="3200" dirty="0">
                <a:solidFill>
                  <a:srgbClr val="18324A"/>
                </a:solidFill>
              </a:rPr>
              <a:t> needs 4.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printed?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90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290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next[] = "dog";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word[3] = "cat";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printf("%s\n", word);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printf("%s\n", next);</a:t>
            </a:r>
            <a:endParaRPr lang="en-US" sz="3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No end mark: %s goes 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gcc -Wall</a:t>
            </a:r>
            <a:r>
              <a:rPr lang="en-US" sz="2400" dirty="0">
                <a:solidFill>
                  <a:srgbClr val="18324A"/>
                </a:solidFill>
              </a:rPr>
              <a:t> says nothing.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gcc -Wall -Wextra</a:t>
            </a:r>
            <a:r>
              <a:rPr lang="en-US" sz="2400" dirty="0">
                <a:solidFill>
                  <a:srgbClr val="18324A"/>
                </a:solidFill>
              </a:rPr>
              <a:t> warns. Another computer can print something else.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766560" cy="290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003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003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019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3019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548640" y="1261872"/>
            <a:ext cx="6766560" cy="290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next[] = "dog";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word[3] = "cat";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printf("%s\n", word);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printf("%s\n", next);</a:t>
            </a:r>
            <a:endParaRPr lang="en-US" sz="3200" dirty="0"/>
          </a:p>
        </p:txBody>
      </p:sp>
      <p:sp>
        <p:nvSpPr>
          <p:cNvPr id="15" name="Shape 15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6" name="Shape 16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catdog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dog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7589520" y="3048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7589520" y="3048000"/>
            <a:ext cx="109728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7699248" y="3048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 after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7589520" y="3934968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7589520" y="3934968"/>
            <a:ext cx="109728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" name="Callout"/>
          <p:cNvSpPr/>
          <p:nvPr/>
        </p:nvSpPr>
        <p:spPr>
          <a:xfrm>
            <a:off x="7699248" y="3934968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%s</a:t>
            </a:r>
            <a:r>
              <a:rPr lang="en-US" sz="2400" dirty="0">
                <a:solidFill>
                  <a:srgbClr val="18324A"/>
                </a:solidFill>
              </a:rPr>
              <a:t> walked into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next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Printing a string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498080" cy="2016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11527"/>
            <a:ext cx="749808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115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724277"/>
            <a:ext cx="749808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242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498080" cy="201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name[] = "Leyla";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printf("Hello, %s!\n", name);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printf("First letter: %c\n", name[0]);</a:t>
            </a:r>
            <a:endParaRPr lang="en-US" sz="2600" dirty="0"/>
          </a:p>
        </p:txBody>
      </p:sp>
      <p:sp>
        <p:nvSpPr>
          <p:cNvPr id="12" name="Shape 12"/>
          <p:cNvSpPr/>
          <p:nvPr/>
        </p:nvSpPr>
        <p:spPr>
          <a:xfrm>
            <a:off x="8321040" y="1261872"/>
            <a:ext cx="33220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321040" y="1645920"/>
            <a:ext cx="332201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321040" y="1645920"/>
            <a:ext cx="332201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Hello, Leyla!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First letter: L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321040" y="3048000"/>
            <a:ext cx="33220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321040" y="304800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430768" y="3048000"/>
            <a:ext cx="32122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%s</a:t>
            </a:r>
            <a:r>
              <a:rPr lang="en-US" sz="2400" dirty="0">
                <a:solidFill>
                  <a:srgbClr val="18324A"/>
                </a:solidFill>
              </a:rPr>
              <a:t>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en-US" sz="2400" dirty="0">
                <a:solidFill>
                  <a:srgbClr val="18324A"/>
                </a:solidFill>
              </a:rPr>
              <a:t>: all of it.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8321040" y="4300728"/>
            <a:ext cx="33220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8321040" y="4300728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8430768" y="4300728"/>
            <a:ext cx="32122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%c</a:t>
            </a:r>
            <a:r>
              <a:rPr lang="en-US" sz="2400" dirty="0">
                <a:solidFill>
                  <a:srgbClr val="18324A"/>
                </a:solidFill>
              </a:rPr>
              <a:t>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name[0]</a:t>
            </a:r>
            <a:r>
              <a:rPr lang="en-US" sz="2400" dirty="0">
                <a:solidFill>
                  <a:srgbClr val="18324A"/>
                </a:solidFill>
              </a:rPr>
              <a:t>: one box.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Change one box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42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019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019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543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543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6766560" cy="442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word[] = "cat";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printf("%s\n", word);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word[0] = 'b';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printf("%s\n", word);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word[2] = 'r';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printf("%s\n", word);</a:t>
            </a:r>
            <a:endParaRPr lang="en-US" sz="3200" dirty="0"/>
          </a:p>
        </p:txBody>
      </p:sp>
      <p:sp>
        <p:nvSpPr>
          <p:cNvPr id="12" name="Shape 12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cat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bat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bar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7589520" y="3429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7589520" y="3429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7699248" y="3429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string is an array: change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word[i]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no = for a whole string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Class 9: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b = a;</a:t>
            </a:r>
            <a:r>
              <a:rPr lang="en-US" sz="2400" dirty="0">
                <a:solidFill>
                  <a:srgbClr val="18324A"/>
                </a:solidFill>
              </a:rPr>
              <a:t> did not compile for arrays. A string is an array. </a:t>
            </a:r>
            <a:r>
              <a:rPr lang="en-US" sz="2400" b="1" dirty="0">
                <a:solidFill>
                  <a:srgbClr val="18324A"/>
                </a:solidFill>
              </a:rPr>
              <a:t>Class 12</a:t>
            </a:r>
            <a:r>
              <a:rPr lang="en-US" sz="2400" dirty="0">
                <a:solidFill>
                  <a:srgbClr val="18324A"/>
                </a:solidFill>
              </a:rPr>
              <a:t> gives you a library function that copies.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766560" cy="188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003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003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6766560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word[] = "cat";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word = "dog";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printf("%s\n", word);</a:t>
            </a:r>
            <a:endParaRPr lang="en-US" sz="3200" dirty="0"/>
          </a:p>
        </p:txBody>
      </p:sp>
      <p:sp>
        <p:nvSpPr>
          <p:cNvPr id="13" name="Shape 13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-Wall says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assignment to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expression with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array type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5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Reading strings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scanf and fgets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11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Read a word with scanf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214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78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214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name[20];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printf("Your name: 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scanf("%s", name);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printf("Hello, %s!\n", name);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Run, input Leyla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Your name: Leyla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Hello, Leyla!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048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048000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048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%s</a:t>
            </a:r>
            <a:r>
              <a:rPr lang="en-US" sz="2400" dirty="0">
                <a:solidFill>
                  <a:srgbClr val="18324A"/>
                </a:solidFill>
              </a:rPr>
              <a:t>, and </a:t>
            </a:r>
            <a:r>
              <a:rPr lang="en-US" sz="2400" b="1" dirty="0">
                <a:solidFill>
                  <a:srgbClr val="18324A"/>
                </a:solidFill>
              </a:rPr>
              <a:t>no</a:t>
            </a:r>
            <a:r>
              <a:rPr lang="en-US" sz="2400" dirty="0">
                <a:solidFill>
                  <a:srgbClr val="18324A"/>
                </a:solidFill>
              </a:rPr>
              <a:t>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Why no &amp;?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The name of an array already says where it is.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scanf("%d", &amp;n);</a:t>
            </a:r>
            <a:r>
              <a:rPr lang="en-US" sz="3000" dirty="0">
                <a:solidFill>
                  <a:srgbClr val="18324A"/>
                </a:solidFill>
              </a:rPr>
              <a:t> an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lang="en-US" sz="3000" dirty="0">
                <a:solidFill>
                  <a:srgbClr val="18324A"/>
                </a:solidFill>
              </a:rPr>
              <a:t> needs the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scanf("%s", name);</a:t>
            </a:r>
            <a:r>
              <a:rPr lang="en-US" sz="3000" dirty="0">
                <a:solidFill>
                  <a:srgbClr val="18324A"/>
                </a:solidFill>
              </a:rPr>
              <a:t> an array does not.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Why? Pointers explain it, after the midterm.</a:t>
            </a:r>
            <a:endParaRPr lang="en-US" sz="3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a full name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program is the same.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You type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Leyla Aliyeva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printed?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016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201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name[20];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printf("Your name: ");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scanf("%s", name);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printf("Hello, %s!\n", name);</a:t>
            </a:r>
            <a:endParaRPr lang="en-US" sz="2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scanf stops at a space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214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78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214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name[20];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printf("Your name: 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scanf("%s", name);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printf("Hello, %s!\n", name);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Run, input Leyla Aliyeva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00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00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Your name: Leyla Aliyeva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Hello, Leyla!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7589520" y="2921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2921000"/>
            <a:ext cx="109728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2921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%s</a:t>
            </a:r>
            <a:r>
              <a:rPr lang="en-US" sz="2400" dirty="0">
                <a:solidFill>
                  <a:srgbClr val="18324A"/>
                </a:solidFill>
              </a:rPr>
              <a:t> reads </a:t>
            </a:r>
            <a:r>
              <a:rPr lang="en-US" sz="2400" b="1" dirty="0">
                <a:solidFill>
                  <a:srgbClr val="18324A"/>
                </a:solidFill>
              </a:rPr>
              <a:t>one word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380796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3807968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380796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stops at a space or Enter.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the &amp; gets a warning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Delete 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lang="en-US" sz="2400" dirty="0">
                <a:solidFill>
                  <a:srgbClr val="18324A"/>
                </a:solidFill>
              </a:rPr>
              <a:t>. Read warnings: this one names the argument.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766560" cy="214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378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6766560" cy="214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name[20];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printf("Your name: 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scanf("%s", &amp;name);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printf("Hello, %s!\n", name);</a:t>
            </a:r>
            <a:endParaRPr lang="en-US" sz="2800" dirty="0"/>
          </a:p>
        </p:txBody>
      </p:sp>
      <p:sp>
        <p:nvSpPr>
          <p:cNvPr id="13" name="Shape 13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-Wall says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7589520" y="1645920"/>
            <a:ext cx="4053535" cy="227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7589520" y="1645920"/>
            <a:ext cx="4053535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warning: format '%s'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expects argument of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type 'char *', but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argument 2 has type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'char (*)[20]'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Read a whole line: fgets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5852160" cy="214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78202"/>
            <a:ext cx="58521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78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5852160" cy="214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line[50];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printf("Your full name: ");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fgets(line, 50, stdin);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printf("&lt;%s&gt;\n", line);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6675120" y="1261872"/>
            <a:ext cx="49679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Run, input Leyla Aliyeva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6675120" y="1645920"/>
            <a:ext cx="4967935" cy="14135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6675120" y="1645920"/>
            <a:ext cx="4967935" cy="1413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Your full name: Leyla Aliyeva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&lt;Leyla Aliyeva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&gt;</a:t>
            </a:r>
            <a:endParaRPr lang="en-US" sz="2200" dirty="0"/>
          </a:p>
        </p:txBody>
      </p:sp>
      <p:sp>
        <p:nvSpPr>
          <p:cNvPr id="13" name="Shape 13"/>
          <p:cNvSpPr/>
          <p:nvPr/>
        </p:nvSpPr>
        <p:spPr>
          <a:xfrm>
            <a:off x="6675120" y="3333750"/>
            <a:ext cx="49679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6675120" y="3333750"/>
            <a:ext cx="109728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6784848" y="3333750"/>
            <a:ext cx="48582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fgets(line, 50, stdin)</a:t>
            </a:r>
            <a:r>
              <a:rPr lang="en-US" sz="2400" dirty="0">
                <a:solidFill>
                  <a:srgbClr val="18324A"/>
                </a:solidFill>
              </a:rPr>
              <a:t>: where, how many boxes, the keyboard.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fgets keeps the Enter key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Leyla Aliyeva</a:t>
            </a:r>
            <a:r>
              <a:rPr lang="en-US" sz="2400" dirty="0">
                <a:solidFill>
                  <a:srgbClr val="18324A"/>
                </a:solidFill>
              </a:rPr>
              <a:t> is 13 characters: boxes 0 to 12. Then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'\n'</a:t>
            </a:r>
            <a:r>
              <a:rPr lang="en-US" sz="2400" dirty="0">
                <a:solidFill>
                  <a:srgbClr val="18324A"/>
                </a:solidFill>
              </a:rPr>
              <a:t> in box 13,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 in box 14. That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\n</a:t>
            </a:r>
            <a:r>
              <a:rPr lang="en-US" sz="2400" dirty="0">
                <a:solidFill>
                  <a:srgbClr val="18324A"/>
                </a:solidFill>
              </a:rPr>
              <a:t> sent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lang="en-US" sz="2400" dirty="0">
                <a:solidFill>
                  <a:srgbClr val="18324A"/>
                </a:solidFill>
              </a:rPr>
              <a:t> to the next line.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2364384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index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2913024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4368029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823034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...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7278039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12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733045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13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10188050" y="1261872"/>
            <a:ext cx="1455005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14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548640" y="1920240"/>
            <a:ext cx="23643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box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2913024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L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4368029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e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5823034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...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7278039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a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8733045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\n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10188050" y="1920240"/>
            <a:ext cx="145500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\0</a:t>
            </a:r>
            <a:endParaRPr lang="en-US" sz="2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scanf or fgets?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5432908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scanf("%s", s)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one </a:t>
            </a:r>
            <a:r>
              <a:rPr lang="en-US" sz="2400" b="1" dirty="0">
                <a:solidFill>
                  <a:srgbClr val="18324A"/>
                </a:solidFill>
              </a:rPr>
              <a:t>word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stops at a space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no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\n</a:t>
            </a:r>
            <a:r>
              <a:rPr lang="en-US" sz="2400" dirty="0">
                <a:solidFill>
                  <a:srgbClr val="18324A"/>
                </a:solidFill>
              </a:rPr>
              <a:t> stored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6210148" y="1536192"/>
            <a:ext cx="5432908" cy="7315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fgets(s, 50, stdin)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6210148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a whole </a:t>
            </a:r>
            <a:r>
              <a:rPr lang="en-US" sz="2400" b="1" dirty="0">
                <a:solidFill>
                  <a:srgbClr val="18324A"/>
                </a:solidFill>
              </a:rPr>
              <a:t>line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spaces too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keeps the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\n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6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Loops over a string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Walk until the end mark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11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string loop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Walk along the boxes until </a:t>
            </a:r>
            <a:r>
              <a:rPr lang="en-US" sz="4000" b="1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4000" b="1" dirty="0">
                <a:solidFill>
                  <a:srgbClr val="18324A"/>
                </a:solidFill>
              </a:rPr>
              <a:t>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for (int i = 0; s[i] != '\0'; i++)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No size needed: the end mark says where to stop.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recap loop, with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3000" dirty="0">
                <a:solidFill>
                  <a:srgbClr val="18324A"/>
                </a:solidFill>
              </a:rPr>
              <a:t> in place of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length of "cat"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lang="en-US" sz="2400" dirty="0">
                <a:solidFill>
                  <a:srgbClr val="18324A"/>
                </a:solidFill>
              </a:rPr>
              <a:t> starts at 0: the first box.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s[] = "cat";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len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while (s[len] != '\0')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len++;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printf("length of %s: %d\n", s, len);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6492240" y="1261872"/>
            <a:ext cx="1211957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len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7704197" y="1261872"/>
            <a:ext cx="1666440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s[len]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9370637" y="1261872"/>
            <a:ext cx="227241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!= '\0'</a:t>
            </a: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6492240" y="1920240"/>
            <a:ext cx="1211957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704197" y="1920240"/>
            <a:ext cx="166644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'c'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9370637" y="1920240"/>
            <a:ext cx="227241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9F6E"/>
                </a:solidFill>
              </a:rPr>
              <a:t>yes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6492240" y="2578608"/>
            <a:ext cx="121195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7704197" y="2578608"/>
            <a:ext cx="166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9370637" y="2578608"/>
            <a:ext cx="227241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6492240" y="3236976"/>
            <a:ext cx="121195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7704197" y="3236976"/>
            <a:ext cx="166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9370637" y="3236976"/>
            <a:ext cx="227241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5" name="Shape 25"/>
          <p:cNvSpPr/>
          <p:nvPr/>
        </p:nvSpPr>
        <p:spPr>
          <a:xfrm>
            <a:off x="6492240" y="3895344"/>
            <a:ext cx="121195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7704197" y="3895344"/>
            <a:ext cx="166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9370637" y="3895344"/>
            <a:ext cx="227241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length of "cat"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At box 3 the loop meets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 and stops.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lang="en-US" sz="2400" dirty="0">
                <a:solidFill>
                  <a:srgbClr val="18324A"/>
                </a:solidFill>
              </a:rPr>
              <a:t> is 3: it prints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length of cat: 3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465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381502"/>
            <a:ext cx="56692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338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548640" y="1261872"/>
            <a:ext cx="5669280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s[] = "cat";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len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while (s[len] != '\0')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len++;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printf("length of %s: %d\n", s, len);</a:t>
            </a:r>
            <a:endParaRPr lang="en-US" sz="2000" dirty="0"/>
          </a:p>
        </p:txBody>
      </p:sp>
      <p:sp>
        <p:nvSpPr>
          <p:cNvPr id="15" name="Shape 15"/>
          <p:cNvSpPr/>
          <p:nvPr/>
        </p:nvSpPr>
        <p:spPr>
          <a:xfrm>
            <a:off x="6492240" y="1261872"/>
            <a:ext cx="1211957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len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7704197" y="1261872"/>
            <a:ext cx="1666440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s[len]</a:t>
            </a:r>
            <a:endParaRPr lang="en-US" sz="1800" dirty="0"/>
          </a:p>
        </p:txBody>
      </p:sp>
      <p:sp>
        <p:nvSpPr>
          <p:cNvPr id="17" name="Shape 17"/>
          <p:cNvSpPr/>
          <p:nvPr/>
        </p:nvSpPr>
        <p:spPr>
          <a:xfrm>
            <a:off x="9370637" y="1261872"/>
            <a:ext cx="227241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!= '\0'</a:t>
            </a: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8" name="Shape 18"/>
          <p:cNvSpPr/>
          <p:nvPr/>
        </p:nvSpPr>
        <p:spPr>
          <a:xfrm>
            <a:off x="6492240" y="1920240"/>
            <a:ext cx="121195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0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7704197" y="1920240"/>
            <a:ext cx="166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'c'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9370637" y="1920240"/>
            <a:ext cx="227241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E9F6E"/>
                </a:solidFill>
              </a:rPr>
              <a:t>yes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6492240" y="2578608"/>
            <a:ext cx="1211957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1</a:t>
            </a:r>
            <a:endParaRPr lang="en-US" sz="2400" dirty="0"/>
          </a:p>
        </p:txBody>
      </p:sp>
      <p:sp>
        <p:nvSpPr>
          <p:cNvPr id="22" name="Shape 22"/>
          <p:cNvSpPr/>
          <p:nvPr/>
        </p:nvSpPr>
        <p:spPr>
          <a:xfrm>
            <a:off x="7704197" y="2578608"/>
            <a:ext cx="1666440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'a'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9370637" y="2578608"/>
            <a:ext cx="227241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E9F6E"/>
                </a:solidFill>
              </a:rPr>
              <a:t>yes</a:t>
            </a:r>
            <a:endParaRPr lang="en-US" sz="2400" dirty="0"/>
          </a:p>
        </p:txBody>
      </p:sp>
      <p:sp>
        <p:nvSpPr>
          <p:cNvPr id="24" name="Shape 24"/>
          <p:cNvSpPr/>
          <p:nvPr/>
        </p:nvSpPr>
        <p:spPr>
          <a:xfrm>
            <a:off x="6492240" y="3236976"/>
            <a:ext cx="121195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</a:rPr>
              <a:t>2</a:t>
            </a:r>
            <a:endParaRPr lang="en-US" sz="2400" dirty="0"/>
          </a:p>
        </p:txBody>
      </p:sp>
      <p:sp>
        <p:nvSpPr>
          <p:cNvPr id="25" name="Shape 25"/>
          <p:cNvSpPr/>
          <p:nvPr/>
        </p:nvSpPr>
        <p:spPr>
          <a:xfrm>
            <a:off x="7704197" y="3236976"/>
            <a:ext cx="166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't'</a:t>
            </a:r>
            <a:endParaRPr lang="en-US" sz="2400" dirty="0"/>
          </a:p>
        </p:txBody>
      </p:sp>
      <p:sp>
        <p:nvSpPr>
          <p:cNvPr id="26" name="Shape 26"/>
          <p:cNvSpPr/>
          <p:nvPr/>
        </p:nvSpPr>
        <p:spPr>
          <a:xfrm>
            <a:off x="9370637" y="3236976"/>
            <a:ext cx="227241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E9F6E"/>
                </a:solidFill>
              </a:rPr>
              <a:t>yes</a:t>
            </a:r>
            <a:endParaRPr lang="en-US" sz="2400" dirty="0"/>
          </a:p>
        </p:txBody>
      </p:sp>
      <p:sp>
        <p:nvSpPr>
          <p:cNvPr id="27" name="Shape 27"/>
          <p:cNvSpPr/>
          <p:nvPr/>
        </p:nvSpPr>
        <p:spPr>
          <a:xfrm>
            <a:off x="6492240" y="3895344"/>
            <a:ext cx="1211957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3</a:t>
            </a:r>
            <a:endParaRPr lang="en-US" sz="2400" dirty="0"/>
          </a:p>
        </p:txBody>
      </p:sp>
      <p:sp>
        <p:nvSpPr>
          <p:cNvPr id="28" name="Shape 28"/>
          <p:cNvSpPr/>
          <p:nvPr/>
        </p:nvSpPr>
        <p:spPr>
          <a:xfrm>
            <a:off x="7704197" y="3895344"/>
            <a:ext cx="166644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endParaRPr lang="en-US" sz="2400" dirty="0"/>
          </a:p>
        </p:txBody>
      </p:sp>
      <p:sp>
        <p:nvSpPr>
          <p:cNvPr id="29" name="Shape 29"/>
          <p:cNvSpPr/>
          <p:nvPr/>
        </p:nvSpPr>
        <p:spPr>
          <a:xfrm>
            <a:off x="9370637" y="3895344"/>
            <a:ext cx="2272418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</a:rPr>
              <a:t>no: stop</a:t>
            </a:r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Length as a function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392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95552"/>
            <a:ext cx="731520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95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315200" cy="392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length(char s[])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len = 0;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while (s[len] != '\0')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len++;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len;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</p:txBody>
      </p:sp>
      <p:sp>
        <p:nvSpPr>
          <p:cNvPr id="10" name="Shape 10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length of "Baku", "Programming", ""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138160" y="1645920"/>
            <a:ext cx="350489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138160" y="1645920"/>
            <a:ext cx="350489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138160" y="3429000"/>
            <a:ext cx="350489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138160" y="3429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247888" y="3429000"/>
            <a:ext cx="339516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: 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 ends the loop.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An int array and a string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lang="en-US" sz="2400" dirty="0">
                <a:solidFill>
                  <a:srgbClr val="18324A"/>
                </a:solidFill>
              </a:rPr>
              <a:t> array needs its size. A string carries its own end, 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364328" cy="3840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class 10: int array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548640" y="1645920"/>
            <a:ext cx="5364328" cy="1413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645920"/>
            <a:ext cx="5364328" cy="1413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print_array(int a[], int n)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print_array(a, 5);</a:t>
            </a:r>
            <a:endParaRPr lang="en-US" sz="2200" dirty="0"/>
          </a:p>
        </p:txBody>
      </p:sp>
      <p:sp>
        <p:nvSpPr>
          <p:cNvPr id="12" name="Shape 12"/>
          <p:cNvSpPr/>
          <p:nvPr/>
        </p:nvSpPr>
        <p:spPr>
          <a:xfrm>
            <a:off x="6278728" y="1261872"/>
            <a:ext cx="5364328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today: a string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6278728" y="1645920"/>
            <a:ext cx="5364328" cy="1413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6278728" y="1645920"/>
            <a:ext cx="5364328" cy="1413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length(char s[])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length(city);</a:t>
            </a:r>
            <a:endParaRPr lang="en-US" sz="2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Remove the Enter key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Input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Leyla Aliyeva</a:t>
            </a:r>
            <a:r>
              <a:rPr lang="en-US" sz="2400" dirty="0">
                <a:solidFill>
                  <a:srgbClr val="18324A"/>
                </a:solidFill>
              </a:rPr>
              <a:t>: it prints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length 14</a:t>
            </a:r>
            <a:r>
              <a:rPr lang="en-US" sz="2400" dirty="0">
                <a:solidFill>
                  <a:srgbClr val="18324A"/>
                </a:solidFill>
              </a:rPr>
              <a:t>, then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length 13: &lt;Leyla Aliyeva&gt;</a:t>
            </a:r>
            <a:r>
              <a:rPr lang="en-US" sz="2400" dirty="0">
                <a:solidFill>
                  <a:srgbClr val="18324A"/>
                </a:solidFill>
              </a:rPr>
              <a:t>. 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\n</a:t>
            </a:r>
            <a:r>
              <a:rPr lang="en-US" sz="2400" dirty="0">
                <a:solidFill>
                  <a:srgbClr val="18324A"/>
                </a:solidFill>
              </a:rPr>
              <a:t> is gone.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7680960" cy="322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7465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064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548640" y="1261872"/>
            <a:ext cx="7680960" cy="322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fgets(line, 50, stdin);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printf("length %d\n", length(line));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i = 0; line[i] != '\0';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(line[i] == '\n')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line[i] = '\0';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printf("length %d: &lt;%s&gt;\n", length(line), line);</a:t>
            </a:r>
            <a:endParaRPr lang="en-US" sz="2000" dirty="0"/>
          </a:p>
        </p:txBody>
      </p:sp>
      <p:sp>
        <p:nvSpPr>
          <p:cNvPr id="17" name="Shape 17"/>
          <p:cNvSpPr/>
          <p:nvPr/>
        </p:nvSpPr>
        <p:spPr>
          <a:xfrm>
            <a:off x="8503920" y="1261872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503920" y="1261872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613648" y="1261872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'\n'</a:t>
            </a:r>
            <a:r>
              <a:rPr lang="en-US" sz="2400" dirty="0">
                <a:solidFill>
                  <a:srgbClr val="18324A"/>
                </a:solidFill>
              </a:rPr>
              <a:t> becomes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count the vowels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207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7680960" cy="4207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count_vowels(char s[])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count =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i = 0; s[i] != '\0';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char c = tolower(s[i]);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if (c == 'a' || c == 'e' || c == 'i' ||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c == 'o' || c == 'u')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count++;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count;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8" name="Shape 8"/>
          <p:cNvSpPr/>
          <p:nvPr/>
        </p:nvSpPr>
        <p:spPr>
          <a:xfrm>
            <a:off x="8503920" y="1261872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8503920" y="1261872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8613648" y="1261872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call: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"Azerbaijan"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8503920" y="25146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8503920" y="251460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8613648" y="25146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How many? Does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2400" dirty="0">
                <a:solidFill>
                  <a:srgbClr val="18324A"/>
                </a:solidFill>
              </a:rPr>
              <a:t> count?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Counting vowels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prints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vowels in Azerbaijan: 5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7680960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7465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064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548640" y="1261872"/>
            <a:ext cx="7680960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count_vowels(char s[])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count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i = 0; s[i] != '\0';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char c = tolower(s[i]);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(c == 'a' || c == 'e' || c == 'i' ||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c == 'o' || c == 'u')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count++;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count;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7" name="Shape 17"/>
          <p:cNvSpPr/>
          <p:nvPr/>
        </p:nvSpPr>
        <p:spPr>
          <a:xfrm>
            <a:off x="8503920" y="1261872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503920" y="1261872"/>
            <a:ext cx="10972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613648" y="1261872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tolower</a:t>
            </a:r>
            <a:r>
              <a:rPr lang="en-US" sz="2400" dirty="0">
                <a:solidFill>
                  <a:srgbClr val="18324A"/>
                </a:solidFill>
              </a:rPr>
              <a:t>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2400" dirty="0">
                <a:solidFill>
                  <a:srgbClr val="18324A"/>
                </a:solidFill>
              </a:rPr>
              <a:t> counts.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Letters, digits, spaces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Input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Room B102, 16:00</a:t>
            </a:r>
            <a:r>
              <a:rPr lang="en-US" sz="2400" dirty="0">
                <a:solidFill>
                  <a:srgbClr val="18324A"/>
                </a:solidFill>
              </a:rPr>
              <a:t>: the program prints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letters 5, digits 7, spaces 2</a:t>
            </a:r>
            <a:r>
              <a:rPr lang="en-US" sz="2400" dirty="0">
                <a:solidFill>
                  <a:srgbClr val="18324A"/>
                </a:solidFill>
              </a:rPr>
              <a:t>. The comma and 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en-US" sz="2400" dirty="0">
                <a:solidFill>
                  <a:srgbClr val="18324A"/>
                </a:solidFill>
              </a:rPr>
              <a:t> are none of the three.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1094415" cy="354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11502"/>
            <a:ext cx="1109441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746502"/>
            <a:ext cx="1109441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381502"/>
            <a:ext cx="1109441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338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548640" y="1261872"/>
            <a:ext cx="11094415" cy="354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letters = 0, digits = 0, spaces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0; line[i] != '\0';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(isalpha(line[i]))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letters++;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 else if (isdigit(line[i]))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digits++;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 else if (line[i] == ' ')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spaces++;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to_upper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786384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to_upper(char s[])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i = 0; s[i] != '\0'; i++)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s[i] = toupper(s[i]);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char s[] = "hello, world 2026";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to_upper(s);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printf("%s\n", s);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8686800" y="1261872"/>
            <a:ext cx="29562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8686800" y="1261872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8796528" y="1261872"/>
            <a:ext cx="28465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returns nothing.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8686800" y="2514600"/>
            <a:ext cx="29562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8686800" y="251460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8796528" y="2514600"/>
            <a:ext cx="28465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What does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 print?</a:t>
            </a:r>
            <a:endParaRPr lang="en-US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to_upper changes the string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244852"/>
            <a:ext cx="78638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530852"/>
            <a:ext cx="78638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530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86384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to_upper(char s[])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i = 0; s[i] != '\0'; i++)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s[i] = toupper(s[i]);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char s[] = "hello, world 2026";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to_upper(s);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printf("%s\n", s);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8686800" y="1261872"/>
            <a:ext cx="29562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686800" y="1645920"/>
            <a:ext cx="2956255" cy="683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686800" y="1645920"/>
            <a:ext cx="2956255" cy="68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HELLO, WORLD 2026</a:t>
            </a:r>
            <a:endParaRPr lang="en-US" sz="2000" dirty="0"/>
          </a:p>
        </p:txBody>
      </p:sp>
      <p:sp>
        <p:nvSpPr>
          <p:cNvPr id="15" name="Shape 15"/>
          <p:cNvSpPr/>
          <p:nvPr/>
        </p:nvSpPr>
        <p:spPr>
          <a:xfrm>
            <a:off x="8686800" y="2603500"/>
            <a:ext cx="29562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686800" y="260350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796528" y="2603500"/>
            <a:ext cx="28465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Like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double_all</a:t>
            </a:r>
            <a:r>
              <a:rPr lang="en-US" sz="2400" dirty="0">
                <a:solidFill>
                  <a:srgbClr val="18324A"/>
                </a:solidFill>
              </a:rPr>
              <a:t> in class 10.</a:t>
            </a:r>
            <a:endParaRPr lang="en-US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Class 12: string.h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Length, copy, join, compare: the library does them.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strlen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strcpy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strcat</a:t>
            </a:r>
            <a:r>
              <a:rPr lang="en-US" sz="3000" dirty="0">
                <a:solidFill>
                  <a:srgbClr val="18324A"/>
                </a:solidFill>
              </a:rPr>
              <a:t>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strcmp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Today you wrote the loop that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strlen</a:t>
            </a:r>
            <a:r>
              <a:rPr lang="en-US" sz="3000" dirty="0">
                <a:solidFill>
                  <a:srgbClr val="18324A"/>
                </a:solidFill>
              </a:rPr>
              <a:t> hides.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Class 12 also turns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"2026"</a:t>
            </a:r>
            <a:r>
              <a:rPr lang="en-US" sz="3000" dirty="0">
                <a:solidFill>
                  <a:srgbClr val="18324A"/>
                </a:solidFill>
              </a:rPr>
              <a:t> into the number 2026.</a:t>
            </a:r>
            <a:endParaRPr lang="en-US" sz="3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7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Your turn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Two small string programs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11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Your turn: count_char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Write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count_char(char s[], char c)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It returns how many times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</a:t>
            </a:r>
            <a:r>
              <a:rPr lang="en-US" sz="3200" dirty="0">
                <a:solidFill>
                  <a:srgbClr val="18324A"/>
                </a:solidFill>
              </a:rPr>
              <a:t> is in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count_char("banana", 'a')</a:t>
            </a:r>
            <a:r>
              <a:rPr lang="en-US" sz="3200" dirty="0">
                <a:solidFill>
                  <a:srgbClr val="18324A"/>
                </a:solidFill>
              </a:rPr>
              <a:t> is 3.</a:t>
            </a:r>
            <a:endParaRPr lang="en-US" sz="3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count_char: one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4080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311527"/>
            <a:ext cx="786384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3115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724277"/>
            <a:ext cx="786384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242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137027"/>
            <a:ext cx="786384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1370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863840" cy="4080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count_char(char s[], char c)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count =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 = 0; s[i] != '\0'; i++)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(s[i] == c)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count++;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count;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8686800" y="1261872"/>
            <a:ext cx="29562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"banana" with 'a', then 'z'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8686800" y="1645920"/>
            <a:ext cx="295625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8686800" y="1645920"/>
            <a:ext cx="295625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686800" y="3048000"/>
            <a:ext cx="29562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68680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796528" y="3048000"/>
            <a:ext cx="28465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string loop and a counter.</a:t>
            </a:r>
            <a:endParaRPr lang="en-US" sz="2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Your turn: backwards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Print a string backwards.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"stressed"</a:t>
            </a:r>
            <a:r>
              <a:rPr lang="en-US" sz="3200" dirty="0">
                <a:solidFill>
                  <a:srgbClr val="18324A"/>
                </a:solidFill>
              </a:rPr>
              <a:t> gives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desserts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Hint: find the length first.</a:t>
            </a:r>
            <a:endParaRPr lang="en-US" sz="3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Backwards: one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498080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4156202"/>
            <a:ext cx="749808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4156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600702"/>
            <a:ext cx="749808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600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498080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char s[] = "stressed";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len =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while (s[len] != '\0')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len++;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i = len - 1; i &gt;= 0; i--)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printf("%c", s[i]);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printf("\n");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8321040" y="1261872"/>
            <a:ext cx="33220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321040" y="1645920"/>
            <a:ext cx="332201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321040" y="1645920"/>
            <a:ext cx="332201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desserts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321040" y="2667000"/>
            <a:ext cx="33220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321040" y="2667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430768" y="2667000"/>
            <a:ext cx="32122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From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len - 1</a:t>
            </a:r>
            <a:r>
              <a:rPr lang="en-US" sz="2400" dirty="0">
                <a:solidFill>
                  <a:srgbClr val="18324A"/>
                </a:solidFill>
              </a:rPr>
              <a:t> down to 0.</a:t>
            </a:r>
            <a:endParaRPr lang="en-US" sz="2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 in one slide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2800" dirty="0">
                <a:solidFill>
                  <a:srgbClr val="18324A"/>
                </a:solidFill>
              </a:rPr>
              <a:t> is one character in single quotes, stored as a code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141220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141220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 - 'a'</a:t>
            </a:r>
            <a:r>
              <a:rPr lang="en-US" sz="2800" dirty="0">
                <a:solidFill>
                  <a:srgbClr val="18324A"/>
                </a:solidFill>
              </a:rPr>
              <a:t> is a place;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 - '0'</a:t>
            </a:r>
            <a:r>
              <a:rPr lang="en-US" sz="2800" dirty="0">
                <a:solidFill>
                  <a:srgbClr val="18324A"/>
                </a:solidFill>
              </a:rPr>
              <a:t> is a digit's value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2974848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2974848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&lt;ctype.h&gt;</a:t>
            </a:r>
            <a:r>
              <a:rPr lang="en-US" sz="2800" dirty="0">
                <a:solidFill>
                  <a:srgbClr val="18324A"/>
                </a:solidFill>
              </a:rPr>
              <a:t>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isdigit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isalpha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toupper</a:t>
            </a:r>
            <a:r>
              <a:rPr lang="en-US" sz="2800" dirty="0">
                <a:solidFill>
                  <a:srgbClr val="18324A"/>
                </a:solidFill>
              </a:rPr>
              <a:t>...; yes is "not 0"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3808476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380847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string: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2800" dirty="0">
                <a:solidFill>
                  <a:srgbClr val="18324A"/>
                </a:solidFill>
              </a:rPr>
              <a:t> boxes ending in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800" dirty="0">
                <a:solidFill>
                  <a:srgbClr val="18324A"/>
                </a:solidFill>
              </a:rPr>
              <a:t>, printed with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%s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642104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642104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scanf("%s", s)</a:t>
            </a:r>
            <a:r>
              <a:rPr lang="en-US" sz="2800" dirty="0">
                <a:solidFill>
                  <a:srgbClr val="18324A"/>
                </a:solidFill>
              </a:rPr>
              <a:t> one word, no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lang="en-US" sz="2800" dirty="0">
                <a:solidFill>
                  <a:srgbClr val="18324A"/>
                </a:solidFill>
              </a:rPr>
              <a:t>;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fgets</a:t>
            </a:r>
            <a:r>
              <a:rPr lang="en-US" sz="2800" dirty="0">
                <a:solidFill>
                  <a:srgbClr val="18324A"/>
                </a:solidFill>
              </a:rPr>
              <a:t> a line with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\n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731520" y="5475732"/>
            <a:ext cx="640080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1691640" y="547573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Loop until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800" dirty="0">
                <a:solidFill>
                  <a:srgbClr val="18324A"/>
                </a:solidFill>
              </a:rPr>
              <a:t>: no size needed</a:t>
            </a:r>
            <a:endParaRPr lang="en-US" sz="2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Before Friday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11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Knowledge check 11</a:t>
            </a:r>
            <a:r>
              <a:rPr lang="en-US" sz="2800" dirty="0">
                <a:solidFill>
                  <a:srgbClr val="18324A"/>
                </a:solidFill>
              </a:rPr>
              <a:t> on Blackboard: today's slides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Quiz 3: Fri 16 October</a:t>
            </a:r>
            <a:r>
              <a:rPr lang="en-US" sz="2800" dirty="0">
                <a:solidFill>
                  <a:srgbClr val="18324A"/>
                </a:solidFill>
              </a:rPr>
              <a:t>, classes 7 to 10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Today's code: Blackboard, Week 6 module, </a:t>
            </a:r>
            <a:r>
              <a:rPr lang="en-US" sz="2800" b="1" dirty="0">
                <a:solidFill>
                  <a:srgbClr val="18324A"/>
                </a:solidFill>
              </a:rPr>
              <a:t>Class 11 code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Next class: string.h, and turning numbers into strings and back.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E6C91384D4CF4A8C11771C71AF99FC" ma:contentTypeVersion="3" ma:contentTypeDescription="Create a new document." ma:contentTypeScope="" ma:versionID="9457c7892666d9df0301343fedda2daf">
  <xsd:schema xmlns:xsd="http://www.w3.org/2001/XMLSchema" xmlns:xs="http://www.w3.org/2001/XMLSchema" xmlns:p="http://schemas.microsoft.com/office/2006/metadata/properties" xmlns:ns2="76ba2307-afa1-4918-86e6-ffe4c7b76c67" targetNamespace="http://schemas.microsoft.com/office/2006/metadata/properties" ma:root="true" ma:fieldsID="01dbc32444af8b37558df168563705b5" ns2:_="">
    <xsd:import namespace="76ba2307-afa1-4918-86e6-ffe4c7b76c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a2307-afa1-4918-86e6-ffe4c7b76c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07D86D-9D44-4F53-9B6F-B55C63480B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ba2307-afa1-4918-86e6-ffe4c7b76c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66058B-8C7C-44C5-988D-122F37B2CD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59415D-7EF4-4728-B780-B028948F84C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9338</Words>
  <Application>Microsoft Office PowerPoint</Application>
  <PresentationFormat>Widescreen</PresentationFormat>
  <Paragraphs>1221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7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1101 · Class 11 · Characters and strings</dc:title>
  <dc:subject>Programming Principles I - Week 3</dc:subject>
  <dc:creator>Abbas Aliyev and Azar Aliyev</dc:creator>
  <cp:lastModifiedBy>Abbas Aliyev and Azar Aliyev</cp:lastModifiedBy>
  <cp:revision>5</cp:revision>
  <dcterms:created xsi:type="dcterms:W3CDTF">2026-09-17T10:16:02Z</dcterms:created>
  <dcterms:modified xsi:type="dcterms:W3CDTF">2026-10-16T20:05:58Z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0x010100A9E6C91384D4CF4A8C11771C71AF99FC</vt:lpwstr>
  </property>
</Properties>
</file>