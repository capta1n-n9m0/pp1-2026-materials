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  <p:sldId id="336" r:id="rId85"/>
    <p:sldId id="337" r:id="rId86"/>
    <p:sldId id="338" r:id="rId87"/>
    <p:sldId id="339" r:id="rId88"/>
    <p:sldId id="340" r:id="rId89"/>
    <p:sldId id="341" r:id="rId90"/>
    <p:sldId id="342" r:id="rId91"/>
    <p:sldId id="343" r:id="rId92"/>
    <p:sldId id="344" r:id="rId93"/>
    <p:sldId id="345" r:id="rId9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087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notesMaster" Target="notesMasters/notesMaster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slide" Target="slides/slide87.xml"/><Relationship Id="rId9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viewProps" Target="viewProp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az-Latn-A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689E19-F038-4ED4-8D2D-3B0F313EA0DB}" type="datetimeFigureOut">
              <a:rPr lang="az-Latn-AZ" smtClean="0"/>
              <a:t>17.10.2026</a:t>
            </a:fld>
            <a:endParaRPr lang="az-Latn-A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z-Latn-A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z-Latn-A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az-Latn-A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349DF2-DF2F-4156-8F3A-763BEA32C287}" type="slidenum">
              <a:rPr lang="az-Latn-AZ" smtClean="0"/>
              <a:t>‹#›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98761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programs of this class are on Blackboard: Week 4 module, Class 7 code. It is a zip file. Unzip it and open the folder in Visual Studio Code. Every file has a comment at the top: what the program does, how to run it, and a list called Try with small changes to make. Make them.</a:t>
            </a:r>
          </a:p>
          <a:p>
            <a:endParaRPr lang="en-US"/>
          </a:p>
          <a:p>
            <a:r>
              <a:rPr lang="en-US"/>
              <a:t>How to run a program. Same as every week. In the terminal type gcc -Wall name.c -o name and press Enter, then ./name (or .\name in Windows PowerShell) and press Enter.</a:t>
            </a:r>
          </a:p>
          <a:p>
            <a:endParaRPr lang="en-US"/>
          </a:p>
          <a:p>
            <a:r>
              <a:rPr lang="en-US"/>
              <a:t>Until today, every program was one main. Today you learn to cut a program into small named pieces: functions.</a:t>
            </a:r>
          </a:p>
          <a:p>
            <a:endParaRPr lang="en-US"/>
          </a:p>
          <a:p>
            <a:r>
              <a:rPr lang="en-US"/>
              <a:t>Quiz 2 is on Friday 2 October and covers classes 3 to 6. Functions are not on Quiz 2. They are on Quiz 3.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1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41710229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What you need from last week:</a:t>
            </a:r>
          </a:p>
          <a:p>
            <a:endParaRPr lang="en-US"/>
          </a:p>
          <a:p>
            <a:r>
              <a:rPr lang="en-US"/>
              <a:t>- A loop has four parts: the start, the check, the body and the update.</a:t>
            </a:r>
          </a:p>
          <a:p>
            <a:r>
              <a:rPr lang="en-US"/>
              <a:t>- A total starts at 0 and is made before the loop: sum += i; inside it.</a:t>
            </a:r>
          </a:p>
          <a:p>
            <a:r>
              <a:rPr lang="en-US"/>
              <a:t>- A counter goes up by one inside an if: count++;.</a:t>
            </a:r>
          </a:p>
          <a:p>
            <a:r>
              <a:rPr lang="en-US"/>
              <a:t>- To check input, ask again while it is bad: while (bad) { ... scanf ... }.</a:t>
            </a:r>
          </a:p>
          <a:p>
            <a:r>
              <a:rPr lang="en-US"/>
              <a:t>- A product starts at 1: fact *= i;.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2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1299536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Try to answer before you look at the next slide. i goes from 1 to 10. count goes up when i % 4 == 0, which means: i divides by 4 with nothing left over.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3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6352365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It prints 2. From 1 to 10, only 4 and 8 divide by 4.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4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16504553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Six steps today:</a:t>
            </a:r>
          </a:p>
          <a:p>
            <a:endParaRPr lang="en-US"/>
          </a:p>
          <a:p>
            <a:r>
              <a:rPr lang="en-US"/>
              <a:t>1. Why functions.</a:t>
            </a:r>
          </a:p>
          <a:p>
            <a:r>
              <a:rPr lang="en-US"/>
              <a:t>2. How to write a function and call it.</a:t>
            </a:r>
          </a:p>
          <a:p>
            <a:r>
              <a:rPr lang="en-US"/>
              <a:t>3. Parameters, void and return.</a:t>
            </a:r>
          </a:p>
          <a:p>
            <a:r>
              <a:rPr lang="en-US"/>
              <a:t>4. Loops and decisions inside a function.</a:t>
            </a:r>
          </a:p>
          <a:p>
            <a:r>
              <a:rPr lang="en-US"/>
              <a:t>5. One whole program, split into functions.</a:t>
            </a:r>
          </a:p>
          <a:p>
            <a:r>
              <a:rPr lang="en-US"/>
              <a:t>6. The common bugs, and then you write two functions.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5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8550524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Part one: why we need functions. The short answer: so you can write a piece of program once and use it many times.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6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17084222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program prints three rows of stars, 3, 5 and 7 long. The same for loop is written three times. Only the number is different. File: 02_stars_copy.c.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7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27517277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Imagine you now want # instead of *. You must change three places. If you forget one, the rows disagree. With ten rows, ten places.</a:t>
            </a:r>
          </a:p>
          <a:p>
            <a:endParaRPr lang="en-US"/>
          </a:p>
          <a:p>
            <a:r>
              <a:rPr lang="en-US"/>
              <a:t>Copied code is a bug waiting to happen. The better way: write the loop once, and give it a name.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8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21415979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program prints exactly the same three rows. The loop is now inside a function called print_stars. File: 03_stars_function.c.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9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10378613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top part is the function. The loop is written here, once. n is the number of stars to print. The word void means: this function gives nothing back; it only prints. You will learn every part of the first line in a few slides.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10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8424246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bottom part is main. Each line like print_stars(3); is a call: it tells the computer "run print_stars now, and this time n is 3".</a:t>
            </a:r>
          </a:p>
          <a:p>
            <a:endParaRPr lang="en-US"/>
          </a:p>
          <a:p>
            <a:r>
              <a:rPr lang="en-US"/>
              <a:t>To change * to # you now change one place, inside print_stars, and every row changes.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11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40678474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You have used functions from the first day. printf, scanf, sqrt and pow are all functions. Someone wrote them once, in a library. You use them by writing their name and giving them values in brackets, like sqrt(16).</a:t>
            </a:r>
          </a:p>
          <a:p>
            <a:endParaRPr lang="en-US"/>
          </a:p>
          <a:p>
            <a:r>
              <a:rPr lang="en-US"/>
              <a:t>Today you write your own.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12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24707812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Part two: how to write a function and how to use it.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13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12801343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Here is the whole program. File: 04_square.c.</a:t>
            </a:r>
          </a:p>
          <a:p>
            <a:endParaRPr lang="en-US"/>
          </a:p>
          <a:p>
            <a:r>
              <a:rPr lang="en-US"/>
              <a:t>#include &lt;stdio.h&gt;</a:t>
            </a:r>
          </a:p>
          <a:p>
            <a:endParaRPr lang="en-US"/>
          </a:p>
          <a:p>
            <a:r>
              <a:rPr lang="en-US"/>
              <a:t>int square(int x) {</a:t>
            </a:r>
          </a:p>
          <a:p>
            <a:r>
              <a:rPr lang="en-US"/>
              <a:t>    return x * x;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int main(void) {</a:t>
            </a:r>
          </a:p>
          <a:p>
            <a:r>
              <a:rPr lang="en-US"/>
              <a:t>    int y = square(5);</a:t>
            </a:r>
          </a:p>
          <a:p>
            <a:r>
              <a:rPr lang="en-US"/>
              <a:t>    printf("square(5) = %d\n", y);</a:t>
            </a:r>
          </a:p>
          <a:p>
            <a:r>
              <a:rPr lang="en-US"/>
              <a:t>    printf("square(7) = %d\n", square(7));</a:t>
            </a:r>
          </a:p>
          <a:p>
            <a:r>
              <a:rPr lang="en-US"/>
              <a:t>    return 0;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It prints:</a:t>
            </a:r>
          </a:p>
          <a:p>
            <a:endParaRPr lang="en-US"/>
          </a:p>
          <a:p>
            <a:r>
              <a:rPr lang="en-US"/>
              <a:t>square(5) = 25</a:t>
            </a:r>
          </a:p>
          <a:p>
            <a:r>
              <a:rPr lang="en-US"/>
              <a:t>square(7) = 49</a:t>
            </a:r>
          </a:p>
          <a:p>
            <a:endParaRPr lang="en-US"/>
          </a:p>
          <a:p>
            <a:r>
              <a:rPr lang="en-US"/>
              <a:t>The function square is written above main, outside it. It is not inside main's braces.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14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9953667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Every function has four parts:</a:t>
            </a:r>
          </a:p>
          <a:p>
            <a:endParaRPr lang="en-US"/>
          </a:p>
          <a:p>
            <a:r>
              <a:rPr lang="en-US"/>
              <a:t>Part: In our example · What it means</a:t>
            </a:r>
          </a:p>
          <a:p>
            <a:r>
              <a:rPr lang="en-US"/>
              <a:t>type: int · the kind of answer the function gives back</a:t>
            </a:r>
          </a:p>
          <a:p>
            <a:r>
              <a:rPr lang="en-US"/>
              <a:t>name: square · the name you use to call it</a:t>
            </a:r>
          </a:p>
          <a:p>
            <a:r>
              <a:rPr lang="en-US"/>
              <a:t>parameter: int x · a box that gets the value you send in</a:t>
            </a:r>
          </a:p>
          <a:p>
            <a:r>
              <a:rPr lang="en-US"/>
              <a:t>body: { return x * x; } · the work, between the braces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15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11768892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first word, int, says what kind of answer the function gives back. square gives back a whole number, so it says int. A function that gives back a number with a decimal point says double.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16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18688772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You choose the name. The rules are the same as for variable names: letters, digits and _, no spaces, and it cannot start with a digit. Choose a name that says what the function does.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17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7935039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 the brackets: int x. This is the parameter. It is a box that belongs to the function. It has a type and a name, like any variable. Every time the function is called, the value in the call is put into this box.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18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21248232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body is the part between { and }. It does the work. return x * x; means: work out x * x and hand that value back to whoever called the function.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19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10315008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 main, square(5) is a call. It is the name of the function and a value in brackets. The function runs with x equal to 5, and the answer, 25, goes into y.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20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35954358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You do not need a variable to hold the answer. You can put the call straight into printf: square(7) becomes 49, and printf prints 49.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21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7907593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Writing a function does not run it. A function is like a recipe: it only runs when it is called. A program always starts in main, even when the functions are written above it.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22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16745874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version of square has printf lines inside, so you can see when each part runs. File: 05_call_flow.c. Before you look further, write down the four lines you think it prints, in order.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23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23182351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program starts in main. The first line printed is main: before the call.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24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11023190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At the call square(5), the computer jumps into square. The parameter x gets a copy of 5. Remember the word "copy": it is important in class 8.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25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39390709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body of square runs. It prints square got 5, works out 25, and prints square gives back 25. While this happens, main waits.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26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4727420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return result; ends the function and jumps back to the line in main where the call was. The call square(5) is replaced by the answer, 25. So that line becomes int y = 25;.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27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213056341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main goes on and prints main: got 25. The four lines are:</a:t>
            </a:r>
          </a:p>
          <a:p>
            <a:endParaRPr lang="en-US"/>
          </a:p>
          <a:p>
            <a:r>
              <a:rPr lang="en-US"/>
              <a:t>main: before the call</a:t>
            </a:r>
          </a:p>
          <a:p>
            <a:r>
              <a:rPr lang="en-US"/>
              <a:t>  square got 5</a:t>
            </a:r>
          </a:p>
          <a:p>
            <a:r>
              <a:rPr lang="en-US"/>
              <a:t>  square gives back 25</a:t>
            </a:r>
          </a:p>
          <a:p>
            <a:r>
              <a:rPr lang="en-US"/>
              <a:t>main: got 25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28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26306933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What happens at every call:</a:t>
            </a:r>
          </a:p>
          <a:p>
            <a:endParaRPr lang="en-US"/>
          </a:p>
          <a:p>
            <a:r>
              <a:rPr lang="en-US"/>
              <a:t>1. The value in brackets is copied into the parameter.</a:t>
            </a:r>
          </a:p>
          <a:p>
            <a:r>
              <a:rPr lang="en-US"/>
              <a:t>2. The body of the function runs. The caller waits.</a:t>
            </a:r>
          </a:p>
          <a:p>
            <a:r>
              <a:rPr lang="en-US"/>
              <a:t>3. return sends one value back.</a:t>
            </a:r>
          </a:p>
          <a:p>
            <a:r>
              <a:rPr lang="en-US"/>
              <a:t>4. The call is replaced by that value, and the caller goes on.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29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101531884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Try to work out the three lines before you look at the answer. a is 3. File: 06_several_calls.c.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30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209734774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three lines are 25, 16 and 16.</a:t>
            </a:r>
          </a:p>
          <a:p>
            <a:endParaRPr lang="en-US"/>
          </a:p>
          <a:p>
            <a:r>
              <a:rPr lang="en-US"/>
              <a:t>- square(a) + square(4) is 9 + 16 = 25.</a:t>
            </a:r>
          </a:p>
          <a:p>
            <a:r>
              <a:rPr lang="en-US"/>
              <a:t>- square(square(2)): first square(2) is 4, then square(4) is 16.</a:t>
            </a:r>
          </a:p>
          <a:p>
            <a:r>
              <a:rPr lang="en-US"/>
              <a:t>- square(a + 1): first a + 1 is worked out, which is 4, then square(4) is 16.</a:t>
            </a:r>
          </a:p>
          <a:p>
            <a:endParaRPr lang="en-US"/>
          </a:p>
          <a:p>
            <a:r>
              <a:rPr lang="en-US"/>
              <a:t>The value in the brackets is always worked out before the function runs.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31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242512714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Here the function square is written below main. What happens when you compile? File: 07_bug_after_main.c.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32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173275703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It does not compile. gcc says:</a:t>
            </a:r>
          </a:p>
          <a:p>
            <a:endParaRPr lang="en-US"/>
          </a:p>
          <a:p>
            <a:r>
              <a:rPr lang="en-US"/>
              <a:t>error: implicit declaration of function 'square'</a:t>
            </a:r>
          </a:p>
          <a:p>
            <a:endParaRPr lang="en-US"/>
          </a:p>
          <a:p>
            <a:r>
              <a:rPr lang="en-US"/>
              <a:t>gcc reads your file from the top down. When it reaches the call in main, it has never seen square. (With older compilers, such as gcc 13, this was only a warning. With the course compiler it is an error.)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33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3897311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first fix: write the whole function above main. This is what we do in this course.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34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105697250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second fix: leave the function below main, but write its first line above main, ending with a semicolon:</a:t>
            </a:r>
          </a:p>
          <a:p>
            <a:endParaRPr lang="en-US"/>
          </a:p>
          <a:p>
            <a:r>
              <a:rPr lang="en-US"/>
              <a:t>int square(int x);</a:t>
            </a:r>
          </a:p>
          <a:p>
            <a:endParaRPr lang="en-US"/>
          </a:p>
          <a:p>
            <a:r>
              <a:rPr lang="en-US"/>
              <a:t>This line is called a prototype. It tells gcc: "a function called square exists; it takes an int and gives back an int; its body comes later". File: 08_prototype.c. You will see this in books. Both fixes are correct.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35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379004275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Part three: functions with more than one value in, functions that give nothing back, and return.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36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425687004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function can have several parameters, separated by commas: int add(int a, int b). The values in a call are matched by position: the first value goes to a, the second to b. add(2, 3) is 5. File: 09_add.c.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37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360816610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power(base, exp) multiplies base by itself exp times. Inside it there is a loop, and result starts at 1, like the factorial of class 6. What are power(2, 3) and power(3, 2)?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38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229974793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power(2, 3) is 2 × 2 × 2 = 8. power(3, 2) is 3 × 3 = 9. The same two numbers in a different order give a different answer. The compiler cannot catch this mistake, because both values are int. File: 10_power.c.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39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314443718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function can have its own loop and its own variables, like result here. main cannot see them. main only gets the answer.</a:t>
            </a:r>
          </a:p>
          <a:p>
            <a:endParaRPr lang="en-US"/>
          </a:p>
          <a:p>
            <a:r>
              <a:rPr lang="en-US"/>
              <a:t>power(10, 0) is 1: the loop runs zero times, so result keeps its start value, 1.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40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8939902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Two functions that work out an average. One works with int, the other with double. Both are given 7 and 8. What does each give back?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41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427512202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int version: 7</a:t>
            </a:r>
          </a:p>
          <a:p>
            <a:r>
              <a:rPr lang="en-US"/>
              <a:t>double version: 7.50</a:t>
            </a:r>
          </a:p>
          <a:p>
            <a:endParaRPr lang="en-US"/>
          </a:p>
          <a:p>
            <a:r>
              <a:rPr lang="en-US"/>
              <a:t>In the int version, 7 + 8 = 15 and 15 / 2 is 7: integer division throws away the .5, as you saw in class 2. The double version keeps it. If the answer can have a decimal point, the function's type must be double. File: 11_average.c.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42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296305894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void in front of a function name means: this function gives nothing back. It does a job, such as printing, and that is all. print_stars from the start of the class is a void function.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43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342888627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void greet(void) gives nothing back and takes nothing in. It prints two lines every time it is called. When you call it, you still write the brackets: greet();. File: 12_greet.c.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44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156931086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Two functions. square_print prints the square. square returns it. What does the program print? File: 13_print_vs_return.c.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45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104471147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It prints 25 (printed by square_print itself) and then total = 25. square handed back 9 and 16, so main could add them.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46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177667565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If you try to add the results of square_print, the program does not compile:</a:t>
            </a:r>
          </a:p>
          <a:p>
            <a:endParaRPr lang="en-US"/>
          </a:p>
          <a:p>
            <a:r>
              <a:rPr lang="en-US"/>
              <a:t>error: void value not ignored as it ought to be</a:t>
            </a:r>
          </a:p>
          <a:p>
            <a:endParaRPr lang="en-US"/>
          </a:p>
          <a:p>
            <a:r>
              <a:rPr lang="en-US"/>
              <a:t>In plain words: this function gives back nothing, so there is nothing to add. File: 14_bug_void_value.c.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47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209996828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Print: the value appears on the screen. The caller gets nothing.</a:t>
            </a:r>
          </a:p>
          <a:p>
            <a:r>
              <a:rPr lang="en-US"/>
              <a:t>- Return: the value is handed back. The caller can use it: add it, store it, print it.</a:t>
            </a:r>
          </a:p>
          <a:p>
            <a:endParaRPr lang="en-US"/>
          </a:p>
          <a:p>
            <a:r>
              <a:rPr lang="en-US"/>
              <a:t>Most functions should return their answer and let main decide what to print.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48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245855787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max gives back the larger of two numbers. When a &gt; b, return a; runs, and the function ends at once. Nothing after it in the function runs. File: 15_max.c.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49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73300239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second return b; is only reached when a &gt; b was false. That is why no else is needed. max(3, 9) and max(9, 3) both give 9.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50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348673433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max3 finds the largest of three numbers by calling max twice. What is max3(4, 11, 7)?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51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162187743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11. First max(4, 11) is 11. Then max(11, 7) is 11. A function can call another function.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52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198770555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is_even answers a yes-or-no question: it gives back 1 for yes and 0 for no. In C, 1 means true and 0 means false. File: 16_is_even.c.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53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151147632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Because the answer is 1 or 0, you can put the call straight into an if: if (is_even(i)). The program prints 1 is odd, 2 is even, and so on up to 5 is odd.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54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331363949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Part four: the loops of class 6 and the else if of class 4, inside functions.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55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350652133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factorial of class 6, now as a function factorial(n). main calls it for every n from 0 to 10 and prints 0! = 1, 1! = 1, 2! = 2, up to 10! = 3628800. File: 17_factorial.c.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56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199865061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Call factorial(0). How many times does the loop run? What comes back?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57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22956019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loop runs zero times, because 2 &lt;= 0 is false at the very start. So result is still 1, and 1 is returned. In mathematics too, 0! is 1.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58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385078707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letter takes a score and gives back a letter grade. Its type is char, because it gives back one character. Inside is an else if chain like the ones in class 4; each branch returns at once. (The limits here are only an example; they are not ADA's grading scale.) File: 18_letter.c.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59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275372676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 print a char, use %c. The program prints 95 -&gt; A, 72 -&gt; C and 40 -&gt; F.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60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3882616125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input check of class 6, as a function. read_between(low, high) reads a number, keeps asking while it is below low or above high, and then returns the good number. File: 19_read_between.c.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61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102733707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same function does two different checks: a month from 1 to 12 and a day from 1 to 31. An example run, where the user types 13, 0, 7, then 40, 25:</a:t>
            </a:r>
          </a:p>
          <a:p>
            <a:endParaRPr lang="en-US"/>
          </a:p>
          <a:p>
            <a:r>
              <a:rPr lang="en-US"/>
              <a:t>Month: 13</a:t>
            </a:r>
          </a:p>
          <a:p>
            <a:r>
              <a:rPr lang="en-US"/>
              <a:t>Type 1 to 12: 0</a:t>
            </a:r>
          </a:p>
          <a:p>
            <a:r>
              <a:rPr lang="en-US"/>
              <a:t>Type 1 to 12: 7</a:t>
            </a:r>
          </a:p>
          <a:p>
            <a:r>
              <a:rPr lang="en-US"/>
              <a:t>Day: 40</a:t>
            </a:r>
          </a:p>
          <a:p>
            <a:r>
              <a:rPr lang="en-US"/>
              <a:t>Type 1 to 31: 25</a:t>
            </a:r>
          </a:p>
          <a:p>
            <a:r>
              <a:rPr lang="en-US"/>
              <a:t>Date: 25/7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62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230096716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Part five: a whole program, split into functions so that main reads like a list of steps.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63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1170567562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program: for three students, read a score from 0 to 100 (and ask again if the score is not in that range), work out the letter grade, and print one report line.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64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78075343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You could write the whole program inside main. It works: it is 21_report_all_in_main.c in the class code. But it is 27 lines in one block, with reading, checking, grading and printing mixed together. To change one part, you first have to find it.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65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229502004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When the work is split into functions, main is short:</a:t>
            </a:r>
          </a:p>
          <a:p>
            <a:endParaRPr lang="en-US"/>
          </a:p>
          <a:p>
            <a:r>
              <a:rPr lang="en-US"/>
              <a:t>int main(void) {</a:t>
            </a:r>
          </a:p>
          <a:p>
            <a:r>
              <a:rPr lang="en-US"/>
              <a:t>    for (int i = 1; i &lt;= 3; i++) {</a:t>
            </a:r>
          </a:p>
          <a:p>
            <a:r>
              <a:rPr lang="en-US"/>
              <a:t>        printf("Score of student %d: ", i);</a:t>
            </a:r>
          </a:p>
          <a:p>
            <a:r>
              <a:rPr lang="en-US"/>
              <a:t>        int score = read_between(0, 100);</a:t>
            </a:r>
          </a:p>
          <a:p>
            <a:r>
              <a:rPr lang="en-US"/>
              <a:t>        print_report(i, score);</a:t>
            </a:r>
          </a:p>
          <a:p>
            <a:r>
              <a:rPr lang="en-US"/>
              <a:t>    }</a:t>
            </a:r>
          </a:p>
          <a:p>
            <a:r>
              <a:rPr lang="en-US"/>
              <a:t>    return 0;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Read it as steps: ask, read a good score, print the report. File: 20_report.c.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66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60915962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first function is read_between, from slide 61. In class we copied it from 19_read_between.c.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67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305447693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second function is letter, from slide 59, copied from 18_letter.c. Writing a function once and using it in a second program is called reuse.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68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2266119615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third function is new: print_report(n, score) prints one report line. Its second printf calls letter(score). A function calling another function.</a:t>
            </a:r>
          </a:p>
          <a:p>
            <a:endParaRPr lang="en-US"/>
          </a:p>
          <a:p>
            <a:r>
              <a:rPr lang="en-US"/>
              <a:t>All three functions are written above main.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69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1982573134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With the scores 95, 72 and 40:</a:t>
            </a:r>
          </a:p>
          <a:p>
            <a:endParaRPr lang="en-US"/>
          </a:p>
          <a:p>
            <a:r>
              <a:rPr lang="en-US"/>
              <a:t>Score of student 1: 95</a:t>
            </a:r>
          </a:p>
          <a:p>
            <a:r>
              <a:rPr lang="en-US"/>
              <a:t>Student 1: 95 points, grade A</a:t>
            </a:r>
          </a:p>
          <a:p>
            <a:r>
              <a:rPr lang="en-US"/>
              <a:t>Score of student 2: 72</a:t>
            </a:r>
          </a:p>
          <a:p>
            <a:r>
              <a:rPr lang="en-US"/>
              <a:t>Student 2: 72 points, grade C</a:t>
            </a:r>
          </a:p>
          <a:p>
            <a:r>
              <a:rPr lang="en-US"/>
              <a:t>Score of student 3: 40</a:t>
            </a:r>
          </a:p>
          <a:p>
            <a:r>
              <a:rPr lang="en-US"/>
              <a:t>Student 3: 40 points, grade F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70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2592060812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If you type 120, read_between asks again (Type 0 to 100: ). main never sees the bad score. Then 88 gives grade B.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71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1681434414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Four reasons to split a program into functions:</a:t>
            </a:r>
          </a:p>
          <a:p>
            <a:endParaRPr lang="en-US"/>
          </a:p>
          <a:p>
            <a:r>
              <a:rPr lang="en-US"/>
              <a:t>- Read: main reads like a list of steps.</a:t>
            </a:r>
          </a:p>
          <a:p>
            <a:r>
              <a:rPr lang="en-US"/>
              <a:t>- Change: new grade limits? You change one function.</a:t>
            </a:r>
          </a:p>
          <a:p>
            <a:r>
              <a:rPr lang="en-US"/>
              <a:t>- Test: you can try letter(89) on its own.</a:t>
            </a:r>
          </a:p>
          <a:p>
            <a:r>
              <a:rPr lang="en-US"/>
              <a:t>- Reuse: read_between works for months, days and scores.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72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1072643855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Part six: the mistakes everybody makes with functions. All of them were compiled with the course compiler (gcc 16.2).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73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3928180310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1. A missing return.</a:t>
            </a:r>
          </a:p>
          <a:p>
            <a:r>
              <a:rPr lang="en-US"/>
              <a:t>2. The wrong number of values in a call.</a:t>
            </a:r>
          </a:p>
          <a:p>
            <a:r>
              <a:rPr lang="en-US"/>
              <a:t>3. A ; after the first line of the function.</a:t>
            </a:r>
          </a:p>
          <a:p>
            <a:r>
              <a:rPr lang="en-US"/>
              <a:t>4. A call without ().</a:t>
            </a:r>
          </a:p>
          <a:p>
            <a:r>
              <a:rPr lang="en-US"/>
              <a:t>5. A function used before gcc has seen it (slide 33).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74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3798708707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 this max, return b; is missing. When a &gt; b is false, the function reaches its closing brace with no return. What does max(3, 9) print? File: 22_bug_no_return.c.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75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2054169335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gcc with -Wall warns:</a:t>
            </a:r>
          </a:p>
          <a:p>
            <a:endParaRPr lang="en-US"/>
          </a:p>
          <a:p>
            <a:r>
              <a:rPr lang="en-US"/>
              <a:t>warning: control reaches end of non-void function</a:t>
            </a:r>
          </a:p>
          <a:p>
            <a:endParaRPr lang="en-US"/>
          </a:p>
          <a:p>
            <a:r>
              <a:rPr lang="en-US"/>
              <a:t>But the program is built, and it runs. On our computer it printed max(3, 9) = 3, which is wrong. On another computer it may print a different wrong number. A warning often means the answer will be wrong: always read your warnings.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76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1897312194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square takes one value but was given two; add takes two but was given one. Both are errors, and gcc says what it expected:</a:t>
            </a:r>
          </a:p>
          <a:p>
            <a:endParaRPr lang="en-US"/>
          </a:p>
          <a:p>
            <a:r>
              <a:rPr lang="en-US"/>
              <a:t>error: too many arguments to function 'square'; expected 1, have 2</a:t>
            </a:r>
          </a:p>
          <a:p>
            <a:r>
              <a:rPr lang="en-US"/>
              <a:t>error: too few arguments to function 'add'; expected 2, have 1</a:t>
            </a:r>
          </a:p>
          <a:p>
            <a:endParaRPr lang="en-US"/>
          </a:p>
          <a:p>
            <a:r>
              <a:rPr lang="en-US"/>
              <a:t>(An argument is the value you put in the brackets of a call.) File: 23_bug_wrong_args.c.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77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2742382958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With a ; after int square(int x), that line becomes a prototype, and the { after it belongs to nothing. gcc says expected identifier or '(' before '{' token. The error points at the {, but the mistake is the ; on the line above. File: 24_bug_semicolon_header.c.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78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489509122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greet; without brackets names the function but does not call it. gcc warns statement with no effect, and Hello! is printed only once. To call a function, you need the brackets: greet();. File: 25_bug_no_brackets.c.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79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4051673169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Bug: What gcc 16.2 says · Is a program built?</a:t>
            </a:r>
          </a:p>
          <a:p>
            <a:r>
              <a:rPr lang="en-US"/>
              <a:t>no return: warning: control reaches end of non-void function · yes, and it runs wrong</a:t>
            </a:r>
          </a:p>
          <a:p>
            <a:r>
              <a:rPr lang="en-US"/>
              <a:t>wrong number of values: error: too many / too few arguments · no</a:t>
            </a:r>
          </a:p>
          <a:p>
            <a:r>
              <a:rPr lang="en-US"/>
              <a:t>; after the first line: error: expected identifier or '(' before '{' token · no</a:t>
            </a:r>
          </a:p>
          <a:p>
            <a:r>
              <a:rPr lang="en-US"/>
              <a:t>no () in the call: warning: statement with no effect · yes, and it runs wrong</a:t>
            </a:r>
          </a:p>
          <a:p>
            <a:r>
              <a:rPr lang="en-US"/>
              <a:t>used before it is seen: error: implicit declaration of function · no</a:t>
            </a:r>
          </a:p>
          <a:p>
            <a:endParaRPr lang="en-US"/>
          </a:p>
          <a:p>
            <a:r>
              <a:rPr lang="en-US"/>
              <a:t>The warnings are the dangerous ones: you get a program that runs wrong. Always compile with -Wall and read what it says.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80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1403970792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Part seven: now you write functions yourself.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81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40156872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Four tasks. In each one, write the function above main, then call it from main.</a:t>
            </a:r>
          </a:p>
          <a:p>
            <a:endParaRPr lang="en-US"/>
          </a:p>
          <a:p>
            <a:r>
              <a:rPr lang="en-US"/>
              <a:t>1. int cube(int x): gives back x * x * x.</a:t>
            </a:r>
          </a:p>
          <a:p>
            <a:r>
              <a:rPr lang="en-US"/>
              <a:t>2. int sign(int n): gives back -1, 0 or 1.</a:t>
            </a:r>
          </a:p>
          <a:p>
            <a:r>
              <a:rPr lang="en-US"/>
              <a:t>3. void print_rectangle(int width, int height): prints a rectangle of stars.</a:t>
            </a:r>
          </a:p>
          <a:p>
            <a:r>
              <a:rPr lang="en-US"/>
              <a:t>4. double celsius_to_fahrenheit(double c).</a:t>
            </a:r>
          </a:p>
          <a:p>
            <a:endParaRPr lang="en-US"/>
          </a:p>
          <a:p>
            <a:r>
              <a:rPr lang="en-US"/>
              <a:t>Tasks 1 and 2 were done in class; 3 and 4 are homework. Solutions: files 26 to 29 of the class code. Try first.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82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1705134848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Write int cube(int x). In main, read a number and print its cube. Example run:</a:t>
            </a:r>
          </a:p>
          <a:p>
            <a:endParaRPr lang="en-US"/>
          </a:p>
          <a:p>
            <a:r>
              <a:rPr lang="en-US"/>
              <a:t>Number: 3</a:t>
            </a:r>
          </a:p>
          <a:p>
            <a:r>
              <a:rPr lang="en-US"/>
              <a:t>Cube: 27</a:t>
            </a:r>
          </a:p>
          <a:p>
            <a:endParaRPr lang="en-US"/>
          </a:p>
          <a:p>
            <a:r>
              <a:rPr lang="en-US"/>
              <a:t>Test it with -2 (the cube is -8) and with 0.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83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3118569588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Write int sign(int n). It gives back -1 when n is negative, 0 when n is zero, and 1 when n is positive. Example run:</a:t>
            </a:r>
          </a:p>
          <a:p>
            <a:endParaRPr lang="en-US"/>
          </a:p>
          <a:p>
            <a:r>
              <a:rPr lang="en-US"/>
              <a:t>Number: -7</a:t>
            </a:r>
          </a:p>
          <a:p>
            <a:r>
              <a:rPr lang="en-US"/>
              <a:t>Sign: -1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84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1717820039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One possible solution of each. Yours may look different and still be right. Always test with a negative number and with 0.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85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1808851522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Write void print_rectangle(int width, int height). Hint: copy print_stars from 03_stars_function.c into your file, and call it once for every row, with a loop. print_rectangle(6, 3) prints three rows of six stars. Solution: 28_task_rectangle.c.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86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1267364440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Write double celsius_to_fahrenheit(double c), which gives back c * 9 / 5 + 32. In main, read the temperature with scanf("%lf", &amp;c) and print the answer with %.1f. 100 gives 212.0, 0 gives 32.0. Try -40. Solution: 29_task_celsius.c.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87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240596453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A function has a type, a name, parameters and a body.</a:t>
            </a:r>
          </a:p>
          <a:p>
            <a:r>
              <a:rPr lang="en-US"/>
              <a:t>- A call copies the values in, runs the body, and gets one value back.</a:t>
            </a:r>
          </a:p>
          <a:p>
            <a:r>
              <a:rPr lang="en-US"/>
              <a:t>- Write the function above main, or give a prototype above main.</a:t>
            </a:r>
          </a:p>
          <a:p>
            <a:r>
              <a:rPr lang="en-US"/>
              <a:t>- void: the function gives nothing back. It only does a job.</a:t>
            </a:r>
          </a:p>
          <a:p>
            <a:r>
              <a:rPr lang="en-US"/>
              <a:t>- return ends the function at once.</a:t>
            </a:r>
          </a:p>
          <a:p>
            <a:r>
              <a:rPr lang="en-US"/>
              <a:t>- Split a program so that main reads like a list of steps.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88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252802459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Project 1: Simplified Blackjack. You play a simple card game against the computer: get as close to 21 as you can without going over. It uses loops, decisions and functions. The brief is on Blackboard: the exact rules, example runs, and how it is marked.</a:t>
            </a:r>
          </a:p>
          <a:p>
            <a:endParaRPr lang="en-US"/>
          </a:p>
          <a:p>
            <a:r>
              <a:rPr lang="en-US"/>
              <a:t>Due: Sunday 11 October 2026, 23:59. Start this week. After you submit, you may be asked to explain your code and make a small change to it, so write it yourself.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89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933097117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Knowledge check 7 on Blackboard covers today's slides.</a:t>
            </a:r>
          </a:p>
          <a:p>
            <a:r>
              <a:rPr lang="en-US"/>
              <a:t>- Do Tasks 3 and 4.</a:t>
            </a:r>
          </a:p>
          <a:p>
            <a:r>
              <a:rPr lang="en-US"/>
              <a:t>- Quiz 2: Friday 2 October, first 25 minutes, on paper, no laptop. It covers classes 3 to 6: data types, conditions, switch and loops. Not functions. Come on time.</a:t>
            </a:r>
          </a:p>
          <a:p>
            <a:r>
              <a:rPr lang="en-US"/>
              <a:t>- Today's code: Blackboard, Week 4 module, Class 7 code.</a:t>
            </a:r>
          </a:p>
          <a:p>
            <a:endParaRPr lang="en-US"/>
          </a:p>
          <a:p>
            <a:r>
              <a:rPr lang="en-US"/>
              <a:t>On Friday, after the quiz: where variables live, why a function cannot change your variables, and a function that calls itself.</a:t>
            </a:r>
            <a:endParaRPr lang="az-Latn-A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49DF2-DF2F-4156-8F3A-763BEA32C287}" type="slidenum">
              <a:rPr lang="az-Latn-AZ" smtClean="0"/>
              <a:t>90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2083857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1C48D"/>
                </a:solidFill>
              </a:rPr>
              <a:t>Programming Principles I</a:t>
            </a:r>
            <a:endParaRPr lang="en-US" sz="1600" dirty="0"/>
          </a:p>
        </p:txBody>
      </p:sp>
      <p:sp>
        <p:nvSpPr>
          <p:cNvPr id="3" name="Shape 3"/>
          <p:cNvSpPr/>
          <p:nvPr/>
        </p:nvSpPr>
        <p:spPr>
          <a:xfrm>
            <a:off x="731520" y="155448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Week 4 · Class 7</a:t>
            </a:r>
            <a:endParaRPr lang="en-US" sz="2600" dirty="0"/>
          </a:p>
        </p:txBody>
      </p:sp>
      <p:sp>
        <p:nvSpPr>
          <p:cNvPr id="4" name="Shape 4"/>
          <p:cNvSpPr/>
          <p:nvPr/>
        </p:nvSpPr>
        <p:spPr>
          <a:xfrm>
            <a:off x="731520" y="2194560"/>
            <a:ext cx="1078992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Functions in C</a:t>
            </a:r>
            <a:endParaRPr lang="en-US" sz="4800" dirty="0"/>
          </a:p>
        </p:txBody>
      </p:sp>
      <p:sp>
        <p:nvSpPr>
          <p:cNvPr id="5" name="Shape 5"/>
          <p:cNvSpPr/>
          <p:nvPr/>
        </p:nvSpPr>
        <p:spPr>
          <a:xfrm>
            <a:off x="731520" y="329184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D7E3F0"/>
                </a:solidFill>
              </a:rPr>
              <a:t>Write it once, give it a name, call it many times</a:t>
            </a:r>
            <a:endParaRPr lang="en-US" sz="2200" dirty="0"/>
          </a:p>
        </p:txBody>
      </p:sp>
      <p:sp>
        <p:nvSpPr>
          <p:cNvPr id="6" name="Shape 6"/>
          <p:cNvSpPr/>
          <p:nvPr/>
        </p:nvSpPr>
        <p:spPr>
          <a:xfrm>
            <a:off x="731520" y="4114800"/>
            <a:ext cx="7863840" cy="16992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Code"/>
          <p:cNvSpPr/>
          <p:nvPr/>
        </p:nvSpPr>
        <p:spPr>
          <a:xfrm>
            <a:off x="731520" y="4114800"/>
            <a:ext cx="7863840" cy="1699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square(int x) {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x * x;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800" dirty="0"/>
          </a:p>
        </p:txBody>
      </p:sp>
      <p:sp>
        <p:nvSpPr>
          <p:cNvPr id="8" name="Shape 8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7E3F0"/>
                </a:solidFill>
              </a:rPr>
              <a:t>ADA University · Fall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What the loops gave us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731520" y="1307592"/>
            <a:ext cx="640080" cy="6400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Shape 7"/>
          <p:cNvSpPr/>
          <p:nvPr/>
        </p:nvSpPr>
        <p:spPr>
          <a:xfrm>
            <a:off x="1691640" y="13075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A loop repeats: </a:t>
            </a:r>
            <a:r>
              <a:rPr lang="en-US" sz="2800" b="1" dirty="0">
                <a:solidFill>
                  <a:srgbClr val="18324A"/>
                </a:solidFill>
              </a:rPr>
              <a:t>start</a:t>
            </a:r>
            <a:r>
              <a:rPr lang="en-US" sz="2800" dirty="0">
                <a:solidFill>
                  <a:srgbClr val="18324A"/>
                </a:solidFill>
              </a:rPr>
              <a:t>, </a:t>
            </a:r>
            <a:r>
              <a:rPr lang="en-US" sz="2800" b="1" dirty="0">
                <a:solidFill>
                  <a:srgbClr val="18324A"/>
                </a:solidFill>
              </a:rPr>
              <a:t>check</a:t>
            </a:r>
            <a:r>
              <a:rPr lang="en-US" sz="2800" dirty="0">
                <a:solidFill>
                  <a:srgbClr val="18324A"/>
                </a:solidFill>
              </a:rPr>
              <a:t>, </a:t>
            </a:r>
            <a:r>
              <a:rPr lang="en-US" sz="2800" b="1" dirty="0">
                <a:solidFill>
                  <a:srgbClr val="18324A"/>
                </a:solidFill>
              </a:rPr>
              <a:t>body</a:t>
            </a:r>
            <a:r>
              <a:rPr lang="en-US" sz="2800" dirty="0">
                <a:solidFill>
                  <a:srgbClr val="18324A"/>
                </a:solidFill>
              </a:rPr>
              <a:t>, </a:t>
            </a:r>
            <a:r>
              <a:rPr lang="en-US" sz="2800" b="1" dirty="0">
                <a:solidFill>
                  <a:srgbClr val="18324A"/>
                </a:solidFill>
              </a:rPr>
              <a:t>update</a:t>
            </a:r>
            <a:endParaRPr lang="en-US" sz="2800" dirty="0"/>
          </a:p>
        </p:txBody>
      </p:sp>
      <p:sp>
        <p:nvSpPr>
          <p:cNvPr id="8" name="Shape 8"/>
          <p:cNvSpPr/>
          <p:nvPr/>
        </p:nvSpPr>
        <p:spPr>
          <a:xfrm>
            <a:off x="731520" y="2221992"/>
            <a:ext cx="640080" cy="64008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1691640" y="22219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A total starts at 0, before the loop: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sum += i;</a:t>
            </a:r>
            <a:endParaRPr lang="en-US" sz="2800" dirty="0"/>
          </a:p>
        </p:txBody>
      </p:sp>
      <p:sp>
        <p:nvSpPr>
          <p:cNvPr id="10" name="Shape 10"/>
          <p:cNvSpPr/>
          <p:nvPr/>
        </p:nvSpPr>
        <p:spPr>
          <a:xfrm>
            <a:off x="731520" y="3136392"/>
            <a:ext cx="64008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Shape 11"/>
          <p:cNvSpPr/>
          <p:nvPr/>
        </p:nvSpPr>
        <p:spPr>
          <a:xfrm>
            <a:off x="1691640" y="31363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A counter: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count++</a:t>
            </a:r>
            <a:r>
              <a:rPr lang="en-US" sz="2800" dirty="0">
                <a:solidFill>
                  <a:srgbClr val="18324A"/>
                </a:solidFill>
              </a:rPr>
              <a:t> inside an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if</a:t>
            </a:r>
            <a:r>
              <a:rPr lang="en-US" sz="2800" dirty="0">
                <a:solidFill>
                  <a:srgbClr val="18324A"/>
                </a:solidFill>
              </a:rPr>
              <a:t> inside the loop</a:t>
            </a:r>
            <a:endParaRPr lang="en-US" sz="2800" dirty="0"/>
          </a:p>
        </p:txBody>
      </p:sp>
      <p:sp>
        <p:nvSpPr>
          <p:cNvPr id="12" name="Shape 12"/>
          <p:cNvSpPr/>
          <p:nvPr/>
        </p:nvSpPr>
        <p:spPr>
          <a:xfrm>
            <a:off x="731520" y="4050792"/>
            <a:ext cx="640080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1691640" y="40507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Ask again until the input is good: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while (bad) { scanf... }</a:t>
            </a:r>
            <a:endParaRPr lang="en-US" sz="2800" dirty="0"/>
          </a:p>
        </p:txBody>
      </p:sp>
      <p:sp>
        <p:nvSpPr>
          <p:cNvPr id="14" name="Shape 14"/>
          <p:cNvSpPr/>
          <p:nvPr/>
        </p:nvSpPr>
        <p:spPr>
          <a:xfrm>
            <a:off x="731520" y="4965192"/>
            <a:ext cx="640080" cy="6400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lang="en-US" sz="2400" dirty="0"/>
          </a:p>
        </p:txBody>
      </p:sp>
      <p:sp>
        <p:nvSpPr>
          <p:cNvPr id="15" name="Shape 15"/>
          <p:cNvSpPr/>
          <p:nvPr/>
        </p:nvSpPr>
        <p:spPr>
          <a:xfrm>
            <a:off x="1691640" y="49651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A product starts at 1: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fact *= i;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Recap: what is on the screen?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PREDICT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4937760" cy="670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What does this print?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760720" y="1261872"/>
            <a:ext cx="5882335" cy="3032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760720" y="1261872"/>
            <a:ext cx="5882335" cy="3032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count = 0;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for (int i = 1; i &lt;= 10; i++)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if (i % 4 == 0)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count++;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printf("%d\n", count);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Recap: what is on the screen?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PREDICT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4937760" cy="670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What does this print?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760720" y="1261872"/>
            <a:ext cx="5882335" cy="3032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760720" y="2244852"/>
            <a:ext cx="5882335" cy="381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760720" y="2244852"/>
            <a:ext cx="82296" cy="381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760720" y="2625852"/>
            <a:ext cx="5882335" cy="381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760720" y="2625852"/>
            <a:ext cx="82296" cy="381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Code"/>
          <p:cNvSpPr/>
          <p:nvPr/>
        </p:nvSpPr>
        <p:spPr>
          <a:xfrm>
            <a:off x="5760720" y="1261872"/>
            <a:ext cx="5882335" cy="3032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count = 0;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for (int i = 1; i &lt;= 10; i++)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if (i % 4 == 0)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count++;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printf("%d\n", count);</a:t>
            </a:r>
            <a:endParaRPr lang="en-US" sz="2400" dirty="0"/>
          </a:p>
        </p:txBody>
      </p:sp>
      <p:sp>
        <p:nvSpPr>
          <p:cNvPr id="14" name="Shape 14"/>
          <p:cNvSpPr/>
          <p:nvPr/>
        </p:nvSpPr>
        <p:spPr>
          <a:xfrm>
            <a:off x="548640" y="4648200"/>
            <a:ext cx="4937760" cy="161544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548640" y="4648200"/>
            <a:ext cx="109728" cy="161544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Callout"/>
          <p:cNvSpPr/>
          <p:nvPr/>
        </p:nvSpPr>
        <p:spPr>
          <a:xfrm>
            <a:off x="658368" y="4648200"/>
            <a:ext cx="4828032" cy="161544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1C48D"/>
                </a:solidFill>
              </a:rPr>
              <a:t>ANSWER</a:t>
            </a:r>
            <a:endParaRPr lang="en-US" sz="1400" dirty="0"/>
          </a:p>
          <a:p>
            <a:pPr marL="0" indent="0" algn="l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2</a:t>
            </a:r>
            <a:endParaRPr lang="en-US" sz="2600" dirty="0"/>
          </a:p>
          <a:p>
            <a:pPr marL="0" indent="0" algn="l">
              <a:buNone/>
            </a:pPr>
            <a:r>
              <a:rPr lang="en-US" sz="2600" dirty="0">
                <a:solidFill>
                  <a:srgbClr val="18324A"/>
                </a:solidFill>
              </a:rPr>
              <a:t>Only 4 and 8 divide by 4.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Today's roadmap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5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731520" y="1307592"/>
            <a:ext cx="544068" cy="54406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Shape 7"/>
          <p:cNvSpPr/>
          <p:nvPr/>
        </p:nvSpPr>
        <p:spPr>
          <a:xfrm>
            <a:off x="1595628" y="1307592"/>
            <a:ext cx="10001707" cy="5440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Why functions</a:t>
            </a:r>
            <a:endParaRPr lang="en-US" sz="2800" dirty="0"/>
          </a:p>
        </p:txBody>
      </p:sp>
      <p:sp>
        <p:nvSpPr>
          <p:cNvPr id="8" name="Shape 8"/>
          <p:cNvSpPr/>
          <p:nvPr/>
        </p:nvSpPr>
        <p:spPr>
          <a:xfrm>
            <a:off x="731520" y="1988820"/>
            <a:ext cx="544068" cy="544068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1595628" y="1988820"/>
            <a:ext cx="10001707" cy="5440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Writing and calling a function</a:t>
            </a:r>
            <a:endParaRPr lang="en-US" sz="2800" dirty="0"/>
          </a:p>
        </p:txBody>
      </p:sp>
      <p:sp>
        <p:nvSpPr>
          <p:cNvPr id="10" name="Shape 10"/>
          <p:cNvSpPr/>
          <p:nvPr/>
        </p:nvSpPr>
        <p:spPr>
          <a:xfrm>
            <a:off x="731520" y="2670048"/>
            <a:ext cx="544068" cy="5440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Shape 11"/>
          <p:cNvSpPr/>
          <p:nvPr/>
        </p:nvSpPr>
        <p:spPr>
          <a:xfrm>
            <a:off x="1595628" y="2670048"/>
            <a:ext cx="10001707" cy="5440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Parameters,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void</a:t>
            </a:r>
            <a:r>
              <a:rPr lang="en-US" sz="2800" dirty="0">
                <a:solidFill>
                  <a:srgbClr val="18324A"/>
                </a:solidFill>
              </a:rPr>
              <a:t> and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return</a:t>
            </a:r>
            <a:endParaRPr lang="en-US" sz="2800" dirty="0"/>
          </a:p>
        </p:txBody>
      </p:sp>
      <p:sp>
        <p:nvSpPr>
          <p:cNvPr id="12" name="Shape 12"/>
          <p:cNvSpPr/>
          <p:nvPr/>
        </p:nvSpPr>
        <p:spPr>
          <a:xfrm>
            <a:off x="731520" y="3351276"/>
            <a:ext cx="544068" cy="54406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1595628" y="3351276"/>
            <a:ext cx="10001707" cy="5440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Loops and decisions inside a function</a:t>
            </a:r>
            <a:endParaRPr lang="en-US" sz="2800" dirty="0"/>
          </a:p>
        </p:txBody>
      </p:sp>
      <p:sp>
        <p:nvSpPr>
          <p:cNvPr id="14" name="Shape 14"/>
          <p:cNvSpPr/>
          <p:nvPr/>
        </p:nvSpPr>
        <p:spPr>
          <a:xfrm>
            <a:off x="731520" y="4032504"/>
            <a:ext cx="544068" cy="54406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lang="en-US" sz="2400" dirty="0"/>
          </a:p>
        </p:txBody>
      </p:sp>
      <p:sp>
        <p:nvSpPr>
          <p:cNvPr id="15" name="Shape 15"/>
          <p:cNvSpPr/>
          <p:nvPr/>
        </p:nvSpPr>
        <p:spPr>
          <a:xfrm>
            <a:off x="1595628" y="4032504"/>
            <a:ext cx="10001707" cy="5440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One program, split into functions</a:t>
            </a:r>
            <a:endParaRPr lang="en-US" sz="2800" dirty="0"/>
          </a:p>
        </p:txBody>
      </p:sp>
      <p:sp>
        <p:nvSpPr>
          <p:cNvPr id="16" name="Shape 16"/>
          <p:cNvSpPr/>
          <p:nvPr/>
        </p:nvSpPr>
        <p:spPr>
          <a:xfrm>
            <a:off x="731520" y="4713732"/>
            <a:ext cx="544068" cy="54406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6</a:t>
            </a:r>
            <a:endParaRPr lang="en-US" sz="2400" dirty="0"/>
          </a:p>
        </p:txBody>
      </p:sp>
      <p:sp>
        <p:nvSpPr>
          <p:cNvPr id="17" name="Shape 17"/>
          <p:cNvSpPr/>
          <p:nvPr/>
        </p:nvSpPr>
        <p:spPr>
          <a:xfrm>
            <a:off x="1595628" y="4713732"/>
            <a:ext cx="10001707" cy="5440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Common bugs, then you write</a:t>
            </a:r>
            <a:endParaRPr lang="en-US" sz="2800" dirty="0"/>
          </a:p>
        </p:txBody>
      </p:sp>
      <p:sp>
        <p:nvSpPr>
          <p:cNvPr id="18" name="Shape 18"/>
          <p:cNvSpPr/>
          <p:nvPr/>
        </p:nvSpPr>
        <p:spPr>
          <a:xfrm>
            <a:off x="548640" y="5486400"/>
            <a:ext cx="11094415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548640" y="5486400"/>
            <a:ext cx="109728" cy="77724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0" name="Callout"/>
          <p:cNvSpPr/>
          <p:nvPr/>
        </p:nvSpPr>
        <p:spPr>
          <a:xfrm>
            <a:off x="658368" y="5486400"/>
            <a:ext cx="10984687" cy="77724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Every program today is in </a:t>
            </a:r>
            <a:r>
              <a:rPr lang="en-US" sz="2400" b="1" dirty="0">
                <a:solidFill>
                  <a:srgbClr val="18324A"/>
                </a:solidFill>
              </a:rPr>
              <a:t>Class 7 code</a:t>
            </a:r>
            <a:r>
              <a:rPr lang="en-US" sz="2400" dirty="0">
                <a:solidFill>
                  <a:srgbClr val="18324A"/>
                </a:solidFill>
              </a:rPr>
              <a:t> on Blackboard. You do not need to copy from the slides.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31520" y="2011680"/>
            <a:ext cx="1188720" cy="1188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1</a:t>
            </a:r>
            <a:endParaRPr lang="en-US" sz="5400" dirty="0"/>
          </a:p>
        </p:txBody>
      </p:sp>
      <p:sp>
        <p:nvSpPr>
          <p:cNvPr id="3" name="Shape 3"/>
          <p:cNvSpPr/>
          <p:nvPr/>
        </p:nvSpPr>
        <p:spPr>
          <a:xfrm>
            <a:off x="2286000" y="1920240"/>
            <a:ext cx="932688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Why functions</a:t>
            </a:r>
            <a:endParaRPr lang="en-US" sz="4800" dirty="0"/>
          </a:p>
        </p:txBody>
      </p:sp>
      <p:sp>
        <p:nvSpPr>
          <p:cNvPr id="4" name="Shape 4"/>
          <p:cNvSpPr/>
          <p:nvPr/>
        </p:nvSpPr>
        <p:spPr>
          <a:xfrm>
            <a:off x="2286000" y="3474720"/>
            <a:ext cx="93268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D7E3F0"/>
                </a:solidFill>
              </a:rPr>
              <a:t>Write it once. Use it many times.</a:t>
            </a:r>
            <a:endParaRPr lang="en-US" sz="2600" dirty="0"/>
          </a:p>
        </p:txBody>
      </p:sp>
      <p:sp>
        <p:nvSpPr>
          <p:cNvPr id="5" name="Shape 5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7E3F0"/>
                </a:solidFill>
              </a:rPr>
              <a:t>CSCI 1101 · Programming Principles I · Class 7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Three rows of stars, copied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7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4810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Code"/>
          <p:cNvSpPr/>
          <p:nvPr/>
        </p:nvSpPr>
        <p:spPr>
          <a:xfrm>
            <a:off x="548640" y="1261872"/>
            <a:ext cx="6766560" cy="4810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for (int i = 0; i &lt; 3; i++)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printf("*");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printf("\n");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for (int i = 0; i &lt; 5; i++)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printf("*");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printf("\n");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for (int i = 0; i &lt; 7; i++)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printf("*");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printf("\n");</a:t>
            </a:r>
            <a:endParaRPr lang="en-US" sz="2000" dirty="0"/>
          </a:p>
        </p:txBody>
      </p:sp>
      <p:sp>
        <p:nvSpPr>
          <p:cNvPr id="8" name="Shape 8"/>
          <p:cNvSpPr/>
          <p:nvPr/>
        </p:nvSpPr>
        <p:spPr>
          <a:xfrm>
            <a:off x="7589520" y="1261872"/>
            <a:ext cx="40535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9" name="Shape 9"/>
          <p:cNvSpPr/>
          <p:nvPr/>
        </p:nvSpPr>
        <p:spPr>
          <a:xfrm>
            <a:off x="7589520" y="1645920"/>
            <a:ext cx="4053535" cy="1508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Code"/>
          <p:cNvSpPr/>
          <p:nvPr/>
        </p:nvSpPr>
        <p:spPr>
          <a:xfrm>
            <a:off x="7589520" y="1645920"/>
            <a:ext cx="4053535" cy="1508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***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*****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*******</a:t>
            </a:r>
            <a:endParaRPr lang="en-US" sz="2400" dirty="0"/>
          </a:p>
        </p:txBody>
      </p:sp>
      <p:sp>
        <p:nvSpPr>
          <p:cNvPr id="11" name="Shape 11"/>
          <p:cNvSpPr/>
          <p:nvPr/>
        </p:nvSpPr>
        <p:spPr>
          <a:xfrm>
            <a:off x="7589520" y="3429000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6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7589520" y="3429000"/>
            <a:ext cx="109728" cy="10515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Callout"/>
          <p:cNvSpPr/>
          <p:nvPr/>
        </p:nvSpPr>
        <p:spPr>
          <a:xfrm>
            <a:off x="7699248" y="3429000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The </a:t>
            </a:r>
            <a:r>
              <a:rPr lang="en-US" sz="2400" b="1" dirty="0">
                <a:solidFill>
                  <a:srgbClr val="18324A"/>
                </a:solidFill>
              </a:rPr>
              <a:t>same</a:t>
            </a:r>
            <a:r>
              <a:rPr lang="en-US" sz="2400" dirty="0">
                <a:solidFill>
                  <a:srgbClr val="18324A"/>
                </a:solidFill>
              </a:rPr>
              <a:t> loop, three times.</a:t>
            </a:r>
            <a:endParaRPr lang="en-US" sz="2400" dirty="0"/>
          </a:p>
        </p:txBody>
      </p:sp>
      <p:sp>
        <p:nvSpPr>
          <p:cNvPr id="14" name="Shape 14"/>
          <p:cNvSpPr/>
          <p:nvPr/>
        </p:nvSpPr>
        <p:spPr>
          <a:xfrm>
            <a:off x="7589520" y="4681728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7589520" y="4681728"/>
            <a:ext cx="109728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Callout"/>
          <p:cNvSpPr/>
          <p:nvPr/>
        </p:nvSpPr>
        <p:spPr>
          <a:xfrm>
            <a:off x="7699248" y="4681728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Only the number changes: 3, 5, 7.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What if one copy must change?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8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399032"/>
            <a:ext cx="109728" cy="7924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914400" y="1399032"/>
            <a:ext cx="10728655" cy="792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8324A"/>
                </a:solidFill>
              </a:rPr>
              <a:t>Now every row should use </a:t>
            </a:r>
            <a:r>
              <a:rPr lang="en-US" sz="4000" b="1" dirty="0">
                <a:solidFill>
                  <a:srgbClr val="FF6B6B"/>
                </a:solidFill>
                <a:latin typeface="Consolas"/>
                <a:ea typeface="Consolas"/>
                <a:cs typeface="Consolas"/>
              </a:rPr>
              <a:t>#</a:t>
            </a:r>
            <a:r>
              <a:rPr lang="en-US" sz="4000" b="1" dirty="0">
                <a:solidFill>
                  <a:srgbClr val="18324A"/>
                </a:solidFill>
              </a:rPr>
              <a:t> instead of </a:t>
            </a:r>
            <a:r>
              <a:rPr lang="en-US" sz="4000" b="1" dirty="0">
                <a:solidFill>
                  <a:srgbClr val="FF6B6B"/>
                </a:solidFill>
                <a:latin typeface="Consolas"/>
                <a:ea typeface="Consolas"/>
                <a:cs typeface="Consolas"/>
              </a:rPr>
              <a:t>*</a:t>
            </a:r>
            <a:r>
              <a:rPr lang="en-US" sz="4000" b="1" dirty="0">
                <a:solidFill>
                  <a:srgbClr val="18324A"/>
                </a:solidFill>
              </a:rPr>
              <a:t>.</a:t>
            </a:r>
            <a:endParaRPr lang="en-US" sz="4000" dirty="0"/>
          </a:p>
        </p:txBody>
      </p:sp>
      <p:sp>
        <p:nvSpPr>
          <p:cNvPr id="8" name="Shape 8"/>
          <p:cNvSpPr/>
          <p:nvPr/>
        </p:nvSpPr>
        <p:spPr>
          <a:xfrm>
            <a:off x="914400" y="2602992"/>
            <a:ext cx="10728655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Three places to change. Miss one, and the rows disagree.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Ten rows? Ten places.</a:t>
            </a:r>
            <a:endParaRPr lang="en-US" sz="3000" dirty="0"/>
          </a:p>
        </p:txBody>
      </p:sp>
      <p:sp>
        <p:nvSpPr>
          <p:cNvPr id="9" name="Shape 9"/>
          <p:cNvSpPr/>
          <p:nvPr/>
        </p:nvSpPr>
        <p:spPr>
          <a:xfrm>
            <a:off x="548640" y="5212080"/>
            <a:ext cx="1109441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5212080"/>
            <a:ext cx="109728" cy="105156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Callout"/>
          <p:cNvSpPr/>
          <p:nvPr/>
        </p:nvSpPr>
        <p:spPr>
          <a:xfrm>
            <a:off x="658368" y="5212080"/>
            <a:ext cx="1098468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Copied code is a bug waiting to happen. Write it </a:t>
            </a:r>
            <a:r>
              <a:rPr lang="en-US" sz="2400" b="1" dirty="0">
                <a:solidFill>
                  <a:srgbClr val="18324A"/>
                </a:solidFill>
              </a:rPr>
              <a:t>once</a:t>
            </a:r>
            <a:r>
              <a:rPr lang="en-US" sz="2400" dirty="0">
                <a:solidFill>
                  <a:srgbClr val="18324A"/>
                </a:solidFill>
              </a:rPr>
              <a:t>. Give it a </a:t>
            </a:r>
            <a:r>
              <a:rPr lang="en-US" sz="2400" b="1" dirty="0">
                <a:solidFill>
                  <a:srgbClr val="18324A"/>
                </a:solidFill>
              </a:rPr>
              <a:t>name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The same program, with a function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9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490601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Code"/>
          <p:cNvSpPr/>
          <p:nvPr/>
        </p:nvSpPr>
        <p:spPr>
          <a:xfrm>
            <a:off x="548640" y="1261872"/>
            <a:ext cx="6766560" cy="49060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void print_stars(int n)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for (int i = 0; i &lt; n; i++)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printf("*");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printf("\n");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print_stars(3);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print_stars(5);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print_stars(7);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</p:txBody>
      </p:sp>
      <p:sp>
        <p:nvSpPr>
          <p:cNvPr id="8" name="Shape 8"/>
          <p:cNvSpPr/>
          <p:nvPr/>
        </p:nvSpPr>
        <p:spPr>
          <a:xfrm>
            <a:off x="7589520" y="1261872"/>
            <a:ext cx="40535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9" name="Shape 9"/>
          <p:cNvSpPr/>
          <p:nvPr/>
        </p:nvSpPr>
        <p:spPr>
          <a:xfrm>
            <a:off x="7589520" y="1645920"/>
            <a:ext cx="4053535" cy="1508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Code"/>
          <p:cNvSpPr/>
          <p:nvPr/>
        </p:nvSpPr>
        <p:spPr>
          <a:xfrm>
            <a:off x="7589520" y="1645920"/>
            <a:ext cx="4053535" cy="1508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***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*****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*******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Written once: print_stars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10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490601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1479677"/>
            <a:ext cx="676656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147967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1828927"/>
            <a:ext cx="676656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182892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2178177"/>
            <a:ext cx="676656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48640" y="217817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548640" y="2527427"/>
            <a:ext cx="676656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548640" y="252742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548640" y="2876677"/>
            <a:ext cx="676656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Shape 16"/>
          <p:cNvSpPr/>
          <p:nvPr/>
        </p:nvSpPr>
        <p:spPr>
          <a:xfrm>
            <a:off x="548640" y="287667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548640" y="3225927"/>
            <a:ext cx="676656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Shape 18"/>
          <p:cNvSpPr/>
          <p:nvPr/>
        </p:nvSpPr>
        <p:spPr>
          <a:xfrm>
            <a:off x="548640" y="322592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9" name="Code"/>
          <p:cNvSpPr/>
          <p:nvPr/>
        </p:nvSpPr>
        <p:spPr>
          <a:xfrm>
            <a:off x="548640" y="1261872"/>
            <a:ext cx="6766560" cy="49060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void print_stars(int n)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(int i = 0; i &lt; n; i++)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printf("*");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printf("\n");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print_stars(3);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print_stars(5);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print_stars(7);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</p:txBody>
      </p:sp>
      <p:sp>
        <p:nvSpPr>
          <p:cNvPr id="20" name="Shape 20"/>
          <p:cNvSpPr/>
          <p:nvPr/>
        </p:nvSpPr>
        <p:spPr>
          <a:xfrm>
            <a:off x="7589520" y="1261872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1" name="Shape 21"/>
          <p:cNvSpPr/>
          <p:nvPr/>
        </p:nvSpPr>
        <p:spPr>
          <a:xfrm>
            <a:off x="7589520" y="1261872"/>
            <a:ext cx="109728" cy="105156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2" name="Callout"/>
          <p:cNvSpPr/>
          <p:nvPr/>
        </p:nvSpPr>
        <p:spPr>
          <a:xfrm>
            <a:off x="7699248" y="1261872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The loop lives here. </a:t>
            </a:r>
            <a:r>
              <a:rPr lang="en-US" sz="2400" b="1" dirty="0">
                <a:solidFill>
                  <a:srgbClr val="18324A"/>
                </a:solidFill>
              </a:rPr>
              <a:t>Once.</a:t>
            </a:r>
            <a:endParaRPr lang="en-US" sz="2400" dirty="0"/>
          </a:p>
        </p:txBody>
      </p:sp>
      <p:sp>
        <p:nvSpPr>
          <p:cNvPr id="23" name="Shape 23"/>
          <p:cNvSpPr/>
          <p:nvPr/>
        </p:nvSpPr>
        <p:spPr>
          <a:xfrm>
            <a:off x="7589520" y="2514600"/>
            <a:ext cx="405353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4" name="Shape 24"/>
          <p:cNvSpPr/>
          <p:nvPr/>
        </p:nvSpPr>
        <p:spPr>
          <a:xfrm>
            <a:off x="7589520" y="2514600"/>
            <a:ext cx="109728" cy="68580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5" name="Callout"/>
          <p:cNvSpPr/>
          <p:nvPr/>
        </p:nvSpPr>
        <p:spPr>
          <a:xfrm>
            <a:off x="7699248" y="2514600"/>
            <a:ext cx="394380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n</a:t>
            </a:r>
            <a:r>
              <a:rPr lang="en-US" sz="2400" dirty="0">
                <a:solidFill>
                  <a:srgbClr val="18324A"/>
                </a:solidFill>
              </a:rPr>
              <a:t> is how many stars.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Used three times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11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490601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4273677"/>
            <a:ext cx="676656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427367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4622927"/>
            <a:ext cx="676656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462292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4972177"/>
            <a:ext cx="676656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48640" y="497217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Code"/>
          <p:cNvSpPr/>
          <p:nvPr/>
        </p:nvSpPr>
        <p:spPr>
          <a:xfrm>
            <a:off x="548640" y="1261872"/>
            <a:ext cx="6766560" cy="49060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void print_stars(int n)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for (int i = 0; i &lt; n; i++)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printf("*");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printf("\n");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print_stars(3);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print_stars(5);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print_stars(7);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</p:txBody>
      </p:sp>
      <p:sp>
        <p:nvSpPr>
          <p:cNvPr id="14" name="Shape 14"/>
          <p:cNvSpPr/>
          <p:nvPr/>
        </p:nvSpPr>
        <p:spPr>
          <a:xfrm>
            <a:off x="7589520" y="1261872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7589520" y="1261872"/>
            <a:ext cx="109728" cy="10515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Callout"/>
          <p:cNvSpPr/>
          <p:nvPr/>
        </p:nvSpPr>
        <p:spPr>
          <a:xfrm>
            <a:off x="7699248" y="1261872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Each </a:t>
            </a:r>
            <a:r>
              <a:rPr lang="en-US" sz="2400" b="1" dirty="0">
                <a:solidFill>
                  <a:srgbClr val="18324A"/>
                </a:solidFill>
              </a:rPr>
              <a:t>call</a:t>
            </a:r>
            <a:r>
              <a:rPr lang="en-US" sz="2400" dirty="0">
                <a:solidFill>
                  <a:srgbClr val="18324A"/>
                </a:solidFill>
              </a:rPr>
              <a:t> sends a different number: 3, 5, 7.</a:t>
            </a:r>
            <a:endParaRPr lang="en-US" sz="2400" dirty="0"/>
          </a:p>
        </p:txBody>
      </p:sp>
      <p:sp>
        <p:nvSpPr>
          <p:cNvPr id="17" name="Shape 17"/>
          <p:cNvSpPr/>
          <p:nvPr/>
        </p:nvSpPr>
        <p:spPr>
          <a:xfrm>
            <a:off x="7589520" y="2514600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Shape 18"/>
          <p:cNvSpPr/>
          <p:nvPr/>
        </p:nvSpPr>
        <p:spPr>
          <a:xfrm>
            <a:off x="7589520" y="2514600"/>
            <a:ext cx="109728" cy="10515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9" name="Callout"/>
          <p:cNvSpPr/>
          <p:nvPr/>
        </p:nvSpPr>
        <p:spPr>
          <a:xfrm>
            <a:off x="7699248" y="2514600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Change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*</a:t>
            </a:r>
            <a:r>
              <a:rPr lang="en-US" sz="2400" dirty="0">
                <a:solidFill>
                  <a:srgbClr val="18324A"/>
                </a:solidFill>
              </a:rPr>
              <a:t> to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#</a:t>
            </a:r>
            <a:r>
              <a:rPr lang="en-US" sz="2400" dirty="0">
                <a:solidFill>
                  <a:srgbClr val="18324A"/>
                </a:solidFill>
              </a:rPr>
              <a:t> in one place: every row changes.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You have used functions since class 1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12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399032"/>
            <a:ext cx="109728" cy="792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914400" y="1399032"/>
            <a:ext cx="10728655" cy="792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8B5CF6"/>
                </a:solidFill>
                <a:latin typeface="Consolas"/>
                <a:ea typeface="Consolas"/>
                <a:cs typeface="Consolas"/>
              </a:rPr>
              <a:t>printf</a:t>
            </a:r>
            <a:r>
              <a:rPr lang="en-US" sz="4000" b="1" dirty="0">
                <a:solidFill>
                  <a:srgbClr val="18324A"/>
                </a:solidFill>
              </a:rPr>
              <a:t>, </a:t>
            </a:r>
            <a:r>
              <a:rPr lang="en-US" sz="4000" b="1" dirty="0">
                <a:solidFill>
                  <a:srgbClr val="8B5CF6"/>
                </a:solidFill>
                <a:latin typeface="Consolas"/>
                <a:ea typeface="Consolas"/>
                <a:cs typeface="Consolas"/>
              </a:rPr>
              <a:t>scanf</a:t>
            </a:r>
            <a:r>
              <a:rPr lang="en-US" sz="4000" b="1" dirty="0">
                <a:solidFill>
                  <a:srgbClr val="18324A"/>
                </a:solidFill>
              </a:rPr>
              <a:t>, </a:t>
            </a:r>
            <a:r>
              <a:rPr lang="en-US" sz="4000" b="1" dirty="0">
                <a:solidFill>
                  <a:srgbClr val="8B5CF6"/>
                </a:solidFill>
                <a:latin typeface="Consolas"/>
                <a:ea typeface="Consolas"/>
                <a:cs typeface="Consolas"/>
              </a:rPr>
              <a:t>sqrt</a:t>
            </a:r>
            <a:r>
              <a:rPr lang="en-US" sz="4000" b="1" dirty="0">
                <a:solidFill>
                  <a:srgbClr val="18324A"/>
                </a:solidFill>
              </a:rPr>
              <a:t>, </a:t>
            </a:r>
            <a:r>
              <a:rPr lang="en-US" sz="4000" b="1" dirty="0">
                <a:solidFill>
                  <a:srgbClr val="8B5CF6"/>
                </a:solidFill>
                <a:latin typeface="Consolas"/>
                <a:ea typeface="Consolas"/>
                <a:cs typeface="Consolas"/>
              </a:rPr>
              <a:t>pow</a:t>
            </a:r>
            <a:r>
              <a:rPr lang="en-US" sz="4000" b="1" dirty="0">
                <a:solidFill>
                  <a:srgbClr val="18324A"/>
                </a:solidFill>
              </a:rPr>
              <a:t> are functions.</a:t>
            </a:r>
            <a:endParaRPr lang="en-US" sz="4000" dirty="0"/>
          </a:p>
        </p:txBody>
      </p:sp>
      <p:sp>
        <p:nvSpPr>
          <p:cNvPr id="8" name="Shape 8"/>
          <p:cNvSpPr/>
          <p:nvPr/>
        </p:nvSpPr>
        <p:spPr>
          <a:xfrm>
            <a:off x="914400" y="2602992"/>
            <a:ext cx="10728655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Someone wrote them once, in a library.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You call them by </a:t>
            </a:r>
            <a:r>
              <a:rPr lang="en-US" sz="3000" b="1" dirty="0">
                <a:solidFill>
                  <a:srgbClr val="18324A"/>
                </a:solidFill>
              </a:rPr>
              <a:t>name</a:t>
            </a:r>
            <a:r>
              <a:rPr lang="en-US" sz="3000" dirty="0">
                <a:solidFill>
                  <a:srgbClr val="18324A"/>
                </a:solidFill>
              </a:rPr>
              <a:t>, with values in brackets: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sqrt(16)</a:t>
            </a:r>
            <a:r>
              <a:rPr lang="en-US" sz="3000" dirty="0">
                <a:solidFill>
                  <a:srgbClr val="18324A"/>
                </a:solidFill>
              </a:rPr>
              <a:t>.</a:t>
            </a:r>
            <a:endParaRPr lang="en-US" sz="3000" dirty="0"/>
          </a:p>
        </p:txBody>
      </p:sp>
      <p:sp>
        <p:nvSpPr>
          <p:cNvPr id="9" name="Shape 9"/>
          <p:cNvSpPr/>
          <p:nvPr/>
        </p:nvSpPr>
        <p:spPr>
          <a:xfrm>
            <a:off x="548640" y="5577840"/>
            <a:ext cx="1109441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5577840"/>
            <a:ext cx="109728" cy="685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Callout"/>
          <p:cNvSpPr/>
          <p:nvPr/>
        </p:nvSpPr>
        <p:spPr>
          <a:xfrm>
            <a:off x="658368" y="5577840"/>
            <a:ext cx="1098468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Today you write your own.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31520" y="2011680"/>
            <a:ext cx="1188720" cy="118872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2</a:t>
            </a:r>
            <a:endParaRPr lang="en-US" sz="5400" dirty="0"/>
          </a:p>
        </p:txBody>
      </p:sp>
      <p:sp>
        <p:nvSpPr>
          <p:cNvPr id="3" name="Shape 3"/>
          <p:cNvSpPr/>
          <p:nvPr/>
        </p:nvSpPr>
        <p:spPr>
          <a:xfrm>
            <a:off x="2286000" y="1920240"/>
            <a:ext cx="932688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Writing and calling a function</a:t>
            </a:r>
            <a:endParaRPr lang="en-US" sz="4800" dirty="0"/>
          </a:p>
        </p:txBody>
      </p:sp>
      <p:sp>
        <p:nvSpPr>
          <p:cNvPr id="4" name="Shape 4"/>
          <p:cNvSpPr/>
          <p:nvPr/>
        </p:nvSpPr>
        <p:spPr>
          <a:xfrm>
            <a:off x="2286000" y="3474720"/>
            <a:ext cx="93268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D7E3F0"/>
                </a:solidFill>
              </a:rPr>
              <a:t>A name, a value in, an answer out</a:t>
            </a:r>
            <a:endParaRPr lang="en-US" sz="2600" dirty="0"/>
          </a:p>
        </p:txBody>
      </p:sp>
      <p:sp>
        <p:nvSpPr>
          <p:cNvPr id="5" name="Shape 5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7E3F0"/>
                </a:solidFill>
              </a:rPr>
              <a:t>CSCI 1101 · Programming Principles I · Class 7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Our first function: square.c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14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417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Code"/>
          <p:cNvSpPr/>
          <p:nvPr/>
        </p:nvSpPr>
        <p:spPr>
          <a:xfrm>
            <a:off x="548640" y="1261872"/>
            <a:ext cx="6766560" cy="4175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#include &lt;stdio.h&gt;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square(int x)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x * x;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y = square(5);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printf("square(5) = %d\n", y);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printf("square(7) = %d\n", square(7));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</p:txBody>
      </p:sp>
      <p:sp>
        <p:nvSpPr>
          <p:cNvPr id="8" name="Shape 8"/>
          <p:cNvSpPr/>
          <p:nvPr/>
        </p:nvSpPr>
        <p:spPr>
          <a:xfrm>
            <a:off x="7589520" y="1261872"/>
            <a:ext cx="40535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9" name="Shape 9"/>
          <p:cNvSpPr/>
          <p:nvPr/>
        </p:nvSpPr>
        <p:spPr>
          <a:xfrm>
            <a:off x="7589520" y="1645920"/>
            <a:ext cx="4053535" cy="1127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Code"/>
          <p:cNvSpPr/>
          <p:nvPr/>
        </p:nvSpPr>
        <p:spPr>
          <a:xfrm>
            <a:off x="7589520" y="1645920"/>
            <a:ext cx="4053535" cy="1127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square(5) = 25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square(7) = 49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Four parts of a function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15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536192"/>
            <a:ext cx="2602154" cy="7315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Type</a:t>
            </a:r>
            <a:endParaRPr lang="en-US" sz="2600" dirty="0"/>
          </a:p>
        </p:txBody>
      </p:sp>
      <p:sp>
        <p:nvSpPr>
          <p:cNvPr id="7" name="Shape 7"/>
          <p:cNvSpPr/>
          <p:nvPr/>
        </p:nvSpPr>
        <p:spPr>
          <a:xfrm>
            <a:off x="548640" y="2267712"/>
            <a:ext cx="2602154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73152" tIns="91440" rIns="73152" bIns="9144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18324A"/>
                </a:solidFill>
              </a:rPr>
              <a:t>The kind of answer</a:t>
            </a:r>
            <a:endParaRPr lang="en-US" sz="2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int</a:t>
            </a:r>
            <a:endParaRPr lang="en-US" sz="2400" dirty="0"/>
          </a:p>
        </p:txBody>
      </p:sp>
      <p:sp>
        <p:nvSpPr>
          <p:cNvPr id="8" name="Shape 8"/>
          <p:cNvSpPr/>
          <p:nvPr/>
        </p:nvSpPr>
        <p:spPr>
          <a:xfrm>
            <a:off x="3379394" y="1536192"/>
            <a:ext cx="2602154" cy="73152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Name</a:t>
            </a:r>
            <a:endParaRPr lang="en-US" sz="2600" dirty="0"/>
          </a:p>
        </p:txBody>
      </p:sp>
      <p:sp>
        <p:nvSpPr>
          <p:cNvPr id="9" name="Shape 9"/>
          <p:cNvSpPr/>
          <p:nvPr/>
        </p:nvSpPr>
        <p:spPr>
          <a:xfrm>
            <a:off x="3379394" y="2267712"/>
            <a:ext cx="2602154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73152" tIns="91440" rIns="73152" bIns="9144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18324A"/>
                </a:solidFill>
              </a:rPr>
              <a:t>How you call it</a:t>
            </a:r>
            <a:endParaRPr lang="en-US" sz="2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square</a:t>
            </a:r>
            <a:endParaRPr lang="en-US" sz="2400" dirty="0"/>
          </a:p>
        </p:txBody>
      </p:sp>
      <p:sp>
        <p:nvSpPr>
          <p:cNvPr id="10" name="Shape 10"/>
          <p:cNvSpPr/>
          <p:nvPr/>
        </p:nvSpPr>
        <p:spPr>
          <a:xfrm>
            <a:off x="6210148" y="1536192"/>
            <a:ext cx="2602154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Parameter</a:t>
            </a:r>
            <a:endParaRPr lang="en-US" sz="2600" dirty="0"/>
          </a:p>
        </p:txBody>
      </p:sp>
      <p:sp>
        <p:nvSpPr>
          <p:cNvPr id="11" name="Shape 11"/>
          <p:cNvSpPr/>
          <p:nvPr/>
        </p:nvSpPr>
        <p:spPr>
          <a:xfrm>
            <a:off x="6210148" y="2267712"/>
            <a:ext cx="2602154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txBody>
          <a:bodyPr wrap="square" lIns="73152" tIns="91440" rIns="73152" bIns="9144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18324A"/>
                </a:solidFill>
              </a:rPr>
              <a:t>The value it gets</a:t>
            </a:r>
            <a:endParaRPr lang="en-US" sz="2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int x</a:t>
            </a:r>
            <a:endParaRPr lang="en-US" sz="2400" dirty="0"/>
          </a:p>
        </p:txBody>
      </p:sp>
      <p:sp>
        <p:nvSpPr>
          <p:cNvPr id="12" name="Shape 12"/>
          <p:cNvSpPr/>
          <p:nvPr/>
        </p:nvSpPr>
        <p:spPr>
          <a:xfrm>
            <a:off x="9040901" y="1536192"/>
            <a:ext cx="2602154" cy="7315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Body</a:t>
            </a:r>
            <a:endParaRPr lang="en-US" sz="2600" dirty="0"/>
          </a:p>
        </p:txBody>
      </p:sp>
      <p:sp>
        <p:nvSpPr>
          <p:cNvPr id="13" name="Shape 13"/>
          <p:cNvSpPr/>
          <p:nvPr/>
        </p:nvSpPr>
        <p:spPr>
          <a:xfrm>
            <a:off x="9040901" y="2267712"/>
            <a:ext cx="2602154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txBody>
          <a:bodyPr wrap="square" lIns="73152" tIns="91440" rIns="73152" bIns="9144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18324A"/>
                </a:solidFill>
              </a:rPr>
              <a:t>The work, in </a:t>
            </a:r>
            <a:r>
              <a:rPr lang="en-US" sz="24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{ }</a:t>
            </a:r>
            <a:endParaRPr lang="en-US" sz="2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return x * x;</a:t>
            </a:r>
            <a:endParaRPr lang="en-US" sz="2400" dirty="0"/>
          </a:p>
        </p:txBody>
      </p:sp>
      <p:sp>
        <p:nvSpPr>
          <p:cNvPr id="14" name="Shape 14"/>
          <p:cNvSpPr/>
          <p:nvPr/>
        </p:nvSpPr>
        <p:spPr>
          <a:xfrm>
            <a:off x="548640" y="5166360"/>
            <a:ext cx="11094415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548640" y="5166360"/>
            <a:ext cx="109728" cy="9144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Callout"/>
          <p:cNvSpPr/>
          <p:nvPr/>
        </p:nvSpPr>
        <p:spPr>
          <a:xfrm>
            <a:off x="658368" y="5166360"/>
            <a:ext cx="10984687" cy="9144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int square(int x) { return x * x; }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Part 1: the type of the answer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16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536192"/>
            <a:ext cx="2602154" cy="7315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Type</a:t>
            </a:r>
            <a:endParaRPr lang="en-US" sz="2600" dirty="0"/>
          </a:p>
        </p:txBody>
      </p:sp>
      <p:sp>
        <p:nvSpPr>
          <p:cNvPr id="7" name="Shape 7"/>
          <p:cNvSpPr/>
          <p:nvPr/>
        </p:nvSpPr>
        <p:spPr>
          <a:xfrm>
            <a:off x="548640" y="2267712"/>
            <a:ext cx="2602154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73152" tIns="91440" rIns="73152" bIns="9144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18324A"/>
                </a:solidFill>
              </a:rPr>
              <a:t>The kind of answer</a:t>
            </a:r>
            <a:endParaRPr lang="en-US" sz="2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int</a:t>
            </a:r>
            <a:endParaRPr lang="en-US" sz="2400" dirty="0"/>
          </a:p>
        </p:txBody>
      </p:sp>
      <p:sp>
        <p:nvSpPr>
          <p:cNvPr id="8" name="Shape 8"/>
          <p:cNvSpPr/>
          <p:nvPr/>
        </p:nvSpPr>
        <p:spPr>
          <a:xfrm>
            <a:off x="3379394" y="1536192"/>
            <a:ext cx="2602154" cy="7315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Name</a:t>
            </a:r>
            <a:endParaRPr lang="en-US" sz="2600" dirty="0"/>
          </a:p>
        </p:txBody>
      </p:sp>
      <p:sp>
        <p:nvSpPr>
          <p:cNvPr id="9" name="Shape 9"/>
          <p:cNvSpPr/>
          <p:nvPr/>
        </p:nvSpPr>
        <p:spPr>
          <a:xfrm>
            <a:off x="3379394" y="2267712"/>
            <a:ext cx="2602154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txBody>
          <a:bodyPr wrap="square" lIns="73152" tIns="91440" rIns="73152" bIns="9144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94A3B8"/>
                </a:solidFill>
              </a:rPr>
              <a:t>How you call it</a:t>
            </a:r>
            <a:endParaRPr lang="en-US" sz="2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square</a:t>
            </a:r>
            <a:endParaRPr lang="en-US" sz="2400" dirty="0"/>
          </a:p>
        </p:txBody>
      </p:sp>
      <p:sp>
        <p:nvSpPr>
          <p:cNvPr id="10" name="Shape 10"/>
          <p:cNvSpPr/>
          <p:nvPr/>
        </p:nvSpPr>
        <p:spPr>
          <a:xfrm>
            <a:off x="6210148" y="1536192"/>
            <a:ext cx="2602154" cy="7315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Parameter</a:t>
            </a:r>
            <a:endParaRPr lang="en-US" sz="2600" dirty="0"/>
          </a:p>
        </p:txBody>
      </p:sp>
      <p:sp>
        <p:nvSpPr>
          <p:cNvPr id="11" name="Shape 11"/>
          <p:cNvSpPr/>
          <p:nvPr/>
        </p:nvSpPr>
        <p:spPr>
          <a:xfrm>
            <a:off x="6210148" y="2267712"/>
            <a:ext cx="2602154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txBody>
          <a:bodyPr wrap="square" lIns="73152" tIns="91440" rIns="73152" bIns="9144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94A3B8"/>
                </a:solidFill>
              </a:rPr>
              <a:t>The value it gets</a:t>
            </a:r>
            <a:endParaRPr lang="en-US" sz="2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int x</a:t>
            </a:r>
            <a:endParaRPr lang="en-US" sz="2400" dirty="0"/>
          </a:p>
        </p:txBody>
      </p:sp>
      <p:sp>
        <p:nvSpPr>
          <p:cNvPr id="12" name="Shape 12"/>
          <p:cNvSpPr/>
          <p:nvPr/>
        </p:nvSpPr>
        <p:spPr>
          <a:xfrm>
            <a:off x="9040901" y="1536192"/>
            <a:ext cx="2602154" cy="7315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Body</a:t>
            </a:r>
            <a:endParaRPr lang="en-US" sz="2600" dirty="0"/>
          </a:p>
        </p:txBody>
      </p:sp>
      <p:sp>
        <p:nvSpPr>
          <p:cNvPr id="13" name="Shape 13"/>
          <p:cNvSpPr/>
          <p:nvPr/>
        </p:nvSpPr>
        <p:spPr>
          <a:xfrm>
            <a:off x="9040901" y="2267712"/>
            <a:ext cx="2602154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txBody>
          <a:bodyPr wrap="square" lIns="73152" tIns="91440" rIns="73152" bIns="9144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94A3B8"/>
                </a:solidFill>
              </a:rPr>
              <a:t>The work, in </a:t>
            </a:r>
            <a:r>
              <a:rPr lang="en-US" sz="24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{ }</a:t>
            </a:r>
            <a:endParaRPr lang="en-US" sz="2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return x * x;</a:t>
            </a:r>
            <a:endParaRPr lang="en-US" sz="2400" dirty="0"/>
          </a:p>
        </p:txBody>
      </p:sp>
      <p:sp>
        <p:nvSpPr>
          <p:cNvPr id="14" name="Shape 14"/>
          <p:cNvSpPr/>
          <p:nvPr/>
        </p:nvSpPr>
        <p:spPr>
          <a:xfrm>
            <a:off x="548640" y="5166360"/>
            <a:ext cx="11094415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548640" y="5166360"/>
            <a:ext cx="109728" cy="9144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Callout"/>
          <p:cNvSpPr/>
          <p:nvPr/>
        </p:nvSpPr>
        <p:spPr>
          <a:xfrm>
            <a:off x="658368" y="5166360"/>
            <a:ext cx="10984687" cy="9144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lang="en-US" sz="2400" dirty="0">
                <a:solidFill>
                  <a:srgbClr val="18324A"/>
                </a:solidFill>
              </a:rPr>
              <a:t> before the name: the answer is a whole number.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Part 2: the name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17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536192"/>
            <a:ext cx="2602154" cy="7315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Type</a:t>
            </a:r>
            <a:endParaRPr lang="en-US" sz="2600" dirty="0"/>
          </a:p>
        </p:txBody>
      </p:sp>
      <p:sp>
        <p:nvSpPr>
          <p:cNvPr id="7" name="Shape 7"/>
          <p:cNvSpPr/>
          <p:nvPr/>
        </p:nvSpPr>
        <p:spPr>
          <a:xfrm>
            <a:off x="548640" y="2267712"/>
            <a:ext cx="2602154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txBody>
          <a:bodyPr wrap="square" lIns="73152" tIns="91440" rIns="73152" bIns="9144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94A3B8"/>
                </a:solidFill>
              </a:rPr>
              <a:t>The kind of answer</a:t>
            </a:r>
            <a:endParaRPr lang="en-US" sz="2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int</a:t>
            </a:r>
            <a:endParaRPr lang="en-US" sz="2400" dirty="0"/>
          </a:p>
        </p:txBody>
      </p:sp>
      <p:sp>
        <p:nvSpPr>
          <p:cNvPr id="8" name="Shape 8"/>
          <p:cNvSpPr/>
          <p:nvPr/>
        </p:nvSpPr>
        <p:spPr>
          <a:xfrm>
            <a:off x="3379394" y="1536192"/>
            <a:ext cx="2602154" cy="73152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Name</a:t>
            </a:r>
            <a:endParaRPr lang="en-US" sz="2600" dirty="0"/>
          </a:p>
        </p:txBody>
      </p:sp>
      <p:sp>
        <p:nvSpPr>
          <p:cNvPr id="9" name="Shape 9"/>
          <p:cNvSpPr/>
          <p:nvPr/>
        </p:nvSpPr>
        <p:spPr>
          <a:xfrm>
            <a:off x="3379394" y="2267712"/>
            <a:ext cx="2602154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73152" tIns="91440" rIns="73152" bIns="9144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18324A"/>
                </a:solidFill>
              </a:rPr>
              <a:t>How you call it</a:t>
            </a:r>
            <a:endParaRPr lang="en-US" sz="2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square</a:t>
            </a:r>
            <a:endParaRPr lang="en-US" sz="2400" dirty="0"/>
          </a:p>
        </p:txBody>
      </p:sp>
      <p:sp>
        <p:nvSpPr>
          <p:cNvPr id="10" name="Shape 10"/>
          <p:cNvSpPr/>
          <p:nvPr/>
        </p:nvSpPr>
        <p:spPr>
          <a:xfrm>
            <a:off x="6210148" y="1536192"/>
            <a:ext cx="2602154" cy="7315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Parameter</a:t>
            </a:r>
            <a:endParaRPr lang="en-US" sz="2600" dirty="0"/>
          </a:p>
        </p:txBody>
      </p:sp>
      <p:sp>
        <p:nvSpPr>
          <p:cNvPr id="11" name="Shape 11"/>
          <p:cNvSpPr/>
          <p:nvPr/>
        </p:nvSpPr>
        <p:spPr>
          <a:xfrm>
            <a:off x="6210148" y="2267712"/>
            <a:ext cx="2602154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txBody>
          <a:bodyPr wrap="square" lIns="73152" tIns="91440" rIns="73152" bIns="9144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94A3B8"/>
                </a:solidFill>
              </a:rPr>
              <a:t>The value it gets</a:t>
            </a:r>
            <a:endParaRPr lang="en-US" sz="2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int x</a:t>
            </a:r>
            <a:endParaRPr lang="en-US" sz="2400" dirty="0"/>
          </a:p>
        </p:txBody>
      </p:sp>
      <p:sp>
        <p:nvSpPr>
          <p:cNvPr id="12" name="Shape 12"/>
          <p:cNvSpPr/>
          <p:nvPr/>
        </p:nvSpPr>
        <p:spPr>
          <a:xfrm>
            <a:off x="9040901" y="1536192"/>
            <a:ext cx="2602154" cy="7315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Body</a:t>
            </a:r>
            <a:endParaRPr lang="en-US" sz="2600" dirty="0"/>
          </a:p>
        </p:txBody>
      </p:sp>
      <p:sp>
        <p:nvSpPr>
          <p:cNvPr id="13" name="Shape 13"/>
          <p:cNvSpPr/>
          <p:nvPr/>
        </p:nvSpPr>
        <p:spPr>
          <a:xfrm>
            <a:off x="9040901" y="2267712"/>
            <a:ext cx="2602154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txBody>
          <a:bodyPr wrap="square" lIns="73152" tIns="91440" rIns="73152" bIns="9144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94A3B8"/>
                </a:solidFill>
              </a:rPr>
              <a:t>The work, in </a:t>
            </a:r>
            <a:r>
              <a:rPr lang="en-US" sz="24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{ }</a:t>
            </a:r>
            <a:endParaRPr lang="en-US" sz="2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return x * x;</a:t>
            </a:r>
            <a:endParaRPr lang="en-US" sz="2400" dirty="0"/>
          </a:p>
        </p:txBody>
      </p:sp>
      <p:sp>
        <p:nvSpPr>
          <p:cNvPr id="14" name="Shape 14"/>
          <p:cNvSpPr/>
          <p:nvPr/>
        </p:nvSpPr>
        <p:spPr>
          <a:xfrm>
            <a:off x="548640" y="5166360"/>
            <a:ext cx="11094415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548640" y="5166360"/>
            <a:ext cx="109728" cy="91440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Callout"/>
          <p:cNvSpPr/>
          <p:nvPr/>
        </p:nvSpPr>
        <p:spPr>
          <a:xfrm>
            <a:off x="658368" y="5166360"/>
            <a:ext cx="10984687" cy="9144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You choose the name. Same rules as a variable name. Say what it does.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Part 3: the parameter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18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536192"/>
            <a:ext cx="2602154" cy="7315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Type</a:t>
            </a:r>
            <a:endParaRPr lang="en-US" sz="2600" dirty="0"/>
          </a:p>
        </p:txBody>
      </p:sp>
      <p:sp>
        <p:nvSpPr>
          <p:cNvPr id="7" name="Shape 7"/>
          <p:cNvSpPr/>
          <p:nvPr/>
        </p:nvSpPr>
        <p:spPr>
          <a:xfrm>
            <a:off x="548640" y="2267712"/>
            <a:ext cx="2602154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txBody>
          <a:bodyPr wrap="square" lIns="73152" tIns="91440" rIns="73152" bIns="9144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94A3B8"/>
                </a:solidFill>
              </a:rPr>
              <a:t>The kind of answer</a:t>
            </a:r>
            <a:endParaRPr lang="en-US" sz="2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int</a:t>
            </a:r>
            <a:endParaRPr lang="en-US" sz="2400" dirty="0"/>
          </a:p>
        </p:txBody>
      </p:sp>
      <p:sp>
        <p:nvSpPr>
          <p:cNvPr id="8" name="Shape 8"/>
          <p:cNvSpPr/>
          <p:nvPr/>
        </p:nvSpPr>
        <p:spPr>
          <a:xfrm>
            <a:off x="3379394" y="1536192"/>
            <a:ext cx="2602154" cy="7315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Name</a:t>
            </a:r>
            <a:endParaRPr lang="en-US" sz="2600" dirty="0"/>
          </a:p>
        </p:txBody>
      </p:sp>
      <p:sp>
        <p:nvSpPr>
          <p:cNvPr id="9" name="Shape 9"/>
          <p:cNvSpPr/>
          <p:nvPr/>
        </p:nvSpPr>
        <p:spPr>
          <a:xfrm>
            <a:off x="3379394" y="2267712"/>
            <a:ext cx="2602154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txBody>
          <a:bodyPr wrap="square" lIns="73152" tIns="91440" rIns="73152" bIns="9144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94A3B8"/>
                </a:solidFill>
              </a:rPr>
              <a:t>How you call it</a:t>
            </a:r>
            <a:endParaRPr lang="en-US" sz="2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square</a:t>
            </a:r>
            <a:endParaRPr lang="en-US" sz="2400" dirty="0"/>
          </a:p>
        </p:txBody>
      </p:sp>
      <p:sp>
        <p:nvSpPr>
          <p:cNvPr id="10" name="Shape 10"/>
          <p:cNvSpPr/>
          <p:nvPr/>
        </p:nvSpPr>
        <p:spPr>
          <a:xfrm>
            <a:off x="6210148" y="1536192"/>
            <a:ext cx="2602154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Parameter</a:t>
            </a:r>
            <a:endParaRPr lang="en-US" sz="2600" dirty="0"/>
          </a:p>
        </p:txBody>
      </p:sp>
      <p:sp>
        <p:nvSpPr>
          <p:cNvPr id="11" name="Shape 11"/>
          <p:cNvSpPr/>
          <p:nvPr/>
        </p:nvSpPr>
        <p:spPr>
          <a:xfrm>
            <a:off x="6210148" y="2267712"/>
            <a:ext cx="2602154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txBody>
          <a:bodyPr wrap="square" lIns="73152" tIns="91440" rIns="73152" bIns="9144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18324A"/>
                </a:solidFill>
              </a:rPr>
              <a:t>The value it gets</a:t>
            </a:r>
            <a:endParaRPr lang="en-US" sz="2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int x</a:t>
            </a:r>
            <a:endParaRPr lang="en-US" sz="2400" dirty="0"/>
          </a:p>
        </p:txBody>
      </p:sp>
      <p:sp>
        <p:nvSpPr>
          <p:cNvPr id="12" name="Shape 12"/>
          <p:cNvSpPr/>
          <p:nvPr/>
        </p:nvSpPr>
        <p:spPr>
          <a:xfrm>
            <a:off x="9040901" y="1536192"/>
            <a:ext cx="2602154" cy="7315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Body</a:t>
            </a:r>
            <a:endParaRPr lang="en-US" sz="2600" dirty="0"/>
          </a:p>
        </p:txBody>
      </p:sp>
      <p:sp>
        <p:nvSpPr>
          <p:cNvPr id="13" name="Shape 13"/>
          <p:cNvSpPr/>
          <p:nvPr/>
        </p:nvSpPr>
        <p:spPr>
          <a:xfrm>
            <a:off x="9040901" y="2267712"/>
            <a:ext cx="2602154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txBody>
          <a:bodyPr wrap="square" lIns="73152" tIns="91440" rIns="73152" bIns="9144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94A3B8"/>
                </a:solidFill>
              </a:rPr>
              <a:t>The work, in </a:t>
            </a:r>
            <a:r>
              <a:rPr lang="en-US" sz="24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{ }</a:t>
            </a:r>
            <a:endParaRPr lang="en-US" sz="2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return x * x;</a:t>
            </a:r>
            <a:endParaRPr lang="en-US" sz="2400" dirty="0"/>
          </a:p>
        </p:txBody>
      </p:sp>
      <p:sp>
        <p:nvSpPr>
          <p:cNvPr id="14" name="Shape 14"/>
          <p:cNvSpPr/>
          <p:nvPr/>
        </p:nvSpPr>
        <p:spPr>
          <a:xfrm>
            <a:off x="548640" y="5166360"/>
            <a:ext cx="11094415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548640" y="5166360"/>
            <a:ext cx="109728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Callout"/>
          <p:cNvSpPr/>
          <p:nvPr/>
        </p:nvSpPr>
        <p:spPr>
          <a:xfrm>
            <a:off x="658368" y="5166360"/>
            <a:ext cx="10984687" cy="9144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A box made for the function. Every call puts a value in it.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Part 4: the body and return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19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536192"/>
            <a:ext cx="2602154" cy="7315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Type</a:t>
            </a:r>
            <a:endParaRPr lang="en-US" sz="2600" dirty="0"/>
          </a:p>
        </p:txBody>
      </p:sp>
      <p:sp>
        <p:nvSpPr>
          <p:cNvPr id="7" name="Shape 7"/>
          <p:cNvSpPr/>
          <p:nvPr/>
        </p:nvSpPr>
        <p:spPr>
          <a:xfrm>
            <a:off x="548640" y="2267712"/>
            <a:ext cx="2602154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txBody>
          <a:bodyPr wrap="square" lIns="73152" tIns="91440" rIns="73152" bIns="9144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94A3B8"/>
                </a:solidFill>
              </a:rPr>
              <a:t>The kind of answer</a:t>
            </a:r>
            <a:endParaRPr lang="en-US" sz="2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int</a:t>
            </a:r>
            <a:endParaRPr lang="en-US" sz="2400" dirty="0"/>
          </a:p>
        </p:txBody>
      </p:sp>
      <p:sp>
        <p:nvSpPr>
          <p:cNvPr id="8" name="Shape 8"/>
          <p:cNvSpPr/>
          <p:nvPr/>
        </p:nvSpPr>
        <p:spPr>
          <a:xfrm>
            <a:off x="3379394" y="1536192"/>
            <a:ext cx="2602154" cy="7315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Name</a:t>
            </a:r>
            <a:endParaRPr lang="en-US" sz="2600" dirty="0"/>
          </a:p>
        </p:txBody>
      </p:sp>
      <p:sp>
        <p:nvSpPr>
          <p:cNvPr id="9" name="Shape 9"/>
          <p:cNvSpPr/>
          <p:nvPr/>
        </p:nvSpPr>
        <p:spPr>
          <a:xfrm>
            <a:off x="3379394" y="2267712"/>
            <a:ext cx="2602154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txBody>
          <a:bodyPr wrap="square" lIns="73152" tIns="91440" rIns="73152" bIns="9144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94A3B8"/>
                </a:solidFill>
              </a:rPr>
              <a:t>How you call it</a:t>
            </a:r>
            <a:endParaRPr lang="en-US" sz="2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square</a:t>
            </a:r>
            <a:endParaRPr lang="en-US" sz="2400" dirty="0"/>
          </a:p>
        </p:txBody>
      </p:sp>
      <p:sp>
        <p:nvSpPr>
          <p:cNvPr id="10" name="Shape 10"/>
          <p:cNvSpPr/>
          <p:nvPr/>
        </p:nvSpPr>
        <p:spPr>
          <a:xfrm>
            <a:off x="6210148" y="1536192"/>
            <a:ext cx="2602154" cy="7315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Parameter</a:t>
            </a:r>
            <a:endParaRPr lang="en-US" sz="2600" dirty="0"/>
          </a:p>
        </p:txBody>
      </p:sp>
      <p:sp>
        <p:nvSpPr>
          <p:cNvPr id="11" name="Shape 11"/>
          <p:cNvSpPr/>
          <p:nvPr/>
        </p:nvSpPr>
        <p:spPr>
          <a:xfrm>
            <a:off x="6210148" y="2267712"/>
            <a:ext cx="2602154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txBody>
          <a:bodyPr wrap="square" lIns="73152" tIns="91440" rIns="73152" bIns="9144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94A3B8"/>
                </a:solidFill>
              </a:rPr>
              <a:t>The value it gets</a:t>
            </a:r>
            <a:endParaRPr lang="en-US" sz="2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int x</a:t>
            </a:r>
            <a:endParaRPr lang="en-US" sz="2400" dirty="0"/>
          </a:p>
        </p:txBody>
      </p:sp>
      <p:sp>
        <p:nvSpPr>
          <p:cNvPr id="12" name="Shape 12"/>
          <p:cNvSpPr/>
          <p:nvPr/>
        </p:nvSpPr>
        <p:spPr>
          <a:xfrm>
            <a:off x="9040901" y="1536192"/>
            <a:ext cx="2602154" cy="7315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Body</a:t>
            </a:r>
            <a:endParaRPr lang="en-US" sz="2600" dirty="0"/>
          </a:p>
        </p:txBody>
      </p:sp>
      <p:sp>
        <p:nvSpPr>
          <p:cNvPr id="13" name="Shape 13"/>
          <p:cNvSpPr/>
          <p:nvPr/>
        </p:nvSpPr>
        <p:spPr>
          <a:xfrm>
            <a:off x="9040901" y="2267712"/>
            <a:ext cx="2602154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txBody>
          <a:bodyPr wrap="square" lIns="73152" tIns="91440" rIns="73152" bIns="9144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18324A"/>
                </a:solidFill>
              </a:rPr>
              <a:t>The work, in </a:t>
            </a:r>
            <a:r>
              <a:rPr lang="en-US" sz="24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{ }</a:t>
            </a:r>
            <a:endParaRPr lang="en-US" sz="2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return x * x;</a:t>
            </a:r>
            <a:endParaRPr lang="en-US" sz="2400" dirty="0"/>
          </a:p>
        </p:txBody>
      </p:sp>
      <p:sp>
        <p:nvSpPr>
          <p:cNvPr id="14" name="Shape 14"/>
          <p:cNvSpPr/>
          <p:nvPr/>
        </p:nvSpPr>
        <p:spPr>
          <a:xfrm>
            <a:off x="548640" y="5166360"/>
            <a:ext cx="11094415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548640" y="5166360"/>
            <a:ext cx="109728" cy="914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Callout"/>
          <p:cNvSpPr/>
          <p:nvPr/>
        </p:nvSpPr>
        <p:spPr>
          <a:xfrm>
            <a:off x="658368" y="5166360"/>
            <a:ext cx="10984687" cy="9144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lang="en-US" sz="2400" dirty="0">
                <a:solidFill>
                  <a:srgbClr val="18324A"/>
                </a:solidFill>
              </a:rPr>
              <a:t> hands the answer back to whoever called.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The call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20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417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3699002"/>
            <a:ext cx="676656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36990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48640" y="1261872"/>
            <a:ext cx="6766560" cy="4175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#include &lt;stdio.h&gt;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square(int x)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x * x;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int y = square(5);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printf("square(5) = %d\n", y);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printf("square(7) = %d\n", square(7));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</p:txBody>
      </p:sp>
      <p:sp>
        <p:nvSpPr>
          <p:cNvPr id="10" name="Shape 10"/>
          <p:cNvSpPr/>
          <p:nvPr/>
        </p:nvSpPr>
        <p:spPr>
          <a:xfrm>
            <a:off x="7589520" y="1261872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7589520" y="1261872"/>
            <a:ext cx="109728" cy="10515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allout"/>
          <p:cNvSpPr/>
          <p:nvPr/>
        </p:nvSpPr>
        <p:spPr>
          <a:xfrm>
            <a:off x="7699248" y="1261872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square(5)</a:t>
            </a:r>
            <a:r>
              <a:rPr lang="en-US" sz="2400" dirty="0">
                <a:solidFill>
                  <a:srgbClr val="18324A"/>
                </a:solidFill>
              </a:rPr>
              <a:t>: the name, and a value in brackets.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7589520" y="2514600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7589520" y="2514600"/>
            <a:ext cx="109728" cy="10515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allout"/>
          <p:cNvSpPr/>
          <p:nvPr/>
        </p:nvSpPr>
        <p:spPr>
          <a:xfrm>
            <a:off x="7699248" y="2514600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The answer, 25, lands in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y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A call can sit inside printf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21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417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4334002"/>
            <a:ext cx="676656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43340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48640" y="1261872"/>
            <a:ext cx="6766560" cy="4175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#include &lt;stdio.h&gt;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square(int x)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x * x;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int y = square(5);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printf("square(5) = %d\n", y);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printf("square(7) = %d\n", square(7));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</p:txBody>
      </p:sp>
      <p:sp>
        <p:nvSpPr>
          <p:cNvPr id="10" name="Shape 10"/>
          <p:cNvSpPr/>
          <p:nvPr/>
        </p:nvSpPr>
        <p:spPr>
          <a:xfrm>
            <a:off x="7589520" y="1261872"/>
            <a:ext cx="405353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7589520" y="1261872"/>
            <a:ext cx="109728" cy="68580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allout"/>
          <p:cNvSpPr/>
          <p:nvPr/>
        </p:nvSpPr>
        <p:spPr>
          <a:xfrm>
            <a:off x="7699248" y="1261872"/>
            <a:ext cx="394380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square(7)</a:t>
            </a:r>
            <a:r>
              <a:rPr lang="en-US" sz="2400" dirty="0">
                <a:solidFill>
                  <a:srgbClr val="18324A"/>
                </a:solidFill>
              </a:rPr>
              <a:t> becomes 49.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7589520" y="2148840"/>
            <a:ext cx="405353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7589520" y="2148840"/>
            <a:ext cx="109728" cy="68580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allout"/>
          <p:cNvSpPr/>
          <p:nvPr/>
        </p:nvSpPr>
        <p:spPr>
          <a:xfrm>
            <a:off x="7699248" y="2148840"/>
            <a:ext cx="394380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Then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printf</a:t>
            </a:r>
            <a:r>
              <a:rPr lang="en-US" sz="2400" dirty="0">
                <a:solidFill>
                  <a:srgbClr val="18324A"/>
                </a:solidFill>
              </a:rPr>
              <a:t> prints it.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Writing a function does nothing by itself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22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399032"/>
            <a:ext cx="109728" cy="7924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914400" y="1399032"/>
            <a:ext cx="10728655" cy="792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8324A"/>
                </a:solidFill>
              </a:rPr>
              <a:t>It runs only when it is called.</a:t>
            </a:r>
            <a:endParaRPr lang="en-US" sz="4000" dirty="0"/>
          </a:p>
        </p:txBody>
      </p:sp>
      <p:sp>
        <p:nvSpPr>
          <p:cNvPr id="8" name="Shape 8"/>
          <p:cNvSpPr/>
          <p:nvPr/>
        </p:nvSpPr>
        <p:spPr>
          <a:xfrm>
            <a:off x="914400" y="2602992"/>
            <a:ext cx="10728655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int square(int x) { ... }</a:t>
            </a:r>
            <a:r>
              <a:rPr lang="en-US" sz="3000" dirty="0">
                <a:solidFill>
                  <a:srgbClr val="18324A"/>
                </a:solidFill>
              </a:rPr>
              <a:t> is the recipe.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square(5)</a:t>
            </a:r>
            <a:r>
              <a:rPr lang="en-US" sz="3000" dirty="0">
                <a:solidFill>
                  <a:srgbClr val="18324A"/>
                </a:solidFill>
              </a:rPr>
              <a:t> is cooking it, with 5.</a:t>
            </a:r>
            <a:endParaRPr lang="en-US" sz="3000" dirty="0"/>
          </a:p>
        </p:txBody>
      </p:sp>
      <p:sp>
        <p:nvSpPr>
          <p:cNvPr id="9" name="Shape 9"/>
          <p:cNvSpPr/>
          <p:nvPr/>
        </p:nvSpPr>
        <p:spPr>
          <a:xfrm>
            <a:off x="548640" y="5212080"/>
            <a:ext cx="1109441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5212080"/>
            <a:ext cx="109728" cy="105156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Callout"/>
          <p:cNvSpPr/>
          <p:nvPr/>
        </p:nvSpPr>
        <p:spPr>
          <a:xfrm>
            <a:off x="658368" y="5212080"/>
            <a:ext cx="1098468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A program starts in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main</a:t>
            </a:r>
            <a:r>
              <a:rPr lang="en-US" sz="2400" dirty="0">
                <a:solidFill>
                  <a:srgbClr val="18324A"/>
                </a:solidFill>
              </a:rPr>
              <a:t>. A function runs only if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main</a:t>
            </a:r>
            <a:r>
              <a:rPr lang="en-US" sz="2400" dirty="0">
                <a:solidFill>
                  <a:srgbClr val="18324A"/>
                </a:solidFill>
              </a:rPr>
              <a:t> (or another function) calls it.</a:t>
            </a:r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What happens at a call?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23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7315200" cy="417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Code"/>
          <p:cNvSpPr/>
          <p:nvPr/>
        </p:nvSpPr>
        <p:spPr>
          <a:xfrm>
            <a:off x="548640" y="1261872"/>
            <a:ext cx="7315200" cy="4175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square(int x)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printf("  square got %d\n", x);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result = x * x;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printf("  square gives back %d\n", result);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result;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printf("main: before the call\n");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y = square(5);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printf("main: got %d\n", y);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000" dirty="0"/>
          </a:p>
        </p:txBody>
      </p:sp>
      <p:sp>
        <p:nvSpPr>
          <p:cNvPr id="8" name="Shape 8"/>
          <p:cNvSpPr/>
          <p:nvPr/>
        </p:nvSpPr>
        <p:spPr>
          <a:xfrm>
            <a:off x="8138160" y="1261872"/>
            <a:ext cx="3504895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8138160" y="1261872"/>
            <a:ext cx="109728" cy="1783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Callout"/>
          <p:cNvSpPr/>
          <p:nvPr/>
        </p:nvSpPr>
        <p:spPr>
          <a:xfrm>
            <a:off x="8247888" y="1261872"/>
            <a:ext cx="3395167" cy="178308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8324A"/>
                </a:solidFill>
              </a:rPr>
              <a:t>Predict:</a:t>
            </a:r>
            <a:r>
              <a:rPr lang="en-US" sz="2400" dirty="0">
                <a:solidFill>
                  <a:srgbClr val="18324A"/>
                </a:solidFill>
              </a:rPr>
              <a:t> four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printf</a:t>
            </a:r>
            <a:r>
              <a:rPr lang="en-US" sz="2400" dirty="0">
                <a:solidFill>
                  <a:srgbClr val="18324A"/>
                </a:solidFill>
              </a:rPr>
              <a:t> lines. Write them down in the order they appear.</a:t>
            </a:r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Step 1: main starts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24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7315200" cy="417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4016502"/>
            <a:ext cx="731520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40165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48640" y="1261872"/>
            <a:ext cx="7315200" cy="4175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square(int x)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  square got %d\n", x);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int result = x * x;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  square gives back %d\n", result);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result;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printf("main: before the call\n");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int y = square(5);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printf("main: got %d\n", y);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000" dirty="0"/>
          </a:p>
        </p:txBody>
      </p:sp>
      <p:sp>
        <p:nvSpPr>
          <p:cNvPr id="10" name="Shape 10"/>
          <p:cNvSpPr/>
          <p:nvPr/>
        </p:nvSpPr>
        <p:spPr>
          <a:xfrm>
            <a:off x="8138160" y="1261872"/>
            <a:ext cx="350489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1" name="Shape 11"/>
          <p:cNvSpPr/>
          <p:nvPr/>
        </p:nvSpPr>
        <p:spPr>
          <a:xfrm>
            <a:off x="8138160" y="1645920"/>
            <a:ext cx="3504895" cy="6832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8138160" y="1645920"/>
            <a:ext cx="3504895" cy="683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main: before the call</a:t>
            </a:r>
            <a:endParaRPr lang="en-US" sz="2000" dirty="0"/>
          </a:p>
        </p:txBody>
      </p:sp>
      <p:sp>
        <p:nvSpPr>
          <p:cNvPr id="13" name="Shape 13"/>
          <p:cNvSpPr/>
          <p:nvPr/>
        </p:nvSpPr>
        <p:spPr>
          <a:xfrm>
            <a:off x="8138160" y="2603500"/>
            <a:ext cx="350489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8138160" y="2603500"/>
            <a:ext cx="109728" cy="10515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allout"/>
          <p:cNvSpPr/>
          <p:nvPr/>
        </p:nvSpPr>
        <p:spPr>
          <a:xfrm>
            <a:off x="8247888" y="2603500"/>
            <a:ext cx="339516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A program always starts in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main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Step 2: the call jumps into square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25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7315200" cy="417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1476502"/>
            <a:ext cx="731520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14765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4334002"/>
            <a:ext cx="731520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43340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Code"/>
          <p:cNvSpPr/>
          <p:nvPr/>
        </p:nvSpPr>
        <p:spPr>
          <a:xfrm>
            <a:off x="548640" y="1261872"/>
            <a:ext cx="7315200" cy="4175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int square(int x)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  square got %d\n", x);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int result = x * x;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  square gives back %d\n", result);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result;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printf("main: before the call\n");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int y = square(5);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printf("main: got %d\n", y);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000" dirty="0"/>
          </a:p>
        </p:txBody>
      </p:sp>
      <p:sp>
        <p:nvSpPr>
          <p:cNvPr id="12" name="Shape 12"/>
          <p:cNvSpPr/>
          <p:nvPr/>
        </p:nvSpPr>
        <p:spPr>
          <a:xfrm>
            <a:off x="8138160" y="1261872"/>
            <a:ext cx="350489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3" name="Shape 13"/>
          <p:cNvSpPr/>
          <p:nvPr/>
        </p:nvSpPr>
        <p:spPr>
          <a:xfrm>
            <a:off x="8138160" y="1645920"/>
            <a:ext cx="3504895" cy="6832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Code"/>
          <p:cNvSpPr/>
          <p:nvPr/>
        </p:nvSpPr>
        <p:spPr>
          <a:xfrm>
            <a:off x="8138160" y="1645920"/>
            <a:ext cx="3504895" cy="683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main: before the call</a:t>
            </a:r>
            <a:endParaRPr lang="en-US" sz="2000" dirty="0"/>
          </a:p>
        </p:txBody>
      </p:sp>
      <p:sp>
        <p:nvSpPr>
          <p:cNvPr id="15" name="Shape 15"/>
          <p:cNvSpPr/>
          <p:nvPr/>
        </p:nvSpPr>
        <p:spPr>
          <a:xfrm>
            <a:off x="8138160" y="2603500"/>
            <a:ext cx="350489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Shape 16"/>
          <p:cNvSpPr/>
          <p:nvPr/>
        </p:nvSpPr>
        <p:spPr>
          <a:xfrm>
            <a:off x="8138160" y="2603500"/>
            <a:ext cx="109728" cy="68580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Callout"/>
          <p:cNvSpPr/>
          <p:nvPr/>
        </p:nvSpPr>
        <p:spPr>
          <a:xfrm>
            <a:off x="8247888" y="2603500"/>
            <a:ext cx="339516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x</a:t>
            </a:r>
            <a:r>
              <a:rPr lang="en-US" sz="2400" dirty="0">
                <a:solidFill>
                  <a:srgbClr val="18324A"/>
                </a:solidFill>
              </a:rPr>
              <a:t> gets a </a:t>
            </a:r>
            <a:r>
              <a:rPr lang="en-US" sz="2400" b="1" dirty="0">
                <a:solidFill>
                  <a:srgbClr val="18324A"/>
                </a:solidFill>
              </a:rPr>
              <a:t>copy</a:t>
            </a:r>
            <a:r>
              <a:rPr lang="en-US" sz="2400" dirty="0">
                <a:solidFill>
                  <a:srgbClr val="18324A"/>
                </a:solidFill>
              </a:rPr>
              <a:t> of 5.</a:t>
            </a:r>
            <a:endParaRPr 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Step 3: the body of square runs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26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7315200" cy="417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1794002"/>
            <a:ext cx="731520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17940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2111502"/>
            <a:ext cx="731520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21115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2429002"/>
            <a:ext cx="731520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48640" y="24290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Code"/>
          <p:cNvSpPr/>
          <p:nvPr/>
        </p:nvSpPr>
        <p:spPr>
          <a:xfrm>
            <a:off x="548640" y="1261872"/>
            <a:ext cx="7315200" cy="4175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square(int x)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printf("  square got %d\n", x);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int result = x * x;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printf("  square gives back %d\n", result);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result;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printf("main: before the call\n");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int y = square(5);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printf("main: got %d\n", y);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000" dirty="0"/>
          </a:p>
        </p:txBody>
      </p:sp>
      <p:sp>
        <p:nvSpPr>
          <p:cNvPr id="14" name="Shape 14"/>
          <p:cNvSpPr/>
          <p:nvPr/>
        </p:nvSpPr>
        <p:spPr>
          <a:xfrm>
            <a:off x="8138160" y="1261872"/>
            <a:ext cx="350489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5" name="Shape 15"/>
          <p:cNvSpPr/>
          <p:nvPr/>
        </p:nvSpPr>
        <p:spPr>
          <a:xfrm>
            <a:off x="8138160" y="1645920"/>
            <a:ext cx="3504895" cy="13182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Code"/>
          <p:cNvSpPr/>
          <p:nvPr/>
        </p:nvSpPr>
        <p:spPr>
          <a:xfrm>
            <a:off x="8138160" y="1645920"/>
            <a:ext cx="3504895" cy="1318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main: before the call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  square got 5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  square gives back 25</a:t>
            </a:r>
            <a:endParaRPr lang="en-US" sz="2000" dirty="0"/>
          </a:p>
        </p:txBody>
      </p:sp>
      <p:sp>
        <p:nvSpPr>
          <p:cNvPr id="17" name="Shape 17"/>
          <p:cNvSpPr/>
          <p:nvPr/>
        </p:nvSpPr>
        <p:spPr>
          <a:xfrm>
            <a:off x="8138160" y="3238500"/>
            <a:ext cx="350489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Shape 18"/>
          <p:cNvSpPr/>
          <p:nvPr/>
        </p:nvSpPr>
        <p:spPr>
          <a:xfrm>
            <a:off x="8138160" y="3238500"/>
            <a:ext cx="109728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9" name="Callout"/>
          <p:cNvSpPr/>
          <p:nvPr/>
        </p:nvSpPr>
        <p:spPr>
          <a:xfrm>
            <a:off x="8247888" y="3238500"/>
            <a:ext cx="339516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main</a:t>
            </a:r>
            <a:r>
              <a:rPr lang="en-US" sz="2400" dirty="0">
                <a:solidFill>
                  <a:srgbClr val="18324A"/>
                </a:solidFill>
              </a:rPr>
              <a:t> waits.</a:t>
            </a:r>
            <a:endParaRPr lang="en-US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Step 4: return jumps back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27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7315200" cy="417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2746502"/>
            <a:ext cx="731520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27465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4334002"/>
            <a:ext cx="731520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43340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Code"/>
          <p:cNvSpPr/>
          <p:nvPr/>
        </p:nvSpPr>
        <p:spPr>
          <a:xfrm>
            <a:off x="548640" y="1261872"/>
            <a:ext cx="7315200" cy="4175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square(int x)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  square got %d\n", x);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int result = x * x;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  square gives back %d\n", result);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result;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printf("main: before the call\n");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int y = square(5);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printf("main: got %d\n", y);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000" dirty="0"/>
          </a:p>
        </p:txBody>
      </p:sp>
      <p:sp>
        <p:nvSpPr>
          <p:cNvPr id="12" name="Shape 12"/>
          <p:cNvSpPr/>
          <p:nvPr/>
        </p:nvSpPr>
        <p:spPr>
          <a:xfrm>
            <a:off x="8138160" y="1261872"/>
            <a:ext cx="350489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3" name="Shape 13"/>
          <p:cNvSpPr/>
          <p:nvPr/>
        </p:nvSpPr>
        <p:spPr>
          <a:xfrm>
            <a:off x="8138160" y="1645920"/>
            <a:ext cx="3504895" cy="13182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Code"/>
          <p:cNvSpPr/>
          <p:nvPr/>
        </p:nvSpPr>
        <p:spPr>
          <a:xfrm>
            <a:off x="8138160" y="1645920"/>
            <a:ext cx="3504895" cy="1318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main: before the call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  square got 5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  square gives back 25</a:t>
            </a:r>
            <a:endParaRPr lang="en-US" sz="2000" dirty="0"/>
          </a:p>
        </p:txBody>
      </p:sp>
      <p:sp>
        <p:nvSpPr>
          <p:cNvPr id="15" name="Shape 15"/>
          <p:cNvSpPr/>
          <p:nvPr/>
        </p:nvSpPr>
        <p:spPr>
          <a:xfrm>
            <a:off x="8138160" y="3238500"/>
            <a:ext cx="350489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Shape 16"/>
          <p:cNvSpPr/>
          <p:nvPr/>
        </p:nvSpPr>
        <p:spPr>
          <a:xfrm>
            <a:off x="8138160" y="3238500"/>
            <a:ext cx="109728" cy="1051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Callout"/>
          <p:cNvSpPr/>
          <p:nvPr/>
        </p:nvSpPr>
        <p:spPr>
          <a:xfrm>
            <a:off x="8247888" y="3238500"/>
            <a:ext cx="339516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The call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square(5)</a:t>
            </a:r>
            <a:r>
              <a:rPr lang="en-US" sz="2400" dirty="0">
                <a:solidFill>
                  <a:srgbClr val="18324A"/>
                </a:solidFill>
              </a:rPr>
              <a:t> is </a:t>
            </a:r>
            <a:r>
              <a:rPr lang="en-US" sz="2400" b="1" dirty="0">
                <a:solidFill>
                  <a:srgbClr val="18324A"/>
                </a:solidFill>
              </a:rPr>
              <a:t>replaced</a:t>
            </a:r>
            <a:r>
              <a:rPr lang="en-US" sz="2400" dirty="0">
                <a:solidFill>
                  <a:srgbClr val="18324A"/>
                </a:solidFill>
              </a:rPr>
              <a:t> by 25.</a:t>
            </a:r>
            <a:endParaRPr lang="en-US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Step 5: main goes on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28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7315200" cy="417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4651502"/>
            <a:ext cx="731520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46515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48640" y="1261872"/>
            <a:ext cx="7315200" cy="4175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square(int x)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  square got %d\n", x);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int result = x * x;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  square gives back %d\n", result);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result;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printf("main: before the call\n");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int y = square(5);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printf("main: got %d\n", y);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000" dirty="0"/>
          </a:p>
        </p:txBody>
      </p:sp>
      <p:sp>
        <p:nvSpPr>
          <p:cNvPr id="10" name="Shape 10"/>
          <p:cNvSpPr/>
          <p:nvPr/>
        </p:nvSpPr>
        <p:spPr>
          <a:xfrm>
            <a:off x="8138160" y="1261872"/>
            <a:ext cx="350489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1" name="Shape 11"/>
          <p:cNvSpPr/>
          <p:nvPr/>
        </p:nvSpPr>
        <p:spPr>
          <a:xfrm>
            <a:off x="8138160" y="1645920"/>
            <a:ext cx="3504895" cy="163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8138160" y="1645920"/>
            <a:ext cx="3504895" cy="1635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main: before the call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  square got 5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  square gives back 25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main: got 25</a:t>
            </a:r>
            <a:endParaRPr lang="en-US" sz="2000" dirty="0"/>
          </a:p>
        </p:txBody>
      </p:sp>
      <p:sp>
        <p:nvSpPr>
          <p:cNvPr id="13" name="Shape 13"/>
          <p:cNvSpPr/>
          <p:nvPr/>
        </p:nvSpPr>
        <p:spPr>
          <a:xfrm>
            <a:off x="8138160" y="3556000"/>
            <a:ext cx="350489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8138160" y="3556000"/>
            <a:ext cx="109728" cy="6858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allout"/>
          <p:cNvSpPr/>
          <p:nvPr/>
        </p:nvSpPr>
        <p:spPr>
          <a:xfrm>
            <a:off x="8247888" y="3556000"/>
            <a:ext cx="339516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y</a:t>
            </a:r>
            <a:r>
              <a:rPr lang="en-US" sz="2400" dirty="0">
                <a:solidFill>
                  <a:srgbClr val="18324A"/>
                </a:solidFill>
              </a:rPr>
              <a:t> is 25.</a:t>
            </a:r>
            <a:endParaRPr 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A call, in four steps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29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731520" y="1307592"/>
            <a:ext cx="640080" cy="6400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Shape 7"/>
          <p:cNvSpPr/>
          <p:nvPr/>
        </p:nvSpPr>
        <p:spPr>
          <a:xfrm>
            <a:off x="1691640" y="13075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The value in brackets is </a:t>
            </a:r>
            <a:r>
              <a:rPr lang="en-US" sz="2800" b="1" dirty="0">
                <a:solidFill>
                  <a:srgbClr val="18324A"/>
                </a:solidFill>
              </a:rPr>
              <a:t>copied</a:t>
            </a:r>
            <a:r>
              <a:rPr lang="en-US" sz="2800" dirty="0">
                <a:solidFill>
                  <a:srgbClr val="18324A"/>
                </a:solidFill>
              </a:rPr>
              <a:t> into the parameter</a:t>
            </a:r>
            <a:endParaRPr lang="en-US" sz="2800" dirty="0"/>
          </a:p>
        </p:txBody>
      </p:sp>
      <p:sp>
        <p:nvSpPr>
          <p:cNvPr id="8" name="Shape 8"/>
          <p:cNvSpPr/>
          <p:nvPr/>
        </p:nvSpPr>
        <p:spPr>
          <a:xfrm>
            <a:off x="731520" y="2221992"/>
            <a:ext cx="640080" cy="64008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1691640" y="22219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The body of the function runs; the caller waits</a:t>
            </a:r>
            <a:endParaRPr lang="en-US" sz="2800" dirty="0"/>
          </a:p>
        </p:txBody>
      </p:sp>
      <p:sp>
        <p:nvSpPr>
          <p:cNvPr id="10" name="Shape 10"/>
          <p:cNvSpPr/>
          <p:nvPr/>
        </p:nvSpPr>
        <p:spPr>
          <a:xfrm>
            <a:off x="731520" y="3136392"/>
            <a:ext cx="64008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Shape 11"/>
          <p:cNvSpPr/>
          <p:nvPr/>
        </p:nvSpPr>
        <p:spPr>
          <a:xfrm>
            <a:off x="1691640" y="31363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lang="en-US" sz="2800" dirty="0">
                <a:solidFill>
                  <a:srgbClr val="18324A"/>
                </a:solidFill>
              </a:rPr>
              <a:t> sends </a:t>
            </a:r>
            <a:r>
              <a:rPr lang="en-US" sz="2800" b="1" dirty="0">
                <a:solidFill>
                  <a:srgbClr val="18324A"/>
                </a:solidFill>
              </a:rPr>
              <a:t>one</a:t>
            </a:r>
            <a:r>
              <a:rPr lang="en-US" sz="2800" dirty="0">
                <a:solidFill>
                  <a:srgbClr val="18324A"/>
                </a:solidFill>
              </a:rPr>
              <a:t> value back</a:t>
            </a:r>
            <a:endParaRPr lang="en-US" sz="2800" dirty="0"/>
          </a:p>
        </p:txBody>
      </p:sp>
      <p:sp>
        <p:nvSpPr>
          <p:cNvPr id="12" name="Shape 12"/>
          <p:cNvSpPr/>
          <p:nvPr/>
        </p:nvSpPr>
        <p:spPr>
          <a:xfrm>
            <a:off x="731520" y="4050792"/>
            <a:ext cx="640080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1691640" y="40507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The call is </a:t>
            </a:r>
            <a:r>
              <a:rPr lang="en-US" sz="2800" b="1" dirty="0">
                <a:solidFill>
                  <a:srgbClr val="18324A"/>
                </a:solidFill>
              </a:rPr>
              <a:t>replaced</a:t>
            </a:r>
            <a:r>
              <a:rPr lang="en-US" sz="2800" dirty="0">
                <a:solidFill>
                  <a:srgbClr val="18324A"/>
                </a:solidFill>
              </a:rPr>
              <a:t> by that value, and the caller goes on</a:t>
            </a:r>
            <a:endParaRPr lang="en-US" sz="2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Predict: calls inside calls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30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PREDICT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4937760" cy="213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square</a:t>
            </a:r>
            <a:r>
              <a:rPr lang="en-US" sz="3200" dirty="0">
                <a:solidFill>
                  <a:srgbClr val="18324A"/>
                </a:solidFill>
              </a:rPr>
              <a:t> is the same function.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What are the three lines?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760720" y="1261872"/>
            <a:ext cx="5882335" cy="163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760720" y="1261872"/>
            <a:ext cx="5882335" cy="1635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a = 3;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printf("%d\n", square(a) + square(4));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printf("%d\n", square(square(2)));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printf("%d\n", square(a + 1));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Predict: calls inside calls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31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PREDICT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4937760" cy="213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square</a:t>
            </a:r>
            <a:r>
              <a:rPr lang="en-US" sz="3200" dirty="0">
                <a:solidFill>
                  <a:srgbClr val="18324A"/>
                </a:solidFill>
              </a:rPr>
              <a:t> is the same function.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What are the three lines?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760720" y="1261872"/>
            <a:ext cx="5882335" cy="163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760720" y="1261872"/>
            <a:ext cx="5882335" cy="1635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a = 3;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printf("%d\n", square(a) + square(4));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printf("%d\n", square(square(2)));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printf("%d\n", square(a + 1));</a:t>
            </a:r>
            <a:endParaRPr lang="en-US" sz="2000" dirty="0"/>
          </a:p>
        </p:txBody>
      </p:sp>
      <p:sp>
        <p:nvSpPr>
          <p:cNvPr id="10" name="Shape 10"/>
          <p:cNvSpPr/>
          <p:nvPr/>
        </p:nvSpPr>
        <p:spPr>
          <a:xfrm>
            <a:off x="548640" y="3855720"/>
            <a:ext cx="4937760" cy="240792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3855720"/>
            <a:ext cx="109728" cy="240792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allout"/>
          <p:cNvSpPr/>
          <p:nvPr/>
        </p:nvSpPr>
        <p:spPr>
          <a:xfrm>
            <a:off x="658368" y="3855720"/>
            <a:ext cx="4828032" cy="240792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1C48D"/>
                </a:solidFill>
              </a:rPr>
              <a:t>ANSWER</a:t>
            </a:r>
            <a:endParaRPr lang="en-US" sz="1400" dirty="0"/>
          </a:p>
          <a:p>
            <a:pPr marL="0" indent="0" algn="l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25</a:t>
            </a:r>
            <a:r>
              <a:rPr lang="en-US" sz="2600" dirty="0">
                <a:solidFill>
                  <a:srgbClr val="18324A"/>
                </a:solidFill>
              </a:rPr>
              <a:t>: 9 + 16</a:t>
            </a:r>
            <a:endParaRPr lang="en-US" sz="2600" dirty="0"/>
          </a:p>
          <a:p>
            <a:pPr marL="0" indent="0" algn="l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16</a:t>
            </a:r>
            <a:r>
              <a:rPr lang="en-US" sz="2600" dirty="0">
                <a:solidFill>
                  <a:srgbClr val="18324A"/>
                </a:solidFill>
              </a:rPr>
              <a:t>: </a:t>
            </a: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square(2)</a:t>
            </a:r>
            <a:r>
              <a:rPr lang="en-US" sz="2600" dirty="0">
                <a:solidFill>
                  <a:srgbClr val="18324A"/>
                </a:solidFill>
              </a:rPr>
              <a:t> is 4, then </a:t>
            </a: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square(4)</a:t>
            </a:r>
            <a:endParaRPr lang="en-US" sz="2600" dirty="0"/>
          </a:p>
          <a:p>
            <a:pPr marL="0" indent="0" algn="l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16</a:t>
            </a:r>
            <a:r>
              <a:rPr lang="en-US" sz="2600" dirty="0">
                <a:solidFill>
                  <a:srgbClr val="18324A"/>
                </a:solidFill>
              </a:rPr>
              <a:t>: </a:t>
            </a: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a + 1</a:t>
            </a:r>
            <a:r>
              <a:rPr lang="en-US" sz="2600" dirty="0">
                <a:solidFill>
                  <a:srgbClr val="18324A"/>
                </a:solidFill>
              </a:rPr>
              <a:t> is 4 first</a:t>
            </a:r>
            <a:endParaRPr lang="en-US" sz="2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Predict: square below main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32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CAREFUL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4937760" cy="213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The same program.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But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square</a:t>
            </a:r>
            <a:r>
              <a:rPr lang="en-US" sz="3200" dirty="0">
                <a:solidFill>
                  <a:srgbClr val="18324A"/>
                </a:solidFill>
              </a:rPr>
              <a:t> is written </a:t>
            </a:r>
            <a:r>
              <a:rPr lang="en-US" sz="3200" b="1" dirty="0">
                <a:solidFill>
                  <a:srgbClr val="18324A"/>
                </a:solidFill>
              </a:rPr>
              <a:t>below</a:t>
            </a:r>
            <a:r>
              <a:rPr lang="en-US" sz="3200" dirty="0">
                <a:solidFill>
                  <a:srgbClr val="18324A"/>
                </a:solidFill>
              </a:rPr>
              <a:t>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main</a:t>
            </a:r>
            <a:r>
              <a:rPr lang="en-US" sz="3200" dirty="0">
                <a:solidFill>
                  <a:srgbClr val="18324A"/>
                </a:solidFill>
              </a:rPr>
              <a:t>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What happens?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760720" y="1261872"/>
            <a:ext cx="5882335" cy="490601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760720" y="1261872"/>
            <a:ext cx="5882335" cy="49060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#include &lt;stdio.h&gt;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y = square(5);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printf("%d\n", y);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square(int x) {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x * x;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gcc stops: it has not met square yet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33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490601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2724277"/>
            <a:ext cx="6766560" cy="4127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2724277"/>
            <a:ext cx="82296" cy="412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48640" y="1261872"/>
            <a:ext cx="6766560" cy="49060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#include &lt;stdio.h&gt;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int y = square(5);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printf("%d\n", y);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square(int x) {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x * x;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600" dirty="0"/>
          </a:p>
        </p:txBody>
      </p:sp>
      <p:sp>
        <p:nvSpPr>
          <p:cNvPr id="10" name="Shape 10"/>
          <p:cNvSpPr/>
          <p:nvPr/>
        </p:nvSpPr>
        <p:spPr>
          <a:xfrm>
            <a:off x="7589520" y="1261872"/>
            <a:ext cx="40535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gcc 16.2 says</a:t>
            </a:r>
            <a:endParaRPr lang="en-US" sz="1600" dirty="0"/>
          </a:p>
        </p:txBody>
      </p:sp>
      <p:sp>
        <p:nvSpPr>
          <p:cNvPr id="11" name="Shape 11"/>
          <p:cNvSpPr/>
          <p:nvPr/>
        </p:nvSpPr>
        <p:spPr>
          <a:xfrm>
            <a:off x="7589520" y="1645920"/>
            <a:ext cx="4053535" cy="1508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7589520" y="1645920"/>
            <a:ext cx="4053535" cy="1508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error: implicit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declaration of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function 'square'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7589520" y="3429000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6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7589520" y="3429000"/>
            <a:ext cx="109728" cy="10515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allout"/>
          <p:cNvSpPr/>
          <p:nvPr/>
        </p:nvSpPr>
        <p:spPr>
          <a:xfrm>
            <a:off x="7699248" y="3429000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gcc reads from the </a:t>
            </a:r>
            <a:r>
              <a:rPr lang="en-US" sz="2400" b="1" dirty="0">
                <a:solidFill>
                  <a:srgbClr val="18324A"/>
                </a:solidFill>
              </a:rPr>
              <a:t>top down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  <p:sp>
        <p:nvSpPr>
          <p:cNvPr id="16" name="Shape 16"/>
          <p:cNvSpPr/>
          <p:nvPr/>
        </p:nvSpPr>
        <p:spPr>
          <a:xfrm>
            <a:off x="7589520" y="4681728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6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7589520" y="4681728"/>
            <a:ext cx="109728" cy="10515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Callout"/>
          <p:cNvSpPr/>
          <p:nvPr/>
        </p:nvSpPr>
        <p:spPr>
          <a:xfrm>
            <a:off x="7699248" y="4681728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At this line it has never heard of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square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Fix 1: the function above main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34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417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2111502"/>
            <a:ext cx="676656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21115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2429002"/>
            <a:ext cx="676656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24290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2746502"/>
            <a:ext cx="676656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48640" y="27465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Code"/>
          <p:cNvSpPr/>
          <p:nvPr/>
        </p:nvSpPr>
        <p:spPr>
          <a:xfrm>
            <a:off x="548640" y="1261872"/>
            <a:ext cx="6766560" cy="4175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#include &lt;stdio.h&gt;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int square(int x)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x * x;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int y = square(5);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printf("square(5) = %d\n", y);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printf("square(7) = %d\n", square(7));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</p:txBody>
      </p:sp>
      <p:sp>
        <p:nvSpPr>
          <p:cNvPr id="14" name="Shape 14"/>
          <p:cNvSpPr/>
          <p:nvPr/>
        </p:nvSpPr>
        <p:spPr>
          <a:xfrm>
            <a:off x="7589520" y="1261872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7589520" y="1261872"/>
            <a:ext cx="109728" cy="105156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Callout"/>
          <p:cNvSpPr/>
          <p:nvPr/>
        </p:nvSpPr>
        <p:spPr>
          <a:xfrm>
            <a:off x="7699248" y="1261872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Define first. Use later.</a:t>
            </a:r>
            <a:endParaRPr lang="en-US" sz="2400" dirty="0"/>
          </a:p>
        </p:txBody>
      </p:sp>
      <p:sp>
        <p:nvSpPr>
          <p:cNvPr id="17" name="Shape 17"/>
          <p:cNvSpPr/>
          <p:nvPr/>
        </p:nvSpPr>
        <p:spPr>
          <a:xfrm>
            <a:off x="7589520" y="2514600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Shape 18"/>
          <p:cNvSpPr/>
          <p:nvPr/>
        </p:nvSpPr>
        <p:spPr>
          <a:xfrm>
            <a:off x="7589520" y="2514600"/>
            <a:ext cx="109728" cy="10515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9" name="Callout"/>
          <p:cNvSpPr/>
          <p:nvPr/>
        </p:nvSpPr>
        <p:spPr>
          <a:xfrm>
            <a:off x="7699248" y="2514600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In this course: the </a:t>
            </a:r>
            <a:r>
              <a:rPr lang="en-US" sz="2400" b="1" dirty="0">
                <a:solidFill>
                  <a:srgbClr val="18324A"/>
                </a:solidFill>
              </a:rPr>
              <a:t>whole function</a:t>
            </a:r>
            <a:r>
              <a:rPr lang="en-US" sz="2400" dirty="0">
                <a:solidFill>
                  <a:srgbClr val="18324A"/>
                </a:solidFill>
              </a:rPr>
              <a:t> above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main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Fix 2: a prototype above main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35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490601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2178177"/>
            <a:ext cx="676656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217817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48640" y="1261872"/>
            <a:ext cx="6766560" cy="49060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#include &lt;stdio.h&gt;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int square(int x);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int y = square(5);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printf("%d\n", y);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square(int x)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x * x;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</p:txBody>
      </p:sp>
      <p:sp>
        <p:nvSpPr>
          <p:cNvPr id="10" name="Shape 10"/>
          <p:cNvSpPr/>
          <p:nvPr/>
        </p:nvSpPr>
        <p:spPr>
          <a:xfrm>
            <a:off x="7589520" y="1261872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7589520" y="1261872"/>
            <a:ext cx="109728" cy="105156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allout"/>
          <p:cNvSpPr/>
          <p:nvPr/>
        </p:nvSpPr>
        <p:spPr>
          <a:xfrm>
            <a:off x="7699248" y="1261872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The first line of the function, with a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;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7589520" y="2514600"/>
            <a:ext cx="4053535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7589520" y="2514600"/>
            <a:ext cx="109728" cy="141732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allout"/>
          <p:cNvSpPr/>
          <p:nvPr/>
        </p:nvSpPr>
        <p:spPr>
          <a:xfrm>
            <a:off x="7699248" y="2514600"/>
            <a:ext cx="3943807" cy="141732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It tells gcc: this function exists. Its body comes later.</a:t>
            </a:r>
            <a:endParaRPr lang="en-US" sz="2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31520" y="2011680"/>
            <a:ext cx="1188720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3</a:t>
            </a:r>
            <a:endParaRPr lang="en-US" sz="5400" dirty="0"/>
          </a:p>
        </p:txBody>
      </p:sp>
      <p:sp>
        <p:nvSpPr>
          <p:cNvPr id="3" name="Shape 3"/>
          <p:cNvSpPr/>
          <p:nvPr/>
        </p:nvSpPr>
        <p:spPr>
          <a:xfrm>
            <a:off x="2286000" y="1920240"/>
            <a:ext cx="932688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Parameters, </a:t>
            </a:r>
            <a:r>
              <a:rPr lang="en-US" sz="4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void</a:t>
            </a:r>
            <a:r>
              <a:rPr lang="en-US" sz="4800" b="1" dirty="0">
                <a:solidFill>
                  <a:srgbClr val="FFFFFF"/>
                </a:solidFill>
              </a:rPr>
              <a:t> and </a:t>
            </a:r>
            <a:r>
              <a:rPr lang="en-US" sz="4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return</a:t>
            </a:r>
            <a:endParaRPr lang="en-US" sz="4800" dirty="0"/>
          </a:p>
        </p:txBody>
      </p:sp>
      <p:sp>
        <p:nvSpPr>
          <p:cNvPr id="4" name="Shape 4"/>
          <p:cNvSpPr/>
          <p:nvPr/>
        </p:nvSpPr>
        <p:spPr>
          <a:xfrm>
            <a:off x="2286000" y="3474720"/>
            <a:ext cx="93268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D7E3F0"/>
                </a:solidFill>
              </a:rPr>
              <a:t>More values in, no answer out, an answer early</a:t>
            </a:r>
            <a:endParaRPr lang="en-US" sz="2600" dirty="0"/>
          </a:p>
        </p:txBody>
      </p:sp>
      <p:sp>
        <p:nvSpPr>
          <p:cNvPr id="5" name="Shape 5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7E3F0"/>
                </a:solidFill>
              </a:rPr>
              <a:t>CSCI 1101 · Programming Principles I · Class 7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Two parameters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37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43662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1489202"/>
            <a:ext cx="6766560" cy="444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1489202"/>
            <a:ext cx="82296" cy="444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48640" y="1261872"/>
            <a:ext cx="6766560" cy="4366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int add(int a, int b) {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a + b;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printf("%d\n", add(2, 3));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printf("%d\n", add(10, 20));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800" dirty="0"/>
          </a:p>
        </p:txBody>
      </p:sp>
      <p:sp>
        <p:nvSpPr>
          <p:cNvPr id="10" name="Shape 10"/>
          <p:cNvSpPr/>
          <p:nvPr/>
        </p:nvSpPr>
        <p:spPr>
          <a:xfrm>
            <a:off x="7589520" y="1261872"/>
            <a:ext cx="40535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1" name="Shape 11"/>
          <p:cNvSpPr/>
          <p:nvPr/>
        </p:nvSpPr>
        <p:spPr>
          <a:xfrm>
            <a:off x="7589520" y="1645920"/>
            <a:ext cx="4053535" cy="1127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7589520" y="1645920"/>
            <a:ext cx="4053535" cy="1127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5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30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7589520" y="3048000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7589520" y="3048000"/>
            <a:ext cx="109728" cy="10515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allout"/>
          <p:cNvSpPr/>
          <p:nvPr/>
        </p:nvSpPr>
        <p:spPr>
          <a:xfrm>
            <a:off x="7699248" y="3048000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Values are matched by </a:t>
            </a:r>
            <a:r>
              <a:rPr lang="en-US" sz="2400" b="1" dirty="0">
                <a:solidFill>
                  <a:srgbClr val="18324A"/>
                </a:solidFill>
              </a:rPr>
              <a:t>position</a:t>
            </a:r>
            <a:r>
              <a:rPr lang="en-US" sz="2400" dirty="0">
                <a:solidFill>
                  <a:srgbClr val="18324A"/>
                </a:solidFill>
              </a:rPr>
              <a:t>:</a:t>
            </a:r>
            <a:endParaRPr lang="en-US" sz="2400" dirty="0"/>
          </a:p>
        </p:txBody>
      </p:sp>
      <p:sp>
        <p:nvSpPr>
          <p:cNvPr id="16" name="Shape 16"/>
          <p:cNvSpPr/>
          <p:nvPr/>
        </p:nvSpPr>
        <p:spPr>
          <a:xfrm>
            <a:off x="7589520" y="4300728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7589520" y="4300728"/>
            <a:ext cx="109728" cy="10515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Callout"/>
          <p:cNvSpPr/>
          <p:nvPr/>
        </p:nvSpPr>
        <p:spPr>
          <a:xfrm>
            <a:off x="7699248" y="4300728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the first to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a</a:t>
            </a:r>
            <a:r>
              <a:rPr lang="en-US" sz="2400" dirty="0">
                <a:solidFill>
                  <a:srgbClr val="18324A"/>
                </a:solidFill>
              </a:rPr>
              <a:t>, the second to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b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Predict: the order of the values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38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PREDICT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493776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power(base, exp)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What is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power(2, 3)</a:t>
            </a:r>
            <a:r>
              <a:rPr lang="en-US" sz="3200" dirty="0">
                <a:solidFill>
                  <a:srgbClr val="18324A"/>
                </a:solidFill>
              </a:rPr>
              <a:t>?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And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power(3, 2)</a:t>
            </a:r>
            <a:r>
              <a:rPr lang="en-US" sz="3200" dirty="0">
                <a:solidFill>
                  <a:srgbClr val="18324A"/>
                </a:solidFill>
              </a:rPr>
              <a:t>?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760720" y="1261872"/>
            <a:ext cx="5882335" cy="25882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760720" y="1261872"/>
            <a:ext cx="5882335" cy="2588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power(int base, int exp)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result = 1;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for (int i = 1; i &lt;= exp; i++)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result *= base;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result;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The order matters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39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7772400" cy="4556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4622927"/>
            <a:ext cx="777240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462292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4972177"/>
            <a:ext cx="777240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497217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Code"/>
          <p:cNvSpPr/>
          <p:nvPr/>
        </p:nvSpPr>
        <p:spPr>
          <a:xfrm>
            <a:off x="548640" y="1261872"/>
            <a:ext cx="7772400" cy="4556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power(int base, int exp)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int result = 1;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for (int i = 1; i &lt;= exp; i++)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result *= base;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result;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printf("power(2, 3) = %d\n", power(2, 3));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printf("power(3, 2) = %d\n", power(3, 2));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printf("power(10, 0) = %d\n", power(10, 0));</a:t>
            </a:r>
            <a:endParaRPr lang="en-US" sz="2200" dirty="0"/>
          </a:p>
        </p:txBody>
      </p:sp>
      <p:sp>
        <p:nvSpPr>
          <p:cNvPr id="12" name="Shape 12"/>
          <p:cNvSpPr/>
          <p:nvPr/>
        </p:nvSpPr>
        <p:spPr>
          <a:xfrm>
            <a:off x="8595360" y="1261872"/>
            <a:ext cx="304769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3" name="Shape 13"/>
          <p:cNvSpPr/>
          <p:nvPr/>
        </p:nvSpPr>
        <p:spPr>
          <a:xfrm>
            <a:off x="8595360" y="1645920"/>
            <a:ext cx="3047695" cy="141351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Code"/>
          <p:cNvSpPr/>
          <p:nvPr/>
        </p:nvSpPr>
        <p:spPr>
          <a:xfrm>
            <a:off x="8595360" y="1645920"/>
            <a:ext cx="3047695" cy="14135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power(2, 3) = 8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power(3, 2) = 9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power(10, 0) = 1</a:t>
            </a:r>
            <a:endParaRPr lang="en-US" sz="2200" dirty="0"/>
          </a:p>
        </p:txBody>
      </p:sp>
      <p:sp>
        <p:nvSpPr>
          <p:cNvPr id="15" name="Shape 15"/>
          <p:cNvSpPr/>
          <p:nvPr/>
        </p:nvSpPr>
        <p:spPr>
          <a:xfrm>
            <a:off x="8595360" y="3333750"/>
            <a:ext cx="304769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Shape 16"/>
          <p:cNvSpPr/>
          <p:nvPr/>
        </p:nvSpPr>
        <p:spPr>
          <a:xfrm>
            <a:off x="8595360" y="3333750"/>
            <a:ext cx="109728" cy="6858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Callout"/>
          <p:cNvSpPr/>
          <p:nvPr/>
        </p:nvSpPr>
        <p:spPr>
          <a:xfrm>
            <a:off x="8705088" y="3333750"/>
            <a:ext cx="293796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2 × 2 × 2 = 8</a:t>
            </a:r>
            <a:endParaRPr lang="en-US" sz="2400" dirty="0"/>
          </a:p>
        </p:txBody>
      </p:sp>
      <p:sp>
        <p:nvSpPr>
          <p:cNvPr id="18" name="Shape 18"/>
          <p:cNvSpPr/>
          <p:nvPr/>
        </p:nvSpPr>
        <p:spPr>
          <a:xfrm>
            <a:off x="8595360" y="4220718"/>
            <a:ext cx="304769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8595360" y="4220718"/>
            <a:ext cx="109728" cy="685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0" name="Callout"/>
          <p:cNvSpPr/>
          <p:nvPr/>
        </p:nvSpPr>
        <p:spPr>
          <a:xfrm>
            <a:off x="8705088" y="4220718"/>
            <a:ext cx="293796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3 × 3 = 9</a:t>
            </a:r>
            <a:endParaRPr lang="en-US" sz="2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A loop inside a function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40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399032"/>
            <a:ext cx="109728" cy="7924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914400" y="1399032"/>
            <a:ext cx="10728655" cy="792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6B6D4"/>
                </a:solidFill>
                <a:latin typeface="Consolas"/>
                <a:ea typeface="Consolas"/>
                <a:cs typeface="Consolas"/>
              </a:rPr>
              <a:t>power</a:t>
            </a:r>
            <a:r>
              <a:rPr lang="en-US" sz="4000" b="1" dirty="0">
                <a:solidFill>
                  <a:srgbClr val="18324A"/>
                </a:solidFill>
              </a:rPr>
              <a:t> has its own loop and its own </a:t>
            </a:r>
            <a:r>
              <a:rPr lang="en-US" sz="4000" b="1" dirty="0">
                <a:solidFill>
                  <a:srgbClr val="06B6D4"/>
                </a:solidFill>
                <a:latin typeface="Consolas"/>
                <a:ea typeface="Consolas"/>
                <a:cs typeface="Consolas"/>
              </a:rPr>
              <a:t>result</a:t>
            </a:r>
            <a:r>
              <a:rPr lang="en-US" sz="4000" b="1" dirty="0">
                <a:solidFill>
                  <a:srgbClr val="18324A"/>
                </a:solidFill>
              </a:rPr>
              <a:t>.</a:t>
            </a:r>
            <a:endParaRPr lang="en-US" sz="4000" dirty="0"/>
          </a:p>
        </p:txBody>
      </p:sp>
      <p:sp>
        <p:nvSpPr>
          <p:cNvPr id="8" name="Shape 8"/>
          <p:cNvSpPr/>
          <p:nvPr/>
        </p:nvSpPr>
        <p:spPr>
          <a:xfrm>
            <a:off x="914400" y="2602992"/>
            <a:ext cx="10728655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main</a:t>
            </a:r>
            <a:r>
              <a:rPr lang="en-US" sz="3000" dirty="0">
                <a:solidFill>
                  <a:srgbClr val="18324A"/>
                </a:solidFill>
              </a:rPr>
              <a:t> does not see them. It only sees the answer.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power(10, 0)</a:t>
            </a:r>
            <a:r>
              <a:rPr lang="en-US" sz="3000" dirty="0">
                <a:solidFill>
                  <a:srgbClr val="18324A"/>
                </a:solidFill>
              </a:rPr>
              <a:t> is 1: the loop runs zero times.</a:t>
            </a:r>
            <a:endParaRPr lang="en-US" sz="3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Predict: the average of 7 and 8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41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PREDICT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4937760" cy="213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Two functions.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Both get 7 and 8.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What does each give back?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760720" y="1261872"/>
            <a:ext cx="5882335" cy="25882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760720" y="1261872"/>
            <a:ext cx="5882335" cy="2588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average_int(int a, int b)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(a + b) / 2;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double average(double a, double b)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(a + b) / 2;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int or double: integer division again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42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7680960" cy="417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1794002"/>
            <a:ext cx="768096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17940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3064002"/>
            <a:ext cx="768096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30640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Code"/>
          <p:cNvSpPr/>
          <p:nvPr/>
        </p:nvSpPr>
        <p:spPr>
          <a:xfrm>
            <a:off x="548640" y="1261872"/>
            <a:ext cx="7680960" cy="4175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average_int(int a, int b)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(a + b) / 2;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double average(double a, double b)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(a + b) / 2;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printf("int version: %d\n", average_int(7, 8));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printf("double version: %.2f\n", average(7, 8));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000" dirty="0"/>
          </a:p>
        </p:txBody>
      </p:sp>
      <p:sp>
        <p:nvSpPr>
          <p:cNvPr id="12" name="Shape 12"/>
          <p:cNvSpPr/>
          <p:nvPr/>
        </p:nvSpPr>
        <p:spPr>
          <a:xfrm>
            <a:off x="8503920" y="1261872"/>
            <a:ext cx="31391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3" name="Shape 13"/>
          <p:cNvSpPr/>
          <p:nvPr/>
        </p:nvSpPr>
        <p:spPr>
          <a:xfrm>
            <a:off x="8503920" y="1645920"/>
            <a:ext cx="3139135" cy="9372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Code"/>
          <p:cNvSpPr/>
          <p:nvPr/>
        </p:nvSpPr>
        <p:spPr>
          <a:xfrm>
            <a:off x="8503920" y="1645920"/>
            <a:ext cx="3139135" cy="937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int version: 7</a:t>
            </a:r>
            <a:endParaRPr lang="en-US" sz="18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double version: 7.50</a:t>
            </a:r>
            <a:endParaRPr lang="en-US" sz="1800" dirty="0"/>
          </a:p>
        </p:txBody>
      </p:sp>
      <p:sp>
        <p:nvSpPr>
          <p:cNvPr id="15" name="Shape 15"/>
          <p:cNvSpPr/>
          <p:nvPr/>
        </p:nvSpPr>
        <p:spPr>
          <a:xfrm>
            <a:off x="8503920" y="2857500"/>
            <a:ext cx="31391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6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Shape 16"/>
          <p:cNvSpPr/>
          <p:nvPr/>
        </p:nvSpPr>
        <p:spPr>
          <a:xfrm>
            <a:off x="8503920" y="2857500"/>
            <a:ext cx="109728" cy="10515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Callout"/>
          <p:cNvSpPr/>
          <p:nvPr/>
        </p:nvSpPr>
        <p:spPr>
          <a:xfrm>
            <a:off x="8613648" y="2857500"/>
            <a:ext cx="30294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lang="en-US" sz="2400" dirty="0">
                <a:solidFill>
                  <a:srgbClr val="18324A"/>
                </a:solidFill>
              </a:rPr>
              <a:t>: 15 / 2 is 7. The .5 is gone.</a:t>
            </a:r>
            <a:endParaRPr lang="en-US" sz="2400" dirty="0"/>
          </a:p>
        </p:txBody>
      </p:sp>
      <p:sp>
        <p:nvSpPr>
          <p:cNvPr id="18" name="Shape 18"/>
          <p:cNvSpPr/>
          <p:nvPr/>
        </p:nvSpPr>
        <p:spPr>
          <a:xfrm>
            <a:off x="8503920" y="4110228"/>
            <a:ext cx="313913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8503920" y="4110228"/>
            <a:ext cx="109728" cy="68580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0" name="Callout"/>
          <p:cNvSpPr/>
          <p:nvPr/>
        </p:nvSpPr>
        <p:spPr>
          <a:xfrm>
            <a:off x="8613648" y="4110228"/>
            <a:ext cx="302940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double</a:t>
            </a:r>
            <a:r>
              <a:rPr lang="en-US" sz="2400" dirty="0">
                <a:solidFill>
                  <a:srgbClr val="18324A"/>
                </a:solidFill>
              </a:rPr>
              <a:t>: 7.50.</a:t>
            </a:r>
            <a:endParaRPr lang="en-US" sz="2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void: a function with no answer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43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399032"/>
            <a:ext cx="109728" cy="792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914400" y="1399032"/>
            <a:ext cx="10728655" cy="792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8B5CF6"/>
                </a:solidFill>
                <a:latin typeface="Consolas"/>
                <a:ea typeface="Consolas"/>
                <a:cs typeface="Consolas"/>
              </a:rPr>
              <a:t>void print_stars(int n)</a:t>
            </a:r>
            <a:endParaRPr lang="en-US" sz="4000" dirty="0"/>
          </a:p>
        </p:txBody>
      </p:sp>
      <p:sp>
        <p:nvSpPr>
          <p:cNvPr id="8" name="Shape 8"/>
          <p:cNvSpPr/>
          <p:nvPr/>
        </p:nvSpPr>
        <p:spPr>
          <a:xfrm>
            <a:off x="914400" y="2602992"/>
            <a:ext cx="10728655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void</a:t>
            </a:r>
            <a:r>
              <a:rPr lang="en-US" sz="3000" dirty="0">
                <a:solidFill>
                  <a:srgbClr val="18324A"/>
                </a:solidFill>
              </a:rPr>
              <a:t> means: it gives </a:t>
            </a:r>
            <a:r>
              <a:rPr lang="en-US" sz="3000" b="1" dirty="0">
                <a:solidFill>
                  <a:srgbClr val="18324A"/>
                </a:solidFill>
              </a:rPr>
              <a:t>nothing</a:t>
            </a:r>
            <a:r>
              <a:rPr lang="en-US" sz="3000" dirty="0">
                <a:solidFill>
                  <a:srgbClr val="18324A"/>
                </a:solidFill>
              </a:rPr>
              <a:t> back.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It does a job, like printing.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lang="en-US" sz="3000" dirty="0">
                <a:solidFill>
                  <a:srgbClr val="18324A"/>
                </a:solidFill>
              </a:rPr>
              <a:t> is not needed.</a:t>
            </a:r>
            <a:endParaRPr lang="en-US" sz="3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void with no parameters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44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4937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2244852"/>
            <a:ext cx="6766560" cy="381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2244852"/>
            <a:ext cx="82296" cy="381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48640" y="1261872"/>
            <a:ext cx="6766560" cy="4937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#include &lt;stdio.h&gt;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void greet(void)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printf("Hello!\n");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printf("Welcome to CSCI 1101.\n");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greet();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greet();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400" dirty="0"/>
          </a:p>
        </p:txBody>
      </p:sp>
      <p:sp>
        <p:nvSpPr>
          <p:cNvPr id="10" name="Shape 10"/>
          <p:cNvSpPr/>
          <p:nvPr/>
        </p:nvSpPr>
        <p:spPr>
          <a:xfrm>
            <a:off x="7589520" y="1261872"/>
            <a:ext cx="40535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1" name="Shape 11"/>
          <p:cNvSpPr/>
          <p:nvPr/>
        </p:nvSpPr>
        <p:spPr>
          <a:xfrm>
            <a:off x="7589520" y="1645920"/>
            <a:ext cx="4053535" cy="1889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7589520" y="1645920"/>
            <a:ext cx="4053535" cy="1889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Hello!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Welcome to CSCI 1101.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Hello!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Welcome to CSCI 1101.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7589520" y="3810000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7589520" y="3810000"/>
            <a:ext cx="109728" cy="1051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allout"/>
          <p:cNvSpPr/>
          <p:nvPr/>
        </p:nvSpPr>
        <p:spPr>
          <a:xfrm>
            <a:off x="7699248" y="3810000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(void)</a:t>
            </a:r>
            <a:r>
              <a:rPr lang="en-US" sz="2400" dirty="0">
                <a:solidFill>
                  <a:srgbClr val="18324A"/>
                </a:solidFill>
              </a:rPr>
              <a:t>: it takes nothing either.</a:t>
            </a:r>
            <a:endParaRPr lang="en-US" sz="2400" dirty="0"/>
          </a:p>
        </p:txBody>
      </p:sp>
      <p:sp>
        <p:nvSpPr>
          <p:cNvPr id="16" name="Shape 16"/>
          <p:cNvSpPr/>
          <p:nvPr/>
        </p:nvSpPr>
        <p:spPr>
          <a:xfrm>
            <a:off x="7589520" y="5062728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7589520" y="5062728"/>
            <a:ext cx="109728" cy="1051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Callout"/>
          <p:cNvSpPr/>
          <p:nvPr/>
        </p:nvSpPr>
        <p:spPr>
          <a:xfrm>
            <a:off x="7699248" y="5062728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The call still needs brackets: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greet();</a:t>
            </a:r>
            <a:endParaRPr lang="en-US" sz="2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Printing is not returning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45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PREDICT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4937760" cy="213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One function </a:t>
            </a:r>
            <a:r>
              <a:rPr lang="en-US" sz="3200" b="1" dirty="0">
                <a:solidFill>
                  <a:srgbClr val="18324A"/>
                </a:solidFill>
              </a:rPr>
              <a:t>prints</a:t>
            </a:r>
            <a:r>
              <a:rPr lang="en-US" sz="3200" dirty="0">
                <a:solidFill>
                  <a:srgbClr val="18324A"/>
                </a:solidFill>
              </a:rPr>
              <a:t> the square.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One </a:t>
            </a:r>
            <a:r>
              <a:rPr lang="en-US" sz="3200" b="1" dirty="0">
                <a:solidFill>
                  <a:srgbClr val="18324A"/>
                </a:solidFill>
              </a:rPr>
              <a:t>returns</a:t>
            </a:r>
            <a:r>
              <a:rPr lang="en-US" sz="3200" dirty="0">
                <a:solidFill>
                  <a:srgbClr val="18324A"/>
                </a:solidFill>
              </a:rPr>
              <a:t> it.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What is on the screen?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760720" y="1261872"/>
            <a:ext cx="5882335" cy="44932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760720" y="1261872"/>
            <a:ext cx="5882335" cy="4493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void square_print(int x)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printf("%d\n", x * x);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square(int x)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x * x;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square_print(5);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total = square(3) + square(4);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printf("total = %d\n", total);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Printing is not returning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46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490601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4622927"/>
            <a:ext cx="676656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462292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4972177"/>
            <a:ext cx="676656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497217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5321427"/>
            <a:ext cx="676656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48640" y="532142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Code"/>
          <p:cNvSpPr/>
          <p:nvPr/>
        </p:nvSpPr>
        <p:spPr>
          <a:xfrm>
            <a:off x="548640" y="1261872"/>
            <a:ext cx="6766560" cy="49060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void square_print(int x)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printf("%d\n", x * x);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square(int x)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x * x;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square_print(5);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int total = square(3) + square(4);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printf("total = %d\n", total);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200" dirty="0"/>
          </a:p>
        </p:txBody>
      </p:sp>
      <p:sp>
        <p:nvSpPr>
          <p:cNvPr id="14" name="Shape 14"/>
          <p:cNvSpPr/>
          <p:nvPr/>
        </p:nvSpPr>
        <p:spPr>
          <a:xfrm>
            <a:off x="7589520" y="1261872"/>
            <a:ext cx="40535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5" name="Shape 15"/>
          <p:cNvSpPr/>
          <p:nvPr/>
        </p:nvSpPr>
        <p:spPr>
          <a:xfrm>
            <a:off x="7589520" y="1645920"/>
            <a:ext cx="4053535" cy="1127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Code"/>
          <p:cNvSpPr/>
          <p:nvPr/>
        </p:nvSpPr>
        <p:spPr>
          <a:xfrm>
            <a:off x="7589520" y="1645920"/>
            <a:ext cx="4053535" cy="1127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25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total = 25</a:t>
            </a:r>
            <a:endParaRPr lang="en-US" sz="2400" dirty="0"/>
          </a:p>
        </p:txBody>
      </p:sp>
      <p:sp>
        <p:nvSpPr>
          <p:cNvPr id="17" name="Shape 17"/>
          <p:cNvSpPr/>
          <p:nvPr/>
        </p:nvSpPr>
        <p:spPr>
          <a:xfrm>
            <a:off x="7589520" y="3048000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Shape 18"/>
          <p:cNvSpPr/>
          <p:nvPr/>
        </p:nvSpPr>
        <p:spPr>
          <a:xfrm>
            <a:off x="7589520" y="3048000"/>
            <a:ext cx="109728" cy="1051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9" name="Callout"/>
          <p:cNvSpPr/>
          <p:nvPr/>
        </p:nvSpPr>
        <p:spPr>
          <a:xfrm>
            <a:off x="7699248" y="3048000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square_print(5)</a:t>
            </a:r>
            <a:r>
              <a:rPr lang="en-US" sz="2400" dirty="0">
                <a:solidFill>
                  <a:srgbClr val="18324A"/>
                </a:solidFill>
              </a:rPr>
              <a:t> prints 25 by itself.</a:t>
            </a:r>
            <a:endParaRPr lang="en-US" sz="2400" dirty="0"/>
          </a:p>
        </p:txBody>
      </p:sp>
      <p:sp>
        <p:nvSpPr>
          <p:cNvPr id="20" name="Shape 20"/>
          <p:cNvSpPr/>
          <p:nvPr/>
        </p:nvSpPr>
        <p:spPr>
          <a:xfrm>
            <a:off x="7589520" y="4300728"/>
            <a:ext cx="4053535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1" name="Shape 21"/>
          <p:cNvSpPr/>
          <p:nvPr/>
        </p:nvSpPr>
        <p:spPr>
          <a:xfrm>
            <a:off x="7589520" y="4300728"/>
            <a:ext cx="109728" cy="141732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2" name="Callout"/>
          <p:cNvSpPr/>
          <p:nvPr/>
        </p:nvSpPr>
        <p:spPr>
          <a:xfrm>
            <a:off x="7699248" y="4300728"/>
            <a:ext cx="3943807" cy="141732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square</a:t>
            </a:r>
            <a:r>
              <a:rPr lang="en-US" sz="2400" dirty="0">
                <a:solidFill>
                  <a:srgbClr val="18324A"/>
                </a:solidFill>
              </a:rPr>
              <a:t> hands 9 and 16 back, so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main</a:t>
            </a:r>
            <a:r>
              <a:rPr lang="en-US" sz="2400" dirty="0">
                <a:solidFill>
                  <a:srgbClr val="18324A"/>
                </a:solidFill>
              </a:rPr>
              <a:t> can add them.</a:t>
            </a:r>
            <a:endParaRPr lang="en-US" sz="2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You cannot add two printouts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47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7498080" cy="32232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3064002"/>
            <a:ext cx="749808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30640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48640" y="1261872"/>
            <a:ext cx="7498080" cy="3223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void square_print(int x)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printf("%d\n", x * x);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int total = square_print(3) + square_print(4);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printf("total = %d\n", total);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</p:txBody>
      </p:sp>
      <p:sp>
        <p:nvSpPr>
          <p:cNvPr id="10" name="Shape 10"/>
          <p:cNvSpPr/>
          <p:nvPr/>
        </p:nvSpPr>
        <p:spPr>
          <a:xfrm>
            <a:off x="8321040" y="1261872"/>
            <a:ext cx="332201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gcc 16.2 says</a:t>
            </a:r>
            <a:endParaRPr lang="en-US" sz="1600" dirty="0"/>
          </a:p>
        </p:txBody>
      </p:sp>
      <p:sp>
        <p:nvSpPr>
          <p:cNvPr id="11" name="Shape 11"/>
          <p:cNvSpPr/>
          <p:nvPr/>
        </p:nvSpPr>
        <p:spPr>
          <a:xfrm>
            <a:off x="8321040" y="1645920"/>
            <a:ext cx="3322015" cy="1508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8321040" y="1645920"/>
            <a:ext cx="3322015" cy="1508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error: void value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not ignored as it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ought to be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8321040" y="3429000"/>
            <a:ext cx="332201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6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8321040" y="3429000"/>
            <a:ext cx="109728" cy="10515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allout"/>
          <p:cNvSpPr/>
          <p:nvPr/>
        </p:nvSpPr>
        <p:spPr>
          <a:xfrm>
            <a:off x="8430768" y="3429000"/>
            <a:ext cx="321228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A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void</a:t>
            </a:r>
            <a:r>
              <a:rPr lang="en-US" sz="2400" dirty="0">
                <a:solidFill>
                  <a:srgbClr val="18324A"/>
                </a:solidFill>
              </a:rPr>
              <a:t> function gives back nothing.</a:t>
            </a:r>
            <a:endParaRPr lang="en-US" sz="2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Print or return?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48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536192"/>
            <a:ext cx="5432908" cy="7315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Print</a:t>
            </a:r>
            <a:endParaRPr lang="en-US" sz="2600" dirty="0"/>
          </a:p>
        </p:txBody>
      </p:sp>
      <p:sp>
        <p:nvSpPr>
          <p:cNvPr id="7" name="Shape 7"/>
          <p:cNvSpPr/>
          <p:nvPr/>
        </p:nvSpPr>
        <p:spPr>
          <a:xfrm>
            <a:off x="548640" y="2267712"/>
            <a:ext cx="5432908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73152" tIns="91440" rIns="73152" bIns="9144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18324A"/>
                </a:solidFill>
              </a:rPr>
              <a:t>Shows it</a:t>
            </a:r>
            <a:endParaRPr lang="en-US" sz="2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18324A"/>
                </a:solidFill>
              </a:rPr>
              <a:t>on the screen.</a:t>
            </a:r>
            <a:endParaRPr lang="en-US" sz="2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18324A"/>
                </a:solidFill>
              </a:rPr>
              <a:t>The caller gets</a:t>
            </a:r>
            <a:endParaRPr lang="en-US" sz="2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18324A"/>
                </a:solidFill>
              </a:rPr>
              <a:t>nothing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  <p:sp>
        <p:nvSpPr>
          <p:cNvPr id="8" name="Shape 8"/>
          <p:cNvSpPr/>
          <p:nvPr/>
        </p:nvSpPr>
        <p:spPr>
          <a:xfrm>
            <a:off x="6210148" y="1536192"/>
            <a:ext cx="5432908" cy="73152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Return</a:t>
            </a:r>
            <a:endParaRPr lang="en-US" sz="2600" dirty="0"/>
          </a:p>
        </p:txBody>
      </p:sp>
      <p:sp>
        <p:nvSpPr>
          <p:cNvPr id="9" name="Shape 9"/>
          <p:cNvSpPr/>
          <p:nvPr/>
        </p:nvSpPr>
        <p:spPr>
          <a:xfrm>
            <a:off x="6210148" y="2267712"/>
            <a:ext cx="5432908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73152" tIns="91440" rIns="73152" bIns="9144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18324A"/>
                </a:solidFill>
              </a:rPr>
              <a:t>Hands the value</a:t>
            </a:r>
            <a:endParaRPr lang="en-US" sz="2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18324A"/>
                </a:solidFill>
              </a:rPr>
              <a:t>back.</a:t>
            </a:r>
            <a:endParaRPr lang="en-US" sz="2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18324A"/>
                </a:solidFill>
              </a:rPr>
              <a:t>The caller can</a:t>
            </a:r>
            <a:endParaRPr lang="en-US" sz="2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18324A"/>
                </a:solidFill>
              </a:rPr>
              <a:t>use</a:t>
            </a:r>
            <a:r>
              <a:rPr lang="en-US" sz="2400" dirty="0">
                <a:solidFill>
                  <a:srgbClr val="18324A"/>
                </a:solidFill>
              </a:rPr>
              <a:t> it.</a:t>
            </a:r>
            <a:endParaRPr lang="en-US" sz="2400" dirty="0"/>
          </a:p>
        </p:txBody>
      </p:sp>
      <p:sp>
        <p:nvSpPr>
          <p:cNvPr id="10" name="Shape 10"/>
          <p:cNvSpPr/>
          <p:nvPr/>
        </p:nvSpPr>
        <p:spPr>
          <a:xfrm>
            <a:off x="548640" y="5166360"/>
            <a:ext cx="11094415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5166360"/>
            <a:ext cx="109728" cy="9144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allout"/>
          <p:cNvSpPr/>
          <p:nvPr/>
        </p:nvSpPr>
        <p:spPr>
          <a:xfrm>
            <a:off x="658368" y="5166360"/>
            <a:ext cx="10984687" cy="9144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Most functions should </a:t>
            </a:r>
            <a:r>
              <a:rPr lang="en-US" sz="2400" b="1" dirty="0">
                <a:solidFill>
                  <a:srgbClr val="18324A"/>
                </a:solidFill>
              </a:rPr>
              <a:t>return</a:t>
            </a:r>
            <a:r>
              <a:rPr lang="en-US" sz="2400" dirty="0">
                <a:solidFill>
                  <a:srgbClr val="18324A"/>
                </a:solidFill>
              </a:rPr>
              <a:t>. Let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main</a:t>
            </a:r>
            <a:r>
              <a:rPr lang="en-US" sz="2400" dirty="0">
                <a:solidFill>
                  <a:srgbClr val="18324A"/>
                </a:solidFill>
              </a:rPr>
              <a:t> decide what to print.</a:t>
            </a:r>
            <a:endParaRPr lang="en-US" sz="2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return ends the function at once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49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3413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2003552"/>
            <a:ext cx="6766560" cy="508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2003552"/>
            <a:ext cx="82296" cy="50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2511552"/>
            <a:ext cx="6766560" cy="508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2511552"/>
            <a:ext cx="82296" cy="50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Code"/>
          <p:cNvSpPr/>
          <p:nvPr/>
        </p:nvSpPr>
        <p:spPr>
          <a:xfrm>
            <a:off x="548640" y="1261872"/>
            <a:ext cx="6766560" cy="3413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max(int a, int b) {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if (a &gt; b) {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return a;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b;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3200" dirty="0"/>
          </a:p>
        </p:txBody>
      </p:sp>
      <p:sp>
        <p:nvSpPr>
          <p:cNvPr id="12" name="Shape 12"/>
          <p:cNvSpPr/>
          <p:nvPr/>
        </p:nvSpPr>
        <p:spPr>
          <a:xfrm>
            <a:off x="7589520" y="1261872"/>
            <a:ext cx="405353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7589520" y="1261872"/>
            <a:ext cx="109728" cy="6858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Callout"/>
          <p:cNvSpPr/>
          <p:nvPr/>
        </p:nvSpPr>
        <p:spPr>
          <a:xfrm>
            <a:off x="7699248" y="1261872"/>
            <a:ext cx="394380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If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a &gt; b</a:t>
            </a:r>
            <a:r>
              <a:rPr lang="en-US" sz="2400" dirty="0">
                <a:solidFill>
                  <a:srgbClr val="18324A"/>
                </a:solidFill>
              </a:rPr>
              <a:t>: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return a;</a:t>
            </a:r>
            <a:endParaRPr lang="en-US" sz="2400" dirty="0"/>
          </a:p>
        </p:txBody>
      </p:sp>
      <p:sp>
        <p:nvSpPr>
          <p:cNvPr id="15" name="Shape 15"/>
          <p:cNvSpPr/>
          <p:nvPr/>
        </p:nvSpPr>
        <p:spPr>
          <a:xfrm>
            <a:off x="7589520" y="2148840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Shape 16"/>
          <p:cNvSpPr/>
          <p:nvPr/>
        </p:nvSpPr>
        <p:spPr>
          <a:xfrm>
            <a:off x="7589520" y="2148840"/>
            <a:ext cx="109728" cy="10515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Callout"/>
          <p:cNvSpPr/>
          <p:nvPr/>
        </p:nvSpPr>
        <p:spPr>
          <a:xfrm>
            <a:off x="7699248" y="2148840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The function </a:t>
            </a:r>
            <a:r>
              <a:rPr lang="en-US" sz="2400" b="1" dirty="0">
                <a:solidFill>
                  <a:srgbClr val="18324A"/>
                </a:solidFill>
              </a:rPr>
              <a:t>ends</a:t>
            </a:r>
            <a:r>
              <a:rPr lang="en-US" sz="2400" dirty="0">
                <a:solidFill>
                  <a:srgbClr val="18324A"/>
                </a:solidFill>
              </a:rPr>
              <a:t> here. The rest is skipped.</a:t>
            </a:r>
            <a:endParaRPr lang="en-US" sz="2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Otherwise: the second return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50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3413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3527552"/>
            <a:ext cx="6766560" cy="508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3527552"/>
            <a:ext cx="82296" cy="50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48640" y="1261872"/>
            <a:ext cx="6766560" cy="3413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max(int a, int b) {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if (a &gt; b) {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return a;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b;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3200" dirty="0"/>
          </a:p>
        </p:txBody>
      </p:sp>
      <p:sp>
        <p:nvSpPr>
          <p:cNvPr id="10" name="Shape 10"/>
          <p:cNvSpPr/>
          <p:nvPr/>
        </p:nvSpPr>
        <p:spPr>
          <a:xfrm>
            <a:off x="7589520" y="1261872"/>
            <a:ext cx="40535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1" name="Shape 11"/>
          <p:cNvSpPr/>
          <p:nvPr/>
        </p:nvSpPr>
        <p:spPr>
          <a:xfrm>
            <a:off x="7589520" y="1645920"/>
            <a:ext cx="4053535" cy="1127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7589520" y="1645920"/>
            <a:ext cx="4053535" cy="1127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max(3, 9) = 9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max(9, 3) = 9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7589520" y="3048000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7589520" y="3048000"/>
            <a:ext cx="109728" cy="105156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allout"/>
          <p:cNvSpPr/>
          <p:nvPr/>
        </p:nvSpPr>
        <p:spPr>
          <a:xfrm>
            <a:off x="7699248" y="3048000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We only get here when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a &gt; b</a:t>
            </a:r>
            <a:r>
              <a:rPr lang="en-US" sz="2400" dirty="0">
                <a:solidFill>
                  <a:srgbClr val="18324A"/>
                </a:solidFill>
              </a:rPr>
              <a:t> was false.</a:t>
            </a:r>
            <a:endParaRPr lang="en-US" sz="2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Predict: a function that calls a function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51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PREDICT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4937760" cy="1158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max3</a:t>
            </a:r>
            <a:r>
              <a:rPr lang="en-US" sz="3200" dirty="0">
                <a:solidFill>
                  <a:srgbClr val="18324A"/>
                </a:solidFill>
              </a:rPr>
              <a:t> calls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max</a:t>
            </a:r>
            <a:r>
              <a:rPr lang="en-US" sz="3200" dirty="0">
                <a:solidFill>
                  <a:srgbClr val="18324A"/>
                </a:solidFill>
              </a:rPr>
              <a:t> twice.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What is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max3(4, 11, 7)</a:t>
            </a:r>
            <a:r>
              <a:rPr lang="en-US" sz="3200" dirty="0">
                <a:solidFill>
                  <a:srgbClr val="18324A"/>
                </a:solidFill>
              </a:rPr>
              <a:t>?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760720" y="1261872"/>
            <a:ext cx="5882335" cy="1508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760720" y="1261872"/>
            <a:ext cx="5882335" cy="1508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max3(int a, int b, int c)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max(max(a, b), c);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Predict: a function that calls a function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52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PREDICT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4937760" cy="1158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max3</a:t>
            </a:r>
            <a:r>
              <a:rPr lang="en-US" sz="3200" dirty="0">
                <a:solidFill>
                  <a:srgbClr val="18324A"/>
                </a:solidFill>
              </a:rPr>
              <a:t> calls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max</a:t>
            </a:r>
            <a:r>
              <a:rPr lang="en-US" sz="3200" dirty="0">
                <a:solidFill>
                  <a:srgbClr val="18324A"/>
                </a:solidFill>
              </a:rPr>
              <a:t> twice.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What is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max3(4, 11, 7)</a:t>
            </a:r>
            <a:r>
              <a:rPr lang="en-US" sz="3200" dirty="0">
                <a:solidFill>
                  <a:srgbClr val="18324A"/>
                </a:solidFill>
              </a:rPr>
              <a:t>?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760720" y="1261872"/>
            <a:ext cx="5882335" cy="1508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760720" y="1261872"/>
            <a:ext cx="5882335" cy="1508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max3(int a, int b, int c)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max(max(a, b), c);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400" dirty="0"/>
          </a:p>
        </p:txBody>
      </p:sp>
      <p:sp>
        <p:nvSpPr>
          <p:cNvPr id="10" name="Shape 10"/>
          <p:cNvSpPr/>
          <p:nvPr/>
        </p:nvSpPr>
        <p:spPr>
          <a:xfrm>
            <a:off x="548640" y="4251960"/>
            <a:ext cx="49377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4251960"/>
            <a:ext cx="109728" cy="201168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allout"/>
          <p:cNvSpPr/>
          <p:nvPr/>
        </p:nvSpPr>
        <p:spPr>
          <a:xfrm>
            <a:off x="658368" y="4251960"/>
            <a:ext cx="4828032" cy="201168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1C48D"/>
                </a:solidFill>
              </a:rPr>
              <a:t>ANSWER</a:t>
            </a:r>
            <a:endParaRPr lang="en-US" sz="1400" dirty="0"/>
          </a:p>
          <a:p>
            <a:pPr marL="0" indent="0" algn="l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11</a:t>
            </a:r>
            <a:endParaRPr lang="en-US" sz="2600" dirty="0"/>
          </a:p>
          <a:p>
            <a:pPr marL="0" indent="0" algn="l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max(4, 11)</a:t>
            </a:r>
            <a:r>
              <a:rPr lang="en-US" sz="2600" dirty="0">
                <a:solidFill>
                  <a:srgbClr val="18324A"/>
                </a:solidFill>
              </a:rPr>
              <a:t> is 11.</a:t>
            </a:r>
            <a:endParaRPr lang="en-US" sz="2600" dirty="0"/>
          </a:p>
          <a:p>
            <a:pPr marL="0" indent="0" algn="l">
              <a:buNone/>
            </a:pPr>
            <a:r>
              <a:rPr lang="en-US" sz="2600" dirty="0">
                <a:solidFill>
                  <a:srgbClr val="18324A"/>
                </a:solidFill>
              </a:rPr>
              <a:t>Then </a:t>
            </a: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max(11, 7)</a:t>
            </a:r>
            <a:r>
              <a:rPr lang="en-US" sz="2600" dirty="0">
                <a:solidFill>
                  <a:srgbClr val="18324A"/>
                </a:solidFill>
              </a:rPr>
              <a:t> is 11.</a:t>
            </a:r>
            <a:endParaRPr lang="en-US" sz="26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Yes or no: return 1 or 0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53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3413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Code"/>
          <p:cNvSpPr/>
          <p:nvPr/>
        </p:nvSpPr>
        <p:spPr>
          <a:xfrm>
            <a:off x="548640" y="1261872"/>
            <a:ext cx="6766560" cy="3413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is_even(int n) {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if (n % 2 == 0) {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return 1;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7589520" y="1261872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7589520" y="1261872"/>
            <a:ext cx="109728" cy="105156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Callout"/>
          <p:cNvSpPr/>
          <p:nvPr/>
        </p:nvSpPr>
        <p:spPr>
          <a:xfrm>
            <a:off x="7699248" y="1261872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It gives back </a:t>
            </a:r>
            <a:r>
              <a:rPr lang="en-US" sz="2400" b="1" dirty="0">
                <a:solidFill>
                  <a:srgbClr val="18324A"/>
                </a:solidFill>
              </a:rPr>
              <a:t>1</a:t>
            </a:r>
            <a:r>
              <a:rPr lang="en-US" sz="2400" dirty="0">
                <a:solidFill>
                  <a:srgbClr val="18324A"/>
                </a:solidFill>
              </a:rPr>
              <a:t> for yes, </a:t>
            </a:r>
            <a:r>
              <a:rPr lang="en-US" sz="2400" b="1" dirty="0">
                <a:solidFill>
                  <a:srgbClr val="18324A"/>
                </a:solidFill>
              </a:rPr>
              <a:t>0</a:t>
            </a:r>
            <a:r>
              <a:rPr lang="en-US" sz="2400" dirty="0">
                <a:solidFill>
                  <a:srgbClr val="18324A"/>
                </a:solidFill>
              </a:rPr>
              <a:t> for no.</a:t>
            </a:r>
            <a:endParaRPr lang="en-US" sz="2400" dirty="0"/>
          </a:p>
        </p:txBody>
      </p:sp>
      <p:sp>
        <p:nvSpPr>
          <p:cNvPr id="11" name="Shape 11"/>
          <p:cNvSpPr/>
          <p:nvPr/>
        </p:nvSpPr>
        <p:spPr>
          <a:xfrm>
            <a:off x="7589520" y="2514600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7589520" y="2514600"/>
            <a:ext cx="109728" cy="10515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Callout"/>
          <p:cNvSpPr/>
          <p:nvPr/>
        </p:nvSpPr>
        <p:spPr>
          <a:xfrm>
            <a:off x="7699248" y="2514600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In C, 1 is true and 0 is false.</a:t>
            </a:r>
            <a:endParaRPr lang="en-US" sz="2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The call goes straight into an if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54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325501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1898777"/>
            <a:ext cx="6766560" cy="4127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1898777"/>
            <a:ext cx="82296" cy="412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48640" y="1261872"/>
            <a:ext cx="6766560" cy="32550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for (int i = 1; i &lt;= 5; i++) {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if (is_even(i)) {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printf("%d is even\n", i);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 else {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printf("%d is odd\n", i);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600" dirty="0"/>
          </a:p>
        </p:txBody>
      </p:sp>
      <p:sp>
        <p:nvSpPr>
          <p:cNvPr id="10" name="Shape 10"/>
          <p:cNvSpPr/>
          <p:nvPr/>
        </p:nvSpPr>
        <p:spPr>
          <a:xfrm>
            <a:off x="7589520" y="1261872"/>
            <a:ext cx="40535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1" name="Shape 11"/>
          <p:cNvSpPr/>
          <p:nvPr/>
        </p:nvSpPr>
        <p:spPr>
          <a:xfrm>
            <a:off x="7589520" y="1645920"/>
            <a:ext cx="4053535" cy="2270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7589520" y="1645920"/>
            <a:ext cx="4053535" cy="2270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1 is odd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2 is even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3 is odd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4 is even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5 is odd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7589520" y="4191000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7589520" y="4191000"/>
            <a:ext cx="109728" cy="10515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allout"/>
          <p:cNvSpPr/>
          <p:nvPr/>
        </p:nvSpPr>
        <p:spPr>
          <a:xfrm>
            <a:off x="7699248" y="4191000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if (is_even(i))</a:t>
            </a:r>
            <a:r>
              <a:rPr lang="en-US" sz="2400" dirty="0">
                <a:solidFill>
                  <a:srgbClr val="18324A"/>
                </a:solidFill>
              </a:rPr>
              <a:t> reads like English.</a:t>
            </a:r>
            <a:endParaRPr lang="en-US" sz="24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31520" y="2011680"/>
            <a:ext cx="1188720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4</a:t>
            </a:r>
            <a:endParaRPr lang="en-US" sz="5400" dirty="0"/>
          </a:p>
        </p:txBody>
      </p:sp>
      <p:sp>
        <p:nvSpPr>
          <p:cNvPr id="3" name="Shape 3"/>
          <p:cNvSpPr/>
          <p:nvPr/>
        </p:nvSpPr>
        <p:spPr>
          <a:xfrm>
            <a:off x="2286000" y="1920240"/>
            <a:ext cx="932688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Loops and decisions inside a function</a:t>
            </a:r>
            <a:endParaRPr lang="en-US" sz="4800" dirty="0"/>
          </a:p>
        </p:txBody>
      </p:sp>
      <p:sp>
        <p:nvSpPr>
          <p:cNvPr id="4" name="Shape 4"/>
          <p:cNvSpPr/>
          <p:nvPr/>
        </p:nvSpPr>
        <p:spPr>
          <a:xfrm>
            <a:off x="2286000" y="3474720"/>
            <a:ext cx="93268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D7E3F0"/>
                </a:solidFill>
              </a:rPr>
              <a:t>Class 4 and class 6, now with names</a:t>
            </a:r>
            <a:endParaRPr lang="en-US" sz="2600" dirty="0"/>
          </a:p>
        </p:txBody>
      </p:sp>
      <p:sp>
        <p:nvSpPr>
          <p:cNvPr id="5" name="Shape 5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7E3F0"/>
                </a:solidFill>
              </a:rPr>
              <a:t>CSCI 1101 · Programming Principles I · Class 7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Factorial as a function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56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949440" cy="417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1476502"/>
            <a:ext cx="694944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14765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1794002"/>
            <a:ext cx="694944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17940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2111502"/>
            <a:ext cx="694944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48640" y="21115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548640" y="2429002"/>
            <a:ext cx="694944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548640" y="24290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548640" y="2746502"/>
            <a:ext cx="694944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Shape 16"/>
          <p:cNvSpPr/>
          <p:nvPr/>
        </p:nvSpPr>
        <p:spPr>
          <a:xfrm>
            <a:off x="548640" y="27465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548640" y="3064002"/>
            <a:ext cx="694944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Shape 18"/>
          <p:cNvSpPr/>
          <p:nvPr/>
        </p:nvSpPr>
        <p:spPr>
          <a:xfrm>
            <a:off x="548640" y="30640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548640" y="3381502"/>
            <a:ext cx="694944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0" name="Shape 20"/>
          <p:cNvSpPr/>
          <p:nvPr/>
        </p:nvSpPr>
        <p:spPr>
          <a:xfrm>
            <a:off x="548640" y="33815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1" name="Code"/>
          <p:cNvSpPr/>
          <p:nvPr/>
        </p:nvSpPr>
        <p:spPr>
          <a:xfrm>
            <a:off x="548640" y="1261872"/>
            <a:ext cx="6949440" cy="4175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int factorial(int n)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int result = 1;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(int i = 2; i &lt;= n; i++)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result *= i;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result;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for (int n = 0; n &lt;= 10; n++)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printf("%d! = %d\n", n, factorial(n));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000" dirty="0"/>
          </a:p>
        </p:txBody>
      </p:sp>
      <p:sp>
        <p:nvSpPr>
          <p:cNvPr id="22" name="Shape 22"/>
          <p:cNvSpPr/>
          <p:nvPr/>
        </p:nvSpPr>
        <p:spPr>
          <a:xfrm>
            <a:off x="7772400" y="1261872"/>
            <a:ext cx="387065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23" name="Shape 23"/>
          <p:cNvSpPr/>
          <p:nvPr/>
        </p:nvSpPr>
        <p:spPr>
          <a:xfrm>
            <a:off x="7772400" y="1645920"/>
            <a:ext cx="3870655" cy="4556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4" name="Code"/>
          <p:cNvSpPr/>
          <p:nvPr/>
        </p:nvSpPr>
        <p:spPr>
          <a:xfrm>
            <a:off x="7772400" y="1645920"/>
            <a:ext cx="3870655" cy="4556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0! = 1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1! = 1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2! = 2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3! = 6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4! = 24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5! = 120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6! = 720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7! = 5040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8! = 40320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9! = 362880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10! = 3628800</a:t>
            </a:r>
            <a:endParaRPr lang="en-US" sz="24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Why is 0! equal to 1?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57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QUESTION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4937760" cy="213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Call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factorial(0)</a:t>
            </a:r>
            <a:r>
              <a:rPr lang="en-US" sz="3200" dirty="0">
                <a:solidFill>
                  <a:srgbClr val="18324A"/>
                </a:solidFill>
              </a:rPr>
              <a:t>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How many times does the loop run?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So what comes back?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760720" y="1261872"/>
            <a:ext cx="5882335" cy="281051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760720" y="1261872"/>
            <a:ext cx="5882335" cy="28105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factorial(int n)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result = 1;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for (int i = 2; i &lt;= n; i++)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result *= i;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result;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Why is 0! equal to 1?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58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QUESTION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4937760" cy="213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Call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factorial(0)</a:t>
            </a:r>
            <a:r>
              <a:rPr lang="en-US" sz="3200" dirty="0">
                <a:solidFill>
                  <a:srgbClr val="18324A"/>
                </a:solidFill>
              </a:rPr>
              <a:t>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How many times does the loop run?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So what comes back?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760720" y="1261872"/>
            <a:ext cx="5882335" cy="281051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760720" y="1828927"/>
            <a:ext cx="5882335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760720" y="182892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760720" y="2178177"/>
            <a:ext cx="5882335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760720" y="217817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Code"/>
          <p:cNvSpPr/>
          <p:nvPr/>
        </p:nvSpPr>
        <p:spPr>
          <a:xfrm>
            <a:off x="5760720" y="1261872"/>
            <a:ext cx="5882335" cy="28105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factorial(int n)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int result = 1;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(int i = 2; i &lt;= n; i++)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result *= i;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result;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</p:txBody>
      </p:sp>
      <p:sp>
        <p:nvSpPr>
          <p:cNvPr id="14" name="Shape 14"/>
          <p:cNvSpPr/>
          <p:nvPr/>
        </p:nvSpPr>
        <p:spPr>
          <a:xfrm>
            <a:off x="548640" y="4251960"/>
            <a:ext cx="49377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548640" y="4251960"/>
            <a:ext cx="109728" cy="201168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Callout"/>
          <p:cNvSpPr/>
          <p:nvPr/>
        </p:nvSpPr>
        <p:spPr>
          <a:xfrm>
            <a:off x="658368" y="4251960"/>
            <a:ext cx="4828032" cy="201168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1C48D"/>
                </a:solidFill>
              </a:rPr>
              <a:t>ANSWER</a:t>
            </a:r>
            <a:endParaRPr lang="en-US" sz="1400" dirty="0"/>
          </a:p>
          <a:p>
            <a:pPr marL="0" indent="0" algn="l">
              <a:buNone/>
            </a:pPr>
            <a:r>
              <a:rPr lang="en-US" sz="2600" dirty="0">
                <a:solidFill>
                  <a:srgbClr val="18324A"/>
                </a:solidFill>
              </a:rPr>
              <a:t>Zero times: </a:t>
            </a: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2 &lt;= 0</a:t>
            </a:r>
            <a:r>
              <a:rPr lang="en-US" sz="2600" dirty="0">
                <a:solidFill>
                  <a:srgbClr val="18324A"/>
                </a:solidFill>
              </a:rPr>
              <a:t> is false.</a:t>
            </a:r>
            <a:endParaRPr lang="en-US" sz="2600" dirty="0"/>
          </a:p>
          <a:p>
            <a:pPr marL="0" indent="0" algn="l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result</a:t>
            </a:r>
            <a:r>
              <a:rPr lang="en-US" sz="2600" dirty="0">
                <a:solidFill>
                  <a:srgbClr val="18324A"/>
                </a:solidFill>
              </a:rPr>
              <a:t> is still 1.</a:t>
            </a:r>
            <a:endParaRPr lang="en-US" sz="26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A letter grade: char letter(int score)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59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4937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1482852"/>
            <a:ext cx="6766560" cy="381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1482852"/>
            <a:ext cx="82296" cy="381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48640" y="1261872"/>
            <a:ext cx="6766560" cy="4937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char letter(int score)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if (score &gt;= 90)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return 'A';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 else if (score &gt;= 80)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return 'B';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 else if (score &gt;= 70)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return 'C';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 else if (score &gt;= 60)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return 'D';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'F';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400" dirty="0"/>
          </a:p>
        </p:txBody>
      </p:sp>
      <p:sp>
        <p:nvSpPr>
          <p:cNvPr id="10" name="Shape 10"/>
          <p:cNvSpPr/>
          <p:nvPr/>
        </p:nvSpPr>
        <p:spPr>
          <a:xfrm>
            <a:off x="7589520" y="1261872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7589520" y="1261872"/>
            <a:ext cx="109728" cy="1051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allout"/>
          <p:cNvSpPr/>
          <p:nvPr/>
        </p:nvSpPr>
        <p:spPr>
          <a:xfrm>
            <a:off x="7699248" y="1261872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It returns a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char</a:t>
            </a:r>
            <a:r>
              <a:rPr lang="en-US" sz="2400" dirty="0">
                <a:solidFill>
                  <a:srgbClr val="18324A"/>
                </a:solidFill>
              </a:rPr>
              <a:t>: one letter.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7589520" y="2514600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7589520" y="2514600"/>
            <a:ext cx="109728" cy="1051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allout"/>
          <p:cNvSpPr/>
          <p:nvPr/>
        </p:nvSpPr>
        <p:spPr>
          <a:xfrm>
            <a:off x="7699248" y="2514600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Inside: the else-if chain of class 4.</a:t>
            </a:r>
            <a:endParaRPr lang="en-US" sz="24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Using letter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60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2651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1863852"/>
            <a:ext cx="6766560" cy="381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1863852"/>
            <a:ext cx="82296" cy="381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2244852"/>
            <a:ext cx="6766560" cy="381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2244852"/>
            <a:ext cx="82296" cy="381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2625852"/>
            <a:ext cx="6766560" cy="381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48640" y="2625852"/>
            <a:ext cx="82296" cy="381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Code"/>
          <p:cNvSpPr/>
          <p:nvPr/>
        </p:nvSpPr>
        <p:spPr>
          <a:xfrm>
            <a:off x="548640" y="1261872"/>
            <a:ext cx="6766560" cy="2651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printf("95 -&gt; %c\n", letter(95));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printf("72 -&gt; %c\n", letter(72));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printf("40 -&gt; %c\n", letter(40));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400" dirty="0"/>
          </a:p>
        </p:txBody>
      </p:sp>
      <p:sp>
        <p:nvSpPr>
          <p:cNvPr id="14" name="Shape 14"/>
          <p:cNvSpPr/>
          <p:nvPr/>
        </p:nvSpPr>
        <p:spPr>
          <a:xfrm>
            <a:off x="7589520" y="1261872"/>
            <a:ext cx="40535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5" name="Shape 15"/>
          <p:cNvSpPr/>
          <p:nvPr/>
        </p:nvSpPr>
        <p:spPr>
          <a:xfrm>
            <a:off x="7589520" y="1645920"/>
            <a:ext cx="4053535" cy="1508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Code"/>
          <p:cNvSpPr/>
          <p:nvPr/>
        </p:nvSpPr>
        <p:spPr>
          <a:xfrm>
            <a:off x="7589520" y="1645920"/>
            <a:ext cx="4053535" cy="1508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95 -&gt; A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72 -&gt; C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40 -&gt; F</a:t>
            </a:r>
            <a:endParaRPr lang="en-US" sz="2400" dirty="0"/>
          </a:p>
        </p:txBody>
      </p:sp>
      <p:sp>
        <p:nvSpPr>
          <p:cNvPr id="17" name="Shape 17"/>
          <p:cNvSpPr/>
          <p:nvPr/>
        </p:nvSpPr>
        <p:spPr>
          <a:xfrm>
            <a:off x="7589520" y="3429000"/>
            <a:ext cx="405353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Shape 18"/>
          <p:cNvSpPr/>
          <p:nvPr/>
        </p:nvSpPr>
        <p:spPr>
          <a:xfrm>
            <a:off x="7589520" y="3429000"/>
            <a:ext cx="109728" cy="6858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9" name="Callout"/>
          <p:cNvSpPr/>
          <p:nvPr/>
        </p:nvSpPr>
        <p:spPr>
          <a:xfrm>
            <a:off x="7699248" y="3429000"/>
            <a:ext cx="394380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%c</a:t>
            </a:r>
            <a:r>
              <a:rPr lang="en-US" sz="2400" dirty="0">
                <a:solidFill>
                  <a:srgbClr val="18324A"/>
                </a:solidFill>
              </a:rPr>
              <a:t> prints one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char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The input check of class 6, as a function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61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32232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2429002"/>
            <a:ext cx="676656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24290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2746502"/>
            <a:ext cx="676656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27465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3064002"/>
            <a:ext cx="676656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48640" y="30640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548640" y="3381502"/>
            <a:ext cx="676656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548640" y="33815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548640" y="3699002"/>
            <a:ext cx="676656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Shape 16"/>
          <p:cNvSpPr/>
          <p:nvPr/>
        </p:nvSpPr>
        <p:spPr>
          <a:xfrm>
            <a:off x="548640" y="36990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Code"/>
          <p:cNvSpPr/>
          <p:nvPr/>
        </p:nvSpPr>
        <p:spPr>
          <a:xfrm>
            <a:off x="548640" y="1261872"/>
            <a:ext cx="6766560" cy="3223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read_between(int low, int high)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int value;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scanf("%d", &amp;value);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while (value &lt; low || value &gt; high)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printf("Type %d to %d: ", low, high);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scanf("%d", &amp;value);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value;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</p:txBody>
      </p:sp>
      <p:sp>
        <p:nvSpPr>
          <p:cNvPr id="18" name="Shape 18"/>
          <p:cNvSpPr/>
          <p:nvPr/>
        </p:nvSpPr>
        <p:spPr>
          <a:xfrm>
            <a:off x="7589520" y="1261872"/>
            <a:ext cx="4053535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7589520" y="1261872"/>
            <a:ext cx="109728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0" name="Callout"/>
          <p:cNvSpPr/>
          <p:nvPr/>
        </p:nvSpPr>
        <p:spPr>
          <a:xfrm>
            <a:off x="7699248" y="1261872"/>
            <a:ext cx="3943807" cy="141732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It keeps asking until the value is between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low</a:t>
            </a:r>
            <a:r>
              <a:rPr lang="en-US" sz="2400" dirty="0">
                <a:solidFill>
                  <a:srgbClr val="18324A"/>
                </a:solidFill>
              </a:rPr>
              <a:t> and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high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  <p:sp>
        <p:nvSpPr>
          <p:cNvPr id="21" name="Shape 21"/>
          <p:cNvSpPr/>
          <p:nvPr/>
        </p:nvSpPr>
        <p:spPr>
          <a:xfrm>
            <a:off x="7589520" y="2880360"/>
            <a:ext cx="405353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2" name="Shape 22"/>
          <p:cNvSpPr/>
          <p:nvPr/>
        </p:nvSpPr>
        <p:spPr>
          <a:xfrm>
            <a:off x="7589520" y="2880360"/>
            <a:ext cx="109728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3" name="Callout"/>
          <p:cNvSpPr/>
          <p:nvPr/>
        </p:nvSpPr>
        <p:spPr>
          <a:xfrm>
            <a:off x="7699248" y="2880360"/>
            <a:ext cx="394380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Then it </a:t>
            </a:r>
            <a:r>
              <a:rPr lang="en-US" sz="2400" b="1" dirty="0">
                <a:solidFill>
                  <a:srgbClr val="18324A"/>
                </a:solidFill>
              </a:rPr>
              <a:t>returns</a:t>
            </a:r>
            <a:r>
              <a:rPr lang="en-US" sz="2400" dirty="0">
                <a:solidFill>
                  <a:srgbClr val="18324A"/>
                </a:solidFill>
              </a:rPr>
              <a:t> it.</a:t>
            </a:r>
            <a:endParaRPr lang="en-US" sz="24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One function, two different checks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62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281051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2178177"/>
            <a:ext cx="676656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217817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2876677"/>
            <a:ext cx="676656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287667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Code"/>
          <p:cNvSpPr/>
          <p:nvPr/>
        </p:nvSpPr>
        <p:spPr>
          <a:xfrm>
            <a:off x="548640" y="1261872"/>
            <a:ext cx="6766560" cy="28105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printf("Month: ");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int month = read_between(1, 12);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printf("Day: ");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int day = read_between(1, 31);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printf("Date: %d/%d\n", day, month);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200" dirty="0"/>
          </a:p>
        </p:txBody>
      </p:sp>
      <p:sp>
        <p:nvSpPr>
          <p:cNvPr id="12" name="Shape 12"/>
          <p:cNvSpPr/>
          <p:nvPr/>
        </p:nvSpPr>
        <p:spPr>
          <a:xfrm>
            <a:off x="7589520" y="1261872"/>
            <a:ext cx="40535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3" name="Shape 13"/>
          <p:cNvSpPr/>
          <p:nvPr/>
        </p:nvSpPr>
        <p:spPr>
          <a:xfrm>
            <a:off x="7589520" y="1645920"/>
            <a:ext cx="4053535" cy="2651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Code"/>
          <p:cNvSpPr/>
          <p:nvPr/>
        </p:nvSpPr>
        <p:spPr>
          <a:xfrm>
            <a:off x="7589520" y="1645920"/>
            <a:ext cx="4053535" cy="2651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Month: 13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Type 1 to 12: 0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Type 1 to 12: 7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Day: 40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Type 1 to 31: 25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Date: 25/7</a:t>
            </a:r>
            <a:endParaRPr lang="en-US" sz="24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31520" y="2011680"/>
            <a:ext cx="1188720" cy="1188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5</a:t>
            </a:r>
            <a:endParaRPr lang="en-US" sz="5400" dirty="0"/>
          </a:p>
        </p:txBody>
      </p:sp>
      <p:sp>
        <p:nvSpPr>
          <p:cNvPr id="3" name="Shape 3"/>
          <p:cNvSpPr/>
          <p:nvPr/>
        </p:nvSpPr>
        <p:spPr>
          <a:xfrm>
            <a:off x="2286000" y="1920240"/>
            <a:ext cx="932688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One program, split into functions</a:t>
            </a:r>
            <a:endParaRPr lang="en-US" sz="4800" dirty="0"/>
          </a:p>
        </p:txBody>
      </p:sp>
      <p:sp>
        <p:nvSpPr>
          <p:cNvPr id="4" name="Shape 4"/>
          <p:cNvSpPr/>
          <p:nvPr/>
        </p:nvSpPr>
        <p:spPr>
          <a:xfrm>
            <a:off x="2286000" y="3474720"/>
            <a:ext cx="93268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main</a:t>
            </a:r>
            <a:r>
              <a:rPr lang="en-US" sz="2600" dirty="0">
                <a:solidFill>
                  <a:srgbClr val="D7E3F0"/>
                </a:solidFill>
              </a:rPr>
              <a:t> reads like a list of steps</a:t>
            </a:r>
            <a:endParaRPr lang="en-US" sz="2600" dirty="0"/>
          </a:p>
        </p:txBody>
      </p:sp>
      <p:sp>
        <p:nvSpPr>
          <p:cNvPr id="5" name="Shape 5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7E3F0"/>
                </a:solidFill>
              </a:rPr>
              <a:t>CSCI 1101 · Programming Principles I · Class 7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The job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64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399032"/>
            <a:ext cx="109728" cy="140208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914400" y="1399032"/>
            <a:ext cx="10728655" cy="1402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8324A"/>
                </a:solidFill>
              </a:rPr>
              <a:t>For three students: read a score, and print the grade.</a:t>
            </a:r>
            <a:endParaRPr lang="en-US" sz="4000" dirty="0"/>
          </a:p>
        </p:txBody>
      </p:sp>
      <p:sp>
        <p:nvSpPr>
          <p:cNvPr id="8" name="Shape 8"/>
          <p:cNvSpPr/>
          <p:nvPr/>
        </p:nvSpPr>
        <p:spPr>
          <a:xfrm>
            <a:off x="914400" y="3212592"/>
            <a:ext cx="10728655" cy="205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Read a score from 0 to 100. Ask again if it is bad.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Work out the letter: A, B, C, D or F.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Print one report line.</a:t>
            </a:r>
            <a:endParaRPr lang="en-US" sz="3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You could write it all in main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65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399032"/>
            <a:ext cx="109728" cy="792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914400" y="1399032"/>
            <a:ext cx="10728655" cy="792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8324A"/>
                </a:solidFill>
              </a:rPr>
              <a:t>It works. It is 27 lines in one block.</a:t>
            </a:r>
            <a:endParaRPr lang="en-US" sz="4000" dirty="0"/>
          </a:p>
        </p:txBody>
      </p:sp>
      <p:sp>
        <p:nvSpPr>
          <p:cNvPr id="8" name="Shape 8"/>
          <p:cNvSpPr/>
          <p:nvPr/>
        </p:nvSpPr>
        <p:spPr>
          <a:xfrm>
            <a:off x="914400" y="2602992"/>
            <a:ext cx="10728655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Reading, checking, grading and printing are mixed together.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It is in the class code: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21_report_all_in_main.c</a:t>
            </a:r>
            <a:r>
              <a:rPr lang="en-US" sz="3000" dirty="0">
                <a:solidFill>
                  <a:srgbClr val="18324A"/>
                </a:solidFill>
              </a:rPr>
              <a:t>.</a:t>
            </a:r>
            <a:endParaRPr lang="en-US" sz="3000" dirty="0"/>
          </a:p>
        </p:txBody>
      </p:sp>
      <p:sp>
        <p:nvSpPr>
          <p:cNvPr id="9" name="Shape 9"/>
          <p:cNvSpPr/>
          <p:nvPr/>
        </p:nvSpPr>
        <p:spPr>
          <a:xfrm>
            <a:off x="548640" y="5577840"/>
            <a:ext cx="1109441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5577840"/>
            <a:ext cx="109728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Callout"/>
          <p:cNvSpPr/>
          <p:nvPr/>
        </p:nvSpPr>
        <p:spPr>
          <a:xfrm>
            <a:off x="658368" y="5577840"/>
            <a:ext cx="1098468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To change the grading, you must first </a:t>
            </a:r>
            <a:r>
              <a:rPr lang="en-US" sz="2400" b="1" dirty="0">
                <a:solidFill>
                  <a:srgbClr val="18324A"/>
                </a:solidFill>
              </a:rPr>
              <a:t>find</a:t>
            </a:r>
            <a:r>
              <a:rPr lang="en-US" sz="2400" dirty="0">
                <a:solidFill>
                  <a:srgbClr val="18324A"/>
                </a:solidFill>
              </a:rPr>
              <a:t> it.</a:t>
            </a:r>
            <a:endParaRPr lang="en-US" sz="24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Split: main is a list of steps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66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290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2429002"/>
            <a:ext cx="676656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24290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2746502"/>
            <a:ext cx="676656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27465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Code"/>
          <p:cNvSpPr/>
          <p:nvPr/>
        </p:nvSpPr>
        <p:spPr>
          <a:xfrm>
            <a:off x="548640" y="1261872"/>
            <a:ext cx="6766560" cy="2905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for (int i = 1; i &lt;= 3; i++)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printf("Score of student %d: ", i);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int score = read_between(0, 100);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print_report(i, score);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</p:txBody>
      </p:sp>
      <p:sp>
        <p:nvSpPr>
          <p:cNvPr id="12" name="Shape 12"/>
          <p:cNvSpPr/>
          <p:nvPr/>
        </p:nvSpPr>
        <p:spPr>
          <a:xfrm>
            <a:off x="7589520" y="1261872"/>
            <a:ext cx="405353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7589520" y="1261872"/>
            <a:ext cx="109728" cy="6858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Callout"/>
          <p:cNvSpPr/>
          <p:nvPr/>
        </p:nvSpPr>
        <p:spPr>
          <a:xfrm>
            <a:off x="7699248" y="1261872"/>
            <a:ext cx="394380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Read a score.</a:t>
            </a:r>
            <a:endParaRPr lang="en-US" sz="2400" dirty="0"/>
          </a:p>
        </p:txBody>
      </p:sp>
      <p:sp>
        <p:nvSpPr>
          <p:cNvPr id="15" name="Shape 15"/>
          <p:cNvSpPr/>
          <p:nvPr/>
        </p:nvSpPr>
        <p:spPr>
          <a:xfrm>
            <a:off x="7589520" y="2148840"/>
            <a:ext cx="405353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Shape 16"/>
          <p:cNvSpPr/>
          <p:nvPr/>
        </p:nvSpPr>
        <p:spPr>
          <a:xfrm>
            <a:off x="7589520" y="2148840"/>
            <a:ext cx="109728" cy="68580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Callout"/>
          <p:cNvSpPr/>
          <p:nvPr/>
        </p:nvSpPr>
        <p:spPr>
          <a:xfrm>
            <a:off x="7699248" y="2148840"/>
            <a:ext cx="394380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Print the report.</a:t>
            </a:r>
            <a:endParaRPr lang="en-US" sz="2400" dirty="0"/>
          </a:p>
        </p:txBody>
      </p:sp>
      <p:sp>
        <p:nvSpPr>
          <p:cNvPr id="18" name="Shape 18"/>
          <p:cNvSpPr/>
          <p:nvPr/>
        </p:nvSpPr>
        <p:spPr>
          <a:xfrm>
            <a:off x="7589520" y="3035808"/>
            <a:ext cx="405353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7589520" y="3035808"/>
            <a:ext cx="109728" cy="685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0" name="Callout"/>
          <p:cNvSpPr/>
          <p:nvPr/>
        </p:nvSpPr>
        <p:spPr>
          <a:xfrm>
            <a:off x="7699248" y="3035808"/>
            <a:ext cx="394380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Each step has a </a:t>
            </a:r>
            <a:r>
              <a:rPr lang="en-US" sz="2400" b="1" dirty="0">
                <a:solidFill>
                  <a:srgbClr val="18324A"/>
                </a:solidFill>
              </a:rPr>
              <a:t>name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Step 1: read_between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67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32232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Code"/>
          <p:cNvSpPr/>
          <p:nvPr/>
        </p:nvSpPr>
        <p:spPr>
          <a:xfrm>
            <a:off x="548640" y="1261872"/>
            <a:ext cx="6766560" cy="3223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read_between(int low, int high)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value;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scanf("%d", &amp;value);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while (value &lt; low || value &gt; high)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printf("Type %d to %d: ", low, high);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scanf("%d", &amp;value);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value;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</p:txBody>
      </p:sp>
      <p:sp>
        <p:nvSpPr>
          <p:cNvPr id="8" name="Shape 8"/>
          <p:cNvSpPr/>
          <p:nvPr/>
        </p:nvSpPr>
        <p:spPr>
          <a:xfrm>
            <a:off x="7589520" y="1261872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7589520" y="1261872"/>
            <a:ext cx="109728" cy="10515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Callout"/>
          <p:cNvSpPr/>
          <p:nvPr/>
        </p:nvSpPr>
        <p:spPr>
          <a:xfrm>
            <a:off x="7699248" y="1261872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From two slides ago. Copy it in.</a:t>
            </a:r>
            <a:endParaRPr lang="en-US" sz="24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Step 2: letter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68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4937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Code"/>
          <p:cNvSpPr/>
          <p:nvPr/>
        </p:nvSpPr>
        <p:spPr>
          <a:xfrm>
            <a:off x="548640" y="1261872"/>
            <a:ext cx="6766560" cy="4937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char letter(int score)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if (score &gt;= 90)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return 'A';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} else if (score &gt;= 80)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return 'B';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} else if (score &gt;= 70)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return 'C';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} else if (score &gt;= 60)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return 'D';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'F';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400" dirty="0"/>
          </a:p>
        </p:txBody>
      </p:sp>
      <p:sp>
        <p:nvSpPr>
          <p:cNvPr id="8" name="Shape 8"/>
          <p:cNvSpPr/>
          <p:nvPr/>
        </p:nvSpPr>
        <p:spPr>
          <a:xfrm>
            <a:off x="7589520" y="1261872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7589520" y="1261872"/>
            <a:ext cx="109728" cy="1051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Callout"/>
          <p:cNvSpPr/>
          <p:nvPr/>
        </p:nvSpPr>
        <p:spPr>
          <a:xfrm>
            <a:off x="7699248" y="1261872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From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18_letter.c</a:t>
            </a:r>
            <a:r>
              <a:rPr lang="en-US" sz="2400" dirty="0">
                <a:solidFill>
                  <a:srgbClr val="18324A"/>
                </a:solidFill>
              </a:rPr>
              <a:t>. Copy it in.</a:t>
            </a:r>
            <a:endParaRPr lang="en-US" sz="24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Step 3: print_report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69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7223760" cy="163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2111502"/>
            <a:ext cx="722376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21115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48640" y="1261872"/>
            <a:ext cx="7223760" cy="1635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void print_report(int n, int score)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printf("Student %d: %d points, ", n, score);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printf("grade %c\n", letter(score));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</p:txBody>
      </p:sp>
      <p:sp>
        <p:nvSpPr>
          <p:cNvPr id="10" name="Shape 10"/>
          <p:cNvSpPr/>
          <p:nvPr/>
        </p:nvSpPr>
        <p:spPr>
          <a:xfrm>
            <a:off x="8046720" y="1261872"/>
            <a:ext cx="3596335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8046720" y="1261872"/>
            <a:ext cx="109728" cy="141732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allout"/>
          <p:cNvSpPr/>
          <p:nvPr/>
        </p:nvSpPr>
        <p:spPr>
          <a:xfrm>
            <a:off x="8156448" y="1261872"/>
            <a:ext cx="3486607" cy="141732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A function can call another function: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letter(score)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Run it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70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400800" cy="290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Code"/>
          <p:cNvSpPr/>
          <p:nvPr/>
        </p:nvSpPr>
        <p:spPr>
          <a:xfrm>
            <a:off x="548640" y="1261872"/>
            <a:ext cx="6400800" cy="2905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for (int i = 1; i &lt;= 3; i++)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printf("Score of student %d: ", i);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int score = read_between(0, 100);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print_report(i, score);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</p:txBody>
      </p:sp>
      <p:sp>
        <p:nvSpPr>
          <p:cNvPr id="8" name="Shape 8"/>
          <p:cNvSpPr/>
          <p:nvPr/>
        </p:nvSpPr>
        <p:spPr>
          <a:xfrm>
            <a:off x="7223760" y="1261872"/>
            <a:ext cx="441929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9" name="Shape 9"/>
          <p:cNvSpPr/>
          <p:nvPr/>
        </p:nvSpPr>
        <p:spPr>
          <a:xfrm>
            <a:off x="7223760" y="1645920"/>
            <a:ext cx="4419295" cy="2270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Code"/>
          <p:cNvSpPr/>
          <p:nvPr/>
        </p:nvSpPr>
        <p:spPr>
          <a:xfrm>
            <a:off x="7223760" y="1645920"/>
            <a:ext cx="4419295" cy="2270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Score of student 1: 95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Student 1: 95 points, grade A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Score of student 2: 72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Student 2: 72 points, grade C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Score of student 3: 40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Student 3: 40 points, grade F</a:t>
            </a:r>
            <a:endParaRPr lang="en-US" sz="2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A bad score is caught inside read_between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71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400800" cy="290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2429002"/>
            <a:ext cx="640080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24290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48640" y="1261872"/>
            <a:ext cx="6400800" cy="2905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for (int i = 1; i &lt;= 3; i++)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printf("Score of student %d: ", i);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int score = read_between(0, 100);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print_report(i, score);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</p:txBody>
      </p:sp>
      <p:sp>
        <p:nvSpPr>
          <p:cNvPr id="10" name="Shape 10"/>
          <p:cNvSpPr/>
          <p:nvPr/>
        </p:nvSpPr>
        <p:spPr>
          <a:xfrm>
            <a:off x="7223760" y="1261872"/>
            <a:ext cx="441929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1" name="Shape 11"/>
          <p:cNvSpPr/>
          <p:nvPr/>
        </p:nvSpPr>
        <p:spPr>
          <a:xfrm>
            <a:off x="7223760" y="1645920"/>
            <a:ext cx="4419295" cy="25882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7223760" y="1645920"/>
            <a:ext cx="4419295" cy="2588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Score of student 1: 120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Type 0 to 100: 88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Student 1: 88 points, grade B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Score of student 2: 60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Student 2: 60 points, grade D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Score of student 3: 59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Student 3: 59 points, grade F</a:t>
            </a:r>
            <a:endParaRPr lang="en-US" sz="2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Why split a program?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72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536192"/>
            <a:ext cx="2602154" cy="7315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Read</a:t>
            </a:r>
            <a:endParaRPr lang="en-US" sz="2600" dirty="0"/>
          </a:p>
        </p:txBody>
      </p:sp>
      <p:sp>
        <p:nvSpPr>
          <p:cNvPr id="7" name="Shape 7"/>
          <p:cNvSpPr/>
          <p:nvPr/>
        </p:nvSpPr>
        <p:spPr>
          <a:xfrm>
            <a:off x="548640" y="2267712"/>
            <a:ext cx="2602154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73152" tIns="91440" rIns="73152" bIns="9144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main</a:t>
            </a:r>
            <a:r>
              <a:rPr lang="en-US" sz="2400" dirty="0">
                <a:solidFill>
                  <a:srgbClr val="18324A"/>
                </a:solidFill>
              </a:rPr>
              <a:t> reads</a:t>
            </a:r>
            <a:endParaRPr lang="en-US" sz="2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18324A"/>
                </a:solidFill>
              </a:rPr>
              <a:t>like a list</a:t>
            </a:r>
            <a:endParaRPr lang="en-US" sz="2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18324A"/>
                </a:solidFill>
              </a:rPr>
              <a:t>of steps.</a:t>
            </a:r>
            <a:endParaRPr lang="en-US" sz="2400" dirty="0"/>
          </a:p>
        </p:txBody>
      </p:sp>
      <p:sp>
        <p:nvSpPr>
          <p:cNvPr id="8" name="Shape 8"/>
          <p:cNvSpPr/>
          <p:nvPr/>
        </p:nvSpPr>
        <p:spPr>
          <a:xfrm>
            <a:off x="3379394" y="1536192"/>
            <a:ext cx="2602154" cy="73152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Change</a:t>
            </a:r>
            <a:endParaRPr lang="en-US" sz="2600" dirty="0"/>
          </a:p>
        </p:txBody>
      </p:sp>
      <p:sp>
        <p:nvSpPr>
          <p:cNvPr id="9" name="Shape 9"/>
          <p:cNvSpPr/>
          <p:nvPr/>
        </p:nvSpPr>
        <p:spPr>
          <a:xfrm>
            <a:off x="3379394" y="2267712"/>
            <a:ext cx="2602154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73152" tIns="91440" rIns="73152" bIns="9144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18324A"/>
                </a:solidFill>
              </a:rPr>
              <a:t>New grades?</a:t>
            </a:r>
            <a:endParaRPr lang="en-US" sz="2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18324A"/>
                </a:solidFill>
              </a:rPr>
              <a:t>Change one</a:t>
            </a:r>
            <a:endParaRPr lang="en-US" sz="2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18324A"/>
                </a:solidFill>
              </a:rPr>
              <a:t>function.</a:t>
            </a:r>
            <a:endParaRPr lang="en-US" sz="2400" dirty="0"/>
          </a:p>
        </p:txBody>
      </p:sp>
      <p:sp>
        <p:nvSpPr>
          <p:cNvPr id="10" name="Shape 10"/>
          <p:cNvSpPr/>
          <p:nvPr/>
        </p:nvSpPr>
        <p:spPr>
          <a:xfrm>
            <a:off x="6210148" y="1536192"/>
            <a:ext cx="2602154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Test</a:t>
            </a:r>
            <a:endParaRPr lang="en-US" sz="2600" dirty="0"/>
          </a:p>
        </p:txBody>
      </p:sp>
      <p:sp>
        <p:nvSpPr>
          <p:cNvPr id="11" name="Shape 11"/>
          <p:cNvSpPr/>
          <p:nvPr/>
        </p:nvSpPr>
        <p:spPr>
          <a:xfrm>
            <a:off x="6210148" y="2267712"/>
            <a:ext cx="2602154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txBody>
          <a:bodyPr wrap="square" lIns="73152" tIns="91440" rIns="73152" bIns="9144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18324A"/>
                </a:solidFill>
              </a:rPr>
              <a:t>Try </a:t>
            </a:r>
            <a:r>
              <a:rPr lang="en-US" sz="24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letter(89)</a:t>
            </a:r>
            <a:endParaRPr lang="en-US" sz="2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18324A"/>
                </a:solidFill>
              </a:rPr>
              <a:t>on its own.</a:t>
            </a:r>
            <a:endParaRPr lang="en-US" sz="2400" dirty="0"/>
          </a:p>
        </p:txBody>
      </p:sp>
      <p:sp>
        <p:nvSpPr>
          <p:cNvPr id="12" name="Shape 12"/>
          <p:cNvSpPr/>
          <p:nvPr/>
        </p:nvSpPr>
        <p:spPr>
          <a:xfrm>
            <a:off x="9040901" y="1536192"/>
            <a:ext cx="2602154" cy="7315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Reuse</a:t>
            </a:r>
            <a:endParaRPr lang="en-US" sz="2600" dirty="0"/>
          </a:p>
        </p:txBody>
      </p:sp>
      <p:sp>
        <p:nvSpPr>
          <p:cNvPr id="13" name="Shape 13"/>
          <p:cNvSpPr/>
          <p:nvPr/>
        </p:nvSpPr>
        <p:spPr>
          <a:xfrm>
            <a:off x="9040901" y="2267712"/>
            <a:ext cx="2602154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txBody>
          <a:bodyPr wrap="square" lIns="73152" tIns="91440" rIns="73152" bIns="9144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read_between</a:t>
            </a:r>
            <a:endParaRPr lang="en-US" sz="2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18324A"/>
                </a:solidFill>
              </a:rPr>
              <a:t>works for months,</a:t>
            </a:r>
            <a:endParaRPr lang="en-US" sz="2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2400" dirty="0">
                <a:solidFill>
                  <a:srgbClr val="18324A"/>
                </a:solidFill>
              </a:rPr>
              <a:t>days, scores.</a:t>
            </a:r>
            <a:endParaRPr lang="en-US" sz="24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31520" y="2011680"/>
            <a:ext cx="1188720" cy="1188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6</a:t>
            </a:r>
            <a:endParaRPr lang="en-US" sz="5400" dirty="0"/>
          </a:p>
        </p:txBody>
      </p:sp>
      <p:sp>
        <p:nvSpPr>
          <p:cNvPr id="3" name="Shape 3"/>
          <p:cNvSpPr/>
          <p:nvPr/>
        </p:nvSpPr>
        <p:spPr>
          <a:xfrm>
            <a:off x="2286000" y="1920240"/>
            <a:ext cx="932688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Common bugs</a:t>
            </a:r>
            <a:endParaRPr lang="en-US" sz="4800" dirty="0"/>
          </a:p>
        </p:txBody>
      </p:sp>
      <p:sp>
        <p:nvSpPr>
          <p:cNvPr id="4" name="Shape 4"/>
          <p:cNvSpPr/>
          <p:nvPr/>
        </p:nvSpPr>
        <p:spPr>
          <a:xfrm>
            <a:off x="2286000" y="3474720"/>
            <a:ext cx="93268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D7E3F0"/>
                </a:solidFill>
              </a:rPr>
              <a:t>Each one compiled with gcc 16.2</a:t>
            </a:r>
            <a:endParaRPr lang="en-US" sz="2600" dirty="0"/>
          </a:p>
        </p:txBody>
      </p:sp>
      <p:sp>
        <p:nvSpPr>
          <p:cNvPr id="5" name="Shape 5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7E3F0"/>
                </a:solidFill>
              </a:rPr>
              <a:t>CSCI 1101 · Programming Principles I · Class 7</a:t>
            </a:r>
            <a:endParaRPr lang="en-US" sz="12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Five function bugs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74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731520" y="1307592"/>
            <a:ext cx="640080" cy="6400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Shape 7"/>
          <p:cNvSpPr/>
          <p:nvPr/>
        </p:nvSpPr>
        <p:spPr>
          <a:xfrm>
            <a:off x="1691640" y="13075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A missing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return</a:t>
            </a:r>
            <a:endParaRPr lang="en-US" sz="2800" dirty="0"/>
          </a:p>
        </p:txBody>
      </p:sp>
      <p:sp>
        <p:nvSpPr>
          <p:cNvPr id="8" name="Shape 8"/>
          <p:cNvSpPr/>
          <p:nvPr/>
        </p:nvSpPr>
        <p:spPr>
          <a:xfrm>
            <a:off x="731520" y="2221992"/>
            <a:ext cx="640080" cy="64008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1691640" y="22219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The wrong number of values in a call</a:t>
            </a:r>
            <a:endParaRPr lang="en-US" sz="2800" dirty="0"/>
          </a:p>
        </p:txBody>
      </p:sp>
      <p:sp>
        <p:nvSpPr>
          <p:cNvPr id="10" name="Shape 10"/>
          <p:cNvSpPr/>
          <p:nvPr/>
        </p:nvSpPr>
        <p:spPr>
          <a:xfrm>
            <a:off x="731520" y="3136392"/>
            <a:ext cx="64008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Shape 11"/>
          <p:cNvSpPr/>
          <p:nvPr/>
        </p:nvSpPr>
        <p:spPr>
          <a:xfrm>
            <a:off x="1691640" y="31363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A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;</a:t>
            </a:r>
            <a:r>
              <a:rPr lang="en-US" sz="2800" dirty="0">
                <a:solidFill>
                  <a:srgbClr val="18324A"/>
                </a:solidFill>
              </a:rPr>
              <a:t> after the first line of the function</a:t>
            </a:r>
            <a:endParaRPr lang="en-US" sz="2800" dirty="0"/>
          </a:p>
        </p:txBody>
      </p:sp>
      <p:sp>
        <p:nvSpPr>
          <p:cNvPr id="12" name="Shape 12"/>
          <p:cNvSpPr/>
          <p:nvPr/>
        </p:nvSpPr>
        <p:spPr>
          <a:xfrm>
            <a:off x="731520" y="4050792"/>
            <a:ext cx="640080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1691640" y="40507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A call without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()</a:t>
            </a:r>
            <a:endParaRPr lang="en-US" sz="2800" dirty="0"/>
          </a:p>
        </p:txBody>
      </p:sp>
      <p:sp>
        <p:nvSpPr>
          <p:cNvPr id="14" name="Shape 14"/>
          <p:cNvSpPr/>
          <p:nvPr/>
        </p:nvSpPr>
        <p:spPr>
          <a:xfrm>
            <a:off x="731520" y="4965192"/>
            <a:ext cx="640080" cy="6400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lang="en-US" sz="2400" dirty="0"/>
          </a:p>
        </p:txBody>
      </p:sp>
      <p:sp>
        <p:nvSpPr>
          <p:cNvPr id="15" name="Shape 15"/>
          <p:cNvSpPr/>
          <p:nvPr/>
        </p:nvSpPr>
        <p:spPr>
          <a:xfrm>
            <a:off x="1691640" y="49651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A function used before gcc has seen it</a:t>
            </a:r>
            <a:endParaRPr lang="en-US" sz="28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Predict: one return is missing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75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3540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Code"/>
          <p:cNvSpPr/>
          <p:nvPr/>
        </p:nvSpPr>
        <p:spPr>
          <a:xfrm>
            <a:off x="548640" y="1261872"/>
            <a:ext cx="6766560" cy="3540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max(int a, int b)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if (a &gt; b)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return a;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printf("max(9, 3) = %d\n", max(9, 3));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printf("max(3, 9) = %d\n", max(3, 9));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000" dirty="0"/>
          </a:p>
        </p:txBody>
      </p:sp>
      <p:sp>
        <p:nvSpPr>
          <p:cNvPr id="8" name="Shape 8"/>
          <p:cNvSpPr/>
          <p:nvPr/>
        </p:nvSpPr>
        <p:spPr>
          <a:xfrm>
            <a:off x="7589520" y="1261872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6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7589520" y="1261872"/>
            <a:ext cx="109728" cy="10515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Callout"/>
          <p:cNvSpPr/>
          <p:nvPr/>
        </p:nvSpPr>
        <p:spPr>
          <a:xfrm>
            <a:off x="7699248" y="1261872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There is no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lang="en-US" sz="2400" dirty="0">
                <a:solidFill>
                  <a:srgbClr val="18324A"/>
                </a:solidFill>
              </a:rPr>
              <a:t> when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a &gt; b</a:t>
            </a:r>
            <a:r>
              <a:rPr lang="en-US" sz="2400" dirty="0">
                <a:solidFill>
                  <a:srgbClr val="18324A"/>
                </a:solidFill>
              </a:rPr>
              <a:t> is false.</a:t>
            </a:r>
            <a:endParaRPr lang="en-US" sz="2400" dirty="0"/>
          </a:p>
        </p:txBody>
      </p:sp>
      <p:sp>
        <p:nvSpPr>
          <p:cNvPr id="11" name="Shape 11"/>
          <p:cNvSpPr/>
          <p:nvPr/>
        </p:nvSpPr>
        <p:spPr>
          <a:xfrm>
            <a:off x="7589520" y="2514600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7589520" y="2514600"/>
            <a:ext cx="109728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Callout"/>
          <p:cNvSpPr/>
          <p:nvPr/>
        </p:nvSpPr>
        <p:spPr>
          <a:xfrm>
            <a:off x="7699248" y="2514600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8324A"/>
                </a:solidFill>
              </a:rPr>
              <a:t>Predict:</a:t>
            </a:r>
            <a:r>
              <a:rPr lang="en-US" sz="2400" dirty="0">
                <a:solidFill>
                  <a:srgbClr val="18324A"/>
                </a:solidFill>
              </a:rPr>
              <a:t> what does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max(3, 9)</a:t>
            </a:r>
            <a:r>
              <a:rPr lang="en-US" sz="2400" dirty="0">
                <a:solidFill>
                  <a:srgbClr val="18324A"/>
                </a:solidFill>
              </a:rPr>
              <a:t> print?</a:t>
            </a:r>
            <a:endParaRPr lang="en-US" sz="24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A missing return: a warning, then a wrong answer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76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3540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2746502"/>
            <a:ext cx="676656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27465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48640" y="1261872"/>
            <a:ext cx="6766560" cy="3540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max(int a, int b)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if (a &gt; b)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return a;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printf("max(9, 3) = %d\n", max(9, 3));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printf("max(3, 9) = %d\n", max(3, 9));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000" dirty="0"/>
          </a:p>
        </p:txBody>
      </p:sp>
      <p:sp>
        <p:nvSpPr>
          <p:cNvPr id="10" name="Shape 10"/>
          <p:cNvSpPr/>
          <p:nvPr/>
        </p:nvSpPr>
        <p:spPr>
          <a:xfrm>
            <a:off x="7589520" y="1261872"/>
            <a:ext cx="40535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1" name="Shape 11"/>
          <p:cNvSpPr/>
          <p:nvPr/>
        </p:nvSpPr>
        <p:spPr>
          <a:xfrm>
            <a:off x="7589520" y="1645920"/>
            <a:ext cx="4053535" cy="1127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7589520" y="1645920"/>
            <a:ext cx="4053535" cy="1127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max(9, 3) = 9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max(3, 9) = 3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7589520" y="3048000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7589520" y="3048000"/>
            <a:ext cx="109728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allout"/>
          <p:cNvSpPr/>
          <p:nvPr/>
        </p:nvSpPr>
        <p:spPr>
          <a:xfrm>
            <a:off x="7699248" y="3048000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gcc: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control reaches end of non-void function</a:t>
            </a:r>
            <a:endParaRPr lang="en-US" sz="2400" dirty="0"/>
          </a:p>
        </p:txBody>
      </p:sp>
      <p:sp>
        <p:nvSpPr>
          <p:cNvPr id="16" name="Shape 16"/>
          <p:cNvSpPr/>
          <p:nvPr/>
        </p:nvSpPr>
        <p:spPr>
          <a:xfrm>
            <a:off x="7589520" y="4300728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6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7589520" y="4300728"/>
            <a:ext cx="109728" cy="10515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Callout"/>
          <p:cNvSpPr/>
          <p:nvPr/>
        </p:nvSpPr>
        <p:spPr>
          <a:xfrm>
            <a:off x="7699248" y="4300728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It builds. It runs. It is </a:t>
            </a:r>
            <a:r>
              <a:rPr lang="en-US" sz="2400" b="1" dirty="0">
                <a:solidFill>
                  <a:srgbClr val="18324A"/>
                </a:solidFill>
              </a:rPr>
              <a:t>wrong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The wrong number of values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77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5669280" cy="11912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Code"/>
          <p:cNvSpPr/>
          <p:nvPr/>
        </p:nvSpPr>
        <p:spPr>
          <a:xfrm>
            <a:off x="548640" y="1261872"/>
            <a:ext cx="5669280" cy="1191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printf("%d\n", square(3, 4));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printf("%d\n", add(5));</a:t>
            </a:r>
            <a:endParaRPr lang="en-US" sz="2600" dirty="0"/>
          </a:p>
        </p:txBody>
      </p:sp>
      <p:sp>
        <p:nvSpPr>
          <p:cNvPr id="8" name="Shape 8"/>
          <p:cNvSpPr/>
          <p:nvPr/>
        </p:nvSpPr>
        <p:spPr>
          <a:xfrm>
            <a:off x="6492240" y="1261872"/>
            <a:ext cx="515081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gcc 16.2 says</a:t>
            </a:r>
            <a:endParaRPr lang="en-US" sz="1600" dirty="0"/>
          </a:p>
        </p:txBody>
      </p:sp>
      <p:sp>
        <p:nvSpPr>
          <p:cNvPr id="9" name="Shape 9"/>
          <p:cNvSpPr/>
          <p:nvPr/>
        </p:nvSpPr>
        <p:spPr>
          <a:xfrm>
            <a:off x="6492240" y="1645920"/>
            <a:ext cx="5150815" cy="3032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Code"/>
          <p:cNvSpPr/>
          <p:nvPr/>
        </p:nvSpPr>
        <p:spPr>
          <a:xfrm>
            <a:off x="6492240" y="1645920"/>
            <a:ext cx="5150815" cy="3032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error: too many arguments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to function 'square';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expected 1, have 2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error: too few arguments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to function 'add';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expected 2, have 1</a:t>
            </a:r>
            <a:endParaRPr lang="en-US" sz="24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A semicolon after the first line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78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2397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1495552"/>
            <a:ext cx="6766560" cy="508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1495552"/>
            <a:ext cx="82296" cy="50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48640" y="1261872"/>
            <a:ext cx="6766560" cy="2397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int square(int x);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{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x * x;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3200" dirty="0"/>
          </a:p>
        </p:txBody>
      </p:sp>
      <p:sp>
        <p:nvSpPr>
          <p:cNvPr id="10" name="Shape 10"/>
          <p:cNvSpPr/>
          <p:nvPr/>
        </p:nvSpPr>
        <p:spPr>
          <a:xfrm>
            <a:off x="7589520" y="1261872"/>
            <a:ext cx="40535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gcc 16.2 says</a:t>
            </a:r>
            <a:endParaRPr lang="en-US" sz="1600" dirty="0"/>
          </a:p>
        </p:txBody>
      </p:sp>
      <p:sp>
        <p:nvSpPr>
          <p:cNvPr id="11" name="Shape 11"/>
          <p:cNvSpPr/>
          <p:nvPr/>
        </p:nvSpPr>
        <p:spPr>
          <a:xfrm>
            <a:off x="7589520" y="1645920"/>
            <a:ext cx="4053535" cy="1508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7589520" y="1645920"/>
            <a:ext cx="4053535" cy="1508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error: expected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identifier or '('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before '{' token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7589520" y="3429000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6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7589520" y="3429000"/>
            <a:ext cx="109728" cy="10515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allout"/>
          <p:cNvSpPr/>
          <p:nvPr/>
        </p:nvSpPr>
        <p:spPr>
          <a:xfrm>
            <a:off x="7699248" y="3429000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The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;</a:t>
            </a:r>
            <a:r>
              <a:rPr lang="en-US" sz="2400" dirty="0">
                <a:solidFill>
                  <a:srgbClr val="18324A"/>
                </a:solidFill>
              </a:rPr>
              <a:t> makes it a prototype.</a:t>
            </a:r>
            <a:endParaRPr lang="en-US" sz="2400" dirty="0"/>
          </a:p>
        </p:txBody>
      </p:sp>
      <p:sp>
        <p:nvSpPr>
          <p:cNvPr id="16" name="Shape 16"/>
          <p:cNvSpPr/>
          <p:nvPr/>
        </p:nvSpPr>
        <p:spPr>
          <a:xfrm>
            <a:off x="7589520" y="4681728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6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7589520" y="4681728"/>
            <a:ext cx="109728" cy="10515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Callout"/>
          <p:cNvSpPr/>
          <p:nvPr/>
        </p:nvSpPr>
        <p:spPr>
          <a:xfrm>
            <a:off x="7699248" y="4681728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The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{</a:t>
            </a:r>
            <a:r>
              <a:rPr lang="en-US" sz="2400" dirty="0">
                <a:solidFill>
                  <a:srgbClr val="18324A"/>
                </a:solidFill>
              </a:rPr>
              <a:t> after it belongs to nothing.</a:t>
            </a:r>
            <a:endParaRPr lang="en-US" sz="24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A call without brackets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79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766560" cy="3413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2511552"/>
            <a:ext cx="6766560" cy="508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2511552"/>
            <a:ext cx="82296" cy="50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48640" y="1261872"/>
            <a:ext cx="6766560" cy="3413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greet();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greet;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printf("end\n");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3200" dirty="0"/>
          </a:p>
        </p:txBody>
      </p:sp>
      <p:sp>
        <p:nvSpPr>
          <p:cNvPr id="10" name="Shape 10"/>
          <p:cNvSpPr/>
          <p:nvPr/>
        </p:nvSpPr>
        <p:spPr>
          <a:xfrm>
            <a:off x="7589520" y="1261872"/>
            <a:ext cx="40535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1" name="Shape 11"/>
          <p:cNvSpPr/>
          <p:nvPr/>
        </p:nvSpPr>
        <p:spPr>
          <a:xfrm>
            <a:off x="7589520" y="1645920"/>
            <a:ext cx="4053535" cy="1127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7589520" y="1645920"/>
            <a:ext cx="4053535" cy="1127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Hello!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end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7589520" y="3048000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7589520" y="3048000"/>
            <a:ext cx="109728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allout"/>
          <p:cNvSpPr/>
          <p:nvPr/>
        </p:nvSpPr>
        <p:spPr>
          <a:xfrm>
            <a:off x="7699248" y="3048000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gcc -Wall: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statement with no effect</a:t>
            </a:r>
            <a:endParaRPr lang="en-US" sz="2400" dirty="0"/>
          </a:p>
        </p:txBody>
      </p:sp>
      <p:sp>
        <p:nvSpPr>
          <p:cNvPr id="16" name="Shape 16"/>
          <p:cNvSpPr/>
          <p:nvPr/>
        </p:nvSpPr>
        <p:spPr>
          <a:xfrm>
            <a:off x="7589520" y="4300728"/>
            <a:ext cx="40535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7589520" y="4300728"/>
            <a:ext cx="109728" cy="105156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Callout"/>
          <p:cNvSpPr/>
          <p:nvPr/>
        </p:nvSpPr>
        <p:spPr>
          <a:xfrm>
            <a:off x="7699248" y="4300728"/>
            <a:ext cx="39438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greet;</a:t>
            </a:r>
            <a:r>
              <a:rPr lang="en-US" sz="2400" dirty="0">
                <a:solidFill>
                  <a:srgbClr val="18324A"/>
                </a:solidFill>
              </a:rPr>
              <a:t> names it.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greet();</a:t>
            </a:r>
            <a:r>
              <a:rPr lang="en-US" sz="2400" dirty="0">
                <a:solidFill>
                  <a:srgbClr val="18324A"/>
                </a:solidFill>
              </a:rPr>
              <a:t> calls it.</a:t>
            </a:r>
            <a:endParaRPr lang="en-US" sz="24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What gcc says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80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5212080"/>
            <a:ext cx="1109441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5212080"/>
            <a:ext cx="109728" cy="10515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Callout"/>
          <p:cNvSpPr/>
          <p:nvPr/>
        </p:nvSpPr>
        <p:spPr>
          <a:xfrm>
            <a:off x="658368" y="5212080"/>
            <a:ext cx="1098468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The two </a:t>
            </a:r>
            <a:r>
              <a:rPr lang="en-US" sz="2400" b="1" dirty="0">
                <a:solidFill>
                  <a:srgbClr val="18324A"/>
                </a:solidFill>
              </a:rPr>
              <a:t>built</a:t>
            </a:r>
            <a:r>
              <a:rPr lang="en-US" sz="2400" dirty="0">
                <a:solidFill>
                  <a:srgbClr val="18324A"/>
                </a:solidFill>
              </a:rPr>
              <a:t> rows are the dangerous ones: a program that runs wrong. Always use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-Wall</a:t>
            </a:r>
            <a:r>
              <a:rPr lang="en-US" sz="2400" dirty="0">
                <a:solidFill>
                  <a:srgbClr val="18324A"/>
                </a:solidFill>
              </a:rPr>
              <a:t> and read it.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548640" y="1261872"/>
            <a:ext cx="3263063" cy="6202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Bug</a:t>
            </a:r>
            <a:endParaRPr lang="en-US" sz="1800" dirty="0"/>
          </a:p>
        </p:txBody>
      </p:sp>
      <p:sp>
        <p:nvSpPr>
          <p:cNvPr id="10" name="Shape 10"/>
          <p:cNvSpPr/>
          <p:nvPr/>
        </p:nvSpPr>
        <p:spPr>
          <a:xfrm>
            <a:off x="3811703" y="1261872"/>
            <a:ext cx="5655976" cy="6202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gcc 16.2</a:t>
            </a:r>
            <a:endParaRPr lang="en-US" sz="1800" dirty="0"/>
          </a:p>
        </p:txBody>
      </p:sp>
      <p:sp>
        <p:nvSpPr>
          <p:cNvPr id="11" name="Shape 11"/>
          <p:cNvSpPr/>
          <p:nvPr/>
        </p:nvSpPr>
        <p:spPr>
          <a:xfrm>
            <a:off x="9467680" y="1261872"/>
            <a:ext cx="2175376" cy="6202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Program built?</a:t>
            </a:r>
            <a:endParaRPr lang="en-US" sz="1800" dirty="0"/>
          </a:p>
        </p:txBody>
      </p:sp>
      <p:sp>
        <p:nvSpPr>
          <p:cNvPr id="12" name="Shape 12"/>
          <p:cNvSpPr/>
          <p:nvPr/>
        </p:nvSpPr>
        <p:spPr>
          <a:xfrm>
            <a:off x="548640" y="1882140"/>
            <a:ext cx="3263063" cy="6202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8324A"/>
                </a:solidFill>
              </a:rPr>
              <a:t>no </a:t>
            </a:r>
            <a:r>
              <a:rPr lang="en-US" sz="22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return</a:t>
            </a:r>
            <a:endParaRPr lang="en-US" sz="2200" dirty="0"/>
          </a:p>
        </p:txBody>
      </p:sp>
      <p:sp>
        <p:nvSpPr>
          <p:cNvPr id="13" name="Shape 13"/>
          <p:cNvSpPr/>
          <p:nvPr/>
        </p:nvSpPr>
        <p:spPr>
          <a:xfrm>
            <a:off x="3811703" y="1882140"/>
            <a:ext cx="5655976" cy="6202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8324A"/>
                </a:solidFill>
              </a:rPr>
              <a:t>warning: control reaches end...</a:t>
            </a:r>
            <a:endParaRPr lang="en-US" sz="2200" dirty="0"/>
          </a:p>
        </p:txBody>
      </p:sp>
      <p:sp>
        <p:nvSpPr>
          <p:cNvPr id="14" name="Shape 14"/>
          <p:cNvSpPr/>
          <p:nvPr/>
        </p:nvSpPr>
        <p:spPr>
          <a:xfrm>
            <a:off x="9467680" y="1882140"/>
            <a:ext cx="2175376" cy="6202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8324A"/>
                </a:solidFill>
              </a:rPr>
              <a:t>built</a:t>
            </a:r>
            <a:endParaRPr lang="en-US" sz="2200" dirty="0"/>
          </a:p>
        </p:txBody>
      </p:sp>
      <p:sp>
        <p:nvSpPr>
          <p:cNvPr id="15" name="Shape 15"/>
          <p:cNvSpPr/>
          <p:nvPr/>
        </p:nvSpPr>
        <p:spPr>
          <a:xfrm>
            <a:off x="548640" y="2502408"/>
            <a:ext cx="3263063" cy="6202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8324A"/>
                </a:solidFill>
              </a:rPr>
              <a:t>wrong number of values</a:t>
            </a:r>
            <a:endParaRPr lang="en-US" sz="2200" dirty="0"/>
          </a:p>
        </p:txBody>
      </p:sp>
      <p:sp>
        <p:nvSpPr>
          <p:cNvPr id="16" name="Shape 16"/>
          <p:cNvSpPr/>
          <p:nvPr/>
        </p:nvSpPr>
        <p:spPr>
          <a:xfrm>
            <a:off x="3811703" y="2502408"/>
            <a:ext cx="5655976" cy="6202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8324A"/>
                </a:solidFill>
              </a:rPr>
              <a:t>error: too many / too few arguments</a:t>
            </a:r>
            <a:endParaRPr lang="en-US" sz="2200" dirty="0"/>
          </a:p>
        </p:txBody>
      </p:sp>
      <p:sp>
        <p:nvSpPr>
          <p:cNvPr id="17" name="Shape 17"/>
          <p:cNvSpPr/>
          <p:nvPr/>
        </p:nvSpPr>
        <p:spPr>
          <a:xfrm>
            <a:off x="9467680" y="2502408"/>
            <a:ext cx="2175376" cy="6202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8324A"/>
                </a:solidFill>
              </a:rPr>
              <a:t>none</a:t>
            </a:r>
            <a:endParaRPr lang="en-US" sz="2200" dirty="0"/>
          </a:p>
        </p:txBody>
      </p:sp>
      <p:sp>
        <p:nvSpPr>
          <p:cNvPr id="18" name="Shape 18"/>
          <p:cNvSpPr/>
          <p:nvPr/>
        </p:nvSpPr>
        <p:spPr>
          <a:xfrm>
            <a:off x="548640" y="3122676"/>
            <a:ext cx="3263063" cy="6202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;</a:t>
            </a:r>
            <a:r>
              <a:rPr lang="en-US" sz="2200" dirty="0">
                <a:solidFill>
                  <a:srgbClr val="18324A"/>
                </a:solidFill>
              </a:rPr>
              <a:t> after the first line</a:t>
            </a:r>
            <a:endParaRPr lang="en-US" sz="2200" dirty="0"/>
          </a:p>
        </p:txBody>
      </p:sp>
      <p:sp>
        <p:nvSpPr>
          <p:cNvPr id="19" name="Shape 19"/>
          <p:cNvSpPr/>
          <p:nvPr/>
        </p:nvSpPr>
        <p:spPr>
          <a:xfrm>
            <a:off x="3811703" y="3122676"/>
            <a:ext cx="5655976" cy="6202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8324A"/>
                </a:solidFill>
              </a:rPr>
              <a:t>error: expected identifier or '('</a:t>
            </a:r>
            <a:endParaRPr lang="en-US" sz="2200" dirty="0"/>
          </a:p>
        </p:txBody>
      </p:sp>
      <p:sp>
        <p:nvSpPr>
          <p:cNvPr id="20" name="Shape 20"/>
          <p:cNvSpPr/>
          <p:nvPr/>
        </p:nvSpPr>
        <p:spPr>
          <a:xfrm>
            <a:off x="9467680" y="3122676"/>
            <a:ext cx="2175376" cy="6202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8324A"/>
                </a:solidFill>
              </a:rPr>
              <a:t>none</a:t>
            </a:r>
            <a:endParaRPr lang="en-US" sz="2200" dirty="0"/>
          </a:p>
        </p:txBody>
      </p:sp>
      <p:sp>
        <p:nvSpPr>
          <p:cNvPr id="21" name="Shape 21"/>
          <p:cNvSpPr/>
          <p:nvPr/>
        </p:nvSpPr>
        <p:spPr>
          <a:xfrm>
            <a:off x="548640" y="3742944"/>
            <a:ext cx="3263063" cy="6202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8324A"/>
                </a:solidFill>
              </a:rPr>
              <a:t>no </a:t>
            </a:r>
            <a:r>
              <a:rPr lang="en-US" sz="22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()</a:t>
            </a:r>
            <a:r>
              <a:rPr lang="en-US" sz="2200" dirty="0">
                <a:solidFill>
                  <a:srgbClr val="18324A"/>
                </a:solidFill>
              </a:rPr>
              <a:t> in the call</a:t>
            </a:r>
            <a:endParaRPr lang="en-US" sz="2200" dirty="0"/>
          </a:p>
        </p:txBody>
      </p:sp>
      <p:sp>
        <p:nvSpPr>
          <p:cNvPr id="22" name="Shape 22"/>
          <p:cNvSpPr/>
          <p:nvPr/>
        </p:nvSpPr>
        <p:spPr>
          <a:xfrm>
            <a:off x="3811703" y="3742944"/>
            <a:ext cx="5655976" cy="6202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8324A"/>
                </a:solidFill>
              </a:rPr>
              <a:t>warning: statement with no effect</a:t>
            </a:r>
            <a:endParaRPr lang="en-US" sz="2200" dirty="0"/>
          </a:p>
        </p:txBody>
      </p:sp>
      <p:sp>
        <p:nvSpPr>
          <p:cNvPr id="23" name="Shape 23"/>
          <p:cNvSpPr/>
          <p:nvPr/>
        </p:nvSpPr>
        <p:spPr>
          <a:xfrm>
            <a:off x="9467680" y="3742944"/>
            <a:ext cx="2175376" cy="6202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8324A"/>
                </a:solidFill>
              </a:rPr>
              <a:t>built</a:t>
            </a:r>
            <a:endParaRPr lang="en-US" sz="2200" dirty="0"/>
          </a:p>
        </p:txBody>
      </p:sp>
      <p:sp>
        <p:nvSpPr>
          <p:cNvPr id="24" name="Shape 24"/>
          <p:cNvSpPr/>
          <p:nvPr/>
        </p:nvSpPr>
        <p:spPr>
          <a:xfrm>
            <a:off x="548640" y="4363212"/>
            <a:ext cx="3263063" cy="6202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8324A"/>
                </a:solidFill>
              </a:rPr>
              <a:t>used before it is seen</a:t>
            </a:r>
            <a:endParaRPr lang="en-US" sz="2200" dirty="0"/>
          </a:p>
        </p:txBody>
      </p:sp>
      <p:sp>
        <p:nvSpPr>
          <p:cNvPr id="25" name="Shape 25"/>
          <p:cNvSpPr/>
          <p:nvPr/>
        </p:nvSpPr>
        <p:spPr>
          <a:xfrm>
            <a:off x="3811703" y="4363212"/>
            <a:ext cx="5655976" cy="6202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8324A"/>
                </a:solidFill>
              </a:rPr>
              <a:t>error: implicit declaration</a:t>
            </a:r>
            <a:endParaRPr lang="en-US" sz="2200" dirty="0"/>
          </a:p>
        </p:txBody>
      </p:sp>
      <p:sp>
        <p:nvSpPr>
          <p:cNvPr id="26" name="Shape 26"/>
          <p:cNvSpPr/>
          <p:nvPr/>
        </p:nvSpPr>
        <p:spPr>
          <a:xfrm>
            <a:off x="9467680" y="4363212"/>
            <a:ext cx="2175376" cy="6202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8324A"/>
                </a:solidFill>
              </a:rPr>
              <a:t>none</a:t>
            </a:r>
            <a:endParaRPr lang="en-US" sz="22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31520" y="2011680"/>
            <a:ext cx="1188720" cy="1188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7</a:t>
            </a:r>
            <a:endParaRPr lang="en-US" sz="5400" dirty="0"/>
          </a:p>
        </p:txBody>
      </p:sp>
      <p:sp>
        <p:nvSpPr>
          <p:cNvPr id="3" name="Shape 3"/>
          <p:cNvSpPr/>
          <p:nvPr/>
        </p:nvSpPr>
        <p:spPr>
          <a:xfrm>
            <a:off x="2286000" y="1920240"/>
            <a:ext cx="932688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Now you write</a:t>
            </a:r>
            <a:endParaRPr lang="en-US" sz="4800" dirty="0"/>
          </a:p>
        </p:txBody>
      </p:sp>
      <p:sp>
        <p:nvSpPr>
          <p:cNvPr id="4" name="Shape 4"/>
          <p:cNvSpPr/>
          <p:nvPr/>
        </p:nvSpPr>
        <p:spPr>
          <a:xfrm>
            <a:off x="2286000" y="3474720"/>
            <a:ext cx="93268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D7E3F0"/>
                </a:solidFill>
              </a:rPr>
              <a:t>Two functions in the room, two at home</a:t>
            </a:r>
            <a:endParaRPr lang="en-US" sz="2600" dirty="0"/>
          </a:p>
        </p:txBody>
      </p:sp>
      <p:sp>
        <p:nvSpPr>
          <p:cNvPr id="5" name="Shape 5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7E3F0"/>
                </a:solidFill>
              </a:rPr>
              <a:t>CSCI 1101 · Programming Principles I · Class 7</a:t>
            </a:r>
            <a:endParaRPr lang="en-US" sz="12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Four small functions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82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731520" y="1307592"/>
            <a:ext cx="640080" cy="6400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Shape 7"/>
          <p:cNvSpPr/>
          <p:nvPr/>
        </p:nvSpPr>
        <p:spPr>
          <a:xfrm>
            <a:off x="1691640" y="13075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8324A"/>
                </a:solidFill>
              </a:rPr>
              <a:t>Task 1:</a:t>
            </a:r>
            <a:r>
              <a:rPr lang="en-US" sz="2800" dirty="0">
                <a:solidFill>
                  <a:srgbClr val="18324A"/>
                </a:solidFill>
              </a:rPr>
              <a:t>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int cube(int x)</a:t>
            </a:r>
            <a:endParaRPr lang="en-US" sz="2800" dirty="0"/>
          </a:p>
        </p:txBody>
      </p:sp>
      <p:sp>
        <p:nvSpPr>
          <p:cNvPr id="8" name="Shape 8"/>
          <p:cNvSpPr/>
          <p:nvPr/>
        </p:nvSpPr>
        <p:spPr>
          <a:xfrm>
            <a:off x="731520" y="2221992"/>
            <a:ext cx="640080" cy="64008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1691640" y="22219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8324A"/>
                </a:solidFill>
              </a:rPr>
              <a:t>Task 2:</a:t>
            </a:r>
            <a:r>
              <a:rPr lang="en-US" sz="2800" dirty="0">
                <a:solidFill>
                  <a:srgbClr val="18324A"/>
                </a:solidFill>
              </a:rPr>
              <a:t>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int sign(int n)</a:t>
            </a:r>
            <a:r>
              <a:rPr lang="en-US" sz="2800" dirty="0">
                <a:solidFill>
                  <a:srgbClr val="18324A"/>
                </a:solidFill>
              </a:rPr>
              <a:t>: -1, 0 or 1</a:t>
            </a:r>
            <a:endParaRPr lang="en-US" sz="2800" dirty="0"/>
          </a:p>
        </p:txBody>
      </p:sp>
      <p:sp>
        <p:nvSpPr>
          <p:cNvPr id="10" name="Shape 10"/>
          <p:cNvSpPr/>
          <p:nvPr/>
        </p:nvSpPr>
        <p:spPr>
          <a:xfrm>
            <a:off x="731520" y="3136392"/>
            <a:ext cx="64008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Shape 11"/>
          <p:cNvSpPr/>
          <p:nvPr/>
        </p:nvSpPr>
        <p:spPr>
          <a:xfrm>
            <a:off x="1691640" y="31363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Task 3: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void print_rectangle(int width, int height)</a:t>
            </a:r>
            <a:endParaRPr lang="en-US" sz="2800" dirty="0"/>
          </a:p>
        </p:txBody>
      </p:sp>
      <p:sp>
        <p:nvSpPr>
          <p:cNvPr id="12" name="Shape 12"/>
          <p:cNvSpPr/>
          <p:nvPr/>
        </p:nvSpPr>
        <p:spPr>
          <a:xfrm>
            <a:off x="731520" y="4050792"/>
            <a:ext cx="640080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1691640" y="40507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Task 4: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double celsius_to_fahrenheit(double c)</a:t>
            </a:r>
            <a:endParaRPr lang="en-US" sz="2800" dirty="0"/>
          </a:p>
        </p:txBody>
      </p:sp>
      <p:sp>
        <p:nvSpPr>
          <p:cNvPr id="14" name="Shape 14"/>
          <p:cNvSpPr/>
          <p:nvPr/>
        </p:nvSpPr>
        <p:spPr>
          <a:xfrm>
            <a:off x="548640" y="5486400"/>
            <a:ext cx="11094415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548640" y="5486400"/>
            <a:ext cx="109728" cy="77724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Callout"/>
          <p:cNvSpPr/>
          <p:nvPr/>
        </p:nvSpPr>
        <p:spPr>
          <a:xfrm>
            <a:off x="658368" y="5486400"/>
            <a:ext cx="10984687" cy="77724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Tasks 1 and 2 now. 3 and 4 at home. Write the function </a:t>
            </a:r>
            <a:r>
              <a:rPr lang="en-US" sz="2400" b="1" dirty="0">
                <a:solidFill>
                  <a:srgbClr val="18324A"/>
                </a:solidFill>
              </a:rPr>
              <a:t>above</a:t>
            </a:r>
            <a:r>
              <a:rPr lang="en-US" sz="2400" dirty="0">
                <a:solidFill>
                  <a:srgbClr val="18324A"/>
                </a:solidFill>
              </a:rPr>
              <a:t>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main</a:t>
            </a:r>
            <a:r>
              <a:rPr lang="en-US" sz="2400" dirty="0">
                <a:solidFill>
                  <a:srgbClr val="18324A"/>
                </a:solidFill>
              </a:rPr>
              <a:t>, then call it.</a:t>
            </a:r>
            <a:endParaRPr lang="en-US" sz="24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Task 1: cube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83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YOUR TURN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493776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Write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int cube(int x)</a:t>
            </a:r>
            <a:r>
              <a:rPr lang="en-US" sz="3200" dirty="0">
                <a:solidFill>
                  <a:srgbClr val="18324A"/>
                </a:solidFill>
              </a:rPr>
              <a:t>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In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main</a:t>
            </a:r>
            <a:r>
              <a:rPr lang="en-US" sz="3200" dirty="0">
                <a:solidFill>
                  <a:srgbClr val="18324A"/>
                </a:solidFill>
              </a:rPr>
              <a:t>, read a number and print its cube.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760720" y="1261872"/>
            <a:ext cx="5882335" cy="1381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760720" y="1261872"/>
            <a:ext cx="5882335" cy="1381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Number: 3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Cube: 27</a:t>
            </a:r>
            <a:endParaRPr lang="en-US" sz="32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Task 2: sign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84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YOUR TURN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4937760" cy="2621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Write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int sign(int n)</a:t>
            </a:r>
            <a:r>
              <a:rPr lang="en-US" sz="3200" dirty="0">
                <a:solidFill>
                  <a:srgbClr val="18324A"/>
                </a:solidFill>
              </a:rPr>
              <a:t>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It gives back -1 if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n</a:t>
            </a:r>
            <a:r>
              <a:rPr lang="en-US" sz="3200" dirty="0">
                <a:solidFill>
                  <a:srgbClr val="18324A"/>
                </a:solidFill>
              </a:rPr>
              <a:t> is negative, 0 if it is zero, and 1 if it is positive.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760720" y="1261872"/>
            <a:ext cx="5882335" cy="1381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760720" y="1261872"/>
            <a:ext cx="5882335" cy="1381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Number: -7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Sign: -1</a:t>
            </a:r>
            <a:endParaRPr lang="en-US" sz="32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Solutions: cube and sign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85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5212080"/>
            <a:ext cx="1109441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5212080"/>
            <a:ext cx="109728" cy="10515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Callout"/>
          <p:cNvSpPr/>
          <p:nvPr/>
        </p:nvSpPr>
        <p:spPr>
          <a:xfrm>
            <a:off x="658368" y="5212080"/>
            <a:ext cx="1098468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Yours may look different and still be right. Test it with a negative number and with 0.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548640" y="1261872"/>
            <a:ext cx="5364328" cy="384048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Task 1</a:t>
            </a:r>
            <a:endParaRPr lang="en-US" sz="1800" dirty="0"/>
          </a:p>
        </p:txBody>
      </p:sp>
      <p:sp>
        <p:nvSpPr>
          <p:cNvPr id="10" name="Shape 10"/>
          <p:cNvSpPr/>
          <p:nvPr/>
        </p:nvSpPr>
        <p:spPr>
          <a:xfrm>
            <a:off x="548640" y="1645920"/>
            <a:ext cx="5364328" cy="141351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Code"/>
          <p:cNvSpPr/>
          <p:nvPr/>
        </p:nvSpPr>
        <p:spPr>
          <a:xfrm>
            <a:off x="548640" y="1645920"/>
            <a:ext cx="5364328" cy="14135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cube(int x)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x * x * x;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</p:txBody>
      </p:sp>
      <p:sp>
        <p:nvSpPr>
          <p:cNvPr id="12" name="Shape 12"/>
          <p:cNvSpPr/>
          <p:nvPr/>
        </p:nvSpPr>
        <p:spPr>
          <a:xfrm>
            <a:off x="6278728" y="1261872"/>
            <a:ext cx="5364328" cy="3840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Task 2</a:t>
            </a:r>
            <a:endParaRPr lang="en-US" sz="1800" dirty="0"/>
          </a:p>
        </p:txBody>
      </p:sp>
      <p:sp>
        <p:nvSpPr>
          <p:cNvPr id="13" name="Shape 13"/>
          <p:cNvSpPr/>
          <p:nvPr/>
        </p:nvSpPr>
        <p:spPr>
          <a:xfrm>
            <a:off x="6278728" y="1645920"/>
            <a:ext cx="5364328" cy="3159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Code"/>
          <p:cNvSpPr/>
          <p:nvPr/>
        </p:nvSpPr>
        <p:spPr>
          <a:xfrm>
            <a:off x="6278728" y="1645920"/>
            <a:ext cx="5364328" cy="3159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sign(int n)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if (n &lt; 0)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return -1;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} else if (n == 0)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return 0;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1;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Task 3, at home: a rectangle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86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YOUR TURN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4937760" cy="408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Write the function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print_rectangle</a:t>
            </a:r>
            <a:r>
              <a:rPr lang="en-US" sz="3200" dirty="0">
                <a:solidFill>
                  <a:srgbClr val="18324A"/>
                </a:solidFill>
              </a:rPr>
              <a:t>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It gets a width and a height.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Hint: call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print_stars</a:t>
            </a:r>
            <a:r>
              <a:rPr lang="en-US" sz="3200" dirty="0">
                <a:solidFill>
                  <a:srgbClr val="18324A"/>
                </a:solidFill>
              </a:rPr>
              <a:t> once for every row.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print_rectangle(6, 3)</a:t>
            </a:r>
            <a:r>
              <a:rPr lang="en-US" sz="3200" dirty="0">
                <a:solidFill>
                  <a:srgbClr val="18324A"/>
                </a:solidFill>
              </a:rPr>
              <a:t> prints: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760720" y="1261872"/>
            <a:ext cx="5882335" cy="1889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760720" y="1261872"/>
            <a:ext cx="5882335" cy="1889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******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******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******</a:t>
            </a:r>
            <a:endParaRPr lang="en-US" sz="32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Task 4, at home: Celsius to Fahrenheit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87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YOUR TURN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4937760" cy="3108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Write the function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celsius_to_fahrenheit</a:t>
            </a:r>
            <a:r>
              <a:rPr lang="en-US" sz="3200" dirty="0">
                <a:solidFill>
                  <a:srgbClr val="18324A"/>
                </a:solidFill>
              </a:rPr>
              <a:t>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It gets a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double</a:t>
            </a:r>
            <a:r>
              <a:rPr lang="en-US" sz="3200" dirty="0">
                <a:solidFill>
                  <a:srgbClr val="18324A"/>
                </a:solidFill>
              </a:rPr>
              <a:t>, gives back a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double</a:t>
            </a:r>
            <a:r>
              <a:rPr lang="en-US" sz="3200" dirty="0">
                <a:solidFill>
                  <a:srgbClr val="18324A"/>
                </a:solidFill>
              </a:rPr>
              <a:t>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The rule: c × 9 / 5 + 32.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760720" y="1261872"/>
            <a:ext cx="5882335" cy="1381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760720" y="1261872"/>
            <a:ext cx="5882335" cy="1381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Celsius: 100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Fahrenheit: 212.0</a:t>
            </a:r>
            <a:endParaRPr lang="en-US" sz="32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Class 7 summary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88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731520" y="1307592"/>
            <a:ext cx="640080" cy="6400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Shape 7"/>
          <p:cNvSpPr/>
          <p:nvPr/>
        </p:nvSpPr>
        <p:spPr>
          <a:xfrm>
            <a:off x="1691640" y="13075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A function: </a:t>
            </a:r>
            <a:r>
              <a:rPr lang="en-US" sz="2800" b="1" dirty="0">
                <a:solidFill>
                  <a:srgbClr val="18324A"/>
                </a:solidFill>
              </a:rPr>
              <a:t>type</a:t>
            </a:r>
            <a:r>
              <a:rPr lang="en-US" sz="2800" dirty="0">
                <a:solidFill>
                  <a:srgbClr val="18324A"/>
                </a:solidFill>
              </a:rPr>
              <a:t>, </a:t>
            </a:r>
            <a:r>
              <a:rPr lang="en-US" sz="2800" b="1" dirty="0">
                <a:solidFill>
                  <a:srgbClr val="18324A"/>
                </a:solidFill>
              </a:rPr>
              <a:t>name</a:t>
            </a:r>
            <a:r>
              <a:rPr lang="en-US" sz="2800" dirty="0">
                <a:solidFill>
                  <a:srgbClr val="18324A"/>
                </a:solidFill>
              </a:rPr>
              <a:t>, </a:t>
            </a:r>
            <a:r>
              <a:rPr lang="en-US" sz="2800" b="1" dirty="0">
                <a:solidFill>
                  <a:srgbClr val="18324A"/>
                </a:solidFill>
              </a:rPr>
              <a:t>parameters</a:t>
            </a:r>
            <a:r>
              <a:rPr lang="en-US" sz="2800" dirty="0">
                <a:solidFill>
                  <a:srgbClr val="18324A"/>
                </a:solidFill>
              </a:rPr>
              <a:t>, </a:t>
            </a:r>
            <a:r>
              <a:rPr lang="en-US" sz="2800" b="1" dirty="0">
                <a:solidFill>
                  <a:srgbClr val="18324A"/>
                </a:solidFill>
              </a:rPr>
              <a:t>body</a:t>
            </a:r>
            <a:endParaRPr lang="en-US" sz="2800" dirty="0"/>
          </a:p>
        </p:txBody>
      </p:sp>
      <p:sp>
        <p:nvSpPr>
          <p:cNvPr id="8" name="Shape 8"/>
          <p:cNvSpPr/>
          <p:nvPr/>
        </p:nvSpPr>
        <p:spPr>
          <a:xfrm>
            <a:off x="731520" y="2141220"/>
            <a:ext cx="640080" cy="64008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1691640" y="2141220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A call copies the values in and gets </a:t>
            </a:r>
            <a:r>
              <a:rPr lang="en-US" sz="2800" b="1" dirty="0">
                <a:solidFill>
                  <a:srgbClr val="18324A"/>
                </a:solidFill>
              </a:rPr>
              <a:t>one</a:t>
            </a:r>
            <a:r>
              <a:rPr lang="en-US" sz="2800" dirty="0">
                <a:solidFill>
                  <a:srgbClr val="18324A"/>
                </a:solidFill>
              </a:rPr>
              <a:t> value back</a:t>
            </a:r>
            <a:endParaRPr lang="en-US" sz="2800" dirty="0"/>
          </a:p>
        </p:txBody>
      </p:sp>
      <p:sp>
        <p:nvSpPr>
          <p:cNvPr id="10" name="Shape 10"/>
          <p:cNvSpPr/>
          <p:nvPr/>
        </p:nvSpPr>
        <p:spPr>
          <a:xfrm>
            <a:off x="731520" y="2974848"/>
            <a:ext cx="64008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Shape 11"/>
          <p:cNvSpPr/>
          <p:nvPr/>
        </p:nvSpPr>
        <p:spPr>
          <a:xfrm>
            <a:off x="1691640" y="2974848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Write the function </a:t>
            </a:r>
            <a:r>
              <a:rPr lang="en-US" sz="2800" b="1" dirty="0">
                <a:solidFill>
                  <a:srgbClr val="18324A"/>
                </a:solidFill>
              </a:rPr>
              <a:t>above</a:t>
            </a:r>
            <a:r>
              <a:rPr lang="en-US" sz="2800" dirty="0">
                <a:solidFill>
                  <a:srgbClr val="18324A"/>
                </a:solidFill>
              </a:rPr>
              <a:t>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main</a:t>
            </a:r>
            <a:r>
              <a:rPr lang="en-US" sz="2800" dirty="0">
                <a:solidFill>
                  <a:srgbClr val="18324A"/>
                </a:solidFill>
              </a:rPr>
              <a:t> (or give a prototype)</a:t>
            </a:r>
            <a:endParaRPr lang="en-US" sz="2800" dirty="0"/>
          </a:p>
        </p:txBody>
      </p:sp>
      <p:sp>
        <p:nvSpPr>
          <p:cNvPr id="12" name="Shape 12"/>
          <p:cNvSpPr/>
          <p:nvPr/>
        </p:nvSpPr>
        <p:spPr>
          <a:xfrm>
            <a:off x="731520" y="3808476"/>
            <a:ext cx="640080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1691640" y="3808476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void</a:t>
            </a:r>
            <a:r>
              <a:rPr lang="en-US" sz="2800" dirty="0">
                <a:solidFill>
                  <a:srgbClr val="18324A"/>
                </a:solidFill>
              </a:rPr>
              <a:t>: no answer. It only does a job.</a:t>
            </a:r>
            <a:endParaRPr lang="en-US" sz="2800" dirty="0"/>
          </a:p>
        </p:txBody>
      </p:sp>
      <p:sp>
        <p:nvSpPr>
          <p:cNvPr id="14" name="Shape 14"/>
          <p:cNvSpPr/>
          <p:nvPr/>
        </p:nvSpPr>
        <p:spPr>
          <a:xfrm>
            <a:off x="731520" y="4642104"/>
            <a:ext cx="640080" cy="6400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lang="en-US" sz="2400" dirty="0"/>
          </a:p>
        </p:txBody>
      </p:sp>
      <p:sp>
        <p:nvSpPr>
          <p:cNvPr id="15" name="Shape 15"/>
          <p:cNvSpPr/>
          <p:nvPr/>
        </p:nvSpPr>
        <p:spPr>
          <a:xfrm>
            <a:off x="1691640" y="4642104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lang="en-US" sz="2800" dirty="0">
                <a:solidFill>
                  <a:srgbClr val="18324A"/>
                </a:solidFill>
              </a:rPr>
              <a:t> ends the function at once</a:t>
            </a:r>
            <a:endParaRPr lang="en-US" sz="2800" dirty="0"/>
          </a:p>
        </p:txBody>
      </p:sp>
      <p:sp>
        <p:nvSpPr>
          <p:cNvPr id="16" name="Shape 16"/>
          <p:cNvSpPr/>
          <p:nvPr/>
        </p:nvSpPr>
        <p:spPr>
          <a:xfrm>
            <a:off x="731520" y="5475732"/>
            <a:ext cx="640080" cy="6400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6</a:t>
            </a:r>
            <a:endParaRPr lang="en-US" sz="2400" dirty="0"/>
          </a:p>
        </p:txBody>
      </p:sp>
      <p:sp>
        <p:nvSpPr>
          <p:cNvPr id="17" name="Shape 17"/>
          <p:cNvSpPr/>
          <p:nvPr/>
        </p:nvSpPr>
        <p:spPr>
          <a:xfrm>
            <a:off x="1691640" y="547573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Split a program so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main</a:t>
            </a:r>
            <a:r>
              <a:rPr lang="en-US" sz="2800" dirty="0">
                <a:solidFill>
                  <a:srgbClr val="18324A"/>
                </a:solidFill>
              </a:rPr>
              <a:t> reads like a list of steps</a:t>
            </a:r>
            <a:endParaRPr lang="en-US" sz="28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Project 1 is out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89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399032"/>
            <a:ext cx="109728" cy="140208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914400" y="1399032"/>
            <a:ext cx="10728655" cy="1402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8324A"/>
                </a:solidFill>
              </a:rPr>
              <a:t>Simplified Blackjack: your first whole program.</a:t>
            </a:r>
            <a:endParaRPr lang="en-US" sz="4000" dirty="0"/>
          </a:p>
        </p:txBody>
      </p:sp>
      <p:sp>
        <p:nvSpPr>
          <p:cNvPr id="8" name="Shape 8"/>
          <p:cNvSpPr/>
          <p:nvPr/>
        </p:nvSpPr>
        <p:spPr>
          <a:xfrm>
            <a:off x="914400" y="3212592"/>
            <a:ext cx="10728655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Loops, decisions, and </a:t>
            </a:r>
            <a:r>
              <a:rPr lang="en-US" sz="3000" b="1" dirty="0">
                <a:solidFill>
                  <a:srgbClr val="18324A"/>
                </a:solidFill>
              </a:rPr>
              <a:t>functions</a:t>
            </a:r>
            <a:r>
              <a:rPr lang="en-US" sz="3000" dirty="0">
                <a:solidFill>
                  <a:srgbClr val="18324A"/>
                </a:solidFill>
              </a:rPr>
              <a:t> from today.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The brief is on Blackboard. Due </a:t>
            </a:r>
            <a:r>
              <a:rPr lang="en-US" sz="3000" b="1" dirty="0">
                <a:solidFill>
                  <a:srgbClr val="18324A"/>
                </a:solidFill>
              </a:rPr>
              <a:t>Sun 11 October, 23:59</a:t>
            </a:r>
            <a:r>
              <a:rPr lang="en-US" sz="3000" dirty="0">
                <a:solidFill>
                  <a:srgbClr val="18324A"/>
                </a:solidFill>
              </a:rPr>
              <a:t>.</a:t>
            </a:r>
            <a:endParaRPr lang="en-US" sz="3000" dirty="0"/>
          </a:p>
        </p:txBody>
      </p:sp>
      <p:sp>
        <p:nvSpPr>
          <p:cNvPr id="9" name="Shape 9"/>
          <p:cNvSpPr/>
          <p:nvPr/>
        </p:nvSpPr>
        <p:spPr>
          <a:xfrm>
            <a:off x="548640" y="5577840"/>
            <a:ext cx="1109441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5577840"/>
            <a:ext cx="109728" cy="68580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Callout"/>
          <p:cNvSpPr/>
          <p:nvPr/>
        </p:nvSpPr>
        <p:spPr>
          <a:xfrm>
            <a:off x="658368" y="5577840"/>
            <a:ext cx="1098468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Start this week. A game takes time to test.</a:t>
            </a:r>
            <a:endParaRPr lang="en-US" sz="24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Before Friday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7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90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731520" y="1307592"/>
            <a:ext cx="640080" cy="6400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Shape 7"/>
          <p:cNvSpPr/>
          <p:nvPr/>
        </p:nvSpPr>
        <p:spPr>
          <a:xfrm>
            <a:off x="1691640" y="13075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8324A"/>
                </a:solidFill>
              </a:rPr>
              <a:t>Knowledge check 7</a:t>
            </a:r>
            <a:r>
              <a:rPr lang="en-US" sz="2800" dirty="0">
                <a:solidFill>
                  <a:srgbClr val="18324A"/>
                </a:solidFill>
              </a:rPr>
              <a:t> on Blackboard: today's slides</a:t>
            </a:r>
            <a:endParaRPr lang="en-US" sz="2800" dirty="0"/>
          </a:p>
        </p:txBody>
      </p:sp>
      <p:sp>
        <p:nvSpPr>
          <p:cNvPr id="8" name="Shape 8"/>
          <p:cNvSpPr/>
          <p:nvPr/>
        </p:nvSpPr>
        <p:spPr>
          <a:xfrm>
            <a:off x="731520" y="2221992"/>
            <a:ext cx="640080" cy="64008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1691640" y="22219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Tasks </a:t>
            </a:r>
            <a:r>
              <a:rPr lang="en-US" sz="2800" b="1" dirty="0">
                <a:solidFill>
                  <a:srgbClr val="18324A"/>
                </a:solidFill>
              </a:rPr>
              <a:t>3 and 4</a:t>
            </a:r>
            <a:r>
              <a:rPr lang="en-US" sz="2800" dirty="0">
                <a:solidFill>
                  <a:srgbClr val="18324A"/>
                </a:solidFill>
              </a:rPr>
              <a:t>: bring them, working or not</a:t>
            </a:r>
            <a:endParaRPr lang="en-US" sz="2800" dirty="0"/>
          </a:p>
        </p:txBody>
      </p:sp>
      <p:sp>
        <p:nvSpPr>
          <p:cNvPr id="10" name="Shape 10"/>
          <p:cNvSpPr/>
          <p:nvPr/>
        </p:nvSpPr>
        <p:spPr>
          <a:xfrm>
            <a:off x="731520" y="3136392"/>
            <a:ext cx="64008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Shape 11"/>
          <p:cNvSpPr/>
          <p:nvPr/>
        </p:nvSpPr>
        <p:spPr>
          <a:xfrm>
            <a:off x="1691640" y="31363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8324A"/>
                </a:solidFill>
              </a:rPr>
              <a:t>Quiz 2: Fri 2 October</a:t>
            </a:r>
            <a:r>
              <a:rPr lang="en-US" sz="2800" dirty="0">
                <a:solidFill>
                  <a:srgbClr val="18324A"/>
                </a:solidFill>
              </a:rPr>
              <a:t>, first 25 minutes, classes 3 to 6</a:t>
            </a:r>
            <a:endParaRPr lang="en-US" sz="2800" dirty="0"/>
          </a:p>
        </p:txBody>
      </p:sp>
      <p:sp>
        <p:nvSpPr>
          <p:cNvPr id="12" name="Shape 12"/>
          <p:cNvSpPr/>
          <p:nvPr/>
        </p:nvSpPr>
        <p:spPr>
          <a:xfrm>
            <a:off x="731520" y="4050792"/>
            <a:ext cx="640080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1691640" y="40507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Today's code: Blackboard, Week 4 module, </a:t>
            </a:r>
            <a:r>
              <a:rPr lang="en-US" sz="2800" b="1" dirty="0">
                <a:solidFill>
                  <a:srgbClr val="18324A"/>
                </a:solidFill>
              </a:rPr>
              <a:t>Class 7 code</a:t>
            </a:r>
            <a:endParaRPr lang="en-US" sz="2800" dirty="0"/>
          </a:p>
        </p:txBody>
      </p:sp>
      <p:sp>
        <p:nvSpPr>
          <p:cNvPr id="14" name="Shape 14"/>
          <p:cNvSpPr/>
          <p:nvPr/>
        </p:nvSpPr>
        <p:spPr>
          <a:xfrm>
            <a:off x="548640" y="5486400"/>
            <a:ext cx="11094415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548640" y="5486400"/>
            <a:ext cx="109728" cy="77724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Callout"/>
          <p:cNvSpPr/>
          <p:nvPr/>
        </p:nvSpPr>
        <p:spPr>
          <a:xfrm>
            <a:off x="658368" y="5486400"/>
            <a:ext cx="10984687" cy="77724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Friday, after the quiz: where variables live, why a function cannot change yours, and a function that calls itself.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9E6C91384D4CF4A8C11771C71AF99FC" ma:contentTypeVersion="3" ma:contentTypeDescription="Create a new document." ma:contentTypeScope="" ma:versionID="9457c7892666d9df0301343fedda2daf">
  <xsd:schema xmlns:xsd="http://www.w3.org/2001/XMLSchema" xmlns:xs="http://www.w3.org/2001/XMLSchema" xmlns:p="http://schemas.microsoft.com/office/2006/metadata/properties" xmlns:ns2="76ba2307-afa1-4918-86e6-ffe4c7b76c67" targetNamespace="http://schemas.microsoft.com/office/2006/metadata/properties" ma:root="true" ma:fieldsID="01dbc32444af8b37558df168563705b5" ns2:_="">
    <xsd:import namespace="76ba2307-afa1-4918-86e6-ffe4c7b76c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ba2307-afa1-4918-86e6-ffe4c7b76c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A66058B-8C7C-44C5-988D-122F37B2CD1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C07D86D-9D44-4F53-9B6F-B55C63480B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6ba2307-afa1-4918-86e6-ffe4c7b76c6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559415D-7EF4-4728-B780-B028948F84C4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11879</Words>
  <Application>Microsoft Office PowerPoint</Application>
  <PresentationFormat>Widescreen</PresentationFormat>
  <Paragraphs>1606</Paragraphs>
  <Slides>90</Slides>
  <Notes>90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90</vt:i4>
      </vt:variant>
    </vt:vector>
  </HeadingPairs>
  <TitlesOfParts>
    <vt:vector size="94" baseType="lpstr">
      <vt:lpstr>Aptos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3 - Loops in C</dc:title>
  <dc:subject>Programming Principles I - Week 3</dc:subject>
  <dc:creator>Azar Aliyev</dc:creator>
  <cp:lastModifiedBy>Abbas Aliyev</cp:lastModifiedBy>
  <cp:revision>5</cp:revision>
  <dcterms:created xsi:type="dcterms:W3CDTF">2026-09-17T10:16:02Z</dcterms:created>
  <dcterms:modified xsi:type="dcterms:W3CDTF">2026-10-16T20:06:10Z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0x010100A9E6C91384D4CF4A8C11771C71AF99FC</vt:lpwstr>
  </property>
</Properties>
</file>