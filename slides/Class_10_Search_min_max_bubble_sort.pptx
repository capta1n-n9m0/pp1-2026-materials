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087"/>
  </p:normalViewPr>
  <p:slideViewPr>
    <p:cSldViewPr snapToGrid="0" snapToObjects="1">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20DC20B-687E-45CF-9EAB-833ACB6D4C5E}" type="datetimeFigureOut">
              <a:rPr lang="en-US" smtClean="0"/>
              <a:t>10/17/2026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22696EA-50A3-4AF3-81CF-24C280D4082F}" type="slidenum">
              <a:rPr lang="en-US" smtClean="0"/>
              <a:t>‹#›</a:t>
            </a:fld>
            <a:endParaRPr lang="en-US"/>
          </a:p>
        </p:txBody>
      </p:sp>
    </p:spTree>
    <p:extLst>
      <p:ext uri="{BB962C8B-B14F-4D97-AF65-F5344CB8AC3E}">
        <p14:creationId xmlns:p14="http://schemas.microsoft.com/office/powerpoint/2010/main" val="233051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programs of this class are on Blackboard: Week 5 module, Class 10 code. It is a zip file. Unzip it and open the folder in Visual Studio Code. Every file has a comment at the top: what the program does, how to run it, and a list called Try with small changes to make. Make them.</a:t>
            </a:r>
          </a:p>
          <a:p>
            <a:endParaRPr lang="en-US"/>
          </a:p>
          <a:p>
            <a:r>
              <a:rPr lang="en-US"/>
              <a:t>How to run a program. Same as every week. In the terminal type gcc -Wall name.c -o name and press Enter, then ./name (or .\name in Windows PowerShell) and press Enter.</a:t>
            </a:r>
          </a:p>
          <a:p>
            <a:endParaRPr lang="en-US"/>
          </a:p>
          <a:p>
            <a:r>
              <a:rPr lang="en-US"/>
              <a:t>Today you learn four jobs that programmers do with arrays all the time: find a value, find the smallest and the largest, swap two elements, and sort the whole array.</a:t>
            </a:r>
          </a:p>
        </p:txBody>
      </p:sp>
      <p:sp>
        <p:nvSpPr>
          <p:cNvPr id="4" name="Slide Number Placeholder 3"/>
          <p:cNvSpPr>
            <a:spLocks noGrp="1"/>
          </p:cNvSpPr>
          <p:nvPr>
            <p:ph type="sldNum" sz="quarter" idx="5"/>
          </p:nvPr>
        </p:nvSpPr>
        <p:spPr/>
        <p:txBody>
          <a:bodyPr/>
          <a:lstStyle/>
          <a:p>
            <a:fld id="{C22696EA-50A3-4AF3-81CF-24C280D4082F}" type="slidenum">
              <a:rPr lang="en-US" smtClean="0"/>
              <a:t>1</a:t>
            </a:fld>
            <a:endParaRPr lang="en-US"/>
          </a:p>
        </p:txBody>
      </p:sp>
    </p:spTree>
    <p:extLst>
      <p:ext uri="{BB962C8B-B14F-4D97-AF65-F5344CB8AC3E}">
        <p14:creationId xmlns:p14="http://schemas.microsoft.com/office/powerpoint/2010/main" val="3185540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you need from Tuesday:</a:t>
            </a:r>
          </a:p>
          <a:p>
            <a:endParaRPr lang="en-US"/>
          </a:p>
          <a:p>
            <a:r>
              <a:rPr lang="en-US"/>
              <a:t>- An array holds many values of one type under one name: int a[5] = {3, 1, 4, 1, 5};</a:t>
            </a:r>
          </a:p>
          <a:p>
            <a:r>
              <a:rPr lang="en-US"/>
              <a:t>- The first element is a[0]. The last one is a[4], not a[5].</a:t>
            </a:r>
          </a:p>
          <a:p>
            <a:r>
              <a:rPr lang="en-US"/>
              <a:t>- for (int i = 0; i &lt; N; i++) visits every element.</a:t>
            </a:r>
          </a:p>
          <a:p>
            <a:r>
              <a:rPr lang="en-US"/>
              <a:t>- C does not check the index. a[5] gives no error, just a wrong value.</a:t>
            </a:r>
          </a:p>
        </p:txBody>
      </p:sp>
      <p:sp>
        <p:nvSpPr>
          <p:cNvPr id="4" name="Slide Number Placeholder 3"/>
          <p:cNvSpPr>
            <a:spLocks noGrp="1"/>
          </p:cNvSpPr>
          <p:nvPr>
            <p:ph type="sldNum" sz="quarter" idx="5"/>
          </p:nvPr>
        </p:nvSpPr>
        <p:spPr/>
        <p:txBody>
          <a:bodyPr/>
          <a:lstStyle/>
          <a:p>
            <a:fld id="{C22696EA-50A3-4AF3-81CF-24C280D4082F}" type="slidenum">
              <a:rPr lang="en-US" smtClean="0"/>
              <a:t>2</a:t>
            </a:fld>
            <a:endParaRPr lang="en-US"/>
          </a:p>
        </p:txBody>
      </p:sp>
    </p:spTree>
    <p:extLst>
      <p:ext uri="{BB962C8B-B14F-4D97-AF65-F5344CB8AC3E}">
        <p14:creationId xmlns:p14="http://schemas.microsoft.com/office/powerpoint/2010/main" val="2410489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it before you look at the next slide: what are the two lines?</a:t>
            </a:r>
          </a:p>
        </p:txBody>
      </p:sp>
      <p:sp>
        <p:nvSpPr>
          <p:cNvPr id="4" name="Slide Number Placeholder 3"/>
          <p:cNvSpPr>
            <a:spLocks noGrp="1"/>
          </p:cNvSpPr>
          <p:nvPr>
            <p:ph type="sldNum" sz="quarter" idx="5"/>
          </p:nvPr>
        </p:nvSpPr>
        <p:spPr/>
        <p:txBody>
          <a:bodyPr/>
          <a:lstStyle/>
          <a:p>
            <a:fld id="{C22696EA-50A3-4AF3-81CF-24C280D4082F}" type="slidenum">
              <a:rPr lang="en-US" smtClean="0"/>
              <a:t>3</a:t>
            </a:fld>
            <a:endParaRPr lang="en-US"/>
          </a:p>
        </p:txBody>
      </p:sp>
    </p:spTree>
    <p:extLst>
      <p:ext uri="{BB962C8B-B14F-4D97-AF65-F5344CB8AC3E}">
        <p14:creationId xmlns:p14="http://schemas.microsoft.com/office/powerpoint/2010/main" val="2235133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a[0] is 3 and a[4] is 5, so the first line is 8.</a:t>
            </a:r>
          </a:p>
          <a:p>
            <a:endParaRPr lang="en-US"/>
          </a:p>
          <a:p>
            <a:r>
              <a:rPr lang="en-US"/>
              <a:t>The loop adds 3 + 1 + 4 + 1 + 5, so the second line is sum = 14.</a:t>
            </a:r>
          </a:p>
          <a:p>
            <a:endParaRPr lang="en-US"/>
          </a:p>
          <a:p>
            <a:r>
              <a:rPr lang="en-US"/>
              <a:t>File: 01_recap_array.c.</a:t>
            </a:r>
          </a:p>
        </p:txBody>
      </p:sp>
      <p:sp>
        <p:nvSpPr>
          <p:cNvPr id="4" name="Slide Number Placeholder 3"/>
          <p:cNvSpPr>
            <a:spLocks noGrp="1"/>
          </p:cNvSpPr>
          <p:nvPr>
            <p:ph type="sldNum" sz="quarter" idx="5"/>
          </p:nvPr>
        </p:nvSpPr>
        <p:spPr/>
        <p:txBody>
          <a:bodyPr/>
          <a:lstStyle/>
          <a:p>
            <a:fld id="{C22696EA-50A3-4AF3-81CF-24C280D4082F}" type="slidenum">
              <a:rPr lang="en-US" smtClean="0"/>
              <a:t>4</a:t>
            </a:fld>
            <a:endParaRPr lang="en-US"/>
          </a:p>
        </p:txBody>
      </p:sp>
    </p:spTree>
    <p:extLst>
      <p:ext uri="{BB962C8B-B14F-4D97-AF65-F5344CB8AC3E}">
        <p14:creationId xmlns:p14="http://schemas.microsoft.com/office/powerpoint/2010/main" val="2934345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parts: arrays and functions, search, smallest and largest, swap and bubble sort.</a:t>
            </a:r>
          </a:p>
        </p:txBody>
      </p:sp>
      <p:sp>
        <p:nvSpPr>
          <p:cNvPr id="4" name="Slide Number Placeholder 3"/>
          <p:cNvSpPr>
            <a:spLocks noGrp="1"/>
          </p:cNvSpPr>
          <p:nvPr>
            <p:ph type="sldNum" sz="quarter" idx="5"/>
          </p:nvPr>
        </p:nvSpPr>
        <p:spPr/>
        <p:txBody>
          <a:bodyPr/>
          <a:lstStyle/>
          <a:p>
            <a:fld id="{C22696EA-50A3-4AF3-81CF-24C280D4082F}" type="slidenum">
              <a:rPr lang="en-US" smtClean="0"/>
              <a:t>5</a:t>
            </a:fld>
            <a:endParaRPr lang="en-US"/>
          </a:p>
        </p:txBody>
      </p:sp>
    </p:spTree>
    <p:extLst>
      <p:ext uri="{BB962C8B-B14F-4D97-AF65-F5344CB8AC3E}">
        <p14:creationId xmlns:p14="http://schemas.microsoft.com/office/powerpoint/2010/main" val="2456569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function can take a whole array as a parameter.</a:t>
            </a:r>
          </a:p>
        </p:txBody>
      </p:sp>
      <p:sp>
        <p:nvSpPr>
          <p:cNvPr id="4" name="Slide Number Placeholder 3"/>
          <p:cNvSpPr>
            <a:spLocks noGrp="1"/>
          </p:cNvSpPr>
          <p:nvPr>
            <p:ph type="sldNum" sz="quarter" idx="5"/>
          </p:nvPr>
        </p:nvSpPr>
        <p:spPr/>
        <p:txBody>
          <a:bodyPr/>
          <a:lstStyle/>
          <a:p>
            <a:fld id="{C22696EA-50A3-4AF3-81CF-24C280D4082F}" type="slidenum">
              <a:rPr lang="en-US" smtClean="0"/>
              <a:t>6</a:t>
            </a:fld>
            <a:endParaRPr lang="en-US"/>
          </a:p>
        </p:txBody>
      </p:sp>
    </p:spTree>
    <p:extLst>
      <p:ext uri="{BB962C8B-B14F-4D97-AF65-F5344CB8AC3E}">
        <p14:creationId xmlns:p14="http://schemas.microsoft.com/office/powerpoint/2010/main" val="1687775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void print_array(int a[], int n)</a:t>
            </a:r>
          </a:p>
          <a:p>
            <a:endParaRPr lang="en-US"/>
          </a:p>
          <a:p>
            <a:r>
              <a:rPr lang="en-US"/>
              <a:t>- int a[] is the array. The brackets are empty, so the function works for an array of any size.</a:t>
            </a:r>
          </a:p>
          <a:p>
            <a:r>
              <a:rPr lang="en-US"/>
              <a:t>- int n is how many elements the array has.</a:t>
            </a:r>
          </a:p>
          <a:p>
            <a:endParaRPr lang="en-US"/>
          </a:p>
          <a:p>
            <a:r>
              <a:rPr lang="en-US"/>
              <a:t>Inside, the loop is the one you know: i from 0 to n - 1.</a:t>
            </a:r>
          </a:p>
        </p:txBody>
      </p:sp>
      <p:sp>
        <p:nvSpPr>
          <p:cNvPr id="4" name="Slide Number Placeholder 3"/>
          <p:cNvSpPr>
            <a:spLocks noGrp="1"/>
          </p:cNvSpPr>
          <p:nvPr>
            <p:ph type="sldNum" sz="quarter" idx="5"/>
          </p:nvPr>
        </p:nvSpPr>
        <p:spPr/>
        <p:txBody>
          <a:bodyPr/>
          <a:lstStyle/>
          <a:p>
            <a:fld id="{C22696EA-50A3-4AF3-81CF-24C280D4082F}" type="slidenum">
              <a:rPr lang="en-US" smtClean="0"/>
              <a:t>7</a:t>
            </a:fld>
            <a:endParaRPr lang="en-US"/>
          </a:p>
        </p:txBody>
      </p:sp>
    </p:spTree>
    <p:extLst>
      <p:ext uri="{BB962C8B-B14F-4D97-AF65-F5344CB8AC3E}">
        <p14:creationId xmlns:p14="http://schemas.microsoft.com/office/powerpoint/2010/main" val="4120500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call the function, write the name of the array, without brackets, and then its size:</a:t>
            </a:r>
          </a:p>
          <a:p>
            <a:endParaRPr lang="en-US"/>
          </a:p>
          <a:p>
            <a:r>
              <a:rPr lang="en-US"/>
              <a:t>print_array(primes, 5);</a:t>
            </a:r>
          </a:p>
          <a:p>
            <a:r>
              <a:rPr lang="en-US"/>
              <a:t>print_array(ages, 3);</a:t>
            </a:r>
          </a:p>
          <a:p>
            <a:endParaRPr lang="en-US"/>
          </a:p>
          <a:p>
            <a:r>
              <a:rPr lang="en-US"/>
              <a:t>Output:</a:t>
            </a:r>
          </a:p>
          <a:p>
            <a:endParaRPr lang="en-US"/>
          </a:p>
          <a:p>
            <a:r>
              <a:rPr lang="en-US"/>
              <a:t>2 3 5 7 11 </a:t>
            </a:r>
          </a:p>
          <a:p>
            <a:r>
              <a:rPr lang="en-US"/>
              <a:t>18 19 21 </a:t>
            </a:r>
          </a:p>
          <a:p>
            <a:endParaRPr lang="en-US"/>
          </a:p>
          <a:p>
            <a:r>
              <a:rPr lang="en-US"/>
              <a:t>Wrong: print_array(primes[5], 5) or print_array(primes[], 5). File: 02_print_array.c.</a:t>
            </a:r>
          </a:p>
        </p:txBody>
      </p:sp>
      <p:sp>
        <p:nvSpPr>
          <p:cNvPr id="4" name="Slide Number Placeholder 3"/>
          <p:cNvSpPr>
            <a:spLocks noGrp="1"/>
          </p:cNvSpPr>
          <p:nvPr>
            <p:ph type="sldNum" sz="quarter" idx="5"/>
          </p:nvPr>
        </p:nvSpPr>
        <p:spPr/>
        <p:txBody>
          <a:bodyPr/>
          <a:lstStyle/>
          <a:p>
            <a:fld id="{C22696EA-50A3-4AF3-81CF-24C280D4082F}" type="slidenum">
              <a:rPr lang="en-US" smtClean="0"/>
              <a:t>8</a:t>
            </a:fld>
            <a:endParaRPr lang="en-US"/>
          </a:p>
        </p:txBody>
      </p:sp>
    </p:spTree>
    <p:extLst>
      <p:ext uri="{BB962C8B-B14F-4D97-AF65-F5344CB8AC3E}">
        <p14:creationId xmlns:p14="http://schemas.microsoft.com/office/powerpoint/2010/main" val="404851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array in C does not know its own length. Inside the function, a is only "an array of int". So you must send the length as a second argument, n. Every array function today has this shape: the array first, then n.</a:t>
            </a:r>
          </a:p>
        </p:txBody>
      </p:sp>
      <p:sp>
        <p:nvSpPr>
          <p:cNvPr id="4" name="Slide Number Placeholder 3"/>
          <p:cNvSpPr>
            <a:spLocks noGrp="1"/>
          </p:cNvSpPr>
          <p:nvPr>
            <p:ph type="sldNum" sz="quarter" idx="5"/>
          </p:nvPr>
        </p:nvSpPr>
        <p:spPr/>
        <p:txBody>
          <a:bodyPr/>
          <a:lstStyle/>
          <a:p>
            <a:fld id="{C22696EA-50A3-4AF3-81CF-24C280D4082F}" type="slidenum">
              <a:rPr lang="en-US" smtClean="0"/>
              <a:t>9</a:t>
            </a:fld>
            <a:endParaRPr lang="en-US"/>
          </a:p>
        </p:txBody>
      </p:sp>
    </p:spTree>
    <p:extLst>
      <p:ext uri="{BB962C8B-B14F-4D97-AF65-F5344CB8AC3E}">
        <p14:creationId xmlns:p14="http://schemas.microsoft.com/office/powerpoint/2010/main" val="2068163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sum_array adds the elements and gives back one int, the sum. The total starts at 0 before the loop, and return sum; comes after the loop.</a:t>
            </a:r>
          </a:p>
        </p:txBody>
      </p:sp>
      <p:sp>
        <p:nvSpPr>
          <p:cNvPr id="4" name="Slide Number Placeholder 3"/>
          <p:cNvSpPr>
            <a:spLocks noGrp="1"/>
          </p:cNvSpPr>
          <p:nvPr>
            <p:ph type="sldNum" sz="quarter" idx="5"/>
          </p:nvPr>
        </p:nvSpPr>
        <p:spPr/>
        <p:txBody>
          <a:bodyPr/>
          <a:lstStyle/>
          <a:p>
            <a:fld id="{C22696EA-50A3-4AF3-81CF-24C280D4082F}" type="slidenum">
              <a:rPr lang="en-US" smtClean="0"/>
              <a:t>10</a:t>
            </a:fld>
            <a:endParaRPr lang="en-US"/>
          </a:p>
        </p:txBody>
      </p:sp>
    </p:spTree>
    <p:extLst>
      <p:ext uri="{BB962C8B-B14F-4D97-AF65-F5344CB8AC3E}">
        <p14:creationId xmlns:p14="http://schemas.microsoft.com/office/powerpoint/2010/main" val="2868814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marks: 7, 9, 6, 10, 8. sum_array(marks, N) returns 40, and the average is (double) total / N:</a:t>
            </a:r>
          </a:p>
          <a:p>
            <a:endParaRPr lang="en-US"/>
          </a:p>
          <a:p>
            <a:r>
              <a:rPr lang="en-US"/>
              <a:t>sum = 40</a:t>
            </a:r>
          </a:p>
          <a:p>
            <a:r>
              <a:rPr lang="en-US"/>
              <a:t>average = 8.00</a:t>
            </a:r>
          </a:p>
          <a:p>
            <a:endParaRPr lang="en-US"/>
          </a:p>
          <a:p>
            <a:r>
              <a:rPr lang="en-US"/>
              <a:t>File: 03_sum_array.c.</a:t>
            </a:r>
          </a:p>
        </p:txBody>
      </p:sp>
      <p:sp>
        <p:nvSpPr>
          <p:cNvPr id="4" name="Slide Number Placeholder 3"/>
          <p:cNvSpPr>
            <a:spLocks noGrp="1"/>
          </p:cNvSpPr>
          <p:nvPr>
            <p:ph type="sldNum" sz="quarter" idx="5"/>
          </p:nvPr>
        </p:nvSpPr>
        <p:spPr/>
        <p:txBody>
          <a:bodyPr/>
          <a:lstStyle/>
          <a:p>
            <a:fld id="{C22696EA-50A3-4AF3-81CF-24C280D4082F}" type="slidenum">
              <a:rPr lang="en-US" smtClean="0"/>
              <a:t>11</a:t>
            </a:fld>
            <a:endParaRPr lang="en-US"/>
          </a:p>
        </p:txBody>
      </p:sp>
    </p:spTree>
    <p:extLst>
      <p:ext uri="{BB962C8B-B14F-4D97-AF65-F5344CB8AC3E}">
        <p14:creationId xmlns:p14="http://schemas.microsoft.com/office/powerpoint/2010/main" val="1936010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class 8, double_it(x) could not change x: the function got a copy. Here double_all doubles every element of an array. Predict the two lines before you look at the next slide.</a:t>
            </a:r>
          </a:p>
        </p:txBody>
      </p:sp>
      <p:sp>
        <p:nvSpPr>
          <p:cNvPr id="4" name="Slide Number Placeholder 3"/>
          <p:cNvSpPr>
            <a:spLocks noGrp="1"/>
          </p:cNvSpPr>
          <p:nvPr>
            <p:ph type="sldNum" sz="quarter" idx="5"/>
          </p:nvPr>
        </p:nvSpPr>
        <p:spPr/>
        <p:txBody>
          <a:bodyPr/>
          <a:lstStyle/>
          <a:p>
            <a:fld id="{C22696EA-50A3-4AF3-81CF-24C280D4082F}" type="slidenum">
              <a:rPr lang="en-US" smtClean="0"/>
              <a:t>12</a:t>
            </a:fld>
            <a:endParaRPr lang="en-US"/>
          </a:p>
        </p:txBody>
      </p:sp>
    </p:spTree>
    <p:extLst>
      <p:ext uri="{BB962C8B-B14F-4D97-AF65-F5344CB8AC3E}">
        <p14:creationId xmlns:p14="http://schemas.microsoft.com/office/powerpoint/2010/main" val="3244012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1 2 3</a:t>
            </a:r>
          </a:p>
          <a:p>
            <a:r>
              <a:rPr lang="en-US"/>
              <a:t>after:  2 4 6</a:t>
            </a:r>
          </a:p>
          <a:p>
            <a:endParaRPr lang="en-US"/>
          </a:p>
          <a:p>
            <a:r>
              <a:rPr lang="en-US"/>
              <a:t>The array in main changed. A function that gets an array works on the caller's own elements, not on a copy. File: 04_double_all.c.</a:t>
            </a:r>
          </a:p>
        </p:txBody>
      </p:sp>
      <p:sp>
        <p:nvSpPr>
          <p:cNvPr id="4" name="Slide Number Placeholder 3"/>
          <p:cNvSpPr>
            <a:spLocks noGrp="1"/>
          </p:cNvSpPr>
          <p:nvPr>
            <p:ph type="sldNum" sz="quarter" idx="5"/>
          </p:nvPr>
        </p:nvSpPr>
        <p:spPr/>
        <p:txBody>
          <a:bodyPr/>
          <a:lstStyle/>
          <a:p>
            <a:fld id="{C22696EA-50A3-4AF3-81CF-24C280D4082F}" type="slidenum">
              <a:rPr lang="en-US" smtClean="0"/>
              <a:t>13</a:t>
            </a:fld>
            <a:endParaRPr lang="en-US"/>
          </a:p>
        </p:txBody>
      </p:sp>
    </p:spTree>
    <p:extLst>
      <p:ext uri="{BB962C8B-B14F-4D97-AF65-F5344CB8AC3E}">
        <p14:creationId xmlns:p14="http://schemas.microsoft.com/office/powerpoint/2010/main" val="1304322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int parameter is a copy. double_it(x) leaves x at 5.</a:t>
            </a:r>
          </a:p>
          <a:p>
            <a:r>
              <a:rPr lang="en-US"/>
              <a:t>- An array parameter is not a copy. double_all(a, 3) changes a to 2 4 6.</a:t>
            </a:r>
          </a:p>
        </p:txBody>
      </p:sp>
      <p:sp>
        <p:nvSpPr>
          <p:cNvPr id="4" name="Slide Number Placeholder 3"/>
          <p:cNvSpPr>
            <a:spLocks noGrp="1"/>
          </p:cNvSpPr>
          <p:nvPr>
            <p:ph type="sldNum" sz="quarter" idx="5"/>
          </p:nvPr>
        </p:nvSpPr>
        <p:spPr/>
        <p:txBody>
          <a:bodyPr/>
          <a:lstStyle/>
          <a:p>
            <a:fld id="{C22696EA-50A3-4AF3-81CF-24C280D4082F}" type="slidenum">
              <a:rPr lang="en-US" smtClean="0"/>
              <a:t>14</a:t>
            </a:fld>
            <a:endParaRPr lang="en-US"/>
          </a:p>
        </p:txBody>
      </p:sp>
    </p:spTree>
    <p:extLst>
      <p:ext uri="{BB962C8B-B14F-4D97-AF65-F5344CB8AC3E}">
        <p14:creationId xmlns:p14="http://schemas.microsoft.com/office/powerpoint/2010/main" val="825567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Rule: if a function changes a[i], main sees the change. You will learn why when we reach pointers, after the midterm. Today this is useful: a function can sort your array.</a:t>
            </a:r>
          </a:p>
        </p:txBody>
      </p:sp>
      <p:sp>
        <p:nvSpPr>
          <p:cNvPr id="4" name="Slide Number Placeholder 3"/>
          <p:cNvSpPr>
            <a:spLocks noGrp="1"/>
          </p:cNvSpPr>
          <p:nvPr>
            <p:ph type="sldNum" sz="quarter" idx="5"/>
          </p:nvPr>
        </p:nvSpPr>
        <p:spPr/>
        <p:txBody>
          <a:bodyPr/>
          <a:lstStyle/>
          <a:p>
            <a:fld id="{C22696EA-50A3-4AF3-81CF-24C280D4082F}" type="slidenum">
              <a:rPr lang="en-US" smtClean="0"/>
              <a:t>15</a:t>
            </a:fld>
            <a:endParaRPr lang="en-US"/>
          </a:p>
        </p:txBody>
      </p:sp>
    </p:spTree>
    <p:extLst>
      <p:ext uri="{BB962C8B-B14F-4D97-AF65-F5344CB8AC3E}">
        <p14:creationId xmlns:p14="http://schemas.microsoft.com/office/powerpoint/2010/main" val="1197189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Search answers two questions: is the value in the array, and if it is, where?</a:t>
            </a:r>
          </a:p>
        </p:txBody>
      </p:sp>
      <p:sp>
        <p:nvSpPr>
          <p:cNvPr id="4" name="Slide Number Placeholder 3"/>
          <p:cNvSpPr>
            <a:spLocks noGrp="1"/>
          </p:cNvSpPr>
          <p:nvPr>
            <p:ph type="sldNum" sz="quarter" idx="5"/>
          </p:nvPr>
        </p:nvSpPr>
        <p:spPr/>
        <p:txBody>
          <a:bodyPr/>
          <a:lstStyle/>
          <a:p>
            <a:fld id="{C22696EA-50A3-4AF3-81CF-24C280D4082F}" type="slidenum">
              <a:rPr lang="en-US" smtClean="0"/>
              <a:t>16</a:t>
            </a:fld>
            <a:endParaRPr lang="en-US"/>
          </a:p>
        </p:txBody>
      </p:sp>
    </p:spTree>
    <p:extLst>
      <p:ext uri="{BB962C8B-B14F-4D97-AF65-F5344CB8AC3E}">
        <p14:creationId xmlns:p14="http://schemas.microsoft.com/office/powerpoint/2010/main" val="1220881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Linear search: look at every element, one by one, from the left. If it is the value you want, remember its index and stop. If you reach the end, the value is not there.</a:t>
            </a:r>
          </a:p>
        </p:txBody>
      </p:sp>
      <p:sp>
        <p:nvSpPr>
          <p:cNvPr id="4" name="Slide Number Placeholder 3"/>
          <p:cNvSpPr>
            <a:spLocks noGrp="1"/>
          </p:cNvSpPr>
          <p:nvPr>
            <p:ph type="sldNum" sz="quarter" idx="5"/>
          </p:nvPr>
        </p:nvSpPr>
        <p:spPr/>
        <p:txBody>
          <a:bodyPr/>
          <a:lstStyle/>
          <a:p>
            <a:fld id="{C22696EA-50A3-4AF3-81CF-24C280D4082F}" type="slidenum">
              <a:rPr lang="en-US" smtClean="0"/>
              <a:t>17</a:t>
            </a:fld>
            <a:endParaRPr lang="en-US"/>
          </a:p>
        </p:txBody>
      </p:sp>
    </p:spTree>
    <p:extLst>
      <p:ext uri="{BB962C8B-B14F-4D97-AF65-F5344CB8AC3E}">
        <p14:creationId xmlns:p14="http://schemas.microsoft.com/office/powerpoint/2010/main" val="542558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look for 23 in 4 8 15 16 23 42. Before the loop, pos is -1. It means "not found yet". -1 is never a real index, because indexes start at 0.</a:t>
            </a:r>
          </a:p>
        </p:txBody>
      </p:sp>
      <p:sp>
        <p:nvSpPr>
          <p:cNvPr id="4" name="Slide Number Placeholder 3"/>
          <p:cNvSpPr>
            <a:spLocks noGrp="1"/>
          </p:cNvSpPr>
          <p:nvPr>
            <p:ph type="sldNum" sz="quarter" idx="5"/>
          </p:nvPr>
        </p:nvSpPr>
        <p:spPr/>
        <p:txBody>
          <a:bodyPr/>
          <a:lstStyle/>
          <a:p>
            <a:fld id="{C22696EA-50A3-4AF3-81CF-24C280D4082F}" type="slidenum">
              <a:rPr lang="en-US" smtClean="0"/>
              <a:t>18</a:t>
            </a:fld>
            <a:endParaRPr lang="en-US"/>
          </a:p>
        </p:txBody>
      </p:sp>
    </p:spTree>
    <p:extLst>
      <p:ext uri="{BB962C8B-B14F-4D97-AF65-F5344CB8AC3E}">
        <p14:creationId xmlns:p14="http://schemas.microsoft.com/office/powerpoint/2010/main" val="159314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i: a[i] · equal to 23? · pos</a:t>
            </a:r>
          </a:p>
          <a:p>
            <a:r>
              <a:rPr lang="pt-BR"/>
              <a:t>0: 4 · no · -1</a:t>
            </a:r>
          </a:p>
          <a:p>
            <a:r>
              <a:rPr lang="pt-BR"/>
              <a:t>1: 8 · no · -1</a:t>
            </a:r>
          </a:p>
          <a:p>
            <a:r>
              <a:rPr lang="pt-BR"/>
              <a:t>2: 15 · no · -1</a:t>
            </a:r>
          </a:p>
          <a:p>
            <a:r>
              <a:rPr lang="pt-BR"/>
              <a:t>3: 16 · no · -1</a:t>
            </a:r>
            <a:endParaRPr lang="en-US"/>
          </a:p>
        </p:txBody>
      </p:sp>
      <p:sp>
        <p:nvSpPr>
          <p:cNvPr id="4" name="Slide Number Placeholder 3"/>
          <p:cNvSpPr>
            <a:spLocks noGrp="1"/>
          </p:cNvSpPr>
          <p:nvPr>
            <p:ph type="sldNum" sz="quarter" idx="5"/>
          </p:nvPr>
        </p:nvSpPr>
        <p:spPr/>
        <p:txBody>
          <a:bodyPr/>
          <a:lstStyle/>
          <a:p>
            <a:fld id="{C22696EA-50A3-4AF3-81CF-24C280D4082F}" type="slidenum">
              <a:rPr lang="en-US" smtClean="0"/>
              <a:t>19</a:t>
            </a:fld>
            <a:endParaRPr lang="en-US"/>
          </a:p>
        </p:txBody>
      </p:sp>
    </p:spTree>
    <p:extLst>
      <p:ext uri="{BB962C8B-B14F-4D97-AF65-F5344CB8AC3E}">
        <p14:creationId xmlns:p14="http://schemas.microsoft.com/office/powerpoint/2010/main" val="4063162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i = 4, a[4] is 23. pos becomes 4 and break stops the loop. There is no need to look at 42.</a:t>
            </a:r>
          </a:p>
        </p:txBody>
      </p:sp>
      <p:sp>
        <p:nvSpPr>
          <p:cNvPr id="4" name="Slide Number Placeholder 3"/>
          <p:cNvSpPr>
            <a:spLocks noGrp="1"/>
          </p:cNvSpPr>
          <p:nvPr>
            <p:ph type="sldNum" sz="quarter" idx="5"/>
          </p:nvPr>
        </p:nvSpPr>
        <p:spPr/>
        <p:txBody>
          <a:bodyPr/>
          <a:lstStyle/>
          <a:p>
            <a:fld id="{C22696EA-50A3-4AF3-81CF-24C280D4082F}" type="slidenum">
              <a:rPr lang="en-US" smtClean="0"/>
              <a:t>20</a:t>
            </a:fld>
            <a:endParaRPr lang="en-US"/>
          </a:p>
        </p:txBody>
      </p:sp>
    </p:spTree>
    <p:extLst>
      <p:ext uri="{BB962C8B-B14F-4D97-AF65-F5344CB8AC3E}">
        <p14:creationId xmlns:p14="http://schemas.microsoft.com/office/powerpoint/2010/main" val="2250707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the loop, check pos. If it is still -1, the value was not found.</a:t>
            </a:r>
          </a:p>
          <a:p>
            <a:endParaRPr lang="en-US"/>
          </a:p>
          <a:p>
            <a:r>
              <a:rPr lang="en-US"/>
              <a:t>23 found at index 4</a:t>
            </a:r>
          </a:p>
          <a:p>
            <a:endParaRPr lang="en-US"/>
          </a:p>
          <a:p>
            <a:r>
              <a:rPr lang="en-US"/>
              <a:t>File: 05_search.c.</a:t>
            </a:r>
          </a:p>
        </p:txBody>
      </p:sp>
      <p:sp>
        <p:nvSpPr>
          <p:cNvPr id="4" name="Slide Number Placeholder 3"/>
          <p:cNvSpPr>
            <a:spLocks noGrp="1"/>
          </p:cNvSpPr>
          <p:nvPr>
            <p:ph type="sldNum" sz="quarter" idx="5"/>
          </p:nvPr>
        </p:nvSpPr>
        <p:spPr/>
        <p:txBody>
          <a:bodyPr/>
          <a:lstStyle/>
          <a:p>
            <a:fld id="{C22696EA-50A3-4AF3-81CF-24C280D4082F}" type="slidenum">
              <a:rPr lang="en-US" smtClean="0"/>
              <a:t>21</a:t>
            </a:fld>
            <a:endParaRPr lang="en-US"/>
          </a:p>
        </p:txBody>
      </p:sp>
    </p:spTree>
    <p:extLst>
      <p:ext uri="{BB962C8B-B14F-4D97-AF65-F5344CB8AC3E}">
        <p14:creationId xmlns:p14="http://schemas.microsoft.com/office/powerpoint/2010/main" val="2758064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Change the target to 7. What is printed? Answer on the next slide.</a:t>
            </a:r>
          </a:p>
        </p:txBody>
      </p:sp>
      <p:sp>
        <p:nvSpPr>
          <p:cNvPr id="4" name="Slide Number Placeholder 3"/>
          <p:cNvSpPr>
            <a:spLocks noGrp="1"/>
          </p:cNvSpPr>
          <p:nvPr>
            <p:ph type="sldNum" sz="quarter" idx="5"/>
          </p:nvPr>
        </p:nvSpPr>
        <p:spPr/>
        <p:txBody>
          <a:bodyPr/>
          <a:lstStyle/>
          <a:p>
            <a:fld id="{C22696EA-50A3-4AF3-81CF-24C280D4082F}" type="slidenum">
              <a:rPr lang="en-US" smtClean="0"/>
              <a:t>22</a:t>
            </a:fld>
            <a:endParaRPr lang="en-US"/>
          </a:p>
        </p:txBody>
      </p:sp>
    </p:spTree>
    <p:extLst>
      <p:ext uri="{BB962C8B-B14F-4D97-AF65-F5344CB8AC3E}">
        <p14:creationId xmlns:p14="http://schemas.microsoft.com/office/powerpoint/2010/main" val="3561478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 not found</a:t>
            </a:r>
          </a:p>
          <a:p>
            <a:endParaRPr lang="en-US"/>
          </a:p>
          <a:p>
            <a:r>
              <a:rPr lang="en-US"/>
              <a:t>The loop checks all six elements. None is 7, so pos stays -1.</a:t>
            </a:r>
          </a:p>
        </p:txBody>
      </p:sp>
      <p:sp>
        <p:nvSpPr>
          <p:cNvPr id="4" name="Slide Number Placeholder 3"/>
          <p:cNvSpPr>
            <a:spLocks noGrp="1"/>
          </p:cNvSpPr>
          <p:nvPr>
            <p:ph type="sldNum" sz="quarter" idx="5"/>
          </p:nvPr>
        </p:nvSpPr>
        <p:spPr/>
        <p:txBody>
          <a:bodyPr/>
          <a:lstStyle/>
          <a:p>
            <a:fld id="{C22696EA-50A3-4AF3-81CF-24C280D4082F}" type="slidenum">
              <a:rPr lang="en-US" smtClean="0"/>
              <a:t>23</a:t>
            </a:fld>
            <a:endParaRPr lang="en-US"/>
          </a:p>
        </p:txBody>
      </p:sp>
    </p:spTree>
    <p:extLst>
      <p:ext uri="{BB962C8B-B14F-4D97-AF65-F5344CB8AC3E}">
        <p14:creationId xmlns:p14="http://schemas.microsoft.com/office/powerpoint/2010/main" val="1471550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find(int a[], int n, int target) {</a:t>
            </a:r>
          </a:p>
          <a:p>
            <a:r>
              <a:rPr lang="en-US"/>
              <a:t>    for (int i = 0; i &lt; n; i++) {</a:t>
            </a:r>
          </a:p>
          <a:p>
            <a:r>
              <a:rPr lang="en-US"/>
              <a:t>        if (a[i] == target) {</a:t>
            </a:r>
          </a:p>
          <a:p>
            <a:r>
              <a:rPr lang="en-US"/>
              <a:t>            return i;</a:t>
            </a:r>
          </a:p>
          <a:p>
            <a:r>
              <a:rPr lang="en-US"/>
              <a:t>        }</a:t>
            </a:r>
          </a:p>
          <a:p>
            <a:r>
              <a:rPr lang="en-US"/>
              <a:t>    }</a:t>
            </a:r>
          </a:p>
          <a:p>
            <a:r>
              <a:rPr lang="en-US"/>
              <a:t>    return -1;</a:t>
            </a:r>
          </a:p>
          <a:p>
            <a:r>
              <a:rPr lang="en-US"/>
              <a:t>}</a:t>
            </a:r>
          </a:p>
          <a:p>
            <a:endParaRPr lang="en-US"/>
          </a:p>
          <a:p>
            <a:r>
              <a:rPr lang="en-US"/>
              <a:t>- return i; inside the loop: found. return ends the function at once, so no break is needed.</a:t>
            </a:r>
          </a:p>
          <a:p>
            <a:r>
              <a:rPr lang="en-US"/>
              <a:t>- return -1; after the loop: only then have you looked at every element.</a:t>
            </a:r>
          </a:p>
          <a:p>
            <a:endParaRPr lang="en-US"/>
          </a:p>
          <a:p>
            <a:r>
              <a:rPr lang="en-US"/>
              <a:t>find(a, 6, 16) gives 3 and find(a, 6, 7) gives -1. File: 06_find.c.</a:t>
            </a:r>
          </a:p>
        </p:txBody>
      </p:sp>
      <p:sp>
        <p:nvSpPr>
          <p:cNvPr id="4" name="Slide Number Placeholder 3"/>
          <p:cNvSpPr>
            <a:spLocks noGrp="1"/>
          </p:cNvSpPr>
          <p:nvPr>
            <p:ph type="sldNum" sz="quarter" idx="5"/>
          </p:nvPr>
        </p:nvSpPr>
        <p:spPr/>
        <p:txBody>
          <a:bodyPr/>
          <a:lstStyle/>
          <a:p>
            <a:fld id="{C22696EA-50A3-4AF3-81CF-24C280D4082F}" type="slidenum">
              <a:rPr lang="en-US" smtClean="0"/>
              <a:t>24</a:t>
            </a:fld>
            <a:endParaRPr lang="en-US"/>
          </a:p>
        </p:txBody>
      </p:sp>
    </p:spTree>
    <p:extLst>
      <p:ext uri="{BB962C8B-B14F-4D97-AF65-F5344CB8AC3E}">
        <p14:creationId xmlns:p14="http://schemas.microsoft.com/office/powerpoint/2010/main" val="9732491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find has an else inside the loop. Try to answer before the next slide: what does find(a, 6, 16) return?</a:t>
            </a:r>
          </a:p>
        </p:txBody>
      </p:sp>
      <p:sp>
        <p:nvSpPr>
          <p:cNvPr id="4" name="Slide Number Placeholder 3"/>
          <p:cNvSpPr>
            <a:spLocks noGrp="1"/>
          </p:cNvSpPr>
          <p:nvPr>
            <p:ph type="sldNum" sz="quarter" idx="5"/>
          </p:nvPr>
        </p:nvSpPr>
        <p:spPr/>
        <p:txBody>
          <a:bodyPr/>
          <a:lstStyle/>
          <a:p>
            <a:fld id="{C22696EA-50A3-4AF3-81CF-24C280D4082F}" type="slidenum">
              <a:rPr lang="en-US" smtClean="0"/>
              <a:t>25</a:t>
            </a:fld>
            <a:endParaRPr lang="en-US"/>
          </a:p>
        </p:txBody>
      </p:sp>
    </p:spTree>
    <p:extLst>
      <p:ext uri="{BB962C8B-B14F-4D97-AF65-F5344CB8AC3E}">
        <p14:creationId xmlns:p14="http://schemas.microsoft.com/office/powerpoint/2010/main" val="3258800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find 4: 0</a:t>
            </a:r>
          </a:p>
          <a:p>
            <a:r>
              <a:rPr lang="en-US"/>
              <a:t>find 16: -1</a:t>
            </a:r>
          </a:p>
          <a:p>
            <a:endParaRPr lang="en-US"/>
          </a:p>
          <a:p>
            <a:r>
              <a:rPr lang="en-US"/>
              <a:t>16 is in the array, but find says -1. At i = 0, a[0] is 4, which is not 16, so the else runs return -1 and the function ends. Only the first element is ever checked. File: 07_bug_find_else.c.</a:t>
            </a:r>
          </a:p>
        </p:txBody>
      </p:sp>
      <p:sp>
        <p:nvSpPr>
          <p:cNvPr id="4" name="Slide Number Placeholder 3"/>
          <p:cNvSpPr>
            <a:spLocks noGrp="1"/>
          </p:cNvSpPr>
          <p:nvPr>
            <p:ph type="sldNum" sz="quarter" idx="5"/>
          </p:nvPr>
        </p:nvSpPr>
        <p:spPr/>
        <p:txBody>
          <a:bodyPr/>
          <a:lstStyle/>
          <a:p>
            <a:fld id="{C22696EA-50A3-4AF3-81CF-24C280D4082F}" type="slidenum">
              <a:rPr lang="en-US" smtClean="0"/>
              <a:t>26</a:t>
            </a:fld>
            <a:endParaRPr lang="en-US"/>
          </a:p>
        </p:txBody>
      </p:sp>
    </p:spTree>
    <p:extLst>
      <p:ext uri="{BB962C8B-B14F-4D97-AF65-F5344CB8AC3E}">
        <p14:creationId xmlns:p14="http://schemas.microsoft.com/office/powerpoint/2010/main" val="40074941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gcc -Wall warns:</a:t>
            </a:r>
          </a:p>
          <a:p>
            <a:endParaRPr lang="en-US"/>
          </a:p>
          <a:p>
            <a:r>
              <a:rPr lang="en-US"/>
              <a:t>warning: control reaches end of non-void function [-Wreturn-type]</a:t>
            </a:r>
          </a:p>
          <a:p>
            <a:endParaRPr lang="en-US"/>
          </a:p>
          <a:p>
            <a:r>
              <a:rPr lang="en-US"/>
              <a:t>It means the function can reach its last } without a return. The fix: delete the else, and put return -1; after the loop.</a:t>
            </a:r>
          </a:p>
        </p:txBody>
      </p:sp>
      <p:sp>
        <p:nvSpPr>
          <p:cNvPr id="4" name="Slide Number Placeholder 3"/>
          <p:cNvSpPr>
            <a:spLocks noGrp="1"/>
          </p:cNvSpPr>
          <p:nvPr>
            <p:ph type="sldNum" sz="quarter" idx="5"/>
          </p:nvPr>
        </p:nvSpPr>
        <p:spPr/>
        <p:txBody>
          <a:bodyPr/>
          <a:lstStyle/>
          <a:p>
            <a:fld id="{C22696EA-50A3-4AF3-81CF-24C280D4082F}" type="slidenum">
              <a:rPr lang="en-US" smtClean="0"/>
              <a:t>27</a:t>
            </a:fld>
            <a:endParaRPr lang="en-US"/>
          </a:p>
        </p:txBody>
      </p:sp>
    </p:spTree>
    <p:extLst>
      <p:ext uri="{BB962C8B-B14F-4D97-AF65-F5344CB8AC3E}">
        <p14:creationId xmlns:p14="http://schemas.microsoft.com/office/powerpoint/2010/main" val="37975784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rolls are 3 6 2 6 1 6 4 2 5 6. How many sixes, how many twos? Answer on the next slide.</a:t>
            </a:r>
          </a:p>
        </p:txBody>
      </p:sp>
      <p:sp>
        <p:nvSpPr>
          <p:cNvPr id="4" name="Slide Number Placeholder 3"/>
          <p:cNvSpPr>
            <a:spLocks noGrp="1"/>
          </p:cNvSpPr>
          <p:nvPr>
            <p:ph type="sldNum" sz="quarter" idx="5"/>
          </p:nvPr>
        </p:nvSpPr>
        <p:spPr/>
        <p:txBody>
          <a:bodyPr/>
          <a:lstStyle/>
          <a:p>
            <a:fld id="{C22696EA-50A3-4AF3-81CF-24C280D4082F}" type="slidenum">
              <a:rPr lang="en-US" smtClean="0"/>
              <a:t>28</a:t>
            </a:fld>
            <a:endParaRPr lang="en-US"/>
          </a:p>
        </p:txBody>
      </p:sp>
    </p:spTree>
    <p:extLst>
      <p:ext uri="{BB962C8B-B14F-4D97-AF65-F5344CB8AC3E}">
        <p14:creationId xmlns:p14="http://schemas.microsoft.com/office/powerpoint/2010/main" val="25695968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sixes: 4</a:t>
            </a:r>
          </a:p>
          <a:p>
            <a:r>
              <a:rPr lang="en-US"/>
              <a:t>twos: 2</a:t>
            </a:r>
          </a:p>
          <a:p>
            <a:endParaRPr lang="en-US"/>
          </a:p>
          <a:p>
            <a:r>
              <a:rPr lang="en-US"/>
              <a:t>The counter c starts at 0 and c++ is inside the if. There is no break: to count, you look at every element. File: 08_count.c.</a:t>
            </a:r>
          </a:p>
        </p:txBody>
      </p:sp>
      <p:sp>
        <p:nvSpPr>
          <p:cNvPr id="4" name="Slide Number Placeholder 3"/>
          <p:cNvSpPr>
            <a:spLocks noGrp="1"/>
          </p:cNvSpPr>
          <p:nvPr>
            <p:ph type="sldNum" sz="quarter" idx="5"/>
          </p:nvPr>
        </p:nvSpPr>
        <p:spPr/>
        <p:txBody>
          <a:bodyPr/>
          <a:lstStyle/>
          <a:p>
            <a:fld id="{C22696EA-50A3-4AF3-81CF-24C280D4082F}" type="slidenum">
              <a:rPr lang="en-US" smtClean="0"/>
              <a:t>29</a:t>
            </a:fld>
            <a:endParaRPr lang="en-US"/>
          </a:p>
        </p:txBody>
      </p:sp>
    </p:spTree>
    <p:extLst>
      <p:ext uri="{BB962C8B-B14F-4D97-AF65-F5344CB8AC3E}">
        <p14:creationId xmlns:p14="http://schemas.microsoft.com/office/powerpoint/2010/main" val="623296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Search: where is it? Stop at the first one. Return the index, or -1.</a:t>
            </a:r>
          </a:p>
          <a:p>
            <a:r>
              <a:rPr lang="en-US"/>
              <a:t>- Count: how many? Look at all of them. c++ inside the if.</a:t>
            </a:r>
          </a:p>
        </p:txBody>
      </p:sp>
      <p:sp>
        <p:nvSpPr>
          <p:cNvPr id="4" name="Slide Number Placeholder 3"/>
          <p:cNvSpPr>
            <a:spLocks noGrp="1"/>
          </p:cNvSpPr>
          <p:nvPr>
            <p:ph type="sldNum" sz="quarter" idx="5"/>
          </p:nvPr>
        </p:nvSpPr>
        <p:spPr/>
        <p:txBody>
          <a:bodyPr/>
          <a:lstStyle/>
          <a:p>
            <a:fld id="{C22696EA-50A3-4AF3-81CF-24C280D4082F}" type="slidenum">
              <a:rPr lang="en-US" smtClean="0"/>
              <a:t>30</a:t>
            </a:fld>
            <a:endParaRPr lang="en-US"/>
          </a:p>
        </p:txBody>
      </p:sp>
    </p:spTree>
    <p:extLst>
      <p:ext uri="{BB962C8B-B14F-4D97-AF65-F5344CB8AC3E}">
        <p14:creationId xmlns:p14="http://schemas.microsoft.com/office/powerpoint/2010/main" val="25443835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smallest and the largest value in an array.</a:t>
            </a:r>
          </a:p>
        </p:txBody>
      </p:sp>
      <p:sp>
        <p:nvSpPr>
          <p:cNvPr id="4" name="Slide Number Placeholder 3"/>
          <p:cNvSpPr>
            <a:spLocks noGrp="1"/>
          </p:cNvSpPr>
          <p:nvPr>
            <p:ph type="sldNum" sz="quarter" idx="5"/>
          </p:nvPr>
        </p:nvSpPr>
        <p:spPr/>
        <p:txBody>
          <a:bodyPr/>
          <a:lstStyle/>
          <a:p>
            <a:fld id="{C22696EA-50A3-4AF3-81CF-24C280D4082F}" type="slidenum">
              <a:rPr lang="en-US" smtClean="0"/>
              <a:t>31</a:t>
            </a:fld>
            <a:endParaRPr lang="en-US"/>
          </a:p>
        </p:txBody>
      </p:sp>
    </p:spTree>
    <p:extLst>
      <p:ext uri="{BB962C8B-B14F-4D97-AF65-F5344CB8AC3E}">
        <p14:creationId xmlns:p14="http://schemas.microsoft.com/office/powerpoint/2010/main" val="30234424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Take the first element as the best so far. Look at each of the others. If one is better, it is the new best. At the end, the best so far is the best of all.</a:t>
            </a:r>
          </a:p>
        </p:txBody>
      </p:sp>
      <p:sp>
        <p:nvSpPr>
          <p:cNvPr id="4" name="Slide Number Placeholder 3"/>
          <p:cNvSpPr>
            <a:spLocks noGrp="1"/>
          </p:cNvSpPr>
          <p:nvPr>
            <p:ph type="sldNum" sz="quarter" idx="5"/>
          </p:nvPr>
        </p:nvSpPr>
        <p:spPr/>
        <p:txBody>
          <a:bodyPr/>
          <a:lstStyle/>
          <a:p>
            <a:fld id="{C22696EA-50A3-4AF3-81CF-24C280D4082F}" type="slidenum">
              <a:rPr lang="en-US" smtClean="0"/>
              <a:t>32</a:t>
            </a:fld>
            <a:endParaRPr lang="en-US"/>
          </a:p>
        </p:txBody>
      </p:sp>
    </p:spTree>
    <p:extLst>
      <p:ext uri="{BB962C8B-B14F-4D97-AF65-F5344CB8AC3E}">
        <p14:creationId xmlns:p14="http://schemas.microsoft.com/office/powerpoint/2010/main" val="20291860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max starts as a[0], which is 12. Because a[0] is already used, the loop starts at i = 1.</a:t>
            </a:r>
          </a:p>
        </p:txBody>
      </p:sp>
      <p:sp>
        <p:nvSpPr>
          <p:cNvPr id="4" name="Slide Number Placeholder 3"/>
          <p:cNvSpPr>
            <a:spLocks noGrp="1"/>
          </p:cNvSpPr>
          <p:nvPr>
            <p:ph type="sldNum" sz="quarter" idx="5"/>
          </p:nvPr>
        </p:nvSpPr>
        <p:spPr/>
        <p:txBody>
          <a:bodyPr/>
          <a:lstStyle/>
          <a:p>
            <a:fld id="{C22696EA-50A3-4AF3-81CF-24C280D4082F}" type="slidenum">
              <a:rPr lang="en-US" smtClean="0"/>
              <a:t>33</a:t>
            </a:fld>
            <a:endParaRPr lang="en-US"/>
          </a:p>
        </p:txBody>
      </p:sp>
    </p:spTree>
    <p:extLst>
      <p:ext uri="{BB962C8B-B14F-4D97-AF65-F5344CB8AC3E}">
        <p14:creationId xmlns:p14="http://schemas.microsoft.com/office/powerpoint/2010/main" val="1056698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a[1] is 45. 45 &gt; 12, so max becomes 45.</a:t>
            </a:r>
          </a:p>
        </p:txBody>
      </p:sp>
      <p:sp>
        <p:nvSpPr>
          <p:cNvPr id="4" name="Slide Number Placeholder 3"/>
          <p:cNvSpPr>
            <a:spLocks noGrp="1"/>
          </p:cNvSpPr>
          <p:nvPr>
            <p:ph type="sldNum" sz="quarter" idx="5"/>
          </p:nvPr>
        </p:nvSpPr>
        <p:spPr/>
        <p:txBody>
          <a:bodyPr/>
          <a:lstStyle/>
          <a:p>
            <a:fld id="{C22696EA-50A3-4AF3-81CF-24C280D4082F}" type="slidenum">
              <a:rPr lang="en-US" smtClean="0"/>
              <a:t>34</a:t>
            </a:fld>
            <a:endParaRPr lang="en-US"/>
          </a:p>
        </p:txBody>
      </p:sp>
    </p:spTree>
    <p:extLst>
      <p:ext uri="{BB962C8B-B14F-4D97-AF65-F5344CB8AC3E}">
        <p14:creationId xmlns:p14="http://schemas.microsoft.com/office/powerpoint/2010/main" val="35443765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a[i] · bigger than max? · max</a:t>
            </a:r>
          </a:p>
          <a:p>
            <a:r>
              <a:rPr lang="en-US"/>
              <a:t>start:  ·  · 12</a:t>
            </a:r>
          </a:p>
          <a:p>
            <a:r>
              <a:rPr lang="en-US"/>
              <a:t>1: 45 · yes · 45</a:t>
            </a:r>
          </a:p>
          <a:p>
            <a:r>
              <a:rPr lang="en-US"/>
              <a:t>2: 7 · no · 45</a:t>
            </a:r>
          </a:p>
          <a:p>
            <a:r>
              <a:rPr lang="en-US"/>
              <a:t>3: 30 · no · 45</a:t>
            </a:r>
          </a:p>
          <a:p>
            <a:r>
              <a:rPr lang="en-US"/>
              <a:t>4: 19 · no · 45</a:t>
            </a:r>
          </a:p>
          <a:p>
            <a:endParaRPr lang="en-US"/>
          </a:p>
          <a:p>
            <a:r>
              <a:rPr lang="en-US"/>
              <a:t>It prints max = 45. File: 09_max.c.</a:t>
            </a:r>
          </a:p>
        </p:txBody>
      </p:sp>
      <p:sp>
        <p:nvSpPr>
          <p:cNvPr id="4" name="Slide Number Placeholder 3"/>
          <p:cNvSpPr>
            <a:spLocks noGrp="1"/>
          </p:cNvSpPr>
          <p:nvPr>
            <p:ph type="sldNum" sz="quarter" idx="5"/>
          </p:nvPr>
        </p:nvSpPr>
        <p:spPr/>
        <p:txBody>
          <a:bodyPr/>
          <a:lstStyle/>
          <a:p>
            <a:fld id="{C22696EA-50A3-4AF3-81CF-24C280D4082F}" type="slidenum">
              <a:rPr lang="en-US" smtClean="0"/>
              <a:t>35</a:t>
            </a:fld>
            <a:endParaRPr lang="en-US"/>
          </a:p>
        </p:txBody>
      </p:sp>
    </p:spTree>
    <p:extLst>
      <p:ext uri="{BB962C8B-B14F-4D97-AF65-F5344CB8AC3E}">
        <p14:creationId xmlns:p14="http://schemas.microsoft.com/office/powerpoint/2010/main" val="42900354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max starts at 0, and all the temperatures are below zero. Predict the output before the next slide.</a:t>
            </a:r>
          </a:p>
        </p:txBody>
      </p:sp>
      <p:sp>
        <p:nvSpPr>
          <p:cNvPr id="4" name="Slide Number Placeholder 3"/>
          <p:cNvSpPr>
            <a:spLocks noGrp="1"/>
          </p:cNvSpPr>
          <p:nvPr>
            <p:ph type="sldNum" sz="quarter" idx="5"/>
          </p:nvPr>
        </p:nvSpPr>
        <p:spPr/>
        <p:txBody>
          <a:bodyPr/>
          <a:lstStyle/>
          <a:p>
            <a:fld id="{C22696EA-50A3-4AF3-81CF-24C280D4082F}" type="slidenum">
              <a:rPr lang="en-US" smtClean="0"/>
              <a:t>36</a:t>
            </a:fld>
            <a:endParaRPr lang="en-US"/>
          </a:p>
        </p:txBody>
      </p:sp>
    </p:spTree>
    <p:extLst>
      <p:ext uri="{BB962C8B-B14F-4D97-AF65-F5344CB8AC3E}">
        <p14:creationId xmlns:p14="http://schemas.microsoft.com/office/powerpoint/2010/main" val="22056679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warmest: 0</a:t>
            </a:r>
          </a:p>
          <a:p>
            <a:endParaRPr lang="en-US"/>
          </a:p>
          <a:p>
            <a:r>
              <a:rPr lang="en-US"/>
              <a:t>0 is not in the array. No temperature is bigger than 0, so max never changes. The fix is int max = temps[0];, and then it prints warmest: -2. gcc gives no warning for this mistake, so you must check it yourself. File: 10_bug_max_zero.c.</a:t>
            </a:r>
          </a:p>
        </p:txBody>
      </p:sp>
      <p:sp>
        <p:nvSpPr>
          <p:cNvPr id="4" name="Slide Number Placeholder 3"/>
          <p:cNvSpPr>
            <a:spLocks noGrp="1"/>
          </p:cNvSpPr>
          <p:nvPr>
            <p:ph type="sldNum" sz="quarter" idx="5"/>
          </p:nvPr>
        </p:nvSpPr>
        <p:spPr/>
        <p:txBody>
          <a:bodyPr/>
          <a:lstStyle/>
          <a:p>
            <a:fld id="{C22696EA-50A3-4AF3-81CF-24C280D4082F}" type="slidenum">
              <a:rPr lang="en-US" smtClean="0"/>
              <a:t>37</a:t>
            </a:fld>
            <a:endParaRPr lang="en-US"/>
          </a:p>
        </p:txBody>
      </p:sp>
    </p:spTree>
    <p:extLst>
      <p:ext uri="{BB962C8B-B14F-4D97-AF65-F5344CB8AC3E}">
        <p14:creationId xmlns:p14="http://schemas.microsoft.com/office/powerpoint/2010/main" val="27482518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the best so far at a[0], never at a number you chose. 0 is wrong when all values are negative; 100 is wrong when all values are above 100. a[0] is always a real value from the array.</a:t>
            </a:r>
          </a:p>
        </p:txBody>
      </p:sp>
      <p:sp>
        <p:nvSpPr>
          <p:cNvPr id="4" name="Slide Number Placeholder 3"/>
          <p:cNvSpPr>
            <a:spLocks noGrp="1"/>
          </p:cNvSpPr>
          <p:nvPr>
            <p:ph type="sldNum" sz="quarter" idx="5"/>
          </p:nvPr>
        </p:nvSpPr>
        <p:spPr/>
        <p:txBody>
          <a:bodyPr/>
          <a:lstStyle/>
          <a:p>
            <a:fld id="{C22696EA-50A3-4AF3-81CF-24C280D4082F}" type="slidenum">
              <a:rPr lang="en-US" smtClean="0"/>
              <a:t>38</a:t>
            </a:fld>
            <a:endParaRPr lang="en-US"/>
          </a:p>
        </p:txBody>
      </p:sp>
    </p:spTree>
    <p:extLst>
      <p:ext uri="{BB962C8B-B14F-4D97-AF65-F5344CB8AC3E}">
        <p14:creationId xmlns:p14="http://schemas.microsoft.com/office/powerpoint/2010/main" val="29982617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smallest uses the same code with &lt; instead of &gt;:</a:t>
            </a:r>
          </a:p>
          <a:p>
            <a:endParaRPr lang="en-US"/>
          </a:p>
          <a:p>
            <a:r>
              <a:rPr lang="en-US"/>
              <a:t>if (a[i] &lt; min) {</a:t>
            </a:r>
          </a:p>
          <a:p>
            <a:r>
              <a:rPr lang="en-US"/>
              <a:t>    min = a[i];</a:t>
            </a:r>
          </a:p>
          <a:p>
            <a:r>
              <a:rPr lang="en-US"/>
              <a:t>}</a:t>
            </a:r>
          </a:p>
        </p:txBody>
      </p:sp>
      <p:sp>
        <p:nvSpPr>
          <p:cNvPr id="4" name="Slide Number Placeholder 3"/>
          <p:cNvSpPr>
            <a:spLocks noGrp="1"/>
          </p:cNvSpPr>
          <p:nvPr>
            <p:ph type="sldNum" sz="quarter" idx="5"/>
          </p:nvPr>
        </p:nvSpPr>
        <p:spPr/>
        <p:txBody>
          <a:bodyPr/>
          <a:lstStyle/>
          <a:p>
            <a:fld id="{C22696EA-50A3-4AF3-81CF-24C280D4082F}" type="slidenum">
              <a:rPr lang="en-US" smtClean="0"/>
              <a:t>39</a:t>
            </a:fld>
            <a:endParaRPr lang="en-US"/>
          </a:p>
        </p:txBody>
      </p:sp>
    </p:spTree>
    <p:extLst>
      <p:ext uri="{BB962C8B-B14F-4D97-AF65-F5344CB8AC3E}">
        <p14:creationId xmlns:p14="http://schemas.microsoft.com/office/powerpoint/2010/main" val="1398608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week of temperatures, 14 17 11 19 16 9 13:</a:t>
            </a:r>
          </a:p>
          <a:p>
            <a:endParaRPr lang="en-US"/>
          </a:p>
          <a:p>
            <a:r>
              <a:rPr lang="en-US"/>
              <a:t>coldest: 9</a:t>
            </a:r>
          </a:p>
          <a:p>
            <a:r>
              <a:rPr lang="en-US"/>
              <a:t>warmest: 19</a:t>
            </a:r>
          </a:p>
          <a:p>
            <a:endParaRPr lang="en-US"/>
          </a:p>
          <a:p>
            <a:r>
              <a:rPr lang="en-US"/>
              <a:t>File: 11_min_max.c.</a:t>
            </a:r>
          </a:p>
        </p:txBody>
      </p:sp>
      <p:sp>
        <p:nvSpPr>
          <p:cNvPr id="4" name="Slide Number Placeholder 3"/>
          <p:cNvSpPr>
            <a:spLocks noGrp="1"/>
          </p:cNvSpPr>
          <p:nvPr>
            <p:ph type="sldNum" sz="quarter" idx="5"/>
          </p:nvPr>
        </p:nvSpPr>
        <p:spPr/>
        <p:txBody>
          <a:bodyPr/>
          <a:lstStyle/>
          <a:p>
            <a:fld id="{C22696EA-50A3-4AF3-81CF-24C280D4082F}" type="slidenum">
              <a:rPr lang="en-US" smtClean="0"/>
              <a:t>40</a:t>
            </a:fld>
            <a:endParaRPr lang="en-US"/>
          </a:p>
        </p:txBody>
      </p:sp>
    </p:spTree>
    <p:extLst>
      <p:ext uri="{BB962C8B-B14F-4D97-AF65-F5344CB8AC3E}">
        <p14:creationId xmlns:p14="http://schemas.microsoft.com/office/powerpoint/2010/main" val="26436667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know where the smallest is, keep its index in pos, not its value. pos starts at 0, and you compare with price[pos].</a:t>
            </a:r>
          </a:p>
        </p:txBody>
      </p:sp>
      <p:sp>
        <p:nvSpPr>
          <p:cNvPr id="4" name="Slide Number Placeholder 3"/>
          <p:cNvSpPr>
            <a:spLocks noGrp="1"/>
          </p:cNvSpPr>
          <p:nvPr>
            <p:ph type="sldNum" sz="quarter" idx="5"/>
          </p:nvPr>
        </p:nvSpPr>
        <p:spPr/>
        <p:txBody>
          <a:bodyPr/>
          <a:lstStyle/>
          <a:p>
            <a:fld id="{C22696EA-50A3-4AF3-81CF-24C280D4082F}" type="slidenum">
              <a:rPr lang="en-US" smtClean="0"/>
              <a:t>41</a:t>
            </a:fld>
            <a:endParaRPr lang="en-US"/>
          </a:p>
        </p:txBody>
      </p:sp>
    </p:spTree>
    <p:extLst>
      <p:ext uri="{BB962C8B-B14F-4D97-AF65-F5344CB8AC3E}">
        <p14:creationId xmlns:p14="http://schemas.microsoft.com/office/powerpoint/2010/main" val="8782985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price[i] · smaller than price[pos]? · pos</a:t>
            </a:r>
          </a:p>
          <a:p>
            <a:r>
              <a:rPr lang="en-US"/>
              <a:t>start:  ·  · 0</a:t>
            </a:r>
          </a:p>
          <a:p>
            <a:r>
              <a:rPr lang="en-US"/>
              <a:t>1: 9 · yes · 1</a:t>
            </a:r>
          </a:p>
          <a:p>
            <a:r>
              <a:rPr lang="en-US"/>
              <a:t>2: 7 · yes · 2</a:t>
            </a:r>
          </a:p>
          <a:p>
            <a:r>
              <a:rPr lang="en-US"/>
              <a:t>3: 11 · no · 2</a:t>
            </a:r>
          </a:p>
          <a:p>
            <a:r>
              <a:rPr lang="en-US"/>
              <a:t>4: 8 · no · 2</a:t>
            </a:r>
          </a:p>
          <a:p>
            <a:endParaRPr lang="en-US"/>
          </a:p>
          <a:p>
            <a:r>
              <a:rPr lang="en-US"/>
              <a:t>It prints cheapest: index 2, price 7. With the index you also have the value: price[pos]. File: 12_min_position.c.</a:t>
            </a:r>
          </a:p>
        </p:txBody>
      </p:sp>
      <p:sp>
        <p:nvSpPr>
          <p:cNvPr id="4" name="Slide Number Placeholder 3"/>
          <p:cNvSpPr>
            <a:spLocks noGrp="1"/>
          </p:cNvSpPr>
          <p:nvPr>
            <p:ph type="sldNum" sz="quarter" idx="5"/>
          </p:nvPr>
        </p:nvSpPr>
        <p:spPr/>
        <p:txBody>
          <a:bodyPr/>
          <a:lstStyle/>
          <a:p>
            <a:fld id="{C22696EA-50A3-4AF3-81CF-24C280D4082F}" type="slidenum">
              <a:rPr lang="en-US" smtClean="0"/>
              <a:t>42</a:t>
            </a:fld>
            <a:endParaRPr lang="en-US"/>
          </a:p>
        </p:txBody>
      </p:sp>
    </p:spTree>
    <p:extLst>
      <p:ext uri="{BB962C8B-B14F-4D97-AF65-F5344CB8AC3E}">
        <p14:creationId xmlns:p14="http://schemas.microsoft.com/office/powerpoint/2010/main" val="3303241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sort, you first need to swap two elements.</a:t>
            </a:r>
          </a:p>
        </p:txBody>
      </p:sp>
      <p:sp>
        <p:nvSpPr>
          <p:cNvPr id="4" name="Slide Number Placeholder 3"/>
          <p:cNvSpPr>
            <a:spLocks noGrp="1"/>
          </p:cNvSpPr>
          <p:nvPr>
            <p:ph type="sldNum" sz="quarter" idx="5"/>
          </p:nvPr>
        </p:nvSpPr>
        <p:spPr/>
        <p:txBody>
          <a:bodyPr/>
          <a:lstStyle/>
          <a:p>
            <a:fld id="{C22696EA-50A3-4AF3-81CF-24C280D4082F}" type="slidenum">
              <a:rPr lang="en-US" smtClean="0"/>
              <a:t>43</a:t>
            </a:fld>
            <a:endParaRPr lang="en-US"/>
          </a:p>
        </p:txBody>
      </p:sp>
    </p:spTree>
    <p:extLst>
      <p:ext uri="{BB962C8B-B14F-4D97-AF65-F5344CB8AC3E}">
        <p14:creationId xmlns:p14="http://schemas.microsoft.com/office/powerpoint/2010/main" val="13534789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a[0] is 3 and a[1] is 7. The program tries to swap them. Predict before the next slide.</a:t>
            </a:r>
          </a:p>
        </p:txBody>
      </p:sp>
      <p:sp>
        <p:nvSpPr>
          <p:cNvPr id="4" name="Slide Number Placeholder 3"/>
          <p:cNvSpPr>
            <a:spLocks noGrp="1"/>
          </p:cNvSpPr>
          <p:nvPr>
            <p:ph type="sldNum" sz="quarter" idx="5"/>
          </p:nvPr>
        </p:nvSpPr>
        <p:spPr/>
        <p:txBody>
          <a:bodyPr/>
          <a:lstStyle/>
          <a:p>
            <a:fld id="{C22696EA-50A3-4AF3-81CF-24C280D4082F}" type="slidenum">
              <a:rPr lang="en-US" smtClean="0"/>
              <a:t>44</a:t>
            </a:fld>
            <a:endParaRPr lang="en-US"/>
          </a:p>
        </p:txBody>
      </p:sp>
    </p:spTree>
    <p:extLst>
      <p:ext uri="{BB962C8B-B14F-4D97-AF65-F5344CB8AC3E}">
        <p14:creationId xmlns:p14="http://schemas.microsoft.com/office/powerpoint/2010/main" val="26446002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7 7</a:t>
            </a:r>
          </a:p>
          <a:p>
            <a:endParaRPr lang="en-US"/>
          </a:p>
          <a:p>
            <a:r>
              <a:rPr lang="en-US"/>
              <a:t>a[0] = a[1]; puts 7 into a[0], and the 3 is lost. Then a[1] = a[0]; copies that 7 back. File: 13_bug_swap_no_temp.c.</a:t>
            </a:r>
          </a:p>
        </p:txBody>
      </p:sp>
      <p:sp>
        <p:nvSpPr>
          <p:cNvPr id="4" name="Slide Number Placeholder 3"/>
          <p:cNvSpPr>
            <a:spLocks noGrp="1"/>
          </p:cNvSpPr>
          <p:nvPr>
            <p:ph type="sldNum" sz="quarter" idx="5"/>
          </p:nvPr>
        </p:nvSpPr>
        <p:spPr/>
        <p:txBody>
          <a:bodyPr/>
          <a:lstStyle/>
          <a:p>
            <a:fld id="{C22696EA-50A3-4AF3-81CF-24C280D4082F}" type="slidenum">
              <a:rPr lang="en-US" smtClean="0"/>
              <a:t>45</a:t>
            </a:fld>
            <a:endParaRPr lang="en-US"/>
          </a:p>
        </p:txBody>
      </p:sp>
    </p:spTree>
    <p:extLst>
      <p:ext uri="{BB962C8B-B14F-4D97-AF65-F5344CB8AC3E}">
        <p14:creationId xmlns:p14="http://schemas.microsoft.com/office/powerpoint/2010/main" val="16265193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temp = a[0];</a:t>
            </a:r>
          </a:p>
          <a:p>
            <a:r>
              <a:rPr lang="en-US"/>
              <a:t>a[0] = a[1];</a:t>
            </a:r>
          </a:p>
          <a:p>
            <a:r>
              <a:rPr lang="en-US"/>
              <a:t>a[1] = temp;</a:t>
            </a:r>
          </a:p>
          <a:p>
            <a:endParaRPr lang="en-US"/>
          </a:p>
          <a:p>
            <a:r>
              <a:rPr lang="en-US"/>
              <a:t>It prints 7 3. temp keeps the 3 safe while a[0] is overwritten. File: 14_swap.c.</a:t>
            </a:r>
          </a:p>
        </p:txBody>
      </p:sp>
      <p:sp>
        <p:nvSpPr>
          <p:cNvPr id="4" name="Slide Number Placeholder 3"/>
          <p:cNvSpPr>
            <a:spLocks noGrp="1"/>
          </p:cNvSpPr>
          <p:nvPr>
            <p:ph type="sldNum" sz="quarter" idx="5"/>
          </p:nvPr>
        </p:nvSpPr>
        <p:spPr/>
        <p:txBody>
          <a:bodyPr/>
          <a:lstStyle/>
          <a:p>
            <a:fld id="{C22696EA-50A3-4AF3-81CF-24C280D4082F}" type="slidenum">
              <a:rPr lang="en-US" smtClean="0"/>
              <a:t>46</a:t>
            </a:fld>
            <a:endParaRPr lang="en-US"/>
          </a:p>
        </p:txBody>
      </p:sp>
    </p:spTree>
    <p:extLst>
      <p:ext uri="{BB962C8B-B14F-4D97-AF65-F5344CB8AC3E}">
        <p14:creationId xmlns:p14="http://schemas.microsoft.com/office/powerpoint/2010/main" val="35499362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Save: temp = a[0]; (temp is 3)</a:t>
            </a:r>
          </a:p>
          <a:p>
            <a:r>
              <a:rPr lang="en-US"/>
              <a:t>2. Copy: a[0] = a[1]; (a[0] is 7)</a:t>
            </a:r>
          </a:p>
          <a:p>
            <a:r>
              <a:rPr lang="en-US"/>
              <a:t>3. Restore: a[1] = temp; (a[1] is 3)</a:t>
            </a:r>
          </a:p>
          <a:p>
            <a:endParaRPr lang="en-US"/>
          </a:p>
          <a:p>
            <a:r>
              <a:rPr lang="en-US"/>
              <a:t>Like swapping the drinks in two full glasses: you need a third, empty glass.</a:t>
            </a:r>
          </a:p>
        </p:txBody>
      </p:sp>
      <p:sp>
        <p:nvSpPr>
          <p:cNvPr id="4" name="Slide Number Placeholder 3"/>
          <p:cNvSpPr>
            <a:spLocks noGrp="1"/>
          </p:cNvSpPr>
          <p:nvPr>
            <p:ph type="sldNum" sz="quarter" idx="5"/>
          </p:nvPr>
        </p:nvSpPr>
        <p:spPr/>
        <p:txBody>
          <a:bodyPr/>
          <a:lstStyle/>
          <a:p>
            <a:fld id="{C22696EA-50A3-4AF3-81CF-24C280D4082F}" type="slidenum">
              <a:rPr lang="en-US" smtClean="0"/>
              <a:t>47</a:t>
            </a:fld>
            <a:endParaRPr lang="en-US"/>
          </a:p>
        </p:txBody>
      </p:sp>
    </p:spTree>
    <p:extLst>
      <p:ext uri="{BB962C8B-B14F-4D97-AF65-F5344CB8AC3E}">
        <p14:creationId xmlns:p14="http://schemas.microsoft.com/office/powerpoint/2010/main" val="7568305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Compare two neighbours. If they are in the wrong order, swap them. Do this for every pair from left to right: that is one pass. After one pass the largest number is at the end. Repeat the pass until the array is in order.</a:t>
            </a:r>
          </a:p>
        </p:txBody>
      </p:sp>
      <p:sp>
        <p:nvSpPr>
          <p:cNvPr id="4" name="Slide Number Placeholder 3"/>
          <p:cNvSpPr>
            <a:spLocks noGrp="1"/>
          </p:cNvSpPr>
          <p:nvPr>
            <p:ph type="sldNum" sz="quarter" idx="5"/>
          </p:nvPr>
        </p:nvSpPr>
        <p:spPr/>
        <p:txBody>
          <a:bodyPr/>
          <a:lstStyle/>
          <a:p>
            <a:fld id="{C22696EA-50A3-4AF3-81CF-24C280D4082F}" type="slidenum">
              <a:rPr lang="en-US" smtClean="0"/>
              <a:t>48</a:t>
            </a:fld>
            <a:endParaRPr lang="en-US"/>
          </a:p>
        </p:txBody>
      </p:sp>
    </p:spTree>
    <p:extLst>
      <p:ext uri="{BB962C8B-B14F-4D97-AF65-F5344CB8AC3E}">
        <p14:creationId xmlns:p14="http://schemas.microsoft.com/office/powerpoint/2010/main" val="21083483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 and 3 are in the wrong order: swap. The array is now 3 5 8 4 2.</a:t>
            </a:r>
          </a:p>
        </p:txBody>
      </p:sp>
      <p:sp>
        <p:nvSpPr>
          <p:cNvPr id="4" name="Slide Number Placeholder 3"/>
          <p:cNvSpPr>
            <a:spLocks noGrp="1"/>
          </p:cNvSpPr>
          <p:nvPr>
            <p:ph type="sldNum" sz="quarter" idx="5"/>
          </p:nvPr>
        </p:nvSpPr>
        <p:spPr/>
        <p:txBody>
          <a:bodyPr/>
          <a:lstStyle/>
          <a:p>
            <a:fld id="{C22696EA-50A3-4AF3-81CF-24C280D4082F}" type="slidenum">
              <a:rPr lang="en-US" smtClean="0"/>
              <a:t>49</a:t>
            </a:fld>
            <a:endParaRPr lang="en-US"/>
          </a:p>
        </p:txBody>
      </p:sp>
    </p:spTree>
    <p:extLst>
      <p:ext uri="{BB962C8B-B14F-4D97-AF65-F5344CB8AC3E}">
        <p14:creationId xmlns:p14="http://schemas.microsoft.com/office/powerpoint/2010/main" val="27002259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 and 8 are in the right order: leave them.</a:t>
            </a:r>
          </a:p>
        </p:txBody>
      </p:sp>
      <p:sp>
        <p:nvSpPr>
          <p:cNvPr id="4" name="Slide Number Placeholder 3"/>
          <p:cNvSpPr>
            <a:spLocks noGrp="1"/>
          </p:cNvSpPr>
          <p:nvPr>
            <p:ph type="sldNum" sz="quarter" idx="5"/>
          </p:nvPr>
        </p:nvSpPr>
        <p:spPr/>
        <p:txBody>
          <a:bodyPr/>
          <a:lstStyle/>
          <a:p>
            <a:fld id="{C22696EA-50A3-4AF3-81CF-24C280D4082F}" type="slidenum">
              <a:rPr lang="en-US" smtClean="0"/>
              <a:t>50</a:t>
            </a:fld>
            <a:endParaRPr lang="en-US"/>
          </a:p>
        </p:txBody>
      </p:sp>
    </p:spTree>
    <p:extLst>
      <p:ext uri="{BB962C8B-B14F-4D97-AF65-F5344CB8AC3E}">
        <p14:creationId xmlns:p14="http://schemas.microsoft.com/office/powerpoint/2010/main" val="29713510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compare: swap? · array after</a:t>
            </a:r>
          </a:p>
          <a:p>
            <a:r>
              <a:rPr lang="en-US"/>
              <a:t>5 and 3: yes · 3 5 8 4 2</a:t>
            </a:r>
          </a:p>
          <a:p>
            <a:r>
              <a:rPr lang="en-US"/>
              <a:t>5 and 8: no · 3 5 8 4 2</a:t>
            </a:r>
          </a:p>
          <a:p>
            <a:r>
              <a:rPr lang="en-US"/>
              <a:t>8 and 4: yes · 3 5 4 8 2</a:t>
            </a:r>
          </a:p>
          <a:p>
            <a:r>
              <a:rPr lang="en-US"/>
              <a:t>8 and 2: yes · 3 5 4 2 8</a:t>
            </a:r>
          </a:p>
          <a:p>
            <a:endParaRPr lang="en-US"/>
          </a:p>
          <a:p>
            <a:r>
              <a:rPr lang="en-US"/>
              <a:t>The 8 was carried to the end. It is in its place and will not move again.</a:t>
            </a:r>
          </a:p>
        </p:txBody>
      </p:sp>
      <p:sp>
        <p:nvSpPr>
          <p:cNvPr id="4" name="Slide Number Placeholder 3"/>
          <p:cNvSpPr>
            <a:spLocks noGrp="1"/>
          </p:cNvSpPr>
          <p:nvPr>
            <p:ph type="sldNum" sz="quarter" idx="5"/>
          </p:nvPr>
        </p:nvSpPr>
        <p:spPr/>
        <p:txBody>
          <a:bodyPr/>
          <a:lstStyle/>
          <a:p>
            <a:fld id="{C22696EA-50A3-4AF3-81CF-24C280D4082F}" type="slidenum">
              <a:rPr lang="en-US" smtClean="0"/>
              <a:t>51</a:t>
            </a:fld>
            <a:endParaRPr lang="en-US"/>
          </a:p>
        </p:txBody>
      </p:sp>
    </p:spTree>
    <p:extLst>
      <p:ext uri="{BB962C8B-B14F-4D97-AF65-F5344CB8AC3E}">
        <p14:creationId xmlns:p14="http://schemas.microsoft.com/office/powerpoint/2010/main" val="36076973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j = 0; j &lt; N - 1; j++) {</a:t>
            </a:r>
          </a:p>
          <a:p>
            <a:r>
              <a:rPr lang="en-US"/>
              <a:t>    if (a[j] &gt; a[j + 1]) {</a:t>
            </a:r>
          </a:p>
          <a:p>
            <a:r>
              <a:rPr lang="en-US"/>
              <a:t>        int temp = a[j];</a:t>
            </a:r>
          </a:p>
          <a:p>
            <a:r>
              <a:rPr lang="en-US"/>
              <a:t>        a[j] = a[j + 1];</a:t>
            </a:r>
          </a:p>
          <a:p>
            <a:r>
              <a:rPr lang="en-US"/>
              <a:t>        a[j + 1] = temp;</a:t>
            </a:r>
          </a:p>
          <a:p>
            <a:r>
              <a:rPr lang="en-US"/>
              <a:t>    }</a:t>
            </a:r>
          </a:p>
          <a:p>
            <a:r>
              <a:rPr lang="en-US"/>
              <a:t>}</a:t>
            </a:r>
          </a:p>
          <a:p>
            <a:endParaRPr lang="en-US"/>
          </a:p>
          <a:p>
            <a:r>
              <a:rPr lang="en-US"/>
              <a:t>The condition is j &lt; N - 1 because the loop uses a[j + 1]. With j &lt; N, the last comparison would read a[N], outside the array. It prints 3 5 4 2 8. File: 15_one_pass.c.</a:t>
            </a:r>
          </a:p>
        </p:txBody>
      </p:sp>
      <p:sp>
        <p:nvSpPr>
          <p:cNvPr id="4" name="Slide Number Placeholder 3"/>
          <p:cNvSpPr>
            <a:spLocks noGrp="1"/>
          </p:cNvSpPr>
          <p:nvPr>
            <p:ph type="sldNum" sz="quarter" idx="5"/>
          </p:nvPr>
        </p:nvSpPr>
        <p:spPr/>
        <p:txBody>
          <a:bodyPr/>
          <a:lstStyle/>
          <a:p>
            <a:fld id="{C22696EA-50A3-4AF3-81CF-24C280D4082F}" type="slidenum">
              <a:rPr lang="en-US" smtClean="0"/>
              <a:t>52</a:t>
            </a:fld>
            <a:endParaRPr lang="en-US"/>
          </a:p>
        </p:txBody>
      </p:sp>
    </p:spTree>
    <p:extLst>
      <p:ext uri="{BB962C8B-B14F-4D97-AF65-F5344CB8AC3E}">
        <p14:creationId xmlns:p14="http://schemas.microsoft.com/office/powerpoint/2010/main" val="417424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pass 1, the largest number, 8, is in its place.</a:t>
            </a:r>
          </a:p>
        </p:txBody>
      </p:sp>
      <p:sp>
        <p:nvSpPr>
          <p:cNvPr id="4" name="Slide Number Placeholder 3"/>
          <p:cNvSpPr>
            <a:spLocks noGrp="1"/>
          </p:cNvSpPr>
          <p:nvPr>
            <p:ph type="sldNum" sz="quarter" idx="5"/>
          </p:nvPr>
        </p:nvSpPr>
        <p:spPr/>
        <p:txBody>
          <a:bodyPr/>
          <a:lstStyle/>
          <a:p>
            <a:fld id="{C22696EA-50A3-4AF3-81CF-24C280D4082F}" type="slidenum">
              <a:rPr lang="en-US" smtClean="0"/>
              <a:t>53</a:t>
            </a:fld>
            <a:endParaRPr lang="en-US"/>
          </a:p>
        </p:txBody>
      </p:sp>
    </p:spTree>
    <p:extLst>
      <p:ext uri="{BB962C8B-B14F-4D97-AF65-F5344CB8AC3E}">
        <p14:creationId xmlns:p14="http://schemas.microsoft.com/office/powerpoint/2010/main" val="11222263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Pass 2 does the same for the rest: 5 moves next to the 8.</a:t>
            </a:r>
          </a:p>
        </p:txBody>
      </p:sp>
      <p:sp>
        <p:nvSpPr>
          <p:cNvPr id="4" name="Slide Number Placeholder 3"/>
          <p:cNvSpPr>
            <a:spLocks noGrp="1"/>
          </p:cNvSpPr>
          <p:nvPr>
            <p:ph type="sldNum" sz="quarter" idx="5"/>
          </p:nvPr>
        </p:nvSpPr>
        <p:spPr/>
        <p:txBody>
          <a:bodyPr/>
          <a:lstStyle/>
          <a:p>
            <a:fld id="{C22696EA-50A3-4AF3-81CF-24C280D4082F}" type="slidenum">
              <a:rPr lang="en-US" smtClean="0"/>
              <a:t>54</a:t>
            </a:fld>
            <a:endParaRPr lang="en-US"/>
          </a:p>
        </p:txBody>
      </p:sp>
    </p:spTree>
    <p:extLst>
      <p:ext uri="{BB962C8B-B14F-4D97-AF65-F5344CB8AC3E}">
        <p14:creationId xmlns:p14="http://schemas.microsoft.com/office/powerpoint/2010/main" val="2927465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pass: array after it · in place</a:t>
            </a:r>
          </a:p>
          <a:p>
            <a:r>
              <a:rPr lang="en-US"/>
              <a:t>start: 5 3 8 4 2 · </a:t>
            </a:r>
          </a:p>
          <a:p>
            <a:r>
              <a:rPr lang="en-US"/>
              <a:t>1: 3 5 4 2 8 · 8</a:t>
            </a:r>
          </a:p>
          <a:p>
            <a:r>
              <a:rPr lang="en-US"/>
              <a:t>2: 3 4 2 5 8 · 5 8</a:t>
            </a:r>
          </a:p>
          <a:p>
            <a:r>
              <a:rPr lang="en-US"/>
              <a:t>3: 3 2 4 5 8 · 4 5 8</a:t>
            </a:r>
          </a:p>
          <a:p>
            <a:r>
              <a:rPr lang="en-US"/>
              <a:t>4: 2 3 4 5 8 · all</a:t>
            </a:r>
          </a:p>
          <a:p>
            <a:endParaRPr lang="en-US"/>
          </a:p>
          <a:p>
            <a:r>
              <a:rPr lang="en-US"/>
              <a:t>5 numbers need 4 passes. In general, N numbers need N - 1 passes.</a:t>
            </a:r>
          </a:p>
        </p:txBody>
      </p:sp>
      <p:sp>
        <p:nvSpPr>
          <p:cNvPr id="4" name="Slide Number Placeholder 3"/>
          <p:cNvSpPr>
            <a:spLocks noGrp="1"/>
          </p:cNvSpPr>
          <p:nvPr>
            <p:ph type="sldNum" sz="quarter" idx="5"/>
          </p:nvPr>
        </p:nvSpPr>
        <p:spPr/>
        <p:txBody>
          <a:bodyPr/>
          <a:lstStyle/>
          <a:p>
            <a:fld id="{C22696EA-50A3-4AF3-81CF-24C280D4082F}" type="slidenum">
              <a:rPr lang="en-US" smtClean="0"/>
              <a:t>55</a:t>
            </a:fld>
            <a:endParaRPr lang="en-US"/>
          </a:p>
        </p:txBody>
      </p:sp>
    </p:spTree>
    <p:extLst>
      <p:ext uri="{BB962C8B-B14F-4D97-AF65-F5344CB8AC3E}">
        <p14:creationId xmlns:p14="http://schemas.microsoft.com/office/powerpoint/2010/main" val="10746161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outer loop counts the passes: pass from 1 to N - 1. The inner loop walks the pairs, like the one pass on slide 52.</a:t>
            </a:r>
          </a:p>
        </p:txBody>
      </p:sp>
      <p:sp>
        <p:nvSpPr>
          <p:cNvPr id="4" name="Slide Number Placeholder 3"/>
          <p:cNvSpPr>
            <a:spLocks noGrp="1"/>
          </p:cNvSpPr>
          <p:nvPr>
            <p:ph type="sldNum" sz="quarter" idx="5"/>
          </p:nvPr>
        </p:nvSpPr>
        <p:spPr/>
        <p:txBody>
          <a:bodyPr/>
          <a:lstStyle/>
          <a:p>
            <a:fld id="{C22696EA-50A3-4AF3-81CF-24C280D4082F}" type="slidenum">
              <a:rPr lang="en-US" smtClean="0"/>
              <a:t>56</a:t>
            </a:fld>
            <a:endParaRPr lang="en-US"/>
          </a:p>
        </p:txBody>
      </p:sp>
    </p:spTree>
    <p:extLst>
      <p:ext uri="{BB962C8B-B14F-4D97-AF65-F5344CB8AC3E}">
        <p14:creationId xmlns:p14="http://schemas.microsoft.com/office/powerpoint/2010/main" val="40305681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pass 1 the last element is in place, after pass 2 the last two, and so on. So each pass can stop one pair earlier: j &lt; N - pass. With j &lt; N - 1 the array is still sorted correctly; the program only does comparisons it does not need.</a:t>
            </a:r>
          </a:p>
        </p:txBody>
      </p:sp>
      <p:sp>
        <p:nvSpPr>
          <p:cNvPr id="4" name="Slide Number Placeholder 3"/>
          <p:cNvSpPr>
            <a:spLocks noGrp="1"/>
          </p:cNvSpPr>
          <p:nvPr>
            <p:ph type="sldNum" sz="quarter" idx="5"/>
          </p:nvPr>
        </p:nvSpPr>
        <p:spPr/>
        <p:txBody>
          <a:bodyPr/>
          <a:lstStyle/>
          <a:p>
            <a:fld id="{C22696EA-50A3-4AF3-81CF-24C280D4082F}" type="slidenum">
              <a:rPr lang="en-US" smtClean="0"/>
              <a:t>57</a:t>
            </a:fld>
            <a:endParaRPr lang="en-US"/>
          </a:p>
        </p:txBody>
      </p:sp>
    </p:spTree>
    <p:extLst>
      <p:ext uri="{BB962C8B-B14F-4D97-AF65-F5344CB8AC3E}">
        <p14:creationId xmlns:p14="http://schemas.microsoft.com/office/powerpoint/2010/main" val="26766733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pass 1: 3 5 4 2 8 </a:t>
            </a:r>
          </a:p>
          <a:p>
            <a:r>
              <a:rPr lang="en-US"/>
              <a:t>pass 2: 3 4 2 5 8 </a:t>
            </a:r>
          </a:p>
          <a:p>
            <a:r>
              <a:rPr lang="en-US"/>
              <a:t>pass 3: 3 2 4 5 8 </a:t>
            </a:r>
          </a:p>
          <a:p>
            <a:r>
              <a:rPr lang="en-US"/>
              <a:t>pass 4: 2 3 4 5 8 </a:t>
            </a:r>
          </a:p>
          <a:p>
            <a:endParaRPr lang="en-US"/>
          </a:p>
          <a:p>
            <a:r>
              <a:rPr lang="en-US"/>
              <a:t>The same rows as the table on slide 55. File: 16_bubble_sort.c.</a:t>
            </a:r>
          </a:p>
        </p:txBody>
      </p:sp>
      <p:sp>
        <p:nvSpPr>
          <p:cNvPr id="4" name="Slide Number Placeholder 3"/>
          <p:cNvSpPr>
            <a:spLocks noGrp="1"/>
          </p:cNvSpPr>
          <p:nvPr>
            <p:ph type="sldNum" sz="quarter" idx="5"/>
          </p:nvPr>
        </p:nvSpPr>
        <p:spPr/>
        <p:txBody>
          <a:bodyPr/>
          <a:lstStyle/>
          <a:p>
            <a:fld id="{C22696EA-50A3-4AF3-81CF-24C280D4082F}" type="slidenum">
              <a:rPr lang="en-US" smtClean="0"/>
              <a:t>58</a:t>
            </a:fld>
            <a:endParaRPr lang="en-US"/>
          </a:p>
        </p:txBody>
      </p:sp>
    </p:spTree>
    <p:extLst>
      <p:ext uri="{BB962C8B-B14F-4D97-AF65-F5344CB8AC3E}">
        <p14:creationId xmlns:p14="http://schemas.microsoft.com/office/powerpoint/2010/main" val="15757607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Bubble sort on 4 3 2 1: how many passes, and what is the array after pass 1? Try it on paper first.</a:t>
            </a:r>
          </a:p>
        </p:txBody>
      </p:sp>
      <p:sp>
        <p:nvSpPr>
          <p:cNvPr id="4" name="Slide Number Placeholder 3"/>
          <p:cNvSpPr>
            <a:spLocks noGrp="1"/>
          </p:cNvSpPr>
          <p:nvPr>
            <p:ph type="sldNum" sz="quarter" idx="5"/>
          </p:nvPr>
        </p:nvSpPr>
        <p:spPr/>
        <p:txBody>
          <a:bodyPr/>
          <a:lstStyle/>
          <a:p>
            <a:fld id="{C22696EA-50A3-4AF3-81CF-24C280D4082F}" type="slidenum">
              <a:rPr lang="en-US" smtClean="0"/>
              <a:t>59</a:t>
            </a:fld>
            <a:endParaRPr lang="en-US"/>
          </a:p>
        </p:txBody>
      </p:sp>
    </p:spTree>
    <p:extLst>
      <p:ext uri="{BB962C8B-B14F-4D97-AF65-F5344CB8AC3E}">
        <p14:creationId xmlns:p14="http://schemas.microsoft.com/office/powerpoint/2010/main" val="34038106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numbers need 3 passes. Pass 1 carries the 4 to the end: 3 2 1 4. Pass 2 gives 2 1 3 4, and pass 3 gives 1 2 3 4.</a:t>
            </a:r>
          </a:p>
        </p:txBody>
      </p:sp>
      <p:sp>
        <p:nvSpPr>
          <p:cNvPr id="4" name="Slide Number Placeholder 3"/>
          <p:cNvSpPr>
            <a:spLocks noGrp="1"/>
          </p:cNvSpPr>
          <p:nvPr>
            <p:ph type="sldNum" sz="quarter" idx="5"/>
          </p:nvPr>
        </p:nvSpPr>
        <p:spPr/>
        <p:txBody>
          <a:bodyPr/>
          <a:lstStyle/>
          <a:p>
            <a:fld id="{C22696EA-50A3-4AF3-81CF-24C280D4082F}" type="slidenum">
              <a:rPr lang="en-US" smtClean="0"/>
              <a:t>60</a:t>
            </a:fld>
            <a:endParaRPr lang="en-US"/>
          </a:p>
        </p:txBody>
      </p:sp>
    </p:spTree>
    <p:extLst>
      <p:ext uri="{BB962C8B-B14F-4D97-AF65-F5344CB8AC3E}">
        <p14:creationId xmlns:p14="http://schemas.microsoft.com/office/powerpoint/2010/main" val="35234274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void bubble_sort(int a[], int n) returns nothing. It does not need to: it changes the caller's array, like double_all on slide 13.</a:t>
            </a:r>
          </a:p>
        </p:txBody>
      </p:sp>
      <p:sp>
        <p:nvSpPr>
          <p:cNvPr id="4" name="Slide Number Placeholder 3"/>
          <p:cNvSpPr>
            <a:spLocks noGrp="1"/>
          </p:cNvSpPr>
          <p:nvPr>
            <p:ph type="sldNum" sz="quarter" idx="5"/>
          </p:nvPr>
        </p:nvSpPr>
        <p:spPr/>
        <p:txBody>
          <a:bodyPr/>
          <a:lstStyle/>
          <a:p>
            <a:fld id="{C22696EA-50A3-4AF3-81CF-24C280D4082F}" type="slidenum">
              <a:rPr lang="en-US" smtClean="0"/>
              <a:t>61</a:t>
            </a:fld>
            <a:endParaRPr lang="en-US"/>
          </a:p>
        </p:txBody>
      </p:sp>
    </p:spTree>
    <p:extLst>
      <p:ext uri="{BB962C8B-B14F-4D97-AF65-F5344CB8AC3E}">
        <p14:creationId xmlns:p14="http://schemas.microsoft.com/office/powerpoint/2010/main" val="5320182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72 95 61 88 79 54 90 67 </a:t>
            </a:r>
          </a:p>
          <a:p>
            <a:r>
              <a:rPr lang="en-US"/>
              <a:t>54 61 67 72 79 88 90 95 </a:t>
            </a:r>
          </a:p>
          <a:p>
            <a:endParaRPr lang="en-US"/>
          </a:p>
          <a:p>
            <a:r>
              <a:rPr lang="en-US"/>
              <a:t>After bubble_sort(marks, N); the array in main is in order. File: 17_sort_function.c.</a:t>
            </a:r>
          </a:p>
        </p:txBody>
      </p:sp>
      <p:sp>
        <p:nvSpPr>
          <p:cNvPr id="4" name="Slide Number Placeholder 3"/>
          <p:cNvSpPr>
            <a:spLocks noGrp="1"/>
          </p:cNvSpPr>
          <p:nvPr>
            <p:ph type="sldNum" sz="quarter" idx="5"/>
          </p:nvPr>
        </p:nvSpPr>
        <p:spPr/>
        <p:txBody>
          <a:bodyPr/>
          <a:lstStyle/>
          <a:p>
            <a:fld id="{C22696EA-50A3-4AF3-81CF-24C280D4082F}" type="slidenum">
              <a:rPr lang="en-US" smtClean="0"/>
              <a:t>62</a:t>
            </a:fld>
            <a:endParaRPr lang="en-US"/>
          </a:p>
        </p:txBody>
      </p:sp>
    </p:spTree>
    <p:extLst>
      <p:ext uri="{BB962C8B-B14F-4D97-AF65-F5344CB8AC3E}">
        <p14:creationId xmlns:p14="http://schemas.microsoft.com/office/powerpoint/2010/main" val="18078743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extra idea. If a whole pass makes no swap, the array is already sorted, so you can stop. swapped is 0 at the start of each pass and becomes 1 when a swap happens. After the pass, if (!swapped) break;.</a:t>
            </a:r>
          </a:p>
          <a:p>
            <a:endParaRPr lang="en-US"/>
          </a:p>
          <a:p>
            <a:r>
              <a:rPr lang="en-US"/>
              <a:t>For 1 2 3 5 4 it prints passes: 2: pass 1 swaps 5 and 4, pass 2 swaps nothing. File: 18_bubble_early_exit.c.</a:t>
            </a:r>
          </a:p>
        </p:txBody>
      </p:sp>
      <p:sp>
        <p:nvSpPr>
          <p:cNvPr id="4" name="Slide Number Placeholder 3"/>
          <p:cNvSpPr>
            <a:spLocks noGrp="1"/>
          </p:cNvSpPr>
          <p:nvPr>
            <p:ph type="sldNum" sz="quarter" idx="5"/>
          </p:nvPr>
        </p:nvSpPr>
        <p:spPr/>
        <p:txBody>
          <a:bodyPr/>
          <a:lstStyle/>
          <a:p>
            <a:fld id="{C22696EA-50A3-4AF3-81CF-24C280D4082F}" type="slidenum">
              <a:rPr lang="en-US" smtClean="0"/>
              <a:t>63</a:t>
            </a:fld>
            <a:endParaRPr lang="en-US"/>
          </a:p>
        </p:txBody>
      </p:sp>
    </p:spTree>
    <p:extLst>
      <p:ext uri="{BB962C8B-B14F-4D97-AF65-F5344CB8AC3E}">
        <p14:creationId xmlns:p14="http://schemas.microsoft.com/office/powerpoint/2010/main" val="26084336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sort from high to low, change &gt; to &lt;:</a:t>
            </a:r>
          </a:p>
          <a:p>
            <a:endParaRPr lang="en-US"/>
          </a:p>
          <a:p>
            <a:r>
              <a:rPr lang="en-US"/>
              <a:t>if (a[j] &lt; a[j + 1])</a:t>
            </a:r>
          </a:p>
          <a:p>
            <a:endParaRPr lang="en-US"/>
          </a:p>
          <a:p>
            <a:r>
              <a:rPr lang="en-US"/>
              <a:t>Now the smaller number moves to the end.</a:t>
            </a:r>
          </a:p>
        </p:txBody>
      </p:sp>
      <p:sp>
        <p:nvSpPr>
          <p:cNvPr id="4" name="Slide Number Placeholder 3"/>
          <p:cNvSpPr>
            <a:spLocks noGrp="1"/>
          </p:cNvSpPr>
          <p:nvPr>
            <p:ph type="sldNum" sz="quarter" idx="5"/>
          </p:nvPr>
        </p:nvSpPr>
        <p:spPr/>
        <p:txBody>
          <a:bodyPr/>
          <a:lstStyle/>
          <a:p>
            <a:fld id="{C22696EA-50A3-4AF3-81CF-24C280D4082F}" type="slidenum">
              <a:rPr lang="en-US" smtClean="0"/>
              <a:t>64</a:t>
            </a:fld>
            <a:endParaRPr lang="en-US"/>
          </a:p>
        </p:txBody>
      </p:sp>
    </p:spTree>
    <p:extLst>
      <p:ext uri="{BB962C8B-B14F-4D97-AF65-F5344CB8AC3E}">
        <p14:creationId xmlns:p14="http://schemas.microsoft.com/office/powerpoint/2010/main" val="35929454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small functions to write on paper or in VS Code.</a:t>
            </a:r>
          </a:p>
        </p:txBody>
      </p:sp>
      <p:sp>
        <p:nvSpPr>
          <p:cNvPr id="4" name="Slide Number Placeholder 3"/>
          <p:cNvSpPr>
            <a:spLocks noGrp="1"/>
          </p:cNvSpPr>
          <p:nvPr>
            <p:ph type="sldNum" sz="quarter" idx="5"/>
          </p:nvPr>
        </p:nvSpPr>
        <p:spPr/>
        <p:txBody>
          <a:bodyPr/>
          <a:lstStyle/>
          <a:p>
            <a:fld id="{C22696EA-50A3-4AF3-81CF-24C280D4082F}" type="slidenum">
              <a:rPr lang="en-US" smtClean="0"/>
              <a:t>65</a:t>
            </a:fld>
            <a:endParaRPr lang="en-US"/>
          </a:p>
        </p:txBody>
      </p:sp>
    </p:spTree>
    <p:extLst>
      <p:ext uri="{BB962C8B-B14F-4D97-AF65-F5344CB8AC3E}">
        <p14:creationId xmlns:p14="http://schemas.microsoft.com/office/powerpoint/2010/main" val="41035941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Write int index_of_max(int a[], int n). It returns the index of the largest element. For 1 0 3 4 2 1 it returns 3. Hint: it is like the cheapest shop on slide 42, with &gt; instead of &lt;.</a:t>
            </a:r>
          </a:p>
        </p:txBody>
      </p:sp>
      <p:sp>
        <p:nvSpPr>
          <p:cNvPr id="4" name="Slide Number Placeholder 3"/>
          <p:cNvSpPr>
            <a:spLocks noGrp="1"/>
          </p:cNvSpPr>
          <p:nvPr>
            <p:ph type="sldNum" sz="quarter" idx="5"/>
          </p:nvPr>
        </p:nvSpPr>
        <p:spPr/>
        <p:txBody>
          <a:bodyPr/>
          <a:lstStyle/>
          <a:p>
            <a:fld id="{C22696EA-50A3-4AF3-81CF-24C280D4082F}" type="slidenum">
              <a:rPr lang="en-US" smtClean="0"/>
              <a:t>66</a:t>
            </a:fld>
            <a:endParaRPr lang="en-US"/>
          </a:p>
        </p:txBody>
      </p:sp>
    </p:spTree>
    <p:extLst>
      <p:ext uri="{BB962C8B-B14F-4D97-AF65-F5344CB8AC3E}">
        <p14:creationId xmlns:p14="http://schemas.microsoft.com/office/powerpoint/2010/main" val="271289879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index_of_max(int a[], int n) {</a:t>
            </a:r>
          </a:p>
          <a:p>
            <a:r>
              <a:rPr lang="en-US"/>
              <a:t>    int pos = 0;</a:t>
            </a:r>
          </a:p>
          <a:p>
            <a:r>
              <a:rPr lang="en-US"/>
              <a:t>    for (int i = 1; i &lt; n; i++) {</a:t>
            </a:r>
          </a:p>
          <a:p>
            <a:r>
              <a:rPr lang="en-US"/>
              <a:t>        if (a[i] &gt; a[pos]) {</a:t>
            </a:r>
          </a:p>
          <a:p>
            <a:r>
              <a:rPr lang="en-US"/>
              <a:t>            pos = i;</a:t>
            </a:r>
          </a:p>
          <a:p>
            <a:r>
              <a:rPr lang="en-US"/>
              <a:t>        }</a:t>
            </a:r>
          </a:p>
          <a:p>
            <a:r>
              <a:rPr lang="en-US"/>
              <a:t>    }</a:t>
            </a:r>
          </a:p>
          <a:p>
            <a:r>
              <a:rPr lang="en-US"/>
              <a:t>    return pos;</a:t>
            </a:r>
          </a:p>
          <a:p>
            <a:r>
              <a:rPr lang="en-US"/>
              <a:t>}</a:t>
            </a:r>
          </a:p>
          <a:p>
            <a:endParaRPr lang="en-US"/>
          </a:p>
          <a:p>
            <a:r>
              <a:rPr lang="en-US"/>
              <a:t>It prints best match: index 3. File: 19_task_index_of_max.c.</a:t>
            </a:r>
          </a:p>
        </p:txBody>
      </p:sp>
      <p:sp>
        <p:nvSpPr>
          <p:cNvPr id="4" name="Slide Number Placeholder 3"/>
          <p:cNvSpPr>
            <a:spLocks noGrp="1"/>
          </p:cNvSpPr>
          <p:nvPr>
            <p:ph type="sldNum" sz="quarter" idx="5"/>
          </p:nvPr>
        </p:nvSpPr>
        <p:spPr/>
        <p:txBody>
          <a:bodyPr/>
          <a:lstStyle/>
          <a:p>
            <a:fld id="{C22696EA-50A3-4AF3-81CF-24C280D4082F}" type="slidenum">
              <a:rPr lang="en-US" smtClean="0"/>
              <a:t>67</a:t>
            </a:fld>
            <a:endParaRPr lang="en-US"/>
          </a:p>
        </p:txBody>
      </p:sp>
    </p:spTree>
    <p:extLst>
      <p:ext uri="{BB962C8B-B14F-4D97-AF65-F5344CB8AC3E}">
        <p14:creationId xmlns:p14="http://schemas.microsoft.com/office/powerpoint/2010/main" val="21327958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Write int contains(int a[], int n, int x). It returns 1 if x is in the array and 0 if it is not. Where does return 0; go?</a:t>
            </a:r>
          </a:p>
        </p:txBody>
      </p:sp>
      <p:sp>
        <p:nvSpPr>
          <p:cNvPr id="4" name="Slide Number Placeholder 3"/>
          <p:cNvSpPr>
            <a:spLocks noGrp="1"/>
          </p:cNvSpPr>
          <p:nvPr>
            <p:ph type="sldNum" sz="quarter" idx="5"/>
          </p:nvPr>
        </p:nvSpPr>
        <p:spPr/>
        <p:txBody>
          <a:bodyPr/>
          <a:lstStyle/>
          <a:p>
            <a:fld id="{C22696EA-50A3-4AF3-81CF-24C280D4082F}" type="slidenum">
              <a:rPr lang="en-US" smtClean="0"/>
              <a:t>68</a:t>
            </a:fld>
            <a:endParaRPr lang="en-US"/>
          </a:p>
        </p:txBody>
      </p:sp>
    </p:spTree>
    <p:extLst>
      <p:ext uri="{BB962C8B-B14F-4D97-AF65-F5344CB8AC3E}">
        <p14:creationId xmlns:p14="http://schemas.microsoft.com/office/powerpoint/2010/main" val="419759328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return 1; goes inside the loop, as soon as x is found. return 0; goes after the loop, the same rule as return -1 in find. With input 13 the program prints yes, lucky; with 5 it prints no. File: 20_task_contains.c.</a:t>
            </a:r>
          </a:p>
        </p:txBody>
      </p:sp>
      <p:sp>
        <p:nvSpPr>
          <p:cNvPr id="4" name="Slide Number Placeholder 3"/>
          <p:cNvSpPr>
            <a:spLocks noGrp="1"/>
          </p:cNvSpPr>
          <p:nvPr>
            <p:ph type="sldNum" sz="quarter" idx="5"/>
          </p:nvPr>
        </p:nvSpPr>
        <p:spPr/>
        <p:txBody>
          <a:bodyPr/>
          <a:lstStyle/>
          <a:p>
            <a:fld id="{C22696EA-50A3-4AF3-81CF-24C280D4082F}" type="slidenum">
              <a:rPr lang="en-US" smtClean="0"/>
              <a:t>69</a:t>
            </a:fld>
            <a:endParaRPr lang="en-US"/>
          </a:p>
        </p:txBody>
      </p:sp>
    </p:spTree>
    <p:extLst>
      <p:ext uri="{BB962C8B-B14F-4D97-AF65-F5344CB8AC3E}">
        <p14:creationId xmlns:p14="http://schemas.microsoft.com/office/powerpoint/2010/main" val="37602986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Send an array and its size: f(a, n).</a:t>
            </a:r>
          </a:p>
          <a:p>
            <a:r>
              <a:rPr lang="en-US"/>
              <a:t>- A function can change the caller's array.</a:t>
            </a:r>
          </a:p>
          <a:p>
            <a:r>
              <a:rPr lang="en-US"/>
              <a:t>- Search: return the index, or -1 after the loop.</a:t>
            </a:r>
          </a:p>
          <a:p>
            <a:r>
              <a:rPr lang="en-US"/>
              <a:t>- Min and max: start from a[0].</a:t>
            </a:r>
          </a:p>
          <a:p>
            <a:r>
              <a:rPr lang="en-US"/>
              <a:t>- Swap with temp. Bubble sort: passes of neighbour swaps.</a:t>
            </a:r>
          </a:p>
        </p:txBody>
      </p:sp>
      <p:sp>
        <p:nvSpPr>
          <p:cNvPr id="4" name="Slide Number Placeholder 3"/>
          <p:cNvSpPr>
            <a:spLocks noGrp="1"/>
          </p:cNvSpPr>
          <p:nvPr>
            <p:ph type="sldNum" sz="quarter" idx="5"/>
          </p:nvPr>
        </p:nvSpPr>
        <p:spPr/>
        <p:txBody>
          <a:bodyPr/>
          <a:lstStyle/>
          <a:p>
            <a:fld id="{C22696EA-50A3-4AF3-81CF-24C280D4082F}" type="slidenum">
              <a:rPr lang="en-US" smtClean="0"/>
              <a:t>70</a:t>
            </a:fld>
            <a:endParaRPr lang="en-US"/>
          </a:p>
        </p:txBody>
      </p:sp>
    </p:spTree>
    <p:extLst>
      <p:ext uri="{BB962C8B-B14F-4D97-AF65-F5344CB8AC3E}">
        <p14:creationId xmlns:p14="http://schemas.microsoft.com/office/powerpoint/2010/main" val="2755958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Knowledge check 10 on Blackboard, on this class.</a:t>
            </a:r>
          </a:p>
          <a:p>
            <a:r>
              <a:rPr lang="en-US"/>
              <a:t>- Project 1 (Blackjack) is due Sunday 11 October, 23:59. Upload early.</a:t>
            </a:r>
          </a:p>
          <a:p>
            <a:r>
              <a:rPr lang="en-US"/>
              <a:t>- Quiz 3 is on Friday 16 October and covers classes 7 to 10: functions, scope, call-by-value, recursion and arrays.</a:t>
            </a:r>
          </a:p>
          <a:p>
            <a:r>
              <a:rPr lang="en-US"/>
              <a:t>- This class's code: Blackboard, Week 5 module, Class 10 code.</a:t>
            </a:r>
          </a:p>
          <a:p>
            <a:endParaRPr lang="en-US"/>
          </a:p>
          <a:p>
            <a:r>
              <a:rPr lang="en-US"/>
              <a:t>Next class: characters and strings. A string is an array of char, so everything from today comes back.</a:t>
            </a:r>
          </a:p>
        </p:txBody>
      </p:sp>
      <p:sp>
        <p:nvSpPr>
          <p:cNvPr id="4" name="Slide Number Placeholder 3"/>
          <p:cNvSpPr>
            <a:spLocks noGrp="1"/>
          </p:cNvSpPr>
          <p:nvPr>
            <p:ph type="sldNum" sz="quarter" idx="5"/>
          </p:nvPr>
        </p:nvSpPr>
        <p:spPr/>
        <p:txBody>
          <a:bodyPr/>
          <a:lstStyle/>
          <a:p>
            <a:fld id="{C22696EA-50A3-4AF3-81CF-24C280D4082F}" type="slidenum">
              <a:rPr lang="en-US" smtClean="0"/>
              <a:t>71</a:t>
            </a:fld>
            <a:endParaRPr lang="en-US"/>
          </a:p>
        </p:txBody>
      </p:sp>
    </p:spTree>
    <p:extLst>
      <p:ext uri="{BB962C8B-B14F-4D97-AF65-F5344CB8AC3E}">
        <p14:creationId xmlns:p14="http://schemas.microsoft.com/office/powerpoint/2010/main" val="1587423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822960"/>
            <a:ext cx="10058400" cy="365760"/>
          </a:xfrm>
          <a:prstGeom prst="rect">
            <a:avLst/>
          </a:prstGeom>
          <a:noFill/>
          <a:ln>
            <a:noFill/>
          </a:ln>
        </p:spPr>
        <p:txBody>
          <a:bodyPr wrap="square" lIns="0" tIns="0" rIns="0" bIns="0" rtlCol="0" anchor="t"/>
          <a:lstStyle/>
          <a:p>
            <a:pPr marL="0" indent="0" algn="l">
              <a:buNone/>
            </a:pPr>
            <a:r>
              <a:rPr lang="en-US" sz="1600" b="1" dirty="0">
                <a:solidFill>
                  <a:srgbClr val="31C48D"/>
                </a:solidFill>
              </a:rPr>
              <a:t>Programming Principles I</a:t>
            </a:r>
            <a:endParaRPr lang="en-US" sz="1600" dirty="0"/>
          </a:p>
        </p:txBody>
      </p:sp>
      <p:sp>
        <p:nvSpPr>
          <p:cNvPr id="3" name="Shape 3"/>
          <p:cNvSpPr/>
          <p:nvPr/>
        </p:nvSpPr>
        <p:spPr>
          <a:xfrm>
            <a:off x="731520" y="1554480"/>
            <a:ext cx="10515600" cy="548640"/>
          </a:xfrm>
          <a:prstGeom prst="rect">
            <a:avLst/>
          </a:prstGeom>
          <a:noFill/>
          <a:ln>
            <a:noFill/>
          </a:ln>
        </p:spPr>
        <p:txBody>
          <a:bodyPr wrap="square" lIns="0" tIns="0" rIns="0" bIns="0" rtlCol="0" anchor="t"/>
          <a:lstStyle/>
          <a:p>
            <a:pPr marL="0" indent="0" algn="l">
              <a:buNone/>
            </a:pPr>
            <a:r>
              <a:rPr lang="en-US" sz="2600" b="1" dirty="0">
                <a:solidFill>
                  <a:srgbClr val="FFFFFF"/>
                </a:solidFill>
              </a:rPr>
              <a:t>Week 5 · Class 10</a:t>
            </a:r>
            <a:endParaRPr lang="en-US" sz="2600" dirty="0"/>
          </a:p>
        </p:txBody>
      </p:sp>
      <p:sp>
        <p:nvSpPr>
          <p:cNvPr id="4" name="Shape 4"/>
          <p:cNvSpPr/>
          <p:nvPr/>
        </p:nvSpPr>
        <p:spPr>
          <a:xfrm>
            <a:off x="731520" y="2194560"/>
            <a:ext cx="10789920" cy="1005840"/>
          </a:xfrm>
          <a:prstGeom prst="rect">
            <a:avLst/>
          </a:prstGeom>
          <a:noFill/>
          <a:ln>
            <a:noFill/>
          </a:ln>
        </p:spPr>
        <p:txBody>
          <a:bodyPr wrap="square" lIns="0" tIns="0" rIns="0" bIns="0" rtlCol="0" anchor="ctr"/>
          <a:lstStyle/>
          <a:p>
            <a:pPr marL="0" indent="0" algn="l">
              <a:buNone/>
            </a:pPr>
            <a:r>
              <a:rPr lang="en-US" sz="4800" b="1" dirty="0">
                <a:solidFill>
                  <a:srgbClr val="FFFFFF"/>
                </a:solidFill>
              </a:rPr>
              <a:t>Search, min-max and bubble sort</a:t>
            </a:r>
            <a:endParaRPr lang="en-US" sz="4800" dirty="0"/>
          </a:p>
        </p:txBody>
      </p:sp>
      <p:sp>
        <p:nvSpPr>
          <p:cNvPr id="5" name="Shape 5"/>
          <p:cNvSpPr/>
          <p:nvPr/>
        </p:nvSpPr>
        <p:spPr>
          <a:xfrm>
            <a:off x="731520" y="3291840"/>
            <a:ext cx="10515600" cy="548640"/>
          </a:xfrm>
          <a:prstGeom prst="rect">
            <a:avLst/>
          </a:prstGeom>
          <a:noFill/>
          <a:ln>
            <a:noFill/>
          </a:ln>
        </p:spPr>
        <p:txBody>
          <a:bodyPr wrap="square" lIns="0" tIns="0" rIns="0" bIns="0" rtlCol="0" anchor="t"/>
          <a:lstStyle/>
          <a:p>
            <a:pPr marL="0" indent="0" algn="l">
              <a:buNone/>
            </a:pPr>
            <a:r>
              <a:rPr lang="en-US" sz="2200" dirty="0">
                <a:solidFill>
                  <a:srgbClr val="D7E3F0"/>
                </a:solidFill>
              </a:rPr>
              <a:t>Find a value · the smallest and the largest · put an array in order</a:t>
            </a:r>
            <a:endParaRPr lang="en-US" sz="2200" dirty="0"/>
          </a:p>
        </p:txBody>
      </p:sp>
      <p:sp>
        <p:nvSpPr>
          <p:cNvPr id="6" name="Shape 6"/>
          <p:cNvSpPr/>
          <p:nvPr/>
        </p:nvSpPr>
        <p:spPr>
          <a:xfrm>
            <a:off x="731520" y="4114800"/>
            <a:ext cx="7863840" cy="16992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731520" y="4114800"/>
            <a:ext cx="7863840" cy="16992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temp = a[j];</a:t>
            </a:r>
            <a:endParaRPr lang="en-US" sz="2800" dirty="0"/>
          </a:p>
          <a:p>
            <a:pPr marL="0" indent="0" algn="l">
              <a:lnSpc>
                <a:spcPts val="3500"/>
              </a:lnSpc>
              <a:buNone/>
            </a:pPr>
            <a:r>
              <a:rPr lang="en-US" sz="2800" dirty="0">
                <a:solidFill>
                  <a:srgbClr val="E5E7EB"/>
                </a:solidFill>
                <a:latin typeface="Consolas"/>
                <a:ea typeface="Consolas"/>
                <a:cs typeface="Consolas"/>
              </a:rPr>
              <a:t>a[j] = a[j + 1];</a:t>
            </a:r>
            <a:endParaRPr lang="en-US" sz="2800" dirty="0"/>
          </a:p>
          <a:p>
            <a:pPr marL="0" indent="0" algn="l">
              <a:lnSpc>
                <a:spcPts val="3500"/>
              </a:lnSpc>
              <a:buNone/>
            </a:pPr>
            <a:r>
              <a:rPr lang="en-US" sz="2800" dirty="0">
                <a:solidFill>
                  <a:srgbClr val="E5E7EB"/>
                </a:solidFill>
                <a:latin typeface="Consolas"/>
                <a:ea typeface="Consolas"/>
                <a:cs typeface="Consolas"/>
              </a:rPr>
              <a:t>a[j + 1] = temp;</a:t>
            </a:r>
            <a:endParaRPr lang="en-US" sz="2800" dirty="0"/>
          </a:p>
        </p:txBody>
      </p:sp>
      <p:sp>
        <p:nvSpPr>
          <p:cNvPr id="8" name="Shape 8"/>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ADA University · Fall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What Tuesday gave us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An array: many values of one type under </a:t>
            </a:r>
            <a:r>
              <a:rPr lang="en-US" sz="2800" b="1" dirty="0">
                <a:solidFill>
                  <a:srgbClr val="18324A"/>
                </a:solidFill>
              </a:rPr>
              <a:t>one name</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int a[5] = {3, 1, 4, 1, 5};</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The first element is </a:t>
            </a:r>
            <a:r>
              <a:rPr lang="en-US" sz="2800" dirty="0">
                <a:solidFill>
                  <a:srgbClr val="2F80ED"/>
                </a:solidFill>
                <a:latin typeface="Consolas"/>
                <a:ea typeface="Consolas"/>
                <a:cs typeface="Consolas"/>
              </a:rPr>
              <a:t>a[0]</a:t>
            </a:r>
            <a:r>
              <a:rPr lang="en-US" sz="2800" dirty="0">
                <a:solidFill>
                  <a:srgbClr val="18324A"/>
                </a:solidFill>
              </a:rPr>
              <a:t>, the last is </a:t>
            </a:r>
            <a:r>
              <a:rPr lang="en-US" sz="2800" dirty="0">
                <a:solidFill>
                  <a:srgbClr val="2F80ED"/>
                </a:solidFill>
                <a:latin typeface="Consolas"/>
                <a:ea typeface="Consolas"/>
                <a:cs typeface="Consolas"/>
              </a:rPr>
              <a:t>a[4]</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a:t>
            </a:r>
            <a:r>
              <a:rPr lang="en-US" sz="2800" dirty="0">
                <a:solidFill>
                  <a:srgbClr val="2F80ED"/>
                </a:solidFill>
                <a:latin typeface="Consolas"/>
                <a:ea typeface="Consolas"/>
                <a:cs typeface="Consolas"/>
              </a:rPr>
              <a:t>for</a:t>
            </a:r>
            <a:r>
              <a:rPr lang="en-US" sz="2800" dirty="0">
                <a:solidFill>
                  <a:srgbClr val="18324A"/>
                </a:solidFill>
              </a:rPr>
              <a:t> loop from </a:t>
            </a:r>
            <a:r>
              <a:rPr lang="en-US" sz="2800" dirty="0">
                <a:solidFill>
                  <a:srgbClr val="2F80ED"/>
                </a:solidFill>
                <a:latin typeface="Consolas"/>
                <a:ea typeface="Consolas"/>
                <a:cs typeface="Consolas"/>
              </a:rPr>
              <a:t>0</a:t>
            </a:r>
            <a:r>
              <a:rPr lang="en-US" sz="2800" dirty="0">
                <a:solidFill>
                  <a:srgbClr val="18324A"/>
                </a:solidFill>
              </a:rPr>
              <a:t> to </a:t>
            </a:r>
            <a:r>
              <a:rPr lang="en-US" sz="2800" dirty="0">
                <a:solidFill>
                  <a:srgbClr val="2F80ED"/>
                </a:solidFill>
                <a:latin typeface="Consolas"/>
                <a:ea typeface="Consolas"/>
                <a:cs typeface="Consolas"/>
              </a:rPr>
              <a:t>&lt; N</a:t>
            </a:r>
            <a:r>
              <a:rPr lang="en-US" sz="2800" dirty="0">
                <a:solidFill>
                  <a:srgbClr val="18324A"/>
                </a:solidFill>
              </a:rPr>
              <a:t> visits every element</a:t>
            </a:r>
            <a:endParaRPr lang="en-US" sz="2800" dirty="0"/>
          </a:p>
        </p:txBody>
      </p:sp>
      <p:sp>
        <p:nvSpPr>
          <p:cNvPr id="14" name="Shape 14"/>
          <p:cNvSpPr/>
          <p:nvPr/>
        </p:nvSpPr>
        <p:spPr>
          <a:xfrm>
            <a:off x="731520" y="4965192"/>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9651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Outside </a:t>
            </a:r>
            <a:r>
              <a:rPr lang="en-US" sz="2800" dirty="0">
                <a:solidFill>
                  <a:srgbClr val="2F80ED"/>
                </a:solidFill>
                <a:latin typeface="Consolas"/>
                <a:ea typeface="Consolas"/>
                <a:cs typeface="Consolas"/>
              </a:rPr>
              <a:t>0 .. N-1</a:t>
            </a:r>
            <a:r>
              <a:rPr lang="en-US" sz="2800" dirty="0">
                <a:solidFill>
                  <a:srgbClr val="18324A"/>
                </a:solidFill>
              </a:rPr>
              <a:t>: out of bounds, no error, wrong values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Recap: what is on the screen?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An array and a loop.</a:t>
            </a:r>
            <a:endParaRPr lang="en-US" sz="3200" dirty="0"/>
          </a:p>
          <a:p>
            <a:pPr marL="0" indent="0" algn="l">
              <a:spcAft>
                <a:spcPts val="600"/>
              </a:spcAft>
              <a:buNone/>
            </a:pPr>
            <a:r>
              <a:rPr lang="en-US" sz="3200" dirty="0">
                <a:solidFill>
                  <a:srgbClr val="2F80ED"/>
                </a:solidFill>
                <a:latin typeface="Consolas"/>
                <a:ea typeface="Consolas"/>
                <a:cs typeface="Consolas"/>
              </a:rPr>
              <a:t>N</a:t>
            </a:r>
            <a:r>
              <a:rPr lang="en-US" sz="3200" dirty="0">
                <a:solidFill>
                  <a:srgbClr val="18324A"/>
                </a:solidFill>
              </a:rPr>
              <a:t> is 5.</a:t>
            </a:r>
            <a:endParaRPr lang="en-US" sz="3200" dirty="0"/>
          </a:p>
          <a:p>
            <a:pPr marL="0" indent="0" algn="l">
              <a:spcAft>
                <a:spcPts val="600"/>
              </a:spcAft>
              <a:buNone/>
            </a:pPr>
            <a:r>
              <a:rPr lang="en-US" sz="3200" dirty="0">
                <a:solidFill>
                  <a:srgbClr val="18324A"/>
                </a:solidFill>
              </a:rPr>
              <a:t>What are the two lines?</a:t>
            </a:r>
            <a:endParaRPr lang="en-US" sz="3200" dirty="0"/>
          </a:p>
        </p:txBody>
      </p:sp>
      <p:sp>
        <p:nvSpPr>
          <p:cNvPr id="8" name="Shape 8"/>
          <p:cNvSpPr/>
          <p:nvPr/>
        </p:nvSpPr>
        <p:spPr>
          <a:xfrm>
            <a:off x="5760720" y="1261872"/>
            <a:ext cx="5882335" cy="42075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4207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int main(void) {</a:t>
            </a:r>
            <a:endParaRPr lang="en-US" sz="2200" dirty="0"/>
          </a:p>
          <a:p>
            <a:pPr marL="0" indent="0" algn="l">
              <a:lnSpc>
                <a:spcPts val="2750"/>
              </a:lnSpc>
              <a:buNone/>
            </a:pPr>
            <a:r>
              <a:rPr lang="en-US" sz="2200" dirty="0">
                <a:solidFill>
                  <a:srgbClr val="E5E7EB"/>
                </a:solidFill>
                <a:latin typeface="Consolas"/>
                <a:ea typeface="Consolas"/>
                <a:cs typeface="Consolas"/>
              </a:rPr>
              <a:t>    int a[N] = {3, 1, 4, 1, 5};</a:t>
            </a:r>
            <a:endParaRPr lang="en-US" sz="2200" dirty="0"/>
          </a:p>
          <a:p>
            <a:pPr marL="0" indent="0" algn="l">
              <a:lnSpc>
                <a:spcPts val="2750"/>
              </a:lnSpc>
              <a:buNone/>
            </a:pPr>
            <a:r>
              <a:rPr lang="en-US" sz="2200" dirty="0">
                <a:solidFill>
                  <a:srgbClr val="E5E7EB"/>
                </a:solidFill>
                <a:latin typeface="Consolas"/>
                <a:ea typeface="Consolas"/>
                <a:cs typeface="Consolas"/>
              </a:rPr>
              <a:t>    printf("%d\n", a[0] + a[4]);</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int sum = 0;</a:t>
            </a:r>
            <a:endParaRPr lang="en-US" sz="2200" dirty="0"/>
          </a:p>
          <a:p>
            <a:pPr marL="0" indent="0" algn="l">
              <a:lnSpc>
                <a:spcPts val="2750"/>
              </a:lnSpc>
              <a:buNone/>
            </a:pPr>
            <a:r>
              <a:rPr lang="en-US" sz="2200" dirty="0">
                <a:solidFill>
                  <a:srgbClr val="E5E7EB"/>
                </a:solidFill>
                <a:latin typeface="Consolas"/>
                <a:ea typeface="Consolas"/>
                <a:cs typeface="Consolas"/>
              </a:rPr>
              <a:t>    for (int i = 0; i &lt; N; i++) {</a:t>
            </a:r>
            <a:endParaRPr lang="en-US" sz="2200" dirty="0"/>
          </a:p>
          <a:p>
            <a:pPr marL="0" indent="0" algn="l">
              <a:lnSpc>
                <a:spcPts val="2750"/>
              </a:lnSpc>
              <a:buNone/>
            </a:pPr>
            <a:r>
              <a:rPr lang="en-US" sz="2200" dirty="0">
                <a:solidFill>
                  <a:srgbClr val="E5E7EB"/>
                </a:solidFill>
                <a:latin typeface="Consolas"/>
                <a:ea typeface="Consolas"/>
                <a:cs typeface="Consolas"/>
              </a:rPr>
              <a:t>        sum += a[i];</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printf("sum = %d\n", sum);</a:t>
            </a:r>
            <a:endParaRPr lang="en-US" sz="2200" dirty="0"/>
          </a:p>
          <a:p>
            <a:pPr marL="0" indent="0" algn="l">
              <a:lnSpc>
                <a:spcPts val="2750"/>
              </a:lnSpc>
              <a:buNone/>
            </a:pPr>
            <a:r>
              <a:rPr lang="en-US" sz="2200" dirty="0">
                <a:solidFill>
                  <a:srgbClr val="E5E7EB"/>
                </a:solidFill>
                <a:latin typeface="Consolas"/>
                <a:ea typeface="Consolas"/>
                <a:cs typeface="Consolas"/>
              </a:rPr>
              <a:t>    return 0;</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Recap: what is on the screen?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An array and a loop.</a:t>
            </a:r>
            <a:endParaRPr lang="en-US" sz="3200" dirty="0"/>
          </a:p>
          <a:p>
            <a:pPr marL="0" indent="0" algn="l">
              <a:spcAft>
                <a:spcPts val="600"/>
              </a:spcAft>
              <a:buNone/>
            </a:pPr>
            <a:r>
              <a:rPr lang="en-US" sz="3200" dirty="0">
                <a:solidFill>
                  <a:srgbClr val="2F80ED"/>
                </a:solidFill>
                <a:latin typeface="Consolas"/>
                <a:ea typeface="Consolas"/>
                <a:cs typeface="Consolas"/>
              </a:rPr>
              <a:t>N</a:t>
            </a:r>
            <a:r>
              <a:rPr lang="en-US" sz="3200" dirty="0">
                <a:solidFill>
                  <a:srgbClr val="18324A"/>
                </a:solidFill>
              </a:rPr>
              <a:t> is 5.</a:t>
            </a:r>
            <a:endParaRPr lang="en-US" sz="3200" dirty="0"/>
          </a:p>
          <a:p>
            <a:pPr marL="0" indent="0" algn="l">
              <a:spcAft>
                <a:spcPts val="600"/>
              </a:spcAft>
              <a:buNone/>
            </a:pPr>
            <a:r>
              <a:rPr lang="en-US" sz="3200" dirty="0">
                <a:solidFill>
                  <a:srgbClr val="18324A"/>
                </a:solidFill>
              </a:rPr>
              <a:t>What are the two lines?</a:t>
            </a:r>
            <a:endParaRPr lang="en-US" sz="3200" dirty="0"/>
          </a:p>
        </p:txBody>
      </p:sp>
      <p:sp>
        <p:nvSpPr>
          <p:cNvPr id="8" name="Shape 8"/>
          <p:cNvSpPr/>
          <p:nvPr/>
        </p:nvSpPr>
        <p:spPr>
          <a:xfrm>
            <a:off x="5760720" y="1261872"/>
            <a:ext cx="5882335" cy="38582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2111502"/>
            <a:ext cx="5882335"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2111502"/>
            <a:ext cx="82296" cy="317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760720" y="4016502"/>
            <a:ext cx="5882335"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760720" y="4016502"/>
            <a:ext cx="82296" cy="3175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760720" y="1261872"/>
            <a:ext cx="5882335" cy="3858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main(void) {</a:t>
            </a:r>
            <a:endParaRPr lang="en-US" sz="2000" dirty="0"/>
          </a:p>
          <a:p>
            <a:pPr marL="0" indent="0" algn="l">
              <a:lnSpc>
                <a:spcPts val="2500"/>
              </a:lnSpc>
              <a:buNone/>
            </a:pPr>
            <a:r>
              <a:rPr lang="en-US" sz="2000" dirty="0">
                <a:solidFill>
                  <a:srgbClr val="64748B"/>
                </a:solidFill>
                <a:latin typeface="Consolas"/>
                <a:ea typeface="Consolas"/>
                <a:cs typeface="Consolas"/>
              </a:rPr>
              <a:t>    int a[N] = {3, 1, 4, 1, 5};</a:t>
            </a:r>
            <a:endParaRPr lang="en-US" sz="2000" dirty="0"/>
          </a:p>
          <a:p>
            <a:pPr marL="0" indent="0" algn="l">
              <a:lnSpc>
                <a:spcPts val="2500"/>
              </a:lnSpc>
              <a:buNone/>
            </a:pPr>
            <a:r>
              <a:rPr lang="en-US" sz="2000" dirty="0">
                <a:solidFill>
                  <a:srgbClr val="FFFFFF"/>
                </a:solidFill>
                <a:latin typeface="Consolas"/>
                <a:ea typeface="Consolas"/>
                <a:cs typeface="Consolas"/>
              </a:rPr>
              <a:t>    printf("%d\n", a[0] + a[4]);</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int sum = 0;</a:t>
            </a:r>
            <a:endParaRPr lang="en-US" sz="2000" dirty="0"/>
          </a:p>
          <a:p>
            <a:pPr marL="0" indent="0" algn="l">
              <a:lnSpc>
                <a:spcPts val="2500"/>
              </a:lnSpc>
              <a:buNone/>
            </a:pPr>
            <a:r>
              <a:rPr lang="en-US" sz="2000" dirty="0">
                <a:solidFill>
                  <a:srgbClr val="64748B"/>
                </a:solidFill>
                <a:latin typeface="Consolas"/>
                <a:ea typeface="Consolas"/>
                <a:cs typeface="Consolas"/>
              </a:rPr>
              <a:t>    for (int i = 0; i &lt; N; i++) {</a:t>
            </a:r>
            <a:endParaRPr lang="en-US" sz="2000" dirty="0"/>
          </a:p>
          <a:p>
            <a:pPr marL="0" indent="0" algn="l">
              <a:lnSpc>
                <a:spcPts val="2500"/>
              </a:lnSpc>
              <a:buNone/>
            </a:pPr>
            <a:r>
              <a:rPr lang="en-US" sz="2000" dirty="0">
                <a:solidFill>
                  <a:srgbClr val="64748B"/>
                </a:solidFill>
                <a:latin typeface="Consolas"/>
                <a:ea typeface="Consolas"/>
                <a:cs typeface="Consolas"/>
              </a:rPr>
              <a:t>        sum += a[i];</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    printf("sum = %d\n", sum);</a:t>
            </a:r>
            <a:endParaRPr lang="en-US" sz="2000" dirty="0"/>
          </a:p>
          <a:p>
            <a:pPr marL="0" indent="0" algn="l">
              <a:lnSpc>
                <a:spcPts val="2500"/>
              </a:lnSpc>
              <a:buNone/>
            </a:pPr>
            <a:r>
              <a:rPr lang="en-US" sz="2000" dirty="0">
                <a:solidFill>
                  <a:srgbClr val="64748B"/>
                </a:solidFill>
                <a:latin typeface="Consolas"/>
                <a:ea typeface="Consolas"/>
                <a:cs typeface="Consolas"/>
              </a:rPr>
              <a:t>    return 0;</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4" name="Shape 14"/>
          <p:cNvSpPr/>
          <p:nvPr/>
        </p:nvSpPr>
        <p:spPr>
          <a:xfrm>
            <a:off x="548640" y="4648200"/>
            <a:ext cx="4937760" cy="161544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5" name="Shape 15"/>
          <p:cNvSpPr/>
          <p:nvPr/>
        </p:nvSpPr>
        <p:spPr>
          <a:xfrm>
            <a:off x="548640" y="4648200"/>
            <a:ext cx="109728" cy="1615440"/>
          </a:xfrm>
          <a:prstGeom prst="rect">
            <a:avLst/>
          </a:prstGeom>
          <a:solidFill>
            <a:srgbClr val="31C48D"/>
          </a:solidFill>
          <a:ln>
            <a:noFill/>
          </a:ln>
        </p:spPr>
        <p:txBody>
          <a:bodyPr wrap="square" lIns="0" tIns="0" rIns="0" bIns="0" rtlCol="0" anchor="t"/>
          <a:lstStyle/>
          <a:p>
            <a:endParaRPr lang="en-US"/>
          </a:p>
        </p:txBody>
      </p:sp>
      <p:sp>
        <p:nvSpPr>
          <p:cNvPr id="16" name="Callout"/>
          <p:cNvSpPr/>
          <p:nvPr/>
        </p:nvSpPr>
        <p:spPr>
          <a:xfrm>
            <a:off x="658368" y="4648200"/>
            <a:ext cx="4828032" cy="161544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8</a:t>
            </a:r>
            <a:r>
              <a:rPr lang="en-US" sz="2600" dirty="0">
                <a:solidFill>
                  <a:srgbClr val="18324A"/>
                </a:solidFill>
              </a:rPr>
              <a:t>, then </a:t>
            </a:r>
            <a:r>
              <a:rPr lang="en-US" sz="2600" dirty="0">
                <a:solidFill>
                  <a:srgbClr val="18324A"/>
                </a:solidFill>
                <a:latin typeface="Consolas"/>
                <a:ea typeface="Consolas"/>
                <a:cs typeface="Consolas"/>
              </a:rPr>
              <a:t>sum = 14</a:t>
            </a:r>
            <a:endParaRPr lang="en-US" sz="2600" dirty="0"/>
          </a:p>
          <a:p>
            <a:pPr marL="0" indent="0" algn="l">
              <a:buNone/>
            </a:pPr>
            <a:r>
              <a:rPr lang="en-US" sz="2600" dirty="0">
                <a:solidFill>
                  <a:srgbClr val="18324A"/>
                </a:solidFill>
                <a:latin typeface="Consolas"/>
                <a:ea typeface="Consolas"/>
                <a:cs typeface="Consolas"/>
              </a:rPr>
              <a:t>a[0]</a:t>
            </a:r>
            <a:r>
              <a:rPr lang="en-US" sz="2600" dirty="0">
                <a:solidFill>
                  <a:srgbClr val="18324A"/>
                </a:solidFill>
              </a:rPr>
              <a:t> is 3, </a:t>
            </a:r>
            <a:r>
              <a:rPr lang="en-US" sz="2600" dirty="0">
                <a:solidFill>
                  <a:srgbClr val="18324A"/>
                </a:solidFill>
                <a:latin typeface="Consolas"/>
                <a:ea typeface="Consolas"/>
                <a:cs typeface="Consolas"/>
              </a:rPr>
              <a:t>a[4]</a:t>
            </a:r>
            <a:r>
              <a:rPr lang="en-US" sz="2600" dirty="0">
                <a:solidFill>
                  <a:srgbClr val="18324A"/>
                </a:solidFill>
              </a:rPr>
              <a:t> is 5.</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Today's roadmap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Arrays and </a:t>
            </a:r>
            <a:r>
              <a:rPr lang="en-US" sz="2800" b="1" dirty="0">
                <a:solidFill>
                  <a:srgbClr val="18324A"/>
                </a:solidFill>
              </a:rPr>
              <a:t>functions</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Search</a:t>
            </a:r>
            <a:r>
              <a:rPr lang="en-US" sz="2800" dirty="0">
                <a:solidFill>
                  <a:srgbClr val="18324A"/>
                </a:solidFill>
              </a:rPr>
              <a:t>: is it there, and where?</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The </a:t>
            </a:r>
            <a:r>
              <a:rPr lang="en-US" sz="2800" b="1" dirty="0">
                <a:solidFill>
                  <a:srgbClr val="18324A"/>
                </a:solidFill>
              </a:rPr>
              <a:t>smallest</a:t>
            </a:r>
            <a:r>
              <a:rPr lang="en-US" sz="2800" dirty="0">
                <a:solidFill>
                  <a:srgbClr val="18324A"/>
                </a:solidFill>
              </a:rPr>
              <a:t> and the </a:t>
            </a:r>
            <a:r>
              <a:rPr lang="en-US" sz="2800" b="1" dirty="0">
                <a:solidFill>
                  <a:srgbClr val="18324A"/>
                </a:solidFill>
              </a:rPr>
              <a:t>largest</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Swap</a:t>
            </a:r>
            <a:r>
              <a:rPr lang="en-US" sz="2800" dirty="0">
                <a:solidFill>
                  <a:srgbClr val="18324A"/>
                </a:solidFill>
              </a:rPr>
              <a:t> and </a:t>
            </a:r>
            <a:r>
              <a:rPr lang="en-US" sz="2800" b="1" dirty="0">
                <a:solidFill>
                  <a:srgbClr val="18324A"/>
                </a:solidFill>
              </a:rPr>
              <a:t>bubble sort</a:t>
            </a:r>
            <a:endParaRPr lang="en-US" sz="2800" dirty="0"/>
          </a:p>
        </p:txBody>
      </p:sp>
      <p:sp>
        <p:nvSpPr>
          <p:cNvPr id="14" name="Shape 14"/>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Four short parts. Each one is a loop over an array, like Tuesday's.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2F80ED"/>
          </a:solidFill>
          <a:ln>
            <a:noFill/>
          </a:ln>
        </p:spPr>
        <p:txBody>
          <a:bodyPr wrap="square" lIns="0" tIns="0" rIns="0" bIns="0" rtlCol="0" anchor="ctr"/>
          <a:lstStyle/>
          <a:p>
            <a:pPr marL="0" indent="0" algn="ctr">
              <a:buNone/>
            </a:pPr>
            <a:r>
              <a:rPr lang="en-US" sz="5400" b="1" dirty="0">
                <a:solidFill>
                  <a:srgbClr val="FFFFFF"/>
                </a:solidFill>
              </a:rPr>
              <a:t>1</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Arrays and functions</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Send a whole array to a function</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function that prints an 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a:t>
            </a:r>
            <a:endParaRPr lang="en-US" sz="1400" dirty="0"/>
          </a:p>
        </p:txBody>
      </p:sp>
      <p:sp>
        <p:nvSpPr>
          <p:cNvPr id="6" name="Shape 6"/>
          <p:cNvSpPr/>
          <p:nvPr/>
        </p:nvSpPr>
        <p:spPr>
          <a:xfrm>
            <a:off x="548640" y="1261872"/>
            <a:ext cx="6766560" cy="3255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8602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86027"/>
            <a:ext cx="82296" cy="4127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void print_array(int a[], int n) {</a:t>
            </a:r>
            <a:endParaRPr lang="en-US" sz="2600" dirty="0"/>
          </a:p>
          <a:p>
            <a:pPr marL="0" indent="0" algn="l">
              <a:lnSpc>
                <a:spcPts val="3250"/>
              </a:lnSpc>
              <a:buNone/>
            </a:pPr>
            <a:r>
              <a:rPr lang="en-US" sz="2600" dirty="0">
                <a:solidFill>
                  <a:srgbClr val="64748B"/>
                </a:solidFill>
                <a:latin typeface="Consolas"/>
                <a:ea typeface="Consolas"/>
                <a:cs typeface="Consolas"/>
              </a:rPr>
              <a:t>    for (int i = 0; i &lt; n; i++) {</a:t>
            </a:r>
            <a:endParaRPr lang="en-US" sz="2600" dirty="0"/>
          </a:p>
          <a:p>
            <a:pPr marL="0" indent="0" algn="l">
              <a:lnSpc>
                <a:spcPts val="3250"/>
              </a:lnSpc>
              <a:buNone/>
            </a:pPr>
            <a:r>
              <a:rPr lang="en-US" sz="2600" dirty="0">
                <a:solidFill>
                  <a:srgbClr val="64748B"/>
                </a:solidFill>
                <a:latin typeface="Consolas"/>
                <a:ea typeface="Consolas"/>
                <a:cs typeface="Consolas"/>
              </a:rPr>
              <a:t>        printf("%d ", a[i]);</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printf("\n");</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p:txBody>
      </p:sp>
      <p:sp>
        <p:nvSpPr>
          <p:cNvPr id="10" name="Shape 10"/>
          <p:cNvSpPr/>
          <p:nvPr/>
        </p:nvSpPr>
        <p:spPr>
          <a:xfrm>
            <a:off x="7589520" y="1261872"/>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105156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int a[]</a:t>
            </a:r>
            <a:r>
              <a:rPr lang="en-US" sz="2400" dirty="0">
                <a:solidFill>
                  <a:srgbClr val="18324A"/>
                </a:solidFill>
              </a:rPr>
              <a:t>: empty brackets. Any size.</a:t>
            </a:r>
            <a:endParaRPr lang="en-US" sz="2400" dirty="0"/>
          </a:p>
        </p:txBody>
      </p:sp>
      <p:sp>
        <p:nvSpPr>
          <p:cNvPr id="13" name="Shape 13"/>
          <p:cNvSpPr/>
          <p:nvPr/>
        </p:nvSpPr>
        <p:spPr>
          <a:xfrm>
            <a:off x="7589520" y="25146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514600"/>
            <a:ext cx="109728" cy="105156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int n</a:t>
            </a:r>
            <a:r>
              <a:rPr lang="en-US" sz="2400" dirty="0">
                <a:solidFill>
                  <a:srgbClr val="18324A"/>
                </a:solidFill>
              </a:rPr>
              <a:t>: how many elements.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call: the name, and the size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a:t>
            </a:r>
            <a:endParaRPr lang="en-US" sz="1400" dirty="0"/>
          </a:p>
        </p:txBody>
      </p:sp>
      <p:sp>
        <p:nvSpPr>
          <p:cNvPr id="6" name="Shape 6"/>
          <p:cNvSpPr/>
          <p:nvPr/>
        </p:nvSpPr>
        <p:spPr>
          <a:xfrm>
            <a:off x="548640" y="1261872"/>
            <a:ext cx="6766560" cy="3032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006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006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387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387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3032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    int primes[5] = {2, 3, 5, 7, 11};</a:t>
            </a:r>
            <a:endParaRPr lang="en-US" sz="2400" dirty="0"/>
          </a:p>
          <a:p>
            <a:pPr marL="0" indent="0" algn="l">
              <a:lnSpc>
                <a:spcPts val="3000"/>
              </a:lnSpc>
              <a:buNone/>
            </a:pPr>
            <a:r>
              <a:rPr lang="en-US" sz="2400" dirty="0">
                <a:solidFill>
                  <a:srgbClr val="64748B"/>
                </a:solidFill>
                <a:latin typeface="Consolas"/>
                <a:ea typeface="Consolas"/>
                <a:cs typeface="Consolas"/>
              </a:rPr>
              <a:t>    int ages[3] = {18, 19, 21};</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print_array(primes, 5);</a:t>
            </a:r>
            <a:endParaRPr lang="en-US" sz="2400" dirty="0"/>
          </a:p>
          <a:p>
            <a:pPr marL="0" indent="0" algn="l">
              <a:lnSpc>
                <a:spcPts val="3000"/>
              </a:lnSpc>
              <a:buNone/>
            </a:pPr>
            <a:r>
              <a:rPr lang="en-US" sz="2400" dirty="0">
                <a:solidFill>
                  <a:srgbClr val="FFFFFF"/>
                </a:solidFill>
                <a:latin typeface="Consolas"/>
                <a:ea typeface="Consolas"/>
                <a:cs typeface="Consolas"/>
              </a:rPr>
              <a:t>    print_array(ages, 3);</a:t>
            </a:r>
            <a:endParaRPr lang="en-US" sz="2400" dirty="0"/>
          </a:p>
          <a:p>
            <a:pPr marL="0" indent="0" algn="l">
              <a:lnSpc>
                <a:spcPts val="3000"/>
              </a:lnSpc>
              <a:buNone/>
            </a:pPr>
            <a:r>
              <a:rPr lang="en-US" sz="2400" dirty="0">
                <a:solidFill>
                  <a:srgbClr val="FFFFFF"/>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2 3 5 7 11 </a:t>
            </a:r>
            <a:endParaRPr lang="en-US" sz="2400" dirty="0"/>
          </a:p>
          <a:p>
            <a:pPr marL="0" indent="0" algn="l">
              <a:lnSpc>
                <a:spcPts val="3000"/>
              </a:lnSpc>
              <a:buNone/>
            </a:pPr>
            <a:r>
              <a:rPr lang="en-US" sz="2400" dirty="0">
                <a:solidFill>
                  <a:srgbClr val="D1FAE5"/>
                </a:solidFill>
                <a:latin typeface="Consolas"/>
                <a:ea typeface="Consolas"/>
                <a:cs typeface="Consolas"/>
              </a:rPr>
              <a:t>18 19 21 </a:t>
            </a:r>
            <a:endParaRPr lang="en-US" sz="2400" dirty="0"/>
          </a:p>
        </p:txBody>
      </p:sp>
      <p:sp>
        <p:nvSpPr>
          <p:cNvPr id="15" name="Shape 15"/>
          <p:cNvSpPr/>
          <p:nvPr/>
        </p:nvSpPr>
        <p:spPr>
          <a:xfrm>
            <a:off x="7589520" y="304800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6" name="Shape 16"/>
          <p:cNvSpPr/>
          <p:nvPr/>
        </p:nvSpPr>
        <p:spPr>
          <a:xfrm>
            <a:off x="7589520" y="3048000"/>
            <a:ext cx="109728" cy="1051560"/>
          </a:xfrm>
          <a:prstGeom prst="rect">
            <a:avLst/>
          </a:prstGeom>
          <a:solidFill>
            <a:srgbClr val="2F80ED"/>
          </a:solidFill>
          <a:ln>
            <a:noFill/>
          </a:ln>
        </p:spPr>
        <p:txBody>
          <a:bodyPr wrap="square" lIns="0" tIns="0" rIns="0" bIns="0" rtlCol="0" anchor="t"/>
          <a:lstStyle/>
          <a:p>
            <a:endParaRPr lang="en-US"/>
          </a:p>
        </p:txBody>
      </p:sp>
      <p:sp>
        <p:nvSpPr>
          <p:cNvPr id="17" name="Callout"/>
          <p:cNvSpPr/>
          <p:nvPr/>
        </p:nvSpPr>
        <p:spPr>
          <a:xfrm>
            <a:off x="7699248" y="3048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array's </a:t>
            </a:r>
            <a:r>
              <a:rPr lang="en-US" sz="2400" b="1" dirty="0">
                <a:solidFill>
                  <a:srgbClr val="18324A"/>
                </a:solidFill>
              </a:rPr>
              <a:t>name</a:t>
            </a:r>
            <a:r>
              <a:rPr lang="en-US" sz="2400" dirty="0">
                <a:solidFill>
                  <a:srgbClr val="18324A"/>
                </a:solidFill>
              </a:rPr>
              <a:t>, no brackets.</a:t>
            </a:r>
            <a:endParaRPr lang="en-US" sz="2400" dirty="0"/>
          </a:p>
        </p:txBody>
      </p:sp>
      <p:sp>
        <p:nvSpPr>
          <p:cNvPr id="18" name="Shape 18"/>
          <p:cNvSpPr/>
          <p:nvPr/>
        </p:nvSpPr>
        <p:spPr>
          <a:xfrm>
            <a:off x="7589520" y="430072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9" name="Shape 19"/>
          <p:cNvSpPr/>
          <p:nvPr/>
        </p:nvSpPr>
        <p:spPr>
          <a:xfrm>
            <a:off x="7589520" y="4300728"/>
            <a:ext cx="109728" cy="1051560"/>
          </a:xfrm>
          <a:prstGeom prst="rect">
            <a:avLst/>
          </a:prstGeom>
          <a:solidFill>
            <a:srgbClr val="31C48D"/>
          </a:solidFill>
          <a:ln>
            <a:noFill/>
          </a:ln>
        </p:spPr>
        <p:txBody>
          <a:bodyPr wrap="square" lIns="0" tIns="0" rIns="0" bIns="0" rtlCol="0" anchor="t"/>
          <a:lstStyle/>
          <a:p>
            <a:endParaRPr lang="en-US"/>
          </a:p>
        </p:txBody>
      </p:sp>
      <p:sp>
        <p:nvSpPr>
          <p:cNvPr id="20" name="Callout"/>
          <p:cNvSpPr/>
          <p:nvPr/>
        </p:nvSpPr>
        <p:spPr>
          <a:xfrm>
            <a:off x="7699248" y="4300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Then the size: </a:t>
            </a:r>
            <a:r>
              <a:rPr lang="en-US" sz="2400" dirty="0">
                <a:solidFill>
                  <a:srgbClr val="18324A"/>
                </a:solidFill>
                <a:latin typeface="Consolas"/>
                <a:ea typeface="Consolas"/>
                <a:cs typeface="Consolas"/>
              </a:rPr>
              <a:t>5</a:t>
            </a:r>
            <a:r>
              <a:rPr lang="en-US" sz="2400" dirty="0">
                <a:solidFill>
                  <a:srgbClr val="18324A"/>
                </a:solidFill>
              </a:rPr>
              <a:t>, then </a:t>
            </a:r>
            <a:r>
              <a:rPr lang="en-US" sz="2400" dirty="0">
                <a:solidFill>
                  <a:srgbClr val="18324A"/>
                </a:solidFill>
                <a:latin typeface="Consolas"/>
                <a:ea typeface="Consolas"/>
                <a:cs typeface="Consolas"/>
              </a:rPr>
              <a:t>3</a:t>
            </a:r>
            <a:r>
              <a:rPr lang="en-US" sz="2400" dirty="0">
                <a:solidFill>
                  <a:srgbClr val="18324A"/>
                </a:solidFill>
              </a:rPr>
              <a: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Why send the size?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a:t>
            </a:r>
            <a:endParaRPr lang="en-US" sz="1400" dirty="0"/>
          </a:p>
        </p:txBody>
      </p:sp>
      <p:sp>
        <p:nvSpPr>
          <p:cNvPr id="6" name="Shape 6"/>
          <p:cNvSpPr/>
          <p:nvPr/>
        </p:nvSpPr>
        <p:spPr>
          <a:xfrm>
            <a:off x="548640" y="1399032"/>
            <a:ext cx="109728" cy="7924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An array does not know how long it is.</a:t>
            </a:r>
            <a:endParaRPr lang="en-US" sz="4000" dirty="0"/>
          </a:p>
        </p:txBody>
      </p:sp>
      <p:sp>
        <p:nvSpPr>
          <p:cNvPr id="8" name="Shape 8"/>
          <p:cNvSpPr/>
          <p:nvPr/>
        </p:nvSpPr>
        <p:spPr>
          <a:xfrm>
            <a:off x="914400" y="26029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Inside the function, </a:t>
            </a:r>
            <a:r>
              <a:rPr lang="en-US" sz="3000" dirty="0">
                <a:solidFill>
                  <a:srgbClr val="2F80ED"/>
                </a:solidFill>
                <a:latin typeface="Consolas"/>
                <a:ea typeface="Consolas"/>
                <a:cs typeface="Consolas"/>
              </a:rPr>
              <a:t>a</a:t>
            </a:r>
            <a:r>
              <a:rPr lang="en-US" sz="3000" dirty="0">
                <a:solidFill>
                  <a:srgbClr val="18324A"/>
                </a:solidFill>
              </a:rPr>
              <a:t> is just "an array of </a:t>
            </a:r>
            <a:r>
              <a:rPr lang="en-US" sz="3000" dirty="0">
                <a:solidFill>
                  <a:srgbClr val="2F80ED"/>
                </a:solidFill>
                <a:latin typeface="Consolas"/>
                <a:ea typeface="Consolas"/>
                <a:cs typeface="Consolas"/>
              </a:rPr>
              <a:t>int</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So the size goes in as a second argument: </a:t>
            </a:r>
            <a:r>
              <a:rPr lang="en-US" sz="3000" dirty="0">
                <a:solidFill>
                  <a:srgbClr val="2F80ED"/>
                </a:solidFill>
                <a:latin typeface="Consolas"/>
                <a:ea typeface="Consolas"/>
                <a:cs typeface="Consolas"/>
              </a:rPr>
              <a:t>n</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One function, any array: 5 elements, 3 elements, 1000.</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function that returns the sum</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10</a:t>
            </a:r>
            <a:endParaRPr lang="en-US" sz="1400" dirty="0"/>
          </a:p>
        </p:txBody>
      </p:sp>
      <p:sp>
        <p:nvSpPr>
          <p:cNvPr id="6" name="Shape 6"/>
          <p:cNvSpPr/>
          <p:nvPr/>
        </p:nvSpPr>
        <p:spPr>
          <a:xfrm>
            <a:off x="548640" y="1261872"/>
            <a:ext cx="6766560" cy="3255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8602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8602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54977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int sum_array(int a[], int n) {</a:t>
            </a:r>
            <a:endParaRPr lang="en-US" sz="2600" dirty="0"/>
          </a:p>
          <a:p>
            <a:pPr marL="0" indent="0" algn="l">
              <a:lnSpc>
                <a:spcPts val="3250"/>
              </a:lnSpc>
              <a:buNone/>
            </a:pPr>
            <a:r>
              <a:rPr lang="en-US" sz="2600" dirty="0">
                <a:solidFill>
                  <a:srgbClr val="64748B"/>
                </a:solidFill>
                <a:latin typeface="Consolas"/>
                <a:ea typeface="Consolas"/>
                <a:cs typeface="Consolas"/>
              </a:rPr>
              <a:t>    int sum = 0;</a:t>
            </a:r>
            <a:endParaRPr lang="en-US" sz="2600" dirty="0"/>
          </a:p>
          <a:p>
            <a:pPr marL="0" indent="0" algn="l">
              <a:lnSpc>
                <a:spcPts val="3250"/>
              </a:lnSpc>
              <a:buNone/>
            </a:pPr>
            <a:r>
              <a:rPr lang="en-US" sz="2600" dirty="0">
                <a:solidFill>
                  <a:srgbClr val="64748B"/>
                </a:solidFill>
                <a:latin typeface="Consolas"/>
                <a:ea typeface="Consolas"/>
                <a:cs typeface="Consolas"/>
              </a:rPr>
              <a:t>    for (int i = 0; i &lt; n; i++) {</a:t>
            </a:r>
            <a:endParaRPr lang="en-US" sz="2600" dirty="0"/>
          </a:p>
          <a:p>
            <a:pPr marL="0" indent="0" algn="l">
              <a:lnSpc>
                <a:spcPts val="3250"/>
              </a:lnSpc>
              <a:buNone/>
            </a:pPr>
            <a:r>
              <a:rPr lang="en-US" sz="2600" dirty="0">
                <a:solidFill>
                  <a:srgbClr val="64748B"/>
                </a:solidFill>
                <a:latin typeface="Consolas"/>
                <a:ea typeface="Consolas"/>
                <a:cs typeface="Consolas"/>
              </a:rPr>
              <a:t>        sum += a[i];</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FFFFFF"/>
                </a:solidFill>
                <a:latin typeface="Consolas"/>
                <a:ea typeface="Consolas"/>
                <a:cs typeface="Consolas"/>
              </a:rPr>
              <a:t>    return sum;</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2" name="Shape 12"/>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 loop inside.</a:t>
            </a:r>
            <a:endParaRPr lang="en-US" sz="2400" dirty="0"/>
          </a:p>
        </p:txBody>
      </p:sp>
      <p:sp>
        <p:nvSpPr>
          <p:cNvPr id="15" name="Shape 15"/>
          <p:cNvSpPr/>
          <p:nvPr/>
        </p:nvSpPr>
        <p:spPr>
          <a:xfrm>
            <a:off x="7589520" y="214884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6" name="Shape 16"/>
          <p:cNvSpPr/>
          <p:nvPr/>
        </p:nvSpPr>
        <p:spPr>
          <a:xfrm>
            <a:off x="7589520" y="2148840"/>
            <a:ext cx="109728" cy="685800"/>
          </a:xfrm>
          <a:prstGeom prst="rect">
            <a:avLst/>
          </a:prstGeom>
          <a:solidFill>
            <a:srgbClr val="31C48D"/>
          </a:solidFill>
          <a:ln>
            <a:noFill/>
          </a:ln>
        </p:spPr>
        <p:txBody>
          <a:bodyPr wrap="square" lIns="0" tIns="0" rIns="0" bIns="0" rtlCol="0" anchor="t"/>
          <a:lstStyle/>
          <a:p>
            <a:endParaRPr lang="en-US"/>
          </a:p>
        </p:txBody>
      </p:sp>
      <p:sp>
        <p:nvSpPr>
          <p:cNvPr id="17" name="Callout"/>
          <p:cNvSpPr/>
          <p:nvPr/>
        </p:nvSpPr>
        <p:spPr>
          <a:xfrm>
            <a:off x="7699248" y="214884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One </a:t>
            </a:r>
            <a:r>
              <a:rPr lang="en-US" sz="2400" dirty="0">
                <a:solidFill>
                  <a:srgbClr val="18324A"/>
                </a:solidFill>
                <a:latin typeface="Consolas"/>
                <a:ea typeface="Consolas"/>
                <a:cs typeface="Consolas"/>
              </a:rPr>
              <a:t>int</a:t>
            </a:r>
            <a:r>
              <a:rPr lang="en-US" sz="2400" dirty="0">
                <a:solidFill>
                  <a:srgbClr val="18324A"/>
                </a:solidFill>
              </a:rPr>
              <a:t> back: the sum.</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Using sum_array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11</a:t>
            </a:r>
            <a:endParaRPr lang="en-US" sz="1400" dirty="0"/>
          </a:p>
        </p:txBody>
      </p:sp>
      <p:sp>
        <p:nvSpPr>
          <p:cNvPr id="6" name="Shape 6"/>
          <p:cNvSpPr/>
          <p:nvPr/>
        </p:nvSpPr>
        <p:spPr>
          <a:xfrm>
            <a:off x="548640" y="1261872"/>
            <a:ext cx="7223760" cy="1953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794002"/>
            <a:ext cx="72237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794002"/>
            <a:ext cx="82296" cy="317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7223760" cy="195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marks[N] = {7, 9, 6, 10, 8};</a:t>
            </a:r>
            <a:endParaRPr lang="en-US" sz="2000" dirty="0"/>
          </a:p>
          <a:p>
            <a:pPr marL="0" indent="0" algn="l">
              <a:lnSpc>
                <a:spcPts val="2500"/>
              </a:lnSpc>
              <a:buNone/>
            </a:pPr>
            <a:r>
              <a:rPr lang="en-US" sz="2000" dirty="0">
                <a:solidFill>
                  <a:srgbClr val="FFFFFF"/>
                </a:solidFill>
                <a:latin typeface="Consolas"/>
                <a:ea typeface="Consolas"/>
                <a:cs typeface="Consolas"/>
              </a:rPr>
              <a:t>int total = sum_array(marks, N);</a:t>
            </a:r>
            <a:endParaRPr lang="en-US" sz="2000" dirty="0"/>
          </a:p>
          <a:p>
            <a:pPr marL="0" indent="0" algn="l">
              <a:lnSpc>
                <a:spcPts val="2500"/>
              </a:lnSpc>
              <a:buNone/>
            </a:pPr>
            <a:r>
              <a:rPr lang="en-US" sz="2000" dirty="0">
                <a:solidFill>
                  <a:srgbClr val="64748B"/>
                </a:solidFill>
                <a:latin typeface="Consolas"/>
                <a:ea typeface="Consolas"/>
                <a:cs typeface="Consolas"/>
              </a:rPr>
              <a:t>printf("sum = %d\n", total);</a:t>
            </a:r>
            <a:endParaRPr lang="en-US" sz="2000" dirty="0"/>
          </a:p>
          <a:p>
            <a:pPr marL="0" indent="0" algn="l">
              <a:lnSpc>
                <a:spcPts val="2500"/>
              </a:lnSpc>
              <a:buNone/>
            </a:pPr>
            <a:r>
              <a:rPr lang="en-US" sz="2000" dirty="0">
                <a:solidFill>
                  <a:srgbClr val="64748B"/>
                </a:solidFill>
                <a:latin typeface="Consolas"/>
                <a:ea typeface="Consolas"/>
                <a:cs typeface="Consolas"/>
              </a:rPr>
              <a:t>printf("average = %.2f\n", (double) total / N);</a:t>
            </a:r>
            <a:endParaRPr lang="en-US" sz="2000" dirty="0"/>
          </a:p>
          <a:p>
            <a:pPr marL="0" indent="0" algn="l">
              <a:lnSpc>
                <a:spcPts val="2500"/>
              </a:lnSpc>
              <a:buNone/>
            </a:pPr>
            <a:r>
              <a:rPr lang="en-US" sz="2000" dirty="0">
                <a:solidFill>
                  <a:srgbClr val="64748B"/>
                </a:solidFill>
                <a:latin typeface="Consolas"/>
                <a:ea typeface="Consolas"/>
                <a:cs typeface="Consolas"/>
              </a:rPr>
              <a:t>return 0;</a:t>
            </a:r>
            <a:endParaRPr lang="en-US" sz="2000" dirty="0"/>
          </a:p>
        </p:txBody>
      </p:sp>
      <p:sp>
        <p:nvSpPr>
          <p:cNvPr id="10" name="Shape 10"/>
          <p:cNvSpPr/>
          <p:nvPr/>
        </p:nvSpPr>
        <p:spPr>
          <a:xfrm>
            <a:off x="8046720" y="1261872"/>
            <a:ext cx="35963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8046720" y="1645920"/>
            <a:ext cx="3596335" cy="1127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8046720" y="1645920"/>
            <a:ext cx="35963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sum = 40</a:t>
            </a:r>
            <a:endParaRPr lang="en-US" sz="2400" dirty="0"/>
          </a:p>
          <a:p>
            <a:pPr marL="0" indent="0" algn="l">
              <a:lnSpc>
                <a:spcPts val="3000"/>
              </a:lnSpc>
              <a:buNone/>
            </a:pPr>
            <a:r>
              <a:rPr lang="en-US" sz="2400" dirty="0">
                <a:solidFill>
                  <a:srgbClr val="D1FAE5"/>
                </a:solidFill>
                <a:latin typeface="Consolas"/>
                <a:ea typeface="Consolas"/>
                <a:cs typeface="Consolas"/>
              </a:rPr>
              <a:t>average = 8.00</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Predict: does the array change?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12</a:t>
            </a:r>
            <a:endParaRPr lang="en-US" sz="1400" dirty="0"/>
          </a:p>
        </p:txBody>
      </p:sp>
      <p:sp>
        <p:nvSpPr>
          <p:cNvPr id="6" name="Shape 6"/>
          <p:cNvSpPr/>
          <p:nvPr/>
        </p:nvSpPr>
        <p:spPr>
          <a:xfrm>
            <a:off x="548640" y="1261872"/>
            <a:ext cx="7589520" cy="44932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7589520" cy="449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void double_all(int a[], int n) {</a:t>
            </a:r>
            <a:endParaRPr lang="en-US" sz="2000" dirty="0"/>
          </a:p>
          <a:p>
            <a:pPr marL="0" indent="0" algn="l">
              <a:lnSpc>
                <a:spcPts val="2500"/>
              </a:lnSpc>
              <a:buNone/>
            </a:pPr>
            <a:r>
              <a:rPr lang="en-US" sz="2000" dirty="0">
                <a:solidFill>
                  <a:srgbClr val="E5E7EB"/>
                </a:solidFill>
                <a:latin typeface="Consolas"/>
                <a:ea typeface="Consolas"/>
                <a:cs typeface="Consolas"/>
              </a:rPr>
              <a:t>    for (int i = 0; i &lt; n; i++) {</a:t>
            </a:r>
            <a:endParaRPr lang="en-US" sz="2000" dirty="0"/>
          </a:p>
          <a:p>
            <a:pPr marL="0" indent="0" algn="l">
              <a:lnSpc>
                <a:spcPts val="2500"/>
              </a:lnSpc>
              <a:buNone/>
            </a:pPr>
            <a:r>
              <a:rPr lang="en-US" sz="2000" dirty="0">
                <a:solidFill>
                  <a:srgbClr val="E5E7EB"/>
                </a:solidFill>
                <a:latin typeface="Consolas"/>
                <a:ea typeface="Consolas"/>
                <a:cs typeface="Consolas"/>
              </a:rPr>
              <a:t>        a[i] = a[i] * 2;</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int main(void) {</a:t>
            </a:r>
            <a:endParaRPr lang="en-US" sz="2000" dirty="0"/>
          </a:p>
          <a:p>
            <a:pPr marL="0" indent="0" algn="l">
              <a:lnSpc>
                <a:spcPts val="2500"/>
              </a:lnSpc>
              <a:buNone/>
            </a:pPr>
            <a:r>
              <a:rPr lang="en-US" sz="2000" dirty="0">
                <a:solidFill>
                  <a:srgbClr val="E5E7EB"/>
                </a:solidFill>
                <a:latin typeface="Consolas"/>
                <a:ea typeface="Consolas"/>
                <a:cs typeface="Consolas"/>
              </a:rPr>
              <a:t>    int a[3] = {1, 2, 3};</a:t>
            </a:r>
            <a:endParaRPr lang="en-US" sz="2000" dirty="0"/>
          </a:p>
          <a:p>
            <a:pPr marL="0" indent="0" algn="l">
              <a:lnSpc>
                <a:spcPts val="2500"/>
              </a:lnSpc>
              <a:buNone/>
            </a:pPr>
            <a:r>
              <a:rPr lang="en-US" sz="2000" dirty="0">
                <a:solidFill>
                  <a:srgbClr val="E5E7EB"/>
                </a:solidFill>
                <a:latin typeface="Consolas"/>
                <a:ea typeface="Consolas"/>
                <a:cs typeface="Consolas"/>
              </a:rPr>
              <a:t>    printf("before: %d %d %d\n", a[0], a[1], a[2]);</a:t>
            </a:r>
            <a:endParaRPr lang="en-US" sz="2000" dirty="0"/>
          </a:p>
          <a:p>
            <a:pPr marL="0" indent="0" algn="l">
              <a:lnSpc>
                <a:spcPts val="2500"/>
              </a:lnSpc>
              <a:buNone/>
            </a:pPr>
            <a:r>
              <a:rPr lang="en-US" sz="2000" dirty="0">
                <a:solidFill>
                  <a:srgbClr val="E5E7EB"/>
                </a:solidFill>
                <a:latin typeface="Consolas"/>
                <a:ea typeface="Consolas"/>
                <a:cs typeface="Consolas"/>
              </a:rPr>
              <a:t>    double_all(a, 3);</a:t>
            </a:r>
            <a:endParaRPr lang="en-US" sz="2000" dirty="0"/>
          </a:p>
          <a:p>
            <a:pPr marL="0" indent="0" algn="l">
              <a:lnSpc>
                <a:spcPts val="2500"/>
              </a:lnSpc>
              <a:buNone/>
            </a:pPr>
            <a:r>
              <a:rPr lang="en-US" sz="2000" dirty="0">
                <a:solidFill>
                  <a:srgbClr val="E5E7EB"/>
                </a:solidFill>
                <a:latin typeface="Consolas"/>
                <a:ea typeface="Consolas"/>
                <a:cs typeface="Consolas"/>
              </a:rPr>
              <a:t>    printf("after:  %d %d %d\n", a[0], a[1], a[2]);</a:t>
            </a:r>
            <a:endParaRPr lang="en-US" sz="2000" dirty="0"/>
          </a:p>
          <a:p>
            <a:pPr marL="0" indent="0" algn="l">
              <a:lnSpc>
                <a:spcPts val="2500"/>
              </a:lnSpc>
              <a:buNone/>
            </a:pPr>
            <a:r>
              <a:rPr lang="en-US" sz="2000" dirty="0">
                <a:solidFill>
                  <a:srgbClr val="E5E7EB"/>
                </a:solidFill>
                <a:latin typeface="Consolas"/>
                <a:ea typeface="Consolas"/>
                <a:cs typeface="Consolas"/>
              </a:rPr>
              <a:t>    return 0;</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
        <p:nvSpPr>
          <p:cNvPr id="8" name="Shape 8"/>
          <p:cNvSpPr/>
          <p:nvPr/>
        </p:nvSpPr>
        <p:spPr>
          <a:xfrm>
            <a:off x="8412480" y="1261872"/>
            <a:ext cx="3230575" cy="141732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9" name="Shape 9"/>
          <p:cNvSpPr/>
          <p:nvPr/>
        </p:nvSpPr>
        <p:spPr>
          <a:xfrm>
            <a:off x="8412480" y="1261872"/>
            <a:ext cx="109728" cy="1417320"/>
          </a:xfrm>
          <a:prstGeom prst="rect">
            <a:avLst/>
          </a:prstGeom>
          <a:solidFill>
            <a:srgbClr val="2F80ED"/>
          </a:solidFill>
          <a:ln>
            <a:noFill/>
          </a:ln>
        </p:spPr>
        <p:txBody>
          <a:bodyPr wrap="square" lIns="0" tIns="0" rIns="0" bIns="0" rtlCol="0" anchor="t"/>
          <a:lstStyle/>
          <a:p>
            <a:endParaRPr lang="en-US"/>
          </a:p>
        </p:txBody>
      </p:sp>
      <p:sp>
        <p:nvSpPr>
          <p:cNvPr id="10" name="Callout"/>
          <p:cNvSpPr/>
          <p:nvPr/>
        </p:nvSpPr>
        <p:spPr>
          <a:xfrm>
            <a:off x="8522208" y="1261872"/>
            <a:ext cx="312084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Class 8: </a:t>
            </a:r>
            <a:r>
              <a:rPr lang="en-US" sz="2400" dirty="0">
                <a:solidFill>
                  <a:srgbClr val="18324A"/>
                </a:solidFill>
                <a:latin typeface="Consolas"/>
                <a:ea typeface="Consolas"/>
                <a:cs typeface="Consolas"/>
              </a:rPr>
              <a:t>double_it(x)</a:t>
            </a:r>
            <a:r>
              <a:rPr lang="en-US" sz="2400" dirty="0">
                <a:solidFill>
                  <a:srgbClr val="18324A"/>
                </a:solidFill>
              </a:rPr>
              <a:t> did </a:t>
            </a:r>
            <a:r>
              <a:rPr lang="en-US" sz="2400" b="1" dirty="0">
                <a:solidFill>
                  <a:srgbClr val="18324A"/>
                </a:solidFill>
              </a:rPr>
              <a:t>not</a:t>
            </a:r>
            <a:r>
              <a:rPr lang="en-US" sz="2400" dirty="0">
                <a:solidFill>
                  <a:srgbClr val="18324A"/>
                </a:solidFill>
              </a:rPr>
              <a:t> change </a:t>
            </a:r>
            <a:r>
              <a:rPr lang="en-US" sz="2400" dirty="0">
                <a:solidFill>
                  <a:srgbClr val="18324A"/>
                </a:solidFill>
                <a:latin typeface="Consolas"/>
                <a:ea typeface="Consolas"/>
                <a:cs typeface="Consolas"/>
              </a:rPr>
              <a:t>x</a:t>
            </a:r>
            <a:r>
              <a:rPr lang="en-US" sz="2400" dirty="0">
                <a:solidFill>
                  <a:srgbClr val="18324A"/>
                </a:solidFill>
              </a:rPr>
              <a:t>.</a:t>
            </a:r>
            <a:endParaRPr lang="en-US" sz="2400" dirty="0"/>
          </a:p>
        </p:txBody>
      </p:sp>
      <p:sp>
        <p:nvSpPr>
          <p:cNvPr id="11" name="Shape 11"/>
          <p:cNvSpPr/>
          <p:nvPr/>
        </p:nvSpPr>
        <p:spPr>
          <a:xfrm>
            <a:off x="8412480" y="2880360"/>
            <a:ext cx="323057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2" name="Shape 12"/>
          <p:cNvSpPr/>
          <p:nvPr/>
        </p:nvSpPr>
        <p:spPr>
          <a:xfrm>
            <a:off x="8412480" y="2880360"/>
            <a:ext cx="109728" cy="1051560"/>
          </a:xfrm>
          <a:prstGeom prst="rect">
            <a:avLst/>
          </a:prstGeom>
          <a:solidFill>
            <a:srgbClr val="F59E0B"/>
          </a:solidFill>
          <a:ln>
            <a:noFill/>
          </a:ln>
        </p:spPr>
        <p:txBody>
          <a:bodyPr wrap="square" lIns="0" tIns="0" rIns="0" bIns="0" rtlCol="0" anchor="t"/>
          <a:lstStyle/>
          <a:p>
            <a:endParaRPr lang="en-US"/>
          </a:p>
        </p:txBody>
      </p:sp>
      <p:sp>
        <p:nvSpPr>
          <p:cNvPr id="13" name="Callout"/>
          <p:cNvSpPr/>
          <p:nvPr/>
        </p:nvSpPr>
        <p:spPr>
          <a:xfrm>
            <a:off x="8522208" y="2880360"/>
            <a:ext cx="312084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What are the two lines?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Run it: the array DID change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13</a:t>
            </a:r>
            <a:endParaRPr lang="en-US" sz="1400" dirty="0"/>
          </a:p>
        </p:txBody>
      </p:sp>
      <p:sp>
        <p:nvSpPr>
          <p:cNvPr id="6" name="Shape 6"/>
          <p:cNvSpPr/>
          <p:nvPr/>
        </p:nvSpPr>
        <p:spPr>
          <a:xfrm>
            <a:off x="548640" y="1261872"/>
            <a:ext cx="7589520" cy="4493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111502"/>
            <a:ext cx="758952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1115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334002"/>
            <a:ext cx="758952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334002"/>
            <a:ext cx="82296" cy="3175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7589520" cy="449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void double_all(int a[], int n) {</a:t>
            </a:r>
            <a:endParaRPr lang="en-US" sz="2000" dirty="0"/>
          </a:p>
          <a:p>
            <a:pPr marL="0" indent="0" algn="l">
              <a:lnSpc>
                <a:spcPts val="2500"/>
              </a:lnSpc>
              <a:buNone/>
            </a:pPr>
            <a:r>
              <a:rPr lang="en-US" sz="2000" dirty="0">
                <a:solidFill>
                  <a:srgbClr val="64748B"/>
                </a:solidFill>
                <a:latin typeface="Consolas"/>
                <a:ea typeface="Consolas"/>
                <a:cs typeface="Consolas"/>
              </a:rPr>
              <a:t>    for (int i = 0; i &lt; n; i++) {</a:t>
            </a:r>
            <a:endParaRPr lang="en-US" sz="2000" dirty="0"/>
          </a:p>
          <a:p>
            <a:pPr marL="0" indent="0" algn="l">
              <a:lnSpc>
                <a:spcPts val="2500"/>
              </a:lnSpc>
              <a:buNone/>
            </a:pPr>
            <a:r>
              <a:rPr lang="en-US" sz="2000" dirty="0">
                <a:solidFill>
                  <a:srgbClr val="FFFFFF"/>
                </a:solidFill>
                <a:latin typeface="Consolas"/>
                <a:ea typeface="Consolas"/>
                <a:cs typeface="Consolas"/>
              </a:rPr>
              <a:t>        a[i] = a[i] * 2;</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int main(void) {</a:t>
            </a:r>
            <a:endParaRPr lang="en-US" sz="2000" dirty="0"/>
          </a:p>
          <a:p>
            <a:pPr marL="0" indent="0" algn="l">
              <a:lnSpc>
                <a:spcPts val="2500"/>
              </a:lnSpc>
              <a:buNone/>
            </a:pPr>
            <a:r>
              <a:rPr lang="en-US" sz="2000" dirty="0">
                <a:solidFill>
                  <a:srgbClr val="64748B"/>
                </a:solidFill>
                <a:latin typeface="Consolas"/>
                <a:ea typeface="Consolas"/>
                <a:cs typeface="Consolas"/>
              </a:rPr>
              <a:t>    int a[3] = {1, 2, 3};</a:t>
            </a:r>
            <a:endParaRPr lang="en-US" sz="2000" dirty="0"/>
          </a:p>
          <a:p>
            <a:pPr marL="0" indent="0" algn="l">
              <a:lnSpc>
                <a:spcPts val="2500"/>
              </a:lnSpc>
              <a:buNone/>
            </a:pPr>
            <a:r>
              <a:rPr lang="en-US" sz="2000" dirty="0">
                <a:solidFill>
                  <a:srgbClr val="64748B"/>
                </a:solidFill>
                <a:latin typeface="Consolas"/>
                <a:ea typeface="Consolas"/>
                <a:cs typeface="Consolas"/>
              </a:rPr>
              <a:t>    printf("before: %d %d %d\n", a[0], a[1], a[2]);</a:t>
            </a:r>
            <a:endParaRPr lang="en-US" sz="2000" dirty="0"/>
          </a:p>
          <a:p>
            <a:pPr marL="0" indent="0" algn="l">
              <a:lnSpc>
                <a:spcPts val="2500"/>
              </a:lnSpc>
              <a:buNone/>
            </a:pPr>
            <a:r>
              <a:rPr lang="en-US" sz="2000" dirty="0">
                <a:solidFill>
                  <a:srgbClr val="FFFFFF"/>
                </a:solidFill>
                <a:latin typeface="Consolas"/>
                <a:ea typeface="Consolas"/>
                <a:cs typeface="Consolas"/>
              </a:rPr>
              <a:t>    double_all(a, 3);</a:t>
            </a:r>
            <a:endParaRPr lang="en-US" sz="2000" dirty="0"/>
          </a:p>
          <a:p>
            <a:pPr marL="0" indent="0" algn="l">
              <a:lnSpc>
                <a:spcPts val="2500"/>
              </a:lnSpc>
              <a:buNone/>
            </a:pPr>
            <a:r>
              <a:rPr lang="en-US" sz="2000" dirty="0">
                <a:solidFill>
                  <a:srgbClr val="64748B"/>
                </a:solidFill>
                <a:latin typeface="Consolas"/>
                <a:ea typeface="Consolas"/>
                <a:cs typeface="Consolas"/>
              </a:rPr>
              <a:t>    printf("after:  %d %d %d\n", a[0], a[1], a[2]);</a:t>
            </a:r>
            <a:endParaRPr lang="en-US" sz="2000" dirty="0"/>
          </a:p>
          <a:p>
            <a:pPr marL="0" indent="0" algn="l">
              <a:lnSpc>
                <a:spcPts val="2500"/>
              </a:lnSpc>
              <a:buNone/>
            </a:pPr>
            <a:r>
              <a:rPr lang="en-US" sz="2000" dirty="0">
                <a:solidFill>
                  <a:srgbClr val="64748B"/>
                </a:solidFill>
                <a:latin typeface="Consolas"/>
                <a:ea typeface="Consolas"/>
                <a:cs typeface="Consolas"/>
              </a:rPr>
              <a:t>    return 0;</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2" name="Shape 12"/>
          <p:cNvSpPr/>
          <p:nvPr/>
        </p:nvSpPr>
        <p:spPr>
          <a:xfrm>
            <a:off x="8412480" y="1261872"/>
            <a:ext cx="323057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8412480" y="1645920"/>
            <a:ext cx="3230575" cy="1127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8412480" y="1645920"/>
            <a:ext cx="323057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before: 1 2 3</a:t>
            </a:r>
            <a:endParaRPr lang="en-US" sz="2400" dirty="0"/>
          </a:p>
          <a:p>
            <a:pPr marL="0" indent="0" algn="l">
              <a:lnSpc>
                <a:spcPts val="3000"/>
              </a:lnSpc>
              <a:buNone/>
            </a:pPr>
            <a:r>
              <a:rPr lang="en-US" sz="2400" dirty="0">
                <a:solidFill>
                  <a:srgbClr val="D1FAE5"/>
                </a:solidFill>
                <a:latin typeface="Consolas"/>
                <a:ea typeface="Consolas"/>
                <a:cs typeface="Consolas"/>
              </a:rPr>
              <a:t>after:  2 4 6</a:t>
            </a:r>
            <a:endParaRPr lang="en-US" sz="2400" dirty="0"/>
          </a:p>
        </p:txBody>
      </p:sp>
      <p:sp>
        <p:nvSpPr>
          <p:cNvPr id="15" name="Shape 15"/>
          <p:cNvSpPr/>
          <p:nvPr/>
        </p:nvSpPr>
        <p:spPr>
          <a:xfrm>
            <a:off x="8412480" y="3048000"/>
            <a:ext cx="3230575" cy="141732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6" name="Shape 16"/>
          <p:cNvSpPr/>
          <p:nvPr/>
        </p:nvSpPr>
        <p:spPr>
          <a:xfrm>
            <a:off x="8412480" y="3048000"/>
            <a:ext cx="109728" cy="1417320"/>
          </a:xfrm>
          <a:prstGeom prst="rect">
            <a:avLst/>
          </a:prstGeom>
          <a:solidFill>
            <a:srgbClr val="FF6B6B"/>
          </a:solidFill>
          <a:ln>
            <a:noFill/>
          </a:ln>
        </p:spPr>
        <p:txBody>
          <a:bodyPr wrap="square" lIns="0" tIns="0" rIns="0" bIns="0" rtlCol="0" anchor="t"/>
          <a:lstStyle/>
          <a:p>
            <a:endParaRPr lang="en-US"/>
          </a:p>
        </p:txBody>
      </p:sp>
      <p:sp>
        <p:nvSpPr>
          <p:cNvPr id="17" name="Callout"/>
          <p:cNvSpPr/>
          <p:nvPr/>
        </p:nvSpPr>
        <p:spPr>
          <a:xfrm>
            <a:off x="8522208" y="3048000"/>
            <a:ext cx="312084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function changed </a:t>
            </a:r>
            <a:r>
              <a:rPr lang="en-US" sz="2400" dirty="0">
                <a:solidFill>
                  <a:srgbClr val="18324A"/>
                </a:solidFill>
                <a:latin typeface="Consolas"/>
                <a:ea typeface="Consolas"/>
                <a:cs typeface="Consolas"/>
              </a:rPr>
              <a:t>main</a:t>
            </a:r>
            <a:r>
              <a:rPr lang="en-US" sz="2400" dirty="0">
                <a:solidFill>
                  <a:srgbClr val="18324A"/>
                </a:solidFill>
              </a:rPr>
              <a:t>'s elements.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An int and an 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14</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An </a:t>
            </a:r>
            <a:r>
              <a:rPr lang="en-US" sz="2400" dirty="0">
                <a:solidFill>
                  <a:srgbClr val="18324A"/>
                </a:solidFill>
                <a:latin typeface="Consolas"/>
                <a:ea typeface="Consolas"/>
                <a:cs typeface="Consolas"/>
              </a:rPr>
              <a:t>int</a:t>
            </a:r>
            <a:r>
              <a:rPr lang="en-US" sz="2400" dirty="0">
                <a:solidFill>
                  <a:srgbClr val="18324A"/>
                </a:solidFill>
              </a:rPr>
              <a:t> is </a:t>
            </a:r>
            <a:r>
              <a:rPr lang="en-US" sz="2400" b="1" dirty="0">
                <a:solidFill>
                  <a:srgbClr val="18324A"/>
                </a:solidFill>
              </a:rPr>
              <a:t>copied</a:t>
            </a:r>
            <a:r>
              <a:rPr lang="en-US" sz="2400" dirty="0">
                <a:solidFill>
                  <a:srgbClr val="18324A"/>
                </a:solidFill>
              </a:rPr>
              <a:t>. An array is </a:t>
            </a:r>
            <a:r>
              <a:rPr lang="en-US" sz="2400" b="1" dirty="0">
                <a:solidFill>
                  <a:srgbClr val="18324A"/>
                </a:solidFill>
              </a:rPr>
              <a:t>not</a:t>
            </a:r>
            <a:r>
              <a:rPr lang="en-US" sz="2400" dirty="0">
                <a:solidFill>
                  <a:srgbClr val="18324A"/>
                </a:solidFill>
              </a:rPr>
              <a:t> copied: the function works on the caller's elements.</a:t>
            </a:r>
            <a:endParaRPr lang="en-US" sz="2400" dirty="0"/>
          </a:p>
        </p:txBody>
      </p:sp>
      <p:sp>
        <p:nvSpPr>
          <p:cNvPr id="9" name="Shape 9"/>
          <p:cNvSpPr/>
          <p:nvPr/>
        </p:nvSpPr>
        <p:spPr>
          <a:xfrm>
            <a:off x="548640"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class 8: an int</a:t>
            </a:r>
            <a:endParaRPr lang="en-US" sz="1800" dirty="0"/>
          </a:p>
        </p:txBody>
      </p:sp>
      <p:sp>
        <p:nvSpPr>
          <p:cNvPr id="10" name="Shape 10"/>
          <p:cNvSpPr/>
          <p:nvPr/>
        </p:nvSpPr>
        <p:spPr>
          <a:xfrm>
            <a:off x="548640" y="1645920"/>
            <a:ext cx="5364328" cy="258826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2588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void double_it(int n) {</a:t>
            </a:r>
            <a:endParaRPr lang="en-US" sz="2000" dirty="0"/>
          </a:p>
          <a:p>
            <a:pPr marL="0" indent="0" algn="l">
              <a:lnSpc>
                <a:spcPts val="2500"/>
              </a:lnSpc>
              <a:buNone/>
            </a:pPr>
            <a:r>
              <a:rPr lang="en-US" sz="2000" dirty="0">
                <a:solidFill>
                  <a:srgbClr val="E5E7EB"/>
                </a:solidFill>
                <a:latin typeface="Consolas"/>
                <a:ea typeface="Consolas"/>
                <a:cs typeface="Consolas"/>
              </a:rPr>
              <a:t>    n = n * 2;</a:t>
            </a:r>
            <a:endParaRPr lang="en-US" sz="2000" dirty="0"/>
          </a:p>
          <a:p>
            <a:pPr marL="0" indent="0" algn="l">
              <a:lnSpc>
                <a:spcPts val="2500"/>
              </a:lnSpc>
              <a:buNone/>
            </a:pPr>
            <a:r>
              <a:rPr lang="en-US" sz="2000" dirty="0">
                <a:solidFill>
                  <a:srgbClr val="E5E7EB"/>
                </a:solidFill>
                <a:latin typeface="Consolas"/>
                <a:ea typeface="Consolas"/>
                <a:cs typeface="Consolas"/>
              </a:rPr>
              <a:t>    printf("inside: n = %d\n", n);</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double_it(x);</a:t>
            </a:r>
            <a:endParaRPr lang="en-US" sz="2000" dirty="0"/>
          </a:p>
          <a:p>
            <a:pPr marL="0" indent="0" algn="l">
              <a:lnSpc>
                <a:spcPts val="2500"/>
              </a:lnSpc>
              <a:buNone/>
            </a:pPr>
            <a:r>
              <a:rPr lang="en-US" sz="2000" dirty="0">
                <a:solidFill>
                  <a:srgbClr val="86C79A"/>
                </a:solidFill>
                <a:latin typeface="Consolas"/>
                <a:ea typeface="Consolas"/>
                <a:cs typeface="Consolas"/>
              </a:rPr>
              <a:t>// x is still 5</a:t>
            </a:r>
            <a:endParaRPr lang="en-US" sz="2000" dirty="0"/>
          </a:p>
        </p:txBody>
      </p:sp>
      <p:sp>
        <p:nvSpPr>
          <p:cNvPr id="12" name="Shape 12"/>
          <p:cNvSpPr/>
          <p:nvPr/>
        </p:nvSpPr>
        <p:spPr>
          <a:xfrm>
            <a:off x="6278728" y="1261872"/>
            <a:ext cx="5364328" cy="384048"/>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today: an array</a:t>
            </a:r>
            <a:endParaRPr lang="en-US" sz="1800" dirty="0"/>
          </a:p>
        </p:txBody>
      </p:sp>
      <p:sp>
        <p:nvSpPr>
          <p:cNvPr id="13" name="Shape 13"/>
          <p:cNvSpPr/>
          <p:nvPr/>
        </p:nvSpPr>
        <p:spPr>
          <a:xfrm>
            <a:off x="6278728" y="1645920"/>
            <a:ext cx="5364328" cy="290576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void double_all(int a[], int n) {</a:t>
            </a:r>
            <a:endParaRPr lang="en-US" sz="2000" dirty="0"/>
          </a:p>
          <a:p>
            <a:pPr marL="0" indent="0" algn="l">
              <a:lnSpc>
                <a:spcPts val="2500"/>
              </a:lnSpc>
              <a:buNone/>
            </a:pPr>
            <a:r>
              <a:rPr lang="en-US" sz="2000" dirty="0">
                <a:solidFill>
                  <a:srgbClr val="E5E7EB"/>
                </a:solidFill>
                <a:latin typeface="Consolas"/>
                <a:ea typeface="Consolas"/>
                <a:cs typeface="Consolas"/>
              </a:rPr>
              <a:t>    for (int i = 0; i &lt; n; i++) {</a:t>
            </a:r>
            <a:endParaRPr lang="en-US" sz="2000" dirty="0"/>
          </a:p>
          <a:p>
            <a:pPr marL="0" indent="0" algn="l">
              <a:lnSpc>
                <a:spcPts val="2500"/>
              </a:lnSpc>
              <a:buNone/>
            </a:pPr>
            <a:r>
              <a:rPr lang="en-US" sz="2000" dirty="0">
                <a:solidFill>
                  <a:srgbClr val="E5E7EB"/>
                </a:solidFill>
                <a:latin typeface="Consolas"/>
                <a:ea typeface="Consolas"/>
                <a:cs typeface="Consolas"/>
              </a:rPr>
              <a:t>        a[i] = a[i] * 2;</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double_all(a, 3);</a:t>
            </a:r>
            <a:endParaRPr lang="en-US" sz="2000" dirty="0"/>
          </a:p>
          <a:p>
            <a:pPr marL="0" indent="0" algn="l">
              <a:lnSpc>
                <a:spcPts val="2500"/>
              </a:lnSpc>
              <a:buNone/>
            </a:pPr>
            <a:r>
              <a:rPr lang="en-US" sz="2000" dirty="0">
                <a:solidFill>
                  <a:srgbClr val="86C79A"/>
                </a:solidFill>
                <a:latin typeface="Consolas"/>
                <a:ea typeface="Consolas"/>
                <a:cs typeface="Consolas"/>
              </a:rPr>
              <a:t>// a is now 2 4 6</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Arrays are not copied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15</a:t>
            </a:r>
            <a:endParaRPr lang="en-US" sz="1400" dirty="0"/>
          </a:p>
        </p:txBody>
      </p:sp>
      <p:sp>
        <p:nvSpPr>
          <p:cNvPr id="6" name="Shape 6"/>
          <p:cNvSpPr/>
          <p:nvPr/>
        </p:nvSpPr>
        <p:spPr>
          <a:xfrm>
            <a:off x="548640" y="1399032"/>
            <a:ext cx="109728" cy="792480"/>
          </a:xfrm>
          <a:prstGeom prst="rect">
            <a:avLst/>
          </a:prstGeom>
          <a:solidFill>
            <a:srgbClr val="8B5CF6"/>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A function gets the caller's own array.</a:t>
            </a:r>
            <a:endParaRPr lang="en-US" sz="4000" dirty="0"/>
          </a:p>
        </p:txBody>
      </p:sp>
      <p:sp>
        <p:nvSpPr>
          <p:cNvPr id="8" name="Shape 8"/>
          <p:cNvSpPr/>
          <p:nvPr/>
        </p:nvSpPr>
        <p:spPr>
          <a:xfrm>
            <a:off x="914400" y="26029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Change </a:t>
            </a:r>
            <a:r>
              <a:rPr lang="en-US" sz="3000" dirty="0">
                <a:solidFill>
                  <a:srgbClr val="2F80ED"/>
                </a:solidFill>
                <a:latin typeface="Consolas"/>
                <a:ea typeface="Consolas"/>
                <a:cs typeface="Consolas"/>
              </a:rPr>
              <a:t>a[i]</a:t>
            </a:r>
            <a:r>
              <a:rPr lang="en-US" sz="3000" dirty="0">
                <a:solidFill>
                  <a:srgbClr val="18324A"/>
                </a:solidFill>
              </a:rPr>
              <a:t> inside: </a:t>
            </a:r>
            <a:r>
              <a:rPr lang="en-US" sz="3000" dirty="0">
                <a:solidFill>
                  <a:srgbClr val="2F80ED"/>
                </a:solidFill>
                <a:latin typeface="Consolas"/>
                <a:ea typeface="Consolas"/>
                <a:cs typeface="Consolas"/>
              </a:rPr>
              <a:t>main</a:t>
            </a:r>
            <a:r>
              <a:rPr lang="en-US" sz="3000" dirty="0">
                <a:solidFill>
                  <a:srgbClr val="18324A"/>
                </a:solidFill>
              </a:rPr>
              <a:t> sees the change.</a:t>
            </a:r>
            <a:endParaRPr lang="en-US" sz="3000" dirty="0"/>
          </a:p>
          <a:p>
            <a:pPr marL="0" indent="0" algn="l">
              <a:spcAft>
                <a:spcPts val="1600"/>
              </a:spcAft>
              <a:buNone/>
            </a:pPr>
            <a:r>
              <a:rPr lang="en-US" sz="3000" dirty="0">
                <a:solidFill>
                  <a:srgbClr val="18324A"/>
                </a:solidFill>
              </a:rPr>
              <a:t>Why? Pointers explain it, after the midterm.</a:t>
            </a:r>
            <a:endParaRPr lang="en-US" sz="3000" dirty="0"/>
          </a:p>
          <a:p>
            <a:pPr marL="0" indent="0" algn="l">
              <a:spcAft>
                <a:spcPts val="1600"/>
              </a:spcAft>
              <a:buNone/>
            </a:pPr>
            <a:r>
              <a:rPr lang="en-US" sz="3000" dirty="0">
                <a:solidFill>
                  <a:srgbClr val="18324A"/>
                </a:solidFill>
              </a:rPr>
              <a:t>Today it is useful: a function can </a:t>
            </a:r>
            <a:r>
              <a:rPr lang="en-US" sz="3000" b="1" dirty="0">
                <a:solidFill>
                  <a:srgbClr val="18324A"/>
                </a:solidFill>
              </a:rPr>
              <a:t>sort</a:t>
            </a:r>
            <a:r>
              <a:rPr lang="en-US" sz="3000" dirty="0">
                <a:solidFill>
                  <a:srgbClr val="18324A"/>
                </a:solidFill>
              </a:rPr>
              <a:t> your array.</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31C48D"/>
          </a:solidFill>
          <a:ln>
            <a:noFill/>
          </a:ln>
        </p:spPr>
        <p:txBody>
          <a:bodyPr wrap="square" lIns="0" tIns="0" rIns="0" bIns="0" rtlCol="0" anchor="ctr"/>
          <a:lstStyle/>
          <a:p>
            <a:pPr marL="0" indent="0" algn="ctr">
              <a:buNone/>
            </a:pPr>
            <a:r>
              <a:rPr lang="en-US" sz="5400" b="1" dirty="0">
                <a:solidFill>
                  <a:srgbClr val="FFFFFF"/>
                </a:solidFill>
              </a:rPr>
              <a:t>2</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Search</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Is the value there? Where?</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10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Linear search</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17</a:t>
            </a:r>
            <a:endParaRPr lang="en-US" sz="1400" dirty="0"/>
          </a:p>
        </p:txBody>
      </p:sp>
      <p:sp>
        <p:nvSpPr>
          <p:cNvPr id="6" name="Shape 6"/>
          <p:cNvSpPr/>
          <p:nvPr/>
        </p:nvSpPr>
        <p:spPr>
          <a:xfrm>
            <a:off x="548640" y="1399032"/>
            <a:ext cx="109728" cy="14020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Look at every element, one by one, from the left.</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Equal to the target? </a:t>
            </a:r>
            <a:r>
              <a:rPr lang="en-US" sz="3000" b="1" dirty="0">
                <a:solidFill>
                  <a:srgbClr val="18324A"/>
                </a:solidFill>
              </a:rPr>
              <a:t>Found</a:t>
            </a:r>
            <a:r>
              <a:rPr lang="en-US" sz="3000" dirty="0">
                <a:solidFill>
                  <a:srgbClr val="18324A"/>
                </a:solidFill>
              </a:rPr>
              <a:t>: remember the index, stop.</a:t>
            </a:r>
            <a:endParaRPr lang="en-US" sz="3000" dirty="0"/>
          </a:p>
          <a:p>
            <a:pPr marL="0" indent="0" algn="l">
              <a:spcAft>
                <a:spcPts val="1600"/>
              </a:spcAft>
              <a:buNone/>
            </a:pPr>
            <a:r>
              <a:rPr lang="en-US" sz="3000" dirty="0">
                <a:solidFill>
                  <a:srgbClr val="18324A"/>
                </a:solidFill>
              </a:rPr>
              <a:t>Reached the end? </a:t>
            </a:r>
            <a:r>
              <a:rPr lang="en-US" sz="3000" b="1" dirty="0">
                <a:solidFill>
                  <a:srgbClr val="18324A"/>
                </a:solidFill>
              </a:rPr>
              <a:t>Not found</a:t>
            </a:r>
            <a:r>
              <a:rPr lang="en-US" sz="3000" dirty="0">
                <a:solidFill>
                  <a:srgbClr val="18324A"/>
                </a:solidFill>
              </a:rPr>
              <a:t>.</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Like looking for your friend in a queue: start at the front, check each face.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Search for 23, 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18</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pos</a:t>
            </a:r>
            <a:r>
              <a:rPr lang="en-US" sz="2400" dirty="0">
                <a:solidFill>
                  <a:srgbClr val="18324A"/>
                </a:solidFill>
              </a:rPr>
              <a:t> starts at </a:t>
            </a:r>
            <a:r>
              <a:rPr lang="en-US" sz="2400" dirty="0">
                <a:solidFill>
                  <a:srgbClr val="18324A"/>
                </a:solidFill>
                <a:latin typeface="Consolas"/>
                <a:ea typeface="Consolas"/>
                <a:cs typeface="Consolas"/>
              </a:rPr>
              <a:t>-1</a:t>
            </a:r>
            <a:r>
              <a:rPr lang="en-US" sz="2400" dirty="0">
                <a:solidFill>
                  <a:srgbClr val="18324A"/>
                </a:solidFill>
              </a:rPr>
              <a:t>: "not found yet". -1 is never a real index.</a:t>
            </a:r>
            <a:endParaRPr lang="en-US" sz="2400" dirty="0"/>
          </a:p>
        </p:txBody>
      </p:sp>
      <p:sp>
        <p:nvSpPr>
          <p:cNvPr id="9" name="Shape 9"/>
          <p:cNvSpPr/>
          <p:nvPr/>
        </p:nvSpPr>
        <p:spPr>
          <a:xfrm>
            <a:off x="548640" y="1261872"/>
            <a:ext cx="5669280" cy="38582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178177"/>
            <a:ext cx="566928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17817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858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a[N] = {4, 8, 15, 16, 23, 42};</a:t>
            </a:r>
            <a:endParaRPr lang="en-US" sz="2200" dirty="0"/>
          </a:p>
          <a:p>
            <a:pPr marL="0" indent="0" algn="l">
              <a:lnSpc>
                <a:spcPts val="2750"/>
              </a:lnSpc>
              <a:buNone/>
            </a:pPr>
            <a:r>
              <a:rPr lang="en-US" sz="2200" dirty="0">
                <a:solidFill>
                  <a:srgbClr val="64748B"/>
                </a:solidFill>
                <a:latin typeface="Consolas"/>
                <a:ea typeface="Consolas"/>
                <a:cs typeface="Consolas"/>
              </a:rPr>
              <a:t>int target = 23;</a:t>
            </a:r>
            <a:endParaRPr lang="en-US" sz="2200" dirty="0"/>
          </a:p>
          <a:p>
            <a:pPr marL="0" indent="0" algn="l">
              <a:lnSpc>
                <a:spcPts val="2750"/>
              </a:lnSpc>
              <a:buNone/>
            </a:pPr>
            <a:r>
              <a:rPr lang="en-US" sz="2200" dirty="0">
                <a:solidFill>
                  <a:srgbClr val="FFFFFF"/>
                </a:solidFill>
                <a:latin typeface="Consolas"/>
                <a:ea typeface="Consolas"/>
                <a:cs typeface="Consolas"/>
              </a:rPr>
              <a:t>int pos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for (int i = 0; i &lt; N; i++) {</a:t>
            </a:r>
            <a:endParaRPr lang="en-US" sz="2200" dirty="0"/>
          </a:p>
          <a:p>
            <a:pPr marL="0" indent="0" algn="l">
              <a:lnSpc>
                <a:spcPts val="2750"/>
              </a:lnSpc>
              <a:buNone/>
            </a:pPr>
            <a:r>
              <a:rPr lang="en-US" sz="2200" dirty="0">
                <a:solidFill>
                  <a:srgbClr val="64748B"/>
                </a:solidFill>
                <a:latin typeface="Consolas"/>
                <a:ea typeface="Consolas"/>
                <a:cs typeface="Consolas"/>
              </a:rPr>
              <a:t>    if (a[i] == target) {</a:t>
            </a:r>
            <a:endParaRPr lang="en-US" sz="2200" dirty="0"/>
          </a:p>
          <a:p>
            <a:pPr marL="0" indent="0" algn="l">
              <a:lnSpc>
                <a:spcPts val="2750"/>
              </a:lnSpc>
              <a:buNone/>
            </a:pPr>
            <a:r>
              <a:rPr lang="en-US" sz="2200" dirty="0">
                <a:solidFill>
                  <a:srgbClr val="64748B"/>
                </a:solidFill>
                <a:latin typeface="Consolas"/>
                <a:ea typeface="Consolas"/>
                <a:cs typeface="Consolas"/>
              </a:rPr>
              <a:t>        pos = i;</a:t>
            </a:r>
            <a:endParaRPr lang="en-US" sz="2200" dirty="0"/>
          </a:p>
          <a:p>
            <a:pPr marL="0" indent="0" algn="l">
              <a:lnSpc>
                <a:spcPts val="2750"/>
              </a:lnSpc>
              <a:buNone/>
            </a:pPr>
            <a:r>
              <a:rPr lang="en-US" sz="2200" dirty="0">
                <a:solidFill>
                  <a:srgbClr val="64748B"/>
                </a:solidFill>
                <a:latin typeface="Consolas"/>
                <a:ea typeface="Consolas"/>
                <a:cs typeface="Consolas"/>
              </a:rPr>
              <a:t>        break;</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3" name="Shape 13"/>
          <p:cNvSpPr/>
          <p:nvPr/>
        </p:nvSpPr>
        <p:spPr>
          <a:xfrm>
            <a:off x="6492240" y="1261872"/>
            <a:ext cx="93651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428752" y="1261872"/>
            <a:ext cx="124868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5" name="Shape 15"/>
          <p:cNvSpPr/>
          <p:nvPr/>
        </p:nvSpPr>
        <p:spPr>
          <a:xfrm>
            <a:off x="8677434" y="1261872"/>
            <a:ext cx="17169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 23</a:t>
            </a:r>
            <a:r>
              <a:rPr lang="en-US" sz="1800" b="1" dirty="0">
                <a:solidFill>
                  <a:srgbClr val="FFFFFF"/>
                </a:solidFill>
              </a:rPr>
              <a:t>?</a:t>
            </a:r>
            <a:endParaRPr lang="en-US" sz="1800" dirty="0"/>
          </a:p>
        </p:txBody>
      </p:sp>
      <p:sp>
        <p:nvSpPr>
          <p:cNvPr id="16" name="Shape 16"/>
          <p:cNvSpPr/>
          <p:nvPr/>
        </p:nvSpPr>
        <p:spPr>
          <a:xfrm>
            <a:off x="10394373" y="1261872"/>
            <a:ext cx="124868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pos</a:t>
            </a:r>
            <a:endParaRPr lang="en-US" sz="1800" dirty="0"/>
          </a:p>
        </p:txBody>
      </p:sp>
      <p:sp>
        <p:nvSpPr>
          <p:cNvPr id="17" name="Shape 17"/>
          <p:cNvSpPr/>
          <p:nvPr/>
        </p:nvSpPr>
        <p:spPr>
          <a:xfrm>
            <a:off x="6492240" y="1920240"/>
            <a:ext cx="93651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0</a:t>
            </a:r>
            <a:endParaRPr lang="en-US" sz="2400" dirty="0"/>
          </a:p>
        </p:txBody>
      </p:sp>
      <p:sp>
        <p:nvSpPr>
          <p:cNvPr id="18" name="Shape 18"/>
          <p:cNvSpPr/>
          <p:nvPr/>
        </p:nvSpPr>
        <p:spPr>
          <a:xfrm>
            <a:off x="7428752" y="1920240"/>
            <a:ext cx="124868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19" name="Shape 19"/>
          <p:cNvSpPr/>
          <p:nvPr/>
        </p:nvSpPr>
        <p:spPr>
          <a:xfrm>
            <a:off x="8677434" y="1920240"/>
            <a:ext cx="171693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no</a:t>
            </a:r>
            <a:endParaRPr lang="en-US" sz="2400" dirty="0"/>
          </a:p>
        </p:txBody>
      </p:sp>
      <p:sp>
        <p:nvSpPr>
          <p:cNvPr id="20" name="Shape 20"/>
          <p:cNvSpPr/>
          <p:nvPr/>
        </p:nvSpPr>
        <p:spPr>
          <a:xfrm>
            <a:off x="10394373" y="1920240"/>
            <a:ext cx="124868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1" name="Shape 21"/>
          <p:cNvSpPr/>
          <p:nvPr/>
        </p:nvSpPr>
        <p:spPr>
          <a:xfrm>
            <a:off x="6492240" y="2578608"/>
            <a:ext cx="93651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7428752" y="2578608"/>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677434" y="2578608"/>
            <a:ext cx="171693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10394373" y="2578608"/>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6492240" y="3236976"/>
            <a:ext cx="93651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428752" y="3236976"/>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677434" y="3236976"/>
            <a:ext cx="171693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10394373" y="3236976"/>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6492240" y="3895344"/>
            <a:ext cx="93651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428752" y="3895344"/>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677434" y="3895344"/>
            <a:ext cx="171693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10394373" y="3895344"/>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492240" y="4553712"/>
            <a:ext cx="93651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428752" y="4553712"/>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677434" y="4553712"/>
            <a:ext cx="171693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394373" y="4553712"/>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Search for 23, 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4, 8, 15, 16: not 23. The loop goes on.</a:t>
            </a:r>
            <a:endParaRPr lang="en-US" sz="2400" dirty="0"/>
          </a:p>
        </p:txBody>
      </p:sp>
      <p:sp>
        <p:nvSpPr>
          <p:cNvPr id="9" name="Shape 9"/>
          <p:cNvSpPr/>
          <p:nvPr/>
        </p:nvSpPr>
        <p:spPr>
          <a:xfrm>
            <a:off x="548640" y="1261872"/>
            <a:ext cx="5669280" cy="38582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225927"/>
            <a:ext cx="566928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858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a[N] = {4, 8, 15, 16, 23, 42};</a:t>
            </a:r>
            <a:endParaRPr lang="en-US" sz="2200" dirty="0"/>
          </a:p>
          <a:p>
            <a:pPr marL="0" indent="0" algn="l">
              <a:lnSpc>
                <a:spcPts val="2750"/>
              </a:lnSpc>
              <a:buNone/>
            </a:pPr>
            <a:r>
              <a:rPr lang="en-US" sz="2200" dirty="0">
                <a:solidFill>
                  <a:srgbClr val="64748B"/>
                </a:solidFill>
                <a:latin typeface="Consolas"/>
                <a:ea typeface="Consolas"/>
                <a:cs typeface="Consolas"/>
              </a:rPr>
              <a:t>int target = 23;</a:t>
            </a:r>
            <a:endParaRPr lang="en-US" sz="2200" dirty="0"/>
          </a:p>
          <a:p>
            <a:pPr marL="0" indent="0" algn="l">
              <a:lnSpc>
                <a:spcPts val="2750"/>
              </a:lnSpc>
              <a:buNone/>
            </a:pPr>
            <a:r>
              <a:rPr lang="en-US" sz="2200" dirty="0">
                <a:solidFill>
                  <a:srgbClr val="64748B"/>
                </a:solidFill>
                <a:latin typeface="Consolas"/>
                <a:ea typeface="Consolas"/>
                <a:cs typeface="Consolas"/>
              </a:rPr>
              <a:t>int pos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for (int i = 0; i &lt; N; i++) {</a:t>
            </a:r>
            <a:endParaRPr lang="en-US" sz="2200" dirty="0"/>
          </a:p>
          <a:p>
            <a:pPr marL="0" indent="0" algn="l">
              <a:lnSpc>
                <a:spcPts val="2750"/>
              </a:lnSpc>
              <a:buNone/>
            </a:pPr>
            <a:r>
              <a:rPr lang="en-US" sz="2200" dirty="0">
                <a:solidFill>
                  <a:srgbClr val="FFFFFF"/>
                </a:solidFill>
                <a:latin typeface="Consolas"/>
                <a:ea typeface="Consolas"/>
                <a:cs typeface="Consolas"/>
              </a:rPr>
              <a:t>    if (a[i] == target) {</a:t>
            </a:r>
            <a:endParaRPr lang="en-US" sz="2200" dirty="0"/>
          </a:p>
          <a:p>
            <a:pPr marL="0" indent="0" algn="l">
              <a:lnSpc>
                <a:spcPts val="2750"/>
              </a:lnSpc>
              <a:buNone/>
            </a:pPr>
            <a:r>
              <a:rPr lang="en-US" sz="2200" dirty="0">
                <a:solidFill>
                  <a:srgbClr val="64748B"/>
                </a:solidFill>
                <a:latin typeface="Consolas"/>
                <a:ea typeface="Consolas"/>
                <a:cs typeface="Consolas"/>
              </a:rPr>
              <a:t>        pos = i;</a:t>
            </a:r>
            <a:endParaRPr lang="en-US" sz="2200" dirty="0"/>
          </a:p>
          <a:p>
            <a:pPr marL="0" indent="0" algn="l">
              <a:lnSpc>
                <a:spcPts val="2750"/>
              </a:lnSpc>
              <a:buNone/>
            </a:pPr>
            <a:r>
              <a:rPr lang="en-US" sz="2200" dirty="0">
                <a:solidFill>
                  <a:srgbClr val="64748B"/>
                </a:solidFill>
                <a:latin typeface="Consolas"/>
                <a:ea typeface="Consolas"/>
                <a:cs typeface="Consolas"/>
              </a:rPr>
              <a:t>        break;</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3" name="Shape 13"/>
          <p:cNvSpPr/>
          <p:nvPr/>
        </p:nvSpPr>
        <p:spPr>
          <a:xfrm>
            <a:off x="6492240" y="1261872"/>
            <a:ext cx="93651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428752" y="1261872"/>
            <a:ext cx="124868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5" name="Shape 15"/>
          <p:cNvSpPr/>
          <p:nvPr/>
        </p:nvSpPr>
        <p:spPr>
          <a:xfrm>
            <a:off x="8677434" y="1261872"/>
            <a:ext cx="17169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 23</a:t>
            </a:r>
            <a:r>
              <a:rPr lang="en-US" sz="1800" b="1" dirty="0">
                <a:solidFill>
                  <a:srgbClr val="FFFFFF"/>
                </a:solidFill>
              </a:rPr>
              <a:t>?</a:t>
            </a:r>
            <a:endParaRPr lang="en-US" sz="1800" dirty="0"/>
          </a:p>
        </p:txBody>
      </p:sp>
      <p:sp>
        <p:nvSpPr>
          <p:cNvPr id="16" name="Shape 16"/>
          <p:cNvSpPr/>
          <p:nvPr/>
        </p:nvSpPr>
        <p:spPr>
          <a:xfrm>
            <a:off x="10394373" y="1261872"/>
            <a:ext cx="124868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pos</a:t>
            </a:r>
            <a:endParaRPr lang="en-US" sz="1800" dirty="0"/>
          </a:p>
        </p:txBody>
      </p:sp>
      <p:sp>
        <p:nvSpPr>
          <p:cNvPr id="17" name="Shape 17"/>
          <p:cNvSpPr/>
          <p:nvPr/>
        </p:nvSpPr>
        <p:spPr>
          <a:xfrm>
            <a:off x="6492240" y="1920240"/>
            <a:ext cx="93651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18" name="Shape 18"/>
          <p:cNvSpPr/>
          <p:nvPr/>
        </p:nvSpPr>
        <p:spPr>
          <a:xfrm>
            <a:off x="7428752" y="1920240"/>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19" name="Shape 19"/>
          <p:cNvSpPr/>
          <p:nvPr/>
        </p:nvSpPr>
        <p:spPr>
          <a:xfrm>
            <a:off x="8677434" y="1920240"/>
            <a:ext cx="17169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0" name="Shape 20"/>
          <p:cNvSpPr/>
          <p:nvPr/>
        </p:nvSpPr>
        <p:spPr>
          <a:xfrm>
            <a:off x="10394373" y="1920240"/>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1" name="Shape 21"/>
          <p:cNvSpPr/>
          <p:nvPr/>
        </p:nvSpPr>
        <p:spPr>
          <a:xfrm>
            <a:off x="6492240" y="2578608"/>
            <a:ext cx="93651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2" name="Shape 22"/>
          <p:cNvSpPr/>
          <p:nvPr/>
        </p:nvSpPr>
        <p:spPr>
          <a:xfrm>
            <a:off x="7428752" y="2578608"/>
            <a:ext cx="124868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8</a:t>
            </a:r>
            <a:endParaRPr lang="en-US" sz="2400" dirty="0"/>
          </a:p>
        </p:txBody>
      </p:sp>
      <p:sp>
        <p:nvSpPr>
          <p:cNvPr id="23" name="Shape 23"/>
          <p:cNvSpPr/>
          <p:nvPr/>
        </p:nvSpPr>
        <p:spPr>
          <a:xfrm>
            <a:off x="8677434" y="2578608"/>
            <a:ext cx="17169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4" name="Shape 24"/>
          <p:cNvSpPr/>
          <p:nvPr/>
        </p:nvSpPr>
        <p:spPr>
          <a:xfrm>
            <a:off x="10394373" y="2578608"/>
            <a:ext cx="124868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5" name="Shape 25"/>
          <p:cNvSpPr/>
          <p:nvPr/>
        </p:nvSpPr>
        <p:spPr>
          <a:xfrm>
            <a:off x="6492240" y="3236976"/>
            <a:ext cx="93651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6" name="Shape 26"/>
          <p:cNvSpPr/>
          <p:nvPr/>
        </p:nvSpPr>
        <p:spPr>
          <a:xfrm>
            <a:off x="7428752" y="3236976"/>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15</a:t>
            </a:r>
            <a:endParaRPr lang="en-US" sz="2400" dirty="0"/>
          </a:p>
        </p:txBody>
      </p:sp>
      <p:sp>
        <p:nvSpPr>
          <p:cNvPr id="27" name="Shape 27"/>
          <p:cNvSpPr/>
          <p:nvPr/>
        </p:nvSpPr>
        <p:spPr>
          <a:xfrm>
            <a:off x="8677434" y="3236976"/>
            <a:ext cx="17169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8" name="Shape 28"/>
          <p:cNvSpPr/>
          <p:nvPr/>
        </p:nvSpPr>
        <p:spPr>
          <a:xfrm>
            <a:off x="10394373" y="3236976"/>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9" name="Shape 29"/>
          <p:cNvSpPr/>
          <p:nvPr/>
        </p:nvSpPr>
        <p:spPr>
          <a:xfrm>
            <a:off x="6492240" y="3895344"/>
            <a:ext cx="93651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30" name="Shape 30"/>
          <p:cNvSpPr/>
          <p:nvPr/>
        </p:nvSpPr>
        <p:spPr>
          <a:xfrm>
            <a:off x="7428752" y="3895344"/>
            <a:ext cx="124868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16</a:t>
            </a:r>
            <a:endParaRPr lang="en-US" sz="2400" dirty="0"/>
          </a:p>
        </p:txBody>
      </p:sp>
      <p:sp>
        <p:nvSpPr>
          <p:cNvPr id="31" name="Shape 31"/>
          <p:cNvSpPr/>
          <p:nvPr/>
        </p:nvSpPr>
        <p:spPr>
          <a:xfrm>
            <a:off x="8677434" y="3895344"/>
            <a:ext cx="171693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no</a:t>
            </a:r>
            <a:endParaRPr lang="en-US" sz="2400" dirty="0"/>
          </a:p>
        </p:txBody>
      </p:sp>
      <p:sp>
        <p:nvSpPr>
          <p:cNvPr id="32" name="Shape 32"/>
          <p:cNvSpPr/>
          <p:nvPr/>
        </p:nvSpPr>
        <p:spPr>
          <a:xfrm>
            <a:off x="10394373" y="3895344"/>
            <a:ext cx="124868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33" name="Shape 33"/>
          <p:cNvSpPr/>
          <p:nvPr/>
        </p:nvSpPr>
        <p:spPr>
          <a:xfrm>
            <a:off x="6492240" y="4553712"/>
            <a:ext cx="93651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428752" y="4553712"/>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677434" y="4553712"/>
            <a:ext cx="171693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394373" y="4553712"/>
            <a:ext cx="1248682"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Search for 23, 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a[4]</a:t>
            </a:r>
            <a:r>
              <a:rPr lang="en-US" sz="2400" dirty="0">
                <a:solidFill>
                  <a:srgbClr val="18324A"/>
                </a:solidFill>
              </a:rPr>
              <a:t> is 23. </a:t>
            </a:r>
            <a:r>
              <a:rPr lang="en-US" sz="2400" dirty="0">
                <a:solidFill>
                  <a:srgbClr val="18324A"/>
                </a:solidFill>
                <a:latin typeface="Consolas"/>
                <a:ea typeface="Consolas"/>
                <a:cs typeface="Consolas"/>
              </a:rPr>
              <a:t>pos = 4</a:t>
            </a:r>
            <a:r>
              <a:rPr lang="en-US" sz="2400" dirty="0">
                <a:solidFill>
                  <a:srgbClr val="18324A"/>
                </a:solidFill>
              </a:rPr>
              <a:t>, then </a:t>
            </a:r>
            <a:r>
              <a:rPr lang="en-US" sz="2400" dirty="0">
                <a:solidFill>
                  <a:srgbClr val="18324A"/>
                </a:solidFill>
                <a:latin typeface="Consolas"/>
                <a:ea typeface="Consolas"/>
                <a:cs typeface="Consolas"/>
              </a:rPr>
              <a:t>break</a:t>
            </a:r>
            <a:r>
              <a:rPr lang="en-US" sz="2400" dirty="0">
                <a:solidFill>
                  <a:srgbClr val="18324A"/>
                </a:solidFill>
              </a:rPr>
              <a:t>: no need to look at 42.</a:t>
            </a:r>
            <a:endParaRPr lang="en-US" sz="2400" dirty="0"/>
          </a:p>
        </p:txBody>
      </p:sp>
      <p:sp>
        <p:nvSpPr>
          <p:cNvPr id="9" name="Shape 9"/>
          <p:cNvSpPr/>
          <p:nvPr/>
        </p:nvSpPr>
        <p:spPr>
          <a:xfrm>
            <a:off x="548640" y="1261872"/>
            <a:ext cx="5669280" cy="38582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575177"/>
            <a:ext cx="566928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575177"/>
            <a:ext cx="82296" cy="34925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924427"/>
            <a:ext cx="5669280" cy="34925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924427"/>
            <a:ext cx="82296" cy="34925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5669280" cy="3858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a[N] = {4, 8, 15, 16, 23, 42};</a:t>
            </a:r>
            <a:endParaRPr lang="en-US" sz="2200" dirty="0"/>
          </a:p>
          <a:p>
            <a:pPr marL="0" indent="0" algn="l">
              <a:lnSpc>
                <a:spcPts val="2750"/>
              </a:lnSpc>
              <a:buNone/>
            </a:pPr>
            <a:r>
              <a:rPr lang="en-US" sz="2200" dirty="0">
                <a:solidFill>
                  <a:srgbClr val="64748B"/>
                </a:solidFill>
                <a:latin typeface="Consolas"/>
                <a:ea typeface="Consolas"/>
                <a:cs typeface="Consolas"/>
              </a:rPr>
              <a:t>int target = 23;</a:t>
            </a:r>
            <a:endParaRPr lang="en-US" sz="2200" dirty="0"/>
          </a:p>
          <a:p>
            <a:pPr marL="0" indent="0" algn="l">
              <a:lnSpc>
                <a:spcPts val="2750"/>
              </a:lnSpc>
              <a:buNone/>
            </a:pPr>
            <a:r>
              <a:rPr lang="en-US" sz="2200" dirty="0">
                <a:solidFill>
                  <a:srgbClr val="64748B"/>
                </a:solidFill>
                <a:latin typeface="Consolas"/>
                <a:ea typeface="Consolas"/>
                <a:cs typeface="Consolas"/>
              </a:rPr>
              <a:t>int pos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for (int i = 0; i &lt; N; i++) {</a:t>
            </a:r>
            <a:endParaRPr lang="en-US" sz="2200" dirty="0"/>
          </a:p>
          <a:p>
            <a:pPr marL="0" indent="0" algn="l">
              <a:lnSpc>
                <a:spcPts val="2750"/>
              </a:lnSpc>
              <a:buNone/>
            </a:pPr>
            <a:r>
              <a:rPr lang="en-US" sz="2200" dirty="0">
                <a:solidFill>
                  <a:srgbClr val="64748B"/>
                </a:solidFill>
                <a:latin typeface="Consolas"/>
                <a:ea typeface="Consolas"/>
                <a:cs typeface="Consolas"/>
              </a:rPr>
              <a:t>    if (a[i] == target) {</a:t>
            </a:r>
            <a:endParaRPr lang="en-US" sz="2200" dirty="0"/>
          </a:p>
          <a:p>
            <a:pPr marL="0" indent="0" algn="l">
              <a:lnSpc>
                <a:spcPts val="2750"/>
              </a:lnSpc>
              <a:buNone/>
            </a:pPr>
            <a:r>
              <a:rPr lang="en-US" sz="2200" dirty="0">
                <a:solidFill>
                  <a:srgbClr val="FFFFFF"/>
                </a:solidFill>
                <a:latin typeface="Consolas"/>
                <a:ea typeface="Consolas"/>
                <a:cs typeface="Consolas"/>
              </a:rPr>
              <a:t>        pos = i;</a:t>
            </a:r>
            <a:endParaRPr lang="en-US" sz="2200" dirty="0"/>
          </a:p>
          <a:p>
            <a:pPr marL="0" indent="0" algn="l">
              <a:lnSpc>
                <a:spcPts val="2750"/>
              </a:lnSpc>
              <a:buNone/>
            </a:pPr>
            <a:r>
              <a:rPr lang="en-US" sz="2200" dirty="0">
                <a:solidFill>
                  <a:srgbClr val="FFFFFF"/>
                </a:solidFill>
                <a:latin typeface="Consolas"/>
                <a:ea typeface="Consolas"/>
                <a:cs typeface="Consolas"/>
              </a:rPr>
              <a:t>        break;</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5" name="Shape 15"/>
          <p:cNvSpPr/>
          <p:nvPr/>
        </p:nvSpPr>
        <p:spPr>
          <a:xfrm>
            <a:off x="6492240" y="1261872"/>
            <a:ext cx="93651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6" name="Shape 16"/>
          <p:cNvSpPr/>
          <p:nvPr/>
        </p:nvSpPr>
        <p:spPr>
          <a:xfrm>
            <a:off x="7428752" y="1261872"/>
            <a:ext cx="124868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7" name="Shape 17"/>
          <p:cNvSpPr/>
          <p:nvPr/>
        </p:nvSpPr>
        <p:spPr>
          <a:xfrm>
            <a:off x="8677434" y="1261872"/>
            <a:ext cx="17169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 23</a:t>
            </a:r>
            <a:r>
              <a:rPr lang="en-US" sz="1800" b="1" dirty="0">
                <a:solidFill>
                  <a:srgbClr val="FFFFFF"/>
                </a:solidFill>
              </a:rPr>
              <a:t>?</a:t>
            </a:r>
            <a:endParaRPr lang="en-US" sz="1800" dirty="0"/>
          </a:p>
        </p:txBody>
      </p:sp>
      <p:sp>
        <p:nvSpPr>
          <p:cNvPr id="18" name="Shape 18"/>
          <p:cNvSpPr/>
          <p:nvPr/>
        </p:nvSpPr>
        <p:spPr>
          <a:xfrm>
            <a:off x="10394373" y="1261872"/>
            <a:ext cx="124868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pos</a:t>
            </a:r>
            <a:endParaRPr lang="en-US" sz="1800" dirty="0"/>
          </a:p>
        </p:txBody>
      </p:sp>
      <p:sp>
        <p:nvSpPr>
          <p:cNvPr id="19" name="Shape 19"/>
          <p:cNvSpPr/>
          <p:nvPr/>
        </p:nvSpPr>
        <p:spPr>
          <a:xfrm>
            <a:off x="6492240" y="1920240"/>
            <a:ext cx="93651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0" name="Shape 20"/>
          <p:cNvSpPr/>
          <p:nvPr/>
        </p:nvSpPr>
        <p:spPr>
          <a:xfrm>
            <a:off x="7428752" y="1920240"/>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1" name="Shape 21"/>
          <p:cNvSpPr/>
          <p:nvPr/>
        </p:nvSpPr>
        <p:spPr>
          <a:xfrm>
            <a:off x="8677434" y="1920240"/>
            <a:ext cx="17169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2" name="Shape 22"/>
          <p:cNvSpPr/>
          <p:nvPr/>
        </p:nvSpPr>
        <p:spPr>
          <a:xfrm>
            <a:off x="10394373" y="1920240"/>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3" name="Shape 23"/>
          <p:cNvSpPr/>
          <p:nvPr/>
        </p:nvSpPr>
        <p:spPr>
          <a:xfrm>
            <a:off x="6492240" y="2578608"/>
            <a:ext cx="93651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4" name="Shape 24"/>
          <p:cNvSpPr/>
          <p:nvPr/>
        </p:nvSpPr>
        <p:spPr>
          <a:xfrm>
            <a:off x="7428752" y="2578608"/>
            <a:ext cx="124868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8</a:t>
            </a:r>
            <a:endParaRPr lang="en-US" sz="2400" dirty="0"/>
          </a:p>
        </p:txBody>
      </p:sp>
      <p:sp>
        <p:nvSpPr>
          <p:cNvPr id="25" name="Shape 25"/>
          <p:cNvSpPr/>
          <p:nvPr/>
        </p:nvSpPr>
        <p:spPr>
          <a:xfrm>
            <a:off x="8677434" y="2578608"/>
            <a:ext cx="17169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6" name="Shape 26"/>
          <p:cNvSpPr/>
          <p:nvPr/>
        </p:nvSpPr>
        <p:spPr>
          <a:xfrm>
            <a:off x="10394373" y="2578608"/>
            <a:ext cx="124868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7" name="Shape 27"/>
          <p:cNvSpPr/>
          <p:nvPr/>
        </p:nvSpPr>
        <p:spPr>
          <a:xfrm>
            <a:off x="6492240" y="3236976"/>
            <a:ext cx="93651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8" name="Shape 28"/>
          <p:cNvSpPr/>
          <p:nvPr/>
        </p:nvSpPr>
        <p:spPr>
          <a:xfrm>
            <a:off x="7428752" y="3236976"/>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15</a:t>
            </a:r>
            <a:endParaRPr lang="en-US" sz="2400" dirty="0"/>
          </a:p>
        </p:txBody>
      </p:sp>
      <p:sp>
        <p:nvSpPr>
          <p:cNvPr id="29" name="Shape 29"/>
          <p:cNvSpPr/>
          <p:nvPr/>
        </p:nvSpPr>
        <p:spPr>
          <a:xfrm>
            <a:off x="8677434" y="3236976"/>
            <a:ext cx="17169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30" name="Shape 30"/>
          <p:cNvSpPr/>
          <p:nvPr/>
        </p:nvSpPr>
        <p:spPr>
          <a:xfrm>
            <a:off x="10394373" y="3236976"/>
            <a:ext cx="124868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31" name="Shape 31"/>
          <p:cNvSpPr/>
          <p:nvPr/>
        </p:nvSpPr>
        <p:spPr>
          <a:xfrm>
            <a:off x="6492240" y="3895344"/>
            <a:ext cx="93651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32" name="Shape 32"/>
          <p:cNvSpPr/>
          <p:nvPr/>
        </p:nvSpPr>
        <p:spPr>
          <a:xfrm>
            <a:off x="7428752" y="3895344"/>
            <a:ext cx="124868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16</a:t>
            </a:r>
            <a:endParaRPr lang="en-US" sz="2400" dirty="0"/>
          </a:p>
        </p:txBody>
      </p:sp>
      <p:sp>
        <p:nvSpPr>
          <p:cNvPr id="33" name="Shape 33"/>
          <p:cNvSpPr/>
          <p:nvPr/>
        </p:nvSpPr>
        <p:spPr>
          <a:xfrm>
            <a:off x="8677434" y="3895344"/>
            <a:ext cx="17169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34" name="Shape 34"/>
          <p:cNvSpPr/>
          <p:nvPr/>
        </p:nvSpPr>
        <p:spPr>
          <a:xfrm>
            <a:off x="10394373" y="3895344"/>
            <a:ext cx="124868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35" name="Shape 35"/>
          <p:cNvSpPr/>
          <p:nvPr/>
        </p:nvSpPr>
        <p:spPr>
          <a:xfrm>
            <a:off x="6492240" y="4553712"/>
            <a:ext cx="93651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6" name="Shape 36"/>
          <p:cNvSpPr/>
          <p:nvPr/>
        </p:nvSpPr>
        <p:spPr>
          <a:xfrm>
            <a:off x="7428752" y="4553712"/>
            <a:ext cx="124868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23</a:t>
            </a:r>
            <a:endParaRPr lang="en-US" sz="2400" dirty="0"/>
          </a:p>
        </p:txBody>
      </p:sp>
      <p:sp>
        <p:nvSpPr>
          <p:cNvPr id="37" name="Shape 37"/>
          <p:cNvSpPr/>
          <p:nvPr/>
        </p:nvSpPr>
        <p:spPr>
          <a:xfrm>
            <a:off x="8677434" y="4553712"/>
            <a:ext cx="171693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yes</a:t>
            </a:r>
            <a:endParaRPr lang="en-US" sz="2400" dirty="0"/>
          </a:p>
        </p:txBody>
      </p:sp>
      <p:sp>
        <p:nvSpPr>
          <p:cNvPr id="38" name="Shape 38"/>
          <p:cNvSpPr/>
          <p:nvPr/>
        </p:nvSpPr>
        <p:spPr>
          <a:xfrm>
            <a:off x="10394373" y="4553712"/>
            <a:ext cx="124868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After the loop: found or not?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21</a:t>
            </a:r>
            <a:endParaRPr lang="en-US" sz="1400" dirty="0"/>
          </a:p>
        </p:txBody>
      </p:sp>
      <p:sp>
        <p:nvSpPr>
          <p:cNvPr id="6" name="Shape 6"/>
          <p:cNvSpPr/>
          <p:nvPr/>
        </p:nvSpPr>
        <p:spPr>
          <a:xfrm>
            <a:off x="548640" y="1261872"/>
            <a:ext cx="7498080" cy="417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699002"/>
            <a:ext cx="749808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6990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016502"/>
            <a:ext cx="749808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016502"/>
            <a:ext cx="82296" cy="317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334002"/>
            <a:ext cx="7498080"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334002"/>
            <a:ext cx="82296" cy="31750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4651502"/>
            <a:ext cx="7498080" cy="31750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4651502"/>
            <a:ext cx="82296" cy="317500"/>
          </a:xfrm>
          <a:prstGeom prst="rect">
            <a:avLst/>
          </a:prstGeom>
          <a:solidFill>
            <a:srgbClr val="F59E0B"/>
          </a:solidFill>
          <a:ln>
            <a:noFill/>
          </a:ln>
        </p:spPr>
        <p:txBody>
          <a:bodyPr wrap="square" lIns="0" tIns="0" rIns="0" bIns="0" rtlCol="0" anchor="t"/>
          <a:lstStyle/>
          <a:p>
            <a:endParaRPr lang="en-US"/>
          </a:p>
        </p:txBody>
      </p:sp>
      <p:sp>
        <p:nvSpPr>
          <p:cNvPr id="15" name="Shape 15"/>
          <p:cNvSpPr/>
          <p:nvPr/>
        </p:nvSpPr>
        <p:spPr>
          <a:xfrm>
            <a:off x="548640" y="4969002"/>
            <a:ext cx="7498080" cy="317500"/>
          </a:xfrm>
          <a:prstGeom prst="rect">
            <a:avLst/>
          </a:prstGeom>
          <a:solidFill>
            <a:srgbClr val="25406B"/>
          </a:solidFill>
          <a:ln>
            <a:noFill/>
          </a:ln>
        </p:spPr>
        <p:txBody>
          <a:bodyPr wrap="square" lIns="0" tIns="0" rIns="0" bIns="0" rtlCol="0" anchor="t"/>
          <a:lstStyle/>
          <a:p>
            <a:endParaRPr lang="en-US"/>
          </a:p>
        </p:txBody>
      </p:sp>
      <p:sp>
        <p:nvSpPr>
          <p:cNvPr id="16" name="Shape 16"/>
          <p:cNvSpPr/>
          <p:nvPr/>
        </p:nvSpPr>
        <p:spPr>
          <a:xfrm>
            <a:off x="548640" y="4969002"/>
            <a:ext cx="82296" cy="317500"/>
          </a:xfrm>
          <a:prstGeom prst="rect">
            <a:avLst/>
          </a:prstGeom>
          <a:solidFill>
            <a:srgbClr val="F59E0B"/>
          </a:solidFill>
          <a:ln>
            <a:noFill/>
          </a:ln>
        </p:spPr>
        <p:txBody>
          <a:bodyPr wrap="square" lIns="0" tIns="0" rIns="0" bIns="0" rtlCol="0" anchor="t"/>
          <a:lstStyle/>
          <a:p>
            <a:endParaRPr lang="en-US"/>
          </a:p>
        </p:txBody>
      </p:sp>
      <p:sp>
        <p:nvSpPr>
          <p:cNvPr id="17" name="Code"/>
          <p:cNvSpPr/>
          <p:nvPr/>
        </p:nvSpPr>
        <p:spPr>
          <a:xfrm>
            <a:off x="548640" y="1261872"/>
            <a:ext cx="7498080" cy="417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for (int i = 0; i &lt; N; i++) {</a:t>
            </a:r>
            <a:endParaRPr lang="en-US" sz="2000" dirty="0"/>
          </a:p>
          <a:p>
            <a:pPr marL="0" indent="0" algn="l">
              <a:lnSpc>
                <a:spcPts val="2500"/>
              </a:lnSpc>
              <a:buNone/>
            </a:pPr>
            <a:r>
              <a:rPr lang="en-US" sz="2000" dirty="0">
                <a:solidFill>
                  <a:srgbClr val="64748B"/>
                </a:solidFill>
                <a:latin typeface="Consolas"/>
                <a:ea typeface="Consolas"/>
                <a:cs typeface="Consolas"/>
              </a:rPr>
              <a:t>    if (a[i] == target) {</a:t>
            </a:r>
            <a:endParaRPr lang="en-US" sz="2000" dirty="0"/>
          </a:p>
          <a:p>
            <a:pPr marL="0" indent="0" algn="l">
              <a:lnSpc>
                <a:spcPts val="2500"/>
              </a:lnSpc>
              <a:buNone/>
            </a:pPr>
            <a:r>
              <a:rPr lang="en-US" sz="2000" dirty="0">
                <a:solidFill>
                  <a:srgbClr val="64748B"/>
                </a:solidFill>
                <a:latin typeface="Consolas"/>
                <a:ea typeface="Consolas"/>
                <a:cs typeface="Consolas"/>
              </a:rPr>
              <a:t>        pos = i;</a:t>
            </a:r>
            <a:endParaRPr lang="en-US" sz="2000" dirty="0"/>
          </a:p>
          <a:p>
            <a:pPr marL="0" indent="0" algn="l">
              <a:lnSpc>
                <a:spcPts val="2500"/>
              </a:lnSpc>
              <a:buNone/>
            </a:pPr>
            <a:r>
              <a:rPr lang="en-US" sz="2000" dirty="0">
                <a:solidFill>
                  <a:srgbClr val="64748B"/>
                </a:solidFill>
                <a:latin typeface="Consolas"/>
                <a:ea typeface="Consolas"/>
                <a:cs typeface="Consolas"/>
              </a:rPr>
              <a:t>        break;</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if (pos == -1) {</a:t>
            </a:r>
            <a:endParaRPr lang="en-US" sz="2000" dirty="0"/>
          </a:p>
          <a:p>
            <a:pPr marL="0" indent="0" algn="l">
              <a:lnSpc>
                <a:spcPts val="2500"/>
              </a:lnSpc>
              <a:buNone/>
            </a:pPr>
            <a:r>
              <a:rPr lang="en-US" sz="2000" dirty="0">
                <a:solidFill>
                  <a:srgbClr val="FFFFFF"/>
                </a:solidFill>
                <a:latin typeface="Consolas"/>
                <a:ea typeface="Consolas"/>
                <a:cs typeface="Consolas"/>
              </a:rPr>
              <a:t>    printf("%d not found\n", target);</a:t>
            </a:r>
            <a:endParaRPr lang="en-US" sz="2000" dirty="0"/>
          </a:p>
          <a:p>
            <a:pPr marL="0" indent="0" algn="l">
              <a:lnSpc>
                <a:spcPts val="2500"/>
              </a:lnSpc>
              <a:buNone/>
            </a:pPr>
            <a:r>
              <a:rPr lang="en-US" sz="2000" dirty="0">
                <a:solidFill>
                  <a:srgbClr val="FFFFFF"/>
                </a:solidFill>
                <a:latin typeface="Consolas"/>
                <a:ea typeface="Consolas"/>
                <a:cs typeface="Consolas"/>
              </a:rPr>
              <a:t>} else {</a:t>
            </a:r>
            <a:endParaRPr lang="en-US" sz="2000" dirty="0"/>
          </a:p>
          <a:p>
            <a:pPr marL="0" indent="0" algn="l">
              <a:lnSpc>
                <a:spcPts val="2500"/>
              </a:lnSpc>
              <a:buNone/>
            </a:pPr>
            <a:r>
              <a:rPr lang="en-US" sz="2000" dirty="0">
                <a:solidFill>
                  <a:srgbClr val="FFFFFF"/>
                </a:solidFill>
                <a:latin typeface="Consolas"/>
                <a:ea typeface="Consolas"/>
                <a:cs typeface="Consolas"/>
              </a:rPr>
              <a:t>    printf("%d found at index %d\n", target, pos);</a:t>
            </a:r>
            <a:endParaRPr lang="en-US" sz="2000" dirty="0"/>
          </a:p>
          <a:p>
            <a:pPr marL="0" indent="0" algn="l">
              <a:lnSpc>
                <a:spcPts val="2500"/>
              </a:lnSpc>
              <a:buNone/>
            </a:pPr>
            <a:r>
              <a:rPr lang="en-US" sz="2000" dirty="0">
                <a:solidFill>
                  <a:srgbClr val="FFFFFF"/>
                </a:solidFill>
                <a:latin typeface="Consolas"/>
                <a:ea typeface="Consolas"/>
                <a:cs typeface="Consolas"/>
              </a:rPr>
              <a:t>}</a:t>
            </a:r>
            <a:endParaRPr lang="en-US" sz="2000" dirty="0"/>
          </a:p>
        </p:txBody>
      </p:sp>
      <p:sp>
        <p:nvSpPr>
          <p:cNvPr id="18" name="Shape 18"/>
          <p:cNvSpPr/>
          <p:nvPr/>
        </p:nvSpPr>
        <p:spPr>
          <a:xfrm>
            <a:off x="8321040" y="1261872"/>
            <a:ext cx="332201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9" name="Shape 19"/>
          <p:cNvSpPr/>
          <p:nvPr/>
        </p:nvSpPr>
        <p:spPr>
          <a:xfrm>
            <a:off x="8321040" y="1645920"/>
            <a:ext cx="3322015" cy="715010"/>
          </a:xfrm>
          <a:prstGeom prst="rect">
            <a:avLst/>
          </a:prstGeom>
          <a:solidFill>
            <a:srgbClr val="000000"/>
          </a:solidFill>
          <a:ln>
            <a:noFill/>
          </a:ln>
        </p:spPr>
        <p:txBody>
          <a:bodyPr wrap="square" lIns="0" tIns="0" rIns="0" bIns="0" rtlCol="0" anchor="t"/>
          <a:lstStyle/>
          <a:p>
            <a:endParaRPr lang="en-US"/>
          </a:p>
        </p:txBody>
      </p:sp>
      <p:sp>
        <p:nvSpPr>
          <p:cNvPr id="20" name="Code"/>
          <p:cNvSpPr/>
          <p:nvPr/>
        </p:nvSpPr>
        <p:spPr>
          <a:xfrm>
            <a:off x="8321040" y="1645920"/>
            <a:ext cx="3322015" cy="715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D1FAE5"/>
                </a:solidFill>
                <a:latin typeface="Consolas"/>
                <a:ea typeface="Consolas"/>
                <a:cs typeface="Consolas"/>
              </a:rPr>
              <a:t>23 found at index 4</a:t>
            </a:r>
            <a:endParaRPr lang="en-US" sz="2200" dirty="0"/>
          </a:p>
        </p:txBody>
      </p:sp>
      <p:sp>
        <p:nvSpPr>
          <p:cNvPr id="21" name="Shape 21"/>
          <p:cNvSpPr/>
          <p:nvPr/>
        </p:nvSpPr>
        <p:spPr>
          <a:xfrm>
            <a:off x="8321040" y="2635250"/>
            <a:ext cx="33220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2" name="Shape 22"/>
          <p:cNvSpPr/>
          <p:nvPr/>
        </p:nvSpPr>
        <p:spPr>
          <a:xfrm>
            <a:off x="8321040" y="2635250"/>
            <a:ext cx="109728" cy="1051560"/>
          </a:xfrm>
          <a:prstGeom prst="rect">
            <a:avLst/>
          </a:prstGeom>
          <a:solidFill>
            <a:srgbClr val="31C48D"/>
          </a:solidFill>
          <a:ln>
            <a:noFill/>
          </a:ln>
        </p:spPr>
        <p:txBody>
          <a:bodyPr wrap="square" lIns="0" tIns="0" rIns="0" bIns="0" rtlCol="0" anchor="t"/>
          <a:lstStyle/>
          <a:p>
            <a:endParaRPr lang="en-US"/>
          </a:p>
        </p:txBody>
      </p:sp>
      <p:sp>
        <p:nvSpPr>
          <p:cNvPr id="23" name="Callout"/>
          <p:cNvSpPr/>
          <p:nvPr/>
        </p:nvSpPr>
        <p:spPr>
          <a:xfrm>
            <a:off x="8430768" y="2635250"/>
            <a:ext cx="32122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pos</a:t>
            </a:r>
            <a:r>
              <a:rPr lang="en-US" sz="2400" dirty="0">
                <a:solidFill>
                  <a:srgbClr val="18324A"/>
                </a:solidFill>
              </a:rPr>
              <a:t> is 4, not -1: found.</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Predict: a value that is not there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22</a:t>
            </a:r>
            <a:endParaRPr lang="en-US" sz="1400" dirty="0"/>
          </a:p>
        </p:txBody>
      </p:sp>
      <p:sp>
        <p:nvSpPr>
          <p:cNvPr id="6" name="Shape 6"/>
          <p:cNvSpPr/>
          <p:nvPr/>
        </p:nvSpPr>
        <p:spPr>
          <a:xfrm>
            <a:off x="548640" y="1261872"/>
            <a:ext cx="7498080" cy="4175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7498080" cy="417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for (int i = 0; i &lt; N; i++) {</a:t>
            </a:r>
            <a:endParaRPr lang="en-US" sz="2000" dirty="0"/>
          </a:p>
          <a:p>
            <a:pPr marL="0" indent="0" algn="l">
              <a:lnSpc>
                <a:spcPts val="2500"/>
              </a:lnSpc>
              <a:buNone/>
            </a:pPr>
            <a:r>
              <a:rPr lang="en-US" sz="2000" dirty="0">
                <a:solidFill>
                  <a:srgbClr val="E5E7EB"/>
                </a:solidFill>
                <a:latin typeface="Consolas"/>
                <a:ea typeface="Consolas"/>
                <a:cs typeface="Consolas"/>
              </a:rPr>
              <a:t>    if (a[i] == target) {</a:t>
            </a:r>
            <a:endParaRPr lang="en-US" sz="2000" dirty="0"/>
          </a:p>
          <a:p>
            <a:pPr marL="0" indent="0" algn="l">
              <a:lnSpc>
                <a:spcPts val="2500"/>
              </a:lnSpc>
              <a:buNone/>
            </a:pPr>
            <a:r>
              <a:rPr lang="en-US" sz="2000" dirty="0">
                <a:solidFill>
                  <a:srgbClr val="E5E7EB"/>
                </a:solidFill>
                <a:latin typeface="Consolas"/>
                <a:ea typeface="Consolas"/>
                <a:cs typeface="Consolas"/>
              </a:rPr>
              <a:t>        pos = i;</a:t>
            </a:r>
            <a:endParaRPr lang="en-US" sz="2000" dirty="0"/>
          </a:p>
          <a:p>
            <a:pPr marL="0" indent="0" algn="l">
              <a:lnSpc>
                <a:spcPts val="2500"/>
              </a:lnSpc>
              <a:buNone/>
            </a:pPr>
            <a:r>
              <a:rPr lang="en-US" sz="2000" dirty="0">
                <a:solidFill>
                  <a:srgbClr val="E5E7EB"/>
                </a:solidFill>
                <a:latin typeface="Consolas"/>
                <a:ea typeface="Consolas"/>
                <a:cs typeface="Consolas"/>
              </a:rPr>
              <a:t>        break;</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if (pos == -1) {</a:t>
            </a:r>
            <a:endParaRPr lang="en-US" sz="2000" dirty="0"/>
          </a:p>
          <a:p>
            <a:pPr marL="0" indent="0" algn="l">
              <a:lnSpc>
                <a:spcPts val="2500"/>
              </a:lnSpc>
              <a:buNone/>
            </a:pPr>
            <a:r>
              <a:rPr lang="en-US" sz="2000" dirty="0">
                <a:solidFill>
                  <a:srgbClr val="E5E7EB"/>
                </a:solidFill>
                <a:latin typeface="Consolas"/>
                <a:ea typeface="Consolas"/>
                <a:cs typeface="Consolas"/>
              </a:rPr>
              <a:t>    printf("%d not found\n", target);</a:t>
            </a:r>
            <a:endParaRPr lang="en-US" sz="2000" dirty="0"/>
          </a:p>
          <a:p>
            <a:pPr marL="0" indent="0" algn="l">
              <a:lnSpc>
                <a:spcPts val="2500"/>
              </a:lnSpc>
              <a:buNone/>
            </a:pPr>
            <a:r>
              <a:rPr lang="en-US" sz="2000" dirty="0">
                <a:solidFill>
                  <a:srgbClr val="E5E7EB"/>
                </a:solidFill>
                <a:latin typeface="Consolas"/>
                <a:ea typeface="Consolas"/>
                <a:cs typeface="Consolas"/>
              </a:rPr>
              <a:t>} else {</a:t>
            </a:r>
            <a:endParaRPr lang="en-US" sz="2000" dirty="0"/>
          </a:p>
          <a:p>
            <a:pPr marL="0" indent="0" algn="l">
              <a:lnSpc>
                <a:spcPts val="2500"/>
              </a:lnSpc>
              <a:buNone/>
            </a:pPr>
            <a:r>
              <a:rPr lang="en-US" sz="2000" dirty="0">
                <a:solidFill>
                  <a:srgbClr val="E5E7EB"/>
                </a:solidFill>
                <a:latin typeface="Consolas"/>
                <a:ea typeface="Consolas"/>
                <a:cs typeface="Consolas"/>
              </a:rPr>
              <a:t>    printf("%d found at index %d\n", target, pos);</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
        <p:nvSpPr>
          <p:cNvPr id="8" name="Shape 8"/>
          <p:cNvSpPr/>
          <p:nvPr/>
        </p:nvSpPr>
        <p:spPr>
          <a:xfrm>
            <a:off x="8321040" y="1261872"/>
            <a:ext cx="332201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9" name="Shape 9"/>
          <p:cNvSpPr/>
          <p:nvPr/>
        </p:nvSpPr>
        <p:spPr>
          <a:xfrm>
            <a:off x="8321040" y="1261872"/>
            <a:ext cx="109728" cy="685800"/>
          </a:xfrm>
          <a:prstGeom prst="rect">
            <a:avLst/>
          </a:prstGeom>
          <a:solidFill>
            <a:srgbClr val="F59E0B"/>
          </a:solidFill>
          <a:ln>
            <a:noFill/>
          </a:ln>
        </p:spPr>
        <p:txBody>
          <a:bodyPr wrap="square" lIns="0" tIns="0" rIns="0" bIns="0" rtlCol="0" anchor="t"/>
          <a:lstStyle/>
          <a:p>
            <a:endParaRPr lang="en-US"/>
          </a:p>
        </p:txBody>
      </p:sp>
      <p:sp>
        <p:nvSpPr>
          <p:cNvPr id="10" name="Callout"/>
          <p:cNvSpPr/>
          <p:nvPr/>
        </p:nvSpPr>
        <p:spPr>
          <a:xfrm>
            <a:off x="8430768" y="1261872"/>
            <a:ext cx="32122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target</a:t>
            </a:r>
            <a:r>
              <a:rPr lang="en-US" sz="2400" dirty="0">
                <a:solidFill>
                  <a:srgbClr val="18324A"/>
                </a:solidFill>
              </a:rPr>
              <a:t> is now </a:t>
            </a:r>
            <a:r>
              <a:rPr lang="en-US" sz="2400" dirty="0">
                <a:solidFill>
                  <a:srgbClr val="18324A"/>
                </a:solidFill>
                <a:latin typeface="Consolas"/>
                <a:ea typeface="Consolas"/>
                <a:cs typeface="Consolas"/>
              </a:rPr>
              <a:t>7</a:t>
            </a:r>
            <a:r>
              <a:rPr lang="en-US" sz="2400" dirty="0">
                <a:solidFill>
                  <a:srgbClr val="18324A"/>
                </a:solidFill>
              </a:rPr>
              <a:t>.</a:t>
            </a:r>
            <a:endParaRPr lang="en-US" sz="2400" dirty="0"/>
          </a:p>
        </p:txBody>
      </p:sp>
      <p:sp>
        <p:nvSpPr>
          <p:cNvPr id="11" name="Shape 11"/>
          <p:cNvSpPr/>
          <p:nvPr/>
        </p:nvSpPr>
        <p:spPr>
          <a:xfrm>
            <a:off x="8321040" y="2148840"/>
            <a:ext cx="332201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2" name="Shape 12"/>
          <p:cNvSpPr/>
          <p:nvPr/>
        </p:nvSpPr>
        <p:spPr>
          <a:xfrm>
            <a:off x="8321040" y="2148840"/>
            <a:ext cx="109728" cy="685800"/>
          </a:xfrm>
          <a:prstGeom prst="rect">
            <a:avLst/>
          </a:prstGeom>
          <a:solidFill>
            <a:srgbClr val="F59E0B"/>
          </a:solidFill>
          <a:ln>
            <a:noFill/>
          </a:ln>
        </p:spPr>
        <p:txBody>
          <a:bodyPr wrap="square" lIns="0" tIns="0" rIns="0" bIns="0" rtlCol="0" anchor="t"/>
          <a:lstStyle/>
          <a:p>
            <a:endParaRPr lang="en-US"/>
          </a:p>
        </p:txBody>
      </p:sp>
      <p:sp>
        <p:nvSpPr>
          <p:cNvPr id="13" name="Callout"/>
          <p:cNvSpPr/>
          <p:nvPr/>
        </p:nvSpPr>
        <p:spPr>
          <a:xfrm>
            <a:off x="8430768" y="2148840"/>
            <a:ext cx="32122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What is printed?</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Predict: a value that is not there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23</a:t>
            </a:r>
            <a:endParaRPr lang="en-US" sz="1400" dirty="0"/>
          </a:p>
        </p:txBody>
      </p:sp>
      <p:sp>
        <p:nvSpPr>
          <p:cNvPr id="6" name="Shape 6"/>
          <p:cNvSpPr/>
          <p:nvPr/>
        </p:nvSpPr>
        <p:spPr>
          <a:xfrm>
            <a:off x="548640" y="1261872"/>
            <a:ext cx="7498080" cy="417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699002"/>
            <a:ext cx="749808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6990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016502"/>
            <a:ext cx="749808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016502"/>
            <a:ext cx="82296" cy="3175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7498080" cy="417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for (int i = 0; i &lt; N; i++) {</a:t>
            </a:r>
            <a:endParaRPr lang="en-US" sz="2000" dirty="0"/>
          </a:p>
          <a:p>
            <a:pPr marL="0" indent="0" algn="l">
              <a:lnSpc>
                <a:spcPts val="2500"/>
              </a:lnSpc>
              <a:buNone/>
            </a:pPr>
            <a:r>
              <a:rPr lang="en-US" sz="2000" dirty="0">
                <a:solidFill>
                  <a:srgbClr val="64748B"/>
                </a:solidFill>
                <a:latin typeface="Consolas"/>
                <a:ea typeface="Consolas"/>
                <a:cs typeface="Consolas"/>
              </a:rPr>
              <a:t>    if (a[i] == target) {</a:t>
            </a:r>
            <a:endParaRPr lang="en-US" sz="2000" dirty="0"/>
          </a:p>
          <a:p>
            <a:pPr marL="0" indent="0" algn="l">
              <a:lnSpc>
                <a:spcPts val="2500"/>
              </a:lnSpc>
              <a:buNone/>
            </a:pPr>
            <a:r>
              <a:rPr lang="en-US" sz="2000" dirty="0">
                <a:solidFill>
                  <a:srgbClr val="64748B"/>
                </a:solidFill>
                <a:latin typeface="Consolas"/>
                <a:ea typeface="Consolas"/>
                <a:cs typeface="Consolas"/>
              </a:rPr>
              <a:t>        pos = i;</a:t>
            </a:r>
            <a:endParaRPr lang="en-US" sz="2000" dirty="0"/>
          </a:p>
          <a:p>
            <a:pPr marL="0" indent="0" algn="l">
              <a:lnSpc>
                <a:spcPts val="2500"/>
              </a:lnSpc>
              <a:buNone/>
            </a:pPr>
            <a:r>
              <a:rPr lang="en-US" sz="2000" dirty="0">
                <a:solidFill>
                  <a:srgbClr val="64748B"/>
                </a:solidFill>
                <a:latin typeface="Consolas"/>
                <a:ea typeface="Consolas"/>
                <a:cs typeface="Consolas"/>
              </a:rPr>
              <a:t>        break;</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if (pos == -1) {</a:t>
            </a:r>
            <a:endParaRPr lang="en-US" sz="2000" dirty="0"/>
          </a:p>
          <a:p>
            <a:pPr marL="0" indent="0" algn="l">
              <a:lnSpc>
                <a:spcPts val="2500"/>
              </a:lnSpc>
              <a:buNone/>
            </a:pPr>
            <a:r>
              <a:rPr lang="en-US" sz="2000" dirty="0">
                <a:solidFill>
                  <a:srgbClr val="FFFFFF"/>
                </a:solidFill>
                <a:latin typeface="Consolas"/>
                <a:ea typeface="Consolas"/>
                <a:cs typeface="Consolas"/>
              </a:rPr>
              <a:t>    printf("%d not found\n", target);</a:t>
            </a:r>
            <a:endParaRPr lang="en-US" sz="2000" dirty="0"/>
          </a:p>
          <a:p>
            <a:pPr marL="0" indent="0" algn="l">
              <a:lnSpc>
                <a:spcPts val="2500"/>
              </a:lnSpc>
              <a:buNone/>
            </a:pPr>
            <a:r>
              <a:rPr lang="en-US" sz="2000" dirty="0">
                <a:solidFill>
                  <a:srgbClr val="64748B"/>
                </a:solidFill>
                <a:latin typeface="Consolas"/>
                <a:ea typeface="Consolas"/>
                <a:cs typeface="Consolas"/>
              </a:rPr>
              <a:t>} else {</a:t>
            </a:r>
            <a:endParaRPr lang="en-US" sz="2000" dirty="0"/>
          </a:p>
          <a:p>
            <a:pPr marL="0" indent="0" algn="l">
              <a:lnSpc>
                <a:spcPts val="2500"/>
              </a:lnSpc>
              <a:buNone/>
            </a:pPr>
            <a:r>
              <a:rPr lang="en-US" sz="2000" dirty="0">
                <a:solidFill>
                  <a:srgbClr val="64748B"/>
                </a:solidFill>
                <a:latin typeface="Consolas"/>
                <a:ea typeface="Consolas"/>
                <a:cs typeface="Consolas"/>
              </a:rPr>
              <a:t>    printf("%d found at index %d\n", target, pos);</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2" name="Shape 12"/>
          <p:cNvSpPr/>
          <p:nvPr/>
        </p:nvSpPr>
        <p:spPr>
          <a:xfrm>
            <a:off x="8321040" y="1261872"/>
            <a:ext cx="332201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8321040" y="1645920"/>
            <a:ext cx="3322015" cy="746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8321040" y="1645920"/>
            <a:ext cx="332201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7 not found</a:t>
            </a:r>
            <a:endParaRPr lang="en-US" sz="2400" dirty="0"/>
          </a:p>
        </p:txBody>
      </p:sp>
      <p:sp>
        <p:nvSpPr>
          <p:cNvPr id="15" name="Shape 15"/>
          <p:cNvSpPr/>
          <p:nvPr/>
        </p:nvSpPr>
        <p:spPr>
          <a:xfrm>
            <a:off x="8321040" y="2667000"/>
            <a:ext cx="33220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6" name="Shape 16"/>
          <p:cNvSpPr/>
          <p:nvPr/>
        </p:nvSpPr>
        <p:spPr>
          <a:xfrm>
            <a:off x="8321040" y="2667000"/>
            <a:ext cx="109728" cy="1051560"/>
          </a:xfrm>
          <a:prstGeom prst="rect">
            <a:avLst/>
          </a:prstGeom>
          <a:solidFill>
            <a:srgbClr val="2F80ED"/>
          </a:solidFill>
          <a:ln>
            <a:noFill/>
          </a:ln>
        </p:spPr>
        <p:txBody>
          <a:bodyPr wrap="square" lIns="0" tIns="0" rIns="0" bIns="0" rtlCol="0" anchor="t"/>
          <a:lstStyle/>
          <a:p>
            <a:endParaRPr lang="en-US"/>
          </a:p>
        </p:txBody>
      </p:sp>
      <p:sp>
        <p:nvSpPr>
          <p:cNvPr id="17" name="Callout"/>
          <p:cNvSpPr/>
          <p:nvPr/>
        </p:nvSpPr>
        <p:spPr>
          <a:xfrm>
            <a:off x="8430768" y="2667000"/>
            <a:ext cx="32122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loop checks all six.</a:t>
            </a:r>
            <a:endParaRPr lang="en-US" sz="2400" dirty="0"/>
          </a:p>
        </p:txBody>
      </p:sp>
      <p:sp>
        <p:nvSpPr>
          <p:cNvPr id="18" name="Shape 18"/>
          <p:cNvSpPr/>
          <p:nvPr/>
        </p:nvSpPr>
        <p:spPr>
          <a:xfrm>
            <a:off x="8321040" y="3919728"/>
            <a:ext cx="33220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9" name="Shape 19"/>
          <p:cNvSpPr/>
          <p:nvPr/>
        </p:nvSpPr>
        <p:spPr>
          <a:xfrm>
            <a:off x="8321040" y="3919728"/>
            <a:ext cx="109728" cy="685800"/>
          </a:xfrm>
          <a:prstGeom prst="rect">
            <a:avLst/>
          </a:prstGeom>
          <a:solidFill>
            <a:srgbClr val="2F80ED"/>
          </a:solidFill>
          <a:ln>
            <a:noFill/>
          </a:ln>
        </p:spPr>
        <p:txBody>
          <a:bodyPr wrap="square" lIns="0" tIns="0" rIns="0" bIns="0" rtlCol="0" anchor="t"/>
          <a:lstStyle/>
          <a:p>
            <a:endParaRPr lang="en-US"/>
          </a:p>
        </p:txBody>
      </p:sp>
      <p:sp>
        <p:nvSpPr>
          <p:cNvPr id="20" name="Callout"/>
          <p:cNvSpPr/>
          <p:nvPr/>
        </p:nvSpPr>
        <p:spPr>
          <a:xfrm>
            <a:off x="8430768" y="3919728"/>
            <a:ext cx="32122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pos</a:t>
            </a:r>
            <a:r>
              <a:rPr lang="en-US" sz="2400" dirty="0">
                <a:solidFill>
                  <a:srgbClr val="18324A"/>
                </a:solidFill>
              </a:rPr>
              <a:t> stays -1.</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Search as a function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24</a:t>
            </a:r>
            <a:endParaRPr lang="en-US" sz="1400" dirty="0"/>
          </a:p>
        </p:txBody>
      </p:sp>
      <p:sp>
        <p:nvSpPr>
          <p:cNvPr id="6" name="Shape 6"/>
          <p:cNvSpPr/>
          <p:nvPr/>
        </p:nvSpPr>
        <p:spPr>
          <a:xfrm>
            <a:off x="548640" y="1261872"/>
            <a:ext cx="6766560" cy="3413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768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768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find(int a[], int n, int target) {</a:t>
            </a:r>
            <a:endParaRPr lang="en-US" sz="2400" dirty="0"/>
          </a:p>
          <a:p>
            <a:pPr marL="0" indent="0" algn="l">
              <a:lnSpc>
                <a:spcPts val="3000"/>
              </a:lnSpc>
              <a:buNone/>
            </a:pPr>
            <a:r>
              <a:rPr lang="en-US" sz="2400" dirty="0">
                <a:solidFill>
                  <a:srgbClr val="64748B"/>
                </a:solidFill>
                <a:latin typeface="Consolas"/>
                <a:ea typeface="Consolas"/>
                <a:cs typeface="Consolas"/>
              </a:rPr>
              <a:t>    for (int i = 0; i &lt; n; i++) {</a:t>
            </a:r>
            <a:endParaRPr lang="en-US" sz="2400" dirty="0"/>
          </a:p>
          <a:p>
            <a:pPr marL="0" indent="0" algn="l">
              <a:lnSpc>
                <a:spcPts val="3000"/>
              </a:lnSpc>
              <a:buNone/>
            </a:pPr>
            <a:r>
              <a:rPr lang="en-US" sz="2400" dirty="0">
                <a:solidFill>
                  <a:srgbClr val="64748B"/>
                </a:solidFill>
                <a:latin typeface="Consolas"/>
                <a:ea typeface="Consolas"/>
                <a:cs typeface="Consolas"/>
              </a:rPr>
              <a:t>        if (a[i] == target) {</a:t>
            </a:r>
            <a:endParaRPr lang="en-US" sz="2400" dirty="0"/>
          </a:p>
          <a:p>
            <a:pPr marL="0" indent="0" algn="l">
              <a:lnSpc>
                <a:spcPts val="3000"/>
              </a:lnSpc>
              <a:buNone/>
            </a:pPr>
            <a:r>
              <a:rPr lang="en-US" sz="2400" dirty="0">
                <a:solidFill>
                  <a:srgbClr val="FFFFFF"/>
                </a:solidFill>
                <a:latin typeface="Consolas"/>
                <a:ea typeface="Consolas"/>
                <a:cs typeface="Consolas"/>
              </a:rPr>
              <a:t>            return i;</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    return -1;</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find 16: 3</a:t>
            </a:r>
            <a:endParaRPr lang="en-US" sz="2400" dirty="0"/>
          </a:p>
          <a:p>
            <a:pPr marL="0" indent="0" algn="l">
              <a:lnSpc>
                <a:spcPts val="3000"/>
              </a:lnSpc>
              <a:buNone/>
            </a:pPr>
            <a:r>
              <a:rPr lang="en-US" sz="2400" dirty="0">
                <a:solidFill>
                  <a:srgbClr val="D1FAE5"/>
                </a:solidFill>
                <a:latin typeface="Consolas"/>
                <a:ea typeface="Consolas"/>
                <a:cs typeface="Consolas"/>
              </a:rPr>
              <a:t>find 7: -1</a:t>
            </a:r>
            <a:endParaRPr lang="en-US" sz="2400" dirty="0"/>
          </a:p>
        </p:txBody>
      </p:sp>
      <p:sp>
        <p:nvSpPr>
          <p:cNvPr id="15" name="Shape 15"/>
          <p:cNvSpPr/>
          <p:nvPr/>
        </p:nvSpPr>
        <p:spPr>
          <a:xfrm>
            <a:off x="7589520" y="30480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6" name="Shape 16"/>
          <p:cNvSpPr/>
          <p:nvPr/>
        </p:nvSpPr>
        <p:spPr>
          <a:xfrm>
            <a:off x="7589520" y="3048000"/>
            <a:ext cx="109728" cy="1051560"/>
          </a:xfrm>
          <a:prstGeom prst="rect">
            <a:avLst/>
          </a:prstGeom>
          <a:solidFill>
            <a:srgbClr val="31C48D"/>
          </a:solidFill>
          <a:ln>
            <a:noFill/>
          </a:ln>
        </p:spPr>
        <p:txBody>
          <a:bodyPr wrap="square" lIns="0" tIns="0" rIns="0" bIns="0" rtlCol="0" anchor="t"/>
          <a:lstStyle/>
          <a:p>
            <a:endParaRPr lang="en-US"/>
          </a:p>
        </p:txBody>
      </p:sp>
      <p:sp>
        <p:nvSpPr>
          <p:cNvPr id="17" name="Callout"/>
          <p:cNvSpPr/>
          <p:nvPr/>
        </p:nvSpPr>
        <p:spPr>
          <a:xfrm>
            <a:off x="7699248" y="3048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Found: </a:t>
            </a:r>
            <a:r>
              <a:rPr lang="en-US" sz="2400" dirty="0">
                <a:solidFill>
                  <a:srgbClr val="18324A"/>
                </a:solidFill>
                <a:latin typeface="Consolas"/>
                <a:ea typeface="Consolas"/>
                <a:cs typeface="Consolas"/>
              </a:rPr>
              <a:t>return i;</a:t>
            </a:r>
            <a:r>
              <a:rPr lang="en-US" sz="2400" dirty="0">
                <a:solidFill>
                  <a:srgbClr val="18324A"/>
                </a:solidFill>
              </a:rPr>
              <a:t> ends the function at once.</a:t>
            </a:r>
            <a:endParaRPr lang="en-US" sz="2400" dirty="0"/>
          </a:p>
        </p:txBody>
      </p:sp>
      <p:sp>
        <p:nvSpPr>
          <p:cNvPr id="18" name="Shape 18"/>
          <p:cNvSpPr/>
          <p:nvPr/>
        </p:nvSpPr>
        <p:spPr>
          <a:xfrm>
            <a:off x="7589520" y="4300728"/>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9" name="Shape 19"/>
          <p:cNvSpPr/>
          <p:nvPr/>
        </p:nvSpPr>
        <p:spPr>
          <a:xfrm>
            <a:off x="7589520" y="4300728"/>
            <a:ext cx="109728" cy="1051560"/>
          </a:xfrm>
          <a:prstGeom prst="rect">
            <a:avLst/>
          </a:prstGeom>
          <a:solidFill>
            <a:srgbClr val="F59E0B"/>
          </a:solidFill>
          <a:ln>
            <a:noFill/>
          </a:ln>
        </p:spPr>
        <p:txBody>
          <a:bodyPr wrap="square" lIns="0" tIns="0" rIns="0" bIns="0" rtlCol="0" anchor="t"/>
          <a:lstStyle/>
          <a:p>
            <a:endParaRPr lang="en-US"/>
          </a:p>
        </p:txBody>
      </p:sp>
      <p:sp>
        <p:nvSpPr>
          <p:cNvPr id="20" name="Callout"/>
          <p:cNvSpPr/>
          <p:nvPr/>
        </p:nvSpPr>
        <p:spPr>
          <a:xfrm>
            <a:off x="7699248" y="4300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return -1;</a:t>
            </a:r>
            <a:r>
              <a:rPr lang="en-US" sz="2400" dirty="0">
                <a:solidFill>
                  <a:srgbClr val="18324A"/>
                </a:solidFill>
              </a:rPr>
              <a:t> only </a:t>
            </a:r>
            <a:r>
              <a:rPr lang="en-US" sz="2400" b="1" dirty="0">
                <a:solidFill>
                  <a:srgbClr val="18324A"/>
                </a:solidFill>
              </a:rPr>
              <a:t>after</a:t>
            </a:r>
            <a:r>
              <a:rPr lang="en-US" sz="2400" dirty="0">
                <a:solidFill>
                  <a:srgbClr val="18324A"/>
                </a:solidFill>
              </a:rPr>
              <a:t> the loop.</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Careful: one small else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25</a:t>
            </a:r>
            <a:endParaRPr lang="en-US" sz="1400" dirty="0"/>
          </a:p>
        </p:txBody>
      </p:sp>
      <p:sp>
        <p:nvSpPr>
          <p:cNvPr id="6" name="Shape 6"/>
          <p:cNvSpPr/>
          <p:nvPr/>
        </p:nvSpPr>
        <p:spPr>
          <a:xfrm>
            <a:off x="548640" y="1261872"/>
            <a:ext cx="2377440" cy="457200"/>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CAREFUL</a:t>
            </a:r>
            <a:endParaRPr lang="en-US" sz="1800" dirty="0"/>
          </a:p>
        </p:txBody>
      </p:sp>
      <p:sp>
        <p:nvSpPr>
          <p:cNvPr id="7" name="Shape 7"/>
          <p:cNvSpPr/>
          <p:nvPr/>
        </p:nvSpPr>
        <p:spPr>
          <a:xfrm>
            <a:off x="548640" y="1947672"/>
            <a:ext cx="4937760" cy="262128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This </a:t>
            </a:r>
            <a:r>
              <a:rPr lang="en-US" sz="3200" dirty="0">
                <a:solidFill>
                  <a:srgbClr val="2F80ED"/>
                </a:solidFill>
                <a:latin typeface="Consolas"/>
                <a:ea typeface="Consolas"/>
                <a:cs typeface="Consolas"/>
              </a:rPr>
              <a:t>find</a:t>
            </a:r>
            <a:r>
              <a:rPr lang="en-US" sz="3200" dirty="0">
                <a:solidFill>
                  <a:srgbClr val="18324A"/>
                </a:solidFill>
              </a:rPr>
              <a:t> has an </a:t>
            </a:r>
            <a:r>
              <a:rPr lang="en-US" sz="3200" dirty="0">
                <a:solidFill>
                  <a:srgbClr val="2F80ED"/>
                </a:solidFill>
                <a:latin typeface="Consolas"/>
                <a:ea typeface="Consolas"/>
                <a:cs typeface="Consolas"/>
              </a:rPr>
              <a:t>else</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The array is </a:t>
            </a:r>
            <a:r>
              <a:rPr lang="en-US" sz="3200" dirty="0">
                <a:solidFill>
                  <a:srgbClr val="2F80ED"/>
                </a:solidFill>
                <a:latin typeface="Consolas"/>
                <a:ea typeface="Consolas"/>
                <a:cs typeface="Consolas"/>
              </a:rPr>
              <a:t>4 8 15 16 23 42</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does </a:t>
            </a:r>
            <a:r>
              <a:rPr lang="en-US" sz="3200" dirty="0">
                <a:solidFill>
                  <a:srgbClr val="2F80ED"/>
                </a:solidFill>
                <a:latin typeface="Consolas"/>
                <a:ea typeface="Consolas"/>
                <a:cs typeface="Consolas"/>
              </a:rPr>
              <a:t>find(a, 6, 16)</a:t>
            </a:r>
            <a:r>
              <a:rPr lang="en-US" sz="3200" dirty="0">
                <a:solidFill>
                  <a:srgbClr val="18324A"/>
                </a:solidFill>
              </a:rPr>
              <a:t> return?</a:t>
            </a:r>
            <a:endParaRPr lang="en-US" sz="3200" dirty="0"/>
          </a:p>
        </p:txBody>
      </p:sp>
      <p:sp>
        <p:nvSpPr>
          <p:cNvPr id="8" name="Shape 8"/>
          <p:cNvSpPr/>
          <p:nvPr/>
        </p:nvSpPr>
        <p:spPr>
          <a:xfrm>
            <a:off x="5760720" y="1261872"/>
            <a:ext cx="5882335" cy="32232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22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find(int a[], int n, int target) {</a:t>
            </a:r>
            <a:endParaRPr lang="en-US" sz="2000" dirty="0"/>
          </a:p>
          <a:p>
            <a:pPr marL="0" indent="0" algn="l">
              <a:lnSpc>
                <a:spcPts val="2500"/>
              </a:lnSpc>
              <a:buNone/>
            </a:pPr>
            <a:r>
              <a:rPr lang="en-US" sz="2000" dirty="0">
                <a:solidFill>
                  <a:srgbClr val="E5E7EB"/>
                </a:solidFill>
                <a:latin typeface="Consolas"/>
                <a:ea typeface="Consolas"/>
                <a:cs typeface="Consolas"/>
              </a:rPr>
              <a:t>    for (int i = 0; i &lt; n; i++) {</a:t>
            </a:r>
            <a:endParaRPr lang="en-US" sz="2000" dirty="0"/>
          </a:p>
          <a:p>
            <a:pPr marL="0" indent="0" algn="l">
              <a:lnSpc>
                <a:spcPts val="2500"/>
              </a:lnSpc>
              <a:buNone/>
            </a:pPr>
            <a:r>
              <a:rPr lang="en-US" sz="2000" dirty="0">
                <a:solidFill>
                  <a:srgbClr val="E5E7EB"/>
                </a:solidFill>
                <a:latin typeface="Consolas"/>
                <a:ea typeface="Consolas"/>
                <a:cs typeface="Consolas"/>
              </a:rPr>
              <a:t>        if (a[i] == target) {</a:t>
            </a:r>
            <a:endParaRPr lang="en-US" sz="2000" dirty="0"/>
          </a:p>
          <a:p>
            <a:pPr marL="0" indent="0" algn="l">
              <a:lnSpc>
                <a:spcPts val="2500"/>
              </a:lnSpc>
              <a:buNone/>
            </a:pPr>
            <a:r>
              <a:rPr lang="en-US" sz="2000" dirty="0">
                <a:solidFill>
                  <a:srgbClr val="E5E7EB"/>
                </a:solidFill>
                <a:latin typeface="Consolas"/>
                <a:ea typeface="Consolas"/>
                <a:cs typeface="Consolas"/>
              </a:rPr>
              <a:t>            return i;</a:t>
            </a:r>
            <a:endParaRPr lang="en-US" sz="2000" dirty="0"/>
          </a:p>
          <a:p>
            <a:pPr marL="0" indent="0" algn="l">
              <a:lnSpc>
                <a:spcPts val="2500"/>
              </a:lnSpc>
              <a:buNone/>
            </a:pPr>
            <a:r>
              <a:rPr lang="en-US" sz="2000" dirty="0">
                <a:solidFill>
                  <a:srgbClr val="E5E7EB"/>
                </a:solidFill>
                <a:latin typeface="Consolas"/>
                <a:ea typeface="Consolas"/>
                <a:cs typeface="Consolas"/>
              </a:rPr>
              <a:t>        } else {</a:t>
            </a:r>
            <a:endParaRPr lang="en-US" sz="2000" dirty="0"/>
          </a:p>
          <a:p>
            <a:pPr marL="0" indent="0" algn="l">
              <a:lnSpc>
                <a:spcPts val="2500"/>
              </a:lnSpc>
              <a:buNone/>
            </a:pPr>
            <a:r>
              <a:rPr lang="en-US" sz="2000" dirty="0">
                <a:solidFill>
                  <a:srgbClr val="E5E7EB"/>
                </a:solidFill>
                <a:latin typeface="Consolas"/>
                <a:ea typeface="Consolas"/>
                <a:cs typeface="Consolas"/>
              </a:rPr>
              <a:t>            return -1;</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find 16 says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26</a:t>
            </a:r>
            <a:endParaRPr lang="en-US" sz="1400" dirty="0"/>
          </a:p>
        </p:txBody>
      </p:sp>
      <p:sp>
        <p:nvSpPr>
          <p:cNvPr id="6" name="Shape 6"/>
          <p:cNvSpPr/>
          <p:nvPr/>
        </p:nvSpPr>
        <p:spPr>
          <a:xfrm>
            <a:off x="548640" y="1261872"/>
            <a:ext cx="6766560" cy="3794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244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244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006852"/>
            <a:ext cx="6766560" cy="3810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006852"/>
            <a:ext cx="82296" cy="38100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3387852"/>
            <a:ext cx="6766560" cy="38100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3387852"/>
            <a:ext cx="82296" cy="381000"/>
          </a:xfrm>
          <a:prstGeom prst="rect">
            <a:avLst/>
          </a:prstGeom>
          <a:solidFill>
            <a:srgbClr val="F59E0B"/>
          </a:solidFill>
          <a:ln>
            <a:noFill/>
          </a:ln>
        </p:spPr>
        <p:txBody>
          <a:bodyPr wrap="square" lIns="0" tIns="0" rIns="0" bIns="0" rtlCol="0" anchor="t"/>
          <a:lstStyle/>
          <a:p>
            <a:endParaRPr lang="en-US"/>
          </a:p>
        </p:txBody>
      </p:sp>
      <p:sp>
        <p:nvSpPr>
          <p:cNvPr id="15" name="Shape 15"/>
          <p:cNvSpPr/>
          <p:nvPr/>
        </p:nvSpPr>
        <p:spPr>
          <a:xfrm>
            <a:off x="548640" y="3768852"/>
            <a:ext cx="6766560" cy="381000"/>
          </a:xfrm>
          <a:prstGeom prst="rect">
            <a:avLst/>
          </a:prstGeom>
          <a:solidFill>
            <a:srgbClr val="25406B"/>
          </a:solidFill>
          <a:ln>
            <a:noFill/>
          </a:ln>
        </p:spPr>
        <p:txBody>
          <a:bodyPr wrap="square" lIns="0" tIns="0" rIns="0" bIns="0" rtlCol="0" anchor="t"/>
          <a:lstStyle/>
          <a:p>
            <a:endParaRPr lang="en-US"/>
          </a:p>
        </p:txBody>
      </p:sp>
      <p:sp>
        <p:nvSpPr>
          <p:cNvPr id="16" name="Shape 16"/>
          <p:cNvSpPr/>
          <p:nvPr/>
        </p:nvSpPr>
        <p:spPr>
          <a:xfrm>
            <a:off x="548640" y="3768852"/>
            <a:ext cx="82296" cy="381000"/>
          </a:xfrm>
          <a:prstGeom prst="rect">
            <a:avLst/>
          </a:prstGeom>
          <a:solidFill>
            <a:srgbClr val="F59E0B"/>
          </a:solidFill>
          <a:ln>
            <a:noFill/>
          </a:ln>
        </p:spPr>
        <p:txBody>
          <a:bodyPr wrap="square" lIns="0" tIns="0" rIns="0" bIns="0" rtlCol="0" anchor="t"/>
          <a:lstStyle/>
          <a:p>
            <a:endParaRPr lang="en-US"/>
          </a:p>
        </p:txBody>
      </p:sp>
      <p:sp>
        <p:nvSpPr>
          <p:cNvPr id="17" name="Code"/>
          <p:cNvSpPr/>
          <p:nvPr/>
        </p:nvSpPr>
        <p:spPr>
          <a:xfrm>
            <a:off x="548640" y="1261872"/>
            <a:ext cx="6766560" cy="3794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find(int a[], int n, int target) {</a:t>
            </a:r>
            <a:endParaRPr lang="en-US" sz="2400" dirty="0"/>
          </a:p>
          <a:p>
            <a:pPr marL="0" indent="0" algn="l">
              <a:lnSpc>
                <a:spcPts val="3000"/>
              </a:lnSpc>
              <a:buNone/>
            </a:pPr>
            <a:r>
              <a:rPr lang="en-US" sz="2400" dirty="0">
                <a:solidFill>
                  <a:srgbClr val="64748B"/>
                </a:solidFill>
                <a:latin typeface="Consolas"/>
                <a:ea typeface="Consolas"/>
                <a:cs typeface="Consolas"/>
              </a:rPr>
              <a:t>    for (int i = 0; i &lt; n; i++) {</a:t>
            </a:r>
            <a:endParaRPr lang="en-US" sz="2400" dirty="0"/>
          </a:p>
          <a:p>
            <a:pPr marL="0" indent="0" algn="l">
              <a:lnSpc>
                <a:spcPts val="3000"/>
              </a:lnSpc>
              <a:buNone/>
            </a:pPr>
            <a:r>
              <a:rPr lang="en-US" sz="2400" dirty="0">
                <a:solidFill>
                  <a:srgbClr val="FFFFFF"/>
                </a:solidFill>
                <a:latin typeface="Consolas"/>
                <a:ea typeface="Consolas"/>
                <a:cs typeface="Consolas"/>
              </a:rPr>
              <a:t>        if (a[i] == target) {</a:t>
            </a:r>
            <a:endParaRPr lang="en-US" sz="2400" dirty="0"/>
          </a:p>
          <a:p>
            <a:pPr marL="0" indent="0" algn="l">
              <a:lnSpc>
                <a:spcPts val="3000"/>
              </a:lnSpc>
              <a:buNone/>
            </a:pPr>
            <a:r>
              <a:rPr lang="en-US" sz="2400" dirty="0">
                <a:solidFill>
                  <a:srgbClr val="FFFFFF"/>
                </a:solidFill>
                <a:latin typeface="Consolas"/>
                <a:ea typeface="Consolas"/>
                <a:cs typeface="Consolas"/>
              </a:rPr>
              <a:t>            return i;</a:t>
            </a:r>
            <a:endParaRPr lang="en-US" sz="2400" dirty="0"/>
          </a:p>
          <a:p>
            <a:pPr marL="0" indent="0" algn="l">
              <a:lnSpc>
                <a:spcPts val="3000"/>
              </a:lnSpc>
              <a:buNone/>
            </a:pPr>
            <a:r>
              <a:rPr lang="en-US" sz="2400" dirty="0">
                <a:solidFill>
                  <a:srgbClr val="FFFFFF"/>
                </a:solidFill>
                <a:latin typeface="Consolas"/>
                <a:ea typeface="Consolas"/>
                <a:cs typeface="Consolas"/>
              </a:rPr>
              <a:t>        } else {</a:t>
            </a:r>
            <a:endParaRPr lang="en-US" sz="2400" dirty="0"/>
          </a:p>
          <a:p>
            <a:pPr marL="0" indent="0" algn="l">
              <a:lnSpc>
                <a:spcPts val="3000"/>
              </a:lnSpc>
              <a:buNone/>
            </a:pPr>
            <a:r>
              <a:rPr lang="en-US" sz="2400" dirty="0">
                <a:solidFill>
                  <a:srgbClr val="FFFFFF"/>
                </a:solidFill>
                <a:latin typeface="Consolas"/>
                <a:ea typeface="Consolas"/>
                <a:cs typeface="Consolas"/>
              </a:rPr>
              <a:t>            return -1;</a:t>
            </a:r>
            <a:endParaRPr lang="en-US" sz="2400" dirty="0"/>
          </a:p>
          <a:p>
            <a:pPr marL="0" indent="0" algn="l">
              <a:lnSpc>
                <a:spcPts val="3000"/>
              </a:lnSpc>
              <a:buNone/>
            </a:pPr>
            <a:r>
              <a:rPr lang="en-US" sz="2400" dirty="0">
                <a:solidFill>
                  <a:srgbClr val="FFFFFF"/>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8" name="Shape 18"/>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9" name="Shape 19"/>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20"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find 4: 0</a:t>
            </a:r>
            <a:endParaRPr lang="en-US" sz="2400" dirty="0"/>
          </a:p>
          <a:p>
            <a:pPr marL="0" indent="0" algn="l">
              <a:lnSpc>
                <a:spcPts val="3000"/>
              </a:lnSpc>
              <a:buNone/>
            </a:pPr>
            <a:r>
              <a:rPr lang="en-US" sz="2400" dirty="0">
                <a:solidFill>
                  <a:srgbClr val="D1FAE5"/>
                </a:solidFill>
                <a:latin typeface="Consolas"/>
                <a:ea typeface="Consolas"/>
                <a:cs typeface="Consolas"/>
              </a:rPr>
              <a:t>find 16: -1</a:t>
            </a:r>
            <a:endParaRPr lang="en-US" sz="2400" dirty="0"/>
          </a:p>
        </p:txBody>
      </p:sp>
      <p:sp>
        <p:nvSpPr>
          <p:cNvPr id="21" name="Shape 21"/>
          <p:cNvSpPr/>
          <p:nvPr/>
        </p:nvSpPr>
        <p:spPr>
          <a:xfrm>
            <a:off x="7589520" y="3048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2" name="Shape 22"/>
          <p:cNvSpPr/>
          <p:nvPr/>
        </p:nvSpPr>
        <p:spPr>
          <a:xfrm>
            <a:off x="7589520" y="3048000"/>
            <a:ext cx="109728" cy="1051560"/>
          </a:xfrm>
          <a:prstGeom prst="rect">
            <a:avLst/>
          </a:prstGeom>
          <a:solidFill>
            <a:srgbClr val="FF6B6B"/>
          </a:solidFill>
          <a:ln>
            <a:noFill/>
          </a:ln>
        </p:spPr>
        <p:txBody>
          <a:bodyPr wrap="square" lIns="0" tIns="0" rIns="0" bIns="0" rtlCol="0" anchor="t"/>
          <a:lstStyle/>
          <a:p>
            <a:endParaRPr lang="en-US"/>
          </a:p>
        </p:txBody>
      </p:sp>
      <p:sp>
        <p:nvSpPr>
          <p:cNvPr id="23" name="Callout"/>
          <p:cNvSpPr/>
          <p:nvPr/>
        </p:nvSpPr>
        <p:spPr>
          <a:xfrm>
            <a:off x="7699248" y="3048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a[0]</a:t>
            </a:r>
            <a:r>
              <a:rPr lang="en-US" sz="2400" dirty="0">
                <a:solidFill>
                  <a:srgbClr val="18324A"/>
                </a:solidFill>
              </a:rPr>
              <a:t> is 4, not 16: </a:t>
            </a:r>
            <a:r>
              <a:rPr lang="en-US" sz="2400" dirty="0">
                <a:solidFill>
                  <a:srgbClr val="18324A"/>
                </a:solidFill>
                <a:latin typeface="Consolas"/>
                <a:ea typeface="Consolas"/>
                <a:cs typeface="Consolas"/>
              </a:rPr>
              <a:t>return -1</a:t>
            </a:r>
            <a:r>
              <a:rPr lang="en-US" sz="2400" dirty="0">
                <a:solidFill>
                  <a:srgbClr val="18324A"/>
                </a:solidFill>
              </a:rPr>
              <a:t> at once.</a:t>
            </a:r>
            <a:endParaRPr lang="en-US" sz="2400" dirty="0"/>
          </a:p>
        </p:txBody>
      </p:sp>
      <p:sp>
        <p:nvSpPr>
          <p:cNvPr id="24" name="Shape 24"/>
          <p:cNvSpPr/>
          <p:nvPr/>
        </p:nvSpPr>
        <p:spPr>
          <a:xfrm>
            <a:off x="7589520" y="4300728"/>
            <a:ext cx="405353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5" name="Shape 25"/>
          <p:cNvSpPr/>
          <p:nvPr/>
        </p:nvSpPr>
        <p:spPr>
          <a:xfrm>
            <a:off x="7589520" y="4300728"/>
            <a:ext cx="109728" cy="685800"/>
          </a:xfrm>
          <a:prstGeom prst="rect">
            <a:avLst/>
          </a:prstGeom>
          <a:solidFill>
            <a:srgbClr val="FF6B6B"/>
          </a:solidFill>
          <a:ln>
            <a:noFill/>
          </a:ln>
        </p:spPr>
        <p:txBody>
          <a:bodyPr wrap="square" lIns="0" tIns="0" rIns="0" bIns="0" rtlCol="0" anchor="t"/>
          <a:lstStyle/>
          <a:p>
            <a:endParaRPr lang="en-US"/>
          </a:p>
        </p:txBody>
      </p:sp>
      <p:sp>
        <p:nvSpPr>
          <p:cNvPr id="26" name="Callout"/>
          <p:cNvSpPr/>
          <p:nvPr/>
        </p:nvSpPr>
        <p:spPr>
          <a:xfrm>
            <a:off x="7699248" y="4300728"/>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16 was never looked at.</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gcc saw something too</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27</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F59E0B"/>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"Not found" is only true </a:t>
            </a:r>
            <a:r>
              <a:rPr lang="en-US" sz="2400" b="1" dirty="0">
                <a:solidFill>
                  <a:srgbClr val="18324A"/>
                </a:solidFill>
              </a:rPr>
              <a:t>after</a:t>
            </a:r>
            <a:r>
              <a:rPr lang="en-US" sz="2400" dirty="0">
                <a:solidFill>
                  <a:srgbClr val="18324A"/>
                </a:solidFill>
              </a:rPr>
              <a:t> the loop has seen every element. Delete the </a:t>
            </a:r>
            <a:r>
              <a:rPr lang="en-US" sz="2400" dirty="0">
                <a:solidFill>
                  <a:srgbClr val="18324A"/>
                </a:solidFill>
                <a:latin typeface="Consolas"/>
                <a:ea typeface="Consolas"/>
                <a:cs typeface="Consolas"/>
              </a:rPr>
              <a:t>else</a:t>
            </a:r>
            <a:r>
              <a:rPr lang="en-US" sz="2400" dirty="0">
                <a:solidFill>
                  <a:srgbClr val="18324A"/>
                </a:solidFill>
              </a:rPr>
              <a:t>; put </a:t>
            </a:r>
            <a:r>
              <a:rPr lang="en-US" sz="2400" dirty="0">
                <a:solidFill>
                  <a:srgbClr val="18324A"/>
                </a:solidFill>
                <a:latin typeface="Consolas"/>
                <a:ea typeface="Consolas"/>
                <a:cs typeface="Consolas"/>
              </a:rPr>
              <a:t>return -1;</a:t>
            </a:r>
            <a:r>
              <a:rPr lang="en-US" sz="2400" dirty="0">
                <a:solidFill>
                  <a:srgbClr val="18324A"/>
                </a:solidFill>
              </a:rPr>
              <a:t> after the loop.</a:t>
            </a:r>
            <a:endParaRPr lang="en-US" sz="2400" dirty="0"/>
          </a:p>
        </p:txBody>
      </p:sp>
      <p:sp>
        <p:nvSpPr>
          <p:cNvPr id="9" name="Shape 9"/>
          <p:cNvSpPr/>
          <p:nvPr/>
        </p:nvSpPr>
        <p:spPr>
          <a:xfrm>
            <a:off x="548640" y="1261872"/>
            <a:ext cx="6766560" cy="35090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4273677"/>
            <a:ext cx="676656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766560" cy="3509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find(int a[], int n, int target) {</a:t>
            </a:r>
            <a:endParaRPr lang="en-US" sz="2200" dirty="0"/>
          </a:p>
          <a:p>
            <a:pPr marL="0" indent="0" algn="l">
              <a:lnSpc>
                <a:spcPts val="2750"/>
              </a:lnSpc>
              <a:buNone/>
            </a:pPr>
            <a:r>
              <a:rPr lang="en-US" sz="2200" dirty="0">
                <a:solidFill>
                  <a:srgbClr val="64748B"/>
                </a:solidFill>
                <a:latin typeface="Consolas"/>
                <a:ea typeface="Consolas"/>
                <a:cs typeface="Consolas"/>
              </a:rPr>
              <a:t>    for (int i = 0; i &lt; n; i++) {</a:t>
            </a:r>
            <a:endParaRPr lang="en-US" sz="2200" dirty="0"/>
          </a:p>
          <a:p>
            <a:pPr marL="0" indent="0" algn="l">
              <a:lnSpc>
                <a:spcPts val="2750"/>
              </a:lnSpc>
              <a:buNone/>
            </a:pPr>
            <a:r>
              <a:rPr lang="en-US" sz="2200" dirty="0">
                <a:solidFill>
                  <a:srgbClr val="64748B"/>
                </a:solidFill>
                <a:latin typeface="Consolas"/>
                <a:ea typeface="Consolas"/>
                <a:cs typeface="Consolas"/>
              </a:rPr>
              <a:t>        if (a[i] == target) {</a:t>
            </a:r>
            <a:endParaRPr lang="en-US" sz="2200" dirty="0"/>
          </a:p>
          <a:p>
            <a:pPr marL="0" indent="0" algn="l">
              <a:lnSpc>
                <a:spcPts val="2750"/>
              </a:lnSpc>
              <a:buNone/>
            </a:pPr>
            <a:r>
              <a:rPr lang="en-US" sz="2200" dirty="0">
                <a:solidFill>
                  <a:srgbClr val="64748B"/>
                </a:solidFill>
                <a:latin typeface="Consolas"/>
                <a:ea typeface="Consolas"/>
                <a:cs typeface="Consolas"/>
              </a:rPr>
              <a:t>            return i;</a:t>
            </a:r>
            <a:endParaRPr lang="en-US" sz="2200" dirty="0"/>
          </a:p>
          <a:p>
            <a:pPr marL="0" indent="0" algn="l">
              <a:lnSpc>
                <a:spcPts val="2750"/>
              </a:lnSpc>
              <a:buNone/>
            </a:pPr>
            <a:r>
              <a:rPr lang="en-US" sz="2200" dirty="0">
                <a:solidFill>
                  <a:srgbClr val="64748B"/>
                </a:solidFill>
                <a:latin typeface="Consolas"/>
                <a:ea typeface="Consolas"/>
                <a:cs typeface="Consolas"/>
              </a:rPr>
              <a:t>        } else {</a:t>
            </a:r>
            <a:endParaRPr lang="en-US" sz="2200" dirty="0"/>
          </a:p>
          <a:p>
            <a:pPr marL="0" indent="0" algn="l">
              <a:lnSpc>
                <a:spcPts val="2750"/>
              </a:lnSpc>
              <a:buNone/>
            </a:pPr>
            <a:r>
              <a:rPr lang="en-US" sz="2200" dirty="0">
                <a:solidFill>
                  <a:srgbClr val="64748B"/>
                </a:solidFill>
                <a:latin typeface="Consolas"/>
                <a:ea typeface="Consolas"/>
                <a:cs typeface="Consolas"/>
              </a:rPr>
              <a:t>            return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a:t>
            </a:r>
            <a:endParaRPr lang="en-US" sz="2200" dirty="0"/>
          </a:p>
        </p:txBody>
      </p:sp>
      <p:sp>
        <p:nvSpPr>
          <p:cNvPr id="13" name="Shape 13"/>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gcc -Wall says</a:t>
            </a:r>
            <a:endParaRPr lang="en-US" sz="1600" dirty="0"/>
          </a:p>
        </p:txBody>
      </p:sp>
      <p:sp>
        <p:nvSpPr>
          <p:cNvPr id="14" name="Shape 14"/>
          <p:cNvSpPr/>
          <p:nvPr/>
        </p:nvSpPr>
        <p:spPr>
          <a:xfrm>
            <a:off x="7589520" y="1645920"/>
            <a:ext cx="4053535" cy="1508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7589520" y="1645920"/>
            <a:ext cx="4053535" cy="1508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warning: control</a:t>
            </a:r>
            <a:endParaRPr lang="en-US" sz="2400" dirty="0"/>
          </a:p>
          <a:p>
            <a:pPr marL="0" indent="0" algn="l">
              <a:lnSpc>
                <a:spcPts val="3000"/>
              </a:lnSpc>
              <a:buNone/>
            </a:pPr>
            <a:r>
              <a:rPr lang="en-US" sz="2400" dirty="0">
                <a:solidFill>
                  <a:srgbClr val="D1FAE5"/>
                </a:solidFill>
                <a:latin typeface="Consolas"/>
                <a:ea typeface="Consolas"/>
                <a:cs typeface="Consolas"/>
              </a:rPr>
              <a:t>reaches end of</a:t>
            </a:r>
            <a:endParaRPr lang="en-US" sz="2400" dirty="0"/>
          </a:p>
          <a:p>
            <a:pPr marL="0" indent="0" algn="l">
              <a:lnSpc>
                <a:spcPts val="3000"/>
              </a:lnSpc>
              <a:buNone/>
            </a:pPr>
            <a:r>
              <a:rPr lang="en-US" sz="2400" dirty="0">
                <a:solidFill>
                  <a:srgbClr val="D1FAE5"/>
                </a:solidFill>
                <a:latin typeface="Consolas"/>
                <a:ea typeface="Consolas"/>
                <a:cs typeface="Consolas"/>
              </a:rPr>
              <a:t>non-void function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Predict: count the sixes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28</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The rolls are</a:t>
            </a:r>
            <a:endParaRPr lang="en-US" sz="3200" dirty="0"/>
          </a:p>
          <a:p>
            <a:pPr marL="0" indent="0" algn="l">
              <a:spcAft>
                <a:spcPts val="600"/>
              </a:spcAft>
              <a:buNone/>
            </a:pPr>
            <a:r>
              <a:rPr lang="en-US" sz="3200" dirty="0">
                <a:solidFill>
                  <a:srgbClr val="2F80ED"/>
                </a:solidFill>
                <a:latin typeface="Consolas"/>
                <a:ea typeface="Consolas"/>
                <a:cs typeface="Consolas"/>
              </a:rPr>
              <a:t>3 6 2 6 1 6 4 2 5 6</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How many sixes?</a:t>
            </a:r>
            <a:endParaRPr lang="en-US" sz="3200" dirty="0"/>
          </a:p>
          <a:p>
            <a:pPr marL="0" indent="0" algn="l">
              <a:spcAft>
                <a:spcPts val="600"/>
              </a:spcAft>
              <a:buNone/>
            </a:pPr>
            <a:r>
              <a:rPr lang="en-US" sz="3200" dirty="0">
                <a:solidFill>
                  <a:srgbClr val="18324A"/>
                </a:solidFill>
              </a:rPr>
              <a:t>How many twos?</a:t>
            </a:r>
            <a:endParaRPr lang="en-US" sz="3200" dirty="0"/>
          </a:p>
        </p:txBody>
      </p:sp>
      <p:sp>
        <p:nvSpPr>
          <p:cNvPr id="8" name="Shape 8"/>
          <p:cNvSpPr/>
          <p:nvPr/>
        </p:nvSpPr>
        <p:spPr>
          <a:xfrm>
            <a:off x="5760720" y="1261872"/>
            <a:ext cx="5882335" cy="32232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22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count(int a[], int n, int value) {</a:t>
            </a:r>
            <a:endParaRPr lang="en-US" sz="2000" dirty="0"/>
          </a:p>
          <a:p>
            <a:pPr marL="0" indent="0" algn="l">
              <a:lnSpc>
                <a:spcPts val="2500"/>
              </a:lnSpc>
              <a:buNone/>
            </a:pPr>
            <a:r>
              <a:rPr lang="en-US" sz="2000" dirty="0">
                <a:solidFill>
                  <a:srgbClr val="E5E7EB"/>
                </a:solidFill>
                <a:latin typeface="Consolas"/>
                <a:ea typeface="Consolas"/>
                <a:cs typeface="Consolas"/>
              </a:rPr>
              <a:t>    int c = 0;</a:t>
            </a:r>
            <a:endParaRPr lang="en-US" sz="2000" dirty="0"/>
          </a:p>
          <a:p>
            <a:pPr marL="0" indent="0" algn="l">
              <a:lnSpc>
                <a:spcPts val="2500"/>
              </a:lnSpc>
              <a:buNone/>
            </a:pPr>
            <a:r>
              <a:rPr lang="en-US" sz="2000" dirty="0">
                <a:solidFill>
                  <a:srgbClr val="E5E7EB"/>
                </a:solidFill>
                <a:latin typeface="Consolas"/>
                <a:ea typeface="Consolas"/>
                <a:cs typeface="Consolas"/>
              </a:rPr>
              <a:t>    for (int i = 0; i &lt; n; i++) {</a:t>
            </a:r>
            <a:endParaRPr lang="en-US" sz="2000" dirty="0"/>
          </a:p>
          <a:p>
            <a:pPr marL="0" indent="0" algn="l">
              <a:lnSpc>
                <a:spcPts val="2500"/>
              </a:lnSpc>
              <a:buNone/>
            </a:pPr>
            <a:r>
              <a:rPr lang="en-US" sz="2000" dirty="0">
                <a:solidFill>
                  <a:srgbClr val="E5E7EB"/>
                </a:solidFill>
                <a:latin typeface="Consolas"/>
                <a:ea typeface="Consolas"/>
                <a:cs typeface="Consolas"/>
              </a:rPr>
              <a:t>        if (a[i] == value) {</a:t>
            </a:r>
            <a:endParaRPr lang="en-US" sz="2000" dirty="0"/>
          </a:p>
          <a:p>
            <a:pPr marL="0" indent="0" algn="l">
              <a:lnSpc>
                <a:spcPts val="2500"/>
              </a:lnSpc>
              <a:buNone/>
            </a:pPr>
            <a:r>
              <a:rPr lang="en-US" sz="2000" dirty="0">
                <a:solidFill>
                  <a:srgbClr val="E5E7EB"/>
                </a:solidFill>
                <a:latin typeface="Consolas"/>
                <a:ea typeface="Consolas"/>
                <a:cs typeface="Consolas"/>
              </a:rPr>
              <a:t>            c++;</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    return c;</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Counting: no break</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29</a:t>
            </a:r>
            <a:endParaRPr lang="en-US" sz="1400" dirty="0"/>
          </a:p>
        </p:txBody>
      </p:sp>
      <p:sp>
        <p:nvSpPr>
          <p:cNvPr id="6" name="Shape 6"/>
          <p:cNvSpPr/>
          <p:nvPr/>
        </p:nvSpPr>
        <p:spPr>
          <a:xfrm>
            <a:off x="548640" y="1261872"/>
            <a:ext cx="6766560" cy="3794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863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863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006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006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3794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count(int a[], int n, int value) {</a:t>
            </a:r>
            <a:endParaRPr lang="en-US" sz="2400" dirty="0"/>
          </a:p>
          <a:p>
            <a:pPr marL="0" indent="0" algn="l">
              <a:lnSpc>
                <a:spcPts val="3000"/>
              </a:lnSpc>
              <a:buNone/>
            </a:pPr>
            <a:r>
              <a:rPr lang="en-US" sz="2400" dirty="0">
                <a:solidFill>
                  <a:srgbClr val="FFFFFF"/>
                </a:solidFill>
                <a:latin typeface="Consolas"/>
                <a:ea typeface="Consolas"/>
                <a:cs typeface="Consolas"/>
              </a:rPr>
              <a:t>    int c = 0;</a:t>
            </a:r>
            <a:endParaRPr lang="en-US" sz="2400" dirty="0"/>
          </a:p>
          <a:p>
            <a:pPr marL="0" indent="0" algn="l">
              <a:lnSpc>
                <a:spcPts val="3000"/>
              </a:lnSpc>
              <a:buNone/>
            </a:pPr>
            <a:r>
              <a:rPr lang="en-US" sz="2400" dirty="0">
                <a:solidFill>
                  <a:srgbClr val="64748B"/>
                </a:solidFill>
                <a:latin typeface="Consolas"/>
                <a:ea typeface="Consolas"/>
                <a:cs typeface="Consolas"/>
              </a:rPr>
              <a:t>    for (int i = 0; i &lt; n; i++) {</a:t>
            </a:r>
            <a:endParaRPr lang="en-US" sz="2400" dirty="0"/>
          </a:p>
          <a:p>
            <a:pPr marL="0" indent="0" algn="l">
              <a:lnSpc>
                <a:spcPts val="3000"/>
              </a:lnSpc>
              <a:buNone/>
            </a:pPr>
            <a:r>
              <a:rPr lang="en-US" sz="2400" dirty="0">
                <a:solidFill>
                  <a:srgbClr val="64748B"/>
                </a:solidFill>
                <a:latin typeface="Consolas"/>
                <a:ea typeface="Consolas"/>
                <a:cs typeface="Consolas"/>
              </a:rPr>
              <a:t>        if (a[i] == value) {</a:t>
            </a:r>
            <a:endParaRPr lang="en-US" sz="2400" dirty="0"/>
          </a:p>
          <a:p>
            <a:pPr marL="0" indent="0" algn="l">
              <a:lnSpc>
                <a:spcPts val="3000"/>
              </a:lnSpc>
              <a:buNone/>
            </a:pPr>
            <a:r>
              <a:rPr lang="en-US" sz="2400" dirty="0">
                <a:solidFill>
                  <a:srgbClr val="FFFFFF"/>
                </a:solidFill>
                <a:latin typeface="Consolas"/>
                <a:ea typeface="Consolas"/>
                <a:cs typeface="Consolas"/>
              </a:rPr>
              <a:t>            c++;</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return c;</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sixes: 4</a:t>
            </a:r>
            <a:endParaRPr lang="en-US" sz="2400" dirty="0"/>
          </a:p>
          <a:p>
            <a:pPr marL="0" indent="0" algn="l">
              <a:lnSpc>
                <a:spcPts val="3000"/>
              </a:lnSpc>
              <a:buNone/>
            </a:pPr>
            <a:r>
              <a:rPr lang="en-US" sz="2400" dirty="0">
                <a:solidFill>
                  <a:srgbClr val="D1FAE5"/>
                </a:solidFill>
                <a:latin typeface="Consolas"/>
                <a:ea typeface="Consolas"/>
                <a:cs typeface="Consolas"/>
              </a:rPr>
              <a:t>twos: 2</a:t>
            </a:r>
            <a:endParaRPr lang="en-US" sz="2400" dirty="0"/>
          </a:p>
        </p:txBody>
      </p:sp>
      <p:sp>
        <p:nvSpPr>
          <p:cNvPr id="15" name="Shape 15"/>
          <p:cNvSpPr/>
          <p:nvPr/>
        </p:nvSpPr>
        <p:spPr>
          <a:xfrm>
            <a:off x="7589520" y="304800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6" name="Shape 16"/>
          <p:cNvSpPr/>
          <p:nvPr/>
        </p:nvSpPr>
        <p:spPr>
          <a:xfrm>
            <a:off x="7589520" y="3048000"/>
            <a:ext cx="109728" cy="1051560"/>
          </a:xfrm>
          <a:prstGeom prst="rect">
            <a:avLst/>
          </a:prstGeom>
          <a:solidFill>
            <a:srgbClr val="2F80ED"/>
          </a:solidFill>
          <a:ln>
            <a:noFill/>
          </a:ln>
        </p:spPr>
        <p:txBody>
          <a:bodyPr wrap="square" lIns="0" tIns="0" rIns="0" bIns="0" rtlCol="0" anchor="t"/>
          <a:lstStyle/>
          <a:p>
            <a:endParaRPr lang="en-US"/>
          </a:p>
        </p:txBody>
      </p:sp>
      <p:sp>
        <p:nvSpPr>
          <p:cNvPr id="17" name="Callout"/>
          <p:cNvSpPr/>
          <p:nvPr/>
        </p:nvSpPr>
        <p:spPr>
          <a:xfrm>
            <a:off x="7699248" y="3048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Count </a:t>
            </a:r>
            <a:r>
              <a:rPr lang="en-US" sz="2400" b="1" dirty="0">
                <a:solidFill>
                  <a:srgbClr val="18324A"/>
                </a:solidFill>
              </a:rPr>
              <a:t>all</a:t>
            </a:r>
            <a:r>
              <a:rPr lang="en-US" sz="2400" dirty="0">
                <a:solidFill>
                  <a:srgbClr val="18324A"/>
                </a:solidFill>
              </a:rPr>
              <a:t> of them: the loop never stops early.</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Search or count?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30</a:t>
            </a:r>
            <a:endParaRPr lang="en-US" sz="1400" dirty="0"/>
          </a:p>
        </p:txBody>
      </p:sp>
      <p:sp>
        <p:nvSpPr>
          <p:cNvPr id="6" name="Shape 6"/>
          <p:cNvSpPr/>
          <p:nvPr/>
        </p:nvSpPr>
        <p:spPr>
          <a:xfrm>
            <a:off x="548640" y="1536192"/>
            <a:ext cx="5432908"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Search</a:t>
            </a:r>
            <a:endParaRPr lang="en-US" sz="2600" dirty="0"/>
          </a:p>
        </p:txBody>
      </p:sp>
      <p:sp>
        <p:nvSpPr>
          <p:cNvPr id="7" name="Shape 7"/>
          <p:cNvSpPr/>
          <p:nvPr/>
        </p:nvSpPr>
        <p:spPr>
          <a:xfrm>
            <a:off x="548640" y="2267712"/>
            <a:ext cx="5432908"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Is it there? </a:t>
            </a:r>
            <a:r>
              <a:rPr lang="en-US" sz="2400" b="1" dirty="0">
                <a:solidFill>
                  <a:srgbClr val="18324A"/>
                </a:solidFill>
              </a:rPr>
              <a:t>Where</a:t>
            </a:r>
            <a:r>
              <a:rPr lang="en-US" sz="2400" dirty="0">
                <a:solidFill>
                  <a:srgbClr val="18324A"/>
                </a:solidFill>
              </a:rPr>
              <a:t>?</a:t>
            </a:r>
            <a:endParaRPr lang="en-US" sz="2400" dirty="0"/>
          </a:p>
          <a:p>
            <a:pPr marL="0" indent="0" algn="ctr">
              <a:spcAft>
                <a:spcPts val="600"/>
              </a:spcAft>
              <a:buNone/>
            </a:pPr>
            <a:r>
              <a:rPr lang="en-US" sz="2400" dirty="0">
                <a:solidFill>
                  <a:srgbClr val="18324A"/>
                </a:solidFill>
              </a:rPr>
              <a:t>Stop at the first one.</a:t>
            </a:r>
            <a:endParaRPr lang="en-US" sz="2400" dirty="0"/>
          </a:p>
          <a:p>
            <a:pPr marL="0" indent="0" algn="ctr">
              <a:spcAft>
                <a:spcPts val="600"/>
              </a:spcAft>
              <a:buNone/>
            </a:pPr>
            <a:r>
              <a:rPr lang="en-US" sz="2400" dirty="0">
                <a:solidFill>
                  <a:srgbClr val="2F80ED"/>
                </a:solidFill>
                <a:latin typeface="Consolas"/>
                <a:ea typeface="Consolas"/>
                <a:cs typeface="Consolas"/>
              </a:rPr>
              <a:t>return i;</a:t>
            </a:r>
            <a:r>
              <a:rPr lang="en-US" sz="2400" dirty="0">
                <a:solidFill>
                  <a:srgbClr val="18324A"/>
                </a:solidFill>
              </a:rPr>
              <a:t> or -1</a:t>
            </a:r>
            <a:endParaRPr lang="en-US" sz="2400" dirty="0"/>
          </a:p>
        </p:txBody>
      </p:sp>
      <p:sp>
        <p:nvSpPr>
          <p:cNvPr id="8" name="Shape 8"/>
          <p:cNvSpPr/>
          <p:nvPr/>
        </p:nvSpPr>
        <p:spPr>
          <a:xfrm>
            <a:off x="6210148" y="1536192"/>
            <a:ext cx="5432908"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Count</a:t>
            </a:r>
            <a:endParaRPr lang="en-US" sz="2600" dirty="0"/>
          </a:p>
        </p:txBody>
      </p:sp>
      <p:sp>
        <p:nvSpPr>
          <p:cNvPr id="9" name="Shape 9"/>
          <p:cNvSpPr/>
          <p:nvPr/>
        </p:nvSpPr>
        <p:spPr>
          <a:xfrm>
            <a:off x="6210148" y="2267712"/>
            <a:ext cx="5432908"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b="1" dirty="0">
                <a:solidFill>
                  <a:srgbClr val="18324A"/>
                </a:solidFill>
              </a:rPr>
              <a:t>How many</a:t>
            </a:r>
            <a:r>
              <a:rPr lang="en-US" sz="2400" dirty="0">
                <a:solidFill>
                  <a:srgbClr val="18324A"/>
                </a:solidFill>
              </a:rPr>
              <a:t>?</a:t>
            </a:r>
            <a:endParaRPr lang="en-US" sz="2400" dirty="0"/>
          </a:p>
          <a:p>
            <a:pPr marL="0" indent="0" algn="ctr">
              <a:spcAft>
                <a:spcPts val="600"/>
              </a:spcAft>
              <a:buNone/>
            </a:pPr>
            <a:r>
              <a:rPr lang="en-US" sz="2400" dirty="0">
                <a:solidFill>
                  <a:srgbClr val="18324A"/>
                </a:solidFill>
              </a:rPr>
              <a:t>Look at all of them.</a:t>
            </a:r>
            <a:endParaRPr lang="en-US" sz="2400" dirty="0"/>
          </a:p>
          <a:p>
            <a:pPr marL="0" indent="0" algn="ctr">
              <a:spcAft>
                <a:spcPts val="600"/>
              </a:spcAft>
              <a:buNone/>
            </a:pPr>
            <a:r>
              <a:rPr lang="en-US" sz="2400" dirty="0">
                <a:solidFill>
                  <a:srgbClr val="2F80ED"/>
                </a:solidFill>
                <a:latin typeface="Consolas"/>
                <a:ea typeface="Consolas"/>
                <a:cs typeface="Consolas"/>
              </a:rPr>
              <a:t>c++</a:t>
            </a:r>
            <a:r>
              <a:rPr lang="en-US" sz="2400" dirty="0">
                <a:solidFill>
                  <a:srgbClr val="18324A"/>
                </a:solidFill>
              </a:rPr>
              <a:t> inside the </a:t>
            </a:r>
            <a:r>
              <a:rPr lang="en-US" sz="2400" dirty="0">
                <a:solidFill>
                  <a:srgbClr val="2F80ED"/>
                </a:solidFill>
                <a:latin typeface="Consolas"/>
                <a:ea typeface="Consolas"/>
                <a:cs typeface="Consolas"/>
              </a:rPr>
              <a:t>if</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59E0B"/>
          </a:solidFill>
          <a:ln>
            <a:noFill/>
          </a:ln>
        </p:spPr>
        <p:txBody>
          <a:bodyPr wrap="square" lIns="0" tIns="0" rIns="0" bIns="0" rtlCol="0" anchor="ctr"/>
          <a:lstStyle/>
          <a:p>
            <a:pPr marL="0" indent="0" algn="ctr">
              <a:buNone/>
            </a:pPr>
            <a:r>
              <a:rPr lang="en-US" sz="5400" b="1" dirty="0">
                <a:solidFill>
                  <a:srgbClr val="FFFFFF"/>
                </a:solidFill>
              </a:rPr>
              <a:t>3</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Smallest and largest</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The best so far</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10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best so far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32</a:t>
            </a:r>
            <a:endParaRPr lang="en-US" sz="1400" dirty="0"/>
          </a:p>
        </p:txBody>
      </p:sp>
      <p:sp>
        <p:nvSpPr>
          <p:cNvPr id="6" name="Shape 6"/>
          <p:cNvSpPr/>
          <p:nvPr/>
        </p:nvSpPr>
        <p:spPr>
          <a:xfrm>
            <a:off x="548640" y="1399032"/>
            <a:ext cx="109728" cy="7924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Start with the first element as the best.</a:t>
            </a:r>
            <a:endParaRPr lang="en-US" sz="4000" dirty="0"/>
          </a:p>
        </p:txBody>
      </p:sp>
      <p:sp>
        <p:nvSpPr>
          <p:cNvPr id="8" name="Shape 8"/>
          <p:cNvSpPr/>
          <p:nvPr/>
        </p:nvSpPr>
        <p:spPr>
          <a:xfrm>
            <a:off x="914400" y="26029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Look at each of the others.</a:t>
            </a:r>
            <a:endParaRPr lang="en-US" sz="3000" dirty="0"/>
          </a:p>
          <a:p>
            <a:pPr marL="0" indent="0" algn="l">
              <a:spcAft>
                <a:spcPts val="1600"/>
              </a:spcAft>
              <a:buNone/>
            </a:pPr>
            <a:r>
              <a:rPr lang="en-US" sz="3000" dirty="0">
                <a:solidFill>
                  <a:srgbClr val="18324A"/>
                </a:solidFill>
              </a:rPr>
              <a:t>Better than the best? It is the new best.</a:t>
            </a:r>
            <a:endParaRPr lang="en-US" sz="3000" dirty="0"/>
          </a:p>
          <a:p>
            <a:pPr marL="0" indent="0" algn="l">
              <a:spcAft>
                <a:spcPts val="1600"/>
              </a:spcAft>
              <a:buNone/>
            </a:pPr>
            <a:r>
              <a:rPr lang="en-US" sz="3000" dirty="0">
                <a:solidFill>
                  <a:srgbClr val="18324A"/>
                </a:solidFill>
              </a:rPr>
              <a:t>At the end, the best so far is the best of all.</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Like a high-jump contest: the first jump sets the record; each better jump replaces it.</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Largest of 12, 45, 7, 30, 19</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33</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max</a:t>
            </a:r>
            <a:r>
              <a:rPr lang="en-US" sz="2400" dirty="0">
                <a:solidFill>
                  <a:srgbClr val="18324A"/>
                </a:solidFill>
              </a:rPr>
              <a:t> starts as </a:t>
            </a:r>
            <a:r>
              <a:rPr lang="en-US" sz="2400" dirty="0">
                <a:solidFill>
                  <a:srgbClr val="18324A"/>
                </a:solidFill>
                <a:latin typeface="Consolas"/>
                <a:ea typeface="Consolas"/>
                <a:cs typeface="Consolas"/>
              </a:rPr>
              <a:t>a[0]</a:t>
            </a:r>
            <a:r>
              <a:rPr lang="en-US" sz="2400" dirty="0">
                <a:solidFill>
                  <a:srgbClr val="18324A"/>
                </a:solidFill>
              </a:rPr>
              <a:t>, 12. So the loop starts at </a:t>
            </a:r>
            <a:r>
              <a:rPr lang="en-US" sz="2400" dirty="0">
                <a:solidFill>
                  <a:srgbClr val="18324A"/>
                </a:solidFill>
                <a:latin typeface="Consolas"/>
                <a:ea typeface="Consolas"/>
                <a:cs typeface="Consolas"/>
              </a:rPr>
              <a:t>i = 1</a:t>
            </a:r>
            <a:r>
              <a:rPr lang="en-US" sz="2400" dirty="0">
                <a:solidFill>
                  <a:srgbClr val="18324A"/>
                </a:solidFill>
              </a:rPr>
              <a:t>.</a:t>
            </a:r>
            <a:endParaRPr lang="en-US" sz="2400" dirty="0"/>
          </a:p>
        </p:txBody>
      </p:sp>
      <p:sp>
        <p:nvSpPr>
          <p:cNvPr id="9" name="Shape 9"/>
          <p:cNvSpPr/>
          <p:nvPr/>
        </p:nvSpPr>
        <p:spPr>
          <a:xfrm>
            <a:off x="548640" y="1261872"/>
            <a:ext cx="5669280" cy="3413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1863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1863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a[N] = {12, 45, 7, 30, 19};</a:t>
            </a:r>
            <a:endParaRPr lang="en-US" sz="2400" dirty="0"/>
          </a:p>
          <a:p>
            <a:pPr marL="0" indent="0" algn="l">
              <a:lnSpc>
                <a:spcPts val="3000"/>
              </a:lnSpc>
              <a:buNone/>
            </a:pPr>
            <a:r>
              <a:rPr lang="en-US" sz="2400" dirty="0">
                <a:solidFill>
                  <a:srgbClr val="FFFFFF"/>
                </a:solidFill>
                <a:latin typeface="Consolas"/>
                <a:ea typeface="Consolas"/>
                <a:cs typeface="Consolas"/>
              </a:rPr>
              <a:t>int max = a[0];</a:t>
            </a:r>
            <a:endParaRPr lang="en-US" sz="2400" dirty="0"/>
          </a:p>
          <a:p>
            <a:pPr marL="0" indent="0" algn="l">
              <a:lnSpc>
                <a:spcPts val="3000"/>
              </a:lnSpc>
              <a:buNone/>
            </a:pPr>
            <a:r>
              <a:rPr lang="en-US" sz="2400" dirty="0">
                <a:solidFill>
                  <a:srgbClr val="64748B"/>
                </a:solidFill>
                <a:latin typeface="Consolas"/>
                <a:ea typeface="Consolas"/>
                <a:cs typeface="Consolas"/>
              </a:rPr>
              <a:t>for (int i = 1; i &lt; N; i++) {</a:t>
            </a:r>
            <a:endParaRPr lang="en-US" sz="2400" dirty="0"/>
          </a:p>
          <a:p>
            <a:pPr marL="0" indent="0" algn="l">
              <a:lnSpc>
                <a:spcPts val="3000"/>
              </a:lnSpc>
              <a:buNone/>
            </a:pPr>
            <a:r>
              <a:rPr lang="en-US" sz="2400" dirty="0">
                <a:solidFill>
                  <a:srgbClr val="64748B"/>
                </a:solidFill>
                <a:latin typeface="Consolas"/>
                <a:ea typeface="Consolas"/>
                <a:cs typeface="Consolas"/>
              </a:rPr>
              <a:t>    if (a[i] &gt; max) {</a:t>
            </a:r>
            <a:endParaRPr lang="en-US" sz="2400" dirty="0"/>
          </a:p>
          <a:p>
            <a:pPr marL="0" indent="0" algn="l">
              <a:lnSpc>
                <a:spcPts val="3000"/>
              </a:lnSpc>
              <a:buNone/>
            </a:pPr>
            <a:r>
              <a:rPr lang="en-US" sz="2400" dirty="0">
                <a:solidFill>
                  <a:srgbClr val="64748B"/>
                </a:solidFill>
                <a:latin typeface="Consolas"/>
                <a:ea typeface="Consolas"/>
                <a:cs typeface="Consolas"/>
              </a:rPr>
              <a:t>        max = a[i];</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printf("max = %d\n", max);</a:t>
            </a:r>
            <a:endParaRPr lang="en-US" sz="2400" dirty="0"/>
          </a:p>
        </p:txBody>
      </p:sp>
      <p:sp>
        <p:nvSpPr>
          <p:cNvPr id="13" name="Shape 13"/>
          <p:cNvSpPr/>
          <p:nvPr/>
        </p:nvSpPr>
        <p:spPr>
          <a:xfrm>
            <a:off x="6492240"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669569"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5" name="Shape 15"/>
          <p:cNvSpPr/>
          <p:nvPr/>
        </p:nvSpPr>
        <p:spPr>
          <a:xfrm>
            <a:off x="8846898" y="1261872"/>
            <a:ext cx="161882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&gt; max</a:t>
            </a:r>
            <a:r>
              <a:rPr lang="en-US" sz="1800" b="1" dirty="0">
                <a:solidFill>
                  <a:srgbClr val="FFFFFF"/>
                </a:solidFill>
              </a:rPr>
              <a:t>?</a:t>
            </a:r>
            <a:endParaRPr lang="en-US" sz="1800" dirty="0"/>
          </a:p>
        </p:txBody>
      </p:sp>
      <p:sp>
        <p:nvSpPr>
          <p:cNvPr id="16" name="Shape 16"/>
          <p:cNvSpPr/>
          <p:nvPr/>
        </p:nvSpPr>
        <p:spPr>
          <a:xfrm>
            <a:off x="10465726"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max</a:t>
            </a:r>
            <a:endParaRPr lang="en-US" sz="1800" dirty="0"/>
          </a:p>
        </p:txBody>
      </p:sp>
      <p:sp>
        <p:nvSpPr>
          <p:cNvPr id="17" name="Shape 17"/>
          <p:cNvSpPr/>
          <p:nvPr/>
        </p:nvSpPr>
        <p:spPr>
          <a:xfrm>
            <a:off x="6492240" y="1920240"/>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start</a:t>
            </a:r>
            <a:endParaRPr lang="en-US" sz="2400" dirty="0"/>
          </a:p>
        </p:txBody>
      </p:sp>
      <p:sp>
        <p:nvSpPr>
          <p:cNvPr id="18" name="Shape 18"/>
          <p:cNvSpPr/>
          <p:nvPr/>
        </p:nvSpPr>
        <p:spPr>
          <a:xfrm>
            <a:off x="7669569" y="1920240"/>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19" name="Shape 19"/>
          <p:cNvSpPr/>
          <p:nvPr/>
        </p:nvSpPr>
        <p:spPr>
          <a:xfrm>
            <a:off x="8846898" y="1920240"/>
            <a:ext cx="1618828"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20" name="Shape 20"/>
          <p:cNvSpPr/>
          <p:nvPr/>
        </p:nvSpPr>
        <p:spPr>
          <a:xfrm>
            <a:off x="10465726" y="1920240"/>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12</a:t>
            </a:r>
            <a:endParaRPr lang="en-US" sz="2400" dirty="0"/>
          </a:p>
        </p:txBody>
      </p:sp>
      <p:sp>
        <p:nvSpPr>
          <p:cNvPr id="21" name="Shape 21"/>
          <p:cNvSpPr/>
          <p:nvPr/>
        </p:nvSpPr>
        <p:spPr>
          <a:xfrm>
            <a:off x="6492240" y="2578608"/>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7669569" y="2578608"/>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846898" y="2578608"/>
            <a:ext cx="161882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10465726" y="2578608"/>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6492240" y="3236976"/>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669569" y="3236976"/>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846898" y="3236976"/>
            <a:ext cx="161882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10465726" y="3236976"/>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6492240" y="3895344"/>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669569" y="3895344"/>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846898" y="3895344"/>
            <a:ext cx="161882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10465726" y="3895344"/>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492240" y="4553712"/>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669569" y="4553712"/>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846898" y="4553712"/>
            <a:ext cx="161882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465726" y="4553712"/>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Largest of 12, 45, 7, 30, 19</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34</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45 is bigger than 12: the new best.</a:t>
            </a:r>
            <a:endParaRPr lang="en-US" sz="2400" dirty="0"/>
          </a:p>
        </p:txBody>
      </p:sp>
      <p:sp>
        <p:nvSpPr>
          <p:cNvPr id="9" name="Shape 9"/>
          <p:cNvSpPr/>
          <p:nvPr/>
        </p:nvSpPr>
        <p:spPr>
          <a:xfrm>
            <a:off x="548640" y="1261872"/>
            <a:ext cx="5669280" cy="3413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625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006852"/>
            <a:ext cx="5669280" cy="38100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006852"/>
            <a:ext cx="82296" cy="38100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566928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a[N] = {12, 45, 7, 30, 19};</a:t>
            </a:r>
            <a:endParaRPr lang="en-US" sz="2400" dirty="0"/>
          </a:p>
          <a:p>
            <a:pPr marL="0" indent="0" algn="l">
              <a:lnSpc>
                <a:spcPts val="3000"/>
              </a:lnSpc>
              <a:buNone/>
            </a:pPr>
            <a:r>
              <a:rPr lang="en-US" sz="2400" dirty="0">
                <a:solidFill>
                  <a:srgbClr val="64748B"/>
                </a:solidFill>
                <a:latin typeface="Consolas"/>
                <a:ea typeface="Consolas"/>
                <a:cs typeface="Consolas"/>
              </a:rPr>
              <a:t>int max = a[0];</a:t>
            </a:r>
            <a:endParaRPr lang="en-US" sz="2400" dirty="0"/>
          </a:p>
          <a:p>
            <a:pPr marL="0" indent="0" algn="l">
              <a:lnSpc>
                <a:spcPts val="3000"/>
              </a:lnSpc>
              <a:buNone/>
            </a:pPr>
            <a:r>
              <a:rPr lang="en-US" sz="2400" dirty="0">
                <a:solidFill>
                  <a:srgbClr val="64748B"/>
                </a:solidFill>
                <a:latin typeface="Consolas"/>
                <a:ea typeface="Consolas"/>
                <a:cs typeface="Consolas"/>
              </a:rPr>
              <a:t>for (int i = 1; i &lt; N; i++) {</a:t>
            </a:r>
            <a:endParaRPr lang="en-US" sz="2400" dirty="0"/>
          </a:p>
          <a:p>
            <a:pPr marL="0" indent="0" algn="l">
              <a:lnSpc>
                <a:spcPts val="3000"/>
              </a:lnSpc>
              <a:buNone/>
            </a:pPr>
            <a:r>
              <a:rPr lang="en-US" sz="2400" dirty="0">
                <a:solidFill>
                  <a:srgbClr val="FFFFFF"/>
                </a:solidFill>
                <a:latin typeface="Consolas"/>
                <a:ea typeface="Consolas"/>
                <a:cs typeface="Consolas"/>
              </a:rPr>
              <a:t>    if (a[i] &gt; max) {</a:t>
            </a:r>
            <a:endParaRPr lang="en-US" sz="2400" dirty="0"/>
          </a:p>
          <a:p>
            <a:pPr marL="0" indent="0" algn="l">
              <a:lnSpc>
                <a:spcPts val="3000"/>
              </a:lnSpc>
              <a:buNone/>
            </a:pPr>
            <a:r>
              <a:rPr lang="en-US" sz="2400" dirty="0">
                <a:solidFill>
                  <a:srgbClr val="FFFFFF"/>
                </a:solidFill>
                <a:latin typeface="Consolas"/>
                <a:ea typeface="Consolas"/>
                <a:cs typeface="Consolas"/>
              </a:rPr>
              <a:t>        max = a[i];</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printf("max = %d\n", max);</a:t>
            </a:r>
            <a:endParaRPr lang="en-US" sz="2400" dirty="0"/>
          </a:p>
        </p:txBody>
      </p:sp>
      <p:sp>
        <p:nvSpPr>
          <p:cNvPr id="15" name="Shape 15"/>
          <p:cNvSpPr/>
          <p:nvPr/>
        </p:nvSpPr>
        <p:spPr>
          <a:xfrm>
            <a:off x="6492240"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6" name="Shape 16"/>
          <p:cNvSpPr/>
          <p:nvPr/>
        </p:nvSpPr>
        <p:spPr>
          <a:xfrm>
            <a:off x="7669569"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7" name="Shape 17"/>
          <p:cNvSpPr/>
          <p:nvPr/>
        </p:nvSpPr>
        <p:spPr>
          <a:xfrm>
            <a:off x="8846898" y="1261872"/>
            <a:ext cx="161882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&gt; max</a:t>
            </a:r>
            <a:r>
              <a:rPr lang="en-US" sz="1800" b="1" dirty="0">
                <a:solidFill>
                  <a:srgbClr val="FFFFFF"/>
                </a:solidFill>
              </a:rPr>
              <a:t>?</a:t>
            </a:r>
            <a:endParaRPr lang="en-US" sz="1800" dirty="0"/>
          </a:p>
        </p:txBody>
      </p:sp>
      <p:sp>
        <p:nvSpPr>
          <p:cNvPr id="18" name="Shape 18"/>
          <p:cNvSpPr/>
          <p:nvPr/>
        </p:nvSpPr>
        <p:spPr>
          <a:xfrm>
            <a:off x="10465726"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max</a:t>
            </a:r>
            <a:endParaRPr lang="en-US" sz="1800" dirty="0"/>
          </a:p>
        </p:txBody>
      </p:sp>
      <p:sp>
        <p:nvSpPr>
          <p:cNvPr id="19" name="Shape 19"/>
          <p:cNvSpPr/>
          <p:nvPr/>
        </p:nvSpPr>
        <p:spPr>
          <a:xfrm>
            <a:off x="6492240" y="1920240"/>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start</a:t>
            </a:r>
            <a:endParaRPr lang="en-US" sz="2400" dirty="0"/>
          </a:p>
        </p:txBody>
      </p:sp>
      <p:sp>
        <p:nvSpPr>
          <p:cNvPr id="20" name="Shape 20"/>
          <p:cNvSpPr/>
          <p:nvPr/>
        </p:nvSpPr>
        <p:spPr>
          <a:xfrm>
            <a:off x="7669569" y="1920240"/>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21" name="Shape 21"/>
          <p:cNvSpPr/>
          <p:nvPr/>
        </p:nvSpPr>
        <p:spPr>
          <a:xfrm>
            <a:off x="8846898" y="1920240"/>
            <a:ext cx="1618828" cy="6583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22" name="Shape 22"/>
          <p:cNvSpPr/>
          <p:nvPr/>
        </p:nvSpPr>
        <p:spPr>
          <a:xfrm>
            <a:off x="10465726" y="1920240"/>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12</a:t>
            </a:r>
            <a:endParaRPr lang="en-US" sz="2400" dirty="0"/>
          </a:p>
        </p:txBody>
      </p:sp>
      <p:sp>
        <p:nvSpPr>
          <p:cNvPr id="23" name="Shape 23"/>
          <p:cNvSpPr/>
          <p:nvPr/>
        </p:nvSpPr>
        <p:spPr>
          <a:xfrm>
            <a:off x="6492240" y="2578608"/>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4" name="Shape 24"/>
          <p:cNvSpPr/>
          <p:nvPr/>
        </p:nvSpPr>
        <p:spPr>
          <a:xfrm>
            <a:off x="7669569" y="2578608"/>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45</a:t>
            </a:r>
            <a:endParaRPr lang="en-US" sz="2400" dirty="0"/>
          </a:p>
        </p:txBody>
      </p:sp>
      <p:sp>
        <p:nvSpPr>
          <p:cNvPr id="25" name="Shape 25"/>
          <p:cNvSpPr/>
          <p:nvPr/>
        </p:nvSpPr>
        <p:spPr>
          <a:xfrm>
            <a:off x="8846898" y="2578608"/>
            <a:ext cx="161882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yes</a:t>
            </a:r>
            <a:endParaRPr lang="en-US" sz="2400" dirty="0"/>
          </a:p>
        </p:txBody>
      </p:sp>
      <p:sp>
        <p:nvSpPr>
          <p:cNvPr id="26" name="Shape 26"/>
          <p:cNvSpPr/>
          <p:nvPr/>
        </p:nvSpPr>
        <p:spPr>
          <a:xfrm>
            <a:off x="10465726" y="2578608"/>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45</a:t>
            </a:r>
            <a:endParaRPr lang="en-US" sz="2400" dirty="0"/>
          </a:p>
        </p:txBody>
      </p:sp>
      <p:sp>
        <p:nvSpPr>
          <p:cNvPr id="27" name="Shape 27"/>
          <p:cNvSpPr/>
          <p:nvPr/>
        </p:nvSpPr>
        <p:spPr>
          <a:xfrm>
            <a:off x="6492240" y="3236976"/>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7669569" y="3236976"/>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8846898" y="3236976"/>
            <a:ext cx="161882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465726" y="3236976"/>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492240" y="3895344"/>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669569" y="3895344"/>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8846898" y="3895344"/>
            <a:ext cx="161882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10465726" y="3895344"/>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6492240" y="4553712"/>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7669569" y="4553712"/>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7" name="Shape 37"/>
          <p:cNvSpPr/>
          <p:nvPr/>
        </p:nvSpPr>
        <p:spPr>
          <a:xfrm>
            <a:off x="8846898" y="4553712"/>
            <a:ext cx="1618828"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8" name="Shape 38"/>
          <p:cNvSpPr/>
          <p:nvPr/>
        </p:nvSpPr>
        <p:spPr>
          <a:xfrm>
            <a:off x="10465726" y="4553712"/>
            <a:ext cx="1177329"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Largest of 12, 45, 7, 30, 19</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35</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7, 30, 19: none beats 45. It prints </a:t>
            </a:r>
            <a:r>
              <a:rPr lang="en-US" sz="2400" dirty="0">
                <a:solidFill>
                  <a:srgbClr val="18324A"/>
                </a:solidFill>
                <a:latin typeface="Consolas"/>
                <a:ea typeface="Consolas"/>
                <a:cs typeface="Consolas"/>
              </a:rPr>
              <a:t>max = 45</a:t>
            </a:r>
            <a:r>
              <a:rPr lang="en-US" sz="2400" dirty="0">
                <a:solidFill>
                  <a:srgbClr val="18324A"/>
                </a:solidFill>
              </a:rPr>
              <a:t>.</a:t>
            </a:r>
            <a:endParaRPr lang="en-US" sz="2400" dirty="0"/>
          </a:p>
        </p:txBody>
      </p:sp>
      <p:sp>
        <p:nvSpPr>
          <p:cNvPr id="9" name="Shape 9"/>
          <p:cNvSpPr/>
          <p:nvPr/>
        </p:nvSpPr>
        <p:spPr>
          <a:xfrm>
            <a:off x="548640" y="1261872"/>
            <a:ext cx="5669280" cy="3413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4149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4149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a[N] = {12, 45, 7, 30, 19};</a:t>
            </a:r>
            <a:endParaRPr lang="en-US" sz="2400" dirty="0"/>
          </a:p>
          <a:p>
            <a:pPr marL="0" indent="0" algn="l">
              <a:lnSpc>
                <a:spcPts val="3000"/>
              </a:lnSpc>
              <a:buNone/>
            </a:pPr>
            <a:r>
              <a:rPr lang="en-US" sz="2400" dirty="0">
                <a:solidFill>
                  <a:srgbClr val="64748B"/>
                </a:solidFill>
                <a:latin typeface="Consolas"/>
                <a:ea typeface="Consolas"/>
                <a:cs typeface="Consolas"/>
              </a:rPr>
              <a:t>int max = a[0];</a:t>
            </a:r>
            <a:endParaRPr lang="en-US" sz="2400" dirty="0"/>
          </a:p>
          <a:p>
            <a:pPr marL="0" indent="0" algn="l">
              <a:lnSpc>
                <a:spcPts val="3000"/>
              </a:lnSpc>
              <a:buNone/>
            </a:pPr>
            <a:r>
              <a:rPr lang="en-US" sz="2400" dirty="0">
                <a:solidFill>
                  <a:srgbClr val="64748B"/>
                </a:solidFill>
                <a:latin typeface="Consolas"/>
                <a:ea typeface="Consolas"/>
                <a:cs typeface="Consolas"/>
              </a:rPr>
              <a:t>for (int i = 1; i &lt; N; i++) {</a:t>
            </a:r>
            <a:endParaRPr lang="en-US" sz="2400" dirty="0"/>
          </a:p>
          <a:p>
            <a:pPr marL="0" indent="0" algn="l">
              <a:lnSpc>
                <a:spcPts val="3000"/>
              </a:lnSpc>
              <a:buNone/>
            </a:pPr>
            <a:r>
              <a:rPr lang="en-US" sz="2400" dirty="0">
                <a:solidFill>
                  <a:srgbClr val="64748B"/>
                </a:solidFill>
                <a:latin typeface="Consolas"/>
                <a:ea typeface="Consolas"/>
                <a:cs typeface="Consolas"/>
              </a:rPr>
              <a:t>    if (a[i] &gt; max) {</a:t>
            </a:r>
            <a:endParaRPr lang="en-US" sz="2400" dirty="0"/>
          </a:p>
          <a:p>
            <a:pPr marL="0" indent="0" algn="l">
              <a:lnSpc>
                <a:spcPts val="3000"/>
              </a:lnSpc>
              <a:buNone/>
            </a:pPr>
            <a:r>
              <a:rPr lang="en-US" sz="2400" dirty="0">
                <a:solidFill>
                  <a:srgbClr val="64748B"/>
                </a:solidFill>
                <a:latin typeface="Consolas"/>
                <a:ea typeface="Consolas"/>
                <a:cs typeface="Consolas"/>
              </a:rPr>
              <a:t>        max = a[i];</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FFFFFF"/>
                </a:solidFill>
                <a:latin typeface="Consolas"/>
                <a:ea typeface="Consolas"/>
                <a:cs typeface="Consolas"/>
              </a:rPr>
              <a:t>printf("max = %d\n", max);</a:t>
            </a:r>
            <a:endParaRPr lang="en-US" sz="2400" dirty="0"/>
          </a:p>
        </p:txBody>
      </p:sp>
      <p:sp>
        <p:nvSpPr>
          <p:cNvPr id="13" name="Shape 13"/>
          <p:cNvSpPr/>
          <p:nvPr/>
        </p:nvSpPr>
        <p:spPr>
          <a:xfrm>
            <a:off x="6492240"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669569"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5" name="Shape 15"/>
          <p:cNvSpPr/>
          <p:nvPr/>
        </p:nvSpPr>
        <p:spPr>
          <a:xfrm>
            <a:off x="8846898" y="1261872"/>
            <a:ext cx="161882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&gt; max</a:t>
            </a:r>
            <a:r>
              <a:rPr lang="en-US" sz="1800" b="1" dirty="0">
                <a:solidFill>
                  <a:srgbClr val="FFFFFF"/>
                </a:solidFill>
              </a:rPr>
              <a:t>?</a:t>
            </a:r>
            <a:endParaRPr lang="en-US" sz="1800" dirty="0"/>
          </a:p>
        </p:txBody>
      </p:sp>
      <p:sp>
        <p:nvSpPr>
          <p:cNvPr id="16" name="Shape 16"/>
          <p:cNvSpPr/>
          <p:nvPr/>
        </p:nvSpPr>
        <p:spPr>
          <a:xfrm>
            <a:off x="10465726" y="1261872"/>
            <a:ext cx="117732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max</a:t>
            </a:r>
            <a:endParaRPr lang="en-US" sz="1800" dirty="0"/>
          </a:p>
        </p:txBody>
      </p:sp>
      <p:sp>
        <p:nvSpPr>
          <p:cNvPr id="17" name="Shape 17"/>
          <p:cNvSpPr/>
          <p:nvPr/>
        </p:nvSpPr>
        <p:spPr>
          <a:xfrm>
            <a:off x="6492240" y="1920240"/>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start</a:t>
            </a:r>
            <a:endParaRPr lang="en-US" sz="2400" dirty="0"/>
          </a:p>
        </p:txBody>
      </p:sp>
      <p:sp>
        <p:nvSpPr>
          <p:cNvPr id="18" name="Shape 18"/>
          <p:cNvSpPr/>
          <p:nvPr/>
        </p:nvSpPr>
        <p:spPr>
          <a:xfrm>
            <a:off x="7669569" y="1920240"/>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19" name="Shape 19"/>
          <p:cNvSpPr/>
          <p:nvPr/>
        </p:nvSpPr>
        <p:spPr>
          <a:xfrm>
            <a:off x="8846898" y="1920240"/>
            <a:ext cx="1618828" cy="6583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20" name="Shape 20"/>
          <p:cNvSpPr/>
          <p:nvPr/>
        </p:nvSpPr>
        <p:spPr>
          <a:xfrm>
            <a:off x="10465726" y="1920240"/>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12</a:t>
            </a:r>
            <a:endParaRPr lang="en-US" sz="2400" dirty="0"/>
          </a:p>
        </p:txBody>
      </p:sp>
      <p:sp>
        <p:nvSpPr>
          <p:cNvPr id="21" name="Shape 21"/>
          <p:cNvSpPr/>
          <p:nvPr/>
        </p:nvSpPr>
        <p:spPr>
          <a:xfrm>
            <a:off x="6492240" y="2578608"/>
            <a:ext cx="117732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2" name="Shape 22"/>
          <p:cNvSpPr/>
          <p:nvPr/>
        </p:nvSpPr>
        <p:spPr>
          <a:xfrm>
            <a:off x="7669569" y="2578608"/>
            <a:ext cx="117732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45</a:t>
            </a:r>
            <a:endParaRPr lang="en-US" sz="2400" dirty="0"/>
          </a:p>
        </p:txBody>
      </p:sp>
      <p:sp>
        <p:nvSpPr>
          <p:cNvPr id="23" name="Shape 23"/>
          <p:cNvSpPr/>
          <p:nvPr/>
        </p:nvSpPr>
        <p:spPr>
          <a:xfrm>
            <a:off x="8846898" y="2578608"/>
            <a:ext cx="161882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24" name="Shape 24"/>
          <p:cNvSpPr/>
          <p:nvPr/>
        </p:nvSpPr>
        <p:spPr>
          <a:xfrm>
            <a:off x="10465726" y="2578608"/>
            <a:ext cx="117732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45</a:t>
            </a:r>
            <a:endParaRPr lang="en-US" sz="2400" dirty="0"/>
          </a:p>
        </p:txBody>
      </p:sp>
      <p:sp>
        <p:nvSpPr>
          <p:cNvPr id="25" name="Shape 25"/>
          <p:cNvSpPr/>
          <p:nvPr/>
        </p:nvSpPr>
        <p:spPr>
          <a:xfrm>
            <a:off x="6492240" y="3236976"/>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6" name="Shape 26"/>
          <p:cNvSpPr/>
          <p:nvPr/>
        </p:nvSpPr>
        <p:spPr>
          <a:xfrm>
            <a:off x="7669569" y="3236976"/>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7" name="Shape 27"/>
          <p:cNvSpPr/>
          <p:nvPr/>
        </p:nvSpPr>
        <p:spPr>
          <a:xfrm>
            <a:off x="8846898" y="3236976"/>
            <a:ext cx="161882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8" name="Shape 28"/>
          <p:cNvSpPr/>
          <p:nvPr/>
        </p:nvSpPr>
        <p:spPr>
          <a:xfrm>
            <a:off x="10465726" y="3236976"/>
            <a:ext cx="117732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45</a:t>
            </a:r>
            <a:endParaRPr lang="en-US" sz="2400" dirty="0"/>
          </a:p>
        </p:txBody>
      </p:sp>
      <p:sp>
        <p:nvSpPr>
          <p:cNvPr id="29" name="Shape 29"/>
          <p:cNvSpPr/>
          <p:nvPr/>
        </p:nvSpPr>
        <p:spPr>
          <a:xfrm>
            <a:off x="6492240" y="3895344"/>
            <a:ext cx="117732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30" name="Shape 30"/>
          <p:cNvSpPr/>
          <p:nvPr/>
        </p:nvSpPr>
        <p:spPr>
          <a:xfrm>
            <a:off x="7669569" y="3895344"/>
            <a:ext cx="117732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30</a:t>
            </a:r>
            <a:endParaRPr lang="en-US" sz="2400" dirty="0"/>
          </a:p>
        </p:txBody>
      </p:sp>
      <p:sp>
        <p:nvSpPr>
          <p:cNvPr id="31" name="Shape 31"/>
          <p:cNvSpPr/>
          <p:nvPr/>
        </p:nvSpPr>
        <p:spPr>
          <a:xfrm>
            <a:off x="8846898" y="3895344"/>
            <a:ext cx="161882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32" name="Shape 32"/>
          <p:cNvSpPr/>
          <p:nvPr/>
        </p:nvSpPr>
        <p:spPr>
          <a:xfrm>
            <a:off x="10465726" y="3895344"/>
            <a:ext cx="117732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45</a:t>
            </a:r>
            <a:endParaRPr lang="en-US" sz="2400" dirty="0"/>
          </a:p>
        </p:txBody>
      </p:sp>
      <p:sp>
        <p:nvSpPr>
          <p:cNvPr id="33" name="Shape 33"/>
          <p:cNvSpPr/>
          <p:nvPr/>
        </p:nvSpPr>
        <p:spPr>
          <a:xfrm>
            <a:off x="6492240" y="4553712"/>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4" name="Shape 34"/>
          <p:cNvSpPr/>
          <p:nvPr/>
        </p:nvSpPr>
        <p:spPr>
          <a:xfrm>
            <a:off x="7669569" y="4553712"/>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19</a:t>
            </a:r>
            <a:endParaRPr lang="en-US" sz="2400" dirty="0"/>
          </a:p>
        </p:txBody>
      </p:sp>
      <p:sp>
        <p:nvSpPr>
          <p:cNvPr id="35" name="Shape 35"/>
          <p:cNvSpPr/>
          <p:nvPr/>
        </p:nvSpPr>
        <p:spPr>
          <a:xfrm>
            <a:off x="8846898" y="4553712"/>
            <a:ext cx="1618828"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no</a:t>
            </a:r>
            <a:endParaRPr lang="en-US" sz="2400" dirty="0"/>
          </a:p>
        </p:txBody>
      </p:sp>
      <p:sp>
        <p:nvSpPr>
          <p:cNvPr id="36" name="Shape 36"/>
          <p:cNvSpPr/>
          <p:nvPr/>
        </p:nvSpPr>
        <p:spPr>
          <a:xfrm>
            <a:off x="10465726" y="4553712"/>
            <a:ext cx="117732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45</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Careful: start from 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36</a:t>
            </a:r>
            <a:endParaRPr lang="en-US" sz="1400" dirty="0"/>
          </a:p>
        </p:txBody>
      </p:sp>
      <p:sp>
        <p:nvSpPr>
          <p:cNvPr id="6" name="Shape 6"/>
          <p:cNvSpPr/>
          <p:nvPr/>
        </p:nvSpPr>
        <p:spPr>
          <a:xfrm>
            <a:off x="548640" y="1261872"/>
            <a:ext cx="2377440" cy="457200"/>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CAREFUL</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Winter temperatures, all below zero.</a:t>
            </a:r>
            <a:endParaRPr lang="en-US" sz="3200" dirty="0"/>
          </a:p>
          <a:p>
            <a:pPr marL="0" indent="0" algn="l">
              <a:spcAft>
                <a:spcPts val="600"/>
              </a:spcAft>
              <a:buNone/>
            </a:pPr>
            <a:r>
              <a:rPr lang="en-US" sz="3200" dirty="0">
                <a:solidFill>
                  <a:srgbClr val="2F80ED"/>
                </a:solidFill>
                <a:latin typeface="Consolas"/>
                <a:ea typeface="Consolas"/>
                <a:cs typeface="Consolas"/>
              </a:rPr>
              <a:t>max</a:t>
            </a:r>
            <a:r>
              <a:rPr lang="en-US" sz="3200" dirty="0">
                <a:solidFill>
                  <a:srgbClr val="18324A"/>
                </a:solidFill>
              </a:rPr>
              <a:t> starts at </a:t>
            </a:r>
            <a:r>
              <a:rPr lang="en-US" sz="3200" dirty="0">
                <a:solidFill>
                  <a:srgbClr val="2F80ED"/>
                </a:solidFill>
                <a:latin typeface="Consolas"/>
                <a:ea typeface="Consolas"/>
                <a:cs typeface="Consolas"/>
              </a:rPr>
              <a:t>0</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is printed?</a:t>
            </a:r>
            <a:endParaRPr lang="en-US" sz="3200" dirty="0"/>
          </a:p>
        </p:txBody>
      </p:sp>
      <p:sp>
        <p:nvSpPr>
          <p:cNvPr id="8" name="Shape 8"/>
          <p:cNvSpPr/>
          <p:nvPr/>
        </p:nvSpPr>
        <p:spPr>
          <a:xfrm>
            <a:off x="5760720" y="1261872"/>
            <a:ext cx="5882335" cy="2905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temps[N] = {-5, -2, -9, -4, -7};</a:t>
            </a:r>
            <a:endParaRPr lang="en-US" sz="2000" dirty="0"/>
          </a:p>
          <a:p>
            <a:pPr marL="0" indent="0" algn="l">
              <a:lnSpc>
                <a:spcPts val="2500"/>
              </a:lnSpc>
              <a:buNone/>
            </a:pPr>
            <a:r>
              <a:rPr lang="en-US" sz="2000" dirty="0">
                <a:solidFill>
                  <a:srgbClr val="E5E7EB"/>
                </a:solidFill>
                <a:latin typeface="Consolas"/>
                <a:ea typeface="Consolas"/>
                <a:cs typeface="Consolas"/>
              </a:rPr>
              <a:t>int max = 0;</a:t>
            </a:r>
            <a:endParaRPr lang="en-US" sz="2000" dirty="0"/>
          </a:p>
          <a:p>
            <a:pPr marL="0" indent="0" algn="l">
              <a:lnSpc>
                <a:spcPts val="2500"/>
              </a:lnSpc>
              <a:buNone/>
            </a:pPr>
            <a:r>
              <a:rPr lang="en-US" sz="2000" dirty="0">
                <a:solidFill>
                  <a:srgbClr val="E5E7EB"/>
                </a:solidFill>
                <a:latin typeface="Consolas"/>
                <a:ea typeface="Consolas"/>
                <a:cs typeface="Consolas"/>
              </a:rPr>
              <a:t>for (int i = 0; i &lt; N; i++) {</a:t>
            </a:r>
            <a:endParaRPr lang="en-US" sz="2000" dirty="0"/>
          </a:p>
          <a:p>
            <a:pPr marL="0" indent="0" algn="l">
              <a:lnSpc>
                <a:spcPts val="2500"/>
              </a:lnSpc>
              <a:buNone/>
            </a:pPr>
            <a:r>
              <a:rPr lang="en-US" sz="2000" dirty="0">
                <a:solidFill>
                  <a:srgbClr val="E5E7EB"/>
                </a:solidFill>
                <a:latin typeface="Consolas"/>
                <a:ea typeface="Consolas"/>
                <a:cs typeface="Consolas"/>
              </a:rPr>
              <a:t>    if (temps[i] &gt; max) {</a:t>
            </a:r>
            <a:endParaRPr lang="en-US" sz="2000" dirty="0"/>
          </a:p>
          <a:p>
            <a:pPr marL="0" indent="0" algn="l">
              <a:lnSpc>
                <a:spcPts val="2500"/>
              </a:lnSpc>
              <a:buNone/>
            </a:pPr>
            <a:r>
              <a:rPr lang="en-US" sz="2000" dirty="0">
                <a:solidFill>
                  <a:srgbClr val="E5E7EB"/>
                </a:solidFill>
                <a:latin typeface="Consolas"/>
                <a:ea typeface="Consolas"/>
                <a:cs typeface="Consolas"/>
              </a:rPr>
              <a:t>        max = temps[i];</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printf("warmest: %d\n", max);</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Start from 0: wrong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37</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F59E0B"/>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fix: </a:t>
            </a:r>
            <a:r>
              <a:rPr lang="en-US" sz="2400" dirty="0">
                <a:solidFill>
                  <a:srgbClr val="18324A"/>
                </a:solidFill>
                <a:latin typeface="Consolas"/>
                <a:ea typeface="Consolas"/>
                <a:cs typeface="Consolas"/>
              </a:rPr>
              <a:t>int max = temps[0];</a:t>
            </a:r>
            <a:r>
              <a:rPr lang="en-US" sz="2400" dirty="0">
                <a:solidFill>
                  <a:srgbClr val="18324A"/>
                </a:solidFill>
              </a:rPr>
              <a:t> It prints </a:t>
            </a:r>
            <a:r>
              <a:rPr lang="en-US" sz="2400" dirty="0">
                <a:solidFill>
                  <a:srgbClr val="18324A"/>
                </a:solidFill>
                <a:latin typeface="Consolas"/>
                <a:ea typeface="Consolas"/>
                <a:cs typeface="Consolas"/>
              </a:rPr>
              <a:t>warmest: -2</a:t>
            </a:r>
            <a:r>
              <a:rPr lang="en-US" sz="2400" dirty="0">
                <a:solidFill>
                  <a:srgbClr val="18324A"/>
                </a:solidFill>
              </a:rPr>
              <a:t>. gcc gives no warning here.</a:t>
            </a:r>
            <a:endParaRPr lang="en-US" sz="2400" dirty="0"/>
          </a:p>
        </p:txBody>
      </p:sp>
      <p:sp>
        <p:nvSpPr>
          <p:cNvPr id="9" name="Shape 9"/>
          <p:cNvSpPr/>
          <p:nvPr/>
        </p:nvSpPr>
        <p:spPr>
          <a:xfrm>
            <a:off x="548640" y="1261872"/>
            <a:ext cx="6949440" cy="3667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1898777"/>
            <a:ext cx="6949440" cy="4127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1898777"/>
            <a:ext cx="82296" cy="4127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949440" cy="36677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temps[N] = {-5, -2, -9, -4, -7};</a:t>
            </a:r>
            <a:endParaRPr lang="en-US" sz="2600" dirty="0"/>
          </a:p>
          <a:p>
            <a:pPr marL="0" indent="0" algn="l">
              <a:lnSpc>
                <a:spcPts val="3250"/>
              </a:lnSpc>
              <a:buNone/>
            </a:pPr>
            <a:r>
              <a:rPr lang="en-US" sz="2600" dirty="0">
                <a:solidFill>
                  <a:srgbClr val="FFFFFF"/>
                </a:solidFill>
                <a:latin typeface="Consolas"/>
                <a:ea typeface="Consolas"/>
                <a:cs typeface="Consolas"/>
              </a:rPr>
              <a:t>int max = 0;</a:t>
            </a:r>
            <a:endParaRPr lang="en-US" sz="2600" dirty="0"/>
          </a:p>
          <a:p>
            <a:pPr marL="0" indent="0" algn="l">
              <a:lnSpc>
                <a:spcPts val="3250"/>
              </a:lnSpc>
              <a:buNone/>
            </a:pPr>
            <a:r>
              <a:rPr lang="en-US" sz="2600" dirty="0">
                <a:solidFill>
                  <a:srgbClr val="64748B"/>
                </a:solidFill>
                <a:latin typeface="Consolas"/>
                <a:ea typeface="Consolas"/>
                <a:cs typeface="Consolas"/>
              </a:rPr>
              <a:t>for (int i = 0; i &lt; N; i++) {</a:t>
            </a:r>
            <a:endParaRPr lang="en-US" sz="2600" dirty="0"/>
          </a:p>
          <a:p>
            <a:pPr marL="0" indent="0" algn="l">
              <a:lnSpc>
                <a:spcPts val="3250"/>
              </a:lnSpc>
              <a:buNone/>
            </a:pPr>
            <a:r>
              <a:rPr lang="en-US" sz="2600" dirty="0">
                <a:solidFill>
                  <a:srgbClr val="64748B"/>
                </a:solidFill>
                <a:latin typeface="Consolas"/>
                <a:ea typeface="Consolas"/>
                <a:cs typeface="Consolas"/>
              </a:rPr>
              <a:t>    if (temps[i] &gt; max) {</a:t>
            </a:r>
            <a:endParaRPr lang="en-US" sz="2600" dirty="0"/>
          </a:p>
          <a:p>
            <a:pPr marL="0" indent="0" algn="l">
              <a:lnSpc>
                <a:spcPts val="3250"/>
              </a:lnSpc>
              <a:buNone/>
            </a:pPr>
            <a:r>
              <a:rPr lang="en-US" sz="2600" dirty="0">
                <a:solidFill>
                  <a:srgbClr val="64748B"/>
                </a:solidFill>
                <a:latin typeface="Consolas"/>
                <a:ea typeface="Consolas"/>
                <a:cs typeface="Consolas"/>
              </a:rPr>
              <a:t>        max = temps[i];</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printf("warmest: %d\n", max);</a:t>
            </a:r>
            <a:endParaRPr lang="en-US" sz="2600" dirty="0"/>
          </a:p>
        </p:txBody>
      </p:sp>
      <p:sp>
        <p:nvSpPr>
          <p:cNvPr id="13" name="Shape 13"/>
          <p:cNvSpPr/>
          <p:nvPr/>
        </p:nvSpPr>
        <p:spPr>
          <a:xfrm>
            <a:off x="7772400" y="1261872"/>
            <a:ext cx="38706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4" name="Shape 14"/>
          <p:cNvSpPr/>
          <p:nvPr/>
        </p:nvSpPr>
        <p:spPr>
          <a:xfrm>
            <a:off x="7772400" y="1645920"/>
            <a:ext cx="3870655" cy="746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7772400" y="1645920"/>
            <a:ext cx="387065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warmest: 0</a:t>
            </a:r>
            <a:endParaRPr lang="en-US" sz="2400" dirty="0"/>
          </a:p>
        </p:txBody>
      </p:sp>
      <p:sp>
        <p:nvSpPr>
          <p:cNvPr id="16" name="Shape 16"/>
          <p:cNvSpPr/>
          <p:nvPr/>
        </p:nvSpPr>
        <p:spPr>
          <a:xfrm>
            <a:off x="7772400" y="2667000"/>
            <a:ext cx="387065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772400" y="2667000"/>
            <a:ext cx="109728" cy="68580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882128" y="2667000"/>
            <a:ext cx="376092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0 is not in the array.</a:t>
            </a:r>
            <a:endParaRPr lang="en-US" sz="2400" dirty="0"/>
          </a:p>
        </p:txBody>
      </p:sp>
      <p:sp>
        <p:nvSpPr>
          <p:cNvPr id="19" name="Shape 19"/>
          <p:cNvSpPr/>
          <p:nvPr/>
        </p:nvSpPr>
        <p:spPr>
          <a:xfrm>
            <a:off x="7772400" y="3553968"/>
            <a:ext cx="387065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0" name="Shape 20"/>
          <p:cNvSpPr/>
          <p:nvPr/>
        </p:nvSpPr>
        <p:spPr>
          <a:xfrm>
            <a:off x="7772400" y="3553968"/>
            <a:ext cx="109728" cy="1051560"/>
          </a:xfrm>
          <a:prstGeom prst="rect">
            <a:avLst/>
          </a:prstGeom>
          <a:solidFill>
            <a:srgbClr val="FF6B6B"/>
          </a:solidFill>
          <a:ln>
            <a:noFill/>
          </a:ln>
        </p:spPr>
        <p:txBody>
          <a:bodyPr wrap="square" lIns="0" tIns="0" rIns="0" bIns="0" rtlCol="0" anchor="t"/>
          <a:lstStyle/>
          <a:p>
            <a:endParaRPr lang="en-US"/>
          </a:p>
        </p:txBody>
      </p:sp>
      <p:sp>
        <p:nvSpPr>
          <p:cNvPr id="21" name="Callout"/>
          <p:cNvSpPr/>
          <p:nvPr/>
        </p:nvSpPr>
        <p:spPr>
          <a:xfrm>
            <a:off x="7882128" y="3553968"/>
            <a:ext cx="376092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No element beats 0, so </a:t>
            </a:r>
            <a:r>
              <a:rPr lang="en-US" sz="2400" dirty="0">
                <a:solidFill>
                  <a:srgbClr val="18324A"/>
                </a:solidFill>
                <a:latin typeface="Consolas"/>
                <a:ea typeface="Consolas"/>
                <a:cs typeface="Consolas"/>
              </a:rPr>
              <a:t>max</a:t>
            </a:r>
            <a:r>
              <a:rPr lang="en-US" sz="2400" dirty="0">
                <a:solidFill>
                  <a:srgbClr val="18324A"/>
                </a:solidFill>
              </a:rPr>
              <a:t> never changes.</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rule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38</a:t>
            </a:r>
            <a:endParaRPr lang="en-US" sz="1400" dirty="0"/>
          </a:p>
        </p:txBody>
      </p:sp>
      <p:sp>
        <p:nvSpPr>
          <p:cNvPr id="6" name="Shape 6"/>
          <p:cNvSpPr/>
          <p:nvPr/>
        </p:nvSpPr>
        <p:spPr>
          <a:xfrm>
            <a:off x="548640" y="1399032"/>
            <a:ext cx="109728" cy="14020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Start the best so far at </a:t>
            </a:r>
            <a:r>
              <a:rPr lang="en-US" sz="4000" b="1" dirty="0">
                <a:solidFill>
                  <a:srgbClr val="31C48D"/>
                </a:solidFill>
                <a:latin typeface="Consolas"/>
                <a:ea typeface="Consolas"/>
                <a:cs typeface="Consolas"/>
              </a:rPr>
              <a:t>a[0]</a:t>
            </a:r>
            <a:r>
              <a:rPr lang="en-US" sz="4000" b="1" dirty="0">
                <a:solidFill>
                  <a:srgbClr val="18324A"/>
                </a:solidFill>
              </a:rPr>
              <a:t>, never at a number you chose.</a:t>
            </a:r>
            <a:endParaRPr lang="en-US" sz="4000" dirty="0"/>
          </a:p>
        </p:txBody>
      </p:sp>
      <p:sp>
        <p:nvSpPr>
          <p:cNvPr id="8" name="Shape 8"/>
          <p:cNvSpPr/>
          <p:nvPr/>
        </p:nvSpPr>
        <p:spPr>
          <a:xfrm>
            <a:off x="914400" y="32125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2F80ED"/>
                </a:solidFill>
                <a:latin typeface="Consolas"/>
                <a:ea typeface="Consolas"/>
                <a:cs typeface="Consolas"/>
              </a:rPr>
              <a:t>0</a:t>
            </a:r>
            <a:r>
              <a:rPr lang="en-US" sz="3000" dirty="0">
                <a:solidFill>
                  <a:srgbClr val="18324A"/>
                </a:solidFill>
              </a:rPr>
              <a:t> fails when all values are negative.</a:t>
            </a:r>
            <a:endParaRPr lang="en-US" sz="3000" dirty="0"/>
          </a:p>
          <a:p>
            <a:pPr marL="0" indent="0" algn="l">
              <a:spcAft>
                <a:spcPts val="1600"/>
              </a:spcAft>
              <a:buNone/>
            </a:pPr>
            <a:r>
              <a:rPr lang="en-US" sz="3000" dirty="0">
                <a:solidFill>
                  <a:srgbClr val="2F80ED"/>
                </a:solidFill>
                <a:latin typeface="Consolas"/>
                <a:ea typeface="Consolas"/>
                <a:cs typeface="Consolas"/>
              </a:rPr>
              <a:t>100</a:t>
            </a:r>
            <a:r>
              <a:rPr lang="en-US" sz="3000" dirty="0">
                <a:solidFill>
                  <a:srgbClr val="18324A"/>
                </a:solidFill>
              </a:rPr>
              <a:t> fails when all values are above 100.</a:t>
            </a:r>
            <a:endParaRPr lang="en-US" sz="3000" dirty="0"/>
          </a:p>
          <a:p>
            <a:pPr marL="0" indent="0" algn="l">
              <a:spcAft>
                <a:spcPts val="1600"/>
              </a:spcAft>
              <a:buNone/>
            </a:pPr>
            <a:r>
              <a:rPr lang="en-US" sz="3000" dirty="0">
                <a:solidFill>
                  <a:srgbClr val="2F80ED"/>
                </a:solidFill>
                <a:latin typeface="Consolas"/>
                <a:ea typeface="Consolas"/>
                <a:cs typeface="Consolas"/>
              </a:rPr>
              <a:t>a[0]</a:t>
            </a:r>
            <a:r>
              <a:rPr lang="en-US" sz="3000" dirty="0">
                <a:solidFill>
                  <a:srgbClr val="18324A"/>
                </a:solidFill>
              </a:rPr>
              <a:t> is always a real value from the array.</a:t>
            </a:r>
            <a:endParaRPr lang="en-US" sz="3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Smallest: flip one sign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39</a:t>
            </a:r>
            <a:endParaRPr lang="en-US" sz="1400" dirty="0"/>
          </a:p>
        </p:txBody>
      </p:sp>
      <p:sp>
        <p:nvSpPr>
          <p:cNvPr id="6" name="Shape 6"/>
          <p:cNvSpPr/>
          <p:nvPr/>
        </p:nvSpPr>
        <p:spPr>
          <a:xfrm>
            <a:off x="548640" y="1261872"/>
            <a:ext cx="6766560" cy="40805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2427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0805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min_of(int a[], int n) {</a:t>
            </a:r>
            <a:endParaRPr lang="en-US" sz="2600" dirty="0"/>
          </a:p>
          <a:p>
            <a:pPr marL="0" indent="0" algn="l">
              <a:lnSpc>
                <a:spcPts val="3250"/>
              </a:lnSpc>
              <a:buNone/>
            </a:pPr>
            <a:r>
              <a:rPr lang="en-US" sz="2600" dirty="0">
                <a:solidFill>
                  <a:srgbClr val="64748B"/>
                </a:solidFill>
                <a:latin typeface="Consolas"/>
                <a:ea typeface="Consolas"/>
                <a:cs typeface="Consolas"/>
              </a:rPr>
              <a:t>    int min = a[0];</a:t>
            </a:r>
            <a:endParaRPr lang="en-US" sz="2600" dirty="0"/>
          </a:p>
          <a:p>
            <a:pPr marL="0" indent="0" algn="l">
              <a:lnSpc>
                <a:spcPts val="3250"/>
              </a:lnSpc>
              <a:buNone/>
            </a:pPr>
            <a:r>
              <a:rPr lang="en-US" sz="2600" dirty="0">
                <a:solidFill>
                  <a:srgbClr val="64748B"/>
                </a:solidFill>
                <a:latin typeface="Consolas"/>
                <a:ea typeface="Consolas"/>
                <a:cs typeface="Consolas"/>
              </a:rPr>
              <a:t>    for (int i = 1; i &lt; n; i++) {</a:t>
            </a:r>
            <a:endParaRPr lang="en-US" sz="2600" dirty="0"/>
          </a:p>
          <a:p>
            <a:pPr marL="0" indent="0" algn="l">
              <a:lnSpc>
                <a:spcPts val="3250"/>
              </a:lnSpc>
              <a:buNone/>
            </a:pPr>
            <a:r>
              <a:rPr lang="en-US" sz="2600" dirty="0">
                <a:solidFill>
                  <a:srgbClr val="FFFFFF"/>
                </a:solidFill>
                <a:latin typeface="Consolas"/>
                <a:ea typeface="Consolas"/>
                <a:cs typeface="Consolas"/>
              </a:rPr>
              <a:t>        if (a[i] &lt; min) {</a:t>
            </a:r>
            <a:endParaRPr lang="en-US" sz="2600" dirty="0"/>
          </a:p>
          <a:p>
            <a:pPr marL="0" indent="0" algn="l">
              <a:lnSpc>
                <a:spcPts val="3250"/>
              </a:lnSpc>
              <a:buNone/>
            </a:pPr>
            <a:r>
              <a:rPr lang="en-US" sz="2600" dirty="0">
                <a:solidFill>
                  <a:srgbClr val="64748B"/>
                </a:solidFill>
                <a:latin typeface="Consolas"/>
                <a:ea typeface="Consolas"/>
                <a:cs typeface="Consolas"/>
              </a:rPr>
              <a:t>            min = a[i];</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return min;</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0" name="Shape 10"/>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&lt;</a:t>
            </a:r>
            <a:r>
              <a:rPr lang="en-US" sz="2400" dirty="0">
                <a:solidFill>
                  <a:srgbClr val="18324A"/>
                </a:solidFill>
              </a:rPr>
              <a:t> instead of </a:t>
            </a:r>
            <a:r>
              <a:rPr lang="en-US" sz="2400" dirty="0">
                <a:solidFill>
                  <a:srgbClr val="18324A"/>
                </a:solidFill>
                <a:latin typeface="Consolas"/>
                <a:ea typeface="Consolas"/>
                <a:cs typeface="Consolas"/>
              </a:rPr>
              <a:t>&gt;</a:t>
            </a:r>
            <a:r>
              <a:rPr lang="en-US" sz="2400" dirty="0">
                <a:solidFill>
                  <a:srgbClr val="18324A"/>
                </a:solidFill>
              </a:rPr>
              <a:t>.</a:t>
            </a:r>
            <a:endParaRPr lang="en-US" sz="2400" dirty="0"/>
          </a:p>
        </p:txBody>
      </p:sp>
      <p:sp>
        <p:nvSpPr>
          <p:cNvPr id="13" name="Shape 13"/>
          <p:cNvSpPr/>
          <p:nvPr/>
        </p:nvSpPr>
        <p:spPr>
          <a:xfrm>
            <a:off x="7589520" y="214884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148840"/>
            <a:ext cx="109728" cy="68580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14884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Same start: </a:t>
            </a:r>
            <a:r>
              <a:rPr lang="en-US" sz="2400" dirty="0">
                <a:solidFill>
                  <a:srgbClr val="18324A"/>
                </a:solidFill>
                <a:latin typeface="Consolas"/>
                <a:ea typeface="Consolas"/>
                <a:cs typeface="Consolas"/>
              </a:rPr>
              <a:t>a[0]</a:t>
            </a:r>
            <a:r>
              <a:rPr lang="en-US" sz="2400" dirty="0">
                <a:solidFill>
                  <a:srgbClr val="18324A"/>
                </a:solidFill>
              </a:rPr>
              <a:t>.</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min_of and max_of in main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40</a:t>
            </a:r>
            <a:endParaRPr lang="en-US" sz="1400" dirty="0"/>
          </a:p>
        </p:txBody>
      </p:sp>
      <p:sp>
        <p:nvSpPr>
          <p:cNvPr id="6" name="Shape 6"/>
          <p:cNvSpPr/>
          <p:nvPr/>
        </p:nvSpPr>
        <p:spPr>
          <a:xfrm>
            <a:off x="548640" y="1261872"/>
            <a:ext cx="7498080" cy="2270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7498080" cy="227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main(void) {</a:t>
            </a:r>
            <a:endParaRPr lang="en-US" sz="2000" dirty="0"/>
          </a:p>
          <a:p>
            <a:pPr marL="0" indent="0" algn="l">
              <a:lnSpc>
                <a:spcPts val="2500"/>
              </a:lnSpc>
              <a:buNone/>
            </a:pPr>
            <a:r>
              <a:rPr lang="en-US" sz="2000" dirty="0">
                <a:solidFill>
                  <a:srgbClr val="E5E7EB"/>
                </a:solidFill>
                <a:latin typeface="Consolas"/>
                <a:ea typeface="Consolas"/>
                <a:cs typeface="Consolas"/>
              </a:rPr>
              <a:t>    int temps[N] = {14, 17, 11, 19, 16, 9, 13};</a:t>
            </a:r>
            <a:endParaRPr lang="en-US" sz="2000" dirty="0"/>
          </a:p>
          <a:p>
            <a:pPr marL="0" indent="0" algn="l">
              <a:lnSpc>
                <a:spcPts val="2500"/>
              </a:lnSpc>
              <a:buNone/>
            </a:pPr>
            <a:r>
              <a:rPr lang="en-US" sz="2000" dirty="0">
                <a:solidFill>
                  <a:srgbClr val="E5E7EB"/>
                </a:solidFill>
                <a:latin typeface="Consolas"/>
                <a:ea typeface="Consolas"/>
                <a:cs typeface="Consolas"/>
              </a:rPr>
              <a:t>    printf("coldest: %d\n", min_of(temps, N));</a:t>
            </a:r>
            <a:endParaRPr lang="en-US" sz="2000" dirty="0"/>
          </a:p>
          <a:p>
            <a:pPr marL="0" indent="0" algn="l">
              <a:lnSpc>
                <a:spcPts val="2500"/>
              </a:lnSpc>
              <a:buNone/>
            </a:pPr>
            <a:r>
              <a:rPr lang="en-US" sz="2000" dirty="0">
                <a:solidFill>
                  <a:srgbClr val="E5E7EB"/>
                </a:solidFill>
                <a:latin typeface="Consolas"/>
                <a:ea typeface="Consolas"/>
                <a:cs typeface="Consolas"/>
              </a:rPr>
              <a:t>    printf("warmest: %d\n", max_of(temps, N));</a:t>
            </a:r>
            <a:endParaRPr lang="en-US" sz="2000" dirty="0"/>
          </a:p>
          <a:p>
            <a:pPr marL="0" indent="0" algn="l">
              <a:lnSpc>
                <a:spcPts val="2500"/>
              </a:lnSpc>
              <a:buNone/>
            </a:pPr>
            <a:r>
              <a:rPr lang="en-US" sz="2000" dirty="0">
                <a:solidFill>
                  <a:srgbClr val="E5E7EB"/>
                </a:solidFill>
                <a:latin typeface="Consolas"/>
                <a:ea typeface="Consolas"/>
                <a:cs typeface="Consolas"/>
              </a:rPr>
              <a:t>    return 0;</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
        <p:nvSpPr>
          <p:cNvPr id="8" name="Shape 8"/>
          <p:cNvSpPr/>
          <p:nvPr/>
        </p:nvSpPr>
        <p:spPr>
          <a:xfrm>
            <a:off x="8321040" y="1261872"/>
            <a:ext cx="332201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9" name="Shape 9"/>
          <p:cNvSpPr/>
          <p:nvPr/>
        </p:nvSpPr>
        <p:spPr>
          <a:xfrm>
            <a:off x="8321040" y="1645920"/>
            <a:ext cx="3322015" cy="1127760"/>
          </a:xfrm>
          <a:prstGeom prst="rect">
            <a:avLst/>
          </a:prstGeom>
          <a:solidFill>
            <a:srgbClr val="000000"/>
          </a:solidFill>
          <a:ln>
            <a:noFill/>
          </a:ln>
        </p:spPr>
        <p:txBody>
          <a:bodyPr wrap="square" lIns="0" tIns="0" rIns="0" bIns="0" rtlCol="0" anchor="t"/>
          <a:lstStyle/>
          <a:p>
            <a:endParaRPr lang="en-US"/>
          </a:p>
        </p:txBody>
      </p:sp>
      <p:sp>
        <p:nvSpPr>
          <p:cNvPr id="10" name="Code"/>
          <p:cNvSpPr/>
          <p:nvPr/>
        </p:nvSpPr>
        <p:spPr>
          <a:xfrm>
            <a:off x="8321040" y="1645920"/>
            <a:ext cx="332201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coldest: 9</a:t>
            </a:r>
            <a:endParaRPr lang="en-US" sz="2400" dirty="0"/>
          </a:p>
          <a:p>
            <a:pPr marL="0" indent="0" algn="l">
              <a:lnSpc>
                <a:spcPts val="3000"/>
              </a:lnSpc>
              <a:buNone/>
            </a:pPr>
            <a:r>
              <a:rPr lang="en-US" sz="2400" dirty="0">
                <a:solidFill>
                  <a:srgbClr val="D1FAE5"/>
                </a:solidFill>
                <a:latin typeface="Consolas"/>
                <a:ea typeface="Consolas"/>
                <a:cs typeface="Consolas"/>
              </a:rPr>
              <a:t>warmest: 19</a:t>
            </a:r>
            <a:endParaRPr lang="en-US" sz="2400" dirty="0"/>
          </a:p>
        </p:txBody>
      </p:sp>
      <p:sp>
        <p:nvSpPr>
          <p:cNvPr id="11" name="Shape 11"/>
          <p:cNvSpPr/>
          <p:nvPr/>
        </p:nvSpPr>
        <p:spPr>
          <a:xfrm>
            <a:off x="8321040" y="3048000"/>
            <a:ext cx="33220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2" name="Shape 12"/>
          <p:cNvSpPr/>
          <p:nvPr/>
        </p:nvSpPr>
        <p:spPr>
          <a:xfrm>
            <a:off x="8321040" y="3048000"/>
            <a:ext cx="109728" cy="1051560"/>
          </a:xfrm>
          <a:prstGeom prst="rect">
            <a:avLst/>
          </a:prstGeom>
          <a:solidFill>
            <a:srgbClr val="2F80ED"/>
          </a:solidFill>
          <a:ln>
            <a:noFill/>
          </a:ln>
        </p:spPr>
        <p:txBody>
          <a:bodyPr wrap="square" lIns="0" tIns="0" rIns="0" bIns="0" rtlCol="0" anchor="t"/>
          <a:lstStyle/>
          <a:p>
            <a:endParaRPr lang="en-US"/>
          </a:p>
        </p:txBody>
      </p:sp>
      <p:sp>
        <p:nvSpPr>
          <p:cNvPr id="13" name="Callout"/>
          <p:cNvSpPr/>
          <p:nvPr/>
        </p:nvSpPr>
        <p:spPr>
          <a:xfrm>
            <a:off x="8430768" y="3048000"/>
            <a:ext cx="32122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Two functions, one array.</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Where is the smallest?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41</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Keep the </a:t>
            </a:r>
            <a:r>
              <a:rPr lang="en-US" sz="2400" b="1" dirty="0">
                <a:solidFill>
                  <a:srgbClr val="18324A"/>
                </a:solidFill>
              </a:rPr>
              <a:t>index</a:t>
            </a:r>
            <a:r>
              <a:rPr lang="en-US" sz="2400" dirty="0">
                <a:solidFill>
                  <a:srgbClr val="18324A"/>
                </a:solidFill>
              </a:rPr>
              <a:t> of the best, not the value: </a:t>
            </a:r>
            <a:r>
              <a:rPr lang="en-US" sz="2400" dirty="0">
                <a:solidFill>
                  <a:srgbClr val="18324A"/>
                </a:solidFill>
                <a:latin typeface="Consolas"/>
                <a:ea typeface="Consolas"/>
                <a:cs typeface="Consolas"/>
              </a:rPr>
              <a:t>pos</a:t>
            </a:r>
            <a:r>
              <a:rPr lang="en-US" sz="2400" dirty="0">
                <a:solidFill>
                  <a:srgbClr val="18324A"/>
                </a:solidFill>
              </a:rPr>
              <a:t>. Its value is </a:t>
            </a:r>
            <a:r>
              <a:rPr lang="en-US" sz="2400" dirty="0">
                <a:solidFill>
                  <a:srgbClr val="18324A"/>
                </a:solidFill>
                <a:latin typeface="Consolas"/>
                <a:ea typeface="Consolas"/>
                <a:cs typeface="Consolas"/>
              </a:rPr>
              <a:t>price[pos]</a:t>
            </a:r>
            <a:r>
              <a:rPr lang="en-US" sz="2400" dirty="0">
                <a:solidFill>
                  <a:srgbClr val="18324A"/>
                </a:solidFill>
              </a:rPr>
              <a:t>.</a:t>
            </a:r>
            <a:endParaRPr lang="en-US" sz="2400" dirty="0"/>
          </a:p>
        </p:txBody>
      </p:sp>
      <p:sp>
        <p:nvSpPr>
          <p:cNvPr id="9" name="Shape 9"/>
          <p:cNvSpPr/>
          <p:nvPr/>
        </p:nvSpPr>
        <p:spPr>
          <a:xfrm>
            <a:off x="548640" y="1261872"/>
            <a:ext cx="5852160" cy="28105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1828927"/>
            <a:ext cx="585216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182892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852160" cy="2810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price[N] = {12, 9, 7, 11, 8};</a:t>
            </a:r>
            <a:endParaRPr lang="en-US" sz="2200" dirty="0"/>
          </a:p>
          <a:p>
            <a:pPr marL="0" indent="0" algn="l">
              <a:lnSpc>
                <a:spcPts val="2750"/>
              </a:lnSpc>
              <a:buNone/>
            </a:pPr>
            <a:r>
              <a:rPr lang="en-US" sz="2200" dirty="0">
                <a:solidFill>
                  <a:srgbClr val="FFFFFF"/>
                </a:solidFill>
                <a:latin typeface="Consolas"/>
                <a:ea typeface="Consolas"/>
                <a:cs typeface="Consolas"/>
              </a:rPr>
              <a:t>int pos = 0;</a:t>
            </a:r>
            <a:endParaRPr lang="en-US" sz="2200" dirty="0"/>
          </a:p>
          <a:p>
            <a:pPr marL="0" indent="0" algn="l">
              <a:lnSpc>
                <a:spcPts val="2750"/>
              </a:lnSpc>
              <a:buNone/>
            </a:pPr>
            <a:r>
              <a:rPr lang="en-US" sz="2200" dirty="0">
                <a:solidFill>
                  <a:srgbClr val="64748B"/>
                </a:solidFill>
                <a:latin typeface="Consolas"/>
                <a:ea typeface="Consolas"/>
                <a:cs typeface="Consolas"/>
              </a:rPr>
              <a:t>for (int i = 1; i &lt; N; i++) {</a:t>
            </a:r>
            <a:endParaRPr lang="en-US" sz="2200" dirty="0"/>
          </a:p>
          <a:p>
            <a:pPr marL="0" indent="0" algn="l">
              <a:lnSpc>
                <a:spcPts val="2750"/>
              </a:lnSpc>
              <a:buNone/>
            </a:pPr>
            <a:r>
              <a:rPr lang="en-US" sz="2200" dirty="0">
                <a:solidFill>
                  <a:srgbClr val="64748B"/>
                </a:solidFill>
                <a:latin typeface="Consolas"/>
                <a:ea typeface="Consolas"/>
                <a:cs typeface="Consolas"/>
              </a:rPr>
              <a:t>    if (price[i] &lt; price[pos]) {</a:t>
            </a:r>
            <a:endParaRPr lang="en-US" sz="2200" dirty="0"/>
          </a:p>
          <a:p>
            <a:pPr marL="0" indent="0" algn="l">
              <a:lnSpc>
                <a:spcPts val="2750"/>
              </a:lnSpc>
              <a:buNone/>
            </a:pPr>
            <a:r>
              <a:rPr lang="en-US" sz="2200" dirty="0">
                <a:solidFill>
                  <a:srgbClr val="64748B"/>
                </a:solidFill>
                <a:latin typeface="Consolas"/>
                <a:ea typeface="Consolas"/>
                <a:cs typeface="Consolas"/>
              </a:rPr>
              <a:t>        pos = 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3" name="Shape 13"/>
          <p:cNvSpPr/>
          <p:nvPr/>
        </p:nvSpPr>
        <p:spPr>
          <a:xfrm>
            <a:off x="6675120" y="1261872"/>
            <a:ext cx="915146"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590266" y="1261872"/>
            <a:ext cx="1307351"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price[i]</a:t>
            </a:r>
            <a:endParaRPr lang="en-US" sz="1800" dirty="0"/>
          </a:p>
        </p:txBody>
      </p:sp>
      <p:sp>
        <p:nvSpPr>
          <p:cNvPr id="15" name="Shape 15"/>
          <p:cNvSpPr/>
          <p:nvPr/>
        </p:nvSpPr>
        <p:spPr>
          <a:xfrm>
            <a:off x="8897617" y="1261872"/>
            <a:ext cx="1961027"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&lt; price[pos]</a:t>
            </a:r>
            <a:r>
              <a:rPr lang="en-US" sz="1800" b="1" dirty="0">
                <a:solidFill>
                  <a:srgbClr val="FFFFFF"/>
                </a:solidFill>
              </a:rPr>
              <a:t>?</a:t>
            </a:r>
            <a:endParaRPr lang="en-US" sz="1800" dirty="0"/>
          </a:p>
        </p:txBody>
      </p:sp>
      <p:sp>
        <p:nvSpPr>
          <p:cNvPr id="16" name="Shape 16"/>
          <p:cNvSpPr/>
          <p:nvPr/>
        </p:nvSpPr>
        <p:spPr>
          <a:xfrm>
            <a:off x="10858644" y="1261872"/>
            <a:ext cx="784411"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pos</a:t>
            </a:r>
            <a:endParaRPr lang="en-US" sz="1800" dirty="0"/>
          </a:p>
        </p:txBody>
      </p:sp>
      <p:sp>
        <p:nvSpPr>
          <p:cNvPr id="17" name="Shape 17"/>
          <p:cNvSpPr/>
          <p:nvPr/>
        </p:nvSpPr>
        <p:spPr>
          <a:xfrm>
            <a:off x="6675120" y="1882140"/>
            <a:ext cx="915146"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start</a:t>
            </a:r>
            <a:endParaRPr lang="en-US" sz="2400" dirty="0"/>
          </a:p>
        </p:txBody>
      </p:sp>
      <p:sp>
        <p:nvSpPr>
          <p:cNvPr id="18" name="Shape 18"/>
          <p:cNvSpPr/>
          <p:nvPr/>
        </p:nvSpPr>
        <p:spPr>
          <a:xfrm>
            <a:off x="7590266" y="1882140"/>
            <a:ext cx="1307351" cy="6202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19" name="Shape 19"/>
          <p:cNvSpPr/>
          <p:nvPr/>
        </p:nvSpPr>
        <p:spPr>
          <a:xfrm>
            <a:off x="8897617" y="1882140"/>
            <a:ext cx="1961027" cy="6202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20" name="Shape 20"/>
          <p:cNvSpPr/>
          <p:nvPr/>
        </p:nvSpPr>
        <p:spPr>
          <a:xfrm>
            <a:off x="10858644" y="1882140"/>
            <a:ext cx="784411"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0</a:t>
            </a:r>
            <a:endParaRPr lang="en-US" sz="2400" dirty="0"/>
          </a:p>
        </p:txBody>
      </p:sp>
      <p:sp>
        <p:nvSpPr>
          <p:cNvPr id="21" name="Shape 21"/>
          <p:cNvSpPr/>
          <p:nvPr/>
        </p:nvSpPr>
        <p:spPr>
          <a:xfrm>
            <a:off x="6675120" y="2502408"/>
            <a:ext cx="915146"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7590266" y="2502408"/>
            <a:ext cx="1307351"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897617" y="2502408"/>
            <a:ext cx="1961027"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10858644" y="2502408"/>
            <a:ext cx="784411"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6675120" y="3122676"/>
            <a:ext cx="915146"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590266" y="3122676"/>
            <a:ext cx="1307351"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897617" y="3122676"/>
            <a:ext cx="1961027"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10858644" y="3122676"/>
            <a:ext cx="784411"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6675120" y="3742944"/>
            <a:ext cx="915146"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590266" y="3742944"/>
            <a:ext cx="1307351"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897617" y="3742944"/>
            <a:ext cx="1961027"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10858644" y="3742944"/>
            <a:ext cx="784411"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675120" y="4363212"/>
            <a:ext cx="915146"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590266" y="4363212"/>
            <a:ext cx="1307351"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897617" y="4363212"/>
            <a:ext cx="1961027" cy="6202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858644" y="4363212"/>
            <a:ext cx="784411" cy="6202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Where is the smallest?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42</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prints </a:t>
            </a:r>
            <a:r>
              <a:rPr lang="en-US" sz="2400" dirty="0">
                <a:solidFill>
                  <a:srgbClr val="18324A"/>
                </a:solidFill>
                <a:latin typeface="Consolas"/>
                <a:ea typeface="Consolas"/>
                <a:cs typeface="Consolas"/>
              </a:rPr>
              <a:t>cheapest: index 2, price 7</a:t>
            </a:r>
            <a:r>
              <a:rPr lang="en-US" sz="2400" dirty="0">
                <a:solidFill>
                  <a:srgbClr val="18324A"/>
                </a:solidFill>
              </a:rPr>
              <a:t>. With the index you also have the value.</a:t>
            </a:r>
            <a:endParaRPr lang="en-US" sz="2400" dirty="0"/>
          </a:p>
        </p:txBody>
      </p:sp>
      <p:sp>
        <p:nvSpPr>
          <p:cNvPr id="9" name="Shape 9"/>
          <p:cNvSpPr/>
          <p:nvPr/>
        </p:nvSpPr>
        <p:spPr>
          <a:xfrm>
            <a:off x="548640" y="1261872"/>
            <a:ext cx="5852160" cy="28105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527427"/>
            <a:ext cx="585216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527427"/>
            <a:ext cx="82296" cy="34925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2876677"/>
            <a:ext cx="5852160" cy="34925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5852160" cy="2810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price[N] = {12, 9, 7, 11, 8};</a:t>
            </a:r>
            <a:endParaRPr lang="en-US" sz="2200" dirty="0"/>
          </a:p>
          <a:p>
            <a:pPr marL="0" indent="0" algn="l">
              <a:lnSpc>
                <a:spcPts val="2750"/>
              </a:lnSpc>
              <a:buNone/>
            </a:pPr>
            <a:r>
              <a:rPr lang="en-US" sz="2200" dirty="0">
                <a:solidFill>
                  <a:srgbClr val="64748B"/>
                </a:solidFill>
                <a:latin typeface="Consolas"/>
                <a:ea typeface="Consolas"/>
                <a:cs typeface="Consolas"/>
              </a:rPr>
              <a:t>int pos = 0;</a:t>
            </a:r>
            <a:endParaRPr lang="en-US" sz="2200" dirty="0"/>
          </a:p>
          <a:p>
            <a:pPr marL="0" indent="0" algn="l">
              <a:lnSpc>
                <a:spcPts val="2750"/>
              </a:lnSpc>
              <a:buNone/>
            </a:pPr>
            <a:r>
              <a:rPr lang="en-US" sz="2200" dirty="0">
                <a:solidFill>
                  <a:srgbClr val="64748B"/>
                </a:solidFill>
                <a:latin typeface="Consolas"/>
                <a:ea typeface="Consolas"/>
                <a:cs typeface="Consolas"/>
              </a:rPr>
              <a:t>for (int i = 1; i &lt; N; i++) {</a:t>
            </a:r>
            <a:endParaRPr lang="en-US" sz="2200" dirty="0"/>
          </a:p>
          <a:p>
            <a:pPr marL="0" indent="0" algn="l">
              <a:lnSpc>
                <a:spcPts val="2750"/>
              </a:lnSpc>
              <a:buNone/>
            </a:pPr>
            <a:r>
              <a:rPr lang="en-US" sz="2200" dirty="0">
                <a:solidFill>
                  <a:srgbClr val="FFFFFF"/>
                </a:solidFill>
                <a:latin typeface="Consolas"/>
                <a:ea typeface="Consolas"/>
                <a:cs typeface="Consolas"/>
              </a:rPr>
              <a:t>    if (price[i] &lt; price[pos]) {</a:t>
            </a:r>
            <a:endParaRPr lang="en-US" sz="2200" dirty="0"/>
          </a:p>
          <a:p>
            <a:pPr marL="0" indent="0" algn="l">
              <a:lnSpc>
                <a:spcPts val="2750"/>
              </a:lnSpc>
              <a:buNone/>
            </a:pPr>
            <a:r>
              <a:rPr lang="en-US" sz="2200" dirty="0">
                <a:solidFill>
                  <a:srgbClr val="FFFFFF"/>
                </a:solidFill>
                <a:latin typeface="Consolas"/>
                <a:ea typeface="Consolas"/>
                <a:cs typeface="Consolas"/>
              </a:rPr>
              <a:t>        pos = 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5" name="Shape 15"/>
          <p:cNvSpPr/>
          <p:nvPr/>
        </p:nvSpPr>
        <p:spPr>
          <a:xfrm>
            <a:off x="6675120" y="1261872"/>
            <a:ext cx="915146"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6" name="Shape 16"/>
          <p:cNvSpPr/>
          <p:nvPr/>
        </p:nvSpPr>
        <p:spPr>
          <a:xfrm>
            <a:off x="7590266" y="1261872"/>
            <a:ext cx="1307351"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price[i]</a:t>
            </a:r>
            <a:endParaRPr lang="en-US" sz="1800" dirty="0"/>
          </a:p>
        </p:txBody>
      </p:sp>
      <p:sp>
        <p:nvSpPr>
          <p:cNvPr id="17" name="Shape 17"/>
          <p:cNvSpPr/>
          <p:nvPr/>
        </p:nvSpPr>
        <p:spPr>
          <a:xfrm>
            <a:off x="8897617" y="1261872"/>
            <a:ext cx="1961027"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&lt; price[pos]</a:t>
            </a:r>
            <a:r>
              <a:rPr lang="en-US" sz="1800" b="1" dirty="0">
                <a:solidFill>
                  <a:srgbClr val="FFFFFF"/>
                </a:solidFill>
              </a:rPr>
              <a:t>?</a:t>
            </a:r>
            <a:endParaRPr lang="en-US" sz="1800" dirty="0"/>
          </a:p>
        </p:txBody>
      </p:sp>
      <p:sp>
        <p:nvSpPr>
          <p:cNvPr id="18" name="Shape 18"/>
          <p:cNvSpPr/>
          <p:nvPr/>
        </p:nvSpPr>
        <p:spPr>
          <a:xfrm>
            <a:off x="10858644" y="1261872"/>
            <a:ext cx="784411"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pos</a:t>
            </a:r>
            <a:endParaRPr lang="en-US" sz="1800" dirty="0"/>
          </a:p>
        </p:txBody>
      </p:sp>
      <p:sp>
        <p:nvSpPr>
          <p:cNvPr id="19" name="Shape 19"/>
          <p:cNvSpPr/>
          <p:nvPr/>
        </p:nvSpPr>
        <p:spPr>
          <a:xfrm>
            <a:off x="6675120" y="1882140"/>
            <a:ext cx="915146"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start</a:t>
            </a:r>
            <a:endParaRPr lang="en-US" sz="2400" dirty="0"/>
          </a:p>
        </p:txBody>
      </p:sp>
      <p:sp>
        <p:nvSpPr>
          <p:cNvPr id="20" name="Shape 20"/>
          <p:cNvSpPr/>
          <p:nvPr/>
        </p:nvSpPr>
        <p:spPr>
          <a:xfrm>
            <a:off x="7590266" y="1882140"/>
            <a:ext cx="1307351" cy="6202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21" name="Shape 21"/>
          <p:cNvSpPr/>
          <p:nvPr/>
        </p:nvSpPr>
        <p:spPr>
          <a:xfrm>
            <a:off x="8897617" y="1882140"/>
            <a:ext cx="1961027" cy="6202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22" name="Shape 22"/>
          <p:cNvSpPr/>
          <p:nvPr/>
        </p:nvSpPr>
        <p:spPr>
          <a:xfrm>
            <a:off x="10858644" y="1882140"/>
            <a:ext cx="784411"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3" name="Shape 23"/>
          <p:cNvSpPr/>
          <p:nvPr/>
        </p:nvSpPr>
        <p:spPr>
          <a:xfrm>
            <a:off x="6675120" y="2502408"/>
            <a:ext cx="915146"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4" name="Shape 24"/>
          <p:cNvSpPr/>
          <p:nvPr/>
        </p:nvSpPr>
        <p:spPr>
          <a:xfrm>
            <a:off x="7590266" y="2502408"/>
            <a:ext cx="1307351"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9</a:t>
            </a:r>
            <a:endParaRPr lang="en-US" sz="2400" dirty="0"/>
          </a:p>
        </p:txBody>
      </p:sp>
      <p:sp>
        <p:nvSpPr>
          <p:cNvPr id="25" name="Shape 25"/>
          <p:cNvSpPr/>
          <p:nvPr/>
        </p:nvSpPr>
        <p:spPr>
          <a:xfrm>
            <a:off x="8897617" y="2502408"/>
            <a:ext cx="1961027"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26" name="Shape 26"/>
          <p:cNvSpPr/>
          <p:nvPr/>
        </p:nvSpPr>
        <p:spPr>
          <a:xfrm>
            <a:off x="10858644" y="2502408"/>
            <a:ext cx="784411"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7" name="Shape 27"/>
          <p:cNvSpPr/>
          <p:nvPr/>
        </p:nvSpPr>
        <p:spPr>
          <a:xfrm>
            <a:off x="6675120" y="3122676"/>
            <a:ext cx="915146"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8" name="Shape 28"/>
          <p:cNvSpPr/>
          <p:nvPr/>
        </p:nvSpPr>
        <p:spPr>
          <a:xfrm>
            <a:off x="7590266" y="3122676"/>
            <a:ext cx="1307351"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9" name="Shape 29"/>
          <p:cNvSpPr/>
          <p:nvPr/>
        </p:nvSpPr>
        <p:spPr>
          <a:xfrm>
            <a:off x="8897617" y="3122676"/>
            <a:ext cx="1961027"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30" name="Shape 30"/>
          <p:cNvSpPr/>
          <p:nvPr/>
        </p:nvSpPr>
        <p:spPr>
          <a:xfrm>
            <a:off x="10858644" y="3122676"/>
            <a:ext cx="784411"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31" name="Shape 31"/>
          <p:cNvSpPr/>
          <p:nvPr/>
        </p:nvSpPr>
        <p:spPr>
          <a:xfrm>
            <a:off x="6675120" y="3742944"/>
            <a:ext cx="915146"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32" name="Shape 32"/>
          <p:cNvSpPr/>
          <p:nvPr/>
        </p:nvSpPr>
        <p:spPr>
          <a:xfrm>
            <a:off x="7590266" y="3742944"/>
            <a:ext cx="1307351"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11</a:t>
            </a:r>
            <a:endParaRPr lang="en-US" sz="2400" dirty="0"/>
          </a:p>
        </p:txBody>
      </p:sp>
      <p:sp>
        <p:nvSpPr>
          <p:cNvPr id="33" name="Shape 33"/>
          <p:cNvSpPr/>
          <p:nvPr/>
        </p:nvSpPr>
        <p:spPr>
          <a:xfrm>
            <a:off x="8897617" y="3742944"/>
            <a:ext cx="1961027"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34" name="Shape 34"/>
          <p:cNvSpPr/>
          <p:nvPr/>
        </p:nvSpPr>
        <p:spPr>
          <a:xfrm>
            <a:off x="10858644" y="3742944"/>
            <a:ext cx="784411"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35" name="Shape 35"/>
          <p:cNvSpPr/>
          <p:nvPr/>
        </p:nvSpPr>
        <p:spPr>
          <a:xfrm>
            <a:off x="6675120" y="4363212"/>
            <a:ext cx="915146"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6" name="Shape 36"/>
          <p:cNvSpPr/>
          <p:nvPr/>
        </p:nvSpPr>
        <p:spPr>
          <a:xfrm>
            <a:off x="7590266" y="4363212"/>
            <a:ext cx="1307351"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8</a:t>
            </a:r>
            <a:endParaRPr lang="en-US" sz="2400" dirty="0"/>
          </a:p>
        </p:txBody>
      </p:sp>
      <p:sp>
        <p:nvSpPr>
          <p:cNvPr id="37" name="Shape 37"/>
          <p:cNvSpPr/>
          <p:nvPr/>
        </p:nvSpPr>
        <p:spPr>
          <a:xfrm>
            <a:off x="8897617" y="4363212"/>
            <a:ext cx="1961027"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no</a:t>
            </a:r>
            <a:endParaRPr lang="en-US" sz="2400" dirty="0"/>
          </a:p>
        </p:txBody>
      </p:sp>
      <p:sp>
        <p:nvSpPr>
          <p:cNvPr id="38" name="Shape 38"/>
          <p:cNvSpPr/>
          <p:nvPr/>
        </p:nvSpPr>
        <p:spPr>
          <a:xfrm>
            <a:off x="10858644" y="4363212"/>
            <a:ext cx="784411"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8B5CF6"/>
          </a:solidFill>
          <a:ln>
            <a:noFill/>
          </a:ln>
        </p:spPr>
        <p:txBody>
          <a:bodyPr wrap="square" lIns="0" tIns="0" rIns="0" bIns="0" rtlCol="0" anchor="ctr"/>
          <a:lstStyle/>
          <a:p>
            <a:pPr marL="0" indent="0" algn="ctr">
              <a:buNone/>
            </a:pPr>
            <a:r>
              <a:rPr lang="en-US" sz="5400" b="1" dirty="0">
                <a:solidFill>
                  <a:srgbClr val="FFFFFF"/>
                </a:solidFill>
              </a:rPr>
              <a:t>4</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Swap and bubble sort</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Put the array in order</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10</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Careful: swap two elements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44</a:t>
            </a:r>
            <a:endParaRPr lang="en-US" sz="1400" dirty="0"/>
          </a:p>
        </p:txBody>
      </p:sp>
      <p:sp>
        <p:nvSpPr>
          <p:cNvPr id="6" name="Shape 6"/>
          <p:cNvSpPr/>
          <p:nvPr/>
        </p:nvSpPr>
        <p:spPr>
          <a:xfrm>
            <a:off x="548640" y="1261872"/>
            <a:ext cx="2377440" cy="457200"/>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CAREFUL</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a[0]</a:t>
            </a:r>
            <a:r>
              <a:rPr lang="en-US" sz="3200" dirty="0">
                <a:solidFill>
                  <a:srgbClr val="18324A"/>
                </a:solidFill>
              </a:rPr>
              <a:t> is 3, </a:t>
            </a:r>
            <a:r>
              <a:rPr lang="en-US" sz="3200" dirty="0">
                <a:solidFill>
                  <a:srgbClr val="2F80ED"/>
                </a:solidFill>
                <a:latin typeface="Consolas"/>
                <a:ea typeface="Consolas"/>
                <a:cs typeface="Consolas"/>
              </a:rPr>
              <a:t>a[1]</a:t>
            </a:r>
            <a:r>
              <a:rPr lang="en-US" sz="3200" dirty="0">
                <a:solidFill>
                  <a:srgbClr val="18324A"/>
                </a:solidFill>
              </a:rPr>
              <a:t> is 7.</a:t>
            </a:r>
            <a:endParaRPr lang="en-US" sz="3200" dirty="0"/>
          </a:p>
          <a:p>
            <a:pPr marL="0" indent="0" algn="l">
              <a:spcAft>
                <a:spcPts val="600"/>
              </a:spcAft>
              <a:buNone/>
            </a:pPr>
            <a:r>
              <a:rPr lang="en-US" sz="3200" dirty="0">
                <a:solidFill>
                  <a:srgbClr val="18324A"/>
                </a:solidFill>
              </a:rPr>
              <a:t>We want </a:t>
            </a:r>
            <a:r>
              <a:rPr lang="en-US" sz="3200" dirty="0">
                <a:solidFill>
                  <a:srgbClr val="2F80ED"/>
                </a:solidFill>
                <a:latin typeface="Consolas"/>
                <a:ea typeface="Consolas"/>
                <a:cs typeface="Consolas"/>
              </a:rPr>
              <a:t>7 3</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is printed?</a:t>
            </a:r>
            <a:endParaRPr lang="en-US" sz="3200" dirty="0"/>
          </a:p>
        </p:txBody>
      </p:sp>
      <p:sp>
        <p:nvSpPr>
          <p:cNvPr id="8" name="Shape 8"/>
          <p:cNvSpPr/>
          <p:nvPr/>
        </p:nvSpPr>
        <p:spPr>
          <a:xfrm>
            <a:off x="5760720" y="1261872"/>
            <a:ext cx="5882335" cy="35090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509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#include &lt;stdio.h&gt;</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int main(void) {</a:t>
            </a:r>
            <a:endParaRPr lang="en-US" sz="2200" dirty="0"/>
          </a:p>
          <a:p>
            <a:pPr marL="0" indent="0" algn="l">
              <a:lnSpc>
                <a:spcPts val="2750"/>
              </a:lnSpc>
              <a:buNone/>
            </a:pPr>
            <a:r>
              <a:rPr lang="en-US" sz="2200" dirty="0">
                <a:solidFill>
                  <a:srgbClr val="E5E7EB"/>
                </a:solidFill>
                <a:latin typeface="Consolas"/>
                <a:ea typeface="Consolas"/>
                <a:cs typeface="Consolas"/>
              </a:rPr>
              <a:t>    int a[2] = {3, 7};</a:t>
            </a:r>
            <a:endParaRPr lang="en-US" sz="2200" dirty="0"/>
          </a:p>
          <a:p>
            <a:pPr marL="0" indent="0" algn="l">
              <a:lnSpc>
                <a:spcPts val="2750"/>
              </a:lnSpc>
              <a:buNone/>
            </a:pPr>
            <a:r>
              <a:rPr lang="en-US" sz="2200" dirty="0">
                <a:solidFill>
                  <a:srgbClr val="E5E7EB"/>
                </a:solidFill>
                <a:latin typeface="Consolas"/>
                <a:ea typeface="Consolas"/>
                <a:cs typeface="Consolas"/>
              </a:rPr>
              <a:t>    a[0] = a[1];</a:t>
            </a:r>
            <a:endParaRPr lang="en-US" sz="2200" dirty="0"/>
          </a:p>
          <a:p>
            <a:pPr marL="0" indent="0" algn="l">
              <a:lnSpc>
                <a:spcPts val="2750"/>
              </a:lnSpc>
              <a:buNone/>
            </a:pPr>
            <a:r>
              <a:rPr lang="en-US" sz="2200" dirty="0">
                <a:solidFill>
                  <a:srgbClr val="E5E7EB"/>
                </a:solidFill>
                <a:latin typeface="Consolas"/>
                <a:ea typeface="Consolas"/>
                <a:cs typeface="Consolas"/>
              </a:rPr>
              <a:t>    a[1] = a[0];</a:t>
            </a:r>
            <a:endParaRPr lang="en-US" sz="2200" dirty="0"/>
          </a:p>
          <a:p>
            <a:pPr marL="0" indent="0" algn="l">
              <a:lnSpc>
                <a:spcPts val="2750"/>
              </a:lnSpc>
              <a:buNone/>
            </a:pPr>
            <a:r>
              <a:rPr lang="en-US" sz="2200" dirty="0">
                <a:solidFill>
                  <a:srgbClr val="E5E7EB"/>
                </a:solidFill>
                <a:latin typeface="Consolas"/>
                <a:ea typeface="Consolas"/>
                <a:cs typeface="Consolas"/>
              </a:rPr>
              <a:t>    printf("%d %d\n", a[0], a[1]);</a:t>
            </a:r>
            <a:endParaRPr lang="en-US" sz="2200" dirty="0"/>
          </a:p>
          <a:p>
            <a:pPr marL="0" indent="0" algn="l">
              <a:lnSpc>
                <a:spcPts val="2750"/>
              </a:lnSpc>
              <a:buNone/>
            </a:pPr>
            <a:r>
              <a:rPr lang="en-US" sz="2200" dirty="0">
                <a:solidFill>
                  <a:srgbClr val="E5E7EB"/>
                </a:solidFill>
                <a:latin typeface="Consolas"/>
                <a:ea typeface="Consolas"/>
                <a:cs typeface="Consolas"/>
              </a:rPr>
              <a:t>    return 0;</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Both are 7</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45</a:t>
            </a:r>
            <a:endParaRPr lang="en-US" sz="1400" dirty="0"/>
          </a:p>
        </p:txBody>
      </p:sp>
      <p:sp>
        <p:nvSpPr>
          <p:cNvPr id="6" name="Shape 6"/>
          <p:cNvSpPr/>
          <p:nvPr/>
        </p:nvSpPr>
        <p:spPr>
          <a:xfrm>
            <a:off x="548640" y="1261872"/>
            <a:ext cx="6766560" cy="40805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13702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54977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0805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#include &lt;stdio.h&gt;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int main(void) {</a:t>
            </a:r>
            <a:endParaRPr lang="en-US" sz="2600" dirty="0"/>
          </a:p>
          <a:p>
            <a:pPr marL="0" indent="0" algn="l">
              <a:lnSpc>
                <a:spcPts val="3250"/>
              </a:lnSpc>
              <a:buNone/>
            </a:pPr>
            <a:r>
              <a:rPr lang="en-US" sz="2600" dirty="0">
                <a:solidFill>
                  <a:srgbClr val="64748B"/>
                </a:solidFill>
                <a:latin typeface="Consolas"/>
                <a:ea typeface="Consolas"/>
                <a:cs typeface="Consolas"/>
              </a:rPr>
              <a:t>    int a[2] = {3, 7};</a:t>
            </a:r>
            <a:endParaRPr lang="en-US" sz="2600" dirty="0"/>
          </a:p>
          <a:p>
            <a:pPr marL="0" indent="0" algn="l">
              <a:lnSpc>
                <a:spcPts val="3250"/>
              </a:lnSpc>
              <a:buNone/>
            </a:pPr>
            <a:r>
              <a:rPr lang="en-US" sz="2600" dirty="0">
                <a:solidFill>
                  <a:srgbClr val="FFFFFF"/>
                </a:solidFill>
                <a:latin typeface="Consolas"/>
                <a:ea typeface="Consolas"/>
                <a:cs typeface="Consolas"/>
              </a:rPr>
              <a:t>    a[0] = a[1];</a:t>
            </a:r>
            <a:endParaRPr lang="en-US" sz="2600" dirty="0"/>
          </a:p>
          <a:p>
            <a:pPr marL="0" indent="0" algn="l">
              <a:lnSpc>
                <a:spcPts val="3250"/>
              </a:lnSpc>
              <a:buNone/>
            </a:pPr>
            <a:r>
              <a:rPr lang="en-US" sz="2600" dirty="0">
                <a:solidFill>
                  <a:srgbClr val="FFFFFF"/>
                </a:solidFill>
                <a:latin typeface="Consolas"/>
                <a:ea typeface="Consolas"/>
                <a:cs typeface="Consolas"/>
              </a:rPr>
              <a:t>    a[1] = a[0];</a:t>
            </a:r>
            <a:endParaRPr lang="en-US" sz="2600" dirty="0"/>
          </a:p>
          <a:p>
            <a:pPr marL="0" indent="0" algn="l">
              <a:lnSpc>
                <a:spcPts val="3250"/>
              </a:lnSpc>
              <a:buNone/>
            </a:pPr>
            <a:r>
              <a:rPr lang="en-US" sz="2600" dirty="0">
                <a:solidFill>
                  <a:srgbClr val="64748B"/>
                </a:solidFill>
                <a:latin typeface="Consolas"/>
                <a:ea typeface="Consolas"/>
                <a:cs typeface="Consolas"/>
              </a:rPr>
              <a:t>    printf("%d %d\n", a[0], a[1]);</a:t>
            </a:r>
            <a:endParaRPr lang="en-US" sz="2600" dirty="0"/>
          </a:p>
          <a:p>
            <a:pPr marL="0" indent="0" algn="l">
              <a:lnSpc>
                <a:spcPts val="3250"/>
              </a:lnSpc>
              <a:buNone/>
            </a:pPr>
            <a:r>
              <a:rPr lang="en-US" sz="2600" dirty="0">
                <a:solidFill>
                  <a:srgbClr val="64748B"/>
                </a:solidFill>
                <a:latin typeface="Consolas"/>
                <a:ea typeface="Consolas"/>
                <a:cs typeface="Consolas"/>
              </a:rPr>
              <a:t>    return 0;</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7 7</a:t>
            </a:r>
            <a:endParaRPr lang="en-US" sz="2400" dirty="0"/>
          </a:p>
        </p:txBody>
      </p:sp>
      <p:sp>
        <p:nvSpPr>
          <p:cNvPr id="15" name="Shape 15"/>
          <p:cNvSpPr/>
          <p:nvPr/>
        </p:nvSpPr>
        <p:spPr>
          <a:xfrm>
            <a:off x="7589520" y="2667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6" name="Shape 16"/>
          <p:cNvSpPr/>
          <p:nvPr/>
        </p:nvSpPr>
        <p:spPr>
          <a:xfrm>
            <a:off x="7589520" y="2667000"/>
            <a:ext cx="109728" cy="1051560"/>
          </a:xfrm>
          <a:prstGeom prst="rect">
            <a:avLst/>
          </a:prstGeom>
          <a:solidFill>
            <a:srgbClr val="FF6B6B"/>
          </a:solidFill>
          <a:ln>
            <a:noFill/>
          </a:ln>
        </p:spPr>
        <p:txBody>
          <a:bodyPr wrap="square" lIns="0" tIns="0" rIns="0" bIns="0" rtlCol="0" anchor="t"/>
          <a:lstStyle/>
          <a:p>
            <a:endParaRPr lang="en-US"/>
          </a:p>
        </p:txBody>
      </p:sp>
      <p:sp>
        <p:nvSpPr>
          <p:cNvPr id="17"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Line 5: </a:t>
            </a:r>
            <a:r>
              <a:rPr lang="en-US" sz="2400" dirty="0">
                <a:solidFill>
                  <a:srgbClr val="18324A"/>
                </a:solidFill>
                <a:latin typeface="Consolas"/>
                <a:ea typeface="Consolas"/>
                <a:cs typeface="Consolas"/>
              </a:rPr>
              <a:t>a[0]</a:t>
            </a:r>
            <a:r>
              <a:rPr lang="en-US" sz="2400" dirty="0">
                <a:solidFill>
                  <a:srgbClr val="18324A"/>
                </a:solidFill>
              </a:rPr>
              <a:t> becomes 7. The 3 is </a:t>
            </a:r>
            <a:r>
              <a:rPr lang="en-US" sz="2400" b="1" dirty="0">
                <a:solidFill>
                  <a:srgbClr val="18324A"/>
                </a:solidFill>
              </a:rPr>
              <a:t>lost</a:t>
            </a:r>
            <a:r>
              <a:rPr lang="en-US" sz="2400" dirty="0">
                <a:solidFill>
                  <a:srgbClr val="18324A"/>
                </a:solidFill>
              </a:rPr>
              <a:t>.</a:t>
            </a:r>
            <a:endParaRPr lang="en-US" sz="2400" dirty="0"/>
          </a:p>
        </p:txBody>
      </p:sp>
      <p:sp>
        <p:nvSpPr>
          <p:cNvPr id="18" name="Shape 18"/>
          <p:cNvSpPr/>
          <p:nvPr/>
        </p:nvSpPr>
        <p:spPr>
          <a:xfrm>
            <a:off x="7589520" y="39197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9" name="Shape 19"/>
          <p:cNvSpPr/>
          <p:nvPr/>
        </p:nvSpPr>
        <p:spPr>
          <a:xfrm>
            <a:off x="7589520" y="3919728"/>
            <a:ext cx="109728" cy="1051560"/>
          </a:xfrm>
          <a:prstGeom prst="rect">
            <a:avLst/>
          </a:prstGeom>
          <a:solidFill>
            <a:srgbClr val="FF6B6B"/>
          </a:solidFill>
          <a:ln>
            <a:noFill/>
          </a:ln>
        </p:spPr>
        <p:txBody>
          <a:bodyPr wrap="square" lIns="0" tIns="0" rIns="0" bIns="0" rtlCol="0" anchor="t"/>
          <a:lstStyle/>
          <a:p>
            <a:endParaRPr lang="en-US"/>
          </a:p>
        </p:txBody>
      </p:sp>
      <p:sp>
        <p:nvSpPr>
          <p:cNvPr id="20" name="Callout"/>
          <p:cNvSpPr/>
          <p:nvPr/>
        </p:nvSpPr>
        <p:spPr>
          <a:xfrm>
            <a:off x="7699248" y="3919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Line 6 copies that 7 back.</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Swap with a third box</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46</a:t>
            </a:r>
            <a:endParaRPr lang="en-US" sz="1400" dirty="0"/>
          </a:p>
        </p:txBody>
      </p:sp>
      <p:sp>
        <p:nvSpPr>
          <p:cNvPr id="6" name="Shape 6"/>
          <p:cNvSpPr/>
          <p:nvPr/>
        </p:nvSpPr>
        <p:spPr>
          <a:xfrm>
            <a:off x="548640" y="1261872"/>
            <a:ext cx="6766560" cy="4493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13702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54977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962527"/>
            <a:ext cx="6766560" cy="4127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962527"/>
            <a:ext cx="82296" cy="4127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4932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#include &lt;stdio.h&gt;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int main(void) {</a:t>
            </a:r>
            <a:endParaRPr lang="en-US" sz="2600" dirty="0"/>
          </a:p>
          <a:p>
            <a:pPr marL="0" indent="0" algn="l">
              <a:lnSpc>
                <a:spcPts val="3250"/>
              </a:lnSpc>
              <a:buNone/>
            </a:pPr>
            <a:r>
              <a:rPr lang="en-US" sz="2600" dirty="0">
                <a:solidFill>
                  <a:srgbClr val="64748B"/>
                </a:solidFill>
                <a:latin typeface="Consolas"/>
                <a:ea typeface="Consolas"/>
                <a:cs typeface="Consolas"/>
              </a:rPr>
              <a:t>    int a[2] = {3, 7};</a:t>
            </a:r>
            <a:endParaRPr lang="en-US" sz="2600" dirty="0"/>
          </a:p>
          <a:p>
            <a:pPr marL="0" indent="0" algn="l">
              <a:lnSpc>
                <a:spcPts val="3250"/>
              </a:lnSpc>
              <a:buNone/>
            </a:pPr>
            <a:r>
              <a:rPr lang="en-US" sz="2600" dirty="0">
                <a:solidFill>
                  <a:srgbClr val="FFFFFF"/>
                </a:solidFill>
                <a:latin typeface="Consolas"/>
                <a:ea typeface="Consolas"/>
                <a:cs typeface="Consolas"/>
              </a:rPr>
              <a:t>    int temp = a[0];</a:t>
            </a:r>
            <a:endParaRPr lang="en-US" sz="2600" dirty="0"/>
          </a:p>
          <a:p>
            <a:pPr marL="0" indent="0" algn="l">
              <a:lnSpc>
                <a:spcPts val="3250"/>
              </a:lnSpc>
              <a:buNone/>
            </a:pPr>
            <a:r>
              <a:rPr lang="en-US" sz="2600" dirty="0">
                <a:solidFill>
                  <a:srgbClr val="FFFFFF"/>
                </a:solidFill>
                <a:latin typeface="Consolas"/>
                <a:ea typeface="Consolas"/>
                <a:cs typeface="Consolas"/>
              </a:rPr>
              <a:t>    a[0] = a[1];</a:t>
            </a:r>
            <a:endParaRPr lang="en-US" sz="2600" dirty="0"/>
          </a:p>
          <a:p>
            <a:pPr marL="0" indent="0" algn="l">
              <a:lnSpc>
                <a:spcPts val="3250"/>
              </a:lnSpc>
              <a:buNone/>
            </a:pPr>
            <a:r>
              <a:rPr lang="en-US" sz="2600" dirty="0">
                <a:solidFill>
                  <a:srgbClr val="FFFFFF"/>
                </a:solidFill>
                <a:latin typeface="Consolas"/>
                <a:ea typeface="Consolas"/>
                <a:cs typeface="Consolas"/>
              </a:rPr>
              <a:t>    a[1] = temp;</a:t>
            </a:r>
            <a:endParaRPr lang="en-US" sz="2600" dirty="0"/>
          </a:p>
          <a:p>
            <a:pPr marL="0" indent="0" algn="l">
              <a:lnSpc>
                <a:spcPts val="3250"/>
              </a:lnSpc>
              <a:buNone/>
            </a:pPr>
            <a:r>
              <a:rPr lang="en-US" sz="2600" dirty="0">
                <a:solidFill>
                  <a:srgbClr val="64748B"/>
                </a:solidFill>
                <a:latin typeface="Consolas"/>
                <a:ea typeface="Consolas"/>
                <a:cs typeface="Consolas"/>
              </a:rPr>
              <a:t>    printf("%d %d\n", a[0], a[1]);</a:t>
            </a:r>
            <a:endParaRPr lang="en-US" sz="2600" dirty="0"/>
          </a:p>
          <a:p>
            <a:pPr marL="0" indent="0" algn="l">
              <a:lnSpc>
                <a:spcPts val="3250"/>
              </a:lnSpc>
              <a:buNone/>
            </a:pPr>
            <a:r>
              <a:rPr lang="en-US" sz="2600" dirty="0">
                <a:solidFill>
                  <a:srgbClr val="64748B"/>
                </a:solidFill>
                <a:latin typeface="Consolas"/>
                <a:ea typeface="Consolas"/>
                <a:cs typeface="Consolas"/>
              </a:rPr>
              <a:t>    return 0;</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7 3</a:t>
            </a:r>
            <a:endParaRPr lang="en-US" sz="2400" dirty="0"/>
          </a:p>
        </p:txBody>
      </p:sp>
      <p:sp>
        <p:nvSpPr>
          <p:cNvPr id="17" name="Shape 17"/>
          <p:cNvSpPr/>
          <p:nvPr/>
        </p:nvSpPr>
        <p:spPr>
          <a:xfrm>
            <a:off x="7589520" y="266700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8" name="Shape 18"/>
          <p:cNvSpPr/>
          <p:nvPr/>
        </p:nvSpPr>
        <p:spPr>
          <a:xfrm>
            <a:off x="7589520" y="2667000"/>
            <a:ext cx="109728" cy="685800"/>
          </a:xfrm>
          <a:prstGeom prst="rect">
            <a:avLst/>
          </a:prstGeom>
          <a:solidFill>
            <a:srgbClr val="31C48D"/>
          </a:solidFill>
          <a:ln>
            <a:noFill/>
          </a:ln>
        </p:spPr>
        <p:txBody>
          <a:bodyPr wrap="square" lIns="0" tIns="0" rIns="0" bIns="0" rtlCol="0" anchor="t"/>
          <a:lstStyle/>
          <a:p>
            <a:endParaRPr lang="en-US"/>
          </a:p>
        </p:txBody>
      </p:sp>
      <p:sp>
        <p:nvSpPr>
          <p:cNvPr id="19" name="Callout"/>
          <p:cNvSpPr/>
          <p:nvPr/>
        </p:nvSpPr>
        <p:spPr>
          <a:xfrm>
            <a:off x="7699248" y="26670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temp</a:t>
            </a:r>
            <a:r>
              <a:rPr lang="en-US" sz="2400" dirty="0">
                <a:solidFill>
                  <a:srgbClr val="18324A"/>
                </a:solidFill>
              </a:rPr>
              <a:t> keeps the 3 safe.</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swap in three moves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47</a:t>
            </a:r>
            <a:endParaRPr lang="en-US" sz="1400" dirty="0"/>
          </a:p>
        </p:txBody>
      </p:sp>
      <p:sp>
        <p:nvSpPr>
          <p:cNvPr id="6" name="Shape 6"/>
          <p:cNvSpPr/>
          <p:nvPr/>
        </p:nvSpPr>
        <p:spPr>
          <a:xfrm>
            <a:off x="548640" y="1536192"/>
            <a:ext cx="3545738"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1. save</a:t>
            </a:r>
            <a:endParaRPr lang="en-US" sz="2600" dirty="0"/>
          </a:p>
        </p:txBody>
      </p:sp>
      <p:sp>
        <p:nvSpPr>
          <p:cNvPr id="7" name="Shape 7"/>
          <p:cNvSpPr/>
          <p:nvPr/>
        </p:nvSpPr>
        <p:spPr>
          <a:xfrm>
            <a:off x="548640" y="2267712"/>
            <a:ext cx="3545738"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2F80ED"/>
                </a:solidFill>
                <a:latin typeface="Consolas"/>
                <a:ea typeface="Consolas"/>
                <a:cs typeface="Consolas"/>
              </a:rPr>
              <a:t>temp = a[0];</a:t>
            </a:r>
            <a:endParaRPr lang="en-US" sz="2400" dirty="0"/>
          </a:p>
          <a:p>
            <a:pPr marL="0" indent="0" algn="ctr">
              <a:spcAft>
                <a:spcPts val="600"/>
              </a:spcAft>
              <a:buNone/>
            </a:pPr>
            <a:r>
              <a:rPr lang="en-US" sz="2400" dirty="0">
                <a:solidFill>
                  <a:srgbClr val="18324A"/>
                </a:solidFill>
              </a:rPr>
              <a:t>temp: 3</a:t>
            </a:r>
            <a:endParaRPr lang="en-US" sz="2400" dirty="0"/>
          </a:p>
        </p:txBody>
      </p:sp>
      <p:sp>
        <p:nvSpPr>
          <p:cNvPr id="8" name="Shape 8"/>
          <p:cNvSpPr/>
          <p:nvPr/>
        </p:nvSpPr>
        <p:spPr>
          <a:xfrm>
            <a:off x="4322978" y="1536192"/>
            <a:ext cx="3545738"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2. copy</a:t>
            </a:r>
            <a:endParaRPr lang="en-US" sz="2600" dirty="0"/>
          </a:p>
        </p:txBody>
      </p:sp>
      <p:sp>
        <p:nvSpPr>
          <p:cNvPr id="9" name="Shape 9"/>
          <p:cNvSpPr/>
          <p:nvPr/>
        </p:nvSpPr>
        <p:spPr>
          <a:xfrm>
            <a:off x="4322978" y="2267712"/>
            <a:ext cx="3545738"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2F80ED"/>
                </a:solidFill>
                <a:latin typeface="Consolas"/>
                <a:ea typeface="Consolas"/>
                <a:cs typeface="Consolas"/>
              </a:rPr>
              <a:t>a[0] = a[1];</a:t>
            </a:r>
            <a:endParaRPr lang="en-US" sz="2400" dirty="0"/>
          </a:p>
          <a:p>
            <a:pPr marL="0" indent="0" algn="ctr">
              <a:spcAft>
                <a:spcPts val="600"/>
              </a:spcAft>
              <a:buNone/>
            </a:pPr>
            <a:r>
              <a:rPr lang="en-US" sz="2400" dirty="0">
                <a:solidFill>
                  <a:srgbClr val="18324A"/>
                </a:solidFill>
              </a:rPr>
              <a:t>a[0]: 7</a:t>
            </a:r>
            <a:endParaRPr lang="en-US" sz="2400" dirty="0"/>
          </a:p>
        </p:txBody>
      </p:sp>
      <p:sp>
        <p:nvSpPr>
          <p:cNvPr id="10" name="Shape 10"/>
          <p:cNvSpPr/>
          <p:nvPr/>
        </p:nvSpPr>
        <p:spPr>
          <a:xfrm>
            <a:off x="8097317" y="1536192"/>
            <a:ext cx="3545738"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rPr>
              <a:t>3. restore</a:t>
            </a:r>
            <a:endParaRPr lang="en-US" sz="2600" dirty="0"/>
          </a:p>
        </p:txBody>
      </p:sp>
      <p:sp>
        <p:nvSpPr>
          <p:cNvPr id="11" name="Shape 11"/>
          <p:cNvSpPr/>
          <p:nvPr/>
        </p:nvSpPr>
        <p:spPr>
          <a:xfrm>
            <a:off x="8097317" y="2267712"/>
            <a:ext cx="3545738"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dirty="0">
                <a:solidFill>
                  <a:srgbClr val="2F80ED"/>
                </a:solidFill>
                <a:latin typeface="Consolas"/>
                <a:ea typeface="Consolas"/>
                <a:cs typeface="Consolas"/>
              </a:rPr>
              <a:t>a[1] = temp;</a:t>
            </a:r>
            <a:endParaRPr lang="en-US" sz="2400" dirty="0"/>
          </a:p>
          <a:p>
            <a:pPr marL="0" indent="0" algn="ctr">
              <a:spcAft>
                <a:spcPts val="600"/>
              </a:spcAft>
              <a:buNone/>
            </a:pPr>
            <a:r>
              <a:rPr lang="en-US" sz="2400" dirty="0">
                <a:solidFill>
                  <a:srgbClr val="18324A"/>
                </a:solidFill>
              </a:rPr>
              <a:t>a[1]: 3</a:t>
            </a:r>
            <a:endParaRPr lang="en-US" sz="2400" dirty="0"/>
          </a:p>
        </p:txBody>
      </p:sp>
      <p:sp>
        <p:nvSpPr>
          <p:cNvPr id="12" name="Shape 12"/>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Like swapping the drinks in two full glasses: you need a third, empty glass.</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Bubble sort: the idea</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48</a:t>
            </a:r>
            <a:endParaRPr lang="en-US" sz="1400" dirty="0"/>
          </a:p>
        </p:txBody>
      </p:sp>
      <p:sp>
        <p:nvSpPr>
          <p:cNvPr id="6" name="Shape 6"/>
          <p:cNvSpPr/>
          <p:nvPr/>
        </p:nvSpPr>
        <p:spPr>
          <a:xfrm>
            <a:off x="548640" y="1399032"/>
            <a:ext cx="109728" cy="1402080"/>
          </a:xfrm>
          <a:prstGeom prst="rect">
            <a:avLst/>
          </a:prstGeom>
          <a:solidFill>
            <a:srgbClr val="06B6D4"/>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Compare two neighbours. Wrong order? Swap them.</a:t>
            </a:r>
            <a:endParaRPr lang="en-US" sz="4000" dirty="0"/>
          </a:p>
        </p:txBody>
      </p:sp>
      <p:sp>
        <p:nvSpPr>
          <p:cNvPr id="8" name="Shape 8"/>
          <p:cNvSpPr/>
          <p:nvPr/>
        </p:nvSpPr>
        <p:spPr>
          <a:xfrm>
            <a:off x="914400" y="32125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Do it for every pair, from the left: that is one </a:t>
            </a:r>
            <a:r>
              <a:rPr lang="en-US" sz="3000" b="1" dirty="0">
                <a:solidFill>
                  <a:srgbClr val="18324A"/>
                </a:solidFill>
              </a:rPr>
              <a:t>pass</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After one pass, the </a:t>
            </a:r>
            <a:r>
              <a:rPr lang="en-US" sz="3000" b="1" dirty="0">
                <a:solidFill>
                  <a:srgbClr val="18324A"/>
                </a:solidFill>
              </a:rPr>
              <a:t>largest</a:t>
            </a:r>
            <a:r>
              <a:rPr lang="en-US" sz="3000" dirty="0">
                <a:solidFill>
                  <a:srgbClr val="18324A"/>
                </a:solidFill>
              </a:rPr>
              <a:t> is at the end.</a:t>
            </a:r>
            <a:endParaRPr lang="en-US" sz="3000" dirty="0"/>
          </a:p>
          <a:p>
            <a:pPr marL="0" indent="0" algn="l">
              <a:spcAft>
                <a:spcPts val="1600"/>
              </a:spcAft>
              <a:buNone/>
            </a:pPr>
            <a:r>
              <a:rPr lang="en-US" sz="3000" dirty="0">
                <a:solidFill>
                  <a:srgbClr val="18324A"/>
                </a:solidFill>
              </a:rPr>
              <a:t>Repeat the pass until the array is in order.</a:t>
            </a:r>
            <a:endParaRPr lang="en-US" sz="3000" dirty="0"/>
          </a:p>
        </p:txBody>
      </p:sp>
      <p:sp>
        <p:nvSpPr>
          <p:cNvPr id="9" name="Shape 9"/>
          <p:cNvSpPr/>
          <p:nvPr/>
        </p:nvSpPr>
        <p:spPr>
          <a:xfrm>
            <a:off x="548640" y="5577840"/>
            <a:ext cx="11094415" cy="685800"/>
          </a:xfrm>
          <a:prstGeom prst="rect">
            <a:avLst/>
          </a:prstGeom>
          <a:solidFill>
            <a:srgbClr val="FFFFFF"/>
          </a:solidFill>
          <a:ln w="19050">
            <a:solidFill>
              <a:srgbClr val="06B6D4"/>
            </a:solidFill>
          </a:ln>
        </p:spPr>
        <p:txBody>
          <a:bodyPr wrap="square" lIns="0" tIns="0" rIns="0" bIns="0" rtlCol="0" anchor="t"/>
          <a:lstStyle/>
          <a:p>
            <a:endParaRPr lang="en-US"/>
          </a:p>
        </p:txBody>
      </p:sp>
      <p:sp>
        <p:nvSpPr>
          <p:cNvPr id="10" name="Shape 10"/>
          <p:cNvSpPr/>
          <p:nvPr/>
        </p:nvSpPr>
        <p:spPr>
          <a:xfrm>
            <a:off x="548640" y="5577840"/>
            <a:ext cx="109728" cy="685800"/>
          </a:xfrm>
          <a:prstGeom prst="rect">
            <a:avLst/>
          </a:prstGeom>
          <a:solidFill>
            <a:srgbClr val="06B6D4"/>
          </a:solidFill>
          <a:ln>
            <a:noFill/>
          </a:ln>
        </p:spPr>
        <p:txBody>
          <a:bodyPr wrap="square" lIns="0" tIns="0" rIns="0" bIns="0" rtlCol="0" anchor="t"/>
          <a:lstStyle/>
          <a:p>
            <a:endParaRPr lang="en-US"/>
          </a:p>
        </p:txBody>
      </p:sp>
      <p:sp>
        <p:nvSpPr>
          <p:cNvPr id="11"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big numbers rise to the end like bubbles in water.</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pass over 5 3 8 4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Start at the left: 5 and 3 are in the wrong order. Swap.</a:t>
            </a:r>
            <a:endParaRPr lang="en-US" sz="2400" dirty="0"/>
          </a:p>
        </p:txBody>
      </p:sp>
      <p:sp>
        <p:nvSpPr>
          <p:cNvPr id="9" name="Shape 9"/>
          <p:cNvSpPr/>
          <p:nvPr/>
        </p:nvSpPr>
        <p:spPr>
          <a:xfrm>
            <a:off x="548640" y="1261872"/>
            <a:ext cx="3503500"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compare</a:t>
            </a:r>
            <a:endParaRPr lang="en-US" sz="1800" dirty="0"/>
          </a:p>
        </p:txBody>
      </p:sp>
      <p:sp>
        <p:nvSpPr>
          <p:cNvPr id="10" name="Shape 10"/>
          <p:cNvSpPr/>
          <p:nvPr/>
        </p:nvSpPr>
        <p:spPr>
          <a:xfrm>
            <a:off x="4052140" y="1261872"/>
            <a:ext cx="2335666"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swap?</a:t>
            </a:r>
            <a:endParaRPr lang="en-US" sz="1800" dirty="0"/>
          </a:p>
        </p:txBody>
      </p:sp>
      <p:sp>
        <p:nvSpPr>
          <p:cNvPr id="11" name="Shape 11"/>
          <p:cNvSpPr/>
          <p:nvPr/>
        </p:nvSpPr>
        <p:spPr>
          <a:xfrm>
            <a:off x="6387806" y="1261872"/>
            <a:ext cx="525524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array after</a:t>
            </a:r>
            <a:endParaRPr lang="en-US" sz="1800" dirty="0"/>
          </a:p>
        </p:txBody>
      </p:sp>
      <p:sp>
        <p:nvSpPr>
          <p:cNvPr id="12" name="Shape 12"/>
          <p:cNvSpPr/>
          <p:nvPr/>
        </p:nvSpPr>
        <p:spPr>
          <a:xfrm>
            <a:off x="548640" y="1920240"/>
            <a:ext cx="3503500"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5 and 3</a:t>
            </a:r>
            <a:endParaRPr lang="en-US" sz="2600" dirty="0"/>
          </a:p>
        </p:txBody>
      </p:sp>
      <p:sp>
        <p:nvSpPr>
          <p:cNvPr id="13" name="Shape 13"/>
          <p:cNvSpPr/>
          <p:nvPr/>
        </p:nvSpPr>
        <p:spPr>
          <a:xfrm>
            <a:off x="4052140" y="1920240"/>
            <a:ext cx="2335666"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0E9F6E"/>
                </a:solidFill>
              </a:rPr>
              <a:t>yes</a:t>
            </a:r>
            <a:endParaRPr lang="en-US" sz="2600" dirty="0"/>
          </a:p>
        </p:txBody>
      </p:sp>
      <p:sp>
        <p:nvSpPr>
          <p:cNvPr id="14" name="Shape 14"/>
          <p:cNvSpPr/>
          <p:nvPr/>
        </p:nvSpPr>
        <p:spPr>
          <a:xfrm>
            <a:off x="6387806" y="1920240"/>
            <a:ext cx="525524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3 5 8 4 2</a:t>
            </a:r>
            <a:endParaRPr lang="en-US" sz="2600" dirty="0"/>
          </a:p>
        </p:txBody>
      </p:sp>
      <p:sp>
        <p:nvSpPr>
          <p:cNvPr id="15" name="Shape 15"/>
          <p:cNvSpPr/>
          <p:nvPr/>
        </p:nvSpPr>
        <p:spPr>
          <a:xfrm>
            <a:off x="548640" y="2578608"/>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6" name="Shape 16"/>
          <p:cNvSpPr/>
          <p:nvPr/>
        </p:nvSpPr>
        <p:spPr>
          <a:xfrm>
            <a:off x="4052140" y="2578608"/>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7" name="Shape 17"/>
          <p:cNvSpPr/>
          <p:nvPr/>
        </p:nvSpPr>
        <p:spPr>
          <a:xfrm>
            <a:off x="6387806" y="2578608"/>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8" name="Shape 18"/>
          <p:cNvSpPr/>
          <p:nvPr/>
        </p:nvSpPr>
        <p:spPr>
          <a:xfrm>
            <a:off x="548640" y="3236976"/>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9" name="Shape 19"/>
          <p:cNvSpPr/>
          <p:nvPr/>
        </p:nvSpPr>
        <p:spPr>
          <a:xfrm>
            <a:off x="4052140" y="3236976"/>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0" name="Shape 20"/>
          <p:cNvSpPr/>
          <p:nvPr/>
        </p:nvSpPr>
        <p:spPr>
          <a:xfrm>
            <a:off x="6387806" y="3236976"/>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1" name="Shape 21"/>
          <p:cNvSpPr/>
          <p:nvPr/>
        </p:nvSpPr>
        <p:spPr>
          <a:xfrm>
            <a:off x="548640" y="3895344"/>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4052140" y="3895344"/>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6387806" y="3895344"/>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pass over 5 3 8 4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5 and 8 are in order. Leave them.</a:t>
            </a:r>
            <a:endParaRPr lang="en-US" sz="2400" dirty="0"/>
          </a:p>
        </p:txBody>
      </p:sp>
      <p:sp>
        <p:nvSpPr>
          <p:cNvPr id="9" name="Shape 9"/>
          <p:cNvSpPr/>
          <p:nvPr/>
        </p:nvSpPr>
        <p:spPr>
          <a:xfrm>
            <a:off x="548640" y="1261872"/>
            <a:ext cx="3503500"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compare</a:t>
            </a:r>
            <a:endParaRPr lang="en-US" sz="1800" dirty="0"/>
          </a:p>
        </p:txBody>
      </p:sp>
      <p:sp>
        <p:nvSpPr>
          <p:cNvPr id="10" name="Shape 10"/>
          <p:cNvSpPr/>
          <p:nvPr/>
        </p:nvSpPr>
        <p:spPr>
          <a:xfrm>
            <a:off x="4052140" y="1261872"/>
            <a:ext cx="2335666"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swap?</a:t>
            </a:r>
            <a:endParaRPr lang="en-US" sz="1800" dirty="0"/>
          </a:p>
        </p:txBody>
      </p:sp>
      <p:sp>
        <p:nvSpPr>
          <p:cNvPr id="11" name="Shape 11"/>
          <p:cNvSpPr/>
          <p:nvPr/>
        </p:nvSpPr>
        <p:spPr>
          <a:xfrm>
            <a:off x="6387806" y="1261872"/>
            <a:ext cx="525524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array after</a:t>
            </a:r>
            <a:endParaRPr lang="en-US" sz="1800" dirty="0"/>
          </a:p>
        </p:txBody>
      </p:sp>
      <p:sp>
        <p:nvSpPr>
          <p:cNvPr id="12" name="Shape 12"/>
          <p:cNvSpPr/>
          <p:nvPr/>
        </p:nvSpPr>
        <p:spPr>
          <a:xfrm>
            <a:off x="548640" y="1920240"/>
            <a:ext cx="3503500"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5 and 3</a:t>
            </a:r>
            <a:endParaRPr lang="en-US" sz="2600" dirty="0"/>
          </a:p>
        </p:txBody>
      </p:sp>
      <p:sp>
        <p:nvSpPr>
          <p:cNvPr id="13" name="Shape 13"/>
          <p:cNvSpPr/>
          <p:nvPr/>
        </p:nvSpPr>
        <p:spPr>
          <a:xfrm>
            <a:off x="4052140" y="1920240"/>
            <a:ext cx="233566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0E9F6E"/>
                </a:solidFill>
              </a:rPr>
              <a:t>yes</a:t>
            </a:r>
            <a:endParaRPr lang="en-US" sz="2600" dirty="0"/>
          </a:p>
        </p:txBody>
      </p:sp>
      <p:sp>
        <p:nvSpPr>
          <p:cNvPr id="14" name="Shape 14"/>
          <p:cNvSpPr/>
          <p:nvPr/>
        </p:nvSpPr>
        <p:spPr>
          <a:xfrm>
            <a:off x="6387806" y="1920240"/>
            <a:ext cx="525524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b="1" dirty="0">
                <a:solidFill>
                  <a:srgbClr val="18324A"/>
                </a:solidFill>
              </a:rPr>
              <a:t>3 5</a:t>
            </a:r>
            <a:r>
              <a:rPr lang="en-US" sz="2600" dirty="0">
                <a:solidFill>
                  <a:srgbClr val="18324A"/>
                </a:solidFill>
              </a:rPr>
              <a:t> 8 4 2</a:t>
            </a:r>
            <a:endParaRPr lang="en-US" sz="2600" dirty="0"/>
          </a:p>
        </p:txBody>
      </p:sp>
      <p:sp>
        <p:nvSpPr>
          <p:cNvPr id="15" name="Shape 15"/>
          <p:cNvSpPr/>
          <p:nvPr/>
        </p:nvSpPr>
        <p:spPr>
          <a:xfrm>
            <a:off x="548640" y="2578608"/>
            <a:ext cx="3503500"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5 and 8</a:t>
            </a:r>
            <a:endParaRPr lang="en-US" sz="2600" dirty="0"/>
          </a:p>
        </p:txBody>
      </p:sp>
      <p:sp>
        <p:nvSpPr>
          <p:cNvPr id="16" name="Shape 16"/>
          <p:cNvSpPr/>
          <p:nvPr/>
        </p:nvSpPr>
        <p:spPr>
          <a:xfrm>
            <a:off x="4052140" y="2578608"/>
            <a:ext cx="2335666"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E02424"/>
                </a:solidFill>
              </a:rPr>
              <a:t>no</a:t>
            </a:r>
            <a:endParaRPr lang="en-US" sz="2600" dirty="0"/>
          </a:p>
        </p:txBody>
      </p:sp>
      <p:sp>
        <p:nvSpPr>
          <p:cNvPr id="17" name="Shape 17"/>
          <p:cNvSpPr/>
          <p:nvPr/>
        </p:nvSpPr>
        <p:spPr>
          <a:xfrm>
            <a:off x="6387806" y="2578608"/>
            <a:ext cx="525524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3 5 8 4 2</a:t>
            </a:r>
            <a:endParaRPr lang="en-US" sz="2600" dirty="0"/>
          </a:p>
        </p:txBody>
      </p:sp>
      <p:sp>
        <p:nvSpPr>
          <p:cNvPr id="18" name="Shape 18"/>
          <p:cNvSpPr/>
          <p:nvPr/>
        </p:nvSpPr>
        <p:spPr>
          <a:xfrm>
            <a:off x="548640" y="3236976"/>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9" name="Shape 19"/>
          <p:cNvSpPr/>
          <p:nvPr/>
        </p:nvSpPr>
        <p:spPr>
          <a:xfrm>
            <a:off x="4052140" y="3236976"/>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0" name="Shape 20"/>
          <p:cNvSpPr/>
          <p:nvPr/>
        </p:nvSpPr>
        <p:spPr>
          <a:xfrm>
            <a:off x="6387806" y="3236976"/>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1" name="Shape 21"/>
          <p:cNvSpPr/>
          <p:nvPr/>
        </p:nvSpPr>
        <p:spPr>
          <a:xfrm>
            <a:off x="548640" y="3895344"/>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4052140" y="3895344"/>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6387806" y="3895344"/>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pass over 5 3 8 4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51</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8 is carried to the end, swap by swap. It is now in its place.</a:t>
            </a:r>
            <a:endParaRPr lang="en-US" sz="2400" dirty="0"/>
          </a:p>
        </p:txBody>
      </p:sp>
      <p:sp>
        <p:nvSpPr>
          <p:cNvPr id="9" name="Shape 9"/>
          <p:cNvSpPr/>
          <p:nvPr/>
        </p:nvSpPr>
        <p:spPr>
          <a:xfrm>
            <a:off x="548640" y="1261872"/>
            <a:ext cx="3503500"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compare</a:t>
            </a:r>
            <a:endParaRPr lang="en-US" sz="1800" dirty="0"/>
          </a:p>
        </p:txBody>
      </p:sp>
      <p:sp>
        <p:nvSpPr>
          <p:cNvPr id="10" name="Shape 10"/>
          <p:cNvSpPr/>
          <p:nvPr/>
        </p:nvSpPr>
        <p:spPr>
          <a:xfrm>
            <a:off x="4052140" y="1261872"/>
            <a:ext cx="2335666"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swap?</a:t>
            </a:r>
            <a:endParaRPr lang="en-US" sz="1800" dirty="0"/>
          </a:p>
        </p:txBody>
      </p:sp>
      <p:sp>
        <p:nvSpPr>
          <p:cNvPr id="11" name="Shape 11"/>
          <p:cNvSpPr/>
          <p:nvPr/>
        </p:nvSpPr>
        <p:spPr>
          <a:xfrm>
            <a:off x="6387806" y="1261872"/>
            <a:ext cx="525524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array after</a:t>
            </a:r>
            <a:endParaRPr lang="en-US" sz="1800" dirty="0"/>
          </a:p>
        </p:txBody>
      </p:sp>
      <p:sp>
        <p:nvSpPr>
          <p:cNvPr id="12" name="Shape 12"/>
          <p:cNvSpPr/>
          <p:nvPr/>
        </p:nvSpPr>
        <p:spPr>
          <a:xfrm>
            <a:off x="548640" y="1920240"/>
            <a:ext cx="3503500"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5 and 3</a:t>
            </a:r>
            <a:endParaRPr lang="en-US" sz="2600" dirty="0"/>
          </a:p>
        </p:txBody>
      </p:sp>
      <p:sp>
        <p:nvSpPr>
          <p:cNvPr id="13" name="Shape 13"/>
          <p:cNvSpPr/>
          <p:nvPr/>
        </p:nvSpPr>
        <p:spPr>
          <a:xfrm>
            <a:off x="4052140" y="1920240"/>
            <a:ext cx="233566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0E9F6E"/>
                </a:solidFill>
              </a:rPr>
              <a:t>yes</a:t>
            </a:r>
            <a:endParaRPr lang="en-US" sz="2600" dirty="0"/>
          </a:p>
        </p:txBody>
      </p:sp>
      <p:sp>
        <p:nvSpPr>
          <p:cNvPr id="14" name="Shape 14"/>
          <p:cNvSpPr/>
          <p:nvPr/>
        </p:nvSpPr>
        <p:spPr>
          <a:xfrm>
            <a:off x="6387806" y="1920240"/>
            <a:ext cx="525524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b="1" dirty="0">
                <a:solidFill>
                  <a:srgbClr val="18324A"/>
                </a:solidFill>
              </a:rPr>
              <a:t>3 5</a:t>
            </a:r>
            <a:r>
              <a:rPr lang="en-US" sz="2600" dirty="0">
                <a:solidFill>
                  <a:srgbClr val="18324A"/>
                </a:solidFill>
              </a:rPr>
              <a:t> 8 4 2</a:t>
            </a:r>
            <a:endParaRPr lang="en-US" sz="2600" dirty="0"/>
          </a:p>
        </p:txBody>
      </p:sp>
      <p:sp>
        <p:nvSpPr>
          <p:cNvPr id="15" name="Shape 15"/>
          <p:cNvSpPr/>
          <p:nvPr/>
        </p:nvSpPr>
        <p:spPr>
          <a:xfrm>
            <a:off x="548640" y="2578608"/>
            <a:ext cx="3503500"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5 and 8</a:t>
            </a:r>
            <a:endParaRPr lang="en-US" sz="2600" dirty="0"/>
          </a:p>
        </p:txBody>
      </p:sp>
      <p:sp>
        <p:nvSpPr>
          <p:cNvPr id="16" name="Shape 16"/>
          <p:cNvSpPr/>
          <p:nvPr/>
        </p:nvSpPr>
        <p:spPr>
          <a:xfrm>
            <a:off x="4052140" y="2578608"/>
            <a:ext cx="2335666"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E02424"/>
                </a:solidFill>
              </a:rPr>
              <a:t>no</a:t>
            </a:r>
            <a:endParaRPr lang="en-US" sz="2600" dirty="0"/>
          </a:p>
        </p:txBody>
      </p:sp>
      <p:sp>
        <p:nvSpPr>
          <p:cNvPr id="17" name="Shape 17"/>
          <p:cNvSpPr/>
          <p:nvPr/>
        </p:nvSpPr>
        <p:spPr>
          <a:xfrm>
            <a:off x="6387806" y="2578608"/>
            <a:ext cx="525524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3 </a:t>
            </a:r>
            <a:r>
              <a:rPr lang="en-US" sz="2600" b="1" dirty="0">
                <a:solidFill>
                  <a:srgbClr val="18324A"/>
                </a:solidFill>
              </a:rPr>
              <a:t>5 8</a:t>
            </a:r>
            <a:r>
              <a:rPr lang="en-US" sz="2600" dirty="0">
                <a:solidFill>
                  <a:srgbClr val="18324A"/>
                </a:solidFill>
              </a:rPr>
              <a:t> 4 2</a:t>
            </a:r>
            <a:endParaRPr lang="en-US" sz="2600" dirty="0"/>
          </a:p>
        </p:txBody>
      </p:sp>
      <p:sp>
        <p:nvSpPr>
          <p:cNvPr id="18" name="Shape 18"/>
          <p:cNvSpPr/>
          <p:nvPr/>
        </p:nvSpPr>
        <p:spPr>
          <a:xfrm>
            <a:off x="548640" y="3236976"/>
            <a:ext cx="3503500"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8 and 4</a:t>
            </a:r>
            <a:endParaRPr lang="en-US" sz="2600" dirty="0"/>
          </a:p>
        </p:txBody>
      </p:sp>
      <p:sp>
        <p:nvSpPr>
          <p:cNvPr id="19" name="Shape 19"/>
          <p:cNvSpPr/>
          <p:nvPr/>
        </p:nvSpPr>
        <p:spPr>
          <a:xfrm>
            <a:off x="4052140" y="3236976"/>
            <a:ext cx="233566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0E9F6E"/>
                </a:solidFill>
              </a:rPr>
              <a:t>yes</a:t>
            </a:r>
            <a:endParaRPr lang="en-US" sz="2600" dirty="0"/>
          </a:p>
        </p:txBody>
      </p:sp>
      <p:sp>
        <p:nvSpPr>
          <p:cNvPr id="20" name="Shape 20"/>
          <p:cNvSpPr/>
          <p:nvPr/>
        </p:nvSpPr>
        <p:spPr>
          <a:xfrm>
            <a:off x="6387806" y="3236976"/>
            <a:ext cx="525524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3 5 </a:t>
            </a:r>
            <a:r>
              <a:rPr lang="en-US" sz="2600" b="1" dirty="0">
                <a:solidFill>
                  <a:srgbClr val="18324A"/>
                </a:solidFill>
              </a:rPr>
              <a:t>4 8</a:t>
            </a:r>
            <a:r>
              <a:rPr lang="en-US" sz="2600" dirty="0">
                <a:solidFill>
                  <a:srgbClr val="18324A"/>
                </a:solidFill>
              </a:rPr>
              <a:t> 2</a:t>
            </a:r>
            <a:endParaRPr lang="en-US" sz="2600" dirty="0"/>
          </a:p>
        </p:txBody>
      </p:sp>
      <p:sp>
        <p:nvSpPr>
          <p:cNvPr id="21" name="Shape 21"/>
          <p:cNvSpPr/>
          <p:nvPr/>
        </p:nvSpPr>
        <p:spPr>
          <a:xfrm>
            <a:off x="548640" y="3895344"/>
            <a:ext cx="3503500"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8 and 2</a:t>
            </a:r>
            <a:endParaRPr lang="en-US" sz="2600" dirty="0"/>
          </a:p>
        </p:txBody>
      </p:sp>
      <p:sp>
        <p:nvSpPr>
          <p:cNvPr id="22" name="Shape 22"/>
          <p:cNvSpPr/>
          <p:nvPr/>
        </p:nvSpPr>
        <p:spPr>
          <a:xfrm>
            <a:off x="4052140" y="3895344"/>
            <a:ext cx="2335666"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0E9F6E"/>
                </a:solidFill>
              </a:rPr>
              <a:t>yes</a:t>
            </a:r>
            <a:endParaRPr lang="en-US" sz="2600" dirty="0"/>
          </a:p>
        </p:txBody>
      </p:sp>
      <p:sp>
        <p:nvSpPr>
          <p:cNvPr id="23" name="Shape 23"/>
          <p:cNvSpPr/>
          <p:nvPr/>
        </p:nvSpPr>
        <p:spPr>
          <a:xfrm>
            <a:off x="6387806" y="3895344"/>
            <a:ext cx="525524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3 5 4 2 8</a:t>
            </a:r>
            <a:endParaRPr lang="en-US" sz="2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pass in C</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52</a:t>
            </a:r>
            <a:endParaRPr lang="en-US" sz="1400" dirty="0"/>
          </a:p>
        </p:txBody>
      </p:sp>
      <p:sp>
        <p:nvSpPr>
          <p:cNvPr id="6" name="Shape 6"/>
          <p:cNvSpPr/>
          <p:nvPr/>
        </p:nvSpPr>
        <p:spPr>
          <a:xfrm>
            <a:off x="548640" y="1261872"/>
            <a:ext cx="713232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863852"/>
            <a:ext cx="713232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863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244852"/>
            <a:ext cx="713232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244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713232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a[N] = {5, 3, 8, 4, 2};</a:t>
            </a:r>
            <a:endParaRPr lang="en-US" sz="2400" dirty="0"/>
          </a:p>
          <a:p>
            <a:pPr marL="0" indent="0" algn="l">
              <a:lnSpc>
                <a:spcPts val="3000"/>
              </a:lnSpc>
              <a:buNone/>
            </a:pPr>
            <a:r>
              <a:rPr lang="en-US" sz="2400" dirty="0">
                <a:solidFill>
                  <a:srgbClr val="FFFFFF"/>
                </a:solidFill>
                <a:latin typeface="Consolas"/>
                <a:ea typeface="Consolas"/>
                <a:cs typeface="Consolas"/>
              </a:rPr>
              <a:t>for (int j = 0; j &lt; N - 1; j++) {</a:t>
            </a:r>
            <a:endParaRPr lang="en-US" sz="2400" dirty="0"/>
          </a:p>
          <a:p>
            <a:pPr marL="0" indent="0" algn="l">
              <a:lnSpc>
                <a:spcPts val="3000"/>
              </a:lnSpc>
              <a:buNone/>
            </a:pPr>
            <a:r>
              <a:rPr lang="en-US" sz="2400" dirty="0">
                <a:solidFill>
                  <a:srgbClr val="FFFFFF"/>
                </a:solidFill>
                <a:latin typeface="Consolas"/>
                <a:ea typeface="Consolas"/>
                <a:cs typeface="Consolas"/>
              </a:rPr>
              <a:t>    if (a[j] &gt; a[j + 1]) {</a:t>
            </a:r>
            <a:endParaRPr lang="en-US" sz="2400" dirty="0"/>
          </a:p>
          <a:p>
            <a:pPr marL="0" indent="0" algn="l">
              <a:lnSpc>
                <a:spcPts val="3000"/>
              </a:lnSpc>
              <a:buNone/>
            </a:pPr>
            <a:r>
              <a:rPr lang="en-US" sz="2400" dirty="0">
                <a:solidFill>
                  <a:srgbClr val="64748B"/>
                </a:solidFill>
                <a:latin typeface="Consolas"/>
                <a:ea typeface="Consolas"/>
                <a:cs typeface="Consolas"/>
              </a:rPr>
              <a:t>        int temp = a[j];</a:t>
            </a:r>
            <a:endParaRPr lang="en-US" sz="2400" dirty="0"/>
          </a:p>
          <a:p>
            <a:pPr marL="0" indent="0" algn="l">
              <a:lnSpc>
                <a:spcPts val="3000"/>
              </a:lnSpc>
              <a:buNone/>
            </a:pPr>
            <a:r>
              <a:rPr lang="en-US" sz="2400" dirty="0">
                <a:solidFill>
                  <a:srgbClr val="64748B"/>
                </a:solidFill>
                <a:latin typeface="Consolas"/>
                <a:ea typeface="Consolas"/>
                <a:cs typeface="Consolas"/>
              </a:rPr>
              <a:t>        a[j] = a[j + 1];</a:t>
            </a:r>
            <a:endParaRPr lang="en-US" sz="2400" dirty="0"/>
          </a:p>
          <a:p>
            <a:pPr marL="0" indent="0" algn="l">
              <a:lnSpc>
                <a:spcPts val="3000"/>
              </a:lnSpc>
              <a:buNone/>
            </a:pPr>
            <a:r>
              <a:rPr lang="en-US" sz="2400" dirty="0">
                <a:solidFill>
                  <a:srgbClr val="64748B"/>
                </a:solidFill>
                <a:latin typeface="Consolas"/>
                <a:ea typeface="Consolas"/>
                <a:cs typeface="Consolas"/>
              </a:rPr>
              <a:t>        a[j + 1] = temp;</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for (int i = 0; i &lt; N; i++) {</a:t>
            </a:r>
            <a:endParaRPr lang="en-US" sz="2400" dirty="0"/>
          </a:p>
          <a:p>
            <a:pPr marL="0" indent="0" algn="l">
              <a:lnSpc>
                <a:spcPts val="3000"/>
              </a:lnSpc>
              <a:buNone/>
            </a:pPr>
            <a:r>
              <a:rPr lang="en-US" sz="2400" dirty="0">
                <a:solidFill>
                  <a:srgbClr val="64748B"/>
                </a:solidFill>
                <a:latin typeface="Consolas"/>
                <a:ea typeface="Consolas"/>
                <a:cs typeface="Consolas"/>
              </a:rPr>
              <a:t>    printf("%d ", a[i]);</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printf("\n");</a:t>
            </a:r>
            <a:endParaRPr lang="en-US" sz="2400" dirty="0"/>
          </a:p>
        </p:txBody>
      </p:sp>
      <p:sp>
        <p:nvSpPr>
          <p:cNvPr id="12" name="Shape 12"/>
          <p:cNvSpPr/>
          <p:nvPr/>
        </p:nvSpPr>
        <p:spPr>
          <a:xfrm>
            <a:off x="7955280" y="1261872"/>
            <a:ext cx="368777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955280" y="1645920"/>
            <a:ext cx="3687775" cy="746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955280" y="1645920"/>
            <a:ext cx="368777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3 5 4 2 8 </a:t>
            </a:r>
            <a:endParaRPr lang="en-US" sz="2400" dirty="0"/>
          </a:p>
        </p:txBody>
      </p:sp>
      <p:sp>
        <p:nvSpPr>
          <p:cNvPr id="15" name="Shape 15"/>
          <p:cNvSpPr/>
          <p:nvPr/>
        </p:nvSpPr>
        <p:spPr>
          <a:xfrm>
            <a:off x="7955280" y="2667000"/>
            <a:ext cx="368777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6" name="Shape 16"/>
          <p:cNvSpPr/>
          <p:nvPr/>
        </p:nvSpPr>
        <p:spPr>
          <a:xfrm>
            <a:off x="7955280" y="2667000"/>
            <a:ext cx="109728" cy="1051560"/>
          </a:xfrm>
          <a:prstGeom prst="rect">
            <a:avLst/>
          </a:prstGeom>
          <a:solidFill>
            <a:srgbClr val="F59E0B"/>
          </a:solidFill>
          <a:ln>
            <a:noFill/>
          </a:ln>
        </p:spPr>
        <p:txBody>
          <a:bodyPr wrap="square" lIns="0" tIns="0" rIns="0" bIns="0" rtlCol="0" anchor="t"/>
          <a:lstStyle/>
          <a:p>
            <a:endParaRPr lang="en-US"/>
          </a:p>
        </p:txBody>
      </p:sp>
      <p:sp>
        <p:nvSpPr>
          <p:cNvPr id="17" name="Callout"/>
          <p:cNvSpPr/>
          <p:nvPr/>
        </p:nvSpPr>
        <p:spPr>
          <a:xfrm>
            <a:off x="8065008" y="2667000"/>
            <a:ext cx="357804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j &lt; N - 1</a:t>
            </a:r>
            <a:r>
              <a:rPr lang="en-US" sz="2400" dirty="0">
                <a:solidFill>
                  <a:srgbClr val="18324A"/>
                </a:solidFill>
              </a:rPr>
              <a:t>: </a:t>
            </a:r>
            <a:r>
              <a:rPr lang="en-US" sz="2400" dirty="0">
                <a:solidFill>
                  <a:srgbClr val="18324A"/>
                </a:solidFill>
                <a:latin typeface="Consolas"/>
                <a:ea typeface="Consolas"/>
                <a:cs typeface="Consolas"/>
              </a:rPr>
              <a:t>a[j + 1]</a:t>
            </a:r>
            <a:r>
              <a:rPr lang="en-US" sz="2400" dirty="0">
                <a:solidFill>
                  <a:srgbClr val="18324A"/>
                </a:solidFill>
              </a:rPr>
              <a:t> stays inside.</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Pass after pass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53</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After pass 1 the largest, 8, is in its place.</a:t>
            </a:r>
            <a:endParaRPr lang="en-US" sz="2400" dirty="0"/>
          </a:p>
        </p:txBody>
      </p:sp>
      <p:sp>
        <p:nvSpPr>
          <p:cNvPr id="9" name="Shape 9"/>
          <p:cNvSpPr/>
          <p:nvPr/>
        </p:nvSpPr>
        <p:spPr>
          <a:xfrm>
            <a:off x="548640" y="1261872"/>
            <a:ext cx="2335666"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pass</a:t>
            </a:r>
            <a:endParaRPr lang="en-US" sz="1800" dirty="0"/>
          </a:p>
        </p:txBody>
      </p:sp>
      <p:sp>
        <p:nvSpPr>
          <p:cNvPr id="10" name="Shape 10"/>
          <p:cNvSpPr/>
          <p:nvPr/>
        </p:nvSpPr>
        <p:spPr>
          <a:xfrm>
            <a:off x="2884306" y="1261872"/>
            <a:ext cx="525524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array after it</a:t>
            </a:r>
            <a:endParaRPr lang="en-US" sz="1800" dirty="0"/>
          </a:p>
        </p:txBody>
      </p:sp>
      <p:sp>
        <p:nvSpPr>
          <p:cNvPr id="11" name="Shape 11"/>
          <p:cNvSpPr/>
          <p:nvPr/>
        </p:nvSpPr>
        <p:spPr>
          <a:xfrm>
            <a:off x="8139556" y="1261872"/>
            <a:ext cx="3503500"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in place</a:t>
            </a:r>
            <a:endParaRPr lang="en-US" sz="1800" dirty="0"/>
          </a:p>
        </p:txBody>
      </p:sp>
      <p:sp>
        <p:nvSpPr>
          <p:cNvPr id="12" name="Shape 12"/>
          <p:cNvSpPr/>
          <p:nvPr/>
        </p:nvSpPr>
        <p:spPr>
          <a:xfrm>
            <a:off x="548640" y="1920240"/>
            <a:ext cx="233566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start</a:t>
            </a:r>
            <a:endParaRPr lang="en-US" sz="2600" dirty="0"/>
          </a:p>
        </p:txBody>
      </p:sp>
      <p:sp>
        <p:nvSpPr>
          <p:cNvPr id="13" name="Shape 13"/>
          <p:cNvSpPr/>
          <p:nvPr/>
        </p:nvSpPr>
        <p:spPr>
          <a:xfrm>
            <a:off x="2884306" y="1920240"/>
            <a:ext cx="525524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5 3 8 4 2</a:t>
            </a:r>
            <a:endParaRPr lang="en-US" sz="2600" dirty="0"/>
          </a:p>
        </p:txBody>
      </p:sp>
      <p:sp>
        <p:nvSpPr>
          <p:cNvPr id="14" name="Shape 14"/>
          <p:cNvSpPr/>
          <p:nvPr/>
        </p:nvSpPr>
        <p:spPr>
          <a:xfrm>
            <a:off x="8139556" y="1920240"/>
            <a:ext cx="3503500" cy="6583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600" dirty="0"/>
          </a:p>
        </p:txBody>
      </p:sp>
      <p:sp>
        <p:nvSpPr>
          <p:cNvPr id="15" name="Shape 15"/>
          <p:cNvSpPr/>
          <p:nvPr/>
        </p:nvSpPr>
        <p:spPr>
          <a:xfrm>
            <a:off x="548640" y="2578608"/>
            <a:ext cx="2335666"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1</a:t>
            </a:r>
            <a:endParaRPr lang="en-US" sz="2600" dirty="0"/>
          </a:p>
        </p:txBody>
      </p:sp>
      <p:sp>
        <p:nvSpPr>
          <p:cNvPr id="16" name="Shape 16"/>
          <p:cNvSpPr/>
          <p:nvPr/>
        </p:nvSpPr>
        <p:spPr>
          <a:xfrm>
            <a:off x="2884306" y="2578608"/>
            <a:ext cx="525524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3 5 4 2 8</a:t>
            </a:r>
            <a:endParaRPr lang="en-US" sz="2600" dirty="0"/>
          </a:p>
        </p:txBody>
      </p:sp>
      <p:sp>
        <p:nvSpPr>
          <p:cNvPr id="17" name="Shape 17"/>
          <p:cNvSpPr/>
          <p:nvPr/>
        </p:nvSpPr>
        <p:spPr>
          <a:xfrm>
            <a:off x="8139556" y="2578608"/>
            <a:ext cx="3503500"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8</a:t>
            </a:r>
            <a:endParaRPr lang="en-US" sz="2600" dirty="0"/>
          </a:p>
        </p:txBody>
      </p:sp>
      <p:sp>
        <p:nvSpPr>
          <p:cNvPr id="18" name="Shape 18"/>
          <p:cNvSpPr/>
          <p:nvPr/>
        </p:nvSpPr>
        <p:spPr>
          <a:xfrm>
            <a:off x="548640" y="3236976"/>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19" name="Shape 19"/>
          <p:cNvSpPr/>
          <p:nvPr/>
        </p:nvSpPr>
        <p:spPr>
          <a:xfrm>
            <a:off x="2884306" y="3236976"/>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0" name="Shape 20"/>
          <p:cNvSpPr/>
          <p:nvPr/>
        </p:nvSpPr>
        <p:spPr>
          <a:xfrm>
            <a:off x="8139556" y="3236976"/>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1" name="Shape 21"/>
          <p:cNvSpPr/>
          <p:nvPr/>
        </p:nvSpPr>
        <p:spPr>
          <a:xfrm>
            <a:off x="548640" y="3895344"/>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2884306" y="3895344"/>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139556" y="3895344"/>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548640" y="4553712"/>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2884306" y="4553712"/>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8139556" y="4553712"/>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Pass after pass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54</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Pass 2 does the same for the rest: 5 goes next to the 8.</a:t>
            </a:r>
            <a:endParaRPr lang="en-US" sz="2400" dirty="0"/>
          </a:p>
        </p:txBody>
      </p:sp>
      <p:sp>
        <p:nvSpPr>
          <p:cNvPr id="9" name="Shape 9"/>
          <p:cNvSpPr/>
          <p:nvPr/>
        </p:nvSpPr>
        <p:spPr>
          <a:xfrm>
            <a:off x="548640" y="1261872"/>
            <a:ext cx="2335666"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pass</a:t>
            </a:r>
            <a:endParaRPr lang="en-US" sz="1800" dirty="0"/>
          </a:p>
        </p:txBody>
      </p:sp>
      <p:sp>
        <p:nvSpPr>
          <p:cNvPr id="10" name="Shape 10"/>
          <p:cNvSpPr/>
          <p:nvPr/>
        </p:nvSpPr>
        <p:spPr>
          <a:xfrm>
            <a:off x="2884306" y="1261872"/>
            <a:ext cx="5255249"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array after it</a:t>
            </a:r>
            <a:endParaRPr lang="en-US" sz="1800" dirty="0"/>
          </a:p>
        </p:txBody>
      </p:sp>
      <p:sp>
        <p:nvSpPr>
          <p:cNvPr id="11" name="Shape 11"/>
          <p:cNvSpPr/>
          <p:nvPr/>
        </p:nvSpPr>
        <p:spPr>
          <a:xfrm>
            <a:off x="8139556" y="1261872"/>
            <a:ext cx="3503500"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in place</a:t>
            </a:r>
            <a:endParaRPr lang="en-US" sz="1800" dirty="0"/>
          </a:p>
        </p:txBody>
      </p:sp>
      <p:sp>
        <p:nvSpPr>
          <p:cNvPr id="12" name="Shape 12"/>
          <p:cNvSpPr/>
          <p:nvPr/>
        </p:nvSpPr>
        <p:spPr>
          <a:xfrm>
            <a:off x="548640" y="1920240"/>
            <a:ext cx="233566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start</a:t>
            </a:r>
            <a:endParaRPr lang="en-US" sz="2600" dirty="0"/>
          </a:p>
        </p:txBody>
      </p:sp>
      <p:sp>
        <p:nvSpPr>
          <p:cNvPr id="13" name="Shape 13"/>
          <p:cNvSpPr/>
          <p:nvPr/>
        </p:nvSpPr>
        <p:spPr>
          <a:xfrm>
            <a:off x="2884306" y="1920240"/>
            <a:ext cx="5255249"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5 3 8 4 2</a:t>
            </a:r>
            <a:endParaRPr lang="en-US" sz="2600" dirty="0"/>
          </a:p>
        </p:txBody>
      </p:sp>
      <p:sp>
        <p:nvSpPr>
          <p:cNvPr id="14" name="Shape 14"/>
          <p:cNvSpPr/>
          <p:nvPr/>
        </p:nvSpPr>
        <p:spPr>
          <a:xfrm>
            <a:off x="8139556" y="1920240"/>
            <a:ext cx="3503500" cy="6583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600" dirty="0"/>
          </a:p>
        </p:txBody>
      </p:sp>
      <p:sp>
        <p:nvSpPr>
          <p:cNvPr id="15" name="Shape 15"/>
          <p:cNvSpPr/>
          <p:nvPr/>
        </p:nvSpPr>
        <p:spPr>
          <a:xfrm>
            <a:off x="548640" y="2578608"/>
            <a:ext cx="2335666"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1</a:t>
            </a:r>
            <a:endParaRPr lang="en-US" sz="2600" dirty="0"/>
          </a:p>
        </p:txBody>
      </p:sp>
      <p:sp>
        <p:nvSpPr>
          <p:cNvPr id="16" name="Shape 16"/>
          <p:cNvSpPr/>
          <p:nvPr/>
        </p:nvSpPr>
        <p:spPr>
          <a:xfrm>
            <a:off x="2884306" y="2578608"/>
            <a:ext cx="5255249"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3 5 4 2 </a:t>
            </a:r>
            <a:r>
              <a:rPr lang="en-US" sz="2600" b="1" dirty="0">
                <a:solidFill>
                  <a:srgbClr val="18324A"/>
                </a:solidFill>
              </a:rPr>
              <a:t>8</a:t>
            </a:r>
            <a:endParaRPr lang="en-US" sz="2600" dirty="0"/>
          </a:p>
        </p:txBody>
      </p:sp>
      <p:sp>
        <p:nvSpPr>
          <p:cNvPr id="17" name="Shape 17"/>
          <p:cNvSpPr/>
          <p:nvPr/>
        </p:nvSpPr>
        <p:spPr>
          <a:xfrm>
            <a:off x="8139556" y="2578608"/>
            <a:ext cx="3503500"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8</a:t>
            </a:r>
            <a:endParaRPr lang="en-US" sz="2600" dirty="0"/>
          </a:p>
        </p:txBody>
      </p:sp>
      <p:sp>
        <p:nvSpPr>
          <p:cNvPr id="18" name="Shape 18"/>
          <p:cNvSpPr/>
          <p:nvPr/>
        </p:nvSpPr>
        <p:spPr>
          <a:xfrm>
            <a:off x="548640" y="3236976"/>
            <a:ext cx="2335666"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2</a:t>
            </a:r>
            <a:endParaRPr lang="en-US" sz="2600" dirty="0"/>
          </a:p>
        </p:txBody>
      </p:sp>
      <p:sp>
        <p:nvSpPr>
          <p:cNvPr id="19" name="Shape 19"/>
          <p:cNvSpPr/>
          <p:nvPr/>
        </p:nvSpPr>
        <p:spPr>
          <a:xfrm>
            <a:off x="2884306" y="3236976"/>
            <a:ext cx="5255249"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3 4 2 5 8</a:t>
            </a:r>
            <a:endParaRPr lang="en-US" sz="2600" dirty="0"/>
          </a:p>
        </p:txBody>
      </p:sp>
      <p:sp>
        <p:nvSpPr>
          <p:cNvPr id="20" name="Shape 20"/>
          <p:cNvSpPr/>
          <p:nvPr/>
        </p:nvSpPr>
        <p:spPr>
          <a:xfrm>
            <a:off x="8139556" y="3236976"/>
            <a:ext cx="3503500"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5 8</a:t>
            </a:r>
            <a:endParaRPr lang="en-US" sz="2600" dirty="0"/>
          </a:p>
        </p:txBody>
      </p:sp>
      <p:sp>
        <p:nvSpPr>
          <p:cNvPr id="21" name="Shape 21"/>
          <p:cNvSpPr/>
          <p:nvPr/>
        </p:nvSpPr>
        <p:spPr>
          <a:xfrm>
            <a:off x="548640" y="3895344"/>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2884306" y="3895344"/>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139556" y="3895344"/>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548640" y="4553712"/>
            <a:ext cx="2335666"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2884306" y="4553712"/>
            <a:ext cx="5255249"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8139556" y="4553712"/>
            <a:ext cx="3503500"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Pass after pass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55</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5 numbers, 4 passes. After the last pass the smallest, 2, is first by itself.</a:t>
            </a:r>
            <a:endParaRPr lang="en-US" sz="2400" dirty="0"/>
          </a:p>
        </p:txBody>
      </p:sp>
      <p:sp>
        <p:nvSpPr>
          <p:cNvPr id="9" name="Shape 9"/>
          <p:cNvSpPr/>
          <p:nvPr/>
        </p:nvSpPr>
        <p:spPr>
          <a:xfrm>
            <a:off x="548640" y="1261872"/>
            <a:ext cx="2335666"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pass</a:t>
            </a:r>
            <a:endParaRPr lang="en-US" sz="1800" dirty="0"/>
          </a:p>
        </p:txBody>
      </p:sp>
      <p:sp>
        <p:nvSpPr>
          <p:cNvPr id="10" name="Shape 10"/>
          <p:cNvSpPr/>
          <p:nvPr/>
        </p:nvSpPr>
        <p:spPr>
          <a:xfrm>
            <a:off x="2884306" y="1261872"/>
            <a:ext cx="5255249"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array after it</a:t>
            </a:r>
            <a:endParaRPr lang="en-US" sz="1800" dirty="0"/>
          </a:p>
        </p:txBody>
      </p:sp>
      <p:sp>
        <p:nvSpPr>
          <p:cNvPr id="11" name="Shape 11"/>
          <p:cNvSpPr/>
          <p:nvPr/>
        </p:nvSpPr>
        <p:spPr>
          <a:xfrm>
            <a:off x="8139556" y="1261872"/>
            <a:ext cx="3503500"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in place</a:t>
            </a:r>
            <a:endParaRPr lang="en-US" sz="1800" dirty="0"/>
          </a:p>
        </p:txBody>
      </p:sp>
      <p:sp>
        <p:nvSpPr>
          <p:cNvPr id="12" name="Shape 12"/>
          <p:cNvSpPr/>
          <p:nvPr/>
        </p:nvSpPr>
        <p:spPr>
          <a:xfrm>
            <a:off x="548640" y="1882140"/>
            <a:ext cx="2335666"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start</a:t>
            </a:r>
            <a:endParaRPr lang="en-US" sz="2600" dirty="0"/>
          </a:p>
        </p:txBody>
      </p:sp>
      <p:sp>
        <p:nvSpPr>
          <p:cNvPr id="13" name="Shape 13"/>
          <p:cNvSpPr/>
          <p:nvPr/>
        </p:nvSpPr>
        <p:spPr>
          <a:xfrm>
            <a:off x="2884306" y="1882140"/>
            <a:ext cx="5255249"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5 3 8 4 2</a:t>
            </a:r>
            <a:endParaRPr lang="en-US" sz="2600" dirty="0"/>
          </a:p>
        </p:txBody>
      </p:sp>
      <p:sp>
        <p:nvSpPr>
          <p:cNvPr id="14" name="Shape 14"/>
          <p:cNvSpPr/>
          <p:nvPr/>
        </p:nvSpPr>
        <p:spPr>
          <a:xfrm>
            <a:off x="8139556" y="1882140"/>
            <a:ext cx="3503500" cy="620268"/>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600" dirty="0"/>
          </a:p>
        </p:txBody>
      </p:sp>
      <p:sp>
        <p:nvSpPr>
          <p:cNvPr id="15" name="Shape 15"/>
          <p:cNvSpPr/>
          <p:nvPr/>
        </p:nvSpPr>
        <p:spPr>
          <a:xfrm>
            <a:off x="548640" y="2502408"/>
            <a:ext cx="2335666"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1</a:t>
            </a:r>
            <a:endParaRPr lang="en-US" sz="2600" dirty="0"/>
          </a:p>
        </p:txBody>
      </p:sp>
      <p:sp>
        <p:nvSpPr>
          <p:cNvPr id="16" name="Shape 16"/>
          <p:cNvSpPr/>
          <p:nvPr/>
        </p:nvSpPr>
        <p:spPr>
          <a:xfrm>
            <a:off x="2884306" y="2502408"/>
            <a:ext cx="5255249"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3 5 4 2 </a:t>
            </a:r>
            <a:r>
              <a:rPr lang="en-US" sz="2600" b="1" dirty="0">
                <a:solidFill>
                  <a:srgbClr val="18324A"/>
                </a:solidFill>
              </a:rPr>
              <a:t>8</a:t>
            </a:r>
            <a:endParaRPr lang="en-US" sz="2600" dirty="0"/>
          </a:p>
        </p:txBody>
      </p:sp>
      <p:sp>
        <p:nvSpPr>
          <p:cNvPr id="17" name="Shape 17"/>
          <p:cNvSpPr/>
          <p:nvPr/>
        </p:nvSpPr>
        <p:spPr>
          <a:xfrm>
            <a:off x="8139556" y="2502408"/>
            <a:ext cx="3503500"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8</a:t>
            </a:r>
            <a:endParaRPr lang="en-US" sz="2600" dirty="0"/>
          </a:p>
        </p:txBody>
      </p:sp>
      <p:sp>
        <p:nvSpPr>
          <p:cNvPr id="18" name="Shape 18"/>
          <p:cNvSpPr/>
          <p:nvPr/>
        </p:nvSpPr>
        <p:spPr>
          <a:xfrm>
            <a:off x="548640" y="3122676"/>
            <a:ext cx="2335666"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2</a:t>
            </a:r>
            <a:endParaRPr lang="en-US" sz="2600" dirty="0"/>
          </a:p>
        </p:txBody>
      </p:sp>
      <p:sp>
        <p:nvSpPr>
          <p:cNvPr id="19" name="Shape 19"/>
          <p:cNvSpPr/>
          <p:nvPr/>
        </p:nvSpPr>
        <p:spPr>
          <a:xfrm>
            <a:off x="2884306" y="3122676"/>
            <a:ext cx="5255249"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3 4 2 </a:t>
            </a:r>
            <a:r>
              <a:rPr lang="en-US" sz="2600" b="1" dirty="0">
                <a:solidFill>
                  <a:srgbClr val="18324A"/>
                </a:solidFill>
              </a:rPr>
              <a:t>5 8</a:t>
            </a:r>
            <a:endParaRPr lang="en-US" sz="2600" dirty="0"/>
          </a:p>
        </p:txBody>
      </p:sp>
      <p:sp>
        <p:nvSpPr>
          <p:cNvPr id="20" name="Shape 20"/>
          <p:cNvSpPr/>
          <p:nvPr/>
        </p:nvSpPr>
        <p:spPr>
          <a:xfrm>
            <a:off x="8139556" y="3122676"/>
            <a:ext cx="3503500"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5 8</a:t>
            </a:r>
            <a:endParaRPr lang="en-US" sz="2600" dirty="0"/>
          </a:p>
        </p:txBody>
      </p:sp>
      <p:sp>
        <p:nvSpPr>
          <p:cNvPr id="21" name="Shape 21"/>
          <p:cNvSpPr/>
          <p:nvPr/>
        </p:nvSpPr>
        <p:spPr>
          <a:xfrm>
            <a:off x="548640" y="3742944"/>
            <a:ext cx="2335666"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3</a:t>
            </a:r>
            <a:endParaRPr lang="en-US" sz="2600" dirty="0"/>
          </a:p>
        </p:txBody>
      </p:sp>
      <p:sp>
        <p:nvSpPr>
          <p:cNvPr id="22" name="Shape 22"/>
          <p:cNvSpPr/>
          <p:nvPr/>
        </p:nvSpPr>
        <p:spPr>
          <a:xfrm>
            <a:off x="2884306" y="3742944"/>
            <a:ext cx="5255249"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3 2 </a:t>
            </a:r>
            <a:r>
              <a:rPr lang="en-US" sz="2600" b="1" dirty="0">
                <a:solidFill>
                  <a:srgbClr val="18324A"/>
                </a:solidFill>
              </a:rPr>
              <a:t>4 5 8</a:t>
            </a:r>
            <a:endParaRPr lang="en-US" sz="2600" dirty="0"/>
          </a:p>
        </p:txBody>
      </p:sp>
      <p:sp>
        <p:nvSpPr>
          <p:cNvPr id="23" name="Shape 23"/>
          <p:cNvSpPr/>
          <p:nvPr/>
        </p:nvSpPr>
        <p:spPr>
          <a:xfrm>
            <a:off x="8139556" y="3742944"/>
            <a:ext cx="3503500"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4 5 8</a:t>
            </a:r>
            <a:endParaRPr lang="en-US" sz="2600" dirty="0"/>
          </a:p>
        </p:txBody>
      </p:sp>
      <p:sp>
        <p:nvSpPr>
          <p:cNvPr id="24" name="Shape 24"/>
          <p:cNvSpPr/>
          <p:nvPr/>
        </p:nvSpPr>
        <p:spPr>
          <a:xfrm>
            <a:off x="548640" y="4363212"/>
            <a:ext cx="2335666"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4</a:t>
            </a:r>
            <a:endParaRPr lang="en-US" sz="2600" dirty="0"/>
          </a:p>
        </p:txBody>
      </p:sp>
      <p:sp>
        <p:nvSpPr>
          <p:cNvPr id="25" name="Shape 25"/>
          <p:cNvSpPr/>
          <p:nvPr/>
        </p:nvSpPr>
        <p:spPr>
          <a:xfrm>
            <a:off x="2884306" y="4363212"/>
            <a:ext cx="5255249"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2 3 4 5 8</a:t>
            </a:r>
            <a:endParaRPr lang="en-US" sz="2600" dirty="0"/>
          </a:p>
        </p:txBody>
      </p:sp>
      <p:sp>
        <p:nvSpPr>
          <p:cNvPr id="26" name="Shape 26"/>
          <p:cNvSpPr/>
          <p:nvPr/>
        </p:nvSpPr>
        <p:spPr>
          <a:xfrm>
            <a:off x="8139556" y="4363212"/>
            <a:ext cx="3503500"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600" b="1" dirty="0">
                <a:solidFill>
                  <a:srgbClr val="18324A"/>
                </a:solidFill>
              </a:rPr>
              <a:t>all</a:t>
            </a:r>
            <a:endParaRPr lang="en-US" sz="2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Bubble sort: two loops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56</a:t>
            </a:r>
            <a:endParaRPr lang="en-US" sz="1400" dirty="0"/>
          </a:p>
        </p:txBody>
      </p:sp>
      <p:sp>
        <p:nvSpPr>
          <p:cNvPr id="6" name="Shape 6"/>
          <p:cNvSpPr/>
          <p:nvPr/>
        </p:nvSpPr>
        <p:spPr>
          <a:xfrm>
            <a:off x="548640" y="1261872"/>
            <a:ext cx="749808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863852"/>
            <a:ext cx="749808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863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244852"/>
            <a:ext cx="749808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244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749808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a[N] = {5, 3, 8, 4, 2};</a:t>
            </a:r>
            <a:endParaRPr lang="en-US" sz="2400" dirty="0"/>
          </a:p>
          <a:p>
            <a:pPr marL="0" indent="0" algn="l">
              <a:lnSpc>
                <a:spcPts val="3000"/>
              </a:lnSpc>
              <a:buNone/>
            </a:pPr>
            <a:r>
              <a:rPr lang="en-US" sz="2400" dirty="0">
                <a:solidFill>
                  <a:srgbClr val="FFFFFF"/>
                </a:solidFill>
                <a:latin typeface="Consolas"/>
                <a:ea typeface="Consolas"/>
                <a:cs typeface="Consolas"/>
              </a:rPr>
              <a:t>for (int pass = 1; pass &lt; N; pass++) {</a:t>
            </a:r>
            <a:endParaRPr lang="en-US" sz="2400" dirty="0"/>
          </a:p>
          <a:p>
            <a:pPr marL="0" indent="0" algn="l">
              <a:lnSpc>
                <a:spcPts val="3000"/>
              </a:lnSpc>
              <a:buNone/>
            </a:pPr>
            <a:r>
              <a:rPr lang="en-US" sz="2400" dirty="0">
                <a:solidFill>
                  <a:srgbClr val="FFFFFF"/>
                </a:solidFill>
                <a:latin typeface="Consolas"/>
                <a:ea typeface="Consolas"/>
                <a:cs typeface="Consolas"/>
              </a:rPr>
              <a:t>    for (int j = 0; j &lt; N - pass; j++) {</a:t>
            </a:r>
            <a:endParaRPr lang="en-US" sz="2400" dirty="0"/>
          </a:p>
          <a:p>
            <a:pPr marL="0" indent="0" algn="l">
              <a:lnSpc>
                <a:spcPts val="3000"/>
              </a:lnSpc>
              <a:buNone/>
            </a:pPr>
            <a:r>
              <a:rPr lang="en-US" sz="2400" dirty="0">
                <a:solidFill>
                  <a:srgbClr val="64748B"/>
                </a:solidFill>
                <a:latin typeface="Consolas"/>
                <a:ea typeface="Consolas"/>
                <a:cs typeface="Consolas"/>
              </a:rPr>
              <a:t>        if (a[j] &gt; a[j + 1]) {</a:t>
            </a:r>
            <a:endParaRPr lang="en-US" sz="2400" dirty="0"/>
          </a:p>
          <a:p>
            <a:pPr marL="0" indent="0" algn="l">
              <a:lnSpc>
                <a:spcPts val="3000"/>
              </a:lnSpc>
              <a:buNone/>
            </a:pPr>
            <a:r>
              <a:rPr lang="en-US" sz="2400" dirty="0">
                <a:solidFill>
                  <a:srgbClr val="64748B"/>
                </a:solidFill>
                <a:latin typeface="Consolas"/>
                <a:ea typeface="Consolas"/>
                <a:cs typeface="Consolas"/>
              </a:rPr>
              <a:t>            int temp = a[j];</a:t>
            </a:r>
            <a:endParaRPr lang="en-US" sz="2400" dirty="0"/>
          </a:p>
          <a:p>
            <a:pPr marL="0" indent="0" algn="l">
              <a:lnSpc>
                <a:spcPts val="3000"/>
              </a:lnSpc>
              <a:buNone/>
            </a:pPr>
            <a:r>
              <a:rPr lang="en-US" sz="2400" dirty="0">
                <a:solidFill>
                  <a:srgbClr val="64748B"/>
                </a:solidFill>
                <a:latin typeface="Consolas"/>
                <a:ea typeface="Consolas"/>
                <a:cs typeface="Consolas"/>
              </a:rPr>
              <a:t>            a[j] = a[j + 1];</a:t>
            </a:r>
            <a:endParaRPr lang="en-US" sz="2400" dirty="0"/>
          </a:p>
          <a:p>
            <a:pPr marL="0" indent="0" algn="l">
              <a:lnSpc>
                <a:spcPts val="3000"/>
              </a:lnSpc>
              <a:buNone/>
            </a:pPr>
            <a:r>
              <a:rPr lang="en-US" sz="2400" dirty="0">
                <a:solidFill>
                  <a:srgbClr val="64748B"/>
                </a:solidFill>
                <a:latin typeface="Consolas"/>
                <a:ea typeface="Consolas"/>
                <a:cs typeface="Consolas"/>
              </a:rPr>
              <a:t>            a[j + 1] = temp;</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printf("pass %d: ", pass);</a:t>
            </a:r>
            <a:endParaRPr lang="en-US" sz="2400" dirty="0"/>
          </a:p>
          <a:p>
            <a:pPr marL="0" indent="0" algn="l">
              <a:lnSpc>
                <a:spcPts val="3000"/>
              </a:lnSpc>
              <a:buNone/>
            </a:pPr>
            <a:r>
              <a:rPr lang="en-US" sz="2400" dirty="0">
                <a:solidFill>
                  <a:srgbClr val="64748B"/>
                </a:solidFill>
                <a:latin typeface="Consolas"/>
                <a:ea typeface="Consolas"/>
                <a:cs typeface="Consolas"/>
              </a:rPr>
              <a:t>    print_array(a, N);</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2" name="Shape 12"/>
          <p:cNvSpPr/>
          <p:nvPr/>
        </p:nvSpPr>
        <p:spPr>
          <a:xfrm>
            <a:off x="8321040" y="1261872"/>
            <a:ext cx="3322015" cy="68580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3" name="Shape 13"/>
          <p:cNvSpPr/>
          <p:nvPr/>
        </p:nvSpPr>
        <p:spPr>
          <a:xfrm>
            <a:off x="8321040" y="1261872"/>
            <a:ext cx="109728" cy="685800"/>
          </a:xfrm>
          <a:prstGeom prst="rect">
            <a:avLst/>
          </a:prstGeom>
          <a:solidFill>
            <a:srgbClr val="8B5CF6"/>
          </a:solidFill>
          <a:ln>
            <a:noFill/>
          </a:ln>
        </p:spPr>
        <p:txBody>
          <a:bodyPr wrap="square" lIns="0" tIns="0" rIns="0" bIns="0" rtlCol="0" anchor="t"/>
          <a:lstStyle/>
          <a:p>
            <a:endParaRPr lang="en-US"/>
          </a:p>
        </p:txBody>
      </p:sp>
      <p:sp>
        <p:nvSpPr>
          <p:cNvPr id="14" name="Callout"/>
          <p:cNvSpPr/>
          <p:nvPr/>
        </p:nvSpPr>
        <p:spPr>
          <a:xfrm>
            <a:off x="8430768" y="1261872"/>
            <a:ext cx="32122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Outer: the passes.</a:t>
            </a:r>
            <a:endParaRPr lang="en-US" sz="2400" dirty="0"/>
          </a:p>
        </p:txBody>
      </p:sp>
      <p:sp>
        <p:nvSpPr>
          <p:cNvPr id="15" name="Shape 15"/>
          <p:cNvSpPr/>
          <p:nvPr/>
        </p:nvSpPr>
        <p:spPr>
          <a:xfrm>
            <a:off x="8321040" y="2148840"/>
            <a:ext cx="33220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6" name="Shape 16"/>
          <p:cNvSpPr/>
          <p:nvPr/>
        </p:nvSpPr>
        <p:spPr>
          <a:xfrm>
            <a:off x="8321040" y="2148840"/>
            <a:ext cx="109728" cy="685800"/>
          </a:xfrm>
          <a:prstGeom prst="rect">
            <a:avLst/>
          </a:prstGeom>
          <a:solidFill>
            <a:srgbClr val="2F80ED"/>
          </a:solidFill>
          <a:ln>
            <a:noFill/>
          </a:ln>
        </p:spPr>
        <p:txBody>
          <a:bodyPr wrap="square" lIns="0" tIns="0" rIns="0" bIns="0" rtlCol="0" anchor="t"/>
          <a:lstStyle/>
          <a:p>
            <a:endParaRPr lang="en-US"/>
          </a:p>
        </p:txBody>
      </p:sp>
      <p:sp>
        <p:nvSpPr>
          <p:cNvPr id="17" name="Callout"/>
          <p:cNvSpPr/>
          <p:nvPr/>
        </p:nvSpPr>
        <p:spPr>
          <a:xfrm>
            <a:off x="8430768" y="2148840"/>
            <a:ext cx="32122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Inner: the pairs.</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Why j &lt; N - pass?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57</a:t>
            </a:r>
            <a:endParaRPr lang="en-US" sz="1400" dirty="0"/>
          </a:p>
        </p:txBody>
      </p:sp>
      <p:sp>
        <p:nvSpPr>
          <p:cNvPr id="6" name="Shape 6"/>
          <p:cNvSpPr/>
          <p:nvPr/>
        </p:nvSpPr>
        <p:spPr>
          <a:xfrm>
            <a:off x="548640" y="1261872"/>
            <a:ext cx="749808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244852"/>
            <a:ext cx="749808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244852"/>
            <a:ext cx="82296" cy="381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749808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a[N] = {5, 3, 8, 4, 2};</a:t>
            </a:r>
            <a:endParaRPr lang="en-US" sz="2400" dirty="0"/>
          </a:p>
          <a:p>
            <a:pPr marL="0" indent="0" algn="l">
              <a:lnSpc>
                <a:spcPts val="3000"/>
              </a:lnSpc>
              <a:buNone/>
            </a:pPr>
            <a:r>
              <a:rPr lang="en-US" sz="2400" dirty="0">
                <a:solidFill>
                  <a:srgbClr val="64748B"/>
                </a:solidFill>
                <a:latin typeface="Consolas"/>
                <a:ea typeface="Consolas"/>
                <a:cs typeface="Consolas"/>
              </a:rPr>
              <a:t>for (int pass = 1; pass &lt; N; pass++) {</a:t>
            </a:r>
            <a:endParaRPr lang="en-US" sz="2400" dirty="0"/>
          </a:p>
          <a:p>
            <a:pPr marL="0" indent="0" algn="l">
              <a:lnSpc>
                <a:spcPts val="3000"/>
              </a:lnSpc>
              <a:buNone/>
            </a:pPr>
            <a:r>
              <a:rPr lang="en-US" sz="2400" dirty="0">
                <a:solidFill>
                  <a:srgbClr val="FFFFFF"/>
                </a:solidFill>
                <a:latin typeface="Consolas"/>
                <a:ea typeface="Consolas"/>
                <a:cs typeface="Consolas"/>
              </a:rPr>
              <a:t>    for (int j = 0; j &lt; N - pass; j++) {</a:t>
            </a:r>
            <a:endParaRPr lang="en-US" sz="2400" dirty="0"/>
          </a:p>
          <a:p>
            <a:pPr marL="0" indent="0" algn="l">
              <a:lnSpc>
                <a:spcPts val="3000"/>
              </a:lnSpc>
              <a:buNone/>
            </a:pPr>
            <a:r>
              <a:rPr lang="en-US" sz="2400" dirty="0">
                <a:solidFill>
                  <a:srgbClr val="64748B"/>
                </a:solidFill>
                <a:latin typeface="Consolas"/>
                <a:ea typeface="Consolas"/>
                <a:cs typeface="Consolas"/>
              </a:rPr>
              <a:t>        if (a[j] &gt; a[j + 1]) {</a:t>
            </a:r>
            <a:endParaRPr lang="en-US" sz="2400" dirty="0"/>
          </a:p>
          <a:p>
            <a:pPr marL="0" indent="0" algn="l">
              <a:lnSpc>
                <a:spcPts val="3000"/>
              </a:lnSpc>
              <a:buNone/>
            </a:pPr>
            <a:r>
              <a:rPr lang="en-US" sz="2400" dirty="0">
                <a:solidFill>
                  <a:srgbClr val="64748B"/>
                </a:solidFill>
                <a:latin typeface="Consolas"/>
                <a:ea typeface="Consolas"/>
                <a:cs typeface="Consolas"/>
              </a:rPr>
              <a:t>            int temp = a[j];</a:t>
            </a:r>
            <a:endParaRPr lang="en-US" sz="2400" dirty="0"/>
          </a:p>
          <a:p>
            <a:pPr marL="0" indent="0" algn="l">
              <a:lnSpc>
                <a:spcPts val="3000"/>
              </a:lnSpc>
              <a:buNone/>
            </a:pPr>
            <a:r>
              <a:rPr lang="en-US" sz="2400" dirty="0">
                <a:solidFill>
                  <a:srgbClr val="64748B"/>
                </a:solidFill>
                <a:latin typeface="Consolas"/>
                <a:ea typeface="Consolas"/>
                <a:cs typeface="Consolas"/>
              </a:rPr>
              <a:t>            a[j] = a[j + 1];</a:t>
            </a:r>
            <a:endParaRPr lang="en-US" sz="2400" dirty="0"/>
          </a:p>
          <a:p>
            <a:pPr marL="0" indent="0" algn="l">
              <a:lnSpc>
                <a:spcPts val="3000"/>
              </a:lnSpc>
              <a:buNone/>
            </a:pPr>
            <a:r>
              <a:rPr lang="en-US" sz="2400" dirty="0">
                <a:solidFill>
                  <a:srgbClr val="64748B"/>
                </a:solidFill>
                <a:latin typeface="Consolas"/>
                <a:ea typeface="Consolas"/>
                <a:cs typeface="Consolas"/>
              </a:rPr>
              <a:t>            a[j + 1] = temp;</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printf("pass %d: ", pass);</a:t>
            </a:r>
            <a:endParaRPr lang="en-US" sz="2400" dirty="0"/>
          </a:p>
          <a:p>
            <a:pPr marL="0" indent="0" algn="l">
              <a:lnSpc>
                <a:spcPts val="3000"/>
              </a:lnSpc>
              <a:buNone/>
            </a:pPr>
            <a:r>
              <a:rPr lang="en-US" sz="2400" dirty="0">
                <a:solidFill>
                  <a:srgbClr val="64748B"/>
                </a:solidFill>
                <a:latin typeface="Consolas"/>
                <a:ea typeface="Consolas"/>
                <a:cs typeface="Consolas"/>
              </a:rPr>
              <a:t>    print_array(a, N);</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0" name="Shape 10"/>
          <p:cNvSpPr/>
          <p:nvPr/>
        </p:nvSpPr>
        <p:spPr>
          <a:xfrm>
            <a:off x="8321040" y="1261872"/>
            <a:ext cx="3322015" cy="141732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1" name="Shape 11"/>
          <p:cNvSpPr/>
          <p:nvPr/>
        </p:nvSpPr>
        <p:spPr>
          <a:xfrm>
            <a:off x="8321040" y="1261872"/>
            <a:ext cx="109728" cy="1417320"/>
          </a:xfrm>
          <a:prstGeom prst="rect">
            <a:avLst/>
          </a:prstGeom>
          <a:solidFill>
            <a:srgbClr val="31C48D"/>
          </a:solidFill>
          <a:ln>
            <a:noFill/>
          </a:ln>
        </p:spPr>
        <p:txBody>
          <a:bodyPr wrap="square" lIns="0" tIns="0" rIns="0" bIns="0" rtlCol="0" anchor="t"/>
          <a:lstStyle/>
          <a:p>
            <a:endParaRPr lang="en-US"/>
          </a:p>
        </p:txBody>
      </p:sp>
      <p:sp>
        <p:nvSpPr>
          <p:cNvPr id="12" name="Callout"/>
          <p:cNvSpPr/>
          <p:nvPr/>
        </p:nvSpPr>
        <p:spPr>
          <a:xfrm>
            <a:off x="8430768" y="1261872"/>
            <a:ext cx="321228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After pass 1 the last element is in place.</a:t>
            </a:r>
            <a:endParaRPr lang="en-US" sz="2400" dirty="0"/>
          </a:p>
        </p:txBody>
      </p:sp>
      <p:sp>
        <p:nvSpPr>
          <p:cNvPr id="13" name="Shape 13"/>
          <p:cNvSpPr/>
          <p:nvPr/>
        </p:nvSpPr>
        <p:spPr>
          <a:xfrm>
            <a:off x="8321040" y="2880360"/>
            <a:ext cx="33220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8321040" y="2880360"/>
            <a:ext cx="109728" cy="105156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8430768" y="2880360"/>
            <a:ext cx="32122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Each pass can stop one pair earlier.</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Run it: watch every pass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58</a:t>
            </a:r>
            <a:endParaRPr lang="en-US" sz="1400" dirty="0"/>
          </a:p>
        </p:txBody>
      </p:sp>
      <p:sp>
        <p:nvSpPr>
          <p:cNvPr id="6" name="Shape 6"/>
          <p:cNvSpPr/>
          <p:nvPr/>
        </p:nvSpPr>
        <p:spPr>
          <a:xfrm>
            <a:off x="548640" y="1261872"/>
            <a:ext cx="6583680" cy="4556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4622927"/>
            <a:ext cx="658368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462292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972177"/>
            <a:ext cx="658368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972177"/>
            <a:ext cx="82296" cy="3492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583680" cy="4556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a[N] = {5, 3, 8, 4, 2};</a:t>
            </a:r>
            <a:endParaRPr lang="en-US" sz="2200" dirty="0"/>
          </a:p>
          <a:p>
            <a:pPr marL="0" indent="0" algn="l">
              <a:lnSpc>
                <a:spcPts val="2750"/>
              </a:lnSpc>
              <a:buNone/>
            </a:pPr>
            <a:r>
              <a:rPr lang="en-US" sz="2200" dirty="0">
                <a:solidFill>
                  <a:srgbClr val="64748B"/>
                </a:solidFill>
                <a:latin typeface="Consolas"/>
                <a:ea typeface="Consolas"/>
                <a:cs typeface="Consolas"/>
              </a:rPr>
              <a:t>for (int pass = 1; pass &lt; N; pass++) {</a:t>
            </a:r>
            <a:endParaRPr lang="en-US" sz="2200" dirty="0"/>
          </a:p>
          <a:p>
            <a:pPr marL="0" indent="0" algn="l">
              <a:lnSpc>
                <a:spcPts val="2750"/>
              </a:lnSpc>
              <a:buNone/>
            </a:pPr>
            <a:r>
              <a:rPr lang="en-US" sz="2200" dirty="0">
                <a:solidFill>
                  <a:srgbClr val="64748B"/>
                </a:solidFill>
                <a:latin typeface="Consolas"/>
                <a:ea typeface="Consolas"/>
                <a:cs typeface="Consolas"/>
              </a:rPr>
              <a:t>    for (int j = 0; j &lt; N - pass; j++) {</a:t>
            </a:r>
            <a:endParaRPr lang="en-US" sz="2200" dirty="0"/>
          </a:p>
          <a:p>
            <a:pPr marL="0" indent="0" algn="l">
              <a:lnSpc>
                <a:spcPts val="2750"/>
              </a:lnSpc>
              <a:buNone/>
            </a:pPr>
            <a:r>
              <a:rPr lang="en-US" sz="2200" dirty="0">
                <a:solidFill>
                  <a:srgbClr val="64748B"/>
                </a:solidFill>
                <a:latin typeface="Consolas"/>
                <a:ea typeface="Consolas"/>
                <a:cs typeface="Consolas"/>
              </a:rPr>
              <a:t>        if (a[j] &gt; a[j + 1]) {</a:t>
            </a:r>
            <a:endParaRPr lang="en-US" sz="2200" dirty="0"/>
          </a:p>
          <a:p>
            <a:pPr marL="0" indent="0" algn="l">
              <a:lnSpc>
                <a:spcPts val="2750"/>
              </a:lnSpc>
              <a:buNone/>
            </a:pPr>
            <a:r>
              <a:rPr lang="en-US" sz="2200" dirty="0">
                <a:solidFill>
                  <a:srgbClr val="64748B"/>
                </a:solidFill>
                <a:latin typeface="Consolas"/>
                <a:ea typeface="Consolas"/>
                <a:cs typeface="Consolas"/>
              </a:rPr>
              <a:t>            int temp = a[j];</a:t>
            </a:r>
            <a:endParaRPr lang="en-US" sz="2200" dirty="0"/>
          </a:p>
          <a:p>
            <a:pPr marL="0" indent="0" algn="l">
              <a:lnSpc>
                <a:spcPts val="2750"/>
              </a:lnSpc>
              <a:buNone/>
            </a:pPr>
            <a:r>
              <a:rPr lang="en-US" sz="2200" dirty="0">
                <a:solidFill>
                  <a:srgbClr val="64748B"/>
                </a:solidFill>
                <a:latin typeface="Consolas"/>
                <a:ea typeface="Consolas"/>
                <a:cs typeface="Consolas"/>
              </a:rPr>
              <a:t>            a[j] = a[j + 1];</a:t>
            </a:r>
            <a:endParaRPr lang="en-US" sz="2200" dirty="0"/>
          </a:p>
          <a:p>
            <a:pPr marL="0" indent="0" algn="l">
              <a:lnSpc>
                <a:spcPts val="2750"/>
              </a:lnSpc>
              <a:buNone/>
            </a:pPr>
            <a:r>
              <a:rPr lang="en-US" sz="2200" dirty="0">
                <a:solidFill>
                  <a:srgbClr val="64748B"/>
                </a:solidFill>
                <a:latin typeface="Consolas"/>
                <a:ea typeface="Consolas"/>
                <a:cs typeface="Consolas"/>
              </a:rPr>
              <a:t>            a[j + 1] = temp;</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printf("pass %d: ", pass);</a:t>
            </a:r>
            <a:endParaRPr lang="en-US" sz="2200" dirty="0"/>
          </a:p>
          <a:p>
            <a:pPr marL="0" indent="0" algn="l">
              <a:lnSpc>
                <a:spcPts val="2750"/>
              </a:lnSpc>
              <a:buNone/>
            </a:pPr>
            <a:r>
              <a:rPr lang="en-US" sz="2200" dirty="0">
                <a:solidFill>
                  <a:srgbClr val="FFFFFF"/>
                </a:solidFill>
                <a:latin typeface="Consolas"/>
                <a:ea typeface="Consolas"/>
                <a:cs typeface="Consolas"/>
              </a:rPr>
              <a:t>    print_array(a, N);</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2" name="Shape 12"/>
          <p:cNvSpPr/>
          <p:nvPr/>
        </p:nvSpPr>
        <p:spPr>
          <a:xfrm>
            <a:off x="7406640" y="1261872"/>
            <a:ext cx="423641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406640" y="1645920"/>
            <a:ext cx="4236415" cy="1889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406640" y="1645920"/>
            <a:ext cx="4236415" cy="1889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pass 1: 3 5 4 2 8 </a:t>
            </a:r>
            <a:endParaRPr lang="en-US" sz="2400" dirty="0"/>
          </a:p>
          <a:p>
            <a:pPr marL="0" indent="0" algn="l">
              <a:lnSpc>
                <a:spcPts val="3000"/>
              </a:lnSpc>
              <a:buNone/>
            </a:pPr>
            <a:r>
              <a:rPr lang="en-US" sz="2400" dirty="0">
                <a:solidFill>
                  <a:srgbClr val="D1FAE5"/>
                </a:solidFill>
                <a:latin typeface="Consolas"/>
                <a:ea typeface="Consolas"/>
                <a:cs typeface="Consolas"/>
              </a:rPr>
              <a:t>pass 2: 3 4 2 5 8 </a:t>
            </a:r>
            <a:endParaRPr lang="en-US" sz="2400" dirty="0"/>
          </a:p>
          <a:p>
            <a:pPr marL="0" indent="0" algn="l">
              <a:lnSpc>
                <a:spcPts val="3000"/>
              </a:lnSpc>
              <a:buNone/>
            </a:pPr>
            <a:r>
              <a:rPr lang="en-US" sz="2400" dirty="0">
                <a:solidFill>
                  <a:srgbClr val="D1FAE5"/>
                </a:solidFill>
                <a:latin typeface="Consolas"/>
                <a:ea typeface="Consolas"/>
                <a:cs typeface="Consolas"/>
              </a:rPr>
              <a:t>pass 3: 3 2 4 5 8 </a:t>
            </a:r>
            <a:endParaRPr lang="en-US" sz="2400" dirty="0"/>
          </a:p>
          <a:p>
            <a:pPr marL="0" indent="0" algn="l">
              <a:lnSpc>
                <a:spcPts val="3000"/>
              </a:lnSpc>
              <a:buNone/>
            </a:pPr>
            <a:r>
              <a:rPr lang="en-US" sz="2400" dirty="0">
                <a:solidFill>
                  <a:srgbClr val="D1FAE5"/>
                </a:solidFill>
                <a:latin typeface="Consolas"/>
                <a:ea typeface="Consolas"/>
                <a:cs typeface="Consolas"/>
              </a:rPr>
              <a:t>pass 4: 2 3 4 5 8 </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Predict: four numbers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59</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11094415"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Bubble sort on </a:t>
            </a:r>
            <a:r>
              <a:rPr lang="en-US" sz="3200" dirty="0">
                <a:solidFill>
                  <a:srgbClr val="2F80ED"/>
                </a:solidFill>
                <a:latin typeface="Consolas"/>
                <a:ea typeface="Consolas"/>
                <a:cs typeface="Consolas"/>
              </a:rPr>
              <a:t>4 3 2 1</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How many passes?</a:t>
            </a:r>
            <a:endParaRPr lang="en-US" sz="3200" dirty="0"/>
          </a:p>
          <a:p>
            <a:pPr marL="0" indent="0" algn="l">
              <a:spcAft>
                <a:spcPts val="600"/>
              </a:spcAft>
              <a:buNone/>
            </a:pPr>
            <a:r>
              <a:rPr lang="en-US" sz="3200" dirty="0">
                <a:solidFill>
                  <a:srgbClr val="18324A"/>
                </a:solidFill>
              </a:rPr>
              <a:t>What is the array after pass 1?</a:t>
            </a:r>
            <a:endParaRPr lang="en-US" sz="3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Predict: four numbers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60</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11094415"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Bubble sort on </a:t>
            </a:r>
            <a:r>
              <a:rPr lang="en-US" sz="3200" dirty="0">
                <a:solidFill>
                  <a:srgbClr val="2F80ED"/>
                </a:solidFill>
                <a:latin typeface="Consolas"/>
                <a:ea typeface="Consolas"/>
                <a:cs typeface="Consolas"/>
              </a:rPr>
              <a:t>4 3 2 1</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How many passes?</a:t>
            </a:r>
            <a:endParaRPr lang="en-US" sz="3200" dirty="0"/>
          </a:p>
          <a:p>
            <a:pPr marL="0" indent="0" algn="l">
              <a:spcAft>
                <a:spcPts val="600"/>
              </a:spcAft>
              <a:buNone/>
            </a:pPr>
            <a:r>
              <a:rPr lang="en-US" sz="3200" dirty="0">
                <a:solidFill>
                  <a:srgbClr val="18324A"/>
                </a:solidFill>
              </a:rPr>
              <a:t>What is the array after pass 1?</a:t>
            </a:r>
            <a:endParaRPr lang="en-US" sz="3200" dirty="0"/>
          </a:p>
        </p:txBody>
      </p:sp>
      <p:sp>
        <p:nvSpPr>
          <p:cNvPr id="8" name="Shape 8"/>
          <p:cNvSpPr/>
          <p:nvPr/>
        </p:nvSpPr>
        <p:spPr>
          <a:xfrm>
            <a:off x="548640" y="4648200"/>
            <a:ext cx="11094415" cy="161544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9" name="Shape 9"/>
          <p:cNvSpPr/>
          <p:nvPr/>
        </p:nvSpPr>
        <p:spPr>
          <a:xfrm>
            <a:off x="548640" y="4648200"/>
            <a:ext cx="109728" cy="1615440"/>
          </a:xfrm>
          <a:prstGeom prst="rect">
            <a:avLst/>
          </a:prstGeom>
          <a:solidFill>
            <a:srgbClr val="31C48D"/>
          </a:solidFill>
          <a:ln>
            <a:noFill/>
          </a:ln>
        </p:spPr>
        <p:txBody>
          <a:bodyPr wrap="square" lIns="0" tIns="0" rIns="0" bIns="0" rtlCol="0" anchor="t"/>
          <a:lstStyle/>
          <a:p>
            <a:endParaRPr lang="en-US"/>
          </a:p>
        </p:txBody>
      </p:sp>
      <p:sp>
        <p:nvSpPr>
          <p:cNvPr id="10" name="Callout"/>
          <p:cNvSpPr/>
          <p:nvPr/>
        </p:nvSpPr>
        <p:spPr>
          <a:xfrm>
            <a:off x="658368" y="4648200"/>
            <a:ext cx="10984687" cy="161544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rPr>
              <a:t>3 passes (4 numbers, 4 - 1).</a:t>
            </a:r>
            <a:endParaRPr lang="en-US" sz="2600" dirty="0"/>
          </a:p>
          <a:p>
            <a:pPr marL="0" indent="0" algn="l">
              <a:buNone/>
            </a:pPr>
            <a:r>
              <a:rPr lang="en-US" sz="2600" dirty="0">
                <a:solidFill>
                  <a:srgbClr val="18324A"/>
                </a:solidFill>
              </a:rPr>
              <a:t>After pass 1: </a:t>
            </a:r>
            <a:r>
              <a:rPr lang="en-US" sz="2600" dirty="0">
                <a:solidFill>
                  <a:srgbClr val="18324A"/>
                </a:solidFill>
                <a:latin typeface="Consolas"/>
                <a:ea typeface="Consolas"/>
                <a:cs typeface="Consolas"/>
              </a:rPr>
              <a:t>3 2 1 4</a:t>
            </a:r>
            <a:r>
              <a:rPr lang="en-US" sz="2600" dirty="0">
                <a:solidFill>
                  <a:srgbClr val="18324A"/>
                </a:solidFill>
              </a:rPr>
              <a:t>. The 4 is in place.</a:t>
            </a:r>
            <a:endParaRPr lang="en-US" sz="2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Sort as a function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61</a:t>
            </a:r>
            <a:endParaRPr lang="en-US" sz="1400" dirty="0"/>
          </a:p>
        </p:txBody>
      </p:sp>
      <p:sp>
        <p:nvSpPr>
          <p:cNvPr id="6" name="Shape 6"/>
          <p:cNvSpPr/>
          <p:nvPr/>
        </p:nvSpPr>
        <p:spPr>
          <a:xfrm>
            <a:off x="548640" y="1261872"/>
            <a:ext cx="7680960" cy="42075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79677"/>
            <a:ext cx="76809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7967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7680960" cy="4207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FFFFFF"/>
                </a:solidFill>
                <a:latin typeface="Consolas"/>
                <a:ea typeface="Consolas"/>
                <a:cs typeface="Consolas"/>
              </a:rPr>
              <a:t>void bubble_sort(int a[], int n) {</a:t>
            </a:r>
            <a:endParaRPr lang="en-US" sz="2200" dirty="0"/>
          </a:p>
          <a:p>
            <a:pPr marL="0" indent="0" algn="l">
              <a:lnSpc>
                <a:spcPts val="2750"/>
              </a:lnSpc>
              <a:buNone/>
            </a:pPr>
            <a:r>
              <a:rPr lang="en-US" sz="2200" dirty="0">
                <a:solidFill>
                  <a:srgbClr val="64748B"/>
                </a:solidFill>
                <a:latin typeface="Consolas"/>
                <a:ea typeface="Consolas"/>
                <a:cs typeface="Consolas"/>
              </a:rPr>
              <a:t>    for (int pass = 1; pass &lt; n; pass++) {</a:t>
            </a:r>
            <a:endParaRPr lang="en-US" sz="2200" dirty="0"/>
          </a:p>
          <a:p>
            <a:pPr marL="0" indent="0" algn="l">
              <a:lnSpc>
                <a:spcPts val="2750"/>
              </a:lnSpc>
              <a:buNone/>
            </a:pPr>
            <a:r>
              <a:rPr lang="en-US" sz="2200" dirty="0">
                <a:solidFill>
                  <a:srgbClr val="64748B"/>
                </a:solidFill>
                <a:latin typeface="Consolas"/>
                <a:ea typeface="Consolas"/>
                <a:cs typeface="Consolas"/>
              </a:rPr>
              <a:t>        for (int j = 0; j &lt; n - pass; j++) {</a:t>
            </a:r>
            <a:endParaRPr lang="en-US" sz="2200" dirty="0"/>
          </a:p>
          <a:p>
            <a:pPr marL="0" indent="0" algn="l">
              <a:lnSpc>
                <a:spcPts val="2750"/>
              </a:lnSpc>
              <a:buNone/>
            </a:pPr>
            <a:r>
              <a:rPr lang="en-US" sz="2200" dirty="0">
                <a:solidFill>
                  <a:srgbClr val="64748B"/>
                </a:solidFill>
                <a:latin typeface="Consolas"/>
                <a:ea typeface="Consolas"/>
                <a:cs typeface="Consolas"/>
              </a:rPr>
              <a:t>            if (a[j] &gt; a[j + 1]) {</a:t>
            </a:r>
            <a:endParaRPr lang="en-US" sz="2200" dirty="0"/>
          </a:p>
          <a:p>
            <a:pPr marL="0" indent="0" algn="l">
              <a:lnSpc>
                <a:spcPts val="2750"/>
              </a:lnSpc>
              <a:buNone/>
            </a:pPr>
            <a:r>
              <a:rPr lang="en-US" sz="2200" dirty="0">
                <a:solidFill>
                  <a:srgbClr val="64748B"/>
                </a:solidFill>
                <a:latin typeface="Consolas"/>
                <a:ea typeface="Consolas"/>
                <a:cs typeface="Consolas"/>
              </a:rPr>
              <a:t>                int temp = a[j];</a:t>
            </a:r>
            <a:endParaRPr lang="en-US" sz="2200" dirty="0"/>
          </a:p>
          <a:p>
            <a:pPr marL="0" indent="0" algn="l">
              <a:lnSpc>
                <a:spcPts val="2750"/>
              </a:lnSpc>
              <a:buNone/>
            </a:pPr>
            <a:r>
              <a:rPr lang="en-US" sz="2200" dirty="0">
                <a:solidFill>
                  <a:srgbClr val="64748B"/>
                </a:solidFill>
                <a:latin typeface="Consolas"/>
                <a:ea typeface="Consolas"/>
                <a:cs typeface="Consolas"/>
              </a:rPr>
              <a:t>                a[j] = a[j + 1];</a:t>
            </a:r>
            <a:endParaRPr lang="en-US" sz="2200" dirty="0"/>
          </a:p>
          <a:p>
            <a:pPr marL="0" indent="0" algn="l">
              <a:lnSpc>
                <a:spcPts val="2750"/>
              </a:lnSpc>
              <a:buNone/>
            </a:pPr>
            <a:r>
              <a:rPr lang="en-US" sz="2200" dirty="0">
                <a:solidFill>
                  <a:srgbClr val="64748B"/>
                </a:solidFill>
                <a:latin typeface="Consolas"/>
                <a:ea typeface="Consolas"/>
                <a:cs typeface="Consolas"/>
              </a:rPr>
              <a:t>                a[j + 1] = temp;</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8503920" y="1261872"/>
            <a:ext cx="31391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8503920" y="1261872"/>
            <a:ext cx="109728" cy="105156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8613648" y="1261872"/>
            <a:ext cx="30294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void</a:t>
            </a:r>
            <a:r>
              <a:rPr lang="en-US" sz="2400" dirty="0">
                <a:solidFill>
                  <a:srgbClr val="18324A"/>
                </a:solidFill>
              </a:rPr>
              <a:t>: it returns nothing.</a:t>
            </a:r>
            <a:endParaRPr lang="en-US" sz="2400" dirty="0"/>
          </a:p>
        </p:txBody>
      </p:sp>
      <p:sp>
        <p:nvSpPr>
          <p:cNvPr id="13" name="Shape 13"/>
          <p:cNvSpPr/>
          <p:nvPr/>
        </p:nvSpPr>
        <p:spPr>
          <a:xfrm>
            <a:off x="8503920" y="2514600"/>
            <a:ext cx="3139135" cy="105156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4" name="Shape 14"/>
          <p:cNvSpPr/>
          <p:nvPr/>
        </p:nvSpPr>
        <p:spPr>
          <a:xfrm>
            <a:off x="8503920" y="2514600"/>
            <a:ext cx="109728" cy="1051560"/>
          </a:xfrm>
          <a:prstGeom prst="rect">
            <a:avLst/>
          </a:prstGeom>
          <a:solidFill>
            <a:srgbClr val="8B5CF6"/>
          </a:solidFill>
          <a:ln>
            <a:noFill/>
          </a:ln>
        </p:spPr>
        <p:txBody>
          <a:bodyPr wrap="square" lIns="0" tIns="0" rIns="0" bIns="0" rtlCol="0" anchor="t"/>
          <a:lstStyle/>
          <a:p>
            <a:endParaRPr lang="en-US"/>
          </a:p>
        </p:txBody>
      </p:sp>
      <p:sp>
        <p:nvSpPr>
          <p:cNvPr id="15" name="Callout"/>
          <p:cNvSpPr/>
          <p:nvPr/>
        </p:nvSpPr>
        <p:spPr>
          <a:xfrm>
            <a:off x="8613648" y="2514600"/>
            <a:ext cx="30294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changes the array.</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Sorting eight marks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62</a:t>
            </a:r>
            <a:endParaRPr lang="en-US" sz="1400" dirty="0"/>
          </a:p>
        </p:txBody>
      </p:sp>
      <p:sp>
        <p:nvSpPr>
          <p:cNvPr id="6" name="Shape 6"/>
          <p:cNvSpPr/>
          <p:nvPr/>
        </p:nvSpPr>
        <p:spPr>
          <a:xfrm>
            <a:off x="548640" y="1261872"/>
            <a:ext cx="7132320" cy="1953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111502"/>
            <a:ext cx="713232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111502"/>
            <a:ext cx="82296" cy="317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7132320" cy="195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marks[N] = {72, 95, 61, 88, 79, 54, 90, 67};</a:t>
            </a:r>
            <a:endParaRPr lang="en-US" sz="2000" dirty="0"/>
          </a:p>
          <a:p>
            <a:pPr marL="0" indent="0" algn="l">
              <a:lnSpc>
                <a:spcPts val="2500"/>
              </a:lnSpc>
              <a:buNone/>
            </a:pPr>
            <a:r>
              <a:rPr lang="en-US" sz="2000" dirty="0">
                <a:solidFill>
                  <a:srgbClr val="64748B"/>
                </a:solidFill>
                <a:latin typeface="Consolas"/>
                <a:ea typeface="Consolas"/>
                <a:cs typeface="Consolas"/>
              </a:rPr>
              <a:t>print_array(marks, N);</a:t>
            </a:r>
            <a:endParaRPr lang="en-US" sz="2000" dirty="0"/>
          </a:p>
          <a:p>
            <a:pPr marL="0" indent="0" algn="l">
              <a:lnSpc>
                <a:spcPts val="2500"/>
              </a:lnSpc>
              <a:buNone/>
            </a:pPr>
            <a:r>
              <a:rPr lang="en-US" sz="2000" dirty="0">
                <a:solidFill>
                  <a:srgbClr val="FFFFFF"/>
                </a:solidFill>
                <a:latin typeface="Consolas"/>
                <a:ea typeface="Consolas"/>
                <a:cs typeface="Consolas"/>
              </a:rPr>
              <a:t>bubble_sort(marks, N);</a:t>
            </a:r>
            <a:endParaRPr lang="en-US" sz="2000" dirty="0"/>
          </a:p>
          <a:p>
            <a:pPr marL="0" indent="0" algn="l">
              <a:lnSpc>
                <a:spcPts val="2500"/>
              </a:lnSpc>
              <a:buNone/>
            </a:pPr>
            <a:r>
              <a:rPr lang="en-US" sz="2000" dirty="0">
                <a:solidFill>
                  <a:srgbClr val="64748B"/>
                </a:solidFill>
                <a:latin typeface="Consolas"/>
                <a:ea typeface="Consolas"/>
                <a:cs typeface="Consolas"/>
              </a:rPr>
              <a:t>print_array(marks, N);</a:t>
            </a:r>
            <a:endParaRPr lang="en-US" sz="2000" dirty="0"/>
          </a:p>
          <a:p>
            <a:pPr marL="0" indent="0" algn="l">
              <a:lnSpc>
                <a:spcPts val="2500"/>
              </a:lnSpc>
              <a:buNone/>
            </a:pPr>
            <a:r>
              <a:rPr lang="en-US" sz="2000" dirty="0">
                <a:solidFill>
                  <a:srgbClr val="64748B"/>
                </a:solidFill>
                <a:latin typeface="Consolas"/>
                <a:ea typeface="Consolas"/>
                <a:cs typeface="Consolas"/>
              </a:rPr>
              <a:t>return 0;</a:t>
            </a:r>
            <a:endParaRPr lang="en-US" sz="2000" dirty="0"/>
          </a:p>
        </p:txBody>
      </p:sp>
      <p:sp>
        <p:nvSpPr>
          <p:cNvPr id="10" name="Shape 10"/>
          <p:cNvSpPr/>
          <p:nvPr/>
        </p:nvSpPr>
        <p:spPr>
          <a:xfrm>
            <a:off x="7955280" y="1261872"/>
            <a:ext cx="368777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955280" y="1645920"/>
            <a:ext cx="3687775" cy="9372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955280" y="1645920"/>
            <a:ext cx="3687775" cy="937260"/>
          </a:xfrm>
          <a:prstGeom prst="rect">
            <a:avLst/>
          </a:prstGeom>
          <a:noFill/>
          <a:ln>
            <a:noFill/>
          </a:ln>
        </p:spPr>
        <p:txBody>
          <a:bodyPr wrap="square" lIns="182880" tIns="182880" rIns="182880" bIns="182880" rtlCol="0" anchor="t"/>
          <a:lstStyle/>
          <a:p>
            <a:pPr marL="0" indent="0" algn="l">
              <a:lnSpc>
                <a:spcPts val="2250"/>
              </a:lnSpc>
              <a:buNone/>
            </a:pPr>
            <a:r>
              <a:rPr lang="en-US" sz="1800" dirty="0">
                <a:solidFill>
                  <a:srgbClr val="D1FAE5"/>
                </a:solidFill>
                <a:latin typeface="Consolas"/>
                <a:ea typeface="Consolas"/>
                <a:cs typeface="Consolas"/>
              </a:rPr>
              <a:t>72 95 61 88 79 54 90 67 </a:t>
            </a:r>
            <a:endParaRPr lang="en-US" sz="1800" dirty="0"/>
          </a:p>
          <a:p>
            <a:pPr marL="0" indent="0" algn="l">
              <a:lnSpc>
                <a:spcPts val="2250"/>
              </a:lnSpc>
              <a:buNone/>
            </a:pPr>
            <a:r>
              <a:rPr lang="en-US" sz="1800" dirty="0">
                <a:solidFill>
                  <a:srgbClr val="D1FAE5"/>
                </a:solidFill>
                <a:latin typeface="Consolas"/>
                <a:ea typeface="Consolas"/>
                <a:cs typeface="Consolas"/>
              </a:rPr>
              <a:t>54 61 67 72 79 88 90 95 </a:t>
            </a:r>
            <a:endParaRPr lang="en-US" sz="1800" dirty="0"/>
          </a:p>
        </p:txBody>
      </p:sp>
      <p:sp>
        <p:nvSpPr>
          <p:cNvPr id="13" name="Shape 13"/>
          <p:cNvSpPr/>
          <p:nvPr/>
        </p:nvSpPr>
        <p:spPr>
          <a:xfrm>
            <a:off x="7955280" y="2857500"/>
            <a:ext cx="368777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955280" y="2857500"/>
            <a:ext cx="109728" cy="105156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8065008" y="2857500"/>
            <a:ext cx="357804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main</a:t>
            </a:r>
            <a:r>
              <a:rPr lang="en-US" sz="2400" dirty="0">
                <a:solidFill>
                  <a:srgbClr val="18324A"/>
                </a:solidFill>
              </a:rPr>
              <a:t>'s array is now sorted.</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Extra: stop when nothing moves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63</a:t>
            </a:r>
            <a:endParaRPr lang="en-US" sz="1400" dirty="0"/>
          </a:p>
        </p:txBody>
      </p:sp>
      <p:sp>
        <p:nvSpPr>
          <p:cNvPr id="6" name="Shape 6"/>
          <p:cNvSpPr/>
          <p:nvPr/>
        </p:nvSpPr>
        <p:spPr>
          <a:xfrm>
            <a:off x="548640" y="1261872"/>
            <a:ext cx="694944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79677"/>
            <a:ext cx="694944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79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575177"/>
            <a:ext cx="694944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57517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972177"/>
            <a:ext cx="694944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972177"/>
            <a:ext cx="82296" cy="34925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5321427"/>
            <a:ext cx="6949440" cy="34925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5321427"/>
            <a:ext cx="82296" cy="349250"/>
          </a:xfrm>
          <a:prstGeom prst="rect">
            <a:avLst/>
          </a:prstGeom>
          <a:solidFill>
            <a:srgbClr val="F59E0B"/>
          </a:solidFill>
          <a:ln>
            <a:noFill/>
          </a:ln>
        </p:spPr>
        <p:txBody>
          <a:bodyPr wrap="square" lIns="0" tIns="0" rIns="0" bIns="0" rtlCol="0" anchor="t"/>
          <a:lstStyle/>
          <a:p>
            <a:endParaRPr lang="en-US"/>
          </a:p>
        </p:txBody>
      </p:sp>
      <p:sp>
        <p:nvSpPr>
          <p:cNvPr id="15" name="Code"/>
          <p:cNvSpPr/>
          <p:nvPr/>
        </p:nvSpPr>
        <p:spPr>
          <a:xfrm>
            <a:off x="548640" y="1261872"/>
            <a:ext cx="694944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FFFFFF"/>
                </a:solidFill>
                <a:latin typeface="Consolas"/>
                <a:ea typeface="Consolas"/>
                <a:cs typeface="Consolas"/>
              </a:rPr>
              <a:t>int swapped = 0;</a:t>
            </a:r>
            <a:endParaRPr lang="en-US" sz="2200" dirty="0"/>
          </a:p>
          <a:p>
            <a:pPr marL="0" indent="0" algn="l">
              <a:lnSpc>
                <a:spcPts val="2750"/>
              </a:lnSpc>
              <a:buNone/>
            </a:pPr>
            <a:r>
              <a:rPr lang="en-US" sz="2200" dirty="0">
                <a:solidFill>
                  <a:srgbClr val="64748B"/>
                </a:solidFill>
                <a:latin typeface="Consolas"/>
                <a:ea typeface="Consolas"/>
                <a:cs typeface="Consolas"/>
              </a:rPr>
              <a:t>for (int j = 0; j &lt; N - pass; j++) {</a:t>
            </a:r>
            <a:endParaRPr lang="en-US" sz="2200" dirty="0"/>
          </a:p>
          <a:p>
            <a:pPr marL="0" indent="0" algn="l">
              <a:lnSpc>
                <a:spcPts val="2750"/>
              </a:lnSpc>
              <a:buNone/>
            </a:pPr>
            <a:r>
              <a:rPr lang="en-US" sz="2200" dirty="0">
                <a:solidFill>
                  <a:srgbClr val="64748B"/>
                </a:solidFill>
                <a:latin typeface="Consolas"/>
                <a:ea typeface="Consolas"/>
                <a:cs typeface="Consolas"/>
              </a:rPr>
              <a:t>    if (a[j] &gt; a[j + 1]) {</a:t>
            </a:r>
            <a:endParaRPr lang="en-US" sz="2200" dirty="0"/>
          </a:p>
          <a:p>
            <a:pPr marL="0" indent="0" algn="l">
              <a:lnSpc>
                <a:spcPts val="2750"/>
              </a:lnSpc>
              <a:buNone/>
            </a:pPr>
            <a:r>
              <a:rPr lang="en-US" sz="2200" dirty="0">
                <a:solidFill>
                  <a:srgbClr val="64748B"/>
                </a:solidFill>
                <a:latin typeface="Consolas"/>
                <a:ea typeface="Consolas"/>
                <a:cs typeface="Consolas"/>
              </a:rPr>
              <a:t>        int temp = a[j];</a:t>
            </a:r>
            <a:endParaRPr lang="en-US" sz="2200" dirty="0"/>
          </a:p>
          <a:p>
            <a:pPr marL="0" indent="0" algn="l">
              <a:lnSpc>
                <a:spcPts val="2750"/>
              </a:lnSpc>
              <a:buNone/>
            </a:pPr>
            <a:r>
              <a:rPr lang="en-US" sz="2200" dirty="0">
                <a:solidFill>
                  <a:srgbClr val="64748B"/>
                </a:solidFill>
                <a:latin typeface="Consolas"/>
                <a:ea typeface="Consolas"/>
                <a:cs typeface="Consolas"/>
              </a:rPr>
              <a:t>        a[j] = a[j + 1];</a:t>
            </a:r>
            <a:endParaRPr lang="en-US" sz="2200" dirty="0"/>
          </a:p>
          <a:p>
            <a:pPr marL="0" indent="0" algn="l">
              <a:lnSpc>
                <a:spcPts val="2750"/>
              </a:lnSpc>
              <a:buNone/>
            </a:pPr>
            <a:r>
              <a:rPr lang="en-US" sz="2200" dirty="0">
                <a:solidFill>
                  <a:srgbClr val="64748B"/>
                </a:solidFill>
                <a:latin typeface="Consolas"/>
                <a:ea typeface="Consolas"/>
                <a:cs typeface="Consolas"/>
              </a:rPr>
              <a:t>        a[j + 1] = temp;</a:t>
            </a:r>
            <a:endParaRPr lang="en-US" sz="2200" dirty="0"/>
          </a:p>
          <a:p>
            <a:pPr marL="0" indent="0" algn="l">
              <a:lnSpc>
                <a:spcPts val="2750"/>
              </a:lnSpc>
              <a:buNone/>
            </a:pPr>
            <a:r>
              <a:rPr lang="en-US" sz="2200" dirty="0">
                <a:solidFill>
                  <a:srgbClr val="FFFFFF"/>
                </a:solidFill>
                <a:latin typeface="Consolas"/>
                <a:ea typeface="Consolas"/>
                <a:cs typeface="Consolas"/>
              </a:rPr>
              <a:t>        swapped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passes++;</a:t>
            </a:r>
            <a:endParaRPr lang="en-US" sz="2200" dirty="0"/>
          </a:p>
          <a:p>
            <a:pPr marL="0" indent="0" algn="l">
              <a:lnSpc>
                <a:spcPts val="2750"/>
              </a:lnSpc>
              <a:buNone/>
            </a:pPr>
            <a:r>
              <a:rPr lang="en-US" sz="2200" dirty="0">
                <a:solidFill>
                  <a:srgbClr val="FFFFFF"/>
                </a:solidFill>
                <a:latin typeface="Consolas"/>
                <a:ea typeface="Consolas"/>
                <a:cs typeface="Consolas"/>
              </a:rPr>
              <a:t>if (!swapped) {</a:t>
            </a:r>
            <a:endParaRPr lang="en-US" sz="2200" dirty="0"/>
          </a:p>
          <a:p>
            <a:pPr marL="0" indent="0" algn="l">
              <a:lnSpc>
                <a:spcPts val="2750"/>
              </a:lnSpc>
              <a:buNone/>
            </a:pPr>
            <a:r>
              <a:rPr lang="en-US" sz="2200" dirty="0">
                <a:solidFill>
                  <a:srgbClr val="FFFFFF"/>
                </a:solidFill>
                <a:latin typeface="Consolas"/>
                <a:ea typeface="Consolas"/>
                <a:cs typeface="Consolas"/>
              </a:rPr>
              <a:t>    break;</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6" name="Shape 16"/>
          <p:cNvSpPr/>
          <p:nvPr/>
        </p:nvSpPr>
        <p:spPr>
          <a:xfrm>
            <a:off x="7772400" y="1261872"/>
            <a:ext cx="38706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 for 1 2 3 5 4</a:t>
            </a:r>
            <a:endParaRPr lang="en-US" sz="1600" dirty="0"/>
          </a:p>
        </p:txBody>
      </p:sp>
      <p:sp>
        <p:nvSpPr>
          <p:cNvPr id="17" name="Shape 17"/>
          <p:cNvSpPr/>
          <p:nvPr/>
        </p:nvSpPr>
        <p:spPr>
          <a:xfrm>
            <a:off x="7772400" y="1645920"/>
            <a:ext cx="3870655" cy="1127760"/>
          </a:xfrm>
          <a:prstGeom prst="rect">
            <a:avLst/>
          </a:prstGeom>
          <a:solidFill>
            <a:srgbClr val="000000"/>
          </a:solidFill>
          <a:ln>
            <a:noFill/>
          </a:ln>
        </p:spPr>
        <p:txBody>
          <a:bodyPr wrap="square" lIns="0" tIns="0" rIns="0" bIns="0" rtlCol="0" anchor="t"/>
          <a:lstStyle/>
          <a:p>
            <a:endParaRPr lang="en-US"/>
          </a:p>
        </p:txBody>
      </p:sp>
      <p:sp>
        <p:nvSpPr>
          <p:cNvPr id="18" name="Code"/>
          <p:cNvSpPr/>
          <p:nvPr/>
        </p:nvSpPr>
        <p:spPr>
          <a:xfrm>
            <a:off x="7772400" y="1645920"/>
            <a:ext cx="387065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passes: 2</a:t>
            </a:r>
            <a:endParaRPr lang="en-US" sz="2400" dirty="0"/>
          </a:p>
          <a:p>
            <a:pPr marL="0" indent="0" algn="l">
              <a:lnSpc>
                <a:spcPts val="3000"/>
              </a:lnSpc>
              <a:buNone/>
            </a:pPr>
            <a:r>
              <a:rPr lang="en-US" sz="2400" dirty="0">
                <a:solidFill>
                  <a:srgbClr val="D1FAE5"/>
                </a:solidFill>
                <a:latin typeface="Consolas"/>
                <a:ea typeface="Consolas"/>
                <a:cs typeface="Consolas"/>
              </a:rPr>
              <a:t>1 2 3 4 5 </a:t>
            </a:r>
            <a:endParaRPr lang="en-US" sz="2400" dirty="0"/>
          </a:p>
        </p:txBody>
      </p:sp>
      <p:sp>
        <p:nvSpPr>
          <p:cNvPr id="19" name="Shape 19"/>
          <p:cNvSpPr/>
          <p:nvPr/>
        </p:nvSpPr>
        <p:spPr>
          <a:xfrm>
            <a:off x="7772400" y="3048000"/>
            <a:ext cx="387065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0" name="Shape 20"/>
          <p:cNvSpPr/>
          <p:nvPr/>
        </p:nvSpPr>
        <p:spPr>
          <a:xfrm>
            <a:off x="7772400" y="3048000"/>
            <a:ext cx="109728" cy="1051560"/>
          </a:xfrm>
          <a:prstGeom prst="rect">
            <a:avLst/>
          </a:prstGeom>
          <a:solidFill>
            <a:srgbClr val="31C48D"/>
          </a:solidFill>
          <a:ln>
            <a:noFill/>
          </a:ln>
        </p:spPr>
        <p:txBody>
          <a:bodyPr wrap="square" lIns="0" tIns="0" rIns="0" bIns="0" rtlCol="0" anchor="t"/>
          <a:lstStyle/>
          <a:p>
            <a:endParaRPr lang="en-US"/>
          </a:p>
        </p:txBody>
      </p:sp>
      <p:sp>
        <p:nvSpPr>
          <p:cNvPr id="21" name="Callout"/>
          <p:cNvSpPr/>
          <p:nvPr/>
        </p:nvSpPr>
        <p:spPr>
          <a:xfrm>
            <a:off x="7882128" y="3048000"/>
            <a:ext cx="376092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 pass with no swap: sorted.</a:t>
            </a: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Sorting high to low</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64</a:t>
            </a:r>
            <a:endParaRPr lang="en-US" sz="1400" dirty="0"/>
          </a:p>
        </p:txBody>
      </p:sp>
      <p:sp>
        <p:nvSpPr>
          <p:cNvPr id="6" name="Shape 6"/>
          <p:cNvSpPr/>
          <p:nvPr/>
        </p:nvSpPr>
        <p:spPr>
          <a:xfrm>
            <a:off x="548640" y="1399032"/>
            <a:ext cx="109728" cy="792480"/>
          </a:xfrm>
          <a:prstGeom prst="rect">
            <a:avLst/>
          </a:prstGeom>
          <a:solidFill>
            <a:srgbClr val="F59E0B"/>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Change one character: </a:t>
            </a:r>
            <a:r>
              <a:rPr lang="en-US" sz="4000" b="1" dirty="0">
                <a:solidFill>
                  <a:srgbClr val="F59E0B"/>
                </a:solidFill>
                <a:latin typeface="Consolas"/>
                <a:ea typeface="Consolas"/>
                <a:cs typeface="Consolas"/>
              </a:rPr>
              <a:t>&gt;</a:t>
            </a:r>
            <a:r>
              <a:rPr lang="en-US" sz="4000" b="1" dirty="0">
                <a:solidFill>
                  <a:srgbClr val="18324A"/>
                </a:solidFill>
              </a:rPr>
              <a:t> becomes </a:t>
            </a:r>
            <a:r>
              <a:rPr lang="en-US" sz="4000" b="1" dirty="0">
                <a:solidFill>
                  <a:srgbClr val="F59E0B"/>
                </a:solidFill>
                <a:latin typeface="Consolas"/>
                <a:ea typeface="Consolas"/>
                <a:cs typeface="Consolas"/>
              </a:rPr>
              <a:t>&lt;</a:t>
            </a:r>
            <a:r>
              <a:rPr lang="en-US" sz="4000" b="1" dirty="0">
                <a:solidFill>
                  <a:srgbClr val="18324A"/>
                </a:solidFill>
              </a:rPr>
              <a:t>.</a:t>
            </a:r>
            <a:endParaRPr lang="en-US" sz="4000" dirty="0"/>
          </a:p>
        </p:txBody>
      </p:sp>
      <p:sp>
        <p:nvSpPr>
          <p:cNvPr id="8" name="Shape 8"/>
          <p:cNvSpPr/>
          <p:nvPr/>
        </p:nvSpPr>
        <p:spPr>
          <a:xfrm>
            <a:off x="914400" y="26029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2F80ED"/>
                </a:solidFill>
                <a:latin typeface="Consolas"/>
                <a:ea typeface="Consolas"/>
                <a:cs typeface="Consolas"/>
              </a:rPr>
              <a:t>if (a[j] &lt; a[j + 1])</a:t>
            </a:r>
            <a:r>
              <a:rPr lang="en-US" sz="3000" dirty="0">
                <a:solidFill>
                  <a:srgbClr val="18324A"/>
                </a:solidFill>
              </a:rPr>
              <a:t>: the </a:t>
            </a:r>
            <a:r>
              <a:rPr lang="en-US" sz="3000" b="1" dirty="0">
                <a:solidFill>
                  <a:srgbClr val="18324A"/>
                </a:solidFill>
              </a:rPr>
              <a:t>smaller</a:t>
            </a:r>
            <a:r>
              <a:rPr lang="en-US" sz="3000" dirty="0">
                <a:solidFill>
                  <a:srgbClr val="18324A"/>
                </a:solidFill>
              </a:rPr>
              <a:t> goes to the end.</a:t>
            </a:r>
            <a:endParaRPr lang="en-US" sz="3000" dirty="0"/>
          </a:p>
          <a:p>
            <a:pPr marL="0" indent="0" algn="l">
              <a:spcAft>
                <a:spcPts val="1600"/>
              </a:spcAft>
              <a:buNone/>
            </a:pPr>
            <a:r>
              <a:rPr lang="en-US" sz="3000" dirty="0">
                <a:solidFill>
                  <a:srgbClr val="18324A"/>
                </a:solidFill>
              </a:rPr>
              <a:t>Everything else stays the same.</a:t>
            </a:r>
            <a:endParaRPr lang="en-US" sz="3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F6B6B"/>
          </a:solidFill>
          <a:ln>
            <a:noFill/>
          </a:ln>
        </p:spPr>
        <p:txBody>
          <a:bodyPr wrap="square" lIns="0" tIns="0" rIns="0" bIns="0" rtlCol="0" anchor="ctr"/>
          <a:lstStyle/>
          <a:p>
            <a:pPr marL="0" indent="0" algn="ctr">
              <a:buNone/>
            </a:pPr>
            <a:r>
              <a:rPr lang="en-US" sz="5400" b="1" dirty="0">
                <a:solidFill>
                  <a:srgbClr val="FFFFFF"/>
                </a:solidFill>
              </a:rPr>
              <a:t>5</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Your turn</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Two small functions</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10</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Your turn: index_of_max</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66</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11094415"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Write </a:t>
            </a:r>
            <a:r>
              <a:rPr lang="en-US" sz="3200" dirty="0">
                <a:solidFill>
                  <a:srgbClr val="2F80ED"/>
                </a:solidFill>
                <a:latin typeface="Consolas"/>
                <a:ea typeface="Consolas"/>
                <a:cs typeface="Consolas"/>
              </a:rPr>
              <a:t>int index_of_max(int a[], int n)</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It returns the </a:t>
            </a:r>
            <a:r>
              <a:rPr lang="en-US" sz="3200" b="1" dirty="0">
                <a:solidFill>
                  <a:srgbClr val="18324A"/>
                </a:solidFill>
              </a:rPr>
              <a:t>index</a:t>
            </a:r>
            <a:r>
              <a:rPr lang="en-US" sz="3200" dirty="0">
                <a:solidFill>
                  <a:srgbClr val="18324A"/>
                </a:solidFill>
              </a:rPr>
              <a:t> of the largest element.</a:t>
            </a:r>
            <a:endParaRPr lang="en-US" sz="3200" dirty="0"/>
          </a:p>
          <a:p>
            <a:pPr marL="0" indent="0" algn="l">
              <a:spcAft>
                <a:spcPts val="600"/>
              </a:spcAft>
              <a:buNone/>
            </a:pPr>
            <a:r>
              <a:rPr lang="en-US" sz="3200" dirty="0">
                <a:solidFill>
                  <a:srgbClr val="18324A"/>
                </a:solidFill>
              </a:rPr>
              <a:t>For goals </a:t>
            </a:r>
            <a:r>
              <a:rPr lang="en-US" sz="3200" dirty="0">
                <a:solidFill>
                  <a:srgbClr val="2F80ED"/>
                </a:solidFill>
                <a:latin typeface="Consolas"/>
                <a:ea typeface="Consolas"/>
                <a:cs typeface="Consolas"/>
              </a:rPr>
              <a:t>1 0 3 4 2 1</a:t>
            </a:r>
            <a:r>
              <a:rPr lang="en-US" sz="3200" dirty="0">
                <a:solidFill>
                  <a:srgbClr val="18324A"/>
                </a:solidFill>
              </a:rPr>
              <a:t> it returns 3.</a:t>
            </a:r>
            <a:endParaRPr lang="en-US" sz="3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index_of_max: one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67</a:t>
            </a:r>
            <a:endParaRPr lang="en-US" sz="1400" dirty="0"/>
          </a:p>
        </p:txBody>
      </p:sp>
      <p:sp>
        <p:nvSpPr>
          <p:cNvPr id="6" name="Shape 6"/>
          <p:cNvSpPr/>
          <p:nvPr/>
        </p:nvSpPr>
        <p:spPr>
          <a:xfrm>
            <a:off x="548640" y="1261872"/>
            <a:ext cx="6766560" cy="40805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89877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89877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72427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137027"/>
            <a:ext cx="6766560" cy="4127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0805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index_of_max(int a[], int n) {</a:t>
            </a:r>
            <a:endParaRPr lang="en-US" sz="2600" dirty="0"/>
          </a:p>
          <a:p>
            <a:pPr marL="0" indent="0" algn="l">
              <a:lnSpc>
                <a:spcPts val="3250"/>
              </a:lnSpc>
              <a:buNone/>
            </a:pPr>
            <a:r>
              <a:rPr lang="en-US" sz="2600" dirty="0">
                <a:solidFill>
                  <a:srgbClr val="FFFFFF"/>
                </a:solidFill>
                <a:latin typeface="Consolas"/>
                <a:ea typeface="Consolas"/>
                <a:cs typeface="Consolas"/>
              </a:rPr>
              <a:t>    int pos = 0;</a:t>
            </a:r>
            <a:endParaRPr lang="en-US" sz="2600" dirty="0"/>
          </a:p>
          <a:p>
            <a:pPr marL="0" indent="0" algn="l">
              <a:lnSpc>
                <a:spcPts val="3250"/>
              </a:lnSpc>
              <a:buNone/>
            </a:pPr>
            <a:r>
              <a:rPr lang="en-US" sz="2600" dirty="0">
                <a:solidFill>
                  <a:srgbClr val="64748B"/>
                </a:solidFill>
                <a:latin typeface="Consolas"/>
                <a:ea typeface="Consolas"/>
                <a:cs typeface="Consolas"/>
              </a:rPr>
              <a:t>    for (int i = 1; i &lt; n; i++) {</a:t>
            </a:r>
            <a:endParaRPr lang="en-US" sz="2600" dirty="0"/>
          </a:p>
          <a:p>
            <a:pPr marL="0" indent="0" algn="l">
              <a:lnSpc>
                <a:spcPts val="3250"/>
              </a:lnSpc>
              <a:buNone/>
            </a:pPr>
            <a:r>
              <a:rPr lang="en-US" sz="2600" dirty="0">
                <a:solidFill>
                  <a:srgbClr val="FFFFFF"/>
                </a:solidFill>
                <a:latin typeface="Consolas"/>
                <a:ea typeface="Consolas"/>
                <a:cs typeface="Consolas"/>
              </a:rPr>
              <a:t>        if (a[i] &gt; a[pos]) {</a:t>
            </a:r>
            <a:endParaRPr lang="en-US" sz="2600" dirty="0"/>
          </a:p>
          <a:p>
            <a:pPr marL="0" indent="0" algn="l">
              <a:lnSpc>
                <a:spcPts val="3250"/>
              </a:lnSpc>
              <a:buNone/>
            </a:pPr>
            <a:r>
              <a:rPr lang="en-US" sz="2600" dirty="0">
                <a:solidFill>
                  <a:srgbClr val="FFFFFF"/>
                </a:solidFill>
                <a:latin typeface="Consolas"/>
                <a:ea typeface="Consolas"/>
                <a:cs typeface="Consolas"/>
              </a:rPr>
              <a:t>            pos = i;</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    return pos;</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best match: index 3</a:t>
            </a:r>
            <a:endParaRPr lang="en-US" sz="2400" dirty="0"/>
          </a:p>
        </p:txBody>
      </p:sp>
      <p:sp>
        <p:nvSpPr>
          <p:cNvPr id="17" name="Shape 17"/>
          <p:cNvSpPr/>
          <p:nvPr/>
        </p:nvSpPr>
        <p:spPr>
          <a:xfrm>
            <a:off x="7589520" y="26670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8" name="Shape 18"/>
          <p:cNvSpPr/>
          <p:nvPr/>
        </p:nvSpPr>
        <p:spPr>
          <a:xfrm>
            <a:off x="7589520" y="2667000"/>
            <a:ext cx="109728" cy="1051560"/>
          </a:xfrm>
          <a:prstGeom prst="rect">
            <a:avLst/>
          </a:prstGeom>
          <a:solidFill>
            <a:srgbClr val="31C48D"/>
          </a:solidFill>
          <a:ln>
            <a:noFill/>
          </a:ln>
        </p:spPr>
        <p:txBody>
          <a:bodyPr wrap="square" lIns="0" tIns="0" rIns="0" bIns="0" rtlCol="0" anchor="t"/>
          <a:lstStyle/>
          <a:p>
            <a:endParaRPr lang="en-US"/>
          </a:p>
        </p:txBody>
      </p:sp>
      <p:sp>
        <p:nvSpPr>
          <p:cNvPr id="19"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Like the cheapest shop, with </a:t>
            </a:r>
            <a:r>
              <a:rPr lang="en-US" sz="2400" dirty="0">
                <a:solidFill>
                  <a:srgbClr val="18324A"/>
                </a:solidFill>
                <a:latin typeface="Consolas"/>
                <a:ea typeface="Consolas"/>
                <a:cs typeface="Consolas"/>
              </a:rPr>
              <a:t>&gt;</a:t>
            </a:r>
            <a:r>
              <a:rPr lang="en-US" sz="2400" dirty="0">
                <a:solidFill>
                  <a:srgbClr val="18324A"/>
                </a:solidFill>
              </a:rPr>
              <a:t>.</a:t>
            </a: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Your turn: contains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68</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11094415"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Write </a:t>
            </a:r>
            <a:r>
              <a:rPr lang="en-US" sz="3200" dirty="0">
                <a:solidFill>
                  <a:srgbClr val="2F80ED"/>
                </a:solidFill>
                <a:latin typeface="Consolas"/>
                <a:ea typeface="Consolas"/>
                <a:cs typeface="Consolas"/>
              </a:rPr>
              <a:t>int contains(int a[], int n, int x)</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It returns 1 if </a:t>
            </a:r>
            <a:r>
              <a:rPr lang="en-US" sz="3200" dirty="0">
                <a:solidFill>
                  <a:srgbClr val="2F80ED"/>
                </a:solidFill>
                <a:latin typeface="Consolas"/>
                <a:ea typeface="Consolas"/>
                <a:cs typeface="Consolas"/>
              </a:rPr>
              <a:t>x</a:t>
            </a:r>
            <a:r>
              <a:rPr lang="en-US" sz="3200" dirty="0">
                <a:solidFill>
                  <a:srgbClr val="18324A"/>
                </a:solidFill>
              </a:rPr>
              <a:t> is in the array, 0 if not.</a:t>
            </a:r>
            <a:endParaRPr lang="en-US" sz="3200" dirty="0"/>
          </a:p>
          <a:p>
            <a:pPr marL="0" indent="0" algn="l">
              <a:spcAft>
                <a:spcPts val="600"/>
              </a:spcAft>
              <a:buNone/>
            </a:pPr>
            <a:r>
              <a:rPr lang="en-US" sz="3200" dirty="0">
                <a:solidFill>
                  <a:srgbClr val="18324A"/>
                </a:solidFill>
              </a:rPr>
              <a:t>Where does the </a:t>
            </a:r>
            <a:r>
              <a:rPr lang="en-US" sz="3200" dirty="0">
                <a:solidFill>
                  <a:srgbClr val="2F80ED"/>
                </a:solidFill>
                <a:latin typeface="Consolas"/>
                <a:ea typeface="Consolas"/>
                <a:cs typeface="Consolas"/>
              </a:rPr>
              <a:t>return 0;</a:t>
            </a:r>
            <a:r>
              <a:rPr lang="en-US" sz="3200" dirty="0">
                <a:solidFill>
                  <a:srgbClr val="18324A"/>
                </a:solidFill>
              </a:rPr>
              <a:t> go?</a:t>
            </a:r>
            <a:endParaRPr lang="en-US" sz="3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contains: one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69</a:t>
            </a:r>
            <a:endParaRPr lang="en-US" sz="1400" dirty="0"/>
          </a:p>
        </p:txBody>
      </p:sp>
      <p:sp>
        <p:nvSpPr>
          <p:cNvPr id="6" name="Shape 6"/>
          <p:cNvSpPr/>
          <p:nvPr/>
        </p:nvSpPr>
        <p:spPr>
          <a:xfrm>
            <a:off x="548640" y="1261872"/>
            <a:ext cx="6766560" cy="3413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768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768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contains(int a[], int n, int x) {</a:t>
            </a:r>
            <a:endParaRPr lang="en-US" sz="2400" dirty="0"/>
          </a:p>
          <a:p>
            <a:pPr marL="0" indent="0" algn="l">
              <a:lnSpc>
                <a:spcPts val="3000"/>
              </a:lnSpc>
              <a:buNone/>
            </a:pPr>
            <a:r>
              <a:rPr lang="en-US" sz="2400" dirty="0">
                <a:solidFill>
                  <a:srgbClr val="64748B"/>
                </a:solidFill>
                <a:latin typeface="Consolas"/>
                <a:ea typeface="Consolas"/>
                <a:cs typeface="Consolas"/>
              </a:rPr>
              <a:t>    for (int i = 0; i &lt; n; i++) {</a:t>
            </a:r>
            <a:endParaRPr lang="en-US" sz="2400" dirty="0"/>
          </a:p>
          <a:p>
            <a:pPr marL="0" indent="0" algn="l">
              <a:lnSpc>
                <a:spcPts val="3000"/>
              </a:lnSpc>
              <a:buNone/>
            </a:pPr>
            <a:r>
              <a:rPr lang="en-US" sz="2400" dirty="0">
                <a:solidFill>
                  <a:srgbClr val="64748B"/>
                </a:solidFill>
                <a:latin typeface="Consolas"/>
                <a:ea typeface="Consolas"/>
                <a:cs typeface="Consolas"/>
              </a:rPr>
              <a:t>        if (a[i] == x) {</a:t>
            </a:r>
            <a:endParaRPr lang="en-US" sz="2400" dirty="0"/>
          </a:p>
          <a:p>
            <a:pPr marL="0" indent="0" algn="l">
              <a:lnSpc>
                <a:spcPts val="3000"/>
              </a:lnSpc>
              <a:buNone/>
            </a:pPr>
            <a:r>
              <a:rPr lang="en-US" sz="2400" dirty="0">
                <a:solidFill>
                  <a:srgbClr val="FFFFFF"/>
                </a:solidFill>
                <a:latin typeface="Consolas"/>
                <a:ea typeface="Consolas"/>
                <a:cs typeface="Consolas"/>
              </a:rPr>
              <a:t>            return 1;</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Run, input 13</a:t>
            </a:r>
            <a:endParaRPr lang="en-US" sz="1600" dirty="0"/>
          </a:p>
        </p:txBody>
      </p:sp>
      <p:sp>
        <p:nvSpPr>
          <p:cNvPr id="13" name="Shape 13"/>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Number: 13</a:t>
            </a:r>
            <a:endParaRPr lang="en-US" sz="2400" dirty="0"/>
          </a:p>
          <a:p>
            <a:pPr marL="0" indent="0" algn="l">
              <a:lnSpc>
                <a:spcPts val="3000"/>
              </a:lnSpc>
              <a:buNone/>
            </a:pPr>
            <a:r>
              <a:rPr lang="en-US" sz="2400" dirty="0">
                <a:solidFill>
                  <a:srgbClr val="D1FAE5"/>
                </a:solidFill>
                <a:latin typeface="Consolas"/>
                <a:ea typeface="Consolas"/>
                <a:cs typeface="Consolas"/>
              </a:rPr>
              <a:t>yes, lucky</a:t>
            </a:r>
            <a:endParaRPr lang="en-US" sz="2400" dirty="0"/>
          </a:p>
        </p:txBody>
      </p:sp>
      <p:sp>
        <p:nvSpPr>
          <p:cNvPr id="15" name="Shape 15"/>
          <p:cNvSpPr/>
          <p:nvPr/>
        </p:nvSpPr>
        <p:spPr>
          <a:xfrm>
            <a:off x="7589520" y="3048000"/>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6" name="Shape 16"/>
          <p:cNvSpPr/>
          <p:nvPr/>
        </p:nvSpPr>
        <p:spPr>
          <a:xfrm>
            <a:off x="7589520" y="3048000"/>
            <a:ext cx="109728" cy="1051560"/>
          </a:xfrm>
          <a:prstGeom prst="rect">
            <a:avLst/>
          </a:prstGeom>
          <a:solidFill>
            <a:srgbClr val="F59E0B"/>
          </a:solidFill>
          <a:ln>
            <a:noFill/>
          </a:ln>
        </p:spPr>
        <p:txBody>
          <a:bodyPr wrap="square" lIns="0" tIns="0" rIns="0" bIns="0" rtlCol="0" anchor="t"/>
          <a:lstStyle/>
          <a:p>
            <a:endParaRPr lang="en-US"/>
          </a:p>
        </p:txBody>
      </p:sp>
      <p:sp>
        <p:nvSpPr>
          <p:cNvPr id="17" name="Callout"/>
          <p:cNvSpPr/>
          <p:nvPr/>
        </p:nvSpPr>
        <p:spPr>
          <a:xfrm>
            <a:off x="7699248" y="3048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return 0;</a:t>
            </a:r>
            <a:r>
              <a:rPr lang="en-US" sz="2400" dirty="0">
                <a:solidFill>
                  <a:srgbClr val="18324A"/>
                </a:solidFill>
              </a:rPr>
              <a:t> </a:t>
            </a:r>
            <a:r>
              <a:rPr lang="en-US" sz="2400" b="1" dirty="0">
                <a:solidFill>
                  <a:srgbClr val="18324A"/>
                </a:solidFill>
              </a:rPr>
              <a:t>after</a:t>
            </a:r>
            <a:r>
              <a:rPr lang="en-US" sz="2400" dirty="0">
                <a:solidFill>
                  <a:srgbClr val="18324A"/>
                </a:solidFill>
              </a:rPr>
              <a:t> the loop.</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Today in one slide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70</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Send an array </a:t>
            </a:r>
            <a:r>
              <a:rPr lang="en-US" sz="2800" b="1" dirty="0">
                <a:solidFill>
                  <a:srgbClr val="18324A"/>
                </a:solidFill>
              </a:rPr>
              <a:t>and its size</a:t>
            </a:r>
            <a:r>
              <a:rPr lang="en-US" sz="2800" dirty="0">
                <a:solidFill>
                  <a:srgbClr val="18324A"/>
                </a:solidFill>
              </a:rPr>
              <a:t>: </a:t>
            </a:r>
            <a:r>
              <a:rPr lang="en-US" sz="2800" dirty="0">
                <a:solidFill>
                  <a:srgbClr val="2F80ED"/>
                </a:solidFill>
                <a:latin typeface="Consolas"/>
                <a:ea typeface="Consolas"/>
                <a:cs typeface="Consolas"/>
              </a:rPr>
              <a:t>f(a, n)</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function can </a:t>
            </a:r>
            <a:r>
              <a:rPr lang="en-US" sz="2800" b="1" dirty="0">
                <a:solidFill>
                  <a:srgbClr val="18324A"/>
                </a:solidFill>
              </a:rPr>
              <a:t>change</a:t>
            </a:r>
            <a:r>
              <a:rPr lang="en-US" sz="2800" dirty="0">
                <a:solidFill>
                  <a:srgbClr val="18324A"/>
                </a:solidFill>
              </a:rPr>
              <a:t> the caller's array</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Search: return the index, or </a:t>
            </a:r>
            <a:r>
              <a:rPr lang="en-US" sz="2800" dirty="0">
                <a:solidFill>
                  <a:srgbClr val="2F80ED"/>
                </a:solidFill>
                <a:latin typeface="Consolas"/>
                <a:ea typeface="Consolas"/>
                <a:cs typeface="Consolas"/>
              </a:rPr>
              <a:t>-1</a:t>
            </a:r>
            <a:r>
              <a:rPr lang="en-US" sz="2800" dirty="0">
                <a:solidFill>
                  <a:srgbClr val="18324A"/>
                </a:solidFill>
              </a:rPr>
              <a:t> </a:t>
            </a:r>
            <a:r>
              <a:rPr lang="en-US" sz="2800" b="1" dirty="0">
                <a:solidFill>
                  <a:srgbClr val="18324A"/>
                </a:solidFill>
              </a:rPr>
              <a:t>after</a:t>
            </a:r>
            <a:r>
              <a:rPr lang="en-US" sz="2800" dirty="0">
                <a:solidFill>
                  <a:srgbClr val="18324A"/>
                </a:solidFill>
              </a:rPr>
              <a:t> the loop</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Min and max: start from </a:t>
            </a:r>
            <a:r>
              <a:rPr lang="en-US" sz="2800" dirty="0">
                <a:solidFill>
                  <a:srgbClr val="2F80ED"/>
                </a:solidFill>
                <a:latin typeface="Consolas"/>
                <a:ea typeface="Consolas"/>
                <a:cs typeface="Consolas"/>
              </a:rPr>
              <a:t>a[0]</a:t>
            </a:r>
            <a:endParaRPr lang="en-US" sz="2800" dirty="0"/>
          </a:p>
        </p:txBody>
      </p:sp>
      <p:sp>
        <p:nvSpPr>
          <p:cNvPr id="14" name="Shape 14"/>
          <p:cNvSpPr/>
          <p:nvPr/>
        </p:nvSpPr>
        <p:spPr>
          <a:xfrm>
            <a:off x="731520" y="4965192"/>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9651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Swap with </a:t>
            </a:r>
            <a:r>
              <a:rPr lang="en-US" sz="2800" dirty="0">
                <a:solidFill>
                  <a:srgbClr val="2F80ED"/>
                </a:solidFill>
                <a:latin typeface="Consolas"/>
                <a:ea typeface="Consolas"/>
                <a:cs typeface="Consolas"/>
              </a:rPr>
              <a:t>temp</a:t>
            </a:r>
            <a:r>
              <a:rPr lang="en-US" sz="2800" dirty="0">
                <a:solidFill>
                  <a:srgbClr val="18324A"/>
                </a:solidFill>
              </a:rPr>
              <a:t>; bubble sort: passes of neighbour swaps</a:t>
            </a:r>
            <a:endParaRPr lang="en-US" sz="2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Before Tuesday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10</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71</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Knowledge check 10</a:t>
            </a:r>
            <a:r>
              <a:rPr lang="en-US" sz="2800" dirty="0">
                <a:solidFill>
                  <a:srgbClr val="18324A"/>
                </a:solidFill>
              </a:rPr>
              <a:t> on Blackboard: today's slides</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Project 1</a:t>
            </a:r>
            <a:r>
              <a:rPr lang="en-US" sz="2800" dirty="0">
                <a:solidFill>
                  <a:srgbClr val="18324A"/>
                </a:solidFill>
              </a:rPr>
              <a:t> (Blackjack): due </a:t>
            </a:r>
            <a:r>
              <a:rPr lang="en-US" sz="2800" b="1" dirty="0">
                <a:solidFill>
                  <a:srgbClr val="18324A"/>
                </a:solidFill>
              </a:rPr>
              <a:t>Sun 11 October, 23:59</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Quiz 3: Fri 16 October</a:t>
            </a:r>
            <a:r>
              <a:rPr lang="en-US" sz="2800" dirty="0">
                <a:solidFill>
                  <a:srgbClr val="18324A"/>
                </a:solidFill>
              </a:rPr>
              <a:t>, classes 7 to 10</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Today's code: Blackboard, Week 5 module, </a:t>
            </a:r>
            <a:r>
              <a:rPr lang="en-US" sz="2800" b="1" dirty="0">
                <a:solidFill>
                  <a:srgbClr val="18324A"/>
                </a:solidFill>
              </a:rPr>
              <a:t>Class 10 code</a:t>
            </a:r>
            <a:endParaRPr lang="en-US" sz="2800" dirty="0"/>
          </a:p>
        </p:txBody>
      </p:sp>
      <p:sp>
        <p:nvSpPr>
          <p:cNvPr id="14" name="Shape 14"/>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Next class: characters and strings. A string is an array of </a:t>
            </a:r>
            <a:r>
              <a:rPr lang="en-US" sz="2400" dirty="0">
                <a:solidFill>
                  <a:srgbClr val="18324A"/>
                </a:solidFill>
                <a:latin typeface="Consolas"/>
                <a:ea typeface="Consolas"/>
                <a:cs typeface="Consolas"/>
              </a:rPr>
              <a:t>char</a:t>
            </a:r>
            <a:r>
              <a:rPr lang="en-US" sz="2400" dirty="0">
                <a:solidFill>
                  <a:srgbClr val="18324A"/>
                </a:solidFill>
              </a:rPr>
              <a: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E6C91384D4CF4A8C11771C71AF99FC" ma:contentTypeVersion="3" ma:contentTypeDescription="Create a new document." ma:contentTypeScope="" ma:versionID="9457c7892666d9df0301343fedda2daf">
  <xsd:schema xmlns:xsd="http://www.w3.org/2001/XMLSchema" xmlns:xs="http://www.w3.org/2001/XMLSchema" xmlns:p="http://schemas.microsoft.com/office/2006/metadata/properties" xmlns:ns2="76ba2307-afa1-4918-86e6-ffe4c7b76c67" targetNamespace="http://schemas.microsoft.com/office/2006/metadata/properties" ma:root="true" ma:fieldsID="01dbc32444af8b37558df168563705b5" ns2:_="">
    <xsd:import namespace="76ba2307-afa1-4918-86e6-ffe4c7b76c6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ba2307-afa1-4918-86e6-ffe4c7b76c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07D86D-9D44-4F53-9B6F-B55C63480B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ba2307-afa1-4918-86e6-ffe4c7b76c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66058B-8C7C-44C5-988D-122F37B2CD12}">
  <ds:schemaRefs>
    <ds:schemaRef ds:uri="http://schemas.microsoft.com/sharepoint/v3/contenttype/forms"/>
  </ds:schemaRefs>
</ds:datastoreItem>
</file>

<file path=customXml/itemProps3.xml><?xml version="1.0" encoding="utf-8"?>
<ds:datastoreItem xmlns:ds="http://schemas.openxmlformats.org/officeDocument/2006/customXml" ds:itemID="{B559415D-7EF4-4728-B780-B028948F84C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9700</Words>
  <Application>Microsoft Office PowerPoint</Application>
  <PresentationFormat>Widescreen</PresentationFormat>
  <Paragraphs>1349</Paragraphs>
  <Slides>71</Slides>
  <Notes>71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71</vt:i4>
      </vt:variant>
    </vt:vector>
  </HeadingPairs>
  <TitlesOfParts>
    <vt:vector size="75"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1101 · Class 10 · Search min max bubble sort</dc:title>
  <dc:subject>Programming Principles I - Week 3</dc:subject>
  <dc:creator>Abbas Aliyev and Azar Aliyev</dc:creator>
  <cp:lastModifiedBy>Abbas Aliyev and Azar Aliyev</cp:lastModifiedBy>
  <cp:revision>5</cp:revision>
  <dcterms:created xsi:type="dcterms:W3CDTF">2026-09-17T10:16:02Z</dcterms:created>
  <dcterms:modified xsi:type="dcterms:W3CDTF">2026-10-16T20:05:57Z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0x010100A9E6C91384D4CF4A8C11771C71AF99FC</vt:lpwstr>
  </property>
</Properties>
</file>