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087"/>
  </p:normalViewPr>
  <p:slideViewPr>
    <p:cSldViewPr snapToGrid="0" snapToObjects="1">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presProps" Target="pres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D7F48568-EB9C-48E5-A615-5C58643E9088}" type="datetimeFigureOut">
              <a:rPr lang="en-US" smtClean="0"/>
              <a:t>10/17/2026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38606F9-C3FD-4AD4-9046-7042475E2336}" type="slidenum">
              <a:rPr lang="en-US" smtClean="0"/>
              <a:t>‹#›</a:t>
            </a:fld>
            <a:endParaRPr lang="en-US"/>
          </a:p>
        </p:txBody>
      </p:sp>
    </p:spTree>
    <p:extLst>
      <p:ext uri="{BB962C8B-B14F-4D97-AF65-F5344CB8AC3E}">
        <p14:creationId xmlns:p14="http://schemas.microsoft.com/office/powerpoint/2010/main" val="209570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programs of this class are on Blackboard: Week 3 module, Class 6 code. It is a zip file. Unzip it and open the folder in Visual Studio Code. Every file has a comment at the top: what the program does, how to run it, and a list called Try with small changes to make. Make them. Breaking a program on purpose is a good way to learn what each line does.</a:t>
            </a:r>
          </a:p>
          <a:p>
            <a:endParaRPr lang="en-US"/>
          </a:p>
          <a:p>
            <a:r>
              <a:rPr lang="en-US"/>
              <a:t>How to run a program. Same as every week. In the terminal type gcc -Wall name.c -o name and press Enter, then ./name (or .\name in Windows PowerShell) and press Enter.</a:t>
            </a:r>
          </a:p>
          <a:p>
            <a:endParaRPr lang="en-US"/>
          </a:p>
          <a:p>
            <a:r>
              <a:rPr lang="en-US"/>
              <a:t>If a program never stops: click in the terminal and press Ctrl+C. You saw this on Tuesday.</a:t>
            </a:r>
          </a:p>
          <a:p>
            <a:endParaRPr lang="en-US"/>
          </a:p>
          <a:p>
            <a:r>
              <a:rPr lang="en-US"/>
              <a:t>On Tuesday you learned how a loop is written. Today is about what loops are used for.</a:t>
            </a:r>
          </a:p>
        </p:txBody>
      </p:sp>
      <p:sp>
        <p:nvSpPr>
          <p:cNvPr id="4" name="Slide Number Placeholder 3"/>
          <p:cNvSpPr>
            <a:spLocks noGrp="1"/>
          </p:cNvSpPr>
          <p:nvPr>
            <p:ph type="sldNum" sz="quarter" idx="5"/>
          </p:nvPr>
        </p:nvSpPr>
        <p:spPr/>
        <p:txBody>
          <a:bodyPr/>
          <a:lstStyle/>
          <a:p>
            <a:fld id="{238606F9-C3FD-4AD4-9046-7042475E2336}" type="slidenum">
              <a:rPr lang="en-US" smtClean="0"/>
              <a:t>1</a:t>
            </a:fld>
            <a:endParaRPr lang="en-US"/>
          </a:p>
        </p:txBody>
      </p:sp>
    </p:spTree>
    <p:extLst>
      <p:ext uri="{BB962C8B-B14F-4D97-AF65-F5344CB8AC3E}">
        <p14:creationId xmlns:p14="http://schemas.microsoft.com/office/powerpoint/2010/main" val="401708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you need from Tuesday:</a:t>
            </a:r>
          </a:p>
          <a:p>
            <a:endParaRPr lang="en-US"/>
          </a:p>
          <a:p>
            <a:r>
              <a:rPr lang="en-US"/>
              <a:t>- A loop has four parts: the start, the check (the condition), the body, and the update.</a:t>
            </a:r>
          </a:p>
          <a:p>
            <a:r>
              <a:rPr lang="en-US"/>
              <a:t>- for (int i = 1; i &lt;= 5; i++) makes i go 1, 2, 3, 4, 5.</a:t>
            </a:r>
          </a:p>
          <a:p>
            <a:r>
              <a:rPr lang="en-US"/>
              <a:t>- i++ means i = i + 1. sum += i means sum = sum + i.</a:t>
            </a:r>
          </a:p>
          <a:p>
            <a:r>
              <a:rPr lang="en-US"/>
              <a:t>- A loop that never stops: press Ctrl+C.</a:t>
            </a:r>
          </a:p>
        </p:txBody>
      </p:sp>
      <p:sp>
        <p:nvSpPr>
          <p:cNvPr id="4" name="Slide Number Placeholder 3"/>
          <p:cNvSpPr>
            <a:spLocks noGrp="1"/>
          </p:cNvSpPr>
          <p:nvPr>
            <p:ph type="sldNum" sz="quarter" idx="5"/>
          </p:nvPr>
        </p:nvSpPr>
        <p:spPr/>
        <p:txBody>
          <a:bodyPr/>
          <a:lstStyle/>
          <a:p>
            <a:fld id="{238606F9-C3FD-4AD4-9046-7042475E2336}" type="slidenum">
              <a:rPr lang="en-US" smtClean="0"/>
              <a:t>2</a:t>
            </a:fld>
            <a:endParaRPr lang="en-US"/>
          </a:p>
        </p:txBody>
      </p:sp>
    </p:spTree>
    <p:extLst>
      <p:ext uri="{BB962C8B-B14F-4D97-AF65-F5344CB8AC3E}">
        <p14:creationId xmlns:p14="http://schemas.microsoft.com/office/powerpoint/2010/main" val="332610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 The loop starts at 5. It goes on while i is at least 1. After every round, i-- takes one away.</a:t>
            </a:r>
          </a:p>
        </p:txBody>
      </p:sp>
      <p:sp>
        <p:nvSpPr>
          <p:cNvPr id="4" name="Slide Number Placeholder 3"/>
          <p:cNvSpPr>
            <a:spLocks noGrp="1"/>
          </p:cNvSpPr>
          <p:nvPr>
            <p:ph type="sldNum" sz="quarter" idx="5"/>
          </p:nvPr>
        </p:nvSpPr>
        <p:spPr/>
        <p:txBody>
          <a:bodyPr/>
          <a:lstStyle/>
          <a:p>
            <a:fld id="{238606F9-C3FD-4AD4-9046-7042475E2336}" type="slidenum">
              <a:rPr lang="en-US" smtClean="0"/>
              <a:t>3</a:t>
            </a:fld>
            <a:endParaRPr lang="en-US"/>
          </a:p>
        </p:txBody>
      </p:sp>
    </p:spTree>
    <p:extLst>
      <p:ext uri="{BB962C8B-B14F-4D97-AF65-F5344CB8AC3E}">
        <p14:creationId xmlns:p14="http://schemas.microsoft.com/office/powerpoint/2010/main" val="2607507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5 4 3 2 1. To count down, all three parts change: the start is the big number, the check is &gt;=, the update is --.</a:t>
            </a:r>
          </a:p>
        </p:txBody>
      </p:sp>
      <p:sp>
        <p:nvSpPr>
          <p:cNvPr id="4" name="Slide Number Placeholder 3"/>
          <p:cNvSpPr>
            <a:spLocks noGrp="1"/>
          </p:cNvSpPr>
          <p:nvPr>
            <p:ph type="sldNum" sz="quarter" idx="5"/>
          </p:nvPr>
        </p:nvSpPr>
        <p:spPr/>
        <p:txBody>
          <a:bodyPr/>
          <a:lstStyle/>
          <a:p>
            <a:fld id="{238606F9-C3FD-4AD4-9046-7042475E2336}" type="slidenum">
              <a:rPr lang="en-US" smtClean="0"/>
              <a:t>4</a:t>
            </a:fld>
            <a:endParaRPr lang="en-US"/>
          </a:p>
        </p:txBody>
      </p:sp>
    </p:spTree>
    <p:extLst>
      <p:ext uri="{BB962C8B-B14F-4D97-AF65-F5344CB8AC3E}">
        <p14:creationId xmlns:p14="http://schemas.microsoft.com/office/powerpoint/2010/main" val="414210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steps today:</a:t>
            </a:r>
          </a:p>
          <a:p>
            <a:endParaRPr lang="en-US"/>
          </a:p>
          <a:p>
            <a:r>
              <a:rPr lang="en-US"/>
              <a:t>1. Keeping a total, and counting things.</a:t>
            </a:r>
          </a:p>
          <a:p>
            <a:r>
              <a:rPr lang="en-US"/>
              <a:t>2. Asking again until the input is good.</a:t>
            </a:r>
          </a:p>
          <a:p>
            <a:r>
              <a:rPr lang="en-US"/>
              <a:t>3. Choosing where a loop starts and stops.</a:t>
            </a:r>
          </a:p>
          <a:p>
            <a:r>
              <a:rPr lang="en-US"/>
              <a:t>4. break and continue.</a:t>
            </a:r>
          </a:p>
          <a:p>
            <a:r>
              <a:rPr lang="en-US"/>
              <a:t>5. Two whole programs, and the bugs everybody makes.</a:t>
            </a:r>
          </a:p>
          <a:p>
            <a:r>
              <a:rPr lang="en-US"/>
              <a:t>6. Tracing a loop with a pen, and writing your own.</a:t>
            </a:r>
          </a:p>
          <a:p>
            <a:endParaRPr lang="en-US"/>
          </a:p>
          <a:p>
            <a:r>
              <a:rPr lang="en-US"/>
              <a:t>Number 6 is the quiz skill. Quiz 2 is on Friday 2 October and has a loop to trace.</a:t>
            </a:r>
          </a:p>
        </p:txBody>
      </p:sp>
      <p:sp>
        <p:nvSpPr>
          <p:cNvPr id="4" name="Slide Number Placeholder 3"/>
          <p:cNvSpPr>
            <a:spLocks noGrp="1"/>
          </p:cNvSpPr>
          <p:nvPr>
            <p:ph type="sldNum" sz="quarter" idx="5"/>
          </p:nvPr>
        </p:nvSpPr>
        <p:spPr/>
        <p:txBody>
          <a:bodyPr/>
          <a:lstStyle/>
          <a:p>
            <a:fld id="{238606F9-C3FD-4AD4-9046-7042475E2336}" type="slidenum">
              <a:rPr lang="en-US" smtClean="0"/>
              <a:t>5</a:t>
            </a:fld>
            <a:endParaRPr lang="en-US"/>
          </a:p>
        </p:txBody>
      </p:sp>
    </p:spTree>
    <p:extLst>
      <p:ext uri="{BB962C8B-B14F-4D97-AF65-F5344CB8AC3E}">
        <p14:creationId xmlns:p14="http://schemas.microsoft.com/office/powerpoint/2010/main" val="603625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1: building a total, one round at a time.</a:t>
            </a:r>
          </a:p>
        </p:txBody>
      </p:sp>
      <p:sp>
        <p:nvSpPr>
          <p:cNvPr id="4" name="Slide Number Placeholder 3"/>
          <p:cNvSpPr>
            <a:spLocks noGrp="1"/>
          </p:cNvSpPr>
          <p:nvPr>
            <p:ph type="sldNum" sz="quarter" idx="5"/>
          </p:nvPr>
        </p:nvSpPr>
        <p:spPr/>
        <p:txBody>
          <a:bodyPr/>
          <a:lstStyle/>
          <a:p>
            <a:fld id="{238606F9-C3FD-4AD4-9046-7042475E2336}" type="slidenum">
              <a:rPr lang="en-US" smtClean="0"/>
              <a:t>6</a:t>
            </a:fld>
            <a:endParaRPr lang="en-US"/>
          </a:p>
        </p:txBody>
      </p:sp>
    </p:spTree>
    <p:extLst>
      <p:ext uri="{BB962C8B-B14F-4D97-AF65-F5344CB8AC3E}">
        <p14:creationId xmlns:p14="http://schemas.microsoft.com/office/powerpoint/2010/main" val="35970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want to add 1 + 2 + 3 + 4 + 5. You need one box that remembers the total so far. Think of the till in a shop. It starts at zero. Every item adds to it. At the end you read the total. In programming this box is called an accumulator. It is just a running total.</a:t>
            </a:r>
          </a:p>
        </p:txBody>
      </p:sp>
      <p:sp>
        <p:nvSpPr>
          <p:cNvPr id="4" name="Slide Number Placeholder 3"/>
          <p:cNvSpPr>
            <a:spLocks noGrp="1"/>
          </p:cNvSpPr>
          <p:nvPr>
            <p:ph type="sldNum" sz="quarter" idx="5"/>
          </p:nvPr>
        </p:nvSpPr>
        <p:spPr/>
        <p:txBody>
          <a:bodyPr/>
          <a:lstStyle/>
          <a:p>
            <a:fld id="{238606F9-C3FD-4AD4-9046-7042475E2336}" type="slidenum">
              <a:rPr lang="en-US" smtClean="0"/>
              <a:t>7</a:t>
            </a:fld>
            <a:endParaRPr lang="en-US"/>
          </a:p>
        </p:txBody>
      </p:sp>
    </p:spTree>
    <p:extLst>
      <p:ext uri="{BB962C8B-B14F-4D97-AF65-F5344CB8AC3E}">
        <p14:creationId xmlns:p14="http://schemas.microsoft.com/office/powerpoint/2010/main" val="4289923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file 01_sum_1_to_5.c. The printf inside the loop is only there so that you can watch the total grow.</a:t>
            </a:r>
          </a:p>
          <a:p>
            <a:endParaRPr lang="en-US"/>
          </a:p>
          <a:p>
            <a:r>
              <a:rPr lang="en-US"/>
              <a:t>The screen shows:</a:t>
            </a:r>
          </a:p>
          <a:p>
            <a:endParaRPr lang="en-US"/>
          </a:p>
          <a:p>
            <a:r>
              <a:rPr lang="en-US"/>
              <a:t>after 1: sum = 1</a:t>
            </a:r>
          </a:p>
          <a:p>
            <a:r>
              <a:rPr lang="en-US"/>
              <a:t>after 2: sum = 3</a:t>
            </a:r>
          </a:p>
          <a:p>
            <a:r>
              <a:rPr lang="en-US"/>
              <a:t>after 3: sum = 6</a:t>
            </a:r>
          </a:p>
          <a:p>
            <a:r>
              <a:rPr lang="en-US"/>
              <a:t>after 4: sum = 10</a:t>
            </a:r>
          </a:p>
          <a:p>
            <a:r>
              <a:rPr lang="en-US"/>
              <a:t>after 5: sum = 15</a:t>
            </a:r>
          </a:p>
          <a:p>
            <a:r>
              <a:rPr lang="en-US"/>
              <a:t>Sum = 15</a:t>
            </a:r>
          </a:p>
        </p:txBody>
      </p:sp>
      <p:sp>
        <p:nvSpPr>
          <p:cNvPr id="4" name="Slide Number Placeholder 3"/>
          <p:cNvSpPr>
            <a:spLocks noGrp="1"/>
          </p:cNvSpPr>
          <p:nvPr>
            <p:ph type="sldNum" sz="quarter" idx="5"/>
          </p:nvPr>
        </p:nvSpPr>
        <p:spPr/>
        <p:txBody>
          <a:bodyPr/>
          <a:lstStyle/>
          <a:p>
            <a:fld id="{238606F9-C3FD-4AD4-9046-7042475E2336}" type="slidenum">
              <a:rPr lang="en-US" smtClean="0"/>
              <a:t>8</a:t>
            </a:fld>
            <a:endParaRPr lang="en-US"/>
          </a:p>
        </p:txBody>
      </p:sp>
    </p:spTree>
    <p:extLst>
      <p:ext uri="{BB962C8B-B14F-4D97-AF65-F5344CB8AC3E}">
        <p14:creationId xmlns:p14="http://schemas.microsoft.com/office/powerpoint/2010/main" val="1002515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place of the pattern. Before the loop: make the box and set it to zero. int sum = 0; This line runs once.</a:t>
            </a:r>
          </a:p>
        </p:txBody>
      </p:sp>
      <p:sp>
        <p:nvSpPr>
          <p:cNvPr id="4" name="Slide Number Placeholder 3"/>
          <p:cNvSpPr>
            <a:spLocks noGrp="1"/>
          </p:cNvSpPr>
          <p:nvPr>
            <p:ph type="sldNum" sz="quarter" idx="5"/>
          </p:nvPr>
        </p:nvSpPr>
        <p:spPr/>
        <p:txBody>
          <a:bodyPr/>
          <a:lstStyle/>
          <a:p>
            <a:fld id="{238606F9-C3FD-4AD4-9046-7042475E2336}" type="slidenum">
              <a:rPr lang="en-US" smtClean="0"/>
              <a:t>9</a:t>
            </a:fld>
            <a:endParaRPr lang="en-US"/>
          </a:p>
        </p:txBody>
      </p:sp>
    </p:spTree>
    <p:extLst>
      <p:ext uri="{BB962C8B-B14F-4D97-AF65-F5344CB8AC3E}">
        <p14:creationId xmlns:p14="http://schemas.microsoft.com/office/powerpoint/2010/main" val="2321244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place. Inside the loop: add to the total. sum += i; means sum = sum + i;. This line runs in every round.</a:t>
            </a:r>
          </a:p>
        </p:txBody>
      </p:sp>
      <p:sp>
        <p:nvSpPr>
          <p:cNvPr id="4" name="Slide Number Placeholder 3"/>
          <p:cNvSpPr>
            <a:spLocks noGrp="1"/>
          </p:cNvSpPr>
          <p:nvPr>
            <p:ph type="sldNum" sz="quarter" idx="5"/>
          </p:nvPr>
        </p:nvSpPr>
        <p:spPr/>
        <p:txBody>
          <a:bodyPr/>
          <a:lstStyle/>
          <a:p>
            <a:fld id="{238606F9-C3FD-4AD4-9046-7042475E2336}" type="slidenum">
              <a:rPr lang="en-US" smtClean="0"/>
              <a:t>10</a:t>
            </a:fld>
            <a:endParaRPr lang="en-US"/>
          </a:p>
        </p:txBody>
      </p:sp>
    </p:spTree>
    <p:extLst>
      <p:ext uri="{BB962C8B-B14F-4D97-AF65-F5344CB8AC3E}">
        <p14:creationId xmlns:p14="http://schemas.microsoft.com/office/powerpoint/2010/main" val="2066360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third place. After the loop: the total is ready. Print it, or calculate with it.</a:t>
            </a:r>
          </a:p>
        </p:txBody>
      </p:sp>
      <p:sp>
        <p:nvSpPr>
          <p:cNvPr id="4" name="Slide Number Placeholder 3"/>
          <p:cNvSpPr>
            <a:spLocks noGrp="1"/>
          </p:cNvSpPr>
          <p:nvPr>
            <p:ph type="sldNum" sz="quarter" idx="5"/>
          </p:nvPr>
        </p:nvSpPr>
        <p:spPr/>
        <p:txBody>
          <a:bodyPr/>
          <a:lstStyle/>
          <a:p>
            <a:fld id="{238606F9-C3FD-4AD4-9046-7042475E2336}" type="slidenum">
              <a:rPr lang="en-US" smtClean="0"/>
              <a:t>11</a:t>
            </a:fld>
            <a:endParaRPr lang="en-US"/>
          </a:p>
        </p:txBody>
      </p:sp>
    </p:spTree>
    <p:extLst>
      <p:ext uri="{BB962C8B-B14F-4D97-AF65-F5344CB8AC3E}">
        <p14:creationId xmlns:p14="http://schemas.microsoft.com/office/powerpoint/2010/main" val="992206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1: sum is 0 and i is 1. 0 + 1 = 1. Now sum is 1.</a:t>
            </a:r>
          </a:p>
        </p:txBody>
      </p:sp>
      <p:sp>
        <p:nvSpPr>
          <p:cNvPr id="4" name="Slide Number Placeholder 3"/>
          <p:cNvSpPr>
            <a:spLocks noGrp="1"/>
          </p:cNvSpPr>
          <p:nvPr>
            <p:ph type="sldNum" sz="quarter" idx="5"/>
          </p:nvPr>
        </p:nvSpPr>
        <p:spPr/>
        <p:txBody>
          <a:bodyPr/>
          <a:lstStyle/>
          <a:p>
            <a:fld id="{238606F9-C3FD-4AD4-9046-7042475E2336}" type="slidenum">
              <a:rPr lang="en-US" smtClean="0"/>
              <a:t>12</a:t>
            </a:fld>
            <a:endParaRPr lang="en-US"/>
          </a:p>
        </p:txBody>
      </p:sp>
    </p:spTree>
    <p:extLst>
      <p:ext uri="{BB962C8B-B14F-4D97-AF65-F5344CB8AC3E}">
        <p14:creationId xmlns:p14="http://schemas.microsoft.com/office/powerpoint/2010/main" val="478722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2: sum is still 1. It kept its value from round 1, because the box was made before the loop. 1 + 2 = 3.</a:t>
            </a:r>
          </a:p>
        </p:txBody>
      </p:sp>
      <p:sp>
        <p:nvSpPr>
          <p:cNvPr id="4" name="Slide Number Placeholder 3"/>
          <p:cNvSpPr>
            <a:spLocks noGrp="1"/>
          </p:cNvSpPr>
          <p:nvPr>
            <p:ph type="sldNum" sz="quarter" idx="5"/>
          </p:nvPr>
        </p:nvSpPr>
        <p:spPr/>
        <p:txBody>
          <a:bodyPr/>
          <a:lstStyle/>
          <a:p>
            <a:fld id="{238606F9-C3FD-4AD4-9046-7042475E2336}" type="slidenum">
              <a:rPr lang="en-US" smtClean="0"/>
              <a:t>13</a:t>
            </a:fld>
            <a:endParaRPr lang="en-US"/>
          </a:p>
        </p:txBody>
      </p:sp>
    </p:spTree>
    <p:extLst>
      <p:ext uri="{BB962C8B-B14F-4D97-AF65-F5344CB8AC3E}">
        <p14:creationId xmlns:p14="http://schemas.microsoft.com/office/powerpoint/2010/main" val="2447654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whole trace:</a:t>
            </a:r>
          </a:p>
          <a:p>
            <a:endParaRPr lang="en-US"/>
          </a:p>
          <a:p>
            <a:r>
              <a:rPr lang="en-US"/>
              <a:t>Round: i · sum before · sum += i · sum after</a:t>
            </a:r>
          </a:p>
          <a:p>
            <a:r>
              <a:rPr lang="en-US"/>
              <a:t>1: 1 · 0 · 0 + 1 · 1</a:t>
            </a:r>
          </a:p>
          <a:p>
            <a:r>
              <a:rPr lang="en-US"/>
              <a:t>2: 2 · 1 · 1 + 2 · 3</a:t>
            </a:r>
          </a:p>
          <a:p>
            <a:r>
              <a:rPr lang="en-US"/>
              <a:t>3: 3 · 3 · 3 + 3 · 6</a:t>
            </a:r>
          </a:p>
          <a:p>
            <a:r>
              <a:rPr lang="en-US"/>
              <a:t>4: 4 · 6 · 6 + 4 · 10</a:t>
            </a:r>
          </a:p>
          <a:p>
            <a:r>
              <a:rPr lang="en-US"/>
              <a:t>5: 5 · 10 · 10 + 5 · 15</a:t>
            </a:r>
          </a:p>
          <a:p>
            <a:endParaRPr lang="en-US"/>
          </a:p>
          <a:p>
            <a:r>
              <a:rPr lang="en-US"/>
              <a:t>Then i becomes 6. 6 &lt;= 5 is false. The loop ends. The line after the loop prints Sum = 15.</a:t>
            </a:r>
          </a:p>
        </p:txBody>
      </p:sp>
      <p:sp>
        <p:nvSpPr>
          <p:cNvPr id="4" name="Slide Number Placeholder 3"/>
          <p:cNvSpPr>
            <a:spLocks noGrp="1"/>
          </p:cNvSpPr>
          <p:nvPr>
            <p:ph type="sldNum" sz="quarter" idx="5"/>
          </p:nvPr>
        </p:nvSpPr>
        <p:spPr/>
        <p:txBody>
          <a:bodyPr/>
          <a:lstStyle/>
          <a:p>
            <a:fld id="{238606F9-C3FD-4AD4-9046-7042475E2336}" type="slidenum">
              <a:rPr lang="en-US" smtClean="0"/>
              <a:t>14</a:t>
            </a:fld>
            <a:endParaRPr lang="en-US"/>
          </a:p>
        </p:txBody>
      </p:sp>
    </p:spTree>
    <p:extLst>
      <p:ext uri="{BB962C8B-B14F-4D97-AF65-F5344CB8AC3E}">
        <p14:creationId xmlns:p14="http://schemas.microsoft.com/office/powerpoint/2010/main" val="19356848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output is the same as the table. If your screen shows something else, compare your file with 01_sum_1_to_5.c, line by line.</a:t>
            </a:r>
          </a:p>
        </p:txBody>
      </p:sp>
      <p:sp>
        <p:nvSpPr>
          <p:cNvPr id="4" name="Slide Number Placeholder 3"/>
          <p:cNvSpPr>
            <a:spLocks noGrp="1"/>
          </p:cNvSpPr>
          <p:nvPr>
            <p:ph type="sldNum" sz="quarter" idx="5"/>
          </p:nvPr>
        </p:nvSpPr>
        <p:spPr/>
        <p:txBody>
          <a:bodyPr/>
          <a:lstStyle/>
          <a:p>
            <a:fld id="{238606F9-C3FD-4AD4-9046-7042475E2336}" type="slidenum">
              <a:rPr lang="en-US" smtClean="0"/>
              <a:t>15</a:t>
            </a:fld>
            <a:endParaRPr lang="en-US"/>
          </a:p>
        </p:txBody>
      </p:sp>
    </p:spTree>
    <p:extLst>
      <p:ext uri="{BB962C8B-B14F-4D97-AF65-F5344CB8AC3E}">
        <p14:creationId xmlns:p14="http://schemas.microsoft.com/office/powerpoint/2010/main" val="850052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it by heart.</a:t>
            </a:r>
          </a:p>
          <a:p>
            <a:endParaRPr lang="en-US"/>
          </a:p>
          <a:p>
            <a:r>
              <a:rPr lang="en-US"/>
              <a:t>1. Before the loop: make the box and set it to zero. int sum = 0;</a:t>
            </a:r>
          </a:p>
          <a:p>
            <a:r>
              <a:rPr lang="en-US"/>
              <a:t>2. Inside the loop: add to it. sum += i;</a:t>
            </a:r>
          </a:p>
          <a:p>
            <a:r>
              <a:rPr lang="en-US"/>
              <a:t>3. After the loop: use it. printf("Sum = %d\n", sum);</a:t>
            </a:r>
          </a:p>
        </p:txBody>
      </p:sp>
      <p:sp>
        <p:nvSpPr>
          <p:cNvPr id="4" name="Slide Number Placeholder 3"/>
          <p:cNvSpPr>
            <a:spLocks noGrp="1"/>
          </p:cNvSpPr>
          <p:nvPr>
            <p:ph type="sldNum" sz="quarter" idx="5"/>
          </p:nvPr>
        </p:nvSpPr>
        <p:spPr/>
        <p:txBody>
          <a:bodyPr/>
          <a:lstStyle/>
          <a:p>
            <a:fld id="{238606F9-C3FD-4AD4-9046-7042475E2336}" type="slidenum">
              <a:rPr lang="en-US" smtClean="0"/>
              <a:t>16</a:t>
            </a:fld>
            <a:endParaRPr lang="en-US"/>
          </a:p>
        </p:txBody>
      </p:sp>
    </p:spTree>
    <p:extLst>
      <p:ext uri="{BB962C8B-B14F-4D97-AF65-F5344CB8AC3E}">
        <p14:creationId xmlns:p14="http://schemas.microsoft.com/office/powerpoint/2010/main" val="3576603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Change int sum = 0; to int sum = 100;. Decide what the last line will be.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17</a:t>
            </a:fld>
            <a:endParaRPr lang="en-US"/>
          </a:p>
        </p:txBody>
      </p:sp>
    </p:spTree>
    <p:extLst>
      <p:ext uri="{BB962C8B-B14F-4D97-AF65-F5344CB8AC3E}">
        <p14:creationId xmlns:p14="http://schemas.microsoft.com/office/powerpoint/2010/main" val="1458925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Sum = 115. The loop still adds 15. The start value is where the till begins.</a:t>
            </a:r>
          </a:p>
          <a:p>
            <a:endParaRPr lang="en-US"/>
          </a:p>
          <a:p>
            <a:r>
              <a:rPr lang="en-US"/>
              <a:t>Try it yourself. Put the 0 back. Change the program to add the numbers from 1 to 100. Only one number changes. (Expect Sum = 5050. Take out the printf inside the loop first, or you get 100 lines.)</a:t>
            </a:r>
          </a:p>
        </p:txBody>
      </p:sp>
      <p:sp>
        <p:nvSpPr>
          <p:cNvPr id="4" name="Slide Number Placeholder 3"/>
          <p:cNvSpPr>
            <a:spLocks noGrp="1"/>
          </p:cNvSpPr>
          <p:nvPr>
            <p:ph type="sldNum" sz="quarter" idx="5"/>
          </p:nvPr>
        </p:nvSpPr>
        <p:spPr/>
        <p:txBody>
          <a:bodyPr/>
          <a:lstStyle/>
          <a:p>
            <a:fld id="{238606F9-C3FD-4AD4-9046-7042475E2336}" type="slidenum">
              <a:rPr lang="en-US" smtClean="0"/>
              <a:t>18</a:t>
            </a:fld>
            <a:endParaRPr lang="en-US"/>
          </a:p>
        </p:txBody>
      </p:sp>
    </p:spTree>
    <p:extLst>
      <p:ext uri="{BB962C8B-B14F-4D97-AF65-F5344CB8AC3E}">
        <p14:creationId xmlns:p14="http://schemas.microsoft.com/office/powerpoint/2010/main" val="1820968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file 05_bug_sum_reset.c. There is one new line inside the loop: sum = 0;. Decide what it prints.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19</a:t>
            </a:fld>
            <a:endParaRPr lang="en-US"/>
          </a:p>
        </p:txBody>
      </p:sp>
    </p:spTree>
    <p:extLst>
      <p:ext uri="{BB962C8B-B14F-4D97-AF65-F5344CB8AC3E}">
        <p14:creationId xmlns:p14="http://schemas.microsoft.com/office/powerpoint/2010/main" val="848343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Sum = 5. Every round, sum is set back to 0. Then i is added. The till forgets everything. After the last round, sum holds only the last i, which is 5.</a:t>
            </a:r>
          </a:p>
          <a:p>
            <a:endParaRPr lang="en-US"/>
          </a:p>
          <a:p>
            <a:r>
              <a:rPr lang="en-US"/>
              <a:t>The compiler says nothing. No error, no warning. The program runs, and the answer is wrong. You must find this bug with your eyes.</a:t>
            </a:r>
          </a:p>
        </p:txBody>
      </p:sp>
      <p:sp>
        <p:nvSpPr>
          <p:cNvPr id="4" name="Slide Number Placeholder 3"/>
          <p:cNvSpPr>
            <a:spLocks noGrp="1"/>
          </p:cNvSpPr>
          <p:nvPr>
            <p:ph type="sldNum" sz="quarter" idx="5"/>
          </p:nvPr>
        </p:nvSpPr>
        <p:spPr/>
        <p:txBody>
          <a:bodyPr/>
          <a:lstStyle/>
          <a:p>
            <a:fld id="{238606F9-C3FD-4AD4-9046-7042475E2336}" type="slidenum">
              <a:rPr lang="en-US" smtClean="0"/>
              <a:t>20</a:t>
            </a:fld>
            <a:endParaRPr lang="en-US"/>
          </a:p>
        </p:txBody>
      </p:sp>
    </p:spTree>
    <p:extLst>
      <p:ext uri="{BB962C8B-B14F-4D97-AF65-F5344CB8AC3E}">
        <p14:creationId xmlns:p14="http://schemas.microsoft.com/office/powerpoint/2010/main" val="23017039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file 06_bug_sum_inside.c. Here int sum = 0; is inside the loop. This program does not compile. The compiler says error: 'sum' undeclared, and it points at the last printf. A box that is made inside { } only lives inside those { }. After the closing brace it is gone.</a:t>
            </a:r>
          </a:p>
          <a:p>
            <a:endParaRPr lang="en-US"/>
          </a:p>
          <a:p>
            <a:r>
              <a:rPr lang="en-US"/>
              <a:t>Rule: make the running total and set it to zero before the loop.</a:t>
            </a:r>
          </a:p>
        </p:txBody>
      </p:sp>
      <p:sp>
        <p:nvSpPr>
          <p:cNvPr id="4" name="Slide Number Placeholder 3"/>
          <p:cNvSpPr>
            <a:spLocks noGrp="1"/>
          </p:cNvSpPr>
          <p:nvPr>
            <p:ph type="sldNum" sz="quarter" idx="5"/>
          </p:nvPr>
        </p:nvSpPr>
        <p:spPr/>
        <p:txBody>
          <a:bodyPr/>
          <a:lstStyle/>
          <a:p>
            <a:fld id="{238606F9-C3FD-4AD4-9046-7042475E2336}" type="slidenum">
              <a:rPr lang="en-US" smtClean="0"/>
              <a:t>21</a:t>
            </a:fld>
            <a:endParaRPr lang="en-US"/>
          </a:p>
        </p:txBody>
      </p:sp>
    </p:spTree>
    <p:extLst>
      <p:ext uri="{BB962C8B-B14F-4D97-AF65-F5344CB8AC3E}">
        <p14:creationId xmlns:p14="http://schemas.microsoft.com/office/powerpoint/2010/main" val="2294851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02_sum_to_n.c. The same pattern, but you type where the loop stops. You type 100. The screen shows Sum = 5050. You type 5: Sum = 15.</a:t>
            </a:r>
          </a:p>
        </p:txBody>
      </p:sp>
      <p:sp>
        <p:nvSpPr>
          <p:cNvPr id="4" name="Slide Number Placeholder 3"/>
          <p:cNvSpPr>
            <a:spLocks noGrp="1"/>
          </p:cNvSpPr>
          <p:nvPr>
            <p:ph type="sldNum" sz="quarter" idx="5"/>
          </p:nvPr>
        </p:nvSpPr>
        <p:spPr/>
        <p:txBody>
          <a:bodyPr/>
          <a:lstStyle/>
          <a:p>
            <a:fld id="{238606F9-C3FD-4AD4-9046-7042475E2336}" type="slidenum">
              <a:rPr lang="en-US" smtClean="0"/>
              <a:t>22</a:t>
            </a:fld>
            <a:endParaRPr lang="en-US"/>
          </a:p>
        </p:txBody>
      </p:sp>
    </p:spTree>
    <p:extLst>
      <p:ext uri="{BB962C8B-B14F-4D97-AF65-F5344CB8AC3E}">
        <p14:creationId xmlns:p14="http://schemas.microsoft.com/office/powerpoint/2010/main" val="2631649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03_sum_until_zero.c. It adds the numbers that you type, until you type 0. We do not know how many numbers are coming, so it is a while loop. You type 5 10 -3 8 0. The screen shows Sum = 20.</a:t>
            </a:r>
          </a:p>
          <a:p>
            <a:endParaRPr lang="en-US"/>
          </a:p>
          <a:p>
            <a:r>
              <a:rPr lang="en-US"/>
              <a:t>Look at the two scanf lines. One is before the loop. One is at the end of the body. You will see this shape again on slide 36.</a:t>
            </a:r>
          </a:p>
          <a:p>
            <a:endParaRPr lang="en-US"/>
          </a:p>
          <a:p>
            <a:r>
              <a:rPr lang="en-US"/>
              <a:t>There is one more file with a total: 04_average.c. It reads n numbers and prints their sum and their average. You type 4, then 10 20 30 5. The screen shows Sum = 65 and Average = 16.25.</a:t>
            </a:r>
          </a:p>
        </p:txBody>
      </p:sp>
      <p:sp>
        <p:nvSpPr>
          <p:cNvPr id="4" name="Slide Number Placeholder 3"/>
          <p:cNvSpPr>
            <a:spLocks noGrp="1"/>
          </p:cNvSpPr>
          <p:nvPr>
            <p:ph type="sldNum" sz="quarter" idx="5"/>
          </p:nvPr>
        </p:nvSpPr>
        <p:spPr/>
        <p:txBody>
          <a:bodyPr/>
          <a:lstStyle/>
          <a:p>
            <a:fld id="{238606F9-C3FD-4AD4-9046-7042475E2336}" type="slidenum">
              <a:rPr lang="en-US" smtClean="0"/>
              <a:t>23</a:t>
            </a:fld>
            <a:endParaRPr lang="en-US"/>
          </a:p>
        </p:txBody>
      </p:sp>
    </p:spTree>
    <p:extLst>
      <p:ext uri="{BB962C8B-B14F-4D97-AF65-F5344CB8AC3E}">
        <p14:creationId xmlns:p14="http://schemas.microsoft.com/office/powerpoint/2010/main" val="2099508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2: add one, but only when something happens.</a:t>
            </a:r>
          </a:p>
        </p:txBody>
      </p:sp>
      <p:sp>
        <p:nvSpPr>
          <p:cNvPr id="4" name="Slide Number Placeholder 3"/>
          <p:cNvSpPr>
            <a:spLocks noGrp="1"/>
          </p:cNvSpPr>
          <p:nvPr>
            <p:ph type="sldNum" sz="quarter" idx="5"/>
          </p:nvPr>
        </p:nvSpPr>
        <p:spPr/>
        <p:txBody>
          <a:bodyPr/>
          <a:lstStyle/>
          <a:p>
            <a:fld id="{238606F9-C3FD-4AD4-9046-7042475E2336}" type="slidenum">
              <a:rPr lang="en-US" smtClean="0"/>
              <a:t>24</a:t>
            </a:fld>
            <a:endParaRPr lang="en-US"/>
          </a:p>
        </p:txBody>
      </p:sp>
    </p:spTree>
    <p:extLst>
      <p:ext uri="{BB962C8B-B14F-4D97-AF65-F5344CB8AC3E}">
        <p14:creationId xmlns:p14="http://schemas.microsoft.com/office/powerpoint/2010/main" val="2741099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counter is the little brother of the running total. You do not add the value. You add one, and only when something happens. How many students passed? How many numbers are positive?</a:t>
            </a:r>
          </a:p>
        </p:txBody>
      </p:sp>
      <p:sp>
        <p:nvSpPr>
          <p:cNvPr id="4" name="Slide Number Placeholder 3"/>
          <p:cNvSpPr>
            <a:spLocks noGrp="1"/>
          </p:cNvSpPr>
          <p:nvPr>
            <p:ph type="sldNum" sz="quarter" idx="5"/>
          </p:nvPr>
        </p:nvSpPr>
        <p:spPr/>
        <p:txBody>
          <a:bodyPr/>
          <a:lstStyle/>
          <a:p>
            <a:fld id="{238606F9-C3FD-4AD4-9046-7042475E2336}" type="slidenum">
              <a:rPr lang="en-US" smtClean="0"/>
              <a:t>25</a:t>
            </a:fld>
            <a:endParaRPr lang="en-US"/>
          </a:p>
        </p:txBody>
      </p:sp>
    </p:spTree>
    <p:extLst>
      <p:ext uri="{BB962C8B-B14F-4D97-AF65-F5344CB8AC3E}">
        <p14:creationId xmlns:p14="http://schemas.microsoft.com/office/powerpoint/2010/main" val="36209511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file 07_count_positives.c.</a:t>
            </a:r>
          </a:p>
          <a:p>
            <a:endParaRPr lang="en-US"/>
          </a:p>
          <a:p>
            <a:r>
              <a:rPr lang="en-US"/>
              <a:t>- scanf("%d", &amp;n); you say how many numbers are coming.</a:t>
            </a:r>
          </a:p>
          <a:p>
            <a:r>
              <a:rPr lang="en-US"/>
              <a:t>- for (int i = 0; i &lt; n; i++) the loop runs n times. (It starts at 0 and uses &lt;. Slide 45 explains why that is n times.)</a:t>
            </a:r>
          </a:p>
          <a:p>
            <a:r>
              <a:rPr lang="en-US"/>
              <a:t>- scanf("%d", &amp;value); read one number. The box value is used again every round. The old number is replaced.</a:t>
            </a:r>
          </a:p>
        </p:txBody>
      </p:sp>
      <p:sp>
        <p:nvSpPr>
          <p:cNvPr id="4" name="Slide Number Placeholder 3"/>
          <p:cNvSpPr>
            <a:spLocks noGrp="1"/>
          </p:cNvSpPr>
          <p:nvPr>
            <p:ph type="sldNum" sz="quarter" idx="5"/>
          </p:nvPr>
        </p:nvSpPr>
        <p:spPr/>
        <p:txBody>
          <a:bodyPr/>
          <a:lstStyle/>
          <a:p>
            <a:fld id="{238606F9-C3FD-4AD4-9046-7042475E2336}" type="slidenum">
              <a:rPr lang="en-US" smtClean="0"/>
              <a:t>26</a:t>
            </a:fld>
            <a:endParaRPr lang="en-US"/>
          </a:p>
        </p:txBody>
      </p:sp>
    </p:spTree>
    <p:extLst>
      <p:ext uri="{BB962C8B-B14F-4D97-AF65-F5344CB8AC3E}">
        <p14:creationId xmlns:p14="http://schemas.microsoft.com/office/powerpoint/2010/main" val="28751161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count = 0; Zero, because nothing has been counted yet. It is before the loop, like the running total.</a:t>
            </a:r>
          </a:p>
        </p:txBody>
      </p:sp>
      <p:sp>
        <p:nvSpPr>
          <p:cNvPr id="4" name="Slide Number Placeholder 3"/>
          <p:cNvSpPr>
            <a:spLocks noGrp="1"/>
          </p:cNvSpPr>
          <p:nvPr>
            <p:ph type="sldNum" sz="quarter" idx="5"/>
          </p:nvPr>
        </p:nvSpPr>
        <p:spPr/>
        <p:txBody>
          <a:bodyPr/>
          <a:lstStyle/>
          <a:p>
            <a:fld id="{238606F9-C3FD-4AD4-9046-7042475E2336}" type="slidenum">
              <a:rPr lang="en-US" smtClean="0"/>
              <a:t>27</a:t>
            </a:fld>
            <a:endParaRPr lang="en-US"/>
          </a:p>
        </p:txBody>
      </p:sp>
    </p:spTree>
    <p:extLst>
      <p:ext uri="{BB962C8B-B14F-4D97-AF65-F5344CB8AC3E}">
        <p14:creationId xmlns:p14="http://schemas.microsoft.com/office/powerpoint/2010/main" val="12420868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(value &gt; 0) { count++; } An if inside a loop. The question is asked again every round, for the new number. count grows only when the answer is yes.</a:t>
            </a:r>
          </a:p>
        </p:txBody>
      </p:sp>
      <p:sp>
        <p:nvSpPr>
          <p:cNvPr id="4" name="Slide Number Placeholder 3"/>
          <p:cNvSpPr>
            <a:spLocks noGrp="1"/>
          </p:cNvSpPr>
          <p:nvPr>
            <p:ph type="sldNum" sz="quarter" idx="5"/>
          </p:nvPr>
        </p:nvSpPr>
        <p:spPr/>
        <p:txBody>
          <a:bodyPr/>
          <a:lstStyle/>
          <a:p>
            <a:fld id="{238606F9-C3FD-4AD4-9046-7042475E2336}" type="slidenum">
              <a:rPr lang="en-US" smtClean="0"/>
              <a:t>28</a:t>
            </a:fld>
            <a:endParaRPr lang="en-US"/>
          </a:p>
        </p:txBody>
      </p:sp>
    </p:spTree>
    <p:extLst>
      <p:ext uri="{BB962C8B-B14F-4D97-AF65-F5344CB8AC3E}">
        <p14:creationId xmlns:p14="http://schemas.microsoft.com/office/powerpoint/2010/main" val="23803812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type 5, Enter, then 3 -1 0 7 -4, Enter. Decide what the program prints.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29</a:t>
            </a:fld>
            <a:endParaRPr lang="en-US"/>
          </a:p>
        </p:txBody>
      </p:sp>
    </p:spTree>
    <p:extLst>
      <p:ext uri="{BB962C8B-B14F-4D97-AF65-F5344CB8AC3E}">
        <p14:creationId xmlns:p14="http://schemas.microsoft.com/office/powerpoint/2010/main" val="2308623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Positive values: 2.</a:t>
            </a:r>
          </a:p>
          <a:p>
            <a:endParaRPr lang="en-US"/>
          </a:p>
          <a:p>
            <a:r>
              <a:rPr lang="en-US"/>
              <a:t>Round: value · value &gt; 0? · count after</a:t>
            </a:r>
          </a:p>
          <a:p>
            <a:r>
              <a:rPr lang="en-US"/>
              <a:t>1: 3 · yes · 1</a:t>
            </a:r>
          </a:p>
          <a:p>
            <a:r>
              <a:rPr lang="en-US"/>
              <a:t>2: -1 · no · 1</a:t>
            </a:r>
          </a:p>
          <a:p>
            <a:r>
              <a:rPr lang="en-US"/>
              <a:t>3: 0 · no · 1</a:t>
            </a:r>
          </a:p>
          <a:p>
            <a:r>
              <a:rPr lang="en-US"/>
              <a:t>4: 7 · yes · 2</a:t>
            </a:r>
          </a:p>
          <a:p>
            <a:r>
              <a:rPr lang="en-US"/>
              <a:t>5: -4 · no · 2</a:t>
            </a:r>
          </a:p>
          <a:p>
            <a:endParaRPr lang="en-US"/>
          </a:p>
          <a:p>
            <a:r>
              <a:rPr lang="en-US"/>
              <a:t>Look at round 3. Zero is not positive. 0 &gt; 0 is false.</a:t>
            </a:r>
          </a:p>
          <a:p>
            <a:endParaRPr lang="en-US"/>
          </a:p>
          <a:p>
            <a:r>
              <a:rPr lang="en-US"/>
              <a:t>Run it again. You type 3, then -2 -5 0. The screen shows Positive values: 0. That is why count starts at 0. If nothing is counted, zero is the right answer.</a:t>
            </a:r>
          </a:p>
        </p:txBody>
      </p:sp>
      <p:sp>
        <p:nvSpPr>
          <p:cNvPr id="4" name="Slide Number Placeholder 3"/>
          <p:cNvSpPr>
            <a:spLocks noGrp="1"/>
          </p:cNvSpPr>
          <p:nvPr>
            <p:ph type="sldNum" sz="quarter" idx="5"/>
          </p:nvPr>
        </p:nvSpPr>
        <p:spPr/>
        <p:txBody>
          <a:bodyPr/>
          <a:lstStyle/>
          <a:p>
            <a:fld id="{238606F9-C3FD-4AD4-9046-7042475E2336}" type="slidenum">
              <a:rPr lang="en-US" smtClean="0"/>
              <a:t>30</a:t>
            </a:fld>
            <a:endParaRPr lang="en-US"/>
          </a:p>
        </p:txBody>
      </p:sp>
    </p:spTree>
    <p:extLst>
      <p:ext uri="{BB962C8B-B14F-4D97-AF65-F5344CB8AC3E}">
        <p14:creationId xmlns:p14="http://schemas.microsoft.com/office/powerpoint/2010/main" val="357511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08_count_multiples_of_3.c. i goes from 1 to 20. i % 3 == 0 means "the remainder after dividing i by 3 is 0", so i can be divided by 3. Decide what it prints.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31</a:t>
            </a:fld>
            <a:endParaRPr lang="en-US"/>
          </a:p>
        </p:txBody>
      </p:sp>
    </p:spTree>
    <p:extLst>
      <p:ext uri="{BB962C8B-B14F-4D97-AF65-F5344CB8AC3E}">
        <p14:creationId xmlns:p14="http://schemas.microsoft.com/office/powerpoint/2010/main" val="32330386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Count: 6. The six numbers are 3, 6, 9, 12, 15, 18.</a:t>
            </a:r>
          </a:p>
        </p:txBody>
      </p:sp>
      <p:sp>
        <p:nvSpPr>
          <p:cNvPr id="4" name="Slide Number Placeholder 3"/>
          <p:cNvSpPr>
            <a:spLocks noGrp="1"/>
          </p:cNvSpPr>
          <p:nvPr>
            <p:ph type="sldNum" sz="quarter" idx="5"/>
          </p:nvPr>
        </p:nvSpPr>
        <p:spPr/>
        <p:txBody>
          <a:bodyPr/>
          <a:lstStyle/>
          <a:p>
            <a:fld id="{238606F9-C3FD-4AD4-9046-7042475E2336}" type="slidenum">
              <a:rPr lang="en-US" smtClean="0"/>
              <a:t>32</a:t>
            </a:fld>
            <a:endParaRPr lang="en-US"/>
          </a:p>
        </p:txBody>
      </p:sp>
    </p:spTree>
    <p:extLst>
      <p:ext uri="{BB962C8B-B14F-4D97-AF65-F5344CB8AC3E}">
        <p14:creationId xmlns:p14="http://schemas.microsoft.com/office/powerpoint/2010/main" val="4048927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09_largest.c. One box, largest, remembers the largest number seen so far. It starts as the first number that you type. Every round: is the new number larger? Then remember the new number.</a:t>
            </a:r>
          </a:p>
          <a:p>
            <a:endParaRPr lang="en-US"/>
          </a:p>
          <a:p>
            <a:r>
              <a:rPr lang="en-US"/>
              <a:t>You type 5, then 3 9 -2 14 6. The screen shows Largest: 14. You type 3, then -5 -2 -9. The screen shows Largest: -2. That is why largest does not start at 0: with only negative numbers, 0 would be a wrong answer.</a:t>
            </a:r>
          </a:p>
        </p:txBody>
      </p:sp>
      <p:sp>
        <p:nvSpPr>
          <p:cNvPr id="4" name="Slide Number Placeholder 3"/>
          <p:cNvSpPr>
            <a:spLocks noGrp="1"/>
          </p:cNvSpPr>
          <p:nvPr>
            <p:ph type="sldNum" sz="quarter" idx="5"/>
          </p:nvPr>
        </p:nvSpPr>
        <p:spPr/>
        <p:txBody>
          <a:bodyPr/>
          <a:lstStyle/>
          <a:p>
            <a:fld id="{238606F9-C3FD-4AD4-9046-7042475E2336}" type="slidenum">
              <a:rPr lang="en-US" smtClean="0"/>
              <a:t>33</a:t>
            </a:fld>
            <a:endParaRPr lang="en-US"/>
          </a:p>
        </p:txBody>
      </p:sp>
    </p:spTree>
    <p:extLst>
      <p:ext uri="{BB962C8B-B14F-4D97-AF65-F5344CB8AC3E}">
        <p14:creationId xmlns:p14="http://schemas.microsoft.com/office/powerpoint/2010/main" val="38110072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3: ask again until the input is good.</a:t>
            </a:r>
          </a:p>
        </p:txBody>
      </p:sp>
      <p:sp>
        <p:nvSpPr>
          <p:cNvPr id="4" name="Slide Number Placeholder 3"/>
          <p:cNvSpPr>
            <a:spLocks noGrp="1"/>
          </p:cNvSpPr>
          <p:nvPr>
            <p:ph type="sldNum" sz="quarter" idx="5"/>
          </p:nvPr>
        </p:nvSpPr>
        <p:spPr/>
        <p:txBody>
          <a:bodyPr/>
          <a:lstStyle/>
          <a:p>
            <a:fld id="{238606F9-C3FD-4AD4-9046-7042475E2336}" type="slidenum">
              <a:rPr lang="en-US" smtClean="0"/>
              <a:t>34</a:t>
            </a:fld>
            <a:endParaRPr lang="en-US"/>
          </a:p>
        </p:txBody>
      </p:sp>
    </p:spTree>
    <p:extLst>
      <p:ext uri="{BB962C8B-B14F-4D97-AF65-F5344CB8AC3E}">
        <p14:creationId xmlns:p14="http://schemas.microsoft.com/office/powerpoint/2010/main" val="5787081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People type nonsense. An age of -5. An age of 200. A good program does not calculate with nonsense. It asks again. How many times? You do not know. Maybe never, maybe six times. When you do not know how many rounds you need, use while.</a:t>
            </a:r>
          </a:p>
        </p:txBody>
      </p:sp>
      <p:sp>
        <p:nvSpPr>
          <p:cNvPr id="4" name="Slide Number Placeholder 3"/>
          <p:cNvSpPr>
            <a:spLocks noGrp="1"/>
          </p:cNvSpPr>
          <p:nvPr>
            <p:ph type="sldNum" sz="quarter" idx="5"/>
          </p:nvPr>
        </p:nvSpPr>
        <p:spPr/>
        <p:txBody>
          <a:bodyPr/>
          <a:lstStyle/>
          <a:p>
            <a:fld id="{238606F9-C3FD-4AD4-9046-7042475E2336}" type="slidenum">
              <a:rPr lang="en-US" smtClean="0"/>
              <a:t>35</a:t>
            </a:fld>
            <a:endParaRPr lang="en-US"/>
          </a:p>
        </p:txBody>
      </p:sp>
    </p:spTree>
    <p:extLst>
      <p:ext uri="{BB962C8B-B14F-4D97-AF65-F5344CB8AC3E}">
        <p14:creationId xmlns:p14="http://schemas.microsoft.com/office/powerpoint/2010/main" val="12702249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file 10_age_check.c. The next four slides go through it step by step.</a:t>
            </a:r>
          </a:p>
        </p:txBody>
      </p:sp>
      <p:sp>
        <p:nvSpPr>
          <p:cNvPr id="4" name="Slide Number Placeholder 3"/>
          <p:cNvSpPr>
            <a:spLocks noGrp="1"/>
          </p:cNvSpPr>
          <p:nvPr>
            <p:ph type="sldNum" sz="quarter" idx="5"/>
          </p:nvPr>
        </p:nvSpPr>
        <p:spPr/>
        <p:txBody>
          <a:bodyPr/>
          <a:lstStyle/>
          <a:p>
            <a:fld id="{238606F9-C3FD-4AD4-9046-7042475E2336}" type="slidenum">
              <a:rPr lang="en-US" smtClean="0"/>
              <a:t>36</a:t>
            </a:fld>
            <a:endParaRPr lang="en-US"/>
          </a:p>
        </p:txBody>
      </p:sp>
    </p:spTree>
    <p:extLst>
      <p:ext uri="{BB962C8B-B14F-4D97-AF65-F5344CB8AC3E}">
        <p14:creationId xmlns:p14="http://schemas.microsoft.com/office/powerpoint/2010/main" val="13050919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ask once and read once. This is before the loop.</a:t>
            </a:r>
          </a:p>
        </p:txBody>
      </p:sp>
      <p:sp>
        <p:nvSpPr>
          <p:cNvPr id="4" name="Slide Number Placeholder 3"/>
          <p:cNvSpPr>
            <a:spLocks noGrp="1"/>
          </p:cNvSpPr>
          <p:nvPr>
            <p:ph type="sldNum" sz="quarter" idx="5"/>
          </p:nvPr>
        </p:nvSpPr>
        <p:spPr/>
        <p:txBody>
          <a:bodyPr/>
          <a:lstStyle/>
          <a:p>
            <a:fld id="{238606F9-C3FD-4AD4-9046-7042475E2336}" type="slidenum">
              <a:rPr lang="en-US" smtClean="0"/>
              <a:t>37</a:t>
            </a:fld>
            <a:endParaRPr lang="en-US"/>
          </a:p>
        </p:txBody>
      </p:sp>
    </p:spTree>
    <p:extLst>
      <p:ext uri="{BB962C8B-B14F-4D97-AF65-F5344CB8AC3E}">
        <p14:creationId xmlns:p14="http://schemas.microsoft.com/office/powerpoint/2010/main" val="39626374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(age &lt; 0 || age &gt; 120) Read it aloud: "while the age is below 0 or above 120". The || is "or", from last week. The condition describes the bad input.</a:t>
            </a:r>
          </a:p>
        </p:txBody>
      </p:sp>
      <p:sp>
        <p:nvSpPr>
          <p:cNvPr id="4" name="Slide Number Placeholder 3"/>
          <p:cNvSpPr>
            <a:spLocks noGrp="1"/>
          </p:cNvSpPr>
          <p:nvPr>
            <p:ph type="sldNum" sz="quarter" idx="5"/>
          </p:nvPr>
        </p:nvSpPr>
        <p:spPr/>
        <p:txBody>
          <a:bodyPr/>
          <a:lstStyle/>
          <a:p>
            <a:fld id="{238606F9-C3FD-4AD4-9046-7042475E2336}" type="slidenum">
              <a:rPr lang="en-US" smtClean="0"/>
              <a:t>38</a:t>
            </a:fld>
            <a:endParaRPr lang="en-US"/>
          </a:p>
        </p:txBody>
      </p:sp>
    </p:spTree>
    <p:extLst>
      <p:ext uri="{BB962C8B-B14F-4D97-AF65-F5344CB8AC3E}">
        <p14:creationId xmlns:p14="http://schemas.microsoft.com/office/powerpoint/2010/main" val="42185441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Inside the loop: say it is invalid, and read again. The scanf inside the loop is the update. It is the only line that can make the condition false. If you forget it, the age never changes, and the program prints Invalid. Try again: for ever. Press Ctrl+C.</a:t>
            </a:r>
          </a:p>
          <a:p>
            <a:endParaRPr lang="en-US"/>
          </a:p>
          <a:p>
            <a:r>
              <a:rPr lang="en-US"/>
              <a:t>Part: Where it is</a:t>
            </a:r>
          </a:p>
          <a:p>
            <a:r>
              <a:rPr lang="en-US"/>
              <a:t>Start: the first scanf, before the loop</a:t>
            </a:r>
          </a:p>
          <a:p>
            <a:r>
              <a:rPr lang="en-US"/>
              <a:t>Check: the while condition: is the age below 0 or above 120?</a:t>
            </a:r>
          </a:p>
          <a:p>
            <a:r>
              <a:rPr lang="en-US"/>
              <a:t>Body: the Invalid message</a:t>
            </a:r>
          </a:p>
          <a:p>
            <a:r>
              <a:rPr lang="en-US"/>
              <a:t>Update: the second scanf, inside the loop</a:t>
            </a:r>
          </a:p>
        </p:txBody>
      </p:sp>
      <p:sp>
        <p:nvSpPr>
          <p:cNvPr id="4" name="Slide Number Placeholder 3"/>
          <p:cNvSpPr>
            <a:spLocks noGrp="1"/>
          </p:cNvSpPr>
          <p:nvPr>
            <p:ph type="sldNum" sz="quarter" idx="5"/>
          </p:nvPr>
        </p:nvSpPr>
        <p:spPr/>
        <p:txBody>
          <a:bodyPr/>
          <a:lstStyle/>
          <a:p>
            <a:fld id="{238606F9-C3FD-4AD4-9046-7042475E2336}" type="slidenum">
              <a:rPr lang="en-US" smtClean="0"/>
              <a:t>39</a:t>
            </a:fld>
            <a:endParaRPr lang="en-US"/>
          </a:p>
        </p:txBody>
      </p:sp>
    </p:spTree>
    <p:extLst>
      <p:ext uri="{BB962C8B-B14F-4D97-AF65-F5344CB8AC3E}">
        <p14:creationId xmlns:p14="http://schemas.microsoft.com/office/powerpoint/2010/main" val="36697190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the loop, you know the age is good. Every line after the loop can trust it.</a:t>
            </a:r>
          </a:p>
        </p:txBody>
      </p:sp>
      <p:sp>
        <p:nvSpPr>
          <p:cNvPr id="4" name="Slide Number Placeholder 3"/>
          <p:cNvSpPr>
            <a:spLocks noGrp="1"/>
          </p:cNvSpPr>
          <p:nvPr>
            <p:ph type="sldNum" sz="quarter" idx="5"/>
          </p:nvPr>
        </p:nvSpPr>
        <p:spPr/>
        <p:txBody>
          <a:bodyPr/>
          <a:lstStyle/>
          <a:p>
            <a:fld id="{238606F9-C3FD-4AD4-9046-7042475E2336}" type="slidenum">
              <a:rPr lang="en-US" smtClean="0"/>
              <a:t>40</a:t>
            </a:fld>
            <a:endParaRPr lang="en-US"/>
          </a:p>
        </p:txBody>
      </p:sp>
    </p:spTree>
    <p:extLst>
      <p:ext uri="{BB962C8B-B14F-4D97-AF65-F5344CB8AC3E}">
        <p14:creationId xmlns:p14="http://schemas.microsoft.com/office/powerpoint/2010/main" val="3355946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type -5, Enter. Then 200, Enter. Then 19, Enter. The screen shows:</a:t>
            </a:r>
          </a:p>
          <a:p>
            <a:endParaRPr lang="en-US"/>
          </a:p>
          <a:p>
            <a:r>
              <a:rPr lang="en-US"/>
              <a:t>Enter age: -5</a:t>
            </a:r>
          </a:p>
          <a:p>
            <a:r>
              <a:rPr lang="en-US"/>
              <a:t>Invalid. Try again: 200</a:t>
            </a:r>
          </a:p>
          <a:p>
            <a:r>
              <a:rPr lang="en-US"/>
              <a:t>Invalid. Try again: 19</a:t>
            </a:r>
          </a:p>
          <a:p>
            <a:r>
              <a:rPr lang="en-US"/>
              <a:t>Accepted: 19</a:t>
            </a:r>
          </a:p>
          <a:p>
            <a:endParaRPr lang="en-US"/>
          </a:p>
          <a:p>
            <a:r>
              <a:rPr lang="en-US"/>
              <a:t>For now, type only numbers. If you type a letter, this program goes round for ever. Press Ctrl+C. Why that happens comes later in the course.</a:t>
            </a:r>
          </a:p>
        </p:txBody>
      </p:sp>
      <p:sp>
        <p:nvSpPr>
          <p:cNvPr id="4" name="Slide Number Placeholder 3"/>
          <p:cNvSpPr>
            <a:spLocks noGrp="1"/>
          </p:cNvSpPr>
          <p:nvPr>
            <p:ph type="sldNum" sz="quarter" idx="5"/>
          </p:nvPr>
        </p:nvSpPr>
        <p:spPr/>
        <p:txBody>
          <a:bodyPr/>
          <a:lstStyle/>
          <a:p>
            <a:fld id="{238606F9-C3FD-4AD4-9046-7042475E2336}" type="slidenum">
              <a:rPr lang="en-US" smtClean="0"/>
              <a:t>41</a:t>
            </a:fld>
            <a:endParaRPr lang="en-US"/>
          </a:p>
        </p:txBody>
      </p:sp>
    </p:spTree>
    <p:extLst>
      <p:ext uri="{BB962C8B-B14F-4D97-AF65-F5344CB8AC3E}">
        <p14:creationId xmlns:p14="http://schemas.microsoft.com/office/powerpoint/2010/main" val="25434839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type: What happens · Why</a:t>
            </a:r>
          </a:p>
          <a:p>
            <a:r>
              <a:rPr lang="en-US"/>
              <a:t>0: Accepted: 0 at once · 0 &lt; 0 is false and 0 &gt; 120 is false</a:t>
            </a:r>
          </a:p>
          <a:p>
            <a:r>
              <a:rPr lang="en-US"/>
              <a:t>120: Accepted: 120 at once · 120 &gt; 120 is false</a:t>
            </a:r>
          </a:p>
          <a:p>
            <a:r>
              <a:rPr lang="en-US"/>
              <a:t>121: Invalid. Try again: · 121 &gt; 120 is true</a:t>
            </a:r>
          </a:p>
          <a:p>
            <a:r>
              <a:rPr lang="en-US"/>
              <a:t>-1: Invalid. Try again: · -1 &lt; 0 is true</a:t>
            </a:r>
          </a:p>
          <a:p>
            <a:endParaRPr lang="en-US"/>
          </a:p>
          <a:p>
            <a:r>
              <a:rPr lang="en-US"/>
              <a:t>For 0 and 120 the body runs zero times. That is fine. A while loop checks first, so it can run zero times.</a:t>
            </a:r>
          </a:p>
        </p:txBody>
      </p:sp>
      <p:sp>
        <p:nvSpPr>
          <p:cNvPr id="4" name="Slide Number Placeholder 3"/>
          <p:cNvSpPr>
            <a:spLocks noGrp="1"/>
          </p:cNvSpPr>
          <p:nvPr>
            <p:ph type="sldNum" sz="quarter" idx="5"/>
          </p:nvPr>
        </p:nvSpPr>
        <p:spPr/>
        <p:txBody>
          <a:bodyPr/>
          <a:lstStyle/>
          <a:p>
            <a:fld id="{238606F9-C3FD-4AD4-9046-7042475E2336}" type="slidenum">
              <a:rPr lang="en-US" smtClean="0"/>
              <a:t>42</a:t>
            </a:fld>
            <a:endParaRPr lang="en-US"/>
          </a:p>
        </p:txBody>
      </p:sp>
    </p:spTree>
    <p:extLst>
      <p:ext uri="{BB962C8B-B14F-4D97-AF65-F5344CB8AC3E}">
        <p14:creationId xmlns:p14="http://schemas.microsoft.com/office/powerpoint/2010/main" val="9986700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11_month_check.c asks for a month and accepts only 1 to 12. It is the same program with a new condition: month &lt; 1 || month &gt; 12. You type 0, then 13, then 7. The screen shows Invalid. Try again: twice, and then Month 7 accepted.</a:t>
            </a:r>
          </a:p>
          <a:p>
            <a:endParaRPr lang="en-US"/>
          </a:p>
          <a:p>
            <a:r>
              <a:rPr lang="en-US"/>
              <a:t>Try it yourself. Change it to ask for a mark from 0 to 100.</a:t>
            </a:r>
          </a:p>
        </p:txBody>
      </p:sp>
      <p:sp>
        <p:nvSpPr>
          <p:cNvPr id="4" name="Slide Number Placeholder 3"/>
          <p:cNvSpPr>
            <a:spLocks noGrp="1"/>
          </p:cNvSpPr>
          <p:nvPr>
            <p:ph type="sldNum" sz="quarter" idx="5"/>
          </p:nvPr>
        </p:nvSpPr>
        <p:spPr/>
        <p:txBody>
          <a:bodyPr/>
          <a:lstStyle/>
          <a:p>
            <a:fld id="{238606F9-C3FD-4AD4-9046-7042475E2336}" type="slidenum">
              <a:rPr lang="en-US" smtClean="0"/>
              <a:t>43</a:t>
            </a:fld>
            <a:endParaRPr lang="en-US"/>
          </a:p>
        </p:txBody>
      </p:sp>
    </p:spTree>
    <p:extLst>
      <p:ext uri="{BB962C8B-B14F-4D97-AF65-F5344CB8AC3E}">
        <p14:creationId xmlns:p14="http://schemas.microsoft.com/office/powerpoint/2010/main" val="11975675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4: &lt; or &lt;=? Start at 0 or at 1?</a:t>
            </a:r>
          </a:p>
        </p:txBody>
      </p:sp>
      <p:sp>
        <p:nvSpPr>
          <p:cNvPr id="4" name="Slide Number Placeholder 3"/>
          <p:cNvSpPr>
            <a:spLocks noGrp="1"/>
          </p:cNvSpPr>
          <p:nvPr>
            <p:ph type="sldNum" sz="quarter" idx="5"/>
          </p:nvPr>
        </p:nvSpPr>
        <p:spPr/>
        <p:txBody>
          <a:bodyPr/>
          <a:lstStyle/>
          <a:p>
            <a:fld id="{238606F9-C3FD-4AD4-9046-7042475E2336}" type="slidenum">
              <a:rPr lang="en-US" smtClean="0"/>
              <a:t>44</a:t>
            </a:fld>
            <a:endParaRPr lang="en-US"/>
          </a:p>
        </p:txBody>
      </p:sp>
    </p:spTree>
    <p:extLst>
      <p:ext uri="{BB962C8B-B14F-4D97-AF65-F5344CB8AC3E}">
        <p14:creationId xmlns:p14="http://schemas.microsoft.com/office/powerpoint/2010/main" val="26791530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loops run five times. The left one shows 0 1 2 3 4. The right one shows 1 2 3 4 5.</a:t>
            </a:r>
          </a:p>
          <a:p>
            <a:endParaRPr lang="en-US"/>
          </a:p>
          <a:p>
            <a:r>
              <a:rPr lang="en-US"/>
              <a:t>Two styles, both correct.</a:t>
            </a:r>
          </a:p>
          <a:p>
            <a:endParaRPr lang="en-US"/>
          </a:p>
          <a:p>
            <a:r>
              <a:rPr lang="en-US"/>
              <a:t>- 1 to n, with &lt;=. This is how people count. Good for "print the numbers 1 to 10".</a:t>
            </a:r>
          </a:p>
          <a:p>
            <a:r>
              <a:rPr lang="en-US"/>
              <a:t>- 0 to n − 1, with &lt;. This is how C counts. for (int i = 0; i &lt; n; i++) runs exactly n times. You will need this style for arrays in a few weeks.</a:t>
            </a:r>
          </a:p>
        </p:txBody>
      </p:sp>
      <p:sp>
        <p:nvSpPr>
          <p:cNvPr id="4" name="Slide Number Placeholder 3"/>
          <p:cNvSpPr>
            <a:spLocks noGrp="1"/>
          </p:cNvSpPr>
          <p:nvPr>
            <p:ph type="sldNum" sz="quarter" idx="5"/>
          </p:nvPr>
        </p:nvSpPr>
        <p:spPr/>
        <p:txBody>
          <a:bodyPr/>
          <a:lstStyle/>
          <a:p>
            <a:fld id="{238606F9-C3FD-4AD4-9046-7042475E2336}" type="slidenum">
              <a:rPr lang="en-US" smtClean="0"/>
              <a:t>45</a:t>
            </a:fld>
            <a:endParaRPr lang="en-US"/>
          </a:p>
        </p:txBody>
      </p:sp>
    </p:spTree>
    <p:extLst>
      <p:ext uri="{BB962C8B-B14F-4D97-AF65-F5344CB8AC3E}">
        <p14:creationId xmlns:p14="http://schemas.microsoft.com/office/powerpoint/2010/main" val="27193289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mistakes come from mixing the two styles. Decide for each of the four loop heads: how many numbers does it print? Then look at the next slide. (The file 14_boundaries.c runs all four.)</a:t>
            </a:r>
          </a:p>
        </p:txBody>
      </p:sp>
      <p:sp>
        <p:nvSpPr>
          <p:cNvPr id="4" name="Slide Number Placeholder 3"/>
          <p:cNvSpPr>
            <a:spLocks noGrp="1"/>
          </p:cNvSpPr>
          <p:nvPr>
            <p:ph type="sldNum" sz="quarter" idx="5"/>
          </p:nvPr>
        </p:nvSpPr>
        <p:spPr/>
        <p:txBody>
          <a:bodyPr/>
          <a:lstStyle/>
          <a:p>
            <a:fld id="{238606F9-C3FD-4AD4-9046-7042475E2336}" type="slidenum">
              <a:rPr lang="en-US" smtClean="0"/>
              <a:t>46</a:t>
            </a:fld>
            <a:endParaRPr lang="en-US"/>
          </a:p>
        </p:txBody>
      </p:sp>
    </p:spTree>
    <p:extLst>
      <p:ext uri="{BB962C8B-B14F-4D97-AF65-F5344CB8AC3E}">
        <p14:creationId xmlns:p14="http://schemas.microsoft.com/office/powerpoint/2010/main" val="15130768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Loop head: Screen shows · How many numbers</a:t>
            </a:r>
          </a:p>
          <a:p>
            <a:r>
              <a:rPr lang="en-US"/>
              <a:t>i = 0; i &lt; 10: 0 1 2 3 4 5 6 7 8 9 · 10</a:t>
            </a:r>
          </a:p>
          <a:p>
            <a:r>
              <a:rPr lang="en-US"/>
              <a:t>i = 1; i &lt;= 10: 1 2 3 4 5 6 7 8 9 10 · 10</a:t>
            </a:r>
          </a:p>
          <a:p>
            <a:r>
              <a:rPr lang="en-US"/>
              <a:t>i = 0; i &lt;= 10: 0 1 2 3 4 5 6 7 8 9 10 · 11</a:t>
            </a:r>
          </a:p>
          <a:p>
            <a:r>
              <a:rPr lang="en-US"/>
              <a:t>i = 1; i &lt; 10: 1 2 3 4 5 6 7 8 9 · 9</a:t>
            </a:r>
          </a:p>
          <a:p>
            <a:endParaRPr lang="en-US"/>
          </a:p>
          <a:p>
            <a:r>
              <a:rPr lang="en-US"/>
              <a:t>The first and the second print exactly 10 numbers. The third prints one too many. The fourth prints one too few. This mistake has a name: the off-by-one error. It is the most common loop bug in the world.</a:t>
            </a:r>
          </a:p>
        </p:txBody>
      </p:sp>
      <p:sp>
        <p:nvSpPr>
          <p:cNvPr id="4" name="Slide Number Placeholder 3"/>
          <p:cNvSpPr>
            <a:spLocks noGrp="1"/>
          </p:cNvSpPr>
          <p:nvPr>
            <p:ph type="sldNum" sz="quarter" idx="5"/>
          </p:nvPr>
        </p:nvSpPr>
        <p:spPr/>
        <p:txBody>
          <a:bodyPr/>
          <a:lstStyle/>
          <a:p>
            <a:fld id="{238606F9-C3FD-4AD4-9046-7042475E2336}" type="slidenum">
              <a:rPr lang="en-US" smtClean="0"/>
              <a:t>47</a:t>
            </a:fld>
            <a:endParaRPr lang="en-US"/>
          </a:p>
        </p:txBody>
      </p:sp>
    </p:spTree>
    <p:extLst>
      <p:ext uri="{BB962C8B-B14F-4D97-AF65-F5344CB8AC3E}">
        <p14:creationId xmlns:p14="http://schemas.microsoft.com/office/powerpoint/2010/main" val="38794940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two questions:</a:t>
            </a:r>
          </a:p>
          <a:p>
            <a:endParaRPr lang="en-US"/>
          </a:p>
          <a:p>
            <a:r>
              <a:rPr lang="en-US"/>
              <a:t>1. What is the first value I want?</a:t>
            </a:r>
          </a:p>
          <a:p>
            <a:r>
              <a:rPr lang="en-US"/>
              <a:t>2. What is the last value I want?</a:t>
            </a:r>
          </a:p>
          <a:p>
            <a:endParaRPr lang="en-US"/>
          </a:p>
          <a:p>
            <a:r>
              <a:rPr lang="en-US"/>
              <a:t>Then test the last value by hand. Example: I want 10 to be included. Is 10 &lt;= 10 true? Yes. So i &lt;= 10 is right. Is 10 &lt; 10 true? No. So i &lt; 10 would stop at 9.</a:t>
            </a:r>
          </a:p>
          <a:p>
            <a:endParaRPr lang="en-US"/>
          </a:p>
          <a:p>
            <a:r>
              <a:rPr lang="en-US"/>
              <a:t>Try it yourself. Write a loop that prints 10 9 8 7 6 5 4 3 2 1. (Start at 10. The check is i &gt;= 1. The update is i--.)</a:t>
            </a:r>
          </a:p>
        </p:txBody>
      </p:sp>
      <p:sp>
        <p:nvSpPr>
          <p:cNvPr id="4" name="Slide Number Placeholder 3"/>
          <p:cNvSpPr>
            <a:spLocks noGrp="1"/>
          </p:cNvSpPr>
          <p:nvPr>
            <p:ph type="sldNum" sz="quarter" idx="5"/>
          </p:nvPr>
        </p:nvSpPr>
        <p:spPr/>
        <p:txBody>
          <a:bodyPr/>
          <a:lstStyle/>
          <a:p>
            <a:fld id="{238606F9-C3FD-4AD4-9046-7042475E2336}" type="slidenum">
              <a:rPr lang="en-US" smtClean="0"/>
              <a:t>48</a:t>
            </a:fld>
            <a:endParaRPr lang="en-US"/>
          </a:p>
        </p:txBody>
      </p:sp>
    </p:spTree>
    <p:extLst>
      <p:ext uri="{BB962C8B-B14F-4D97-AF65-F5344CB8AC3E}">
        <p14:creationId xmlns:p14="http://schemas.microsoft.com/office/powerpoint/2010/main" val="10740665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5: two words that change the normal flow of a loop.</a:t>
            </a:r>
          </a:p>
        </p:txBody>
      </p:sp>
      <p:sp>
        <p:nvSpPr>
          <p:cNvPr id="4" name="Slide Number Placeholder 3"/>
          <p:cNvSpPr>
            <a:spLocks noGrp="1"/>
          </p:cNvSpPr>
          <p:nvPr>
            <p:ph type="sldNum" sz="quarter" idx="5"/>
          </p:nvPr>
        </p:nvSpPr>
        <p:spPr/>
        <p:txBody>
          <a:bodyPr/>
          <a:lstStyle/>
          <a:p>
            <a:fld id="{238606F9-C3FD-4AD4-9046-7042475E2336}" type="slidenum">
              <a:rPr lang="en-US" smtClean="0"/>
              <a:t>49</a:t>
            </a:fld>
            <a:endParaRPr lang="en-US"/>
          </a:p>
        </p:txBody>
      </p:sp>
    </p:spTree>
    <p:extLst>
      <p:ext uri="{BB962C8B-B14F-4D97-AF65-F5344CB8AC3E}">
        <p14:creationId xmlns:p14="http://schemas.microsoft.com/office/powerpoint/2010/main" val="18794200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15_break.c. break means: leave the loop now. You know it from switch. Decide what the screen shows.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50</a:t>
            </a:fld>
            <a:endParaRPr lang="en-US"/>
          </a:p>
        </p:txBody>
      </p:sp>
    </p:spTree>
    <p:extLst>
      <p:ext uri="{BB962C8B-B14F-4D97-AF65-F5344CB8AC3E}">
        <p14:creationId xmlns:p14="http://schemas.microsoft.com/office/powerpoint/2010/main" val="2267418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1 2 3 4 5. When i is 6, the break runs before the printf. So 6 is not printed, and 7, 8, 9, 10 never happen.</a:t>
            </a:r>
          </a:p>
        </p:txBody>
      </p:sp>
      <p:sp>
        <p:nvSpPr>
          <p:cNvPr id="4" name="Slide Number Placeholder 3"/>
          <p:cNvSpPr>
            <a:spLocks noGrp="1"/>
          </p:cNvSpPr>
          <p:nvPr>
            <p:ph type="sldNum" sz="quarter" idx="5"/>
          </p:nvPr>
        </p:nvSpPr>
        <p:spPr/>
        <p:txBody>
          <a:bodyPr/>
          <a:lstStyle/>
          <a:p>
            <a:fld id="{238606F9-C3FD-4AD4-9046-7042475E2336}" type="slidenum">
              <a:rPr lang="en-US" smtClean="0"/>
              <a:t>51</a:t>
            </a:fld>
            <a:endParaRPr lang="en-US"/>
          </a:p>
        </p:txBody>
      </p:sp>
    </p:spTree>
    <p:extLst>
      <p:ext uri="{BB962C8B-B14F-4D97-AF65-F5344CB8AC3E}">
        <p14:creationId xmlns:p14="http://schemas.microsoft.com/office/powerpoint/2010/main" val="2876089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16_continue.c. continue means: skip the rest of this round, and go on with the next round. Decide what the screen shows.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52</a:t>
            </a:fld>
            <a:endParaRPr lang="en-US"/>
          </a:p>
        </p:txBody>
      </p:sp>
    </p:spTree>
    <p:extLst>
      <p:ext uri="{BB962C8B-B14F-4D97-AF65-F5344CB8AC3E}">
        <p14:creationId xmlns:p14="http://schemas.microsoft.com/office/powerpoint/2010/main" val="23728875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1 2 4 5. When i is 3, the printf is skipped. Then the loop carries on with 4. (After continue, the update i++ still runs. That is why the loop does not get stuck on 3.)</a:t>
            </a:r>
          </a:p>
        </p:txBody>
      </p:sp>
      <p:sp>
        <p:nvSpPr>
          <p:cNvPr id="4" name="Slide Number Placeholder 3"/>
          <p:cNvSpPr>
            <a:spLocks noGrp="1"/>
          </p:cNvSpPr>
          <p:nvPr>
            <p:ph type="sldNum" sz="quarter" idx="5"/>
          </p:nvPr>
        </p:nvSpPr>
        <p:spPr/>
        <p:txBody>
          <a:bodyPr/>
          <a:lstStyle/>
          <a:p>
            <a:fld id="{238606F9-C3FD-4AD4-9046-7042475E2336}" type="slidenum">
              <a:rPr lang="en-US" smtClean="0"/>
              <a:t>53</a:t>
            </a:fld>
            <a:endParaRPr lang="en-US"/>
          </a:p>
        </p:txBody>
      </p:sp>
    </p:spTree>
    <p:extLst>
      <p:ext uri="{BB962C8B-B14F-4D97-AF65-F5344CB8AC3E}">
        <p14:creationId xmlns:p14="http://schemas.microsoft.com/office/powerpoint/2010/main" val="22371855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Word: What it does</a:t>
            </a:r>
          </a:p>
          <a:p>
            <a:r>
              <a:rPr lang="en-US"/>
              <a:t>break: out of the loop, for good</a:t>
            </a:r>
          </a:p>
          <a:p>
            <a:r>
              <a:rPr lang="en-US"/>
              <a:t>continue: skip to the next round</a:t>
            </a:r>
          </a:p>
          <a:p>
            <a:endParaRPr lang="en-US"/>
          </a:p>
          <a:p>
            <a:r>
              <a:rPr lang="en-US"/>
              <a:t>Use them carefully. Most loops need neither. The age check has no break. Its condition does the work. If you need break because your loop condition is wrong, fix the condition.</a:t>
            </a:r>
          </a:p>
        </p:txBody>
      </p:sp>
      <p:sp>
        <p:nvSpPr>
          <p:cNvPr id="4" name="Slide Number Placeholder 3"/>
          <p:cNvSpPr>
            <a:spLocks noGrp="1"/>
          </p:cNvSpPr>
          <p:nvPr>
            <p:ph type="sldNum" sz="quarter" idx="5"/>
          </p:nvPr>
        </p:nvSpPr>
        <p:spPr/>
        <p:txBody>
          <a:bodyPr/>
          <a:lstStyle/>
          <a:p>
            <a:fld id="{238606F9-C3FD-4AD4-9046-7042475E2336}" type="slidenum">
              <a:rPr lang="en-US" smtClean="0"/>
              <a:t>54</a:t>
            </a:fld>
            <a:endParaRPr lang="en-US"/>
          </a:p>
        </p:txBody>
      </p:sp>
    </p:spTree>
    <p:extLst>
      <p:ext uri="{BB962C8B-B14F-4D97-AF65-F5344CB8AC3E}">
        <p14:creationId xmlns:p14="http://schemas.microsoft.com/office/powerpoint/2010/main" val="13756965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the file 17_break_squares.c: the screen shows 1 4 9 16 25. When i is 6, i * i is 36. That is more than 30, so the loop ends.</a:t>
            </a:r>
          </a:p>
          <a:p>
            <a:endParaRPr lang="en-US"/>
          </a:p>
          <a:p>
            <a:r>
              <a:rPr lang="en-US"/>
              <a:t>Right, the file 18_continue_odds.c: the screen shows 1 3 5 7 9. Every even number is skipped.</a:t>
            </a:r>
          </a:p>
        </p:txBody>
      </p:sp>
      <p:sp>
        <p:nvSpPr>
          <p:cNvPr id="4" name="Slide Number Placeholder 3"/>
          <p:cNvSpPr>
            <a:spLocks noGrp="1"/>
          </p:cNvSpPr>
          <p:nvPr>
            <p:ph type="sldNum" sz="quarter" idx="5"/>
          </p:nvPr>
        </p:nvSpPr>
        <p:spPr/>
        <p:txBody>
          <a:bodyPr/>
          <a:lstStyle/>
          <a:p>
            <a:fld id="{238606F9-C3FD-4AD4-9046-7042475E2336}" type="slidenum">
              <a:rPr lang="en-US" smtClean="0"/>
              <a:t>55</a:t>
            </a:fld>
            <a:endParaRPr lang="en-US"/>
          </a:p>
        </p:txBody>
      </p:sp>
    </p:spTree>
    <p:extLst>
      <p:ext uri="{BB962C8B-B14F-4D97-AF65-F5344CB8AC3E}">
        <p14:creationId xmlns:p14="http://schemas.microsoft.com/office/powerpoint/2010/main" val="39421748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13_pin_three_tries.c. Like a bank card: you get only three tries. The for loop counts the tries. If the PIN is right, no more tries are needed, so break. After the loop, the box ok says why the loop ended: 1 means the PIN was right, 0 means the tries ran out.</a:t>
            </a:r>
          </a:p>
          <a:p>
            <a:endParaRPr lang="en-US"/>
          </a:p>
          <a:p>
            <a:r>
              <a:rPr lang="en-US"/>
              <a:t>You type 1111, then 1234. The screen shows Welcome. You type three wrong PINs. The screen shows Card blocked.</a:t>
            </a:r>
          </a:p>
        </p:txBody>
      </p:sp>
      <p:sp>
        <p:nvSpPr>
          <p:cNvPr id="4" name="Slide Number Placeholder 3"/>
          <p:cNvSpPr>
            <a:spLocks noGrp="1"/>
          </p:cNvSpPr>
          <p:nvPr>
            <p:ph type="sldNum" sz="quarter" idx="5"/>
          </p:nvPr>
        </p:nvSpPr>
        <p:spPr/>
        <p:txBody>
          <a:bodyPr/>
          <a:lstStyle/>
          <a:p>
            <a:fld id="{238606F9-C3FD-4AD4-9046-7042475E2336}" type="slidenum">
              <a:rPr lang="en-US" smtClean="0"/>
              <a:t>56</a:t>
            </a:fld>
            <a:endParaRPr lang="en-US"/>
          </a:p>
        </p:txBody>
      </p:sp>
    </p:spTree>
    <p:extLst>
      <p:ext uri="{BB962C8B-B14F-4D97-AF65-F5344CB8AC3E}">
        <p14:creationId xmlns:p14="http://schemas.microsoft.com/office/powerpoint/2010/main" val="1886764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6: two whole programs with a loop inside.</a:t>
            </a:r>
          </a:p>
        </p:txBody>
      </p:sp>
      <p:sp>
        <p:nvSpPr>
          <p:cNvPr id="4" name="Slide Number Placeholder 3"/>
          <p:cNvSpPr>
            <a:spLocks noGrp="1"/>
          </p:cNvSpPr>
          <p:nvPr>
            <p:ph type="sldNum" sz="quarter" idx="5"/>
          </p:nvPr>
        </p:nvSpPr>
        <p:spPr/>
        <p:txBody>
          <a:bodyPr/>
          <a:lstStyle/>
          <a:p>
            <a:fld id="{238606F9-C3FD-4AD4-9046-7042475E2336}" type="slidenum">
              <a:rPr lang="en-US" smtClean="0"/>
              <a:t>57</a:t>
            </a:fld>
            <a:endParaRPr lang="en-US"/>
          </a:p>
        </p:txBody>
      </p:sp>
    </p:spTree>
    <p:extLst>
      <p:ext uri="{BB962C8B-B14F-4D97-AF65-F5344CB8AC3E}">
        <p14:creationId xmlns:p14="http://schemas.microsoft.com/office/powerpoint/2010/main" val="25990398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19_table.c. It reads n. Then i goes from 1 to 10, and every round prints one line.</a:t>
            </a:r>
          </a:p>
        </p:txBody>
      </p:sp>
      <p:sp>
        <p:nvSpPr>
          <p:cNvPr id="4" name="Slide Number Placeholder 3"/>
          <p:cNvSpPr>
            <a:spLocks noGrp="1"/>
          </p:cNvSpPr>
          <p:nvPr>
            <p:ph type="sldNum" sz="quarter" idx="5"/>
          </p:nvPr>
        </p:nvSpPr>
        <p:spPr/>
        <p:txBody>
          <a:bodyPr/>
          <a:lstStyle/>
          <a:p>
            <a:fld id="{238606F9-C3FD-4AD4-9046-7042475E2336}" type="slidenum">
              <a:rPr lang="en-US" smtClean="0"/>
              <a:t>58</a:t>
            </a:fld>
            <a:endParaRPr lang="en-US"/>
          </a:p>
        </p:txBody>
      </p:sp>
    </p:spTree>
    <p:extLst>
      <p:ext uri="{BB962C8B-B14F-4D97-AF65-F5344CB8AC3E}">
        <p14:creationId xmlns:p14="http://schemas.microsoft.com/office/powerpoint/2010/main" val="10105328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type 7. The screen shows ten lines, from 7 x 1 = 7 to 7 x 10 = 70.</a:t>
            </a:r>
          </a:p>
          <a:p>
            <a:endParaRPr lang="en-US"/>
          </a:p>
          <a:p>
            <a:r>
              <a:rPr lang="en-US"/>
              <a:t>The printf has three holes, %d x %d = %d, and three values: n, i, n * i. The third value is a calculation, done right inside the printf.</a:t>
            </a:r>
          </a:p>
        </p:txBody>
      </p:sp>
      <p:sp>
        <p:nvSpPr>
          <p:cNvPr id="4" name="Slide Number Placeholder 3"/>
          <p:cNvSpPr>
            <a:spLocks noGrp="1"/>
          </p:cNvSpPr>
          <p:nvPr>
            <p:ph type="sldNum" sz="quarter" idx="5"/>
          </p:nvPr>
        </p:nvSpPr>
        <p:spPr/>
        <p:txBody>
          <a:bodyPr/>
          <a:lstStyle/>
          <a:p>
            <a:fld id="{238606F9-C3FD-4AD4-9046-7042475E2336}" type="slidenum">
              <a:rPr lang="en-US" smtClean="0"/>
              <a:t>59</a:t>
            </a:fld>
            <a:endParaRPr lang="en-US"/>
          </a:p>
        </p:txBody>
      </p:sp>
    </p:spTree>
    <p:extLst>
      <p:ext uri="{BB962C8B-B14F-4D97-AF65-F5344CB8AC3E}">
        <p14:creationId xmlns:p14="http://schemas.microsoft.com/office/powerpoint/2010/main" val="9002794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 stays 7 in every line. i changes: 1, 2, 3 and so on up to 10. The body is one line of code. It prints ten different lines, because i is different every round. That is the idea of a loop: same code, different value.</a:t>
            </a:r>
          </a:p>
          <a:p>
            <a:endParaRPr lang="en-US"/>
          </a:p>
          <a:p>
            <a:r>
              <a:rPr lang="en-US"/>
              <a:t>Try it yourself. Make the table go up to 12. Only one number changes. (The 10 in i &lt;= 10 becomes 12. The last line for 7 is then 7 x 12 = 84.)</a:t>
            </a:r>
          </a:p>
        </p:txBody>
      </p:sp>
      <p:sp>
        <p:nvSpPr>
          <p:cNvPr id="4" name="Slide Number Placeholder 3"/>
          <p:cNvSpPr>
            <a:spLocks noGrp="1"/>
          </p:cNvSpPr>
          <p:nvPr>
            <p:ph type="sldNum" sz="quarter" idx="5"/>
          </p:nvPr>
        </p:nvSpPr>
        <p:spPr/>
        <p:txBody>
          <a:bodyPr/>
          <a:lstStyle/>
          <a:p>
            <a:fld id="{238606F9-C3FD-4AD4-9046-7042475E2336}" type="slidenum">
              <a:rPr lang="en-US" smtClean="0"/>
              <a:t>60</a:t>
            </a:fld>
            <a:endParaRPr lang="en-US"/>
          </a:p>
        </p:txBody>
      </p:sp>
    </p:spTree>
    <p:extLst>
      <p:ext uri="{BB962C8B-B14F-4D97-AF65-F5344CB8AC3E}">
        <p14:creationId xmlns:p14="http://schemas.microsoft.com/office/powerpoint/2010/main" val="22743276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20_table_grid.c. You do not need this for Quiz 2. A loop can be inside another loop. The outer loop makes the rows. For every row, the inner loop runs five times and makes the columns. %4d prints a number in a space 4 characters wide, so the columns line up. This comes back in October.</a:t>
            </a:r>
          </a:p>
        </p:txBody>
      </p:sp>
      <p:sp>
        <p:nvSpPr>
          <p:cNvPr id="4" name="Slide Number Placeholder 3"/>
          <p:cNvSpPr>
            <a:spLocks noGrp="1"/>
          </p:cNvSpPr>
          <p:nvPr>
            <p:ph type="sldNum" sz="quarter" idx="5"/>
          </p:nvPr>
        </p:nvSpPr>
        <p:spPr/>
        <p:txBody>
          <a:bodyPr/>
          <a:lstStyle/>
          <a:p>
            <a:fld id="{238606F9-C3FD-4AD4-9046-7042475E2336}" type="slidenum">
              <a:rPr lang="en-US" smtClean="0"/>
              <a:t>61</a:t>
            </a:fld>
            <a:endParaRPr lang="en-US"/>
          </a:p>
        </p:txBody>
      </p:sp>
    </p:spTree>
    <p:extLst>
      <p:ext uri="{BB962C8B-B14F-4D97-AF65-F5344CB8AC3E}">
        <p14:creationId xmlns:p14="http://schemas.microsoft.com/office/powerpoint/2010/main" val="9582884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 factorial, written 5!, is 1 × 2 × 3 × 4 × 5 = 120. This is the running total again, but with times and not plus. A running product.</a:t>
            </a:r>
          </a:p>
        </p:txBody>
      </p:sp>
      <p:sp>
        <p:nvSpPr>
          <p:cNvPr id="4" name="Slide Number Placeholder 3"/>
          <p:cNvSpPr>
            <a:spLocks noGrp="1"/>
          </p:cNvSpPr>
          <p:nvPr>
            <p:ph type="sldNum" sz="quarter" idx="5"/>
          </p:nvPr>
        </p:nvSpPr>
        <p:spPr/>
        <p:txBody>
          <a:bodyPr/>
          <a:lstStyle/>
          <a:p>
            <a:fld id="{238606F9-C3FD-4AD4-9046-7042475E2336}" type="slidenum">
              <a:rPr lang="en-US" smtClean="0"/>
              <a:t>62</a:t>
            </a:fld>
            <a:endParaRPr lang="en-US"/>
          </a:p>
        </p:txBody>
      </p:sp>
    </p:spTree>
    <p:extLst>
      <p:ext uri="{BB962C8B-B14F-4D97-AF65-F5344CB8AC3E}">
        <p14:creationId xmlns:p14="http://schemas.microsoft.com/office/powerpoint/2010/main" val="17830915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21_factorial.c. The two bright lines are the pattern: int fact = 1; before the loop, and fact *= i; inside it. fact *= i means fact = fact * i. The screen shows 120.</a:t>
            </a:r>
          </a:p>
        </p:txBody>
      </p:sp>
      <p:sp>
        <p:nvSpPr>
          <p:cNvPr id="4" name="Slide Number Placeholder 3"/>
          <p:cNvSpPr>
            <a:spLocks noGrp="1"/>
          </p:cNvSpPr>
          <p:nvPr>
            <p:ph type="sldNum" sz="quarter" idx="5"/>
          </p:nvPr>
        </p:nvSpPr>
        <p:spPr/>
        <p:txBody>
          <a:bodyPr/>
          <a:lstStyle/>
          <a:p>
            <a:fld id="{238606F9-C3FD-4AD4-9046-7042475E2336}" type="slidenum">
              <a:rPr lang="en-US" smtClean="0"/>
              <a:t>63</a:t>
            </a:fld>
            <a:endParaRPr lang="en-US"/>
          </a:p>
        </p:txBody>
      </p:sp>
    </p:spTree>
    <p:extLst>
      <p:ext uri="{BB962C8B-B14F-4D97-AF65-F5344CB8AC3E}">
        <p14:creationId xmlns:p14="http://schemas.microsoft.com/office/powerpoint/2010/main" val="11644665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1: 1 × 1 = 1. Round 2: 1 × 2 = 2.</a:t>
            </a:r>
          </a:p>
        </p:txBody>
      </p:sp>
      <p:sp>
        <p:nvSpPr>
          <p:cNvPr id="4" name="Slide Number Placeholder 3"/>
          <p:cNvSpPr>
            <a:spLocks noGrp="1"/>
          </p:cNvSpPr>
          <p:nvPr>
            <p:ph type="sldNum" sz="quarter" idx="5"/>
          </p:nvPr>
        </p:nvSpPr>
        <p:spPr/>
        <p:txBody>
          <a:bodyPr/>
          <a:lstStyle/>
          <a:p>
            <a:fld id="{238606F9-C3FD-4AD4-9046-7042475E2336}" type="slidenum">
              <a:rPr lang="en-US" smtClean="0"/>
              <a:t>64</a:t>
            </a:fld>
            <a:endParaRPr lang="en-US"/>
          </a:p>
        </p:txBody>
      </p:sp>
    </p:spTree>
    <p:extLst>
      <p:ext uri="{BB962C8B-B14F-4D97-AF65-F5344CB8AC3E}">
        <p14:creationId xmlns:p14="http://schemas.microsoft.com/office/powerpoint/2010/main" val="5760490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i · fact before · fact *= i · fact after</a:t>
            </a:r>
          </a:p>
          <a:p>
            <a:r>
              <a:rPr lang="en-US"/>
              <a:t>1: 1 · 1 · 1 × 1 · 1</a:t>
            </a:r>
          </a:p>
          <a:p>
            <a:r>
              <a:rPr lang="en-US"/>
              <a:t>2: 2 · 1 · 1 × 2 · 2</a:t>
            </a:r>
          </a:p>
          <a:p>
            <a:r>
              <a:rPr lang="en-US"/>
              <a:t>3: 3 · 2 · 2 × 3 · 6</a:t>
            </a:r>
          </a:p>
          <a:p>
            <a:r>
              <a:rPr lang="en-US"/>
              <a:t>4: 4 · 6 · 6 × 4 · 24</a:t>
            </a:r>
          </a:p>
          <a:p>
            <a:r>
              <a:rPr lang="en-US"/>
              <a:t>5: 5 · 24 · 24 × 5 · 120</a:t>
            </a:r>
          </a:p>
        </p:txBody>
      </p:sp>
      <p:sp>
        <p:nvSpPr>
          <p:cNvPr id="4" name="Slide Number Placeholder 3"/>
          <p:cNvSpPr>
            <a:spLocks noGrp="1"/>
          </p:cNvSpPr>
          <p:nvPr>
            <p:ph type="sldNum" sz="quarter" idx="5"/>
          </p:nvPr>
        </p:nvSpPr>
        <p:spPr/>
        <p:txBody>
          <a:bodyPr/>
          <a:lstStyle/>
          <a:p>
            <a:fld id="{238606F9-C3FD-4AD4-9046-7042475E2336}" type="slidenum">
              <a:rPr lang="en-US" smtClean="0"/>
              <a:t>65</a:t>
            </a:fld>
            <a:endParaRPr lang="en-US"/>
          </a:p>
        </p:txBody>
      </p:sp>
    </p:spTree>
    <p:extLst>
      <p:ext uri="{BB962C8B-B14F-4D97-AF65-F5344CB8AC3E}">
        <p14:creationId xmlns:p14="http://schemas.microsoft.com/office/powerpoint/2010/main" val="387968875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sum started at 0. Why does fact start at 1? Decide what the program prints with int fact = 0;.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66</a:t>
            </a:fld>
            <a:endParaRPr lang="en-US"/>
          </a:p>
        </p:txBody>
      </p:sp>
    </p:spTree>
    <p:extLst>
      <p:ext uri="{BB962C8B-B14F-4D97-AF65-F5344CB8AC3E}">
        <p14:creationId xmlns:p14="http://schemas.microsoft.com/office/powerpoint/2010/main" val="39487480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28_bug_fact_zero.c. The screen shows 0. Anything times 0 is 0. If fact starts at 0, it stays 0 for ever. Multiplying by 1 changes nothing, just as adding 0 changes nothing.</a:t>
            </a:r>
          </a:p>
          <a:p>
            <a:endParaRPr lang="en-US"/>
          </a:p>
          <a:p>
            <a:r>
              <a:rPr lang="en-US"/>
              <a:t>Rule: when you add, start at 0. When you multiply, start at 1.</a:t>
            </a:r>
          </a:p>
        </p:txBody>
      </p:sp>
      <p:sp>
        <p:nvSpPr>
          <p:cNvPr id="4" name="Slide Number Placeholder 3"/>
          <p:cNvSpPr>
            <a:spLocks noGrp="1"/>
          </p:cNvSpPr>
          <p:nvPr>
            <p:ph type="sldNum" sz="quarter" idx="5"/>
          </p:nvPr>
        </p:nvSpPr>
        <p:spPr/>
        <p:txBody>
          <a:bodyPr/>
          <a:lstStyle/>
          <a:p>
            <a:fld id="{238606F9-C3FD-4AD4-9046-7042475E2336}" type="slidenum">
              <a:rPr lang="en-US" smtClean="0"/>
              <a:t>67</a:t>
            </a:fld>
            <a:endParaRPr lang="en-US"/>
          </a:p>
        </p:txBody>
      </p:sp>
    </p:spTree>
    <p:extLst>
      <p:ext uri="{BB962C8B-B14F-4D97-AF65-F5344CB8AC3E}">
        <p14:creationId xmlns:p14="http://schemas.microsoft.com/office/powerpoint/2010/main" val="22596791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22_factorial_n.c. Two lines are new: int n; without a value, and a scanf that reads it.</a:t>
            </a:r>
          </a:p>
        </p:txBody>
      </p:sp>
      <p:sp>
        <p:nvSpPr>
          <p:cNvPr id="4" name="Slide Number Placeholder 3"/>
          <p:cNvSpPr>
            <a:spLocks noGrp="1"/>
          </p:cNvSpPr>
          <p:nvPr>
            <p:ph type="sldNum" sz="quarter" idx="5"/>
          </p:nvPr>
        </p:nvSpPr>
        <p:spPr/>
        <p:txBody>
          <a:bodyPr/>
          <a:lstStyle/>
          <a:p>
            <a:fld id="{238606F9-C3FD-4AD4-9046-7042475E2336}" type="slidenum">
              <a:rPr lang="en-US" smtClean="0"/>
              <a:t>68</a:t>
            </a:fld>
            <a:endParaRPr lang="en-US"/>
          </a:p>
        </p:txBody>
      </p:sp>
    </p:spTree>
    <p:extLst>
      <p:ext uri="{BB962C8B-B14F-4D97-AF65-F5344CB8AC3E}">
        <p14:creationId xmlns:p14="http://schemas.microsoft.com/office/powerpoint/2010/main" val="15571085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type: Screen shows · Correct?</a:t>
            </a:r>
          </a:p>
          <a:p>
            <a:r>
              <a:rPr lang="en-US"/>
              <a:t>5: 5! = 120 · yes</a:t>
            </a:r>
          </a:p>
          <a:p>
            <a:r>
              <a:rPr lang="en-US"/>
              <a:t>10: 10! = 3628800 · yes</a:t>
            </a:r>
          </a:p>
          <a:p>
            <a:r>
              <a:rPr lang="en-US"/>
              <a:t>12: 12! = 479001600 · yes</a:t>
            </a:r>
          </a:p>
          <a:p>
            <a:r>
              <a:rPr lang="en-US"/>
              <a:t>13: 13! = 1932053504 · no</a:t>
            </a:r>
          </a:p>
          <a:p>
            <a:r>
              <a:rPr lang="en-US"/>
              <a:t>17: 17! = -288522240 · no</a:t>
            </a:r>
          </a:p>
          <a:p>
            <a:endParaRPr lang="en-US"/>
          </a:p>
          <a:p>
            <a:r>
              <a:rPr lang="en-US"/>
              <a:t>What happened at 13? The real value of 13! is 6227020800. The program printed something else. There was no error and no warning, even with -Wall.</a:t>
            </a:r>
          </a:p>
          <a:p>
            <a:endParaRPr lang="en-US"/>
          </a:p>
          <a:p>
            <a:r>
              <a:rPr lang="en-US"/>
              <a:t>An int box has a size. The biggest number it can hold is 2147483647, about two thousand million. 13! is bigger than that. It does not fit, and C does not tell you. It keeps what fits, and that is a wrong number. For 17 the wrong number is even negative.</a:t>
            </a:r>
          </a:p>
          <a:p>
            <a:endParaRPr lang="en-US"/>
          </a:p>
          <a:p>
            <a:r>
              <a:rPr lang="en-US"/>
              <a:t>You do not need to fix this today. You need to know it exists. When a loop multiplies, numbers grow very fast. If a result looks crazy, or turns negative, remember this slide.</a:t>
            </a:r>
          </a:p>
        </p:txBody>
      </p:sp>
      <p:sp>
        <p:nvSpPr>
          <p:cNvPr id="4" name="Slide Number Placeholder 3"/>
          <p:cNvSpPr>
            <a:spLocks noGrp="1"/>
          </p:cNvSpPr>
          <p:nvPr>
            <p:ph type="sldNum" sz="quarter" idx="5"/>
          </p:nvPr>
        </p:nvSpPr>
        <p:spPr/>
        <p:txBody>
          <a:bodyPr/>
          <a:lstStyle/>
          <a:p>
            <a:fld id="{238606F9-C3FD-4AD4-9046-7042475E2336}" type="slidenum">
              <a:rPr lang="en-US" smtClean="0"/>
              <a:t>69</a:t>
            </a:fld>
            <a:endParaRPr lang="en-US"/>
          </a:p>
        </p:txBody>
      </p:sp>
    </p:spTree>
    <p:extLst>
      <p:ext uri="{BB962C8B-B14F-4D97-AF65-F5344CB8AC3E}">
        <p14:creationId xmlns:p14="http://schemas.microsoft.com/office/powerpoint/2010/main" val="15889215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7: the bugs everybody makes. Each one is small, and each one changes the whole result.</a:t>
            </a:r>
          </a:p>
        </p:txBody>
      </p:sp>
      <p:sp>
        <p:nvSpPr>
          <p:cNvPr id="4" name="Slide Number Placeholder 3"/>
          <p:cNvSpPr>
            <a:spLocks noGrp="1"/>
          </p:cNvSpPr>
          <p:nvPr>
            <p:ph type="sldNum" sz="quarter" idx="5"/>
          </p:nvPr>
        </p:nvSpPr>
        <p:spPr/>
        <p:txBody>
          <a:bodyPr/>
          <a:lstStyle/>
          <a:p>
            <a:fld id="{238606F9-C3FD-4AD4-9046-7042475E2336}" type="slidenum">
              <a:rPr lang="en-US" smtClean="0"/>
              <a:t>70</a:t>
            </a:fld>
            <a:endParaRPr lang="en-US"/>
          </a:p>
        </p:txBody>
      </p:sp>
    </p:spTree>
    <p:extLst>
      <p:ext uri="{BB962C8B-B14F-4D97-AF65-F5344CB8AC3E}">
        <p14:creationId xmlns:p14="http://schemas.microsoft.com/office/powerpoint/2010/main" val="26022576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Missing update. The condition never becomes false, so the loop never stops. Press Ctrl+C, then look for the line that should change the variable. (File 26_bug_missing_update.c.)</a:t>
            </a:r>
          </a:p>
          <a:p>
            <a:r>
              <a:rPr lang="en-US"/>
              <a:t>2. Wrong comparison. &lt; instead of &lt;=, or the other way round. One round too many or one too few. See slide 47. (File 27_bug_off_by_one.c.)</a:t>
            </a:r>
          </a:p>
          <a:p>
            <a:r>
              <a:rPr lang="en-US"/>
              <a:t>3. Resetting inside the loop. The total is lost every round. See slides 20 and 21.</a:t>
            </a:r>
          </a:p>
          <a:p>
            <a:r>
              <a:rPr lang="en-US"/>
              <a:t>4. A semicolon after the loop head. See slide 73.</a:t>
            </a:r>
          </a:p>
          <a:p>
            <a:r>
              <a:rPr lang="en-US"/>
              <a:t>5. = instead of ==. See slide 74.</a:t>
            </a:r>
          </a:p>
          <a:p>
            <a:r>
              <a:rPr lang="en-US"/>
              <a:t>6. Bad starting value. i starts from the wrong number (0 when you wanted 1), or fact starts at 0. See slide 67.</a:t>
            </a:r>
          </a:p>
        </p:txBody>
      </p:sp>
      <p:sp>
        <p:nvSpPr>
          <p:cNvPr id="4" name="Slide Number Placeholder 3"/>
          <p:cNvSpPr>
            <a:spLocks noGrp="1"/>
          </p:cNvSpPr>
          <p:nvPr>
            <p:ph type="sldNum" sz="quarter" idx="5"/>
          </p:nvPr>
        </p:nvSpPr>
        <p:spPr/>
        <p:txBody>
          <a:bodyPr/>
          <a:lstStyle/>
          <a:p>
            <a:fld id="{238606F9-C3FD-4AD4-9046-7042475E2336}" type="slidenum">
              <a:rPr lang="en-US" smtClean="0"/>
              <a:t>71</a:t>
            </a:fld>
            <a:endParaRPr lang="en-US"/>
          </a:p>
        </p:txBody>
      </p:sp>
    </p:spTree>
    <p:extLst>
      <p:ext uri="{BB962C8B-B14F-4D97-AF65-F5344CB8AC3E}">
        <p14:creationId xmlns:p14="http://schemas.microsoft.com/office/powerpoint/2010/main" val="1930320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23_bug_semicolon.c. There is a semicolon at the end of the for line. Decide what the screen shows.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72</a:t>
            </a:fld>
            <a:endParaRPr lang="en-US"/>
          </a:p>
        </p:txBody>
      </p:sp>
    </p:spTree>
    <p:extLst>
      <p:ext uri="{BB962C8B-B14F-4D97-AF65-F5344CB8AC3E}">
        <p14:creationId xmlns:p14="http://schemas.microsoft.com/office/powerpoint/2010/main" val="15508973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expect 1 to 5. The screen shows only 6, only once.</a:t>
            </a:r>
          </a:p>
          <a:p>
            <a:endParaRPr lang="en-US"/>
          </a:p>
          <a:p>
            <a:r>
              <a:rPr lang="en-US"/>
              <a:t>For C, a semicolon on its own is a complete statement that does nothing. So the body of this loop is "nothing". The loop runs five times doing nothing, and i climbs to 6. Then the block in { } is just a normal block. It runs once and prints 6.</a:t>
            </a:r>
          </a:p>
          <a:p>
            <a:endParaRPr lang="en-US"/>
          </a:p>
          <a:p>
            <a:r>
              <a:rPr lang="en-US"/>
              <a:t>With -Wall the compiler warns you: warning: this 'for' clause does not guard... In plain words: "that block does not belong to the for. It only looks as if it does." It is a warning, so the program still builds. Read your warnings.</a:t>
            </a:r>
          </a:p>
          <a:p>
            <a:endParaRPr lang="en-US"/>
          </a:p>
          <a:p>
            <a:r>
              <a:rPr lang="en-US"/>
              <a:t>Rule: no semicolon after for (...) or while (...).</a:t>
            </a:r>
          </a:p>
        </p:txBody>
      </p:sp>
      <p:sp>
        <p:nvSpPr>
          <p:cNvPr id="4" name="Slide Number Placeholder 3"/>
          <p:cNvSpPr>
            <a:spLocks noGrp="1"/>
          </p:cNvSpPr>
          <p:nvPr>
            <p:ph type="sldNum" sz="quarter" idx="5"/>
          </p:nvPr>
        </p:nvSpPr>
        <p:spPr/>
        <p:txBody>
          <a:bodyPr/>
          <a:lstStyle/>
          <a:p>
            <a:fld id="{238606F9-C3FD-4AD4-9046-7042475E2336}" type="slidenum">
              <a:rPr lang="en-US" smtClean="0"/>
              <a:t>73</a:t>
            </a:fld>
            <a:endParaRPr lang="en-US"/>
          </a:p>
        </p:txBody>
      </p:sp>
    </p:spTree>
    <p:extLst>
      <p:ext uri="{BB962C8B-B14F-4D97-AF65-F5344CB8AC3E}">
        <p14:creationId xmlns:p14="http://schemas.microsoft.com/office/powerpoint/2010/main" val="106771814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25_bug_assign_in_if.c. i = 3 is not a question. It puts 3 into i. Every round. So i never gets past 3, the check i &lt;= 5 is always true, and three prints for ever. Press Ctrl+C. The compiler warns: suggest parentheses around assignment used as truth value. Inside a condition, always two equals signs.</a:t>
            </a:r>
          </a:p>
        </p:txBody>
      </p:sp>
      <p:sp>
        <p:nvSpPr>
          <p:cNvPr id="4" name="Slide Number Placeholder 3"/>
          <p:cNvSpPr>
            <a:spLocks noGrp="1"/>
          </p:cNvSpPr>
          <p:nvPr>
            <p:ph type="sldNum" sz="quarter" idx="5"/>
          </p:nvPr>
        </p:nvSpPr>
        <p:spPr/>
        <p:txBody>
          <a:bodyPr/>
          <a:lstStyle/>
          <a:p>
            <a:fld id="{238606F9-C3FD-4AD4-9046-7042475E2336}" type="slidenum">
              <a:rPr lang="en-US" smtClean="0"/>
              <a:t>74</a:t>
            </a:fld>
            <a:endParaRPr lang="en-US"/>
          </a:p>
        </p:txBody>
      </p:sp>
    </p:spTree>
    <p:extLst>
      <p:ext uri="{BB962C8B-B14F-4D97-AF65-F5344CB8AC3E}">
        <p14:creationId xmlns:p14="http://schemas.microsoft.com/office/powerpoint/2010/main" val="29682530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the file 26_bug_missing_update.c: the update i++; is missing. The program prints 1 for ever. The compiler gives no warning.</a:t>
            </a:r>
          </a:p>
          <a:p>
            <a:endParaRPr lang="en-US"/>
          </a:p>
          <a:p>
            <a:r>
              <a:rPr lang="en-US"/>
              <a:t>Right, the file 24_bug_while_semicolon.c: a semicolon after while (x &lt;= 5). The body is empty, x never changes, and the program hangs with nothing on the screen. The compiler warns about this one.</a:t>
            </a:r>
          </a:p>
          <a:p>
            <a:endParaRPr lang="en-US"/>
          </a:p>
          <a:p>
            <a:r>
              <a:rPr lang="en-US"/>
              <a:t>For both: click in the terminal and press Ctrl+C.</a:t>
            </a:r>
          </a:p>
        </p:txBody>
      </p:sp>
      <p:sp>
        <p:nvSpPr>
          <p:cNvPr id="4" name="Slide Number Placeholder 3"/>
          <p:cNvSpPr>
            <a:spLocks noGrp="1"/>
          </p:cNvSpPr>
          <p:nvPr>
            <p:ph type="sldNum" sz="quarter" idx="5"/>
          </p:nvPr>
        </p:nvSpPr>
        <p:spPr/>
        <p:txBody>
          <a:bodyPr/>
          <a:lstStyle/>
          <a:p>
            <a:fld id="{238606F9-C3FD-4AD4-9046-7042475E2336}" type="slidenum">
              <a:rPr lang="en-US" smtClean="0"/>
              <a:t>75</a:t>
            </a:fld>
            <a:endParaRPr lang="en-US"/>
          </a:p>
        </p:txBody>
      </p:sp>
    </p:spTree>
    <p:extLst>
      <p:ext uri="{BB962C8B-B14F-4D97-AF65-F5344CB8AC3E}">
        <p14:creationId xmlns:p14="http://schemas.microsoft.com/office/powerpoint/2010/main" val="70313208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you run a loop, put your finger on its four parts: start, check, body, update. If you cannot find one of them, that is your bug.</a:t>
            </a:r>
          </a:p>
        </p:txBody>
      </p:sp>
      <p:sp>
        <p:nvSpPr>
          <p:cNvPr id="4" name="Slide Number Placeholder 3"/>
          <p:cNvSpPr>
            <a:spLocks noGrp="1"/>
          </p:cNvSpPr>
          <p:nvPr>
            <p:ph type="sldNum" sz="quarter" idx="5"/>
          </p:nvPr>
        </p:nvSpPr>
        <p:spPr/>
        <p:txBody>
          <a:bodyPr/>
          <a:lstStyle/>
          <a:p>
            <a:fld id="{238606F9-C3FD-4AD4-9046-7042475E2336}" type="slidenum">
              <a:rPr lang="en-US" smtClean="0"/>
              <a:t>76</a:t>
            </a:fld>
            <a:endParaRPr lang="en-US"/>
          </a:p>
        </p:txBody>
      </p:sp>
    </p:spTree>
    <p:extLst>
      <p:ext uri="{BB962C8B-B14F-4D97-AF65-F5344CB8AC3E}">
        <p14:creationId xmlns:p14="http://schemas.microsoft.com/office/powerpoint/2010/main" val="2723007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8. On the quiz you cannot run the code. You trace it with a pen. A question like this one will be on Quiz 2.</a:t>
            </a:r>
          </a:p>
        </p:txBody>
      </p:sp>
      <p:sp>
        <p:nvSpPr>
          <p:cNvPr id="4" name="Slide Number Placeholder 3"/>
          <p:cNvSpPr>
            <a:spLocks noGrp="1"/>
          </p:cNvSpPr>
          <p:nvPr>
            <p:ph type="sldNum" sz="quarter" idx="5"/>
          </p:nvPr>
        </p:nvSpPr>
        <p:spPr/>
        <p:txBody>
          <a:bodyPr/>
          <a:lstStyle/>
          <a:p>
            <a:fld id="{238606F9-C3FD-4AD4-9046-7042475E2336}" type="slidenum">
              <a:rPr lang="en-US" smtClean="0"/>
              <a:t>77</a:t>
            </a:fld>
            <a:endParaRPr lang="en-US"/>
          </a:p>
        </p:txBody>
      </p:sp>
    </p:spTree>
    <p:extLst>
      <p:ext uri="{BB962C8B-B14F-4D97-AF65-F5344CB8AC3E}">
        <p14:creationId xmlns:p14="http://schemas.microsoft.com/office/powerpoint/2010/main" val="321992900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29_trace_xy.c. Try it on paper before you read on.</a:t>
            </a:r>
          </a:p>
          <a:p>
            <a:endParaRPr lang="en-US"/>
          </a:p>
          <a:p>
            <a:r>
              <a:rPr lang="en-US"/>
              <a:t>How to trace a loop. Draw a table. One column for each variable. One row for each round. In every round, first do the check. If it is true, do the lines of the body in order and write the new values.</a:t>
            </a:r>
          </a:p>
        </p:txBody>
      </p:sp>
      <p:sp>
        <p:nvSpPr>
          <p:cNvPr id="4" name="Slide Number Placeholder 3"/>
          <p:cNvSpPr>
            <a:spLocks noGrp="1"/>
          </p:cNvSpPr>
          <p:nvPr>
            <p:ph type="sldNum" sz="quarter" idx="5"/>
          </p:nvPr>
        </p:nvSpPr>
        <p:spPr/>
        <p:txBody>
          <a:bodyPr/>
          <a:lstStyle/>
          <a:p>
            <a:fld id="{238606F9-C3FD-4AD4-9046-7042475E2336}" type="slidenum">
              <a:rPr lang="en-US" smtClean="0"/>
              <a:t>78</a:t>
            </a:fld>
            <a:endParaRPr lang="en-US"/>
          </a:p>
        </p:txBody>
      </p:sp>
    </p:spTree>
    <p:extLst>
      <p:ext uri="{BB962C8B-B14F-4D97-AF65-F5344CB8AC3E}">
        <p14:creationId xmlns:p14="http://schemas.microsoft.com/office/powerpoint/2010/main" val="2345458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&lt; 8 is true. y is 0 + 2 = 2. Then x is 2 + 2 = 4.</a:t>
            </a:r>
          </a:p>
        </p:txBody>
      </p:sp>
      <p:sp>
        <p:nvSpPr>
          <p:cNvPr id="4" name="Slide Number Placeholder 3"/>
          <p:cNvSpPr>
            <a:spLocks noGrp="1"/>
          </p:cNvSpPr>
          <p:nvPr>
            <p:ph type="sldNum" sz="quarter" idx="5"/>
          </p:nvPr>
        </p:nvSpPr>
        <p:spPr/>
        <p:txBody>
          <a:bodyPr/>
          <a:lstStyle/>
          <a:p>
            <a:fld id="{238606F9-C3FD-4AD4-9046-7042475E2336}" type="slidenum">
              <a:rPr lang="en-US" smtClean="0"/>
              <a:t>79</a:t>
            </a:fld>
            <a:endParaRPr lang="en-US"/>
          </a:p>
        </p:txBody>
      </p:sp>
    </p:spTree>
    <p:extLst>
      <p:ext uri="{BB962C8B-B14F-4D97-AF65-F5344CB8AC3E}">
        <p14:creationId xmlns:p14="http://schemas.microsoft.com/office/powerpoint/2010/main" val="9723711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&lt; 8 is true. y is 2 + 4 = 6. Then x is 6.</a:t>
            </a:r>
          </a:p>
        </p:txBody>
      </p:sp>
      <p:sp>
        <p:nvSpPr>
          <p:cNvPr id="4" name="Slide Number Placeholder 3"/>
          <p:cNvSpPr>
            <a:spLocks noGrp="1"/>
          </p:cNvSpPr>
          <p:nvPr>
            <p:ph type="sldNum" sz="quarter" idx="5"/>
          </p:nvPr>
        </p:nvSpPr>
        <p:spPr/>
        <p:txBody>
          <a:bodyPr/>
          <a:lstStyle/>
          <a:p>
            <a:fld id="{238606F9-C3FD-4AD4-9046-7042475E2336}" type="slidenum">
              <a:rPr lang="en-US" smtClean="0"/>
              <a:t>80</a:t>
            </a:fld>
            <a:endParaRPr lang="en-US"/>
          </a:p>
        </p:txBody>
      </p:sp>
    </p:spTree>
    <p:extLst>
      <p:ext uri="{BB962C8B-B14F-4D97-AF65-F5344CB8AC3E}">
        <p14:creationId xmlns:p14="http://schemas.microsoft.com/office/powerpoint/2010/main" val="383677830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 &lt; 8 is true. y is 6 + 6 = 12. Then x is 8. A classic mistake is to stop one round early, because 6 "feels" close to 8. The loop does not feel. 6 &lt; 8 is true, so it goes again.</a:t>
            </a:r>
          </a:p>
        </p:txBody>
      </p:sp>
      <p:sp>
        <p:nvSpPr>
          <p:cNvPr id="4" name="Slide Number Placeholder 3"/>
          <p:cNvSpPr>
            <a:spLocks noGrp="1"/>
          </p:cNvSpPr>
          <p:nvPr>
            <p:ph type="sldNum" sz="quarter" idx="5"/>
          </p:nvPr>
        </p:nvSpPr>
        <p:spPr/>
        <p:txBody>
          <a:bodyPr/>
          <a:lstStyle/>
          <a:p>
            <a:fld id="{238606F9-C3FD-4AD4-9046-7042475E2336}" type="slidenum">
              <a:rPr lang="en-US" smtClean="0"/>
              <a:t>81</a:t>
            </a:fld>
            <a:endParaRPr lang="en-US"/>
          </a:p>
        </p:txBody>
      </p:sp>
    </p:spTree>
    <p:extLst>
      <p:ext uri="{BB962C8B-B14F-4D97-AF65-F5344CB8AC3E}">
        <p14:creationId xmlns:p14="http://schemas.microsoft.com/office/powerpoint/2010/main" val="80676263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Round: Check x &lt; 8 · y += x · x += 2</a:t>
            </a:r>
          </a:p>
          <a:p>
            <a:r>
              <a:rPr lang="en-US"/>
              <a:t>before the loop:  · y is 0 · x is 2</a:t>
            </a:r>
          </a:p>
          <a:p>
            <a:r>
              <a:rPr lang="en-US"/>
              <a:t>1: 2 &lt; 8 true · y is 0 + 2 = 2 · x is 4</a:t>
            </a:r>
          </a:p>
          <a:p>
            <a:r>
              <a:rPr lang="en-US"/>
              <a:t>2: 4 &lt; 8 true · y is 2 + 4 = 6 · x is 6</a:t>
            </a:r>
          </a:p>
          <a:p>
            <a:r>
              <a:rPr lang="en-US"/>
              <a:t>3: 6 &lt; 8 true · y is 6 + 6 = 12 · x is 8</a:t>
            </a:r>
          </a:p>
          <a:p>
            <a:r>
              <a:rPr lang="en-US"/>
              <a:t>4: 8 &lt; 8 false · the loop ends · </a:t>
            </a:r>
          </a:p>
          <a:p>
            <a:endParaRPr lang="en-US"/>
          </a:p>
          <a:p>
            <a:r>
              <a:rPr lang="en-US"/>
              <a:t>The four answers.</a:t>
            </a:r>
          </a:p>
          <a:p>
            <a:endParaRPr lang="en-US"/>
          </a:p>
          <a:p>
            <a:r>
              <a:rPr lang="en-US"/>
              <a:t>1. After round 1: x is 4, y is 2. After round 2: x is 6, y is 6. After round 3: x is 8, y is 12.</a:t>
            </a:r>
          </a:p>
          <a:p>
            <a:r>
              <a:rPr lang="en-US"/>
              <a:t>2. The body runs 3 times.</a:t>
            </a:r>
          </a:p>
          <a:p>
            <a:r>
              <a:rPr lang="en-US"/>
              <a:t>3. The screen shows x=8 y=12.</a:t>
            </a:r>
          </a:p>
          <a:p>
            <a:r>
              <a:rPr lang="en-US"/>
              <a:t>4. x += 2 moves the loop toward stopping. Without it, x stays 2 for ever.</a:t>
            </a:r>
          </a:p>
          <a:p>
            <a:endParaRPr lang="en-US"/>
          </a:p>
          <a:p>
            <a:r>
              <a:rPr lang="en-US"/>
              <a:t>The other classic mistake: running a fourth round, reading &lt; as &lt;=. 8 &lt; 8 is false.</a:t>
            </a:r>
          </a:p>
          <a:p>
            <a:endParaRPr lang="en-US"/>
          </a:p>
          <a:p>
            <a:r>
              <a:rPr lang="en-US"/>
              <a:t>Notice the final x. It is 8, not 6. The loop ends because x became 8. After a loop, the variable holds the first value that failed the check.</a:t>
            </a:r>
          </a:p>
          <a:p>
            <a:endParaRPr lang="en-US"/>
          </a:p>
          <a:p>
            <a:r>
              <a:rPr lang="en-US"/>
              <a:t>Try it yourself. Trace on paper first, then run.</a:t>
            </a:r>
          </a:p>
          <a:p>
            <a:endParaRPr lang="en-US"/>
          </a:p>
          <a:p>
            <a:r>
              <a:rPr lang="en-US"/>
              <a:t>- Change the condition to x &lt;= 8. (Now there is a fourth round. The screen shows x=10 y=20.)</a:t>
            </a:r>
          </a:p>
          <a:p>
            <a:r>
              <a:rPr lang="en-US"/>
              <a:t>- Put the condition back to x &lt; 8. Start with x = 1 and change the update to x += 3. (Rounds: y is 1, 5, 12 and x is 4, 7, 10. The screen shows x=10 y=12.)</a:t>
            </a:r>
          </a:p>
        </p:txBody>
      </p:sp>
      <p:sp>
        <p:nvSpPr>
          <p:cNvPr id="4" name="Slide Number Placeholder 3"/>
          <p:cNvSpPr>
            <a:spLocks noGrp="1"/>
          </p:cNvSpPr>
          <p:nvPr>
            <p:ph type="sldNum" sz="quarter" idx="5"/>
          </p:nvPr>
        </p:nvSpPr>
        <p:spPr/>
        <p:txBody>
          <a:bodyPr/>
          <a:lstStyle/>
          <a:p>
            <a:fld id="{238606F9-C3FD-4AD4-9046-7042475E2336}" type="slidenum">
              <a:rPr lang="en-US" smtClean="0"/>
              <a:t>82</a:t>
            </a:fld>
            <a:endParaRPr lang="en-US"/>
          </a:p>
        </p:txBody>
      </p:sp>
    </p:spTree>
    <p:extLst>
      <p:ext uri="{BB962C8B-B14F-4D97-AF65-F5344CB8AC3E}">
        <p14:creationId xmlns:p14="http://schemas.microsoft.com/office/powerpoint/2010/main" val="35376090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30_trace_halving.c. n is cut in half again and again. Remember: int divided by int throws the decimals away, so 5 / 2 is 2. Trace it on paper with a table. Then run the file to check your answer.</a:t>
            </a:r>
          </a:p>
        </p:txBody>
      </p:sp>
      <p:sp>
        <p:nvSpPr>
          <p:cNvPr id="4" name="Slide Number Placeholder 3"/>
          <p:cNvSpPr>
            <a:spLocks noGrp="1"/>
          </p:cNvSpPr>
          <p:nvPr>
            <p:ph type="sldNum" sz="quarter" idx="5"/>
          </p:nvPr>
        </p:nvSpPr>
        <p:spPr/>
        <p:txBody>
          <a:bodyPr/>
          <a:lstStyle/>
          <a:p>
            <a:fld id="{238606F9-C3FD-4AD4-9046-7042475E2336}" type="slidenum">
              <a:rPr lang="en-US" smtClean="0"/>
              <a:t>83</a:t>
            </a:fld>
            <a:endParaRPr lang="en-US"/>
          </a:p>
        </p:txBody>
      </p:sp>
    </p:spTree>
    <p:extLst>
      <p:ext uri="{BB962C8B-B14F-4D97-AF65-F5344CB8AC3E}">
        <p14:creationId xmlns:p14="http://schemas.microsoft.com/office/powerpoint/2010/main" val="8273658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9: now you write.</a:t>
            </a:r>
          </a:p>
        </p:txBody>
      </p:sp>
      <p:sp>
        <p:nvSpPr>
          <p:cNvPr id="4" name="Slide Number Placeholder 3"/>
          <p:cNvSpPr>
            <a:spLocks noGrp="1"/>
          </p:cNvSpPr>
          <p:nvPr>
            <p:ph type="sldNum" sz="quarter" idx="5"/>
          </p:nvPr>
        </p:nvSpPr>
        <p:spPr/>
        <p:txBody>
          <a:bodyPr/>
          <a:lstStyle/>
          <a:p>
            <a:fld id="{238606F9-C3FD-4AD4-9046-7042475E2336}" type="slidenum">
              <a:rPr lang="en-US" smtClean="0"/>
              <a:t>84</a:t>
            </a:fld>
            <a:endParaRPr lang="en-US"/>
          </a:p>
        </p:txBody>
      </p:sp>
    </p:spTree>
    <p:extLst>
      <p:ext uri="{BB962C8B-B14F-4D97-AF65-F5344CB8AC3E}">
        <p14:creationId xmlns:p14="http://schemas.microsoft.com/office/powerpoint/2010/main" val="280575142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small programs. Tasks 2 and 5 were written in class. Tasks 1, 3, 4 and 6 are for the weekend. Before you type, write in plain words: what goes in, what comes out, where the loop starts, when it stops, and what the update is.</a:t>
            </a:r>
          </a:p>
          <a:p>
            <a:endParaRPr lang="en-US"/>
          </a:p>
          <a:p>
            <a:r>
              <a:rPr lang="en-US"/>
              <a:t>Task 1. Print the numbers from 1 to n. Example run: you type 5, the screen shows 1 2 3 4 5. Hint: read n with scanf. Then for, starting at 1, with i &lt;= n.</a:t>
            </a:r>
          </a:p>
          <a:p>
            <a:endParaRPr lang="en-US"/>
          </a:p>
          <a:p>
            <a:r>
              <a:rPr lang="en-US"/>
              <a:t>Task 3. Read n values and print their sum. Example run: you type 3, Enter, then 5 -2 8, Enter. The screen shows Sum = 11. You type 4, then 10 20 30 5, it shows Sum = 65. Hint: read n. Loop n times. Each round, read one value and do sum += value;. sum starts at 0, before the loop.</a:t>
            </a:r>
          </a:p>
          <a:p>
            <a:endParaRPr lang="en-US"/>
          </a:p>
          <a:p>
            <a:r>
              <a:rPr lang="en-US"/>
              <a:t>Task 4. Read n values and count the positive ones. Example run: you type 3, then 5 -2 8. The screen shows Positive values: 2. Hint: this is slide 26. Close the slides and write it from memory. Then compare.</a:t>
            </a:r>
          </a:p>
          <a:p>
            <a:endParaRPr lang="en-US"/>
          </a:p>
          <a:p>
            <a:r>
              <a:rPr lang="en-US"/>
              <a:t>Task 6. Print a multiplication table for one number. Example run: you type 3, the screen shows ten lines, from 3 x 1 = 3 to 3 x 10 = 30. Hint: this is slide 58. Close the slides and write it from memory.</a:t>
            </a:r>
          </a:p>
          <a:p>
            <a:endParaRPr lang="en-US"/>
          </a:p>
          <a:p>
            <a:r>
              <a:rPr lang="en-US"/>
              <a:t>Before you say a program is done: it compiles with -Wall and no warnings. You tested it with at least two inputs. For a loop, also test the edges: the smallest n that makes sense, and the last value (is 10 printed when you type 10?). The code is indented.</a:t>
            </a:r>
          </a:p>
        </p:txBody>
      </p:sp>
      <p:sp>
        <p:nvSpPr>
          <p:cNvPr id="4" name="Slide Number Placeholder 3"/>
          <p:cNvSpPr>
            <a:spLocks noGrp="1"/>
          </p:cNvSpPr>
          <p:nvPr>
            <p:ph type="sldNum" sz="quarter" idx="5"/>
          </p:nvPr>
        </p:nvSpPr>
        <p:spPr/>
        <p:txBody>
          <a:bodyPr/>
          <a:lstStyle/>
          <a:p>
            <a:fld id="{238606F9-C3FD-4AD4-9046-7042475E2336}" type="slidenum">
              <a:rPr lang="en-US" smtClean="0"/>
              <a:t>85</a:t>
            </a:fld>
            <a:endParaRPr lang="en-US"/>
          </a:p>
        </p:txBody>
      </p:sp>
    </p:spTree>
    <p:extLst>
      <p:ext uri="{BB962C8B-B14F-4D97-AF65-F5344CB8AC3E}">
        <p14:creationId xmlns:p14="http://schemas.microsoft.com/office/powerpoint/2010/main" val="39985149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n. Print the even numbers from 2 to n. You type 10, the screen shows 2 4 6 8 10. You type 9, it shows 2 4 6 8.</a:t>
            </a:r>
          </a:p>
        </p:txBody>
      </p:sp>
      <p:sp>
        <p:nvSpPr>
          <p:cNvPr id="4" name="Slide Number Placeholder 3"/>
          <p:cNvSpPr>
            <a:spLocks noGrp="1"/>
          </p:cNvSpPr>
          <p:nvPr>
            <p:ph type="sldNum" sz="quarter" idx="5"/>
          </p:nvPr>
        </p:nvSpPr>
        <p:spPr/>
        <p:txBody>
          <a:bodyPr/>
          <a:lstStyle/>
          <a:p>
            <a:fld id="{238606F9-C3FD-4AD4-9046-7042475E2336}" type="slidenum">
              <a:rPr lang="en-US" smtClean="0"/>
              <a:t>86</a:t>
            </a:fld>
            <a:endParaRPr lang="en-US"/>
          </a:p>
        </p:txBody>
      </p:sp>
    </p:spTree>
    <p:extLst>
      <p:ext uri="{BB962C8B-B14F-4D97-AF65-F5344CB8AC3E}">
        <p14:creationId xmlns:p14="http://schemas.microsoft.com/office/powerpoint/2010/main" val="48944764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way (file 31_evens_step.c): start at 2 and jump by two. i += 2 adds 2 after every round.</a:t>
            </a:r>
          </a:p>
          <a:p>
            <a:endParaRPr lang="en-US"/>
          </a:p>
          <a:p>
            <a:r>
              <a:rPr lang="en-US"/>
              <a:t>The second way (file 32_evens_if.c): visit every number from 1 to n, and print it only if it is even. i % 2 == 0 means "the remainder after dividing by 2 is 0", so i is even.</a:t>
            </a:r>
          </a:p>
          <a:p>
            <a:endParaRPr lang="en-US"/>
          </a:p>
          <a:p>
            <a:r>
              <a:rPr lang="en-US"/>
              <a:t>Both are correct.</a:t>
            </a:r>
          </a:p>
        </p:txBody>
      </p:sp>
      <p:sp>
        <p:nvSpPr>
          <p:cNvPr id="4" name="Slide Number Placeholder 3"/>
          <p:cNvSpPr>
            <a:spLocks noGrp="1"/>
          </p:cNvSpPr>
          <p:nvPr>
            <p:ph type="sldNum" sz="quarter" idx="5"/>
          </p:nvPr>
        </p:nvSpPr>
        <p:spPr/>
        <p:txBody>
          <a:bodyPr/>
          <a:lstStyle/>
          <a:p>
            <a:fld id="{238606F9-C3FD-4AD4-9046-7042475E2336}" type="slidenum">
              <a:rPr lang="en-US" smtClean="0"/>
              <a:t>87</a:t>
            </a:fld>
            <a:endParaRPr lang="en-US"/>
          </a:p>
        </p:txBody>
      </p:sp>
    </p:spTree>
    <p:extLst>
      <p:ext uri="{BB962C8B-B14F-4D97-AF65-F5344CB8AC3E}">
        <p14:creationId xmlns:p14="http://schemas.microsoft.com/office/powerpoint/2010/main" val="71513852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asking for a password until it is correct. You cannot read words yet, so the password is a whole number, a PIN: 1234. The box on the slide shows what the screen should look like when you type 1111, then 4321, then 1234.</a:t>
            </a:r>
          </a:p>
        </p:txBody>
      </p:sp>
      <p:sp>
        <p:nvSpPr>
          <p:cNvPr id="4" name="Slide Number Placeholder 3"/>
          <p:cNvSpPr>
            <a:spLocks noGrp="1"/>
          </p:cNvSpPr>
          <p:nvPr>
            <p:ph type="sldNum" sz="quarter" idx="5"/>
          </p:nvPr>
        </p:nvSpPr>
        <p:spPr/>
        <p:txBody>
          <a:bodyPr/>
          <a:lstStyle/>
          <a:p>
            <a:fld id="{238606F9-C3FD-4AD4-9046-7042475E2336}" type="slidenum">
              <a:rPr lang="en-US" smtClean="0"/>
              <a:t>88</a:t>
            </a:fld>
            <a:endParaRPr lang="en-US"/>
          </a:p>
        </p:txBody>
      </p:sp>
    </p:spTree>
    <p:extLst>
      <p:ext uri="{BB962C8B-B14F-4D97-AF65-F5344CB8AC3E}">
        <p14:creationId xmlns:p14="http://schemas.microsoft.com/office/powerpoint/2010/main" val="385869032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12_pin.c. It is the age check with a different condition. pin != 1234 means "the PIN is not 1234". That is the bad input, so the loop goes on while it is true.</a:t>
            </a:r>
          </a:p>
          <a:p>
            <a:endParaRPr lang="en-US"/>
          </a:p>
          <a:p>
            <a:r>
              <a:rPr lang="en-US"/>
              <a:t>If that was easy: give the user only three tries. Try it yourself first. Then look at 13_pin_three_tries.c.</a:t>
            </a:r>
          </a:p>
        </p:txBody>
      </p:sp>
      <p:sp>
        <p:nvSpPr>
          <p:cNvPr id="4" name="Slide Number Placeholder 3"/>
          <p:cNvSpPr>
            <a:spLocks noGrp="1"/>
          </p:cNvSpPr>
          <p:nvPr>
            <p:ph type="sldNum" sz="quarter" idx="5"/>
          </p:nvPr>
        </p:nvSpPr>
        <p:spPr/>
        <p:txBody>
          <a:bodyPr/>
          <a:lstStyle/>
          <a:p>
            <a:fld id="{238606F9-C3FD-4AD4-9046-7042475E2336}" type="slidenum">
              <a:rPr lang="en-US" smtClean="0"/>
              <a:t>89</a:t>
            </a:fld>
            <a:endParaRPr lang="en-US"/>
          </a:p>
        </p:txBody>
      </p:sp>
    </p:spTree>
    <p:extLst>
      <p:ext uri="{BB962C8B-B14F-4D97-AF65-F5344CB8AC3E}">
        <p14:creationId xmlns:p14="http://schemas.microsoft.com/office/powerpoint/2010/main" val="142274160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it on paper first.</a:t>
            </a:r>
          </a:p>
          <a:p>
            <a:endParaRPr lang="en-US"/>
          </a:p>
          <a:p>
            <a:r>
              <a:rPr lang="en-US"/>
              <a:t>1 2 3. Round 1: 1 &lt;= 3 true, print 1, i is 2. Round 2: print 2, i is 3. Round 3: 3 &lt;= 3 true, print 3, i is 4. Then 4 &lt;= 3 is false. The loop ends.</a:t>
            </a:r>
          </a:p>
        </p:txBody>
      </p:sp>
      <p:sp>
        <p:nvSpPr>
          <p:cNvPr id="4" name="Slide Number Placeholder 3"/>
          <p:cNvSpPr>
            <a:spLocks noGrp="1"/>
          </p:cNvSpPr>
          <p:nvPr>
            <p:ph type="sldNum" sz="quarter" idx="5"/>
          </p:nvPr>
        </p:nvSpPr>
        <p:spPr/>
        <p:txBody>
          <a:bodyPr/>
          <a:lstStyle/>
          <a:p>
            <a:fld id="{238606F9-C3FD-4AD4-9046-7042475E2336}" type="slidenum">
              <a:rPr lang="en-US" smtClean="0"/>
              <a:t>90</a:t>
            </a:fld>
            <a:endParaRPr lang="en-US"/>
          </a:p>
        </p:txBody>
      </p:sp>
    </p:spTree>
    <p:extLst>
      <p:ext uri="{BB962C8B-B14F-4D97-AF65-F5344CB8AC3E}">
        <p14:creationId xmlns:p14="http://schemas.microsoft.com/office/powerpoint/2010/main" val="216436380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it on paper first. Then look at the next slide.</a:t>
            </a:r>
          </a:p>
        </p:txBody>
      </p:sp>
      <p:sp>
        <p:nvSpPr>
          <p:cNvPr id="4" name="Slide Number Placeholder 3"/>
          <p:cNvSpPr>
            <a:spLocks noGrp="1"/>
          </p:cNvSpPr>
          <p:nvPr>
            <p:ph type="sldNum" sz="quarter" idx="5"/>
          </p:nvPr>
        </p:nvSpPr>
        <p:spPr/>
        <p:txBody>
          <a:bodyPr/>
          <a:lstStyle/>
          <a:p>
            <a:fld id="{238606F9-C3FD-4AD4-9046-7042475E2336}" type="slidenum">
              <a:rPr lang="en-US" smtClean="0"/>
              <a:t>91</a:t>
            </a:fld>
            <a:endParaRPr lang="en-US"/>
          </a:p>
        </p:txBody>
      </p:sp>
    </p:spTree>
    <p:extLst>
      <p:ext uri="{BB962C8B-B14F-4D97-AF65-F5344CB8AC3E}">
        <p14:creationId xmlns:p14="http://schemas.microsoft.com/office/powerpoint/2010/main" val="405013422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 6. x++ means: use the old value first, then add one. So the first printf gets 5. After that, x is 6, and the second printf shows it. With ++x in the first line, the output would be 6 6.</a:t>
            </a:r>
          </a:p>
        </p:txBody>
      </p:sp>
      <p:sp>
        <p:nvSpPr>
          <p:cNvPr id="4" name="Slide Number Placeholder 3"/>
          <p:cNvSpPr>
            <a:spLocks noGrp="1"/>
          </p:cNvSpPr>
          <p:nvPr>
            <p:ph type="sldNum" sz="quarter" idx="5"/>
          </p:nvPr>
        </p:nvSpPr>
        <p:spPr/>
        <p:txBody>
          <a:bodyPr/>
          <a:lstStyle/>
          <a:p>
            <a:fld id="{238606F9-C3FD-4AD4-9046-7042475E2336}" type="slidenum">
              <a:rPr lang="en-US" smtClean="0"/>
              <a:t>92</a:t>
            </a:fld>
            <a:endParaRPr lang="en-US"/>
          </a:p>
        </p:txBody>
      </p:sp>
    </p:spTree>
    <p:extLst>
      <p:ext uri="{BB962C8B-B14F-4D97-AF65-F5344CB8AC3E}">
        <p14:creationId xmlns:p14="http://schemas.microsoft.com/office/powerpoint/2010/main" val="205705391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The rounds: 0 + 1 = 1, 1 + 2 = 3, 3 + 3 = 6, 6 + 4 = 10. If the line were p *= i with p starting at 1, the answer would be 24.</a:t>
            </a:r>
          </a:p>
          <a:p>
            <a:endParaRPr lang="en-US"/>
          </a:p>
          <a:p>
            <a:r>
              <a:rPr lang="en-US"/>
              <a:t>Why show the trace? If your final number is wrong but your table is right up to the last row, the table earns marks. A bare wrong number earns nothing.</a:t>
            </a:r>
          </a:p>
          <a:p>
            <a:endParaRPr lang="en-US"/>
          </a:p>
          <a:p>
            <a:r>
              <a:rPr lang="en-US"/>
              <a:t>The three questions are one program in the file 33_quiz_style.c. Run it to check.</a:t>
            </a:r>
          </a:p>
        </p:txBody>
      </p:sp>
      <p:sp>
        <p:nvSpPr>
          <p:cNvPr id="4" name="Slide Number Placeholder 3"/>
          <p:cNvSpPr>
            <a:spLocks noGrp="1"/>
          </p:cNvSpPr>
          <p:nvPr>
            <p:ph type="sldNum" sz="quarter" idx="5"/>
          </p:nvPr>
        </p:nvSpPr>
        <p:spPr/>
        <p:txBody>
          <a:bodyPr/>
          <a:lstStyle/>
          <a:p>
            <a:fld id="{238606F9-C3FD-4AD4-9046-7042475E2336}" type="slidenum">
              <a:rPr lang="en-US" smtClean="0"/>
              <a:t>93</a:t>
            </a:fld>
            <a:endParaRPr lang="en-US"/>
          </a:p>
        </p:txBody>
      </p:sp>
    </p:spTree>
    <p:extLst>
      <p:ext uri="{BB962C8B-B14F-4D97-AF65-F5344CB8AC3E}">
        <p14:creationId xmlns:p14="http://schemas.microsoft.com/office/powerpoint/2010/main" val="57608865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this week you can:</a:t>
            </a:r>
          </a:p>
          <a:p>
            <a:endParaRPr lang="en-US"/>
          </a:p>
          <a:p>
            <a:r>
              <a:rPr lang="en-US"/>
              <a:t>- Write a while loop and a for loop, and choose between them: for when you know how many rounds, while when you do not.</a:t>
            </a:r>
          </a:p>
          <a:p>
            <a:r>
              <a:rPr lang="en-US"/>
              <a:t>- Use ++, --, +=, -=, *= to update a variable.</a:t>
            </a:r>
          </a:p>
          <a:p>
            <a:r>
              <a:rPr lang="en-US"/>
              <a:t>- Keep a running total (start at 0, +=) or a running product (start at 1, *=), set up before the loop.</a:t>
            </a:r>
          </a:p>
          <a:p>
            <a:r>
              <a:rPr lang="en-US"/>
              <a:t>- Count how often something happens, with an if inside the loop.</a:t>
            </a:r>
          </a:p>
          <a:p>
            <a:r>
              <a:rPr lang="en-US"/>
              <a:t>- Keep asking until the input is good.</a:t>
            </a:r>
          </a:p>
          <a:p>
            <a:r>
              <a:rPr lang="en-US"/>
              <a:t>- Choose &lt; or &lt;= on purpose, by checking the first and the last value.</a:t>
            </a:r>
          </a:p>
          <a:p>
            <a:r>
              <a:rPr lang="en-US"/>
              <a:t>- Say what break and continue do.</a:t>
            </a:r>
          </a:p>
          <a:p>
            <a:r>
              <a:rPr lang="en-US"/>
              <a:t>- Trace a loop with a table, one row per round.</a:t>
            </a:r>
          </a:p>
        </p:txBody>
      </p:sp>
      <p:sp>
        <p:nvSpPr>
          <p:cNvPr id="4" name="Slide Number Placeholder 3"/>
          <p:cNvSpPr>
            <a:spLocks noGrp="1"/>
          </p:cNvSpPr>
          <p:nvPr>
            <p:ph type="sldNum" sz="quarter" idx="5"/>
          </p:nvPr>
        </p:nvSpPr>
        <p:spPr/>
        <p:txBody>
          <a:bodyPr/>
          <a:lstStyle/>
          <a:p>
            <a:fld id="{238606F9-C3FD-4AD4-9046-7042475E2336}" type="slidenum">
              <a:rPr lang="en-US" smtClean="0"/>
              <a:t>94</a:t>
            </a:fld>
            <a:endParaRPr lang="en-US"/>
          </a:p>
        </p:txBody>
      </p:sp>
    </p:spTree>
    <p:extLst>
      <p:ext uri="{BB962C8B-B14F-4D97-AF65-F5344CB8AC3E}">
        <p14:creationId xmlns:p14="http://schemas.microsoft.com/office/powerpoint/2010/main" val="179127842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Where does it start? When does it stop? What changes each time? What should be printed or stored?</a:t>
            </a:r>
          </a:p>
        </p:txBody>
      </p:sp>
      <p:sp>
        <p:nvSpPr>
          <p:cNvPr id="4" name="Slide Number Placeholder 3"/>
          <p:cNvSpPr>
            <a:spLocks noGrp="1"/>
          </p:cNvSpPr>
          <p:nvPr>
            <p:ph type="sldNum" sz="quarter" idx="5"/>
          </p:nvPr>
        </p:nvSpPr>
        <p:spPr/>
        <p:txBody>
          <a:bodyPr/>
          <a:lstStyle/>
          <a:p>
            <a:fld id="{238606F9-C3FD-4AD4-9046-7042475E2336}" type="slidenum">
              <a:rPr lang="en-US" smtClean="0"/>
              <a:t>95</a:t>
            </a:fld>
            <a:endParaRPr lang="en-US"/>
          </a:p>
        </p:txBody>
      </p:sp>
    </p:spTree>
    <p:extLst>
      <p:ext uri="{BB962C8B-B14F-4D97-AF65-F5344CB8AC3E}">
        <p14:creationId xmlns:p14="http://schemas.microsoft.com/office/powerpoint/2010/main" val="60180399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Do Knowledge check 6 on Blackboard: this class's slides. Six questions, three attempts, best kept, worth 0%. Knowledge check 5 covers Tuesday's slides and is open too.</a:t>
            </a:r>
          </a:p>
          <a:p>
            <a:r>
              <a:rPr lang="en-US"/>
              <a:t>2. Write the four programs left on slide 85: Tasks 1, 3, 4 and 6. Bring them Tuesday, working or not.</a:t>
            </a:r>
          </a:p>
          <a:p>
            <a:r>
              <a:rPr lang="en-US"/>
              <a:t>3. Quiz 2 is on Friday 2 October, in the first 25 minutes of class, on paper, no laptop. It covers data types, conditionals and loops: classes 3 to 6. Same shape as Quiz 1: read a program and say what it prints, then write one. Practise tracing with a pen, like slide 78.</a:t>
            </a:r>
          </a:p>
          <a:p>
            <a:r>
              <a:rPr lang="en-US"/>
              <a:t>4. Play with the code. Blackboard, Week 3 module, Class 6 code. Every file has a Try list at the top. Do the changes and see what happens.</a:t>
            </a:r>
          </a:p>
          <a:p>
            <a:endParaRPr lang="en-US"/>
          </a:p>
          <a:p>
            <a:r>
              <a:rPr lang="en-US"/>
              <a:t>Next week: functions. Giving a name to a piece of program, so you can use it again.</a:t>
            </a:r>
          </a:p>
        </p:txBody>
      </p:sp>
      <p:sp>
        <p:nvSpPr>
          <p:cNvPr id="4" name="Slide Number Placeholder 3"/>
          <p:cNvSpPr>
            <a:spLocks noGrp="1"/>
          </p:cNvSpPr>
          <p:nvPr>
            <p:ph type="sldNum" sz="quarter" idx="5"/>
          </p:nvPr>
        </p:nvSpPr>
        <p:spPr/>
        <p:txBody>
          <a:bodyPr/>
          <a:lstStyle/>
          <a:p>
            <a:fld id="{238606F9-C3FD-4AD4-9046-7042475E2336}" type="slidenum">
              <a:rPr lang="en-US" smtClean="0"/>
              <a:t>96</a:t>
            </a:fld>
            <a:endParaRPr lang="en-US"/>
          </a:p>
        </p:txBody>
      </p:sp>
    </p:spTree>
    <p:extLst>
      <p:ext uri="{BB962C8B-B14F-4D97-AF65-F5344CB8AC3E}">
        <p14:creationId xmlns:p14="http://schemas.microsoft.com/office/powerpoint/2010/main" val="2756090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822960"/>
            <a:ext cx="10058400" cy="365760"/>
          </a:xfrm>
          <a:prstGeom prst="rect">
            <a:avLst/>
          </a:prstGeom>
          <a:noFill/>
          <a:ln>
            <a:noFill/>
          </a:ln>
        </p:spPr>
        <p:txBody>
          <a:bodyPr wrap="square" lIns="0" tIns="0" rIns="0" bIns="0" rtlCol="0" anchor="t"/>
          <a:lstStyle/>
          <a:p>
            <a:pPr marL="0" indent="0" algn="l">
              <a:buNone/>
            </a:pPr>
            <a:r>
              <a:rPr lang="en-US" sz="1600" b="1" dirty="0">
                <a:solidFill>
                  <a:srgbClr val="31C48D"/>
                </a:solidFill>
              </a:rPr>
              <a:t>Programming Principles I</a:t>
            </a:r>
            <a:endParaRPr lang="en-US" sz="1600" dirty="0"/>
          </a:p>
        </p:txBody>
      </p:sp>
      <p:sp>
        <p:nvSpPr>
          <p:cNvPr id="3" name="Shape 3"/>
          <p:cNvSpPr/>
          <p:nvPr/>
        </p:nvSpPr>
        <p:spPr>
          <a:xfrm>
            <a:off x="731520" y="1554480"/>
            <a:ext cx="10515600" cy="548640"/>
          </a:xfrm>
          <a:prstGeom prst="rect">
            <a:avLst/>
          </a:prstGeom>
          <a:noFill/>
          <a:ln>
            <a:noFill/>
          </a:ln>
        </p:spPr>
        <p:txBody>
          <a:bodyPr wrap="square" lIns="0" tIns="0" rIns="0" bIns="0" rtlCol="0" anchor="t"/>
          <a:lstStyle/>
          <a:p>
            <a:pPr marL="0" indent="0" algn="l">
              <a:buNone/>
            </a:pPr>
            <a:r>
              <a:rPr lang="en-US" sz="2600" b="1" dirty="0">
                <a:solidFill>
                  <a:srgbClr val="FFFFFF"/>
                </a:solidFill>
              </a:rPr>
              <a:t>Week 3 · Class 6</a:t>
            </a:r>
            <a:endParaRPr lang="en-US" sz="2600" dirty="0"/>
          </a:p>
        </p:txBody>
      </p:sp>
      <p:sp>
        <p:nvSpPr>
          <p:cNvPr id="4" name="Shape 4"/>
          <p:cNvSpPr/>
          <p:nvPr/>
        </p:nvSpPr>
        <p:spPr>
          <a:xfrm>
            <a:off x="731520" y="2194560"/>
            <a:ext cx="10789920" cy="1005840"/>
          </a:xfrm>
          <a:prstGeom prst="rect">
            <a:avLst/>
          </a:prstGeom>
          <a:noFill/>
          <a:ln>
            <a:noFill/>
          </a:ln>
        </p:spPr>
        <p:txBody>
          <a:bodyPr wrap="square" lIns="0" tIns="0" rIns="0" bIns="0" rtlCol="0" anchor="ctr"/>
          <a:lstStyle/>
          <a:p>
            <a:pPr marL="0" indent="0" algn="l">
              <a:buNone/>
            </a:pPr>
            <a:r>
              <a:rPr lang="en-US" sz="4800" b="1" dirty="0">
                <a:solidFill>
                  <a:srgbClr val="FFFFFF"/>
                </a:solidFill>
              </a:rPr>
              <a:t>Loop patterns in C</a:t>
            </a:r>
            <a:endParaRPr lang="en-US" sz="4800" dirty="0"/>
          </a:p>
        </p:txBody>
      </p:sp>
      <p:sp>
        <p:nvSpPr>
          <p:cNvPr id="5" name="Shape 5"/>
          <p:cNvSpPr/>
          <p:nvPr/>
        </p:nvSpPr>
        <p:spPr>
          <a:xfrm>
            <a:off x="731520" y="3291840"/>
            <a:ext cx="10515600" cy="548640"/>
          </a:xfrm>
          <a:prstGeom prst="rect">
            <a:avLst/>
          </a:prstGeom>
          <a:noFill/>
          <a:ln>
            <a:noFill/>
          </a:ln>
        </p:spPr>
        <p:txBody>
          <a:bodyPr wrap="square" lIns="0" tIns="0" rIns="0" bIns="0" rtlCol="0" anchor="t"/>
          <a:lstStyle/>
          <a:p>
            <a:pPr marL="0" indent="0" algn="l">
              <a:buNone/>
            </a:pPr>
            <a:r>
              <a:rPr lang="en-US" sz="2200" dirty="0">
                <a:solidFill>
                  <a:srgbClr val="D7E3F0"/>
                </a:solidFill>
              </a:rPr>
              <a:t>Totals and counters · checking input · break and continue · tracing</a:t>
            </a:r>
            <a:endParaRPr lang="en-US" sz="2200" dirty="0"/>
          </a:p>
        </p:txBody>
      </p:sp>
      <p:sp>
        <p:nvSpPr>
          <p:cNvPr id="6" name="Shape 6"/>
          <p:cNvSpPr/>
          <p:nvPr/>
        </p:nvSpPr>
        <p:spPr>
          <a:xfrm>
            <a:off x="731520" y="4114800"/>
            <a:ext cx="7863840" cy="16992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731520" y="4114800"/>
            <a:ext cx="7863840" cy="16992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for (int i = 1; i &lt;= 5; i++) {</a:t>
            </a:r>
            <a:endParaRPr lang="en-US" sz="2800" dirty="0"/>
          </a:p>
          <a:p>
            <a:pPr marL="0" indent="0" algn="l">
              <a:lnSpc>
                <a:spcPts val="3500"/>
              </a:lnSpc>
              <a:buNone/>
            </a:pPr>
            <a:r>
              <a:rPr lang="en-US" sz="2800" dirty="0">
                <a:solidFill>
                  <a:srgbClr val="E5E7EB"/>
                </a:solidFill>
                <a:latin typeface="Consolas"/>
                <a:ea typeface="Consolas"/>
                <a:cs typeface="Consolas"/>
              </a:rPr>
              <a:t>    sum += i;</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
        <p:nvSpPr>
          <p:cNvPr id="8" name="Shape 8"/>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ADA University · Fall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What Tuesday gave us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Four parts: </a:t>
            </a:r>
            <a:r>
              <a:rPr lang="en-US" sz="2800" b="1" dirty="0">
                <a:solidFill>
                  <a:srgbClr val="18324A"/>
                </a:solidFill>
              </a:rPr>
              <a:t>start</a:t>
            </a:r>
            <a:r>
              <a:rPr lang="en-US" sz="2800" dirty="0">
                <a:solidFill>
                  <a:srgbClr val="18324A"/>
                </a:solidFill>
              </a:rPr>
              <a:t>, </a:t>
            </a:r>
            <a:r>
              <a:rPr lang="en-US" sz="2800" b="1" dirty="0">
                <a:solidFill>
                  <a:srgbClr val="18324A"/>
                </a:solidFill>
              </a:rPr>
              <a:t>check</a:t>
            </a:r>
            <a:r>
              <a:rPr lang="en-US" sz="2800" dirty="0">
                <a:solidFill>
                  <a:srgbClr val="18324A"/>
                </a:solidFill>
              </a:rPr>
              <a:t>, </a:t>
            </a:r>
            <a:r>
              <a:rPr lang="en-US" sz="2800" b="1" dirty="0">
                <a:solidFill>
                  <a:srgbClr val="18324A"/>
                </a:solidFill>
              </a:rPr>
              <a:t>body</a:t>
            </a:r>
            <a:r>
              <a:rPr lang="en-US" sz="2800" dirty="0">
                <a:solidFill>
                  <a:srgbClr val="18324A"/>
                </a:solidFill>
              </a:rPr>
              <a:t>, </a:t>
            </a:r>
            <a:r>
              <a:rPr lang="en-US" sz="2800" b="1" dirty="0">
                <a:solidFill>
                  <a:srgbClr val="18324A"/>
                </a:solidFill>
              </a:rPr>
              <a:t>update</a:t>
            </a:r>
            <a:endParaRPr lang="en-US" sz="2800" dirty="0"/>
          </a:p>
        </p:txBody>
      </p:sp>
      <p:sp>
        <p:nvSpPr>
          <p:cNvPr id="8" name="Shape 8"/>
          <p:cNvSpPr/>
          <p:nvPr/>
        </p:nvSpPr>
        <p:spPr>
          <a:xfrm>
            <a:off x="731520" y="2141220"/>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141220"/>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while (count &lt;= 3) { ... }</a:t>
            </a:r>
            <a:r>
              <a:rPr lang="en-US" sz="2800" dirty="0">
                <a:solidFill>
                  <a:srgbClr val="18324A"/>
                </a:solidFill>
              </a:rPr>
              <a:t> repeats while the check is true</a:t>
            </a:r>
            <a:endParaRPr lang="en-US" sz="2800" dirty="0"/>
          </a:p>
        </p:txBody>
      </p:sp>
      <p:sp>
        <p:nvSpPr>
          <p:cNvPr id="10" name="Shape 10"/>
          <p:cNvSpPr/>
          <p:nvPr/>
        </p:nvSpPr>
        <p:spPr>
          <a:xfrm>
            <a:off x="731520" y="2974848"/>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2974848"/>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for (int i = 1; i &lt;= 5; i++)</a:t>
            </a:r>
            <a:r>
              <a:rPr lang="en-US" sz="2800" dirty="0">
                <a:solidFill>
                  <a:srgbClr val="18324A"/>
                </a:solidFill>
              </a:rPr>
              <a:t> makes </a:t>
            </a:r>
            <a:r>
              <a:rPr lang="en-US" sz="2800" dirty="0">
                <a:solidFill>
                  <a:srgbClr val="2F80ED"/>
                </a:solidFill>
                <a:latin typeface="Consolas"/>
                <a:ea typeface="Consolas"/>
                <a:cs typeface="Consolas"/>
              </a:rPr>
              <a:t>i</a:t>
            </a:r>
            <a:r>
              <a:rPr lang="en-US" sz="2800" dirty="0">
                <a:solidFill>
                  <a:srgbClr val="18324A"/>
                </a:solidFill>
              </a:rPr>
              <a:t> go 1, 2, 3, 4, 5</a:t>
            </a:r>
            <a:endParaRPr lang="en-US" sz="2800" dirty="0"/>
          </a:p>
        </p:txBody>
      </p:sp>
      <p:sp>
        <p:nvSpPr>
          <p:cNvPr id="12" name="Shape 12"/>
          <p:cNvSpPr/>
          <p:nvPr/>
        </p:nvSpPr>
        <p:spPr>
          <a:xfrm>
            <a:off x="731520" y="3808476"/>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3808476"/>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i++</a:t>
            </a:r>
            <a:r>
              <a:rPr lang="en-US" sz="2800" dirty="0">
                <a:solidFill>
                  <a:srgbClr val="18324A"/>
                </a:solidFill>
              </a:rPr>
              <a:t> means </a:t>
            </a:r>
            <a:r>
              <a:rPr lang="en-US" sz="2800" dirty="0">
                <a:solidFill>
                  <a:srgbClr val="2F80ED"/>
                </a:solidFill>
                <a:latin typeface="Consolas"/>
                <a:ea typeface="Consolas"/>
                <a:cs typeface="Consolas"/>
              </a:rPr>
              <a:t>i = i + 1</a:t>
            </a:r>
            <a:endParaRPr lang="en-US" sz="2800" dirty="0"/>
          </a:p>
        </p:txBody>
      </p:sp>
      <p:sp>
        <p:nvSpPr>
          <p:cNvPr id="14" name="Shape 14"/>
          <p:cNvSpPr/>
          <p:nvPr/>
        </p:nvSpPr>
        <p:spPr>
          <a:xfrm>
            <a:off x="731520" y="4642104"/>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642104"/>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sum += i</a:t>
            </a:r>
            <a:r>
              <a:rPr lang="en-US" sz="2800" dirty="0">
                <a:solidFill>
                  <a:srgbClr val="18324A"/>
                </a:solidFill>
              </a:rPr>
              <a:t> means </a:t>
            </a:r>
            <a:r>
              <a:rPr lang="en-US" sz="2800" dirty="0">
                <a:solidFill>
                  <a:srgbClr val="2F80ED"/>
                </a:solidFill>
                <a:latin typeface="Consolas"/>
                <a:ea typeface="Consolas"/>
                <a:cs typeface="Consolas"/>
              </a:rPr>
              <a:t>sum = sum + i</a:t>
            </a:r>
            <a:endParaRPr lang="en-US" sz="2800" dirty="0"/>
          </a:p>
        </p:txBody>
      </p:sp>
      <p:sp>
        <p:nvSpPr>
          <p:cNvPr id="16" name="Shape 16"/>
          <p:cNvSpPr/>
          <p:nvPr/>
        </p:nvSpPr>
        <p:spPr>
          <a:xfrm>
            <a:off x="731520" y="5475732"/>
            <a:ext cx="640080" cy="640080"/>
          </a:xfrm>
          <a:prstGeom prst="rect">
            <a:avLst/>
          </a:prstGeom>
          <a:solidFill>
            <a:srgbClr val="06B6D4"/>
          </a:solidFill>
          <a:ln>
            <a:noFill/>
          </a:ln>
        </p:spPr>
        <p:txBody>
          <a:bodyPr wrap="square" lIns="0" tIns="0" rIns="0" bIns="0" rtlCol="0" anchor="ctr"/>
          <a:lstStyle/>
          <a:p>
            <a:pPr marL="0" indent="0" algn="ctr">
              <a:buNone/>
            </a:pPr>
            <a:r>
              <a:rPr lang="en-US" sz="2400" b="1" dirty="0">
                <a:solidFill>
                  <a:srgbClr val="FFFFFF"/>
                </a:solidFill>
              </a:rPr>
              <a:t>6</a:t>
            </a:r>
            <a:endParaRPr lang="en-US" sz="2400" dirty="0"/>
          </a:p>
        </p:txBody>
      </p:sp>
      <p:sp>
        <p:nvSpPr>
          <p:cNvPr id="17" name="Shape 17"/>
          <p:cNvSpPr/>
          <p:nvPr/>
        </p:nvSpPr>
        <p:spPr>
          <a:xfrm>
            <a:off x="1691640" y="547573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 loop that never stops: </a:t>
            </a:r>
            <a:r>
              <a:rPr lang="en-US" sz="2800" b="1" dirty="0">
                <a:solidFill>
                  <a:srgbClr val="18324A"/>
                </a:solidFill>
              </a:rPr>
              <a:t>Ctrl+C</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Recap: what is on the screen?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does this loop print?</a:t>
            </a:r>
            <a:endParaRPr lang="en-US" sz="3200" dirty="0"/>
          </a:p>
        </p:txBody>
      </p:sp>
      <p:sp>
        <p:nvSpPr>
          <p:cNvPr id="8" name="Shape 8"/>
          <p:cNvSpPr/>
          <p:nvPr/>
        </p:nvSpPr>
        <p:spPr>
          <a:xfrm>
            <a:off x="5760720" y="1261872"/>
            <a:ext cx="5882335" cy="160401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5; i &gt;= 1; i--) {</a:t>
            </a:r>
            <a:endParaRPr lang="en-US" sz="2600" dirty="0"/>
          </a:p>
          <a:p>
            <a:pPr marL="0" indent="0" algn="l">
              <a:lnSpc>
                <a:spcPts val="3250"/>
              </a:lnSpc>
              <a:buNone/>
            </a:pPr>
            <a:r>
              <a:rPr lang="en-US" sz="2600" dirty="0">
                <a:solidFill>
                  <a:srgbClr val="E5E7EB"/>
                </a:solidFill>
                <a:latin typeface="Consolas"/>
                <a:ea typeface="Consolas"/>
                <a:cs typeface="Consolas"/>
              </a:rPr>
              <a:t>    printf("%d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Recap: what is on the screen?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does this loop print?</a:t>
            </a:r>
            <a:endParaRPr lang="en-US" sz="3200" dirty="0"/>
          </a:p>
        </p:txBody>
      </p:sp>
      <p:sp>
        <p:nvSpPr>
          <p:cNvPr id="8" name="Shape 8"/>
          <p:cNvSpPr/>
          <p:nvPr/>
        </p:nvSpPr>
        <p:spPr>
          <a:xfrm>
            <a:off x="5760720" y="1261872"/>
            <a:ext cx="5882335" cy="160401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5; i &gt;= 1; i--) {</a:t>
            </a:r>
            <a:endParaRPr lang="en-US" sz="2600" dirty="0"/>
          </a:p>
          <a:p>
            <a:pPr marL="0" indent="0" algn="l">
              <a:lnSpc>
                <a:spcPts val="3250"/>
              </a:lnSpc>
              <a:buNone/>
            </a:pPr>
            <a:r>
              <a:rPr lang="en-US" sz="2600" dirty="0">
                <a:solidFill>
                  <a:srgbClr val="E5E7EB"/>
                </a:solidFill>
                <a:latin typeface="Consolas"/>
                <a:ea typeface="Consolas"/>
                <a:cs typeface="Consolas"/>
              </a:rPr>
              <a:t>    printf("%d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
        <p:nvSpPr>
          <p:cNvPr id="10" name="Shape 10"/>
          <p:cNvSpPr/>
          <p:nvPr/>
        </p:nvSpPr>
        <p:spPr>
          <a:xfrm>
            <a:off x="548640" y="5044440"/>
            <a:ext cx="4937760" cy="12192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1" name="Shape 11"/>
          <p:cNvSpPr/>
          <p:nvPr/>
        </p:nvSpPr>
        <p:spPr>
          <a:xfrm>
            <a:off x="548640" y="5044440"/>
            <a:ext cx="109728" cy="1219200"/>
          </a:xfrm>
          <a:prstGeom prst="rect">
            <a:avLst/>
          </a:prstGeom>
          <a:solidFill>
            <a:srgbClr val="31C48D"/>
          </a:solidFill>
          <a:ln>
            <a:noFill/>
          </a:ln>
        </p:spPr>
        <p:txBody>
          <a:bodyPr wrap="square" lIns="0" tIns="0" rIns="0" bIns="0" rtlCol="0" anchor="t"/>
          <a:lstStyle/>
          <a:p>
            <a:endParaRPr lang="en-US"/>
          </a:p>
        </p:txBody>
      </p:sp>
      <p:sp>
        <p:nvSpPr>
          <p:cNvPr id="12" name="Callout"/>
          <p:cNvSpPr/>
          <p:nvPr/>
        </p:nvSpPr>
        <p:spPr>
          <a:xfrm>
            <a:off x="658368" y="5044440"/>
            <a:ext cx="4828032" cy="121920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5 4 3 2 1</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Today's roadmap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a:t>
            </a:r>
            <a:endParaRPr lang="en-US" sz="1400" dirty="0"/>
          </a:p>
        </p:txBody>
      </p:sp>
      <p:sp>
        <p:nvSpPr>
          <p:cNvPr id="6" name="Shape 6"/>
          <p:cNvSpPr/>
          <p:nvPr/>
        </p:nvSpPr>
        <p:spPr>
          <a:xfrm>
            <a:off x="731520" y="1307592"/>
            <a:ext cx="544068" cy="544068"/>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595628" y="1307592"/>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Totals and counters</a:t>
            </a:r>
            <a:endParaRPr lang="en-US" sz="2800" dirty="0"/>
          </a:p>
        </p:txBody>
      </p:sp>
      <p:sp>
        <p:nvSpPr>
          <p:cNvPr id="8" name="Shape 8"/>
          <p:cNvSpPr/>
          <p:nvPr/>
        </p:nvSpPr>
        <p:spPr>
          <a:xfrm>
            <a:off x="731520" y="1988820"/>
            <a:ext cx="544068" cy="544068"/>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595628" y="1988820"/>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Checking input with </a:t>
            </a:r>
            <a:r>
              <a:rPr lang="en-US" sz="2800" dirty="0">
                <a:solidFill>
                  <a:srgbClr val="2F80ED"/>
                </a:solidFill>
                <a:latin typeface="Consolas"/>
                <a:ea typeface="Consolas"/>
                <a:cs typeface="Consolas"/>
              </a:rPr>
              <a:t>while</a:t>
            </a:r>
            <a:endParaRPr lang="en-US" sz="2800" dirty="0"/>
          </a:p>
        </p:txBody>
      </p:sp>
      <p:sp>
        <p:nvSpPr>
          <p:cNvPr id="10" name="Shape 10"/>
          <p:cNvSpPr/>
          <p:nvPr/>
        </p:nvSpPr>
        <p:spPr>
          <a:xfrm>
            <a:off x="731520" y="2670048"/>
            <a:ext cx="544068" cy="544068"/>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595628" y="2670048"/>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Where a loop starts and stops</a:t>
            </a:r>
            <a:endParaRPr lang="en-US" sz="2800" dirty="0"/>
          </a:p>
        </p:txBody>
      </p:sp>
      <p:sp>
        <p:nvSpPr>
          <p:cNvPr id="12" name="Shape 12"/>
          <p:cNvSpPr/>
          <p:nvPr/>
        </p:nvSpPr>
        <p:spPr>
          <a:xfrm>
            <a:off x="731520" y="3351276"/>
            <a:ext cx="544068" cy="544068"/>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595628" y="3351276"/>
            <a:ext cx="10001707" cy="544068"/>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break</a:t>
            </a:r>
            <a:r>
              <a:rPr lang="en-US" sz="2800" dirty="0">
                <a:solidFill>
                  <a:srgbClr val="18324A"/>
                </a:solidFill>
              </a:rPr>
              <a:t> and </a:t>
            </a:r>
            <a:r>
              <a:rPr lang="en-US" sz="2800" dirty="0">
                <a:solidFill>
                  <a:srgbClr val="2F80ED"/>
                </a:solidFill>
                <a:latin typeface="Consolas"/>
                <a:ea typeface="Consolas"/>
                <a:cs typeface="Consolas"/>
              </a:rPr>
              <a:t>continue</a:t>
            </a:r>
            <a:endParaRPr lang="en-US" sz="2800" dirty="0"/>
          </a:p>
        </p:txBody>
      </p:sp>
      <p:sp>
        <p:nvSpPr>
          <p:cNvPr id="14" name="Shape 14"/>
          <p:cNvSpPr/>
          <p:nvPr/>
        </p:nvSpPr>
        <p:spPr>
          <a:xfrm>
            <a:off x="731520" y="4032504"/>
            <a:ext cx="544068" cy="544068"/>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595628" y="4032504"/>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Worked examples and common bugs</a:t>
            </a:r>
            <a:endParaRPr lang="en-US" sz="2800" dirty="0"/>
          </a:p>
        </p:txBody>
      </p:sp>
      <p:sp>
        <p:nvSpPr>
          <p:cNvPr id="16" name="Shape 16"/>
          <p:cNvSpPr/>
          <p:nvPr/>
        </p:nvSpPr>
        <p:spPr>
          <a:xfrm>
            <a:off x="731520" y="4713732"/>
            <a:ext cx="544068" cy="544068"/>
          </a:xfrm>
          <a:prstGeom prst="rect">
            <a:avLst/>
          </a:prstGeom>
          <a:solidFill>
            <a:srgbClr val="06B6D4"/>
          </a:solidFill>
          <a:ln>
            <a:noFill/>
          </a:ln>
        </p:spPr>
        <p:txBody>
          <a:bodyPr wrap="square" lIns="0" tIns="0" rIns="0" bIns="0" rtlCol="0" anchor="ctr"/>
          <a:lstStyle/>
          <a:p>
            <a:pPr marL="0" indent="0" algn="ctr">
              <a:buNone/>
            </a:pPr>
            <a:r>
              <a:rPr lang="en-US" sz="2400" b="1" dirty="0">
                <a:solidFill>
                  <a:srgbClr val="FFFFFF"/>
                </a:solidFill>
              </a:rPr>
              <a:t>6</a:t>
            </a:r>
            <a:endParaRPr lang="en-US" sz="2400" dirty="0"/>
          </a:p>
        </p:txBody>
      </p:sp>
      <p:sp>
        <p:nvSpPr>
          <p:cNvPr id="17" name="Shape 17"/>
          <p:cNvSpPr/>
          <p:nvPr/>
        </p:nvSpPr>
        <p:spPr>
          <a:xfrm>
            <a:off x="1595628" y="4713732"/>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Tracing and practice</a:t>
            </a:r>
            <a:endParaRPr lang="en-US" sz="2800" dirty="0"/>
          </a:p>
        </p:txBody>
      </p:sp>
      <p:sp>
        <p:nvSpPr>
          <p:cNvPr id="18" name="Shape 18"/>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9" name="Shape 19"/>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20"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Tuesday: how a loop is </a:t>
            </a:r>
            <a:r>
              <a:rPr lang="en-US" sz="2400" b="1" dirty="0">
                <a:solidFill>
                  <a:srgbClr val="18324A"/>
                </a:solidFill>
              </a:rPr>
              <a:t>written</a:t>
            </a:r>
            <a:r>
              <a:rPr lang="en-US" sz="2400" dirty="0">
                <a:solidFill>
                  <a:srgbClr val="18324A"/>
                </a:solidFill>
              </a:rPr>
              <a:t>. Today: what loops are </a:t>
            </a:r>
            <a:r>
              <a:rPr lang="en-US" sz="2400" b="1" dirty="0">
                <a:solidFill>
                  <a:srgbClr val="18324A"/>
                </a:solidFill>
              </a:rPr>
              <a:t>used for</a:t>
            </a:r>
            <a:r>
              <a:rPr lang="en-US" sz="2400" dirty="0">
                <a:solidFill>
                  <a:srgbClr val="18324A"/>
                </a:solidFill>
              </a:rPr>
              <a: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2F80ED"/>
          </a:solidFill>
          <a:ln>
            <a:noFill/>
          </a:ln>
        </p:spPr>
        <p:txBody>
          <a:bodyPr wrap="square" lIns="0" tIns="0" rIns="0" bIns="0" rtlCol="0" anchor="ctr"/>
          <a:lstStyle/>
          <a:p>
            <a:pPr marL="0" indent="0" algn="ctr">
              <a:buNone/>
            </a:pPr>
            <a:r>
              <a:rPr lang="en-US" sz="5400" b="1" dirty="0">
                <a:solidFill>
                  <a:srgbClr val="FFFFFF"/>
                </a:solidFill>
              </a:rPr>
              <a:t>1</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Accumulator pattern</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Building a total, one round at a time</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Accumulator pattern: building a total</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a:t>
            </a:r>
            <a:endParaRPr lang="en-US" sz="1400" dirty="0"/>
          </a:p>
        </p:txBody>
      </p:sp>
      <p:sp>
        <p:nvSpPr>
          <p:cNvPr id="6" name="Shape 6"/>
          <p:cNvSpPr/>
          <p:nvPr/>
        </p:nvSpPr>
        <p:spPr>
          <a:xfrm>
            <a:off x="548640" y="1399032"/>
            <a:ext cx="109728" cy="7924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Add 1 + 2 + 3 + 4 + 5. Now add 1 to 1000.</a:t>
            </a:r>
            <a:endParaRPr lang="en-US" sz="4000" dirty="0"/>
          </a:p>
        </p:txBody>
      </p:sp>
      <p:sp>
        <p:nvSpPr>
          <p:cNvPr id="8" name="Shape 8"/>
          <p:cNvSpPr/>
          <p:nvPr/>
        </p:nvSpPr>
        <p:spPr>
          <a:xfrm>
            <a:off x="914400" y="26029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You need a loop.</a:t>
            </a:r>
            <a:endParaRPr lang="en-US" sz="3000" dirty="0"/>
          </a:p>
          <a:p>
            <a:pPr marL="0" indent="0" algn="l">
              <a:spcAft>
                <a:spcPts val="1600"/>
              </a:spcAft>
              <a:buNone/>
            </a:pPr>
            <a:r>
              <a:rPr lang="en-US" sz="3000" dirty="0">
                <a:solidFill>
                  <a:srgbClr val="18324A"/>
                </a:solidFill>
              </a:rPr>
              <a:t>And you need </a:t>
            </a:r>
            <a:r>
              <a:rPr lang="en-US" sz="3000" b="1" dirty="0">
                <a:solidFill>
                  <a:srgbClr val="18324A"/>
                </a:solidFill>
              </a:rPr>
              <a:t>one box</a:t>
            </a:r>
            <a:r>
              <a:rPr lang="en-US" sz="3000" dirty="0">
                <a:solidFill>
                  <a:srgbClr val="18324A"/>
                </a:solidFill>
              </a:rPr>
              <a:t> that remembers the total so far.</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Think of the till in a shop. It starts at zero. Every item adds to it. At the end you read the total.</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whole program: sum.c</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a:t>
            </a:r>
            <a:endParaRPr lang="en-US" sz="1400" dirty="0"/>
          </a:p>
        </p:txBody>
      </p:sp>
      <p:sp>
        <p:nvSpPr>
          <p:cNvPr id="6" name="Shape 6"/>
          <p:cNvSpPr/>
          <p:nvPr/>
        </p:nvSpPr>
        <p:spPr>
          <a:xfrm>
            <a:off x="548640" y="1261872"/>
            <a:ext cx="11094415" cy="490601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11094415"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#include &lt;stdio.h&gt;</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int main(void) {</a:t>
            </a:r>
            <a:endParaRPr lang="en-US" sz="2200" dirty="0"/>
          </a:p>
          <a:p>
            <a:pPr marL="0" indent="0" algn="l">
              <a:lnSpc>
                <a:spcPts val="2750"/>
              </a:lnSpc>
              <a:buNone/>
            </a:pPr>
            <a:r>
              <a:rPr lang="en-US" sz="2200" dirty="0">
                <a:solidFill>
                  <a:srgbClr val="E5E7EB"/>
                </a:solidFill>
                <a:latin typeface="Consolas"/>
                <a:ea typeface="Consolas"/>
                <a:cs typeface="Consolas"/>
              </a:rPr>
              <a:t>    int sum = 0;</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for (int i = 1; i &lt;= 5; i++) {</a:t>
            </a:r>
            <a:endParaRPr lang="en-US" sz="2200" dirty="0"/>
          </a:p>
          <a:p>
            <a:pPr marL="0" indent="0" algn="l">
              <a:lnSpc>
                <a:spcPts val="2750"/>
              </a:lnSpc>
              <a:buNone/>
            </a:pPr>
            <a:r>
              <a:rPr lang="en-US" sz="2200" dirty="0">
                <a:solidFill>
                  <a:srgbClr val="E5E7EB"/>
                </a:solidFill>
                <a:latin typeface="Consolas"/>
                <a:ea typeface="Consolas"/>
                <a:cs typeface="Consolas"/>
              </a:rPr>
              <a:t>        sum += i;</a:t>
            </a:r>
            <a:endParaRPr lang="en-US" sz="2200" dirty="0"/>
          </a:p>
          <a:p>
            <a:pPr marL="0" indent="0" algn="l">
              <a:lnSpc>
                <a:spcPts val="2750"/>
              </a:lnSpc>
              <a:buNone/>
            </a:pPr>
            <a:r>
              <a:rPr lang="en-US" sz="2200" dirty="0">
                <a:solidFill>
                  <a:srgbClr val="E5E7EB"/>
                </a:solidFill>
                <a:latin typeface="Consolas"/>
                <a:ea typeface="Consolas"/>
                <a:cs typeface="Consolas"/>
              </a:rPr>
              <a:t>        printf("after %d: sum = %d\n", i, sum);</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printf("Sum = %d\n", sum);</a:t>
            </a:r>
            <a:endParaRPr lang="en-US" sz="2200" dirty="0"/>
          </a:p>
          <a:p>
            <a:pPr marL="0" indent="0" algn="l">
              <a:lnSpc>
                <a:spcPts val="2750"/>
              </a:lnSpc>
              <a:buNone/>
            </a:pPr>
            <a:r>
              <a:rPr lang="en-US" sz="2200" dirty="0">
                <a:solidFill>
                  <a:srgbClr val="E5E7EB"/>
                </a:solidFill>
                <a:latin typeface="Consolas"/>
                <a:ea typeface="Consolas"/>
                <a:cs typeface="Consolas"/>
              </a:rPr>
              <a:t>    return 0;</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Before the loop: start at zero</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a:t>
            </a:r>
            <a:endParaRPr lang="en-US" sz="1400" dirty="0"/>
          </a:p>
        </p:txBody>
      </p:sp>
      <p:sp>
        <p:nvSpPr>
          <p:cNvPr id="6" name="Shape 6"/>
          <p:cNvSpPr/>
          <p:nvPr/>
        </p:nvSpPr>
        <p:spPr>
          <a:xfrm>
            <a:off x="548640" y="1261872"/>
            <a:ext cx="6766560" cy="290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76502"/>
            <a:ext cx="67665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76502"/>
            <a:ext cx="82296" cy="317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FFFFFF"/>
                </a:solidFill>
                <a:latin typeface="Consolas"/>
                <a:ea typeface="Consolas"/>
                <a:cs typeface="Consolas"/>
              </a:rPr>
              <a:t>int sum = 0;</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for (int i = 1; i &lt;= 5; i++) {</a:t>
            </a:r>
            <a:endParaRPr lang="en-US" sz="2000" dirty="0"/>
          </a:p>
          <a:p>
            <a:pPr marL="0" indent="0" algn="l">
              <a:lnSpc>
                <a:spcPts val="2500"/>
              </a:lnSpc>
              <a:buNone/>
            </a:pPr>
            <a:r>
              <a:rPr lang="en-US" sz="2000" dirty="0">
                <a:solidFill>
                  <a:srgbClr val="64748B"/>
                </a:solidFill>
                <a:latin typeface="Consolas"/>
                <a:ea typeface="Consolas"/>
                <a:cs typeface="Consolas"/>
              </a:rPr>
              <a:t>    sum += i;</a:t>
            </a:r>
            <a:endParaRPr lang="en-US" sz="2000" dirty="0"/>
          </a:p>
          <a:p>
            <a:pPr marL="0" indent="0" algn="l">
              <a:lnSpc>
                <a:spcPts val="2500"/>
              </a:lnSpc>
              <a:buNone/>
            </a:pPr>
            <a:r>
              <a:rPr lang="en-US" sz="2000" dirty="0">
                <a:solidFill>
                  <a:srgbClr val="64748B"/>
                </a:solidFill>
                <a:latin typeface="Consolas"/>
                <a:ea typeface="Consolas"/>
                <a:cs typeface="Consolas"/>
              </a:rPr>
              <a:t>    printf("after %d: sum = %d\n", i, sum);</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printf("Sum = %d\n", sum);</a:t>
            </a:r>
            <a:endParaRPr lang="en-US" sz="2000" dirty="0"/>
          </a:p>
        </p:txBody>
      </p:sp>
      <p:sp>
        <p:nvSpPr>
          <p:cNvPr id="10" name="Shape 10"/>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b="1" dirty="0">
                <a:solidFill>
                  <a:srgbClr val="18324A"/>
                </a:solidFill>
              </a:rPr>
              <a:t>Before</a:t>
            </a:r>
            <a:r>
              <a:rPr lang="en-US" sz="2400" dirty="0">
                <a:solidFill>
                  <a:srgbClr val="18324A"/>
                </a:solidFill>
              </a:rPr>
              <a:t> the loop.</a:t>
            </a:r>
            <a:endParaRPr lang="en-US" sz="2400" dirty="0"/>
          </a:p>
        </p:txBody>
      </p:sp>
      <p:sp>
        <p:nvSpPr>
          <p:cNvPr id="13" name="Shape 13"/>
          <p:cNvSpPr/>
          <p:nvPr/>
        </p:nvSpPr>
        <p:spPr>
          <a:xfrm>
            <a:off x="7589520" y="214884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4" name="Shape 14"/>
          <p:cNvSpPr/>
          <p:nvPr/>
        </p:nvSpPr>
        <p:spPr>
          <a:xfrm>
            <a:off x="7589520" y="2148840"/>
            <a:ext cx="109728" cy="1051560"/>
          </a:xfrm>
          <a:prstGeom prst="rect">
            <a:avLst/>
          </a:prstGeom>
          <a:solidFill>
            <a:srgbClr val="2F80ED"/>
          </a:solidFill>
          <a:ln>
            <a:noFill/>
          </a:ln>
        </p:spPr>
        <p:txBody>
          <a:bodyPr wrap="square" lIns="0" tIns="0" rIns="0" bIns="0" rtlCol="0" anchor="t"/>
          <a:lstStyle/>
          <a:p>
            <a:endParaRPr lang="en-US"/>
          </a:p>
        </p:txBody>
      </p:sp>
      <p:sp>
        <p:nvSpPr>
          <p:cNvPr id="15" name="Callout"/>
          <p:cNvSpPr/>
          <p:nvPr/>
        </p:nvSpPr>
        <p:spPr>
          <a:xfrm>
            <a:off x="7699248" y="214884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Make the box. Put 0 in it.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Inside the loop: add to 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10</a:t>
            </a:r>
            <a:endParaRPr lang="en-US" sz="1400" dirty="0"/>
          </a:p>
        </p:txBody>
      </p:sp>
      <p:sp>
        <p:nvSpPr>
          <p:cNvPr id="6" name="Shape 6"/>
          <p:cNvSpPr/>
          <p:nvPr/>
        </p:nvSpPr>
        <p:spPr>
          <a:xfrm>
            <a:off x="548640" y="1261872"/>
            <a:ext cx="6766560" cy="290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429002"/>
            <a:ext cx="67665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429002"/>
            <a:ext cx="82296" cy="317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sum = 0;</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for (int i = 1; i &lt;= 5; i++) {</a:t>
            </a:r>
            <a:endParaRPr lang="en-US" sz="2000" dirty="0"/>
          </a:p>
          <a:p>
            <a:pPr marL="0" indent="0" algn="l">
              <a:lnSpc>
                <a:spcPts val="2500"/>
              </a:lnSpc>
              <a:buNone/>
            </a:pPr>
            <a:r>
              <a:rPr lang="en-US" sz="2000" dirty="0">
                <a:solidFill>
                  <a:srgbClr val="FFFFFF"/>
                </a:solidFill>
                <a:latin typeface="Consolas"/>
                <a:ea typeface="Consolas"/>
                <a:cs typeface="Consolas"/>
              </a:rPr>
              <a:t>    sum += i;</a:t>
            </a:r>
            <a:endParaRPr lang="en-US" sz="2000" dirty="0"/>
          </a:p>
          <a:p>
            <a:pPr marL="0" indent="0" algn="l">
              <a:lnSpc>
                <a:spcPts val="2500"/>
              </a:lnSpc>
              <a:buNone/>
            </a:pPr>
            <a:r>
              <a:rPr lang="en-US" sz="2000" dirty="0">
                <a:solidFill>
                  <a:srgbClr val="64748B"/>
                </a:solidFill>
                <a:latin typeface="Consolas"/>
                <a:ea typeface="Consolas"/>
                <a:cs typeface="Consolas"/>
              </a:rPr>
              <a:t>    printf("after %d: sum = %d\n", i, sum);</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printf("Sum = %d\n", sum);</a:t>
            </a:r>
            <a:endParaRPr lang="en-US" sz="2000" dirty="0"/>
          </a:p>
        </p:txBody>
      </p:sp>
      <p:sp>
        <p:nvSpPr>
          <p:cNvPr id="10" name="Shape 10"/>
          <p:cNvSpPr/>
          <p:nvPr/>
        </p:nvSpPr>
        <p:spPr>
          <a:xfrm>
            <a:off x="7589520" y="1261872"/>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31C48D"/>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b="1" dirty="0">
                <a:solidFill>
                  <a:srgbClr val="18324A"/>
                </a:solidFill>
              </a:rPr>
              <a:t>Inside</a:t>
            </a:r>
            <a:r>
              <a:rPr lang="en-US" sz="2400" dirty="0">
                <a:solidFill>
                  <a:srgbClr val="18324A"/>
                </a:solidFill>
              </a:rPr>
              <a:t> the loop.</a:t>
            </a:r>
            <a:endParaRPr lang="en-US" sz="2400" dirty="0"/>
          </a:p>
        </p:txBody>
      </p:sp>
      <p:sp>
        <p:nvSpPr>
          <p:cNvPr id="13" name="Shape 13"/>
          <p:cNvSpPr/>
          <p:nvPr/>
        </p:nvSpPr>
        <p:spPr>
          <a:xfrm>
            <a:off x="7589520" y="214884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2148840"/>
            <a:ext cx="109728" cy="105156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214884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sum += i</a:t>
            </a:r>
            <a:r>
              <a:rPr lang="en-US" sz="2400" dirty="0">
                <a:solidFill>
                  <a:srgbClr val="18324A"/>
                </a:solidFill>
              </a:rPr>
              <a:t> means </a:t>
            </a:r>
            <a:r>
              <a:rPr lang="en-US" sz="2400" dirty="0">
                <a:solidFill>
                  <a:srgbClr val="18324A"/>
                </a:solidFill>
                <a:latin typeface="Consolas"/>
                <a:ea typeface="Consolas"/>
                <a:cs typeface="Consolas"/>
              </a:rPr>
              <a:t>sum = sum + i</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After the loop: use 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11</a:t>
            </a:r>
            <a:endParaRPr lang="en-US" sz="1400" dirty="0"/>
          </a:p>
        </p:txBody>
      </p:sp>
      <p:sp>
        <p:nvSpPr>
          <p:cNvPr id="6" name="Shape 6"/>
          <p:cNvSpPr/>
          <p:nvPr/>
        </p:nvSpPr>
        <p:spPr>
          <a:xfrm>
            <a:off x="548640" y="1261872"/>
            <a:ext cx="6766560" cy="290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699002"/>
            <a:ext cx="67665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699002"/>
            <a:ext cx="82296" cy="317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sum = 0;</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for (int i = 1; i &lt;= 5; i++) {</a:t>
            </a:r>
            <a:endParaRPr lang="en-US" sz="2000" dirty="0"/>
          </a:p>
          <a:p>
            <a:pPr marL="0" indent="0" algn="l">
              <a:lnSpc>
                <a:spcPts val="2500"/>
              </a:lnSpc>
              <a:buNone/>
            </a:pPr>
            <a:r>
              <a:rPr lang="en-US" sz="2000" dirty="0">
                <a:solidFill>
                  <a:srgbClr val="64748B"/>
                </a:solidFill>
                <a:latin typeface="Consolas"/>
                <a:ea typeface="Consolas"/>
                <a:cs typeface="Consolas"/>
              </a:rPr>
              <a:t>    sum += i;</a:t>
            </a:r>
            <a:endParaRPr lang="en-US" sz="2000" dirty="0"/>
          </a:p>
          <a:p>
            <a:pPr marL="0" indent="0" algn="l">
              <a:lnSpc>
                <a:spcPts val="2500"/>
              </a:lnSpc>
              <a:buNone/>
            </a:pPr>
            <a:r>
              <a:rPr lang="en-US" sz="2000" dirty="0">
                <a:solidFill>
                  <a:srgbClr val="64748B"/>
                </a:solidFill>
                <a:latin typeface="Consolas"/>
                <a:ea typeface="Consolas"/>
                <a:cs typeface="Consolas"/>
              </a:rPr>
              <a:t>    printf("after %d: sum = %d\n", i, sum);</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printf("Sum = %d\n", sum);</a:t>
            </a:r>
            <a:endParaRPr lang="en-US" sz="2000" dirty="0"/>
          </a:p>
        </p:txBody>
      </p:sp>
      <p:sp>
        <p:nvSpPr>
          <p:cNvPr id="10" name="Shape 10"/>
          <p:cNvSpPr/>
          <p:nvPr/>
        </p:nvSpPr>
        <p:spPr>
          <a:xfrm>
            <a:off x="7589520" y="1261872"/>
            <a:ext cx="4053535" cy="68580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8B5CF6"/>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b="1" dirty="0">
                <a:solidFill>
                  <a:srgbClr val="18324A"/>
                </a:solidFill>
              </a:rPr>
              <a:t>After</a:t>
            </a:r>
            <a:r>
              <a:rPr lang="en-US" sz="2400" dirty="0">
                <a:solidFill>
                  <a:srgbClr val="18324A"/>
                </a:solidFill>
              </a:rPr>
              <a:t> the loop.</a:t>
            </a:r>
            <a:endParaRPr lang="en-US" sz="2400" dirty="0"/>
          </a:p>
        </p:txBody>
      </p:sp>
      <p:sp>
        <p:nvSpPr>
          <p:cNvPr id="13" name="Shape 13"/>
          <p:cNvSpPr/>
          <p:nvPr/>
        </p:nvSpPr>
        <p:spPr>
          <a:xfrm>
            <a:off x="7589520" y="2148840"/>
            <a:ext cx="4053535" cy="68580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4" name="Shape 14"/>
          <p:cNvSpPr/>
          <p:nvPr/>
        </p:nvSpPr>
        <p:spPr>
          <a:xfrm>
            <a:off x="7589520" y="2148840"/>
            <a:ext cx="109728" cy="685800"/>
          </a:xfrm>
          <a:prstGeom prst="rect">
            <a:avLst/>
          </a:prstGeom>
          <a:solidFill>
            <a:srgbClr val="8B5CF6"/>
          </a:solidFill>
          <a:ln>
            <a:noFill/>
          </a:ln>
        </p:spPr>
        <p:txBody>
          <a:bodyPr wrap="square" lIns="0" tIns="0" rIns="0" bIns="0" rtlCol="0" anchor="t"/>
          <a:lstStyle/>
          <a:p>
            <a:endParaRPr lang="en-US"/>
          </a:p>
        </p:txBody>
      </p:sp>
      <p:sp>
        <p:nvSpPr>
          <p:cNvPr id="15" name="Callout"/>
          <p:cNvSpPr/>
          <p:nvPr/>
        </p:nvSpPr>
        <p:spPr>
          <a:xfrm>
            <a:off x="7699248" y="214884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Now the total is ready.</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Round 1: the total grows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12</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Round 1: </a:t>
            </a:r>
            <a:r>
              <a:rPr lang="en-US" sz="2400" dirty="0">
                <a:solidFill>
                  <a:srgbClr val="18324A"/>
                </a:solidFill>
                <a:latin typeface="Consolas"/>
                <a:ea typeface="Consolas"/>
                <a:cs typeface="Consolas"/>
              </a:rPr>
              <a:t>sum</a:t>
            </a:r>
            <a:r>
              <a:rPr lang="en-US" sz="2400" dirty="0">
                <a:solidFill>
                  <a:srgbClr val="18324A"/>
                </a:solidFill>
              </a:rPr>
              <a:t> is 0. Add </a:t>
            </a:r>
            <a:r>
              <a:rPr lang="en-US" sz="2400" dirty="0">
                <a:solidFill>
                  <a:srgbClr val="18324A"/>
                </a:solidFill>
                <a:latin typeface="Consolas"/>
                <a:ea typeface="Consolas"/>
                <a:cs typeface="Consolas"/>
              </a:rPr>
              <a:t>i</a:t>
            </a:r>
            <a:r>
              <a:rPr lang="en-US" sz="2400" dirty="0">
                <a:solidFill>
                  <a:srgbClr val="18324A"/>
                </a:solidFill>
              </a:rPr>
              <a:t>, which is 1. Now </a:t>
            </a:r>
            <a:r>
              <a:rPr lang="en-US" sz="2400" dirty="0">
                <a:solidFill>
                  <a:srgbClr val="18324A"/>
                </a:solidFill>
                <a:latin typeface="Consolas"/>
                <a:ea typeface="Consolas"/>
                <a:cs typeface="Consolas"/>
              </a:rPr>
              <a:t>sum</a:t>
            </a:r>
            <a:r>
              <a:rPr lang="en-US" sz="2400" dirty="0">
                <a:solidFill>
                  <a:srgbClr val="18324A"/>
                </a:solidFill>
              </a:rPr>
              <a:t> is 1.</a:t>
            </a:r>
            <a:endParaRPr lang="en-US" sz="2400" dirty="0"/>
          </a:p>
        </p:txBody>
      </p:sp>
      <p:sp>
        <p:nvSpPr>
          <p:cNvPr id="9" name="Shape 9"/>
          <p:cNvSpPr/>
          <p:nvPr/>
        </p:nvSpPr>
        <p:spPr>
          <a:xfrm>
            <a:off x="548640" y="1261872"/>
            <a:ext cx="5669280" cy="3032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625852"/>
            <a:ext cx="566928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032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sum = 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for (int i = 1; i &lt;= 5; i++) {</a:t>
            </a:r>
            <a:endParaRPr lang="en-US" sz="2400" dirty="0"/>
          </a:p>
          <a:p>
            <a:pPr marL="0" indent="0" algn="l">
              <a:lnSpc>
                <a:spcPts val="3000"/>
              </a:lnSpc>
              <a:buNone/>
            </a:pPr>
            <a:r>
              <a:rPr lang="en-US" sz="2400" dirty="0">
                <a:solidFill>
                  <a:srgbClr val="FFFFFF"/>
                </a:solidFill>
                <a:latin typeface="Consolas"/>
                <a:ea typeface="Consolas"/>
                <a:cs typeface="Consolas"/>
              </a:rPr>
              <a:t>    sum += i;</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printf("Sum = %d\n", sum);</a:t>
            </a:r>
            <a:endParaRPr lang="en-US" sz="2400" dirty="0"/>
          </a:p>
        </p:txBody>
      </p:sp>
      <p:sp>
        <p:nvSpPr>
          <p:cNvPr id="13" name="Shape 13"/>
          <p:cNvSpPr/>
          <p:nvPr/>
        </p:nvSpPr>
        <p:spPr>
          <a:xfrm>
            <a:off x="6492240" y="1261872"/>
            <a:ext cx="103016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4" name="Shape 14"/>
          <p:cNvSpPr/>
          <p:nvPr/>
        </p:nvSpPr>
        <p:spPr>
          <a:xfrm>
            <a:off x="7522403" y="1261872"/>
            <a:ext cx="77262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5" name="Shape 15"/>
          <p:cNvSpPr/>
          <p:nvPr/>
        </p:nvSpPr>
        <p:spPr>
          <a:xfrm>
            <a:off x="8295025" y="1261872"/>
            <a:ext cx="167401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r>
              <a:rPr lang="en-US" sz="1800" b="1" dirty="0">
                <a:solidFill>
                  <a:srgbClr val="FFFFFF"/>
                </a:solidFill>
              </a:rPr>
              <a:t> before</a:t>
            </a:r>
            <a:endParaRPr lang="en-US" sz="1800" dirty="0"/>
          </a:p>
        </p:txBody>
      </p:sp>
      <p:sp>
        <p:nvSpPr>
          <p:cNvPr id="16" name="Shape 16"/>
          <p:cNvSpPr/>
          <p:nvPr/>
        </p:nvSpPr>
        <p:spPr>
          <a:xfrm>
            <a:off x="9969040" y="1261872"/>
            <a:ext cx="167401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r>
              <a:rPr lang="en-US" sz="1800" b="1" dirty="0">
                <a:solidFill>
                  <a:srgbClr val="FFFFFF"/>
                </a:solidFill>
              </a:rPr>
              <a:t> after</a:t>
            </a:r>
            <a:endParaRPr lang="en-US" sz="1800" dirty="0"/>
          </a:p>
        </p:txBody>
      </p:sp>
      <p:sp>
        <p:nvSpPr>
          <p:cNvPr id="17" name="Shape 17"/>
          <p:cNvSpPr/>
          <p:nvPr/>
        </p:nvSpPr>
        <p:spPr>
          <a:xfrm>
            <a:off x="6492240" y="1920240"/>
            <a:ext cx="103016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18" name="Shape 18"/>
          <p:cNvSpPr/>
          <p:nvPr/>
        </p:nvSpPr>
        <p:spPr>
          <a:xfrm>
            <a:off x="7522403" y="1920240"/>
            <a:ext cx="77262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19" name="Shape 19"/>
          <p:cNvSpPr/>
          <p:nvPr/>
        </p:nvSpPr>
        <p:spPr>
          <a:xfrm>
            <a:off x="8295025" y="1920240"/>
            <a:ext cx="167401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0</a:t>
            </a:r>
            <a:endParaRPr lang="en-US" sz="2400" dirty="0"/>
          </a:p>
        </p:txBody>
      </p:sp>
      <p:sp>
        <p:nvSpPr>
          <p:cNvPr id="20" name="Shape 20"/>
          <p:cNvSpPr/>
          <p:nvPr/>
        </p:nvSpPr>
        <p:spPr>
          <a:xfrm>
            <a:off x="9969040" y="1920240"/>
            <a:ext cx="167401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1" name="Shape 21"/>
          <p:cNvSpPr/>
          <p:nvPr/>
        </p:nvSpPr>
        <p:spPr>
          <a:xfrm>
            <a:off x="6492240" y="2578608"/>
            <a:ext cx="103016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7522403" y="2578608"/>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8295025" y="2578608"/>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9969040" y="2578608"/>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6492240" y="3236976"/>
            <a:ext cx="103016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522403" y="3236976"/>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295025" y="3236976"/>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9969040" y="3236976"/>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6492240" y="3895344"/>
            <a:ext cx="103016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7522403" y="3895344"/>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8295025" y="3895344"/>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9969040" y="3895344"/>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6492240" y="4553712"/>
            <a:ext cx="103016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522403" y="4553712"/>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295025" y="4553712"/>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9969040" y="4553712"/>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Round 2: the total remembers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13</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Round 2: </a:t>
            </a:r>
            <a:r>
              <a:rPr lang="en-US" sz="2400" dirty="0">
                <a:solidFill>
                  <a:srgbClr val="18324A"/>
                </a:solidFill>
                <a:latin typeface="Consolas"/>
                <a:ea typeface="Consolas"/>
                <a:cs typeface="Consolas"/>
              </a:rPr>
              <a:t>sum</a:t>
            </a:r>
            <a:r>
              <a:rPr lang="en-US" sz="2400" dirty="0">
                <a:solidFill>
                  <a:srgbClr val="18324A"/>
                </a:solidFill>
              </a:rPr>
              <a:t> is still 1 from the last round. Add 2. Now </a:t>
            </a:r>
            <a:r>
              <a:rPr lang="en-US" sz="2400" dirty="0">
                <a:solidFill>
                  <a:srgbClr val="18324A"/>
                </a:solidFill>
                <a:latin typeface="Consolas"/>
                <a:ea typeface="Consolas"/>
                <a:cs typeface="Consolas"/>
              </a:rPr>
              <a:t>sum</a:t>
            </a:r>
            <a:r>
              <a:rPr lang="en-US" sz="2400" dirty="0">
                <a:solidFill>
                  <a:srgbClr val="18324A"/>
                </a:solidFill>
              </a:rPr>
              <a:t> is 3.</a:t>
            </a:r>
            <a:endParaRPr lang="en-US" sz="2400" dirty="0"/>
          </a:p>
        </p:txBody>
      </p:sp>
      <p:sp>
        <p:nvSpPr>
          <p:cNvPr id="9" name="Shape 9"/>
          <p:cNvSpPr/>
          <p:nvPr/>
        </p:nvSpPr>
        <p:spPr>
          <a:xfrm>
            <a:off x="548640" y="1261872"/>
            <a:ext cx="5669280" cy="3032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625852"/>
            <a:ext cx="566928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032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sum = 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for (int i = 1; i &lt;= 5; i++) {</a:t>
            </a:r>
            <a:endParaRPr lang="en-US" sz="2400" dirty="0"/>
          </a:p>
          <a:p>
            <a:pPr marL="0" indent="0" algn="l">
              <a:lnSpc>
                <a:spcPts val="3000"/>
              </a:lnSpc>
              <a:buNone/>
            </a:pPr>
            <a:r>
              <a:rPr lang="en-US" sz="2400" dirty="0">
                <a:solidFill>
                  <a:srgbClr val="FFFFFF"/>
                </a:solidFill>
                <a:latin typeface="Consolas"/>
                <a:ea typeface="Consolas"/>
                <a:cs typeface="Consolas"/>
              </a:rPr>
              <a:t>    sum += i;</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printf("Sum = %d\n", sum);</a:t>
            </a:r>
            <a:endParaRPr lang="en-US" sz="2400" dirty="0"/>
          </a:p>
        </p:txBody>
      </p:sp>
      <p:sp>
        <p:nvSpPr>
          <p:cNvPr id="13" name="Shape 13"/>
          <p:cNvSpPr/>
          <p:nvPr/>
        </p:nvSpPr>
        <p:spPr>
          <a:xfrm>
            <a:off x="6492240" y="1261872"/>
            <a:ext cx="103016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4" name="Shape 14"/>
          <p:cNvSpPr/>
          <p:nvPr/>
        </p:nvSpPr>
        <p:spPr>
          <a:xfrm>
            <a:off x="7522403" y="1261872"/>
            <a:ext cx="77262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5" name="Shape 15"/>
          <p:cNvSpPr/>
          <p:nvPr/>
        </p:nvSpPr>
        <p:spPr>
          <a:xfrm>
            <a:off x="8295025" y="1261872"/>
            <a:ext cx="167401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r>
              <a:rPr lang="en-US" sz="1800" b="1" dirty="0">
                <a:solidFill>
                  <a:srgbClr val="FFFFFF"/>
                </a:solidFill>
              </a:rPr>
              <a:t> before</a:t>
            </a:r>
            <a:endParaRPr lang="en-US" sz="1800" dirty="0"/>
          </a:p>
        </p:txBody>
      </p:sp>
      <p:sp>
        <p:nvSpPr>
          <p:cNvPr id="16" name="Shape 16"/>
          <p:cNvSpPr/>
          <p:nvPr/>
        </p:nvSpPr>
        <p:spPr>
          <a:xfrm>
            <a:off x="9969040" y="1261872"/>
            <a:ext cx="167401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r>
              <a:rPr lang="en-US" sz="1800" b="1" dirty="0">
                <a:solidFill>
                  <a:srgbClr val="FFFFFF"/>
                </a:solidFill>
              </a:rPr>
              <a:t> after</a:t>
            </a:r>
            <a:endParaRPr lang="en-US" sz="1800" dirty="0"/>
          </a:p>
        </p:txBody>
      </p:sp>
      <p:sp>
        <p:nvSpPr>
          <p:cNvPr id="17" name="Shape 17"/>
          <p:cNvSpPr/>
          <p:nvPr/>
        </p:nvSpPr>
        <p:spPr>
          <a:xfrm>
            <a:off x="6492240" y="1920240"/>
            <a:ext cx="103016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522403" y="1920240"/>
            <a:ext cx="77262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9" name="Shape 19"/>
          <p:cNvSpPr/>
          <p:nvPr/>
        </p:nvSpPr>
        <p:spPr>
          <a:xfrm>
            <a:off x="8295025" y="1920240"/>
            <a:ext cx="167401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0" name="Shape 20"/>
          <p:cNvSpPr/>
          <p:nvPr/>
        </p:nvSpPr>
        <p:spPr>
          <a:xfrm>
            <a:off x="9969040" y="1920240"/>
            <a:ext cx="167401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1" name="Shape 21"/>
          <p:cNvSpPr/>
          <p:nvPr/>
        </p:nvSpPr>
        <p:spPr>
          <a:xfrm>
            <a:off x="6492240" y="2578608"/>
            <a:ext cx="103016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2" name="Shape 22"/>
          <p:cNvSpPr/>
          <p:nvPr/>
        </p:nvSpPr>
        <p:spPr>
          <a:xfrm>
            <a:off x="7522403" y="2578608"/>
            <a:ext cx="77262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3" name="Shape 23"/>
          <p:cNvSpPr/>
          <p:nvPr/>
        </p:nvSpPr>
        <p:spPr>
          <a:xfrm>
            <a:off x="8295025" y="2578608"/>
            <a:ext cx="167401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4" name="Shape 24"/>
          <p:cNvSpPr/>
          <p:nvPr/>
        </p:nvSpPr>
        <p:spPr>
          <a:xfrm>
            <a:off x="9969040" y="2578608"/>
            <a:ext cx="167401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5" name="Shape 25"/>
          <p:cNvSpPr/>
          <p:nvPr/>
        </p:nvSpPr>
        <p:spPr>
          <a:xfrm>
            <a:off x="6492240" y="3236976"/>
            <a:ext cx="103016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522403" y="3236976"/>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295025" y="3236976"/>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9969040" y="3236976"/>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6492240" y="3895344"/>
            <a:ext cx="103016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7522403" y="3895344"/>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8295025" y="3895344"/>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9969040" y="3895344"/>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6492240" y="4553712"/>
            <a:ext cx="1030163"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522403" y="4553712"/>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295025" y="4553712"/>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9969040" y="4553712"/>
            <a:ext cx="1674015"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Round 5: the total is ready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14</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After round 5 the check </a:t>
            </a:r>
            <a:r>
              <a:rPr lang="en-US" sz="2400" dirty="0">
                <a:solidFill>
                  <a:srgbClr val="18324A"/>
                </a:solidFill>
                <a:latin typeface="Consolas"/>
                <a:ea typeface="Consolas"/>
                <a:cs typeface="Consolas"/>
              </a:rPr>
              <a:t>6 &lt;= 5</a:t>
            </a:r>
            <a:r>
              <a:rPr lang="en-US" sz="2400" dirty="0">
                <a:solidFill>
                  <a:srgbClr val="18324A"/>
                </a:solidFill>
              </a:rPr>
              <a:t> is false. The loop ends. </a:t>
            </a:r>
            <a:r>
              <a:rPr lang="en-US" sz="2400" dirty="0">
                <a:solidFill>
                  <a:srgbClr val="18324A"/>
                </a:solidFill>
                <a:latin typeface="Consolas"/>
                <a:ea typeface="Consolas"/>
                <a:cs typeface="Consolas"/>
              </a:rPr>
              <a:t>Sum = 15</a:t>
            </a:r>
            <a:r>
              <a:rPr lang="en-US" sz="2400" dirty="0">
                <a:solidFill>
                  <a:srgbClr val="18324A"/>
                </a:solidFill>
              </a:rPr>
              <a:t>.</a:t>
            </a:r>
            <a:endParaRPr lang="en-US" sz="2400" dirty="0"/>
          </a:p>
        </p:txBody>
      </p:sp>
      <p:sp>
        <p:nvSpPr>
          <p:cNvPr id="9" name="Shape 9"/>
          <p:cNvSpPr/>
          <p:nvPr/>
        </p:nvSpPr>
        <p:spPr>
          <a:xfrm>
            <a:off x="548640" y="1261872"/>
            <a:ext cx="5669280" cy="3032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768852"/>
            <a:ext cx="566928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768852"/>
            <a:ext cx="82296" cy="381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032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sum = 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for (int i = 1; i &lt;= 5; i++) {</a:t>
            </a:r>
            <a:endParaRPr lang="en-US" sz="2400" dirty="0"/>
          </a:p>
          <a:p>
            <a:pPr marL="0" indent="0" algn="l">
              <a:lnSpc>
                <a:spcPts val="3000"/>
              </a:lnSpc>
              <a:buNone/>
            </a:pPr>
            <a:r>
              <a:rPr lang="en-US" sz="2400" dirty="0">
                <a:solidFill>
                  <a:srgbClr val="64748B"/>
                </a:solidFill>
                <a:latin typeface="Consolas"/>
                <a:ea typeface="Consolas"/>
                <a:cs typeface="Consolas"/>
              </a:rPr>
              <a:t>    sum += i;</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printf("Sum = %d\n", sum);</a:t>
            </a:r>
            <a:endParaRPr lang="en-US" sz="2400" dirty="0"/>
          </a:p>
        </p:txBody>
      </p:sp>
      <p:sp>
        <p:nvSpPr>
          <p:cNvPr id="13" name="Shape 13"/>
          <p:cNvSpPr/>
          <p:nvPr/>
        </p:nvSpPr>
        <p:spPr>
          <a:xfrm>
            <a:off x="6492240" y="1261872"/>
            <a:ext cx="103016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4" name="Shape 14"/>
          <p:cNvSpPr/>
          <p:nvPr/>
        </p:nvSpPr>
        <p:spPr>
          <a:xfrm>
            <a:off x="7522403" y="1261872"/>
            <a:ext cx="77262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5" name="Shape 15"/>
          <p:cNvSpPr/>
          <p:nvPr/>
        </p:nvSpPr>
        <p:spPr>
          <a:xfrm>
            <a:off x="8295025" y="1261872"/>
            <a:ext cx="167401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r>
              <a:rPr lang="en-US" sz="1800" b="1" dirty="0">
                <a:solidFill>
                  <a:srgbClr val="FFFFFF"/>
                </a:solidFill>
              </a:rPr>
              <a:t> before</a:t>
            </a:r>
            <a:endParaRPr lang="en-US" sz="1800" dirty="0"/>
          </a:p>
        </p:txBody>
      </p:sp>
      <p:sp>
        <p:nvSpPr>
          <p:cNvPr id="16" name="Shape 16"/>
          <p:cNvSpPr/>
          <p:nvPr/>
        </p:nvSpPr>
        <p:spPr>
          <a:xfrm>
            <a:off x="9969040" y="1261872"/>
            <a:ext cx="167401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r>
              <a:rPr lang="en-US" sz="1800" b="1" dirty="0">
                <a:solidFill>
                  <a:srgbClr val="FFFFFF"/>
                </a:solidFill>
              </a:rPr>
              <a:t> after</a:t>
            </a:r>
            <a:endParaRPr lang="en-US" sz="1800" dirty="0"/>
          </a:p>
        </p:txBody>
      </p:sp>
      <p:sp>
        <p:nvSpPr>
          <p:cNvPr id="17" name="Shape 17"/>
          <p:cNvSpPr/>
          <p:nvPr/>
        </p:nvSpPr>
        <p:spPr>
          <a:xfrm>
            <a:off x="6492240" y="1920240"/>
            <a:ext cx="103016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522403" y="1920240"/>
            <a:ext cx="77262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9" name="Shape 19"/>
          <p:cNvSpPr/>
          <p:nvPr/>
        </p:nvSpPr>
        <p:spPr>
          <a:xfrm>
            <a:off x="8295025" y="1920240"/>
            <a:ext cx="167401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0" name="Shape 20"/>
          <p:cNvSpPr/>
          <p:nvPr/>
        </p:nvSpPr>
        <p:spPr>
          <a:xfrm>
            <a:off x="9969040" y="1920240"/>
            <a:ext cx="167401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1" name="Shape 21"/>
          <p:cNvSpPr/>
          <p:nvPr/>
        </p:nvSpPr>
        <p:spPr>
          <a:xfrm>
            <a:off x="6492240" y="2578608"/>
            <a:ext cx="103016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7522403" y="2578608"/>
            <a:ext cx="77262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3" name="Shape 23"/>
          <p:cNvSpPr/>
          <p:nvPr/>
        </p:nvSpPr>
        <p:spPr>
          <a:xfrm>
            <a:off x="8295025" y="2578608"/>
            <a:ext cx="1674015"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4" name="Shape 24"/>
          <p:cNvSpPr/>
          <p:nvPr/>
        </p:nvSpPr>
        <p:spPr>
          <a:xfrm>
            <a:off x="9969040" y="2578608"/>
            <a:ext cx="1674015"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5" name="Shape 25"/>
          <p:cNvSpPr/>
          <p:nvPr/>
        </p:nvSpPr>
        <p:spPr>
          <a:xfrm>
            <a:off x="6492240" y="3236976"/>
            <a:ext cx="103016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7522403" y="3236976"/>
            <a:ext cx="77262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7" name="Shape 27"/>
          <p:cNvSpPr/>
          <p:nvPr/>
        </p:nvSpPr>
        <p:spPr>
          <a:xfrm>
            <a:off x="8295025" y="3236976"/>
            <a:ext cx="167401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8" name="Shape 28"/>
          <p:cNvSpPr/>
          <p:nvPr/>
        </p:nvSpPr>
        <p:spPr>
          <a:xfrm>
            <a:off x="9969040" y="3236976"/>
            <a:ext cx="167401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29" name="Shape 29"/>
          <p:cNvSpPr/>
          <p:nvPr/>
        </p:nvSpPr>
        <p:spPr>
          <a:xfrm>
            <a:off x="6492240" y="3895344"/>
            <a:ext cx="103016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0" name="Shape 30"/>
          <p:cNvSpPr/>
          <p:nvPr/>
        </p:nvSpPr>
        <p:spPr>
          <a:xfrm>
            <a:off x="7522403" y="3895344"/>
            <a:ext cx="77262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1" name="Shape 31"/>
          <p:cNvSpPr/>
          <p:nvPr/>
        </p:nvSpPr>
        <p:spPr>
          <a:xfrm>
            <a:off x="8295025" y="3895344"/>
            <a:ext cx="1674015"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32" name="Shape 32"/>
          <p:cNvSpPr/>
          <p:nvPr/>
        </p:nvSpPr>
        <p:spPr>
          <a:xfrm>
            <a:off x="9969040" y="3895344"/>
            <a:ext cx="1674015"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10</a:t>
            </a:r>
            <a:endParaRPr lang="en-US" sz="2400" dirty="0"/>
          </a:p>
        </p:txBody>
      </p:sp>
      <p:sp>
        <p:nvSpPr>
          <p:cNvPr id="33" name="Shape 33"/>
          <p:cNvSpPr/>
          <p:nvPr/>
        </p:nvSpPr>
        <p:spPr>
          <a:xfrm>
            <a:off x="6492240" y="4553712"/>
            <a:ext cx="1030163"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5</a:t>
            </a:r>
            <a:endParaRPr lang="en-US" sz="2400" dirty="0"/>
          </a:p>
        </p:txBody>
      </p:sp>
      <p:sp>
        <p:nvSpPr>
          <p:cNvPr id="34" name="Shape 34"/>
          <p:cNvSpPr/>
          <p:nvPr/>
        </p:nvSpPr>
        <p:spPr>
          <a:xfrm>
            <a:off x="7522403" y="4553712"/>
            <a:ext cx="77262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5</a:t>
            </a:r>
            <a:endParaRPr lang="en-US" sz="2400" dirty="0"/>
          </a:p>
        </p:txBody>
      </p:sp>
      <p:sp>
        <p:nvSpPr>
          <p:cNvPr id="35" name="Shape 35"/>
          <p:cNvSpPr/>
          <p:nvPr/>
        </p:nvSpPr>
        <p:spPr>
          <a:xfrm>
            <a:off x="8295025" y="4553712"/>
            <a:ext cx="167401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10</a:t>
            </a:r>
            <a:endParaRPr lang="en-US" sz="2400" dirty="0"/>
          </a:p>
        </p:txBody>
      </p:sp>
      <p:sp>
        <p:nvSpPr>
          <p:cNvPr id="36" name="Shape 36"/>
          <p:cNvSpPr/>
          <p:nvPr/>
        </p:nvSpPr>
        <p:spPr>
          <a:xfrm>
            <a:off x="9969040" y="4553712"/>
            <a:ext cx="167401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15</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Run 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15</a:t>
            </a:r>
            <a:endParaRPr lang="en-US" sz="1400" dirty="0"/>
          </a:p>
        </p:txBody>
      </p:sp>
      <p:sp>
        <p:nvSpPr>
          <p:cNvPr id="6" name="Shape 6"/>
          <p:cNvSpPr/>
          <p:nvPr/>
        </p:nvSpPr>
        <p:spPr>
          <a:xfrm>
            <a:off x="548640" y="1261872"/>
            <a:ext cx="6766560" cy="29057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6766560"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sum = 0;</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for (int i = 1; i &lt;= 5; i++) {</a:t>
            </a:r>
            <a:endParaRPr lang="en-US" sz="2000" dirty="0"/>
          </a:p>
          <a:p>
            <a:pPr marL="0" indent="0" algn="l">
              <a:lnSpc>
                <a:spcPts val="2500"/>
              </a:lnSpc>
              <a:buNone/>
            </a:pPr>
            <a:r>
              <a:rPr lang="en-US" sz="2000" dirty="0">
                <a:solidFill>
                  <a:srgbClr val="E5E7EB"/>
                </a:solidFill>
                <a:latin typeface="Consolas"/>
                <a:ea typeface="Consolas"/>
                <a:cs typeface="Consolas"/>
              </a:rPr>
              <a:t>    sum += i;</a:t>
            </a:r>
            <a:endParaRPr lang="en-US" sz="2000" dirty="0"/>
          </a:p>
          <a:p>
            <a:pPr marL="0" indent="0" algn="l">
              <a:lnSpc>
                <a:spcPts val="2500"/>
              </a:lnSpc>
              <a:buNone/>
            </a:pPr>
            <a:r>
              <a:rPr lang="en-US" sz="2000" dirty="0">
                <a:solidFill>
                  <a:srgbClr val="E5E7EB"/>
                </a:solidFill>
                <a:latin typeface="Consolas"/>
                <a:ea typeface="Consolas"/>
                <a:cs typeface="Consolas"/>
              </a:rPr>
              <a:t>    printf("after %d: sum = %d\n", i, sum);</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printf("Sum = %d\n", sum);</a:t>
            </a:r>
            <a:endParaRPr lang="en-US" sz="2000" dirty="0"/>
          </a:p>
        </p:txBody>
      </p:sp>
      <p:sp>
        <p:nvSpPr>
          <p:cNvPr id="8" name="Shape 8"/>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9" name="Shape 9"/>
          <p:cNvSpPr/>
          <p:nvPr/>
        </p:nvSpPr>
        <p:spPr>
          <a:xfrm>
            <a:off x="7589520" y="1645920"/>
            <a:ext cx="4053535" cy="2651760"/>
          </a:xfrm>
          <a:prstGeom prst="rect">
            <a:avLst/>
          </a:prstGeom>
          <a:solidFill>
            <a:srgbClr val="000000"/>
          </a:solidFill>
          <a:ln>
            <a:noFill/>
          </a:ln>
        </p:spPr>
        <p:txBody>
          <a:bodyPr wrap="square" lIns="0" tIns="0" rIns="0" bIns="0" rtlCol="0" anchor="t"/>
          <a:lstStyle/>
          <a:p>
            <a:endParaRPr lang="en-US"/>
          </a:p>
        </p:txBody>
      </p:sp>
      <p:sp>
        <p:nvSpPr>
          <p:cNvPr id="10" name="Code"/>
          <p:cNvSpPr/>
          <p:nvPr/>
        </p:nvSpPr>
        <p:spPr>
          <a:xfrm>
            <a:off x="7589520" y="1645920"/>
            <a:ext cx="4053535" cy="2651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after 1: sum = 1</a:t>
            </a:r>
            <a:endParaRPr lang="en-US" sz="2400" dirty="0"/>
          </a:p>
          <a:p>
            <a:pPr marL="0" indent="0" algn="l">
              <a:lnSpc>
                <a:spcPts val="3000"/>
              </a:lnSpc>
              <a:buNone/>
            </a:pPr>
            <a:r>
              <a:rPr lang="en-US" sz="2400" dirty="0">
                <a:solidFill>
                  <a:srgbClr val="D1FAE5"/>
                </a:solidFill>
                <a:latin typeface="Consolas"/>
                <a:ea typeface="Consolas"/>
                <a:cs typeface="Consolas"/>
              </a:rPr>
              <a:t>after 2: sum = 3</a:t>
            </a:r>
            <a:endParaRPr lang="en-US" sz="2400" dirty="0"/>
          </a:p>
          <a:p>
            <a:pPr marL="0" indent="0" algn="l">
              <a:lnSpc>
                <a:spcPts val="3000"/>
              </a:lnSpc>
              <a:buNone/>
            </a:pPr>
            <a:r>
              <a:rPr lang="en-US" sz="2400" dirty="0">
                <a:solidFill>
                  <a:srgbClr val="D1FAE5"/>
                </a:solidFill>
                <a:latin typeface="Consolas"/>
                <a:ea typeface="Consolas"/>
                <a:cs typeface="Consolas"/>
              </a:rPr>
              <a:t>after 3: sum = 6</a:t>
            </a:r>
            <a:endParaRPr lang="en-US" sz="2400" dirty="0"/>
          </a:p>
          <a:p>
            <a:pPr marL="0" indent="0" algn="l">
              <a:lnSpc>
                <a:spcPts val="3000"/>
              </a:lnSpc>
              <a:buNone/>
            </a:pPr>
            <a:r>
              <a:rPr lang="en-US" sz="2400" dirty="0">
                <a:solidFill>
                  <a:srgbClr val="D1FAE5"/>
                </a:solidFill>
                <a:latin typeface="Consolas"/>
                <a:ea typeface="Consolas"/>
                <a:cs typeface="Consolas"/>
              </a:rPr>
              <a:t>after 4: sum = 10</a:t>
            </a:r>
            <a:endParaRPr lang="en-US" sz="2400" dirty="0"/>
          </a:p>
          <a:p>
            <a:pPr marL="0" indent="0" algn="l">
              <a:lnSpc>
                <a:spcPts val="3000"/>
              </a:lnSpc>
              <a:buNone/>
            </a:pPr>
            <a:r>
              <a:rPr lang="en-US" sz="2400" dirty="0">
                <a:solidFill>
                  <a:srgbClr val="D1FAE5"/>
                </a:solidFill>
                <a:latin typeface="Consolas"/>
                <a:ea typeface="Consolas"/>
                <a:cs typeface="Consolas"/>
              </a:rPr>
              <a:t>after 5: sum = 15</a:t>
            </a:r>
            <a:endParaRPr lang="en-US" sz="2400" dirty="0"/>
          </a:p>
          <a:p>
            <a:pPr marL="0" indent="0" algn="l">
              <a:lnSpc>
                <a:spcPts val="3000"/>
              </a:lnSpc>
              <a:buNone/>
            </a:pPr>
            <a:r>
              <a:rPr lang="en-US" sz="2400" dirty="0">
                <a:solidFill>
                  <a:srgbClr val="D1FAE5"/>
                </a:solidFill>
                <a:latin typeface="Consolas"/>
                <a:ea typeface="Consolas"/>
                <a:cs typeface="Consolas"/>
              </a:rPr>
              <a:t>Sum = 15</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pattern has three places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16</a:t>
            </a:r>
            <a:endParaRPr lang="en-US" sz="1400" dirty="0"/>
          </a:p>
        </p:txBody>
      </p:sp>
      <p:sp>
        <p:nvSpPr>
          <p:cNvPr id="6" name="Shape 6"/>
          <p:cNvSpPr/>
          <p:nvPr/>
        </p:nvSpPr>
        <p:spPr>
          <a:xfrm>
            <a:off x="548640" y="1536192"/>
            <a:ext cx="3545738"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Before</a:t>
            </a:r>
            <a:endParaRPr lang="en-US" sz="2600" dirty="0"/>
          </a:p>
        </p:txBody>
      </p:sp>
      <p:sp>
        <p:nvSpPr>
          <p:cNvPr id="7" name="Shape 7"/>
          <p:cNvSpPr/>
          <p:nvPr/>
        </p:nvSpPr>
        <p:spPr>
          <a:xfrm>
            <a:off x="548640" y="2267712"/>
            <a:ext cx="3545738"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18324A"/>
                </a:solidFill>
              </a:rPr>
              <a:t>Make the total.</a:t>
            </a:r>
            <a:endParaRPr lang="en-US" sz="2400" dirty="0"/>
          </a:p>
          <a:p>
            <a:pPr marL="0" indent="0" algn="ctr">
              <a:spcAft>
                <a:spcPts val="600"/>
              </a:spcAft>
              <a:buNone/>
            </a:pPr>
            <a:r>
              <a:rPr lang="en-US" sz="2400" dirty="0">
                <a:solidFill>
                  <a:srgbClr val="18324A"/>
                </a:solidFill>
              </a:rPr>
              <a:t>Set it to zero.</a:t>
            </a:r>
            <a:endParaRPr lang="en-US" sz="2400" dirty="0"/>
          </a:p>
          <a:p>
            <a:pPr marL="0" indent="0" algn="ctr">
              <a:spcAft>
                <a:spcPts val="600"/>
              </a:spcAft>
              <a:buNone/>
            </a:pPr>
            <a:r>
              <a:rPr lang="en-US" sz="2400" dirty="0">
                <a:solidFill>
                  <a:srgbClr val="2F80ED"/>
                </a:solidFill>
                <a:latin typeface="Consolas"/>
                <a:ea typeface="Consolas"/>
                <a:cs typeface="Consolas"/>
              </a:rPr>
              <a:t>int sum = 0;</a:t>
            </a:r>
            <a:endParaRPr lang="en-US" sz="2400" dirty="0"/>
          </a:p>
        </p:txBody>
      </p:sp>
      <p:sp>
        <p:nvSpPr>
          <p:cNvPr id="8" name="Shape 8"/>
          <p:cNvSpPr/>
          <p:nvPr/>
        </p:nvSpPr>
        <p:spPr>
          <a:xfrm>
            <a:off x="4322978" y="1536192"/>
            <a:ext cx="3545738"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Inside</a:t>
            </a:r>
            <a:endParaRPr lang="en-US" sz="2600" dirty="0"/>
          </a:p>
        </p:txBody>
      </p:sp>
      <p:sp>
        <p:nvSpPr>
          <p:cNvPr id="9" name="Shape 9"/>
          <p:cNvSpPr/>
          <p:nvPr/>
        </p:nvSpPr>
        <p:spPr>
          <a:xfrm>
            <a:off x="4322978" y="2267712"/>
            <a:ext cx="3545738"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18324A"/>
                </a:solidFill>
              </a:rPr>
              <a:t>Add to it,</a:t>
            </a:r>
            <a:endParaRPr lang="en-US" sz="2400" dirty="0"/>
          </a:p>
          <a:p>
            <a:pPr marL="0" indent="0" algn="ctr">
              <a:spcAft>
                <a:spcPts val="600"/>
              </a:spcAft>
              <a:buNone/>
            </a:pPr>
            <a:r>
              <a:rPr lang="en-US" sz="2400" dirty="0">
                <a:solidFill>
                  <a:srgbClr val="18324A"/>
                </a:solidFill>
              </a:rPr>
              <a:t>every round.</a:t>
            </a:r>
            <a:endParaRPr lang="en-US" sz="2400" dirty="0"/>
          </a:p>
          <a:p>
            <a:pPr marL="0" indent="0" algn="ctr">
              <a:spcAft>
                <a:spcPts val="600"/>
              </a:spcAft>
              <a:buNone/>
            </a:pPr>
            <a:r>
              <a:rPr lang="en-US" sz="2400" dirty="0">
                <a:solidFill>
                  <a:srgbClr val="2F80ED"/>
                </a:solidFill>
                <a:latin typeface="Consolas"/>
                <a:ea typeface="Consolas"/>
                <a:cs typeface="Consolas"/>
              </a:rPr>
              <a:t>sum += i;</a:t>
            </a:r>
            <a:endParaRPr lang="en-US" sz="2400" dirty="0"/>
          </a:p>
        </p:txBody>
      </p:sp>
      <p:sp>
        <p:nvSpPr>
          <p:cNvPr id="10" name="Shape 10"/>
          <p:cNvSpPr/>
          <p:nvPr/>
        </p:nvSpPr>
        <p:spPr>
          <a:xfrm>
            <a:off x="8097317" y="1536192"/>
            <a:ext cx="3545738" cy="731520"/>
          </a:xfrm>
          <a:prstGeom prst="rect">
            <a:avLst/>
          </a:prstGeom>
          <a:solidFill>
            <a:srgbClr val="F59E0B"/>
          </a:solidFill>
          <a:ln>
            <a:noFill/>
          </a:ln>
        </p:spPr>
        <p:txBody>
          <a:bodyPr wrap="square" lIns="0" tIns="0" rIns="0" bIns="0" rtlCol="0" anchor="ctr"/>
          <a:lstStyle/>
          <a:p>
            <a:pPr marL="0" indent="0" algn="ctr">
              <a:buNone/>
            </a:pPr>
            <a:r>
              <a:rPr lang="en-US" sz="2600" b="1" dirty="0">
                <a:solidFill>
                  <a:srgbClr val="FFFFFF"/>
                </a:solidFill>
              </a:rPr>
              <a:t>After</a:t>
            </a:r>
            <a:endParaRPr lang="en-US" sz="2600" dirty="0"/>
          </a:p>
        </p:txBody>
      </p:sp>
      <p:sp>
        <p:nvSpPr>
          <p:cNvPr id="11" name="Shape 11"/>
          <p:cNvSpPr/>
          <p:nvPr/>
        </p:nvSpPr>
        <p:spPr>
          <a:xfrm>
            <a:off x="8097317" y="2267712"/>
            <a:ext cx="3545738" cy="2377440"/>
          </a:xfrm>
          <a:prstGeom prst="rect">
            <a:avLst/>
          </a:prstGeom>
          <a:solidFill>
            <a:srgbClr val="FFFFFF"/>
          </a:solidFill>
          <a:ln w="19050">
            <a:solidFill>
              <a:srgbClr val="F59E0B"/>
            </a:solidFill>
          </a:ln>
        </p:spPr>
        <p:txBody>
          <a:bodyPr wrap="square" lIns="73152" tIns="91440" rIns="73152" bIns="91440" rtlCol="0" anchor="ctr"/>
          <a:lstStyle/>
          <a:p>
            <a:pPr marL="0" indent="0" algn="ctr">
              <a:spcAft>
                <a:spcPts val="600"/>
              </a:spcAft>
              <a:buNone/>
            </a:pPr>
            <a:r>
              <a:rPr lang="en-US" sz="2400" dirty="0">
                <a:solidFill>
                  <a:srgbClr val="18324A"/>
                </a:solidFill>
              </a:rPr>
              <a:t>Use it.</a:t>
            </a:r>
            <a:endParaRPr lang="en-US" sz="2400" dirty="0"/>
          </a:p>
          <a:p>
            <a:pPr marL="0" indent="0" algn="ctr">
              <a:spcAft>
                <a:spcPts val="600"/>
              </a:spcAft>
              <a:buNone/>
            </a:pPr>
            <a:r>
              <a:rPr lang="en-US" sz="2400" dirty="0">
                <a:solidFill>
                  <a:srgbClr val="18324A"/>
                </a:solidFill>
              </a:rPr>
              <a:t>Print it.</a:t>
            </a:r>
            <a:endParaRPr lang="en-US" sz="2400" dirty="0"/>
          </a:p>
          <a:p>
            <a:pPr marL="0" indent="0" algn="ctr">
              <a:spcAft>
                <a:spcPts val="600"/>
              </a:spcAft>
              <a:buNone/>
            </a:pPr>
            <a:r>
              <a:rPr lang="en-US" sz="2400" dirty="0">
                <a:solidFill>
                  <a:srgbClr val="2F80ED"/>
                </a:solidFill>
                <a:latin typeface="Consolas"/>
                <a:ea typeface="Consolas"/>
                <a:cs typeface="Consolas"/>
              </a:rPr>
              <a:t>printf(...)</a:t>
            </a:r>
            <a:endParaRPr lang="en-US" sz="2400" dirty="0"/>
          </a:p>
        </p:txBody>
      </p:sp>
      <p:sp>
        <p:nvSpPr>
          <p:cNvPr id="12" name="Shape 12"/>
          <p:cNvSpPr/>
          <p:nvPr/>
        </p:nvSpPr>
        <p:spPr>
          <a:xfrm>
            <a:off x="548640" y="5166360"/>
            <a:ext cx="11094415" cy="9144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548640" y="5166360"/>
            <a:ext cx="109728" cy="91440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You will write this pattern a hundred times. Learn the three places by heart.</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What if sum starts from 100?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17</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Change one line:</a:t>
            </a:r>
            <a:endParaRPr lang="en-US" sz="3200" dirty="0"/>
          </a:p>
          <a:p>
            <a:pPr marL="0" indent="0" algn="l">
              <a:spcAft>
                <a:spcPts val="600"/>
              </a:spcAft>
              <a:buNone/>
            </a:pPr>
            <a:r>
              <a:rPr lang="en-US" sz="3200" dirty="0">
                <a:solidFill>
                  <a:srgbClr val="2F80ED"/>
                </a:solidFill>
                <a:latin typeface="Consolas"/>
                <a:ea typeface="Consolas"/>
                <a:cs typeface="Consolas"/>
              </a:rPr>
              <a:t>int sum = 100;</a:t>
            </a:r>
            <a:endParaRPr lang="en-US" sz="3200" dirty="0"/>
          </a:p>
          <a:p>
            <a:pPr marL="0" indent="0" algn="l">
              <a:spcAft>
                <a:spcPts val="600"/>
              </a:spcAft>
              <a:buNone/>
            </a:pPr>
            <a:r>
              <a:rPr lang="en-US" sz="3200" dirty="0">
                <a:solidFill>
                  <a:srgbClr val="18324A"/>
                </a:solidFill>
              </a:rPr>
              <a:t>What is the last line on the screen?</a:t>
            </a:r>
            <a:endParaRPr lang="en-US" sz="3200" dirty="0"/>
          </a:p>
        </p:txBody>
      </p:sp>
      <p:sp>
        <p:nvSpPr>
          <p:cNvPr id="8" name="Shape 8"/>
          <p:cNvSpPr/>
          <p:nvPr/>
        </p:nvSpPr>
        <p:spPr>
          <a:xfrm>
            <a:off x="5760720" y="1261872"/>
            <a:ext cx="5882335" cy="325501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1486027"/>
            <a:ext cx="5882335"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148602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FFFFFF"/>
                </a:solidFill>
                <a:latin typeface="Consolas"/>
                <a:ea typeface="Consolas"/>
                <a:cs typeface="Consolas"/>
              </a:rPr>
              <a:t>int sum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1; i &lt;= 5; i++) {</a:t>
            </a:r>
            <a:endParaRPr lang="en-US" sz="2600" dirty="0"/>
          </a:p>
          <a:p>
            <a:pPr marL="0" indent="0" algn="l">
              <a:lnSpc>
                <a:spcPts val="3250"/>
              </a:lnSpc>
              <a:buNone/>
            </a:pPr>
            <a:r>
              <a:rPr lang="en-US" sz="2600" dirty="0">
                <a:solidFill>
                  <a:srgbClr val="64748B"/>
                </a:solidFill>
                <a:latin typeface="Consolas"/>
                <a:ea typeface="Consolas"/>
                <a:cs typeface="Consolas"/>
              </a:rPr>
              <a:t>    sum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printf("Sum = %d\n", sum);</a:t>
            </a:r>
            <a:endParaRPr lang="en-US"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What if sum starts from 100?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18</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Change one line:</a:t>
            </a:r>
            <a:endParaRPr lang="en-US" sz="3200" dirty="0"/>
          </a:p>
          <a:p>
            <a:pPr marL="0" indent="0" algn="l">
              <a:spcAft>
                <a:spcPts val="600"/>
              </a:spcAft>
              <a:buNone/>
            </a:pPr>
            <a:r>
              <a:rPr lang="en-US" sz="3200" dirty="0">
                <a:solidFill>
                  <a:srgbClr val="2F80ED"/>
                </a:solidFill>
                <a:latin typeface="Consolas"/>
                <a:ea typeface="Consolas"/>
                <a:cs typeface="Consolas"/>
              </a:rPr>
              <a:t>int sum = 100;</a:t>
            </a:r>
            <a:endParaRPr lang="en-US" sz="3200" dirty="0"/>
          </a:p>
          <a:p>
            <a:pPr marL="0" indent="0" algn="l">
              <a:spcAft>
                <a:spcPts val="600"/>
              </a:spcAft>
              <a:buNone/>
            </a:pPr>
            <a:r>
              <a:rPr lang="en-US" sz="3200" dirty="0">
                <a:solidFill>
                  <a:srgbClr val="18324A"/>
                </a:solidFill>
              </a:rPr>
              <a:t>What is the last line on the screen?</a:t>
            </a:r>
            <a:endParaRPr lang="en-US" sz="3200" dirty="0"/>
          </a:p>
        </p:txBody>
      </p:sp>
      <p:sp>
        <p:nvSpPr>
          <p:cNvPr id="8" name="Shape 8"/>
          <p:cNvSpPr/>
          <p:nvPr/>
        </p:nvSpPr>
        <p:spPr>
          <a:xfrm>
            <a:off x="5760720" y="1261872"/>
            <a:ext cx="5882335" cy="325501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1486027"/>
            <a:ext cx="5882335"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148602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FFFFFF"/>
                </a:solidFill>
                <a:latin typeface="Consolas"/>
                <a:ea typeface="Consolas"/>
                <a:cs typeface="Consolas"/>
              </a:rPr>
              <a:t>int sum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1; i &lt;= 5; i++) {</a:t>
            </a:r>
            <a:endParaRPr lang="en-US" sz="2600" dirty="0"/>
          </a:p>
          <a:p>
            <a:pPr marL="0" indent="0" algn="l">
              <a:lnSpc>
                <a:spcPts val="3250"/>
              </a:lnSpc>
              <a:buNone/>
            </a:pPr>
            <a:r>
              <a:rPr lang="en-US" sz="2600" dirty="0">
                <a:solidFill>
                  <a:srgbClr val="64748B"/>
                </a:solidFill>
                <a:latin typeface="Consolas"/>
                <a:ea typeface="Consolas"/>
                <a:cs typeface="Consolas"/>
              </a:rPr>
              <a:t>    sum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printf("Sum = %d\n", sum);</a:t>
            </a:r>
            <a:endParaRPr lang="en-US" sz="2600" dirty="0"/>
          </a:p>
        </p:txBody>
      </p:sp>
      <p:sp>
        <p:nvSpPr>
          <p:cNvPr id="12" name="Shape 12"/>
          <p:cNvSpPr/>
          <p:nvPr/>
        </p:nvSpPr>
        <p:spPr>
          <a:xfrm>
            <a:off x="548640" y="4648200"/>
            <a:ext cx="4937760" cy="161544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3" name="Shape 13"/>
          <p:cNvSpPr/>
          <p:nvPr/>
        </p:nvSpPr>
        <p:spPr>
          <a:xfrm>
            <a:off x="548640" y="4648200"/>
            <a:ext cx="109728" cy="1615440"/>
          </a:xfrm>
          <a:prstGeom prst="rect">
            <a:avLst/>
          </a:prstGeom>
          <a:solidFill>
            <a:srgbClr val="31C48D"/>
          </a:solidFill>
          <a:ln>
            <a:noFill/>
          </a:ln>
        </p:spPr>
        <p:txBody>
          <a:bodyPr wrap="square" lIns="0" tIns="0" rIns="0" bIns="0" rtlCol="0" anchor="t"/>
          <a:lstStyle/>
          <a:p>
            <a:endParaRPr lang="en-US"/>
          </a:p>
        </p:txBody>
      </p:sp>
      <p:sp>
        <p:nvSpPr>
          <p:cNvPr id="14" name="Callout"/>
          <p:cNvSpPr/>
          <p:nvPr/>
        </p:nvSpPr>
        <p:spPr>
          <a:xfrm>
            <a:off x="658368" y="4648200"/>
            <a:ext cx="4828032" cy="161544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Sum = 115</a:t>
            </a:r>
            <a:endParaRPr lang="en-US" sz="2600" dirty="0"/>
          </a:p>
          <a:p>
            <a:pPr marL="0" indent="0" algn="l">
              <a:buNone/>
            </a:pPr>
            <a:r>
              <a:rPr lang="en-US" sz="2600" dirty="0">
                <a:solidFill>
                  <a:srgbClr val="18324A"/>
                </a:solidFill>
              </a:rPr>
              <a:t>The loop still adds 15.</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Common mistake: resetting inside the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19</a:t>
            </a:r>
            <a:endParaRPr lang="en-US" sz="1400" dirty="0"/>
          </a:p>
        </p:txBody>
      </p:sp>
      <p:sp>
        <p:nvSpPr>
          <p:cNvPr id="6" name="Shape 6"/>
          <p:cNvSpPr/>
          <p:nvPr/>
        </p:nvSpPr>
        <p:spPr>
          <a:xfrm>
            <a:off x="548640" y="1261872"/>
            <a:ext cx="2377440" cy="457200"/>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CAREFUL</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One new line inside the loop:</a:t>
            </a:r>
            <a:endParaRPr lang="en-US" sz="3200" dirty="0"/>
          </a:p>
          <a:p>
            <a:pPr marL="0" indent="0" algn="l">
              <a:spcAft>
                <a:spcPts val="600"/>
              </a:spcAft>
              <a:buNone/>
            </a:pPr>
            <a:r>
              <a:rPr lang="en-US" sz="3200" dirty="0">
                <a:solidFill>
                  <a:srgbClr val="2F80ED"/>
                </a:solidFill>
                <a:latin typeface="Consolas"/>
                <a:ea typeface="Consolas"/>
                <a:cs typeface="Consolas"/>
              </a:rPr>
              <a:t>sum = 0;</a:t>
            </a:r>
            <a:endParaRPr lang="en-US" sz="3200" dirty="0"/>
          </a:p>
          <a:p>
            <a:pPr marL="0" indent="0" algn="l">
              <a:spcAft>
                <a:spcPts val="600"/>
              </a:spcAft>
              <a:buNone/>
            </a:pPr>
            <a:r>
              <a:rPr lang="en-US" sz="3200" dirty="0">
                <a:solidFill>
                  <a:srgbClr val="18324A"/>
                </a:solidFill>
              </a:rPr>
              <a:t>What does it print now?</a:t>
            </a:r>
            <a:endParaRPr lang="en-US" sz="3200" dirty="0"/>
          </a:p>
        </p:txBody>
      </p:sp>
      <p:sp>
        <p:nvSpPr>
          <p:cNvPr id="8" name="Shape 8"/>
          <p:cNvSpPr/>
          <p:nvPr/>
        </p:nvSpPr>
        <p:spPr>
          <a:xfrm>
            <a:off x="5760720" y="1261872"/>
            <a:ext cx="5882335" cy="36677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2724277"/>
            <a:ext cx="5882335"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272427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36677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sum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1; i &lt;= 5; i++) {</a:t>
            </a:r>
            <a:endParaRPr lang="en-US" sz="2600" dirty="0"/>
          </a:p>
          <a:p>
            <a:pPr marL="0" indent="0" algn="l">
              <a:lnSpc>
                <a:spcPts val="3250"/>
              </a:lnSpc>
              <a:buNone/>
            </a:pPr>
            <a:r>
              <a:rPr lang="en-US" sz="2600" dirty="0">
                <a:solidFill>
                  <a:srgbClr val="FFFFFF"/>
                </a:solidFill>
                <a:latin typeface="Consolas"/>
                <a:ea typeface="Consolas"/>
                <a:cs typeface="Consolas"/>
              </a:rPr>
              <a:t>    sum = 0;</a:t>
            </a:r>
            <a:endParaRPr lang="en-US" sz="2600" dirty="0"/>
          </a:p>
          <a:p>
            <a:pPr marL="0" indent="0" algn="l">
              <a:lnSpc>
                <a:spcPts val="3250"/>
              </a:lnSpc>
              <a:buNone/>
            </a:pPr>
            <a:r>
              <a:rPr lang="en-US" sz="2600" dirty="0">
                <a:solidFill>
                  <a:srgbClr val="64748B"/>
                </a:solidFill>
                <a:latin typeface="Consolas"/>
                <a:ea typeface="Consolas"/>
                <a:cs typeface="Consolas"/>
              </a:rPr>
              <a:t>    sum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printf("Sum = %d\n", sum);</a:t>
            </a:r>
            <a:endParaRPr lang="en-US"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Common mistake: the total is lost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20</a:t>
            </a:r>
            <a:endParaRPr lang="en-US" sz="1400" dirty="0"/>
          </a:p>
        </p:txBody>
      </p:sp>
      <p:sp>
        <p:nvSpPr>
          <p:cNvPr id="6" name="Shape 6"/>
          <p:cNvSpPr/>
          <p:nvPr/>
        </p:nvSpPr>
        <p:spPr>
          <a:xfrm>
            <a:off x="548640" y="1261872"/>
            <a:ext cx="6766560" cy="3921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822702"/>
            <a:ext cx="6766560" cy="444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822702"/>
            <a:ext cx="82296" cy="444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3921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int sum = 0;</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for (int i = 1; i &lt;= 5; i++) {</a:t>
            </a:r>
            <a:endParaRPr lang="en-US" sz="2800" dirty="0"/>
          </a:p>
          <a:p>
            <a:pPr marL="0" indent="0" algn="l">
              <a:lnSpc>
                <a:spcPts val="3500"/>
              </a:lnSpc>
              <a:buNone/>
            </a:pPr>
            <a:r>
              <a:rPr lang="en-US" sz="2800" dirty="0">
                <a:solidFill>
                  <a:srgbClr val="FFFFFF"/>
                </a:solidFill>
                <a:latin typeface="Consolas"/>
                <a:ea typeface="Consolas"/>
                <a:cs typeface="Consolas"/>
              </a:rPr>
              <a:t>    sum = 0;</a:t>
            </a:r>
            <a:endParaRPr lang="en-US" sz="2800" dirty="0"/>
          </a:p>
          <a:p>
            <a:pPr marL="0" indent="0" algn="l">
              <a:lnSpc>
                <a:spcPts val="3500"/>
              </a:lnSpc>
              <a:buNone/>
            </a:pPr>
            <a:r>
              <a:rPr lang="en-US" sz="2800" dirty="0">
                <a:solidFill>
                  <a:srgbClr val="64748B"/>
                </a:solidFill>
                <a:latin typeface="Consolas"/>
                <a:ea typeface="Consolas"/>
                <a:cs typeface="Consolas"/>
              </a:rPr>
              <a:t>    sum += i;</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printf("Sum = %d\n", sum);</a:t>
            </a:r>
            <a:endParaRPr lang="en-US" sz="28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Sum = 5</a:t>
            </a:r>
            <a:endParaRPr lang="en-US" sz="2400" dirty="0"/>
          </a:p>
        </p:txBody>
      </p:sp>
      <p:sp>
        <p:nvSpPr>
          <p:cNvPr id="13" name="Shape 13"/>
          <p:cNvSpPr/>
          <p:nvPr/>
        </p:nvSpPr>
        <p:spPr>
          <a:xfrm>
            <a:off x="7589520" y="26670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4" name="Shape 14"/>
          <p:cNvSpPr/>
          <p:nvPr/>
        </p:nvSpPr>
        <p:spPr>
          <a:xfrm>
            <a:off x="7589520" y="2667000"/>
            <a:ext cx="109728" cy="1051560"/>
          </a:xfrm>
          <a:prstGeom prst="rect">
            <a:avLst/>
          </a:prstGeom>
          <a:solidFill>
            <a:srgbClr val="FF6B6B"/>
          </a:solidFill>
          <a:ln>
            <a:noFill/>
          </a:ln>
        </p:spPr>
        <p:txBody>
          <a:bodyPr wrap="square" lIns="0" tIns="0" rIns="0" bIns="0" rtlCol="0" anchor="t"/>
          <a:lstStyle/>
          <a:p>
            <a:endParaRPr lang="en-US"/>
          </a:p>
        </p:txBody>
      </p:sp>
      <p:sp>
        <p:nvSpPr>
          <p:cNvPr id="15"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Every round, </a:t>
            </a:r>
            <a:r>
              <a:rPr lang="en-US" sz="2400" dirty="0">
                <a:solidFill>
                  <a:srgbClr val="18324A"/>
                </a:solidFill>
                <a:latin typeface="Consolas"/>
                <a:ea typeface="Consolas"/>
                <a:cs typeface="Consolas"/>
              </a:rPr>
              <a:t>sum</a:t>
            </a:r>
            <a:r>
              <a:rPr lang="en-US" sz="2400" dirty="0">
                <a:solidFill>
                  <a:srgbClr val="18324A"/>
                </a:solidFill>
              </a:rPr>
              <a:t> goes back to 0.</a:t>
            </a:r>
            <a:endParaRPr lang="en-US" sz="2400" dirty="0"/>
          </a:p>
        </p:txBody>
      </p:sp>
      <p:sp>
        <p:nvSpPr>
          <p:cNvPr id="16" name="Shape 16"/>
          <p:cNvSpPr/>
          <p:nvPr/>
        </p:nvSpPr>
        <p:spPr>
          <a:xfrm>
            <a:off x="7589520" y="3919728"/>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589520" y="3919728"/>
            <a:ext cx="109728" cy="105156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699248" y="3919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till forgets everything.</a:t>
            </a:r>
            <a:endParaRPr lang="en-US" sz="2400" dirty="0"/>
          </a:p>
        </p:txBody>
      </p:sp>
      <p:sp>
        <p:nvSpPr>
          <p:cNvPr id="19" name="Shape 19"/>
          <p:cNvSpPr/>
          <p:nvPr/>
        </p:nvSpPr>
        <p:spPr>
          <a:xfrm>
            <a:off x="7589520" y="5172456"/>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20" name="Shape 20"/>
          <p:cNvSpPr/>
          <p:nvPr/>
        </p:nvSpPr>
        <p:spPr>
          <a:xfrm>
            <a:off x="7589520" y="5172456"/>
            <a:ext cx="109728" cy="1051560"/>
          </a:xfrm>
          <a:prstGeom prst="rect">
            <a:avLst/>
          </a:prstGeom>
          <a:solidFill>
            <a:srgbClr val="F59E0B"/>
          </a:solidFill>
          <a:ln>
            <a:noFill/>
          </a:ln>
        </p:spPr>
        <p:txBody>
          <a:bodyPr wrap="square" lIns="0" tIns="0" rIns="0" bIns="0" rtlCol="0" anchor="t"/>
          <a:lstStyle/>
          <a:p>
            <a:endParaRPr lang="en-US"/>
          </a:p>
        </p:txBody>
      </p:sp>
      <p:sp>
        <p:nvSpPr>
          <p:cNvPr id="21" name="Callout"/>
          <p:cNvSpPr/>
          <p:nvPr/>
        </p:nvSpPr>
        <p:spPr>
          <a:xfrm>
            <a:off x="7699248" y="5172456"/>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No error. No warning. Wrong answer.</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Common mistake: making sum inside the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21</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Rule: make the total and set it to zero </a:t>
            </a:r>
            <a:r>
              <a:rPr lang="en-US" sz="2400" b="1" dirty="0">
                <a:solidFill>
                  <a:srgbClr val="18324A"/>
                </a:solidFill>
              </a:rPr>
              <a:t>before</a:t>
            </a:r>
            <a:r>
              <a:rPr lang="en-US" sz="2400" dirty="0">
                <a:solidFill>
                  <a:srgbClr val="18324A"/>
                </a:solidFill>
              </a:rPr>
              <a:t> the loop.</a:t>
            </a:r>
            <a:endParaRPr lang="en-US" sz="2400" dirty="0"/>
          </a:p>
        </p:txBody>
      </p:sp>
      <p:sp>
        <p:nvSpPr>
          <p:cNvPr id="9" name="Shape 9"/>
          <p:cNvSpPr/>
          <p:nvPr/>
        </p:nvSpPr>
        <p:spPr>
          <a:xfrm>
            <a:off x="548640" y="1261872"/>
            <a:ext cx="6766560" cy="3032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1933702"/>
            <a:ext cx="6766560" cy="444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1933702"/>
            <a:ext cx="82296" cy="44450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3711702"/>
            <a:ext cx="6766560" cy="44450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3711702"/>
            <a:ext cx="82296" cy="444500"/>
          </a:xfrm>
          <a:prstGeom prst="rect">
            <a:avLst/>
          </a:prstGeom>
          <a:solidFill>
            <a:srgbClr val="F59E0B"/>
          </a:solidFill>
          <a:ln>
            <a:noFill/>
          </a:ln>
        </p:spPr>
        <p:txBody>
          <a:bodyPr wrap="square" lIns="0" tIns="0" rIns="0" bIns="0" rtlCol="0" anchor="t"/>
          <a:lstStyle/>
          <a:p>
            <a:endParaRPr lang="en-US"/>
          </a:p>
        </p:txBody>
      </p:sp>
      <p:sp>
        <p:nvSpPr>
          <p:cNvPr id="14" name="Code"/>
          <p:cNvSpPr/>
          <p:nvPr/>
        </p:nvSpPr>
        <p:spPr>
          <a:xfrm>
            <a:off x="548640" y="1261872"/>
            <a:ext cx="676656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for (int i = 1; i &lt;= 5; i++) {</a:t>
            </a:r>
            <a:endParaRPr lang="en-US" sz="2800" dirty="0"/>
          </a:p>
          <a:p>
            <a:pPr marL="0" indent="0" algn="l">
              <a:lnSpc>
                <a:spcPts val="3500"/>
              </a:lnSpc>
              <a:buNone/>
            </a:pPr>
            <a:r>
              <a:rPr lang="en-US" sz="2800" dirty="0">
                <a:solidFill>
                  <a:srgbClr val="FFFFFF"/>
                </a:solidFill>
                <a:latin typeface="Consolas"/>
                <a:ea typeface="Consolas"/>
                <a:cs typeface="Consolas"/>
              </a:rPr>
              <a:t>    int sum = 0;</a:t>
            </a:r>
            <a:endParaRPr lang="en-US" sz="2800" dirty="0"/>
          </a:p>
          <a:p>
            <a:pPr marL="0" indent="0" algn="l">
              <a:lnSpc>
                <a:spcPts val="3500"/>
              </a:lnSpc>
              <a:buNone/>
            </a:pPr>
            <a:r>
              <a:rPr lang="en-US" sz="2800" dirty="0">
                <a:solidFill>
                  <a:srgbClr val="64748B"/>
                </a:solidFill>
                <a:latin typeface="Consolas"/>
                <a:ea typeface="Consolas"/>
                <a:cs typeface="Consolas"/>
              </a:rPr>
              <a:t>    sum += i;</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FFFFFF"/>
                </a:solidFill>
                <a:latin typeface="Consolas"/>
                <a:ea typeface="Consolas"/>
                <a:cs typeface="Consolas"/>
              </a:rPr>
              <a:t>printf("Sum = %d\n", sum);</a:t>
            </a:r>
            <a:endParaRPr lang="en-US" sz="2800" dirty="0"/>
          </a:p>
        </p:txBody>
      </p:sp>
      <p:sp>
        <p:nvSpPr>
          <p:cNvPr id="15" name="Shape 15"/>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gcc says</a:t>
            </a:r>
            <a:endParaRPr lang="en-US" sz="1600" dirty="0"/>
          </a:p>
        </p:txBody>
      </p:sp>
      <p:sp>
        <p:nvSpPr>
          <p:cNvPr id="16" name="Shape 16"/>
          <p:cNvSpPr/>
          <p:nvPr/>
        </p:nvSpPr>
        <p:spPr>
          <a:xfrm>
            <a:off x="7589520" y="1645920"/>
            <a:ext cx="4053535" cy="715010"/>
          </a:xfrm>
          <a:prstGeom prst="rect">
            <a:avLst/>
          </a:prstGeom>
          <a:solidFill>
            <a:srgbClr val="000000"/>
          </a:solidFill>
          <a:ln>
            <a:noFill/>
          </a:ln>
        </p:spPr>
        <p:txBody>
          <a:bodyPr wrap="square" lIns="0" tIns="0" rIns="0" bIns="0" rtlCol="0" anchor="t"/>
          <a:lstStyle/>
          <a:p>
            <a:endParaRPr lang="en-US"/>
          </a:p>
        </p:txBody>
      </p:sp>
      <p:sp>
        <p:nvSpPr>
          <p:cNvPr id="17" name="Code"/>
          <p:cNvSpPr/>
          <p:nvPr/>
        </p:nvSpPr>
        <p:spPr>
          <a:xfrm>
            <a:off x="7589520" y="1645920"/>
            <a:ext cx="4053535" cy="715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D1FAE5"/>
                </a:solidFill>
                <a:latin typeface="Consolas"/>
                <a:ea typeface="Consolas"/>
                <a:cs typeface="Consolas"/>
              </a:rPr>
              <a:t>error: 'sum' undeclared</a:t>
            </a:r>
            <a:endParaRPr lang="en-US" sz="2200" dirty="0"/>
          </a:p>
        </p:txBody>
      </p:sp>
      <p:sp>
        <p:nvSpPr>
          <p:cNvPr id="18" name="Shape 18"/>
          <p:cNvSpPr/>
          <p:nvPr/>
        </p:nvSpPr>
        <p:spPr>
          <a:xfrm>
            <a:off x="7589520" y="263525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9" name="Shape 19"/>
          <p:cNvSpPr/>
          <p:nvPr/>
        </p:nvSpPr>
        <p:spPr>
          <a:xfrm>
            <a:off x="7589520" y="2635250"/>
            <a:ext cx="109728" cy="1051560"/>
          </a:xfrm>
          <a:prstGeom prst="rect">
            <a:avLst/>
          </a:prstGeom>
          <a:solidFill>
            <a:srgbClr val="FF6B6B"/>
          </a:solidFill>
          <a:ln>
            <a:noFill/>
          </a:ln>
        </p:spPr>
        <p:txBody>
          <a:bodyPr wrap="square" lIns="0" tIns="0" rIns="0" bIns="0" rtlCol="0" anchor="t"/>
          <a:lstStyle/>
          <a:p>
            <a:endParaRPr lang="en-US"/>
          </a:p>
        </p:txBody>
      </p:sp>
      <p:sp>
        <p:nvSpPr>
          <p:cNvPr id="20" name="Callout"/>
          <p:cNvSpPr/>
          <p:nvPr/>
        </p:nvSpPr>
        <p:spPr>
          <a:xfrm>
            <a:off x="7699248" y="263525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 box made inside </a:t>
            </a:r>
            <a:r>
              <a:rPr lang="en-US" sz="2400" dirty="0">
                <a:solidFill>
                  <a:srgbClr val="18324A"/>
                </a:solidFill>
                <a:latin typeface="Consolas"/>
                <a:ea typeface="Consolas"/>
                <a:cs typeface="Consolas"/>
              </a:rPr>
              <a:t>{ }</a:t>
            </a:r>
            <a:r>
              <a:rPr lang="en-US" sz="2400" dirty="0">
                <a:solidFill>
                  <a:srgbClr val="18324A"/>
                </a:solidFill>
              </a:rPr>
              <a:t> is gone after the </a:t>
            </a:r>
            <a:r>
              <a:rPr lang="en-US" sz="2400" dirty="0">
                <a:solidFill>
                  <a:srgbClr val="18324A"/>
                </a:solidFill>
                <a:latin typeface="Consolas"/>
                <a:ea typeface="Consolas"/>
                <a:cs typeface="Consolas"/>
              </a:rPr>
              <a:t>}</a:t>
            </a:r>
            <a:r>
              <a:rPr lang="en-US" sz="2400" dirty="0">
                <a:solidFill>
                  <a:srgbClr val="18324A"/>
                </a:solidFill>
              </a:rPr>
              <a:t>.</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More totals: you choose where it stops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22</a:t>
            </a:r>
            <a:endParaRPr lang="en-US" sz="1400" dirty="0"/>
          </a:p>
        </p:txBody>
      </p:sp>
      <p:sp>
        <p:nvSpPr>
          <p:cNvPr id="6" name="Shape 6"/>
          <p:cNvSpPr/>
          <p:nvPr/>
        </p:nvSpPr>
        <p:spPr>
          <a:xfrm>
            <a:off x="548640" y="1261872"/>
            <a:ext cx="6309360" cy="3858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876677"/>
            <a:ext cx="63093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575177"/>
            <a:ext cx="63093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575177"/>
            <a:ext cx="82296" cy="3492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309360" cy="38582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n;</a:t>
            </a:r>
            <a:endParaRPr lang="en-US" sz="2200" dirty="0"/>
          </a:p>
          <a:p>
            <a:pPr marL="0" indent="0" algn="l">
              <a:lnSpc>
                <a:spcPts val="2750"/>
              </a:lnSpc>
              <a:buNone/>
            </a:pPr>
            <a:r>
              <a:rPr lang="en-US" sz="2200" dirty="0">
                <a:solidFill>
                  <a:srgbClr val="64748B"/>
                </a:solidFill>
                <a:latin typeface="Consolas"/>
                <a:ea typeface="Consolas"/>
                <a:cs typeface="Consolas"/>
              </a:rPr>
              <a:t>int sum = 0;</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printf("Add the numbers from 1 to: ");</a:t>
            </a:r>
            <a:endParaRPr lang="en-US" sz="2200" dirty="0"/>
          </a:p>
          <a:p>
            <a:pPr marL="0" indent="0" algn="l">
              <a:lnSpc>
                <a:spcPts val="2750"/>
              </a:lnSpc>
              <a:buNone/>
            </a:pPr>
            <a:r>
              <a:rPr lang="en-US" sz="2200" dirty="0">
                <a:solidFill>
                  <a:srgbClr val="FFFFFF"/>
                </a:solidFill>
                <a:latin typeface="Consolas"/>
                <a:ea typeface="Consolas"/>
                <a:cs typeface="Consolas"/>
              </a:rPr>
              <a:t>scanf("%d", &amp;n);</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for (int i = 1; i &lt;= n; i++) {</a:t>
            </a:r>
            <a:endParaRPr lang="en-US" sz="2200" dirty="0"/>
          </a:p>
          <a:p>
            <a:pPr marL="0" indent="0" algn="l">
              <a:lnSpc>
                <a:spcPts val="2750"/>
              </a:lnSpc>
              <a:buNone/>
            </a:pPr>
            <a:r>
              <a:rPr lang="en-US" sz="2200" dirty="0">
                <a:solidFill>
                  <a:srgbClr val="64748B"/>
                </a:solidFill>
                <a:latin typeface="Consolas"/>
                <a:ea typeface="Consolas"/>
                <a:cs typeface="Consolas"/>
              </a:rPr>
              <a:t>    sum += 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printf("Sum = %d\n", sum);</a:t>
            </a:r>
            <a:endParaRPr lang="en-US" sz="2200" dirty="0"/>
          </a:p>
        </p:txBody>
      </p:sp>
      <p:sp>
        <p:nvSpPr>
          <p:cNvPr id="12" name="Shape 12"/>
          <p:cNvSpPr/>
          <p:nvPr/>
        </p:nvSpPr>
        <p:spPr>
          <a:xfrm>
            <a:off x="7132320" y="1261872"/>
            <a:ext cx="45107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132320" y="1645920"/>
            <a:ext cx="4510735" cy="9372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132320" y="1645920"/>
            <a:ext cx="4510735" cy="937260"/>
          </a:xfrm>
          <a:prstGeom prst="rect">
            <a:avLst/>
          </a:prstGeom>
          <a:noFill/>
          <a:ln>
            <a:noFill/>
          </a:ln>
        </p:spPr>
        <p:txBody>
          <a:bodyPr wrap="square" lIns="182880" tIns="182880" rIns="182880" bIns="182880" rtlCol="0" anchor="t"/>
          <a:lstStyle/>
          <a:p>
            <a:pPr marL="0" indent="0" algn="l">
              <a:lnSpc>
                <a:spcPts val="2250"/>
              </a:lnSpc>
              <a:buNone/>
            </a:pPr>
            <a:r>
              <a:rPr lang="en-US" sz="1800" dirty="0">
                <a:solidFill>
                  <a:srgbClr val="D1FAE5"/>
                </a:solidFill>
                <a:latin typeface="Consolas"/>
                <a:ea typeface="Consolas"/>
                <a:cs typeface="Consolas"/>
              </a:rPr>
              <a:t>Add the numbers from 1 to: 100</a:t>
            </a:r>
            <a:endParaRPr lang="en-US" sz="1800" dirty="0"/>
          </a:p>
          <a:p>
            <a:pPr marL="0" indent="0" algn="l">
              <a:lnSpc>
                <a:spcPts val="2250"/>
              </a:lnSpc>
              <a:buNone/>
            </a:pPr>
            <a:r>
              <a:rPr lang="en-US" sz="1800" dirty="0">
                <a:solidFill>
                  <a:srgbClr val="D1FAE5"/>
                </a:solidFill>
                <a:latin typeface="Consolas"/>
                <a:ea typeface="Consolas"/>
                <a:cs typeface="Consolas"/>
              </a:rPr>
              <a:t>Sum = 5050</a:t>
            </a:r>
            <a:endParaRPr lang="en-US" sz="1800" dirty="0"/>
          </a:p>
        </p:txBody>
      </p:sp>
      <p:sp>
        <p:nvSpPr>
          <p:cNvPr id="15" name="Shape 15"/>
          <p:cNvSpPr/>
          <p:nvPr/>
        </p:nvSpPr>
        <p:spPr>
          <a:xfrm>
            <a:off x="7132320" y="2857500"/>
            <a:ext cx="45107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6" name="Shape 16"/>
          <p:cNvSpPr/>
          <p:nvPr/>
        </p:nvSpPr>
        <p:spPr>
          <a:xfrm>
            <a:off x="7132320" y="2857500"/>
            <a:ext cx="109728" cy="1051560"/>
          </a:xfrm>
          <a:prstGeom prst="rect">
            <a:avLst/>
          </a:prstGeom>
          <a:solidFill>
            <a:srgbClr val="2F80ED"/>
          </a:solidFill>
          <a:ln>
            <a:noFill/>
          </a:ln>
        </p:spPr>
        <p:txBody>
          <a:bodyPr wrap="square" lIns="0" tIns="0" rIns="0" bIns="0" rtlCol="0" anchor="t"/>
          <a:lstStyle/>
          <a:p>
            <a:endParaRPr lang="en-US"/>
          </a:p>
        </p:txBody>
      </p:sp>
      <p:sp>
        <p:nvSpPr>
          <p:cNvPr id="17" name="Callout"/>
          <p:cNvSpPr/>
          <p:nvPr/>
        </p:nvSpPr>
        <p:spPr>
          <a:xfrm>
            <a:off x="7242048" y="2857500"/>
            <a:ext cx="44010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Same pattern. The loop stops at </a:t>
            </a:r>
            <a:r>
              <a:rPr lang="en-US" sz="2400" dirty="0">
                <a:solidFill>
                  <a:srgbClr val="18324A"/>
                </a:solidFill>
                <a:latin typeface="Consolas"/>
                <a:ea typeface="Consolas"/>
                <a:cs typeface="Consolas"/>
              </a:rPr>
              <a:t>n</a:t>
            </a:r>
            <a:r>
              <a:rPr lang="en-US" sz="2400" dirty="0">
                <a:solidFill>
                  <a:srgbClr val="18324A"/>
                </a:solidFill>
              </a:rPr>
              <a:t>.</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More totals: add until the user types 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23</a:t>
            </a:r>
            <a:endParaRPr lang="en-US" sz="1400" dirty="0"/>
          </a:p>
        </p:txBody>
      </p:sp>
      <p:sp>
        <p:nvSpPr>
          <p:cNvPr id="6" name="Shape 6"/>
          <p:cNvSpPr/>
          <p:nvPr/>
        </p:nvSpPr>
        <p:spPr>
          <a:xfrm>
            <a:off x="548640" y="1261872"/>
            <a:ext cx="6766560" cy="3858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381502"/>
            <a:ext cx="67665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3815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016502"/>
            <a:ext cx="676656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016502"/>
            <a:ext cx="82296" cy="3175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3858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value;</a:t>
            </a:r>
            <a:endParaRPr lang="en-US" sz="2000" dirty="0"/>
          </a:p>
          <a:p>
            <a:pPr marL="0" indent="0" algn="l">
              <a:lnSpc>
                <a:spcPts val="2500"/>
              </a:lnSpc>
              <a:buNone/>
            </a:pPr>
            <a:r>
              <a:rPr lang="en-US" sz="2000" dirty="0">
                <a:solidFill>
                  <a:srgbClr val="64748B"/>
                </a:solidFill>
                <a:latin typeface="Consolas"/>
                <a:ea typeface="Consolas"/>
                <a:cs typeface="Consolas"/>
              </a:rPr>
              <a:t>int sum = 0;</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printf("Type numbers. Type 0 to stop.\n");</a:t>
            </a:r>
            <a:endParaRPr lang="en-US" sz="2000" dirty="0"/>
          </a:p>
          <a:p>
            <a:pPr marL="0" indent="0" algn="l">
              <a:lnSpc>
                <a:spcPts val="2500"/>
              </a:lnSpc>
              <a:buNone/>
            </a:pPr>
            <a:r>
              <a:rPr lang="en-US" sz="2000" dirty="0">
                <a:solidFill>
                  <a:srgbClr val="64748B"/>
                </a:solidFill>
                <a:latin typeface="Consolas"/>
                <a:ea typeface="Consolas"/>
                <a:cs typeface="Consolas"/>
              </a:rPr>
              <a:t>scanf("%d", &amp;value);</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while (value != 0) {</a:t>
            </a:r>
            <a:endParaRPr lang="en-US" sz="2000" dirty="0"/>
          </a:p>
          <a:p>
            <a:pPr marL="0" indent="0" algn="l">
              <a:lnSpc>
                <a:spcPts val="2500"/>
              </a:lnSpc>
              <a:buNone/>
            </a:pPr>
            <a:r>
              <a:rPr lang="en-US" sz="2000" dirty="0">
                <a:solidFill>
                  <a:srgbClr val="64748B"/>
                </a:solidFill>
                <a:latin typeface="Consolas"/>
                <a:ea typeface="Consolas"/>
                <a:cs typeface="Consolas"/>
              </a:rPr>
              <a:t>    sum += value;</a:t>
            </a:r>
            <a:endParaRPr lang="en-US" sz="2000" dirty="0"/>
          </a:p>
          <a:p>
            <a:pPr marL="0" indent="0" algn="l">
              <a:lnSpc>
                <a:spcPts val="2500"/>
              </a:lnSpc>
              <a:buNone/>
            </a:pPr>
            <a:r>
              <a:rPr lang="en-US" sz="2000" dirty="0">
                <a:solidFill>
                  <a:srgbClr val="FFFFFF"/>
                </a:solidFill>
                <a:latin typeface="Consolas"/>
                <a:ea typeface="Consolas"/>
                <a:cs typeface="Consolas"/>
              </a:rPr>
              <a:t>    scanf("%d", &amp;value);</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printf("Sum = %d\n", sum);</a:t>
            </a:r>
            <a:endParaRPr lang="en-US" sz="2000" dirty="0"/>
          </a:p>
        </p:txBody>
      </p:sp>
      <p:sp>
        <p:nvSpPr>
          <p:cNvPr id="12" name="Shape 12"/>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589520" y="1645920"/>
            <a:ext cx="4053535" cy="122301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589520" y="1645920"/>
            <a:ext cx="4053535" cy="1223010"/>
          </a:xfrm>
          <a:prstGeom prst="rect">
            <a:avLst/>
          </a:prstGeom>
          <a:noFill/>
          <a:ln>
            <a:noFill/>
          </a:ln>
        </p:spPr>
        <p:txBody>
          <a:bodyPr wrap="square" lIns="182880" tIns="182880" rIns="182880" bIns="182880" rtlCol="0" anchor="t"/>
          <a:lstStyle/>
          <a:p>
            <a:pPr marL="0" indent="0" algn="l">
              <a:lnSpc>
                <a:spcPts val="2250"/>
              </a:lnSpc>
              <a:buNone/>
            </a:pPr>
            <a:r>
              <a:rPr lang="en-US" sz="1800" dirty="0">
                <a:solidFill>
                  <a:srgbClr val="D1FAE5"/>
                </a:solidFill>
                <a:latin typeface="Consolas"/>
                <a:ea typeface="Consolas"/>
                <a:cs typeface="Consolas"/>
              </a:rPr>
              <a:t>Type numbers. Type 0 to stop.</a:t>
            </a:r>
            <a:endParaRPr lang="en-US" sz="1800" dirty="0"/>
          </a:p>
          <a:p>
            <a:pPr marL="0" indent="0" algn="l">
              <a:lnSpc>
                <a:spcPts val="2250"/>
              </a:lnSpc>
              <a:buNone/>
            </a:pPr>
            <a:r>
              <a:rPr lang="en-US" sz="1800" dirty="0">
                <a:solidFill>
                  <a:srgbClr val="D1FAE5"/>
                </a:solidFill>
                <a:latin typeface="Consolas"/>
                <a:ea typeface="Consolas"/>
                <a:cs typeface="Consolas"/>
              </a:rPr>
              <a:t>5 10 -3 8 0</a:t>
            </a:r>
            <a:endParaRPr lang="en-US" sz="1800" dirty="0"/>
          </a:p>
          <a:p>
            <a:pPr marL="0" indent="0" algn="l">
              <a:lnSpc>
                <a:spcPts val="2250"/>
              </a:lnSpc>
              <a:buNone/>
            </a:pPr>
            <a:r>
              <a:rPr lang="en-US" sz="1800" dirty="0">
                <a:solidFill>
                  <a:srgbClr val="D1FAE5"/>
                </a:solidFill>
                <a:latin typeface="Consolas"/>
                <a:ea typeface="Consolas"/>
                <a:cs typeface="Consolas"/>
              </a:rPr>
              <a:t>Sum = 20</a:t>
            </a:r>
            <a:endParaRPr lang="en-US" sz="1800" dirty="0"/>
          </a:p>
        </p:txBody>
      </p:sp>
      <p:sp>
        <p:nvSpPr>
          <p:cNvPr id="15" name="Shape 15"/>
          <p:cNvSpPr/>
          <p:nvPr/>
        </p:nvSpPr>
        <p:spPr>
          <a:xfrm>
            <a:off x="7589520" y="3143250"/>
            <a:ext cx="4053535" cy="105156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6" name="Shape 16"/>
          <p:cNvSpPr/>
          <p:nvPr/>
        </p:nvSpPr>
        <p:spPr>
          <a:xfrm>
            <a:off x="7589520" y="3143250"/>
            <a:ext cx="109728" cy="1051560"/>
          </a:xfrm>
          <a:prstGeom prst="rect">
            <a:avLst/>
          </a:prstGeom>
          <a:solidFill>
            <a:srgbClr val="8B5CF6"/>
          </a:solidFill>
          <a:ln>
            <a:noFill/>
          </a:ln>
        </p:spPr>
        <p:txBody>
          <a:bodyPr wrap="square" lIns="0" tIns="0" rIns="0" bIns="0" rtlCol="0" anchor="t"/>
          <a:lstStyle/>
          <a:p>
            <a:endParaRPr lang="en-US"/>
          </a:p>
        </p:txBody>
      </p:sp>
      <p:sp>
        <p:nvSpPr>
          <p:cNvPr id="17" name="Callout"/>
          <p:cNvSpPr/>
          <p:nvPr/>
        </p:nvSpPr>
        <p:spPr>
          <a:xfrm>
            <a:off x="7699248" y="314325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How many numbers? We do not know. So: </a:t>
            </a:r>
            <a:r>
              <a:rPr lang="en-US" sz="2400" dirty="0">
                <a:solidFill>
                  <a:srgbClr val="18324A"/>
                </a:solidFill>
                <a:latin typeface="Consolas"/>
                <a:ea typeface="Consolas"/>
                <a:cs typeface="Consolas"/>
              </a:rPr>
              <a:t>while</a:t>
            </a:r>
            <a:r>
              <a:rPr lang="en-US" sz="2400" dirty="0">
                <a:solidFill>
                  <a:srgbClr val="18324A"/>
                </a:solidFill>
              </a:rPr>
              <a:t>.</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31C48D"/>
          </a:solidFill>
          <a:ln>
            <a:noFill/>
          </a:ln>
        </p:spPr>
        <p:txBody>
          <a:bodyPr wrap="square" lIns="0" tIns="0" rIns="0" bIns="0" rtlCol="0" anchor="ctr"/>
          <a:lstStyle/>
          <a:p>
            <a:pPr marL="0" indent="0" algn="ctr">
              <a:buNone/>
            </a:pPr>
            <a:r>
              <a:rPr lang="en-US" sz="5400" b="1" dirty="0">
                <a:solidFill>
                  <a:srgbClr val="FFFFFF"/>
                </a:solidFill>
              </a:rPr>
              <a:t>2</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Counter pattern</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Add one, but only when something happens</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Counter pattern: counting events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25</a:t>
            </a:r>
            <a:endParaRPr lang="en-US" sz="1400" dirty="0"/>
          </a:p>
        </p:txBody>
      </p:sp>
      <p:sp>
        <p:nvSpPr>
          <p:cNvPr id="6" name="Shape 6"/>
          <p:cNvSpPr/>
          <p:nvPr/>
        </p:nvSpPr>
        <p:spPr>
          <a:xfrm>
            <a:off x="548640" y="1399032"/>
            <a:ext cx="109728" cy="14020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A counter grows by one when something happens.</a:t>
            </a:r>
            <a:endParaRPr lang="en-US" sz="4000" dirty="0"/>
          </a:p>
        </p:txBody>
      </p:sp>
      <p:sp>
        <p:nvSpPr>
          <p:cNvPr id="8" name="Shape 8"/>
          <p:cNvSpPr/>
          <p:nvPr/>
        </p:nvSpPr>
        <p:spPr>
          <a:xfrm>
            <a:off x="914400" y="32125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How many students passed?</a:t>
            </a:r>
            <a:endParaRPr lang="en-US" sz="3000" dirty="0"/>
          </a:p>
          <a:p>
            <a:pPr marL="0" indent="0" algn="l">
              <a:spcAft>
                <a:spcPts val="1600"/>
              </a:spcAft>
              <a:buNone/>
            </a:pPr>
            <a:r>
              <a:rPr lang="en-US" sz="3000" dirty="0">
                <a:solidFill>
                  <a:srgbClr val="18324A"/>
                </a:solidFill>
              </a:rPr>
              <a:t>How many payments failed?</a:t>
            </a:r>
            <a:endParaRPr lang="en-US" sz="3000" dirty="0"/>
          </a:p>
          <a:p>
            <a:pPr marL="0" indent="0" algn="l">
              <a:spcAft>
                <a:spcPts val="1600"/>
              </a:spcAft>
              <a:buNone/>
            </a:pPr>
            <a:r>
              <a:rPr lang="en-US" sz="3000" dirty="0">
                <a:solidFill>
                  <a:srgbClr val="18324A"/>
                </a:solidFill>
              </a:rPr>
              <a:t>How many of these numbers are positive?</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program: count.c</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26</a:t>
            </a:r>
            <a:endParaRPr lang="en-US" sz="1400" dirty="0"/>
          </a:p>
        </p:txBody>
      </p:sp>
      <p:sp>
        <p:nvSpPr>
          <p:cNvPr id="6" name="Shape 6"/>
          <p:cNvSpPr/>
          <p:nvPr/>
        </p:nvSpPr>
        <p:spPr>
          <a:xfrm>
            <a:off x="548640" y="1261872"/>
            <a:ext cx="11094415" cy="490601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11094415"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int count = 0;</a:t>
            </a:r>
            <a:endParaRPr lang="en-US" sz="2200" dirty="0"/>
          </a:p>
          <a:p>
            <a:pPr marL="0" indent="0" algn="l">
              <a:lnSpc>
                <a:spcPts val="2750"/>
              </a:lnSpc>
              <a:buNone/>
            </a:pPr>
            <a:r>
              <a:rPr lang="en-US" sz="2200" dirty="0">
                <a:solidFill>
                  <a:srgbClr val="E5E7EB"/>
                </a:solidFill>
                <a:latin typeface="Consolas"/>
                <a:ea typeface="Consolas"/>
                <a:cs typeface="Consolas"/>
              </a:rPr>
              <a:t>int n, value;</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printf("How many values? ");</a:t>
            </a:r>
            <a:endParaRPr lang="en-US" sz="2200" dirty="0"/>
          </a:p>
          <a:p>
            <a:pPr marL="0" indent="0" algn="l">
              <a:lnSpc>
                <a:spcPts val="2750"/>
              </a:lnSpc>
              <a:buNone/>
            </a:pPr>
            <a:r>
              <a:rPr lang="en-US" sz="2200" dirty="0">
                <a:solidFill>
                  <a:srgbClr val="E5E7EB"/>
                </a:solidFill>
                <a:latin typeface="Consolas"/>
                <a:ea typeface="Consolas"/>
                <a:cs typeface="Consolas"/>
              </a:rPr>
              <a:t>scanf("%d", &amp;n);</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for (int i = 0; i &lt; n; i++) {</a:t>
            </a:r>
            <a:endParaRPr lang="en-US" sz="2200" dirty="0"/>
          </a:p>
          <a:p>
            <a:pPr marL="0" indent="0" algn="l">
              <a:lnSpc>
                <a:spcPts val="2750"/>
              </a:lnSpc>
              <a:buNone/>
            </a:pPr>
            <a:r>
              <a:rPr lang="en-US" sz="2200" dirty="0">
                <a:solidFill>
                  <a:srgbClr val="E5E7EB"/>
                </a:solidFill>
                <a:latin typeface="Consolas"/>
                <a:ea typeface="Consolas"/>
                <a:cs typeface="Consolas"/>
              </a:rPr>
              <a:t>    scanf("%d", &amp;value);</a:t>
            </a:r>
            <a:endParaRPr lang="en-US" sz="2200" dirty="0"/>
          </a:p>
          <a:p>
            <a:pPr marL="0" indent="0" algn="l">
              <a:lnSpc>
                <a:spcPts val="2750"/>
              </a:lnSpc>
              <a:buNone/>
            </a:pPr>
            <a:r>
              <a:rPr lang="en-US" sz="2200" dirty="0">
                <a:solidFill>
                  <a:srgbClr val="E5E7EB"/>
                </a:solidFill>
                <a:latin typeface="Consolas"/>
                <a:ea typeface="Consolas"/>
                <a:cs typeface="Consolas"/>
              </a:rPr>
              <a:t>    if (value &gt; 0) {</a:t>
            </a:r>
            <a:endParaRPr lang="en-US" sz="2200" dirty="0"/>
          </a:p>
          <a:p>
            <a:pPr marL="0" indent="0" algn="l">
              <a:lnSpc>
                <a:spcPts val="2750"/>
              </a:lnSpc>
              <a:buNone/>
            </a:pPr>
            <a:r>
              <a:rPr lang="en-US" sz="2200" dirty="0">
                <a:solidFill>
                  <a:srgbClr val="E5E7EB"/>
                </a:solidFill>
                <a:latin typeface="Consolas"/>
                <a:ea typeface="Consolas"/>
                <a:cs typeface="Consolas"/>
              </a:rPr>
              <a:t>        count++;</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a:p>
            <a:pPr marL="0" indent="0" algn="l">
              <a:lnSpc>
                <a:spcPts val="2750"/>
              </a:lnSpc>
              <a:buNone/>
            </a:pPr>
            <a:r>
              <a:rPr lang="en-US" sz="2200" dirty="0">
                <a:solidFill>
                  <a:srgbClr val="E5E7EB"/>
                </a:solidFill>
                <a:latin typeface="Consolas"/>
                <a:ea typeface="Consolas"/>
                <a:cs typeface="Consolas"/>
              </a:rPr>
              <a:t>printf("Positive values: %d\n", count);</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counter starts at 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27</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796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7967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FFFFFF"/>
                </a:solidFill>
                <a:latin typeface="Consolas"/>
                <a:ea typeface="Consolas"/>
                <a:cs typeface="Consolas"/>
              </a:rPr>
              <a:t>int count = 0;</a:t>
            </a:r>
            <a:endParaRPr lang="en-US" sz="2200" dirty="0"/>
          </a:p>
          <a:p>
            <a:pPr marL="0" indent="0" algn="l">
              <a:lnSpc>
                <a:spcPts val="2750"/>
              </a:lnSpc>
              <a:buNone/>
            </a:pPr>
            <a:r>
              <a:rPr lang="en-US" sz="2200" dirty="0">
                <a:solidFill>
                  <a:srgbClr val="64748B"/>
                </a:solidFill>
                <a:latin typeface="Consolas"/>
                <a:ea typeface="Consolas"/>
                <a:cs typeface="Consolas"/>
              </a:rPr>
              <a:t>int n, value;</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printf("How many values? ");</a:t>
            </a:r>
            <a:endParaRPr lang="en-US" sz="2200" dirty="0"/>
          </a:p>
          <a:p>
            <a:pPr marL="0" indent="0" algn="l">
              <a:lnSpc>
                <a:spcPts val="2750"/>
              </a:lnSpc>
              <a:buNone/>
            </a:pPr>
            <a:r>
              <a:rPr lang="en-US" sz="2200" dirty="0">
                <a:solidFill>
                  <a:srgbClr val="64748B"/>
                </a:solidFill>
                <a:latin typeface="Consolas"/>
                <a:ea typeface="Consolas"/>
                <a:cs typeface="Consolas"/>
              </a:rPr>
              <a:t>scanf("%d", &amp;n);</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for (int i = 0; i &lt; n; i++) {</a:t>
            </a:r>
            <a:endParaRPr lang="en-US" sz="2200" dirty="0"/>
          </a:p>
          <a:p>
            <a:pPr marL="0" indent="0" algn="l">
              <a:lnSpc>
                <a:spcPts val="2750"/>
              </a:lnSpc>
              <a:buNone/>
            </a:pPr>
            <a:r>
              <a:rPr lang="en-US" sz="2200" dirty="0">
                <a:solidFill>
                  <a:srgbClr val="64748B"/>
                </a:solidFill>
                <a:latin typeface="Consolas"/>
                <a:ea typeface="Consolas"/>
                <a:cs typeface="Consolas"/>
              </a:rPr>
              <a:t>    scanf("%d", &amp;value);</a:t>
            </a:r>
            <a:endParaRPr lang="en-US" sz="2200" dirty="0"/>
          </a:p>
          <a:p>
            <a:pPr marL="0" indent="0" algn="l">
              <a:lnSpc>
                <a:spcPts val="2750"/>
              </a:lnSpc>
              <a:buNone/>
            </a:pPr>
            <a:r>
              <a:rPr lang="en-US" sz="2200" dirty="0">
                <a:solidFill>
                  <a:srgbClr val="64748B"/>
                </a:solidFill>
                <a:latin typeface="Consolas"/>
                <a:ea typeface="Consolas"/>
                <a:cs typeface="Consolas"/>
              </a:rPr>
              <a:t>    if (value &gt; 0) {</a:t>
            </a:r>
            <a:endParaRPr lang="en-US" sz="2200" dirty="0"/>
          </a:p>
          <a:p>
            <a:pPr marL="0" indent="0" algn="l">
              <a:lnSpc>
                <a:spcPts val="2750"/>
              </a:lnSpc>
              <a:buNone/>
            </a:pPr>
            <a:r>
              <a:rPr lang="en-US" sz="2200" dirty="0">
                <a:solidFill>
                  <a:srgbClr val="64748B"/>
                </a:solidFill>
                <a:latin typeface="Consolas"/>
                <a:ea typeface="Consolas"/>
                <a:cs typeface="Consolas"/>
              </a:rPr>
              <a:t>        count++;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printf("Positive values: %d\n", count);</a:t>
            </a:r>
            <a:endParaRPr lang="en-US" sz="2200" dirty="0"/>
          </a:p>
        </p:txBody>
      </p:sp>
      <p:sp>
        <p:nvSpPr>
          <p:cNvPr id="10" name="Shape 10"/>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Nothing is counted yet.</a:t>
            </a:r>
            <a:endParaRPr lang="en-US" sz="2400" dirty="0"/>
          </a:p>
        </p:txBody>
      </p:sp>
      <p:sp>
        <p:nvSpPr>
          <p:cNvPr id="13" name="Shape 13"/>
          <p:cNvSpPr/>
          <p:nvPr/>
        </p:nvSpPr>
        <p:spPr>
          <a:xfrm>
            <a:off x="7589520" y="214884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4" name="Shape 14"/>
          <p:cNvSpPr/>
          <p:nvPr/>
        </p:nvSpPr>
        <p:spPr>
          <a:xfrm>
            <a:off x="7589520" y="2148840"/>
            <a:ext cx="109728" cy="1051560"/>
          </a:xfrm>
          <a:prstGeom prst="rect">
            <a:avLst/>
          </a:prstGeom>
          <a:solidFill>
            <a:srgbClr val="2F80ED"/>
          </a:solidFill>
          <a:ln>
            <a:noFill/>
          </a:ln>
        </p:spPr>
        <p:txBody>
          <a:bodyPr wrap="square" lIns="0" tIns="0" rIns="0" bIns="0" rtlCol="0" anchor="t"/>
          <a:lstStyle/>
          <a:p>
            <a:endParaRPr lang="en-US"/>
          </a:p>
        </p:txBody>
      </p:sp>
      <p:sp>
        <p:nvSpPr>
          <p:cNvPr id="15" name="Callout"/>
          <p:cNvSpPr/>
          <p:nvPr/>
        </p:nvSpPr>
        <p:spPr>
          <a:xfrm>
            <a:off x="7699248" y="214884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Before the loop, like the total.</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An if inside a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28</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42736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4273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622927"/>
            <a:ext cx="67665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62292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972177"/>
            <a:ext cx="676656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972177"/>
            <a:ext cx="82296" cy="3492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count = 0;</a:t>
            </a:r>
            <a:endParaRPr lang="en-US" sz="2200" dirty="0"/>
          </a:p>
          <a:p>
            <a:pPr marL="0" indent="0" algn="l">
              <a:lnSpc>
                <a:spcPts val="2750"/>
              </a:lnSpc>
              <a:buNone/>
            </a:pPr>
            <a:r>
              <a:rPr lang="en-US" sz="2200" dirty="0">
                <a:solidFill>
                  <a:srgbClr val="64748B"/>
                </a:solidFill>
                <a:latin typeface="Consolas"/>
                <a:ea typeface="Consolas"/>
                <a:cs typeface="Consolas"/>
              </a:rPr>
              <a:t>int n, value;</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printf("How many values? ");</a:t>
            </a:r>
            <a:endParaRPr lang="en-US" sz="2200" dirty="0"/>
          </a:p>
          <a:p>
            <a:pPr marL="0" indent="0" algn="l">
              <a:lnSpc>
                <a:spcPts val="2750"/>
              </a:lnSpc>
              <a:buNone/>
            </a:pPr>
            <a:r>
              <a:rPr lang="en-US" sz="2200" dirty="0">
                <a:solidFill>
                  <a:srgbClr val="64748B"/>
                </a:solidFill>
                <a:latin typeface="Consolas"/>
                <a:ea typeface="Consolas"/>
                <a:cs typeface="Consolas"/>
              </a:rPr>
              <a:t>scanf("%d", &amp;n);</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for (int i = 0; i &lt; n; i++) {</a:t>
            </a:r>
            <a:endParaRPr lang="en-US" sz="2200" dirty="0"/>
          </a:p>
          <a:p>
            <a:pPr marL="0" indent="0" algn="l">
              <a:lnSpc>
                <a:spcPts val="2750"/>
              </a:lnSpc>
              <a:buNone/>
            </a:pPr>
            <a:r>
              <a:rPr lang="en-US" sz="2200" dirty="0">
                <a:solidFill>
                  <a:srgbClr val="64748B"/>
                </a:solidFill>
                <a:latin typeface="Consolas"/>
                <a:ea typeface="Consolas"/>
                <a:cs typeface="Consolas"/>
              </a:rPr>
              <a:t>    scanf("%d", &amp;value);</a:t>
            </a:r>
            <a:endParaRPr lang="en-US" sz="2200" dirty="0"/>
          </a:p>
          <a:p>
            <a:pPr marL="0" indent="0" algn="l">
              <a:lnSpc>
                <a:spcPts val="2750"/>
              </a:lnSpc>
              <a:buNone/>
            </a:pPr>
            <a:r>
              <a:rPr lang="en-US" sz="2200" dirty="0">
                <a:solidFill>
                  <a:srgbClr val="FFFFFF"/>
                </a:solidFill>
                <a:latin typeface="Consolas"/>
                <a:ea typeface="Consolas"/>
                <a:cs typeface="Consolas"/>
              </a:rPr>
              <a:t>    if (value &gt; 0) {</a:t>
            </a:r>
            <a:endParaRPr lang="en-US" sz="2200" dirty="0"/>
          </a:p>
          <a:p>
            <a:pPr marL="0" indent="0" algn="l">
              <a:lnSpc>
                <a:spcPts val="2750"/>
              </a:lnSpc>
              <a:buNone/>
            </a:pPr>
            <a:r>
              <a:rPr lang="en-US" sz="2200" dirty="0">
                <a:solidFill>
                  <a:srgbClr val="FFFFFF"/>
                </a:solidFill>
                <a:latin typeface="Consolas"/>
                <a:ea typeface="Consolas"/>
                <a:cs typeface="Consolas"/>
              </a:rPr>
              <a:t>        count++;</a:t>
            </a:r>
            <a:endParaRPr lang="en-US" sz="2200" dirty="0"/>
          </a:p>
          <a:p>
            <a:pPr marL="0" indent="0" algn="l">
              <a:lnSpc>
                <a:spcPts val="2750"/>
              </a:lnSpc>
              <a:buNone/>
            </a:pPr>
            <a:r>
              <a:rPr lang="en-US" sz="2200" dirty="0">
                <a:solidFill>
                  <a:srgbClr val="FFFFFF"/>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printf("Positive values: %d\n", count);</a:t>
            </a:r>
            <a:endParaRPr lang="en-US" sz="2200" dirty="0"/>
          </a:p>
        </p:txBody>
      </p:sp>
      <p:sp>
        <p:nvSpPr>
          <p:cNvPr id="14" name="Shape 14"/>
          <p:cNvSpPr/>
          <p:nvPr/>
        </p:nvSpPr>
        <p:spPr>
          <a:xfrm>
            <a:off x="7589520" y="1261872"/>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5" name="Shape 15"/>
          <p:cNvSpPr/>
          <p:nvPr/>
        </p:nvSpPr>
        <p:spPr>
          <a:xfrm>
            <a:off x="7589520" y="1261872"/>
            <a:ext cx="109728" cy="1051560"/>
          </a:xfrm>
          <a:prstGeom prst="rect">
            <a:avLst/>
          </a:prstGeom>
          <a:solidFill>
            <a:srgbClr val="31C48D"/>
          </a:solidFill>
          <a:ln>
            <a:noFill/>
          </a:ln>
        </p:spPr>
        <p:txBody>
          <a:bodyPr wrap="square" lIns="0" tIns="0" rIns="0" bIns="0" rtlCol="0" anchor="t"/>
          <a:lstStyle/>
          <a:p>
            <a:endParaRPr lang="en-US"/>
          </a:p>
        </p:txBody>
      </p:sp>
      <p:sp>
        <p:nvSpPr>
          <p:cNvPr id="16"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question is asked again </a:t>
            </a:r>
            <a:r>
              <a:rPr lang="en-US" sz="2400" b="1" dirty="0">
                <a:solidFill>
                  <a:srgbClr val="18324A"/>
                </a:solidFill>
              </a:rPr>
              <a:t>every round</a:t>
            </a:r>
            <a:r>
              <a:rPr lang="en-US" sz="2400" dirty="0">
                <a:solidFill>
                  <a:srgbClr val="18324A"/>
                </a:solidFill>
              </a:rPr>
              <a:t>.</a:t>
            </a:r>
            <a:endParaRPr lang="en-US" sz="2400" dirty="0"/>
          </a:p>
        </p:txBody>
      </p:sp>
      <p:sp>
        <p:nvSpPr>
          <p:cNvPr id="17" name="Shape 17"/>
          <p:cNvSpPr/>
          <p:nvPr/>
        </p:nvSpPr>
        <p:spPr>
          <a:xfrm>
            <a:off x="7589520" y="25146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8" name="Shape 18"/>
          <p:cNvSpPr/>
          <p:nvPr/>
        </p:nvSpPr>
        <p:spPr>
          <a:xfrm>
            <a:off x="7589520" y="2514600"/>
            <a:ext cx="109728" cy="1051560"/>
          </a:xfrm>
          <a:prstGeom prst="rect">
            <a:avLst/>
          </a:prstGeom>
          <a:solidFill>
            <a:srgbClr val="31C48D"/>
          </a:solidFill>
          <a:ln>
            <a:noFill/>
          </a:ln>
        </p:spPr>
        <p:txBody>
          <a:bodyPr wrap="square" lIns="0" tIns="0" rIns="0" bIns="0" rtlCol="0" anchor="t"/>
          <a:lstStyle/>
          <a:p>
            <a:endParaRPr lang="en-US"/>
          </a:p>
        </p:txBody>
      </p:sp>
      <p:sp>
        <p:nvSpPr>
          <p:cNvPr id="19"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count++</a:t>
            </a:r>
            <a:r>
              <a:rPr lang="en-US" sz="2400" dirty="0">
                <a:solidFill>
                  <a:srgbClr val="18324A"/>
                </a:solidFill>
              </a:rPr>
              <a:t> only when the answer is yes.</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How many positive values?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29</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You type </a:t>
            </a:r>
            <a:r>
              <a:rPr lang="en-US" sz="3200" dirty="0">
                <a:solidFill>
                  <a:srgbClr val="2F80ED"/>
                </a:solidFill>
                <a:latin typeface="Consolas"/>
                <a:ea typeface="Consolas"/>
                <a:cs typeface="Consolas"/>
              </a:rPr>
              <a:t>5</a:t>
            </a:r>
            <a:r>
              <a:rPr lang="en-US" sz="3200" dirty="0">
                <a:solidFill>
                  <a:srgbClr val="18324A"/>
                </a:solidFill>
              </a:rPr>
              <a:t>, then:</a:t>
            </a:r>
            <a:endParaRPr lang="en-US" sz="3200" dirty="0"/>
          </a:p>
          <a:p>
            <a:pPr marL="0" indent="0" algn="l">
              <a:spcAft>
                <a:spcPts val="600"/>
              </a:spcAft>
              <a:buNone/>
            </a:pPr>
            <a:r>
              <a:rPr lang="en-US" sz="3200" dirty="0">
                <a:solidFill>
                  <a:srgbClr val="2F80ED"/>
                </a:solidFill>
                <a:latin typeface="Consolas"/>
                <a:ea typeface="Consolas"/>
                <a:cs typeface="Consolas"/>
              </a:rPr>
              <a:t>3 -1 0 7 -4</a:t>
            </a:r>
            <a:endParaRPr lang="en-US" sz="3200" dirty="0"/>
          </a:p>
          <a:p>
            <a:pPr marL="0" indent="0" algn="l">
              <a:spcAft>
                <a:spcPts val="600"/>
              </a:spcAft>
              <a:buNone/>
            </a:pPr>
            <a:r>
              <a:rPr lang="en-US" sz="3200" dirty="0">
                <a:solidFill>
                  <a:srgbClr val="18324A"/>
                </a:solidFill>
              </a:rPr>
              <a:t>What does it print?</a:t>
            </a:r>
            <a:endParaRPr lang="en-US" sz="3200" dirty="0"/>
          </a:p>
        </p:txBody>
      </p:sp>
      <p:sp>
        <p:nvSpPr>
          <p:cNvPr id="8" name="Shape 8"/>
          <p:cNvSpPr/>
          <p:nvPr/>
        </p:nvSpPr>
        <p:spPr>
          <a:xfrm>
            <a:off x="5760720" y="1261872"/>
            <a:ext cx="5882335" cy="25882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588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for (int i = 0; i &lt; n; i++) {</a:t>
            </a:r>
            <a:endParaRPr lang="en-US" sz="2000" dirty="0"/>
          </a:p>
          <a:p>
            <a:pPr marL="0" indent="0" algn="l">
              <a:lnSpc>
                <a:spcPts val="2500"/>
              </a:lnSpc>
              <a:buNone/>
            </a:pPr>
            <a:r>
              <a:rPr lang="en-US" sz="2000" dirty="0">
                <a:solidFill>
                  <a:srgbClr val="E5E7EB"/>
                </a:solidFill>
                <a:latin typeface="Consolas"/>
                <a:ea typeface="Consolas"/>
                <a:cs typeface="Consolas"/>
              </a:rPr>
              <a:t>    scanf("%d", &amp;value);</a:t>
            </a:r>
            <a:endParaRPr lang="en-US" sz="2000" dirty="0"/>
          </a:p>
          <a:p>
            <a:pPr marL="0" indent="0" algn="l">
              <a:lnSpc>
                <a:spcPts val="2500"/>
              </a:lnSpc>
              <a:buNone/>
            </a:pPr>
            <a:r>
              <a:rPr lang="en-US" sz="2000" dirty="0">
                <a:solidFill>
                  <a:srgbClr val="E5E7EB"/>
                </a:solidFill>
                <a:latin typeface="Consolas"/>
                <a:ea typeface="Consolas"/>
                <a:cs typeface="Consolas"/>
              </a:rPr>
              <a:t>    if (value &gt; 0) {</a:t>
            </a:r>
            <a:endParaRPr lang="en-US" sz="2000" dirty="0"/>
          </a:p>
          <a:p>
            <a:pPr marL="0" indent="0" algn="l">
              <a:lnSpc>
                <a:spcPts val="2500"/>
              </a:lnSpc>
              <a:buNone/>
            </a:pPr>
            <a:r>
              <a:rPr lang="en-US" sz="2000" dirty="0">
                <a:solidFill>
                  <a:srgbClr val="E5E7EB"/>
                </a:solidFill>
                <a:latin typeface="Consolas"/>
                <a:ea typeface="Consolas"/>
                <a:cs typeface="Consolas"/>
              </a:rPr>
              <a:t>        count++;</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a:p>
            <a:pPr marL="0" indent="0" algn="l">
              <a:lnSpc>
                <a:spcPts val="2500"/>
              </a:lnSpc>
              <a:buNone/>
            </a:pPr>
            <a:r>
              <a:rPr lang="en-US" sz="2000" dirty="0">
                <a:solidFill>
                  <a:srgbClr val="E5E7EB"/>
                </a:solidFill>
                <a:latin typeface="Consolas"/>
                <a:ea typeface="Consolas"/>
                <a:cs typeface="Consolas"/>
              </a:rPr>
              <a:t>printf("Positive values: %d\n", count);</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How many positive values?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Positive values: 2</a:t>
            </a:r>
            <a:r>
              <a:rPr lang="en-US" sz="2400" dirty="0">
                <a:solidFill>
                  <a:srgbClr val="18324A"/>
                </a:solidFill>
              </a:rPr>
              <a:t>. Zero is </a:t>
            </a:r>
            <a:r>
              <a:rPr lang="en-US" sz="2400" b="1" dirty="0">
                <a:solidFill>
                  <a:srgbClr val="18324A"/>
                </a:solidFill>
              </a:rPr>
              <a:t>not</a:t>
            </a:r>
            <a:r>
              <a:rPr lang="en-US" sz="2400" dirty="0">
                <a:solidFill>
                  <a:srgbClr val="18324A"/>
                </a:solidFill>
              </a:rPr>
              <a:t> positive: </a:t>
            </a:r>
            <a:r>
              <a:rPr lang="en-US" sz="2400" dirty="0">
                <a:solidFill>
                  <a:srgbClr val="18324A"/>
                </a:solidFill>
                <a:latin typeface="Consolas"/>
                <a:ea typeface="Consolas"/>
                <a:cs typeface="Consolas"/>
              </a:rPr>
              <a:t>0 &gt; 0</a:t>
            </a:r>
            <a:r>
              <a:rPr lang="en-US" sz="2400" dirty="0">
                <a:solidFill>
                  <a:srgbClr val="18324A"/>
                </a:solidFill>
              </a:rPr>
              <a:t> is false.</a:t>
            </a:r>
            <a:endParaRPr lang="en-US" sz="2400" dirty="0"/>
          </a:p>
        </p:txBody>
      </p:sp>
      <p:sp>
        <p:nvSpPr>
          <p:cNvPr id="9" name="Shape 9"/>
          <p:cNvSpPr/>
          <p:nvPr/>
        </p:nvSpPr>
        <p:spPr>
          <a:xfrm>
            <a:off x="548640" y="1261872"/>
            <a:ext cx="5669280" cy="28422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311527"/>
            <a:ext cx="5669280" cy="4127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311527"/>
            <a:ext cx="82296" cy="4127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28422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for (int i = 0; i &lt; n; i++) {</a:t>
            </a:r>
            <a:endParaRPr lang="en-US" sz="2600" dirty="0"/>
          </a:p>
          <a:p>
            <a:pPr marL="0" indent="0" algn="l">
              <a:lnSpc>
                <a:spcPts val="3250"/>
              </a:lnSpc>
              <a:buNone/>
            </a:pPr>
            <a:r>
              <a:rPr lang="en-US" sz="2600" dirty="0">
                <a:solidFill>
                  <a:srgbClr val="64748B"/>
                </a:solidFill>
                <a:latin typeface="Consolas"/>
                <a:ea typeface="Consolas"/>
                <a:cs typeface="Consolas"/>
              </a:rPr>
              <a:t>    scanf("%d", &amp;value);</a:t>
            </a:r>
            <a:endParaRPr lang="en-US" sz="2600" dirty="0"/>
          </a:p>
          <a:p>
            <a:pPr marL="0" indent="0" algn="l">
              <a:lnSpc>
                <a:spcPts val="3250"/>
              </a:lnSpc>
              <a:buNone/>
            </a:pPr>
            <a:r>
              <a:rPr lang="en-US" sz="2600" dirty="0">
                <a:solidFill>
                  <a:srgbClr val="FFFFFF"/>
                </a:solidFill>
                <a:latin typeface="Consolas"/>
                <a:ea typeface="Consolas"/>
                <a:cs typeface="Consolas"/>
              </a:rPr>
              <a:t>    if (value &gt; 0) {</a:t>
            </a:r>
            <a:endParaRPr lang="en-US" sz="2600" dirty="0"/>
          </a:p>
          <a:p>
            <a:pPr marL="0" indent="0" algn="l">
              <a:lnSpc>
                <a:spcPts val="3250"/>
              </a:lnSpc>
              <a:buNone/>
            </a:pPr>
            <a:r>
              <a:rPr lang="en-US" sz="2600" dirty="0">
                <a:solidFill>
                  <a:srgbClr val="64748B"/>
                </a:solidFill>
                <a:latin typeface="Consolas"/>
                <a:ea typeface="Consolas"/>
                <a:cs typeface="Consolas"/>
              </a:rPr>
              <a:t>        count++;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
        <p:nvSpPr>
          <p:cNvPr id="13" name="Shape 13"/>
          <p:cNvSpPr/>
          <p:nvPr/>
        </p:nvSpPr>
        <p:spPr>
          <a:xfrm>
            <a:off x="6492240" y="1261872"/>
            <a:ext cx="90139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4" name="Shape 14"/>
          <p:cNvSpPr/>
          <p:nvPr/>
        </p:nvSpPr>
        <p:spPr>
          <a:xfrm>
            <a:off x="7393633" y="1261872"/>
            <a:ext cx="115893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value</a:t>
            </a:r>
            <a:endParaRPr lang="en-US" sz="1800" dirty="0"/>
          </a:p>
        </p:txBody>
      </p:sp>
      <p:sp>
        <p:nvSpPr>
          <p:cNvPr id="15" name="Shape 15"/>
          <p:cNvSpPr/>
          <p:nvPr/>
        </p:nvSpPr>
        <p:spPr>
          <a:xfrm>
            <a:off x="8552566" y="1261872"/>
            <a:ext cx="1931556"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value &gt; 0</a:t>
            </a:r>
            <a:r>
              <a:rPr lang="en-US" sz="1800" b="1" dirty="0">
                <a:solidFill>
                  <a:srgbClr val="FFFFFF"/>
                </a:solidFill>
              </a:rPr>
              <a:t>?</a:t>
            </a:r>
            <a:endParaRPr lang="en-US" sz="1800" dirty="0"/>
          </a:p>
        </p:txBody>
      </p:sp>
      <p:sp>
        <p:nvSpPr>
          <p:cNvPr id="16" name="Shape 16"/>
          <p:cNvSpPr/>
          <p:nvPr/>
        </p:nvSpPr>
        <p:spPr>
          <a:xfrm>
            <a:off x="10484122" y="1261872"/>
            <a:ext cx="1158933"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a:t>
            </a:r>
            <a:endParaRPr lang="en-US" sz="1800" dirty="0"/>
          </a:p>
        </p:txBody>
      </p:sp>
      <p:sp>
        <p:nvSpPr>
          <p:cNvPr id="17" name="Shape 17"/>
          <p:cNvSpPr/>
          <p:nvPr/>
        </p:nvSpPr>
        <p:spPr>
          <a:xfrm>
            <a:off x="6492240" y="1920240"/>
            <a:ext cx="90139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393633" y="1920240"/>
            <a:ext cx="115893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19" name="Shape 19"/>
          <p:cNvSpPr/>
          <p:nvPr/>
        </p:nvSpPr>
        <p:spPr>
          <a:xfrm>
            <a:off x="8552566" y="1920240"/>
            <a:ext cx="1931556"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20" name="Shape 20"/>
          <p:cNvSpPr/>
          <p:nvPr/>
        </p:nvSpPr>
        <p:spPr>
          <a:xfrm>
            <a:off x="10484122" y="1920240"/>
            <a:ext cx="115893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1" name="Shape 21"/>
          <p:cNvSpPr/>
          <p:nvPr/>
        </p:nvSpPr>
        <p:spPr>
          <a:xfrm>
            <a:off x="6492240" y="2578608"/>
            <a:ext cx="90139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7393633" y="2578608"/>
            <a:ext cx="115893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3" name="Shape 23"/>
          <p:cNvSpPr/>
          <p:nvPr/>
        </p:nvSpPr>
        <p:spPr>
          <a:xfrm>
            <a:off x="8552566" y="2578608"/>
            <a:ext cx="1931556"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24" name="Shape 24"/>
          <p:cNvSpPr/>
          <p:nvPr/>
        </p:nvSpPr>
        <p:spPr>
          <a:xfrm>
            <a:off x="10484122" y="2578608"/>
            <a:ext cx="115893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5" name="Shape 25"/>
          <p:cNvSpPr/>
          <p:nvPr/>
        </p:nvSpPr>
        <p:spPr>
          <a:xfrm>
            <a:off x="6492240" y="3236976"/>
            <a:ext cx="90139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7393633" y="3236976"/>
            <a:ext cx="115893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7" name="Shape 27"/>
          <p:cNvSpPr/>
          <p:nvPr/>
        </p:nvSpPr>
        <p:spPr>
          <a:xfrm>
            <a:off x="8552566" y="3236976"/>
            <a:ext cx="1931556"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28" name="Shape 28"/>
          <p:cNvSpPr/>
          <p:nvPr/>
        </p:nvSpPr>
        <p:spPr>
          <a:xfrm>
            <a:off x="10484122" y="3236976"/>
            <a:ext cx="115893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9" name="Shape 29"/>
          <p:cNvSpPr/>
          <p:nvPr/>
        </p:nvSpPr>
        <p:spPr>
          <a:xfrm>
            <a:off x="6492240" y="3895344"/>
            <a:ext cx="90139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0" name="Shape 30"/>
          <p:cNvSpPr/>
          <p:nvPr/>
        </p:nvSpPr>
        <p:spPr>
          <a:xfrm>
            <a:off x="7393633" y="3895344"/>
            <a:ext cx="115893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31" name="Shape 31"/>
          <p:cNvSpPr/>
          <p:nvPr/>
        </p:nvSpPr>
        <p:spPr>
          <a:xfrm>
            <a:off x="8552566" y="3895344"/>
            <a:ext cx="1931556"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32" name="Shape 32"/>
          <p:cNvSpPr/>
          <p:nvPr/>
        </p:nvSpPr>
        <p:spPr>
          <a:xfrm>
            <a:off x="10484122" y="3895344"/>
            <a:ext cx="1158933"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33" name="Shape 33"/>
          <p:cNvSpPr/>
          <p:nvPr/>
        </p:nvSpPr>
        <p:spPr>
          <a:xfrm>
            <a:off x="6492240" y="4553712"/>
            <a:ext cx="90139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5</a:t>
            </a:r>
            <a:endParaRPr lang="en-US" sz="2400" dirty="0"/>
          </a:p>
        </p:txBody>
      </p:sp>
      <p:sp>
        <p:nvSpPr>
          <p:cNvPr id="34" name="Shape 34"/>
          <p:cNvSpPr/>
          <p:nvPr/>
        </p:nvSpPr>
        <p:spPr>
          <a:xfrm>
            <a:off x="7393633" y="4553712"/>
            <a:ext cx="115893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5" name="Shape 35"/>
          <p:cNvSpPr/>
          <p:nvPr/>
        </p:nvSpPr>
        <p:spPr>
          <a:xfrm>
            <a:off x="8552566" y="4553712"/>
            <a:ext cx="1931556"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E02424"/>
                </a:solidFill>
              </a:rPr>
              <a:t>no</a:t>
            </a:r>
            <a:endParaRPr lang="en-US" sz="2400" dirty="0"/>
          </a:p>
        </p:txBody>
      </p:sp>
      <p:sp>
        <p:nvSpPr>
          <p:cNvPr id="36" name="Shape 36"/>
          <p:cNvSpPr/>
          <p:nvPr/>
        </p:nvSpPr>
        <p:spPr>
          <a:xfrm>
            <a:off x="10484122" y="4553712"/>
            <a:ext cx="1158933"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Count without input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31</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How many numbers from 1 to 20 can be divided by 3?</a:t>
            </a:r>
            <a:endParaRPr lang="en-US" sz="3200" dirty="0"/>
          </a:p>
          <a:p>
            <a:pPr marL="0" indent="0" algn="l">
              <a:spcAft>
                <a:spcPts val="600"/>
              </a:spcAft>
              <a:buNone/>
            </a:pPr>
            <a:r>
              <a:rPr lang="en-US" sz="3200" dirty="0">
                <a:solidFill>
                  <a:srgbClr val="18324A"/>
                </a:solidFill>
              </a:rPr>
              <a:t>What does it print?</a:t>
            </a:r>
            <a:endParaRPr lang="en-US" sz="3200" dirty="0"/>
          </a:p>
        </p:txBody>
      </p:sp>
      <p:sp>
        <p:nvSpPr>
          <p:cNvPr id="8" name="Shape 8"/>
          <p:cNvSpPr/>
          <p:nvPr/>
        </p:nvSpPr>
        <p:spPr>
          <a:xfrm>
            <a:off x="5760720" y="1261872"/>
            <a:ext cx="5882335" cy="3794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3794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E5E7EB"/>
                </a:solidFill>
                <a:latin typeface="Consolas"/>
                <a:ea typeface="Consolas"/>
                <a:cs typeface="Consolas"/>
              </a:rPr>
              <a:t>int count = 0;</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for (int i = 1; i &lt;= 20; i++) {</a:t>
            </a:r>
            <a:endParaRPr lang="en-US" sz="2400" dirty="0"/>
          </a:p>
          <a:p>
            <a:pPr marL="0" indent="0" algn="l">
              <a:lnSpc>
                <a:spcPts val="3000"/>
              </a:lnSpc>
              <a:buNone/>
            </a:pPr>
            <a:r>
              <a:rPr lang="en-US" sz="2400" dirty="0">
                <a:solidFill>
                  <a:srgbClr val="E5E7EB"/>
                </a:solidFill>
                <a:latin typeface="Consolas"/>
                <a:ea typeface="Consolas"/>
                <a:cs typeface="Consolas"/>
              </a:rPr>
              <a:t>    if (i % 3 == 0) {</a:t>
            </a:r>
            <a:endParaRPr lang="en-US" sz="2400" dirty="0"/>
          </a:p>
          <a:p>
            <a:pPr marL="0" indent="0" algn="l">
              <a:lnSpc>
                <a:spcPts val="3000"/>
              </a:lnSpc>
              <a:buNone/>
            </a:pPr>
            <a:r>
              <a:rPr lang="en-US" sz="2400" dirty="0">
                <a:solidFill>
                  <a:srgbClr val="E5E7EB"/>
                </a:solidFill>
                <a:latin typeface="Consolas"/>
                <a:ea typeface="Consolas"/>
                <a:cs typeface="Consolas"/>
              </a:rPr>
              <a:t>        count++;</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printf("Count: %d\n", count);</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Count without input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32</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How many numbers from 1 to 20 can be divided by 3?</a:t>
            </a:r>
            <a:endParaRPr lang="en-US" sz="3200" dirty="0"/>
          </a:p>
          <a:p>
            <a:pPr marL="0" indent="0" algn="l">
              <a:spcAft>
                <a:spcPts val="600"/>
              </a:spcAft>
              <a:buNone/>
            </a:pPr>
            <a:r>
              <a:rPr lang="en-US" sz="3200" dirty="0">
                <a:solidFill>
                  <a:srgbClr val="18324A"/>
                </a:solidFill>
              </a:rPr>
              <a:t>What does it print?</a:t>
            </a:r>
            <a:endParaRPr lang="en-US" sz="3200" dirty="0"/>
          </a:p>
        </p:txBody>
      </p:sp>
      <p:sp>
        <p:nvSpPr>
          <p:cNvPr id="8" name="Shape 8"/>
          <p:cNvSpPr/>
          <p:nvPr/>
        </p:nvSpPr>
        <p:spPr>
          <a:xfrm>
            <a:off x="5760720" y="1261872"/>
            <a:ext cx="5882335" cy="37947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2625852"/>
            <a:ext cx="5882335"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2625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3794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count = 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for (int i = 1; i &lt;= 20; i++) {</a:t>
            </a:r>
            <a:endParaRPr lang="en-US" sz="2400" dirty="0"/>
          </a:p>
          <a:p>
            <a:pPr marL="0" indent="0" algn="l">
              <a:lnSpc>
                <a:spcPts val="3000"/>
              </a:lnSpc>
              <a:buNone/>
            </a:pPr>
            <a:r>
              <a:rPr lang="en-US" sz="2400" dirty="0">
                <a:solidFill>
                  <a:srgbClr val="FFFFFF"/>
                </a:solidFill>
                <a:latin typeface="Consolas"/>
                <a:ea typeface="Consolas"/>
                <a:cs typeface="Consolas"/>
              </a:rPr>
              <a:t>    if (i % 3 == 0) {</a:t>
            </a:r>
            <a:endParaRPr lang="en-US" sz="2400" dirty="0"/>
          </a:p>
          <a:p>
            <a:pPr marL="0" indent="0" algn="l">
              <a:lnSpc>
                <a:spcPts val="3000"/>
              </a:lnSpc>
              <a:buNone/>
            </a:pPr>
            <a:r>
              <a:rPr lang="en-US" sz="2400" dirty="0">
                <a:solidFill>
                  <a:srgbClr val="64748B"/>
                </a:solidFill>
                <a:latin typeface="Consolas"/>
                <a:ea typeface="Consolas"/>
                <a:cs typeface="Consolas"/>
              </a:rPr>
              <a:t>        count++;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printf("Count: %d\n", count);</a:t>
            </a:r>
            <a:endParaRPr lang="en-US" sz="2400" dirty="0"/>
          </a:p>
        </p:txBody>
      </p:sp>
      <p:sp>
        <p:nvSpPr>
          <p:cNvPr id="12" name="Shape 12"/>
          <p:cNvSpPr/>
          <p:nvPr/>
        </p:nvSpPr>
        <p:spPr>
          <a:xfrm>
            <a:off x="548640" y="4648200"/>
            <a:ext cx="4937760" cy="161544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3" name="Shape 13"/>
          <p:cNvSpPr/>
          <p:nvPr/>
        </p:nvSpPr>
        <p:spPr>
          <a:xfrm>
            <a:off x="548640" y="4648200"/>
            <a:ext cx="109728" cy="1615440"/>
          </a:xfrm>
          <a:prstGeom prst="rect">
            <a:avLst/>
          </a:prstGeom>
          <a:solidFill>
            <a:srgbClr val="31C48D"/>
          </a:solidFill>
          <a:ln>
            <a:noFill/>
          </a:ln>
        </p:spPr>
        <p:txBody>
          <a:bodyPr wrap="square" lIns="0" tIns="0" rIns="0" bIns="0" rtlCol="0" anchor="t"/>
          <a:lstStyle/>
          <a:p>
            <a:endParaRPr lang="en-US"/>
          </a:p>
        </p:txBody>
      </p:sp>
      <p:sp>
        <p:nvSpPr>
          <p:cNvPr id="14" name="Callout"/>
          <p:cNvSpPr/>
          <p:nvPr/>
        </p:nvSpPr>
        <p:spPr>
          <a:xfrm>
            <a:off x="658368" y="4648200"/>
            <a:ext cx="4828032" cy="161544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Count: 6</a:t>
            </a:r>
            <a:endParaRPr lang="en-US" sz="2600" dirty="0"/>
          </a:p>
          <a:p>
            <a:pPr marL="0" indent="0" algn="l">
              <a:buNone/>
            </a:pPr>
            <a:r>
              <a:rPr lang="en-US" sz="2600" dirty="0">
                <a:solidFill>
                  <a:srgbClr val="18324A"/>
                </a:solidFill>
              </a:rPr>
              <a:t>3, 6, 9, 12, 15, 18</a:t>
            </a:r>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cousin: the largest value so far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33</a:t>
            </a:r>
            <a:endParaRPr lang="en-US" sz="1400" dirty="0"/>
          </a:p>
        </p:txBody>
      </p:sp>
      <p:sp>
        <p:nvSpPr>
          <p:cNvPr id="6" name="Shape 6"/>
          <p:cNvSpPr/>
          <p:nvPr/>
        </p:nvSpPr>
        <p:spPr>
          <a:xfrm>
            <a:off x="548640" y="1261872"/>
            <a:ext cx="6766560" cy="3255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31152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311527"/>
            <a:ext cx="82296" cy="4127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724277"/>
            <a:ext cx="6766560"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724277"/>
            <a:ext cx="82296" cy="4127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137027"/>
            <a:ext cx="6766560" cy="4127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137027"/>
            <a:ext cx="82296" cy="4127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for (int i = 1; i &lt; n; i++) {</a:t>
            </a:r>
            <a:endParaRPr lang="en-US" sz="2600" dirty="0"/>
          </a:p>
          <a:p>
            <a:pPr marL="0" indent="0" algn="l">
              <a:lnSpc>
                <a:spcPts val="3250"/>
              </a:lnSpc>
              <a:buNone/>
            </a:pPr>
            <a:r>
              <a:rPr lang="en-US" sz="2600" dirty="0">
                <a:solidFill>
                  <a:srgbClr val="64748B"/>
                </a:solidFill>
                <a:latin typeface="Consolas"/>
                <a:ea typeface="Consolas"/>
                <a:cs typeface="Consolas"/>
              </a:rPr>
              <a:t>    scanf("%d", &amp;value);</a:t>
            </a:r>
            <a:endParaRPr lang="en-US" sz="2600" dirty="0"/>
          </a:p>
          <a:p>
            <a:pPr marL="0" indent="0" algn="l">
              <a:lnSpc>
                <a:spcPts val="3250"/>
              </a:lnSpc>
              <a:buNone/>
            </a:pPr>
            <a:r>
              <a:rPr lang="en-US" sz="2600" dirty="0">
                <a:solidFill>
                  <a:srgbClr val="FFFFFF"/>
                </a:solidFill>
                <a:latin typeface="Consolas"/>
                <a:ea typeface="Consolas"/>
                <a:cs typeface="Consolas"/>
              </a:rPr>
              <a:t>    if (value &gt; largest) {</a:t>
            </a:r>
            <a:endParaRPr lang="en-US" sz="2600" dirty="0"/>
          </a:p>
          <a:p>
            <a:pPr marL="0" indent="0" algn="l">
              <a:lnSpc>
                <a:spcPts val="3250"/>
              </a:lnSpc>
              <a:buNone/>
            </a:pPr>
            <a:r>
              <a:rPr lang="en-US" sz="2600" dirty="0">
                <a:solidFill>
                  <a:srgbClr val="FFFFFF"/>
                </a:solidFill>
                <a:latin typeface="Consolas"/>
                <a:ea typeface="Consolas"/>
                <a:cs typeface="Consolas"/>
              </a:rPr>
              <a:t>        largest = value;</a:t>
            </a:r>
            <a:endParaRPr lang="en-US" sz="2600" dirty="0"/>
          </a:p>
          <a:p>
            <a:pPr marL="0" indent="0" algn="l">
              <a:lnSpc>
                <a:spcPts val="3250"/>
              </a:lnSpc>
              <a:buNone/>
            </a:pPr>
            <a:r>
              <a:rPr lang="en-US" sz="2600" dirty="0">
                <a:solidFill>
                  <a:srgbClr val="FFFFFF"/>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printf("Largest: %d\n", largest);</a:t>
            </a:r>
            <a:endParaRPr lang="en-US" sz="26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1508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1508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How many values? 5</a:t>
            </a:r>
            <a:endParaRPr lang="en-US" sz="2400" dirty="0"/>
          </a:p>
          <a:p>
            <a:pPr marL="0" indent="0" algn="l">
              <a:lnSpc>
                <a:spcPts val="3000"/>
              </a:lnSpc>
              <a:buNone/>
            </a:pPr>
            <a:r>
              <a:rPr lang="en-US" sz="2400" dirty="0">
                <a:solidFill>
                  <a:srgbClr val="D1FAE5"/>
                </a:solidFill>
                <a:latin typeface="Consolas"/>
                <a:ea typeface="Consolas"/>
                <a:cs typeface="Consolas"/>
              </a:rPr>
              <a:t>3 9 -2 14 6</a:t>
            </a:r>
            <a:endParaRPr lang="en-US" sz="2400" dirty="0"/>
          </a:p>
          <a:p>
            <a:pPr marL="0" indent="0" algn="l">
              <a:lnSpc>
                <a:spcPts val="3000"/>
              </a:lnSpc>
              <a:buNone/>
            </a:pPr>
            <a:r>
              <a:rPr lang="en-US" sz="2400" dirty="0">
                <a:solidFill>
                  <a:srgbClr val="D1FAE5"/>
                </a:solidFill>
                <a:latin typeface="Consolas"/>
                <a:ea typeface="Consolas"/>
                <a:cs typeface="Consolas"/>
              </a:rPr>
              <a:t>Largest: 14</a:t>
            </a:r>
            <a:endParaRPr lang="en-US" sz="2400" dirty="0"/>
          </a:p>
        </p:txBody>
      </p:sp>
      <p:sp>
        <p:nvSpPr>
          <p:cNvPr id="17" name="Shape 17"/>
          <p:cNvSpPr/>
          <p:nvPr/>
        </p:nvSpPr>
        <p:spPr>
          <a:xfrm>
            <a:off x="7589520" y="3429000"/>
            <a:ext cx="4053535" cy="105156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8" name="Shape 18"/>
          <p:cNvSpPr/>
          <p:nvPr/>
        </p:nvSpPr>
        <p:spPr>
          <a:xfrm>
            <a:off x="7589520" y="3429000"/>
            <a:ext cx="109728" cy="1051560"/>
          </a:xfrm>
          <a:prstGeom prst="rect">
            <a:avLst/>
          </a:prstGeom>
          <a:solidFill>
            <a:srgbClr val="8B5CF6"/>
          </a:solidFill>
          <a:ln>
            <a:noFill/>
          </a:ln>
        </p:spPr>
        <p:txBody>
          <a:bodyPr wrap="square" lIns="0" tIns="0" rIns="0" bIns="0" rtlCol="0" anchor="t"/>
          <a:lstStyle/>
          <a:p>
            <a:endParaRPr lang="en-US"/>
          </a:p>
        </p:txBody>
      </p:sp>
      <p:sp>
        <p:nvSpPr>
          <p:cNvPr id="19" name="Callout"/>
          <p:cNvSpPr/>
          <p:nvPr/>
        </p:nvSpPr>
        <p:spPr>
          <a:xfrm>
            <a:off x="7699248" y="3429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One box remembers the </a:t>
            </a:r>
            <a:r>
              <a:rPr lang="en-US" sz="2400" b="1" dirty="0">
                <a:solidFill>
                  <a:srgbClr val="18324A"/>
                </a:solidFill>
              </a:rPr>
              <a:t>largest so far</a:t>
            </a:r>
            <a:r>
              <a:rPr lang="en-US" sz="2400" dirty="0">
                <a:solidFill>
                  <a:srgbClr val="18324A"/>
                </a:solidFill>
              </a:rPr>
              <a:t>.</a:t>
            </a:r>
            <a:endParaRPr lang="en-US" sz="2400" dirty="0"/>
          </a:p>
        </p:txBody>
      </p:sp>
      <p:sp>
        <p:nvSpPr>
          <p:cNvPr id="20" name="Shape 20"/>
          <p:cNvSpPr/>
          <p:nvPr/>
        </p:nvSpPr>
        <p:spPr>
          <a:xfrm>
            <a:off x="7589520" y="4681728"/>
            <a:ext cx="4053535" cy="105156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21" name="Shape 21"/>
          <p:cNvSpPr/>
          <p:nvPr/>
        </p:nvSpPr>
        <p:spPr>
          <a:xfrm>
            <a:off x="7589520" y="4681728"/>
            <a:ext cx="109728" cy="1051560"/>
          </a:xfrm>
          <a:prstGeom prst="rect">
            <a:avLst/>
          </a:prstGeom>
          <a:solidFill>
            <a:srgbClr val="8B5CF6"/>
          </a:solidFill>
          <a:ln>
            <a:noFill/>
          </a:ln>
        </p:spPr>
        <p:txBody>
          <a:bodyPr wrap="square" lIns="0" tIns="0" rIns="0" bIns="0" rtlCol="0" anchor="t"/>
          <a:lstStyle/>
          <a:p>
            <a:endParaRPr lang="en-US"/>
          </a:p>
        </p:txBody>
      </p:sp>
      <p:sp>
        <p:nvSpPr>
          <p:cNvPr id="22" name="Callout"/>
          <p:cNvSpPr/>
          <p:nvPr/>
        </p:nvSpPr>
        <p:spPr>
          <a:xfrm>
            <a:off x="7699248" y="4681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starts as the first value typed.</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59E0B"/>
          </a:solidFill>
          <a:ln>
            <a:noFill/>
          </a:ln>
        </p:spPr>
        <p:txBody>
          <a:bodyPr wrap="square" lIns="0" tIns="0" rIns="0" bIns="0" rtlCol="0" anchor="ctr"/>
          <a:lstStyle/>
          <a:p>
            <a:pPr marL="0" indent="0" algn="ctr">
              <a:buNone/>
            </a:pPr>
            <a:r>
              <a:rPr lang="en-US" sz="5400" b="1" dirty="0">
                <a:solidFill>
                  <a:srgbClr val="FFFFFF"/>
                </a:solidFill>
              </a:rPr>
              <a:t>3</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Checking input with </a:t>
            </a:r>
            <a:r>
              <a:rPr lang="en-US" sz="4800" b="1" dirty="0">
                <a:solidFill>
                  <a:srgbClr val="FFFFFF"/>
                </a:solidFill>
                <a:latin typeface="Consolas"/>
                <a:ea typeface="Consolas"/>
                <a:cs typeface="Consolas"/>
              </a:rPr>
              <a:t>while</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Ask again until the input is good</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Input validation with while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35</a:t>
            </a:r>
            <a:endParaRPr lang="en-US" sz="1400" dirty="0"/>
          </a:p>
        </p:txBody>
      </p:sp>
      <p:sp>
        <p:nvSpPr>
          <p:cNvPr id="6" name="Shape 6"/>
          <p:cNvSpPr/>
          <p:nvPr/>
        </p:nvSpPr>
        <p:spPr>
          <a:xfrm>
            <a:off x="548640" y="1399032"/>
            <a:ext cx="109728" cy="1402080"/>
          </a:xfrm>
          <a:prstGeom prst="rect">
            <a:avLst/>
          </a:prstGeom>
          <a:solidFill>
            <a:srgbClr val="F59E0B"/>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Users type nonsense. A good program asks again.</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An age of </a:t>
            </a:r>
            <a:r>
              <a:rPr lang="en-US" sz="3000" dirty="0">
                <a:solidFill>
                  <a:srgbClr val="2F80ED"/>
                </a:solidFill>
                <a:latin typeface="Consolas"/>
                <a:ea typeface="Consolas"/>
                <a:cs typeface="Consolas"/>
              </a:rPr>
              <a:t>-5</a:t>
            </a:r>
            <a:r>
              <a:rPr lang="en-US" sz="3000" dirty="0">
                <a:solidFill>
                  <a:srgbClr val="18324A"/>
                </a:solidFill>
              </a:rPr>
              <a:t>. An age of </a:t>
            </a:r>
            <a:r>
              <a:rPr lang="en-US" sz="3000" dirty="0">
                <a:solidFill>
                  <a:srgbClr val="2F80ED"/>
                </a:solidFill>
                <a:latin typeface="Consolas"/>
                <a:ea typeface="Consolas"/>
                <a:cs typeface="Consolas"/>
              </a:rPr>
              <a:t>200</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How many times must we ask? </a:t>
            </a:r>
            <a:r>
              <a:rPr lang="en-US" sz="3000" b="1" dirty="0">
                <a:solidFill>
                  <a:srgbClr val="18324A"/>
                </a:solidFill>
              </a:rPr>
              <a:t>We do not know.</a:t>
            </a:r>
            <a:endParaRPr lang="en-US" sz="3000" dirty="0"/>
          </a:p>
        </p:txBody>
      </p:sp>
      <p:sp>
        <p:nvSpPr>
          <p:cNvPr id="9" name="Shape 9"/>
          <p:cNvSpPr/>
          <p:nvPr/>
        </p:nvSpPr>
        <p:spPr>
          <a:xfrm>
            <a:off x="548640" y="5577840"/>
            <a:ext cx="1109441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0" name="Shape 10"/>
          <p:cNvSpPr/>
          <p:nvPr/>
        </p:nvSpPr>
        <p:spPr>
          <a:xfrm>
            <a:off x="548640" y="5577840"/>
            <a:ext cx="109728" cy="685800"/>
          </a:xfrm>
          <a:prstGeom prst="rect">
            <a:avLst/>
          </a:prstGeom>
          <a:solidFill>
            <a:srgbClr val="F59E0B"/>
          </a:solidFill>
          <a:ln>
            <a:noFill/>
          </a:ln>
        </p:spPr>
        <p:txBody>
          <a:bodyPr wrap="square" lIns="0" tIns="0" rIns="0" bIns="0" rtlCol="0" anchor="t"/>
          <a:lstStyle/>
          <a:p>
            <a:endParaRPr lang="en-US"/>
          </a:p>
        </p:txBody>
      </p:sp>
      <p:sp>
        <p:nvSpPr>
          <p:cNvPr id="11"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When you do not know how many rounds you need: </a:t>
            </a:r>
            <a:r>
              <a:rPr lang="en-US" sz="2400" dirty="0">
                <a:solidFill>
                  <a:srgbClr val="18324A"/>
                </a:solidFill>
                <a:latin typeface="Consolas"/>
                <a:ea typeface="Consolas"/>
                <a:cs typeface="Consolas"/>
              </a:rPr>
              <a:t>while</a:t>
            </a:r>
            <a:r>
              <a:rPr lang="en-US" sz="2400" dirty="0">
                <a:solidFill>
                  <a:srgbClr val="18324A"/>
                </a:solidFill>
              </a:rPr>
              <a:t>.</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program: age.c</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36</a:t>
            </a:r>
            <a:endParaRPr lang="en-US" sz="1400" dirty="0"/>
          </a:p>
        </p:txBody>
      </p:sp>
      <p:sp>
        <p:nvSpPr>
          <p:cNvPr id="6" name="Shape 6"/>
          <p:cNvSpPr/>
          <p:nvPr/>
        </p:nvSpPr>
        <p:spPr>
          <a:xfrm>
            <a:off x="548640" y="1261872"/>
            <a:ext cx="11094415" cy="49377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11094415"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E5E7EB"/>
                </a:solidFill>
                <a:latin typeface="Consolas"/>
                <a:ea typeface="Consolas"/>
                <a:cs typeface="Consolas"/>
              </a:rPr>
              <a:t>int age;</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printf("Enter age: ");</a:t>
            </a:r>
            <a:endParaRPr lang="en-US" sz="2400" dirty="0"/>
          </a:p>
          <a:p>
            <a:pPr marL="0" indent="0" algn="l">
              <a:lnSpc>
                <a:spcPts val="3000"/>
              </a:lnSpc>
              <a:buNone/>
            </a:pPr>
            <a:r>
              <a:rPr lang="en-US" sz="2400" dirty="0">
                <a:solidFill>
                  <a:srgbClr val="E5E7EB"/>
                </a:solidFill>
                <a:latin typeface="Consolas"/>
                <a:ea typeface="Consolas"/>
                <a:cs typeface="Consolas"/>
              </a:rPr>
              <a:t>scanf("%d", &amp;age);</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while (age &lt; 0 || age &gt; 120) {</a:t>
            </a:r>
            <a:endParaRPr lang="en-US" sz="2400" dirty="0"/>
          </a:p>
          <a:p>
            <a:pPr marL="0" indent="0" algn="l">
              <a:lnSpc>
                <a:spcPts val="3000"/>
              </a:lnSpc>
              <a:buNone/>
            </a:pPr>
            <a:r>
              <a:rPr lang="en-US" sz="2400" dirty="0">
                <a:solidFill>
                  <a:srgbClr val="E5E7EB"/>
                </a:solidFill>
                <a:latin typeface="Consolas"/>
                <a:ea typeface="Consolas"/>
                <a:cs typeface="Consolas"/>
              </a:rPr>
              <a:t>    printf("Invalid. Try again: ");</a:t>
            </a:r>
            <a:endParaRPr lang="en-US" sz="2400" dirty="0"/>
          </a:p>
          <a:p>
            <a:pPr marL="0" indent="0" algn="l">
              <a:lnSpc>
                <a:spcPts val="3000"/>
              </a:lnSpc>
              <a:buNone/>
            </a:pPr>
            <a:r>
              <a:rPr lang="en-US" sz="2400" dirty="0">
                <a:solidFill>
                  <a:srgbClr val="E5E7EB"/>
                </a:solidFill>
                <a:latin typeface="Consolas"/>
                <a:ea typeface="Consolas"/>
                <a:cs typeface="Consolas"/>
              </a:rPr>
              <a:t>    scanf("%d", &amp;age);</a:t>
            </a:r>
            <a:endParaRPr lang="en-US" sz="2400" dirty="0"/>
          </a:p>
          <a:p>
            <a:pPr marL="0" indent="0" algn="l">
              <a:lnSpc>
                <a:spcPts val="3000"/>
              </a:lnSpc>
              <a:buNone/>
            </a:pPr>
            <a:r>
              <a:rPr lang="en-US" sz="2400" dirty="0">
                <a:solidFill>
                  <a:srgbClr val="E5E7EB"/>
                </a:solidFill>
                <a:latin typeface="Consolas"/>
                <a:ea typeface="Consolas"/>
                <a:cs typeface="Consolas"/>
              </a:rPr>
              <a:t>}</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printf("Accepted: %d\n", age);</a:t>
            </a:r>
            <a:endParaRPr lang="en-US" sz="2400" dirty="0"/>
          </a:p>
          <a:p>
            <a:pPr marL="0" indent="0" algn="l">
              <a:lnSpc>
                <a:spcPts val="3000"/>
              </a:lnSpc>
              <a:buNone/>
            </a:pPr>
            <a:r>
              <a:rPr lang="en-US" sz="2400" dirty="0">
                <a:solidFill>
                  <a:srgbClr val="E5E7EB"/>
                </a:solidFill>
                <a:latin typeface="Consolas"/>
                <a:ea typeface="Consolas"/>
                <a:cs typeface="Consolas"/>
              </a:rPr>
              <a:t>return 0;</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Step 1: ask once, before the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37</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244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244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age;</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printf("Enter age: ");</a:t>
            </a:r>
            <a:endParaRPr lang="en-US" sz="2400" dirty="0"/>
          </a:p>
          <a:p>
            <a:pPr marL="0" indent="0" algn="l">
              <a:lnSpc>
                <a:spcPts val="3000"/>
              </a:lnSpc>
              <a:buNone/>
            </a:pPr>
            <a:r>
              <a:rPr lang="en-US" sz="2400" dirty="0">
                <a:solidFill>
                  <a:srgbClr val="FFFFFF"/>
                </a:solidFill>
                <a:latin typeface="Consolas"/>
                <a:ea typeface="Consolas"/>
                <a:cs typeface="Consolas"/>
              </a:rPr>
              <a:t>scanf("%d", &amp;age);</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while (age &lt; 0 || age &gt; 120) {</a:t>
            </a:r>
            <a:endParaRPr lang="en-US" sz="2400" dirty="0"/>
          </a:p>
          <a:p>
            <a:pPr marL="0" indent="0" algn="l">
              <a:lnSpc>
                <a:spcPts val="3000"/>
              </a:lnSpc>
              <a:buNone/>
            </a:pPr>
            <a:r>
              <a:rPr lang="en-US" sz="2400" dirty="0">
                <a:solidFill>
                  <a:srgbClr val="64748B"/>
                </a:solidFill>
                <a:latin typeface="Consolas"/>
                <a:ea typeface="Consolas"/>
                <a:cs typeface="Consolas"/>
              </a:rPr>
              <a:t>    printf("Invalid. Try again: ");</a:t>
            </a:r>
            <a:endParaRPr lang="en-US" sz="2400" dirty="0"/>
          </a:p>
          <a:p>
            <a:pPr marL="0" indent="0" algn="l">
              <a:lnSpc>
                <a:spcPts val="3000"/>
              </a:lnSpc>
              <a:buNone/>
            </a:pPr>
            <a:r>
              <a:rPr lang="en-US" sz="2400" dirty="0">
                <a:solidFill>
                  <a:srgbClr val="64748B"/>
                </a:solidFill>
                <a:latin typeface="Consolas"/>
                <a:ea typeface="Consolas"/>
                <a:cs typeface="Consolas"/>
              </a:rPr>
              <a:t>    scanf("%d", &amp;age);</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printf("Accepted: %d\n", age);</a:t>
            </a:r>
            <a:endParaRPr lang="en-US" sz="2400" dirty="0"/>
          </a:p>
          <a:p>
            <a:pPr marL="0" indent="0" algn="l">
              <a:lnSpc>
                <a:spcPts val="3000"/>
              </a:lnSpc>
              <a:buNone/>
            </a:pPr>
            <a:r>
              <a:rPr lang="en-US" sz="2400" dirty="0">
                <a:solidFill>
                  <a:srgbClr val="64748B"/>
                </a:solidFill>
                <a:latin typeface="Consolas"/>
                <a:ea typeface="Consolas"/>
                <a:cs typeface="Consolas"/>
              </a:rPr>
              <a:t>return 0;</a:t>
            </a:r>
            <a:endParaRPr lang="en-US" sz="2400" dirty="0"/>
          </a:p>
        </p:txBody>
      </p:sp>
      <p:sp>
        <p:nvSpPr>
          <p:cNvPr id="12" name="Shape 12"/>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Ask. Read one value.</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Step 2: is the input bad?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38</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387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387852"/>
            <a:ext cx="82296" cy="381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age;</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printf("Enter age: ");</a:t>
            </a:r>
            <a:endParaRPr lang="en-US" sz="2400" dirty="0"/>
          </a:p>
          <a:p>
            <a:pPr marL="0" indent="0" algn="l">
              <a:lnSpc>
                <a:spcPts val="3000"/>
              </a:lnSpc>
              <a:buNone/>
            </a:pPr>
            <a:r>
              <a:rPr lang="en-US" sz="2400" dirty="0">
                <a:solidFill>
                  <a:srgbClr val="64748B"/>
                </a:solidFill>
                <a:latin typeface="Consolas"/>
                <a:ea typeface="Consolas"/>
                <a:cs typeface="Consolas"/>
              </a:rPr>
              <a:t>scanf("%d", &amp;age);</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while (age &lt; 0 || age &gt; 120) {</a:t>
            </a:r>
            <a:endParaRPr lang="en-US" sz="2400" dirty="0"/>
          </a:p>
          <a:p>
            <a:pPr marL="0" indent="0" algn="l">
              <a:lnSpc>
                <a:spcPts val="3000"/>
              </a:lnSpc>
              <a:buNone/>
            </a:pPr>
            <a:r>
              <a:rPr lang="en-US" sz="2400" dirty="0">
                <a:solidFill>
                  <a:srgbClr val="64748B"/>
                </a:solidFill>
                <a:latin typeface="Consolas"/>
                <a:ea typeface="Consolas"/>
                <a:cs typeface="Consolas"/>
              </a:rPr>
              <a:t>    printf("Invalid. Try again: ");</a:t>
            </a:r>
            <a:endParaRPr lang="en-US" sz="2400" dirty="0"/>
          </a:p>
          <a:p>
            <a:pPr marL="0" indent="0" algn="l">
              <a:lnSpc>
                <a:spcPts val="3000"/>
              </a:lnSpc>
              <a:buNone/>
            </a:pPr>
            <a:r>
              <a:rPr lang="en-US" sz="2400" dirty="0">
                <a:solidFill>
                  <a:srgbClr val="64748B"/>
                </a:solidFill>
                <a:latin typeface="Consolas"/>
                <a:ea typeface="Consolas"/>
                <a:cs typeface="Consolas"/>
              </a:rPr>
              <a:t>    scanf("%d", &amp;age);</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printf("Accepted: %d\n", age);</a:t>
            </a:r>
            <a:endParaRPr lang="en-US" sz="2400" dirty="0"/>
          </a:p>
          <a:p>
            <a:pPr marL="0" indent="0" algn="l">
              <a:lnSpc>
                <a:spcPts val="3000"/>
              </a:lnSpc>
              <a:buNone/>
            </a:pPr>
            <a:r>
              <a:rPr lang="en-US" sz="2400" dirty="0">
                <a:solidFill>
                  <a:srgbClr val="64748B"/>
                </a:solidFill>
                <a:latin typeface="Consolas"/>
                <a:ea typeface="Consolas"/>
                <a:cs typeface="Consolas"/>
              </a:rPr>
              <a:t>return 0;</a:t>
            </a:r>
            <a:endParaRPr lang="en-US" sz="2400" dirty="0"/>
          </a:p>
        </p:txBody>
      </p:sp>
      <p:sp>
        <p:nvSpPr>
          <p:cNvPr id="10" name="Shape 10"/>
          <p:cNvSpPr/>
          <p:nvPr/>
        </p:nvSpPr>
        <p:spPr>
          <a:xfrm>
            <a:off x="7589520" y="1261872"/>
            <a:ext cx="405353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F59E0B"/>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below 0 </a:t>
            </a:r>
            <a:r>
              <a:rPr lang="en-US" sz="2400" b="1" dirty="0">
                <a:solidFill>
                  <a:srgbClr val="18324A"/>
                </a:solidFill>
              </a:rPr>
              <a:t>or</a:t>
            </a:r>
            <a:r>
              <a:rPr lang="en-US" sz="2400" dirty="0">
                <a:solidFill>
                  <a:srgbClr val="18324A"/>
                </a:solidFill>
              </a:rPr>
              <a:t> above 120</a:t>
            </a:r>
            <a:endParaRPr lang="en-US" sz="2400" dirty="0"/>
          </a:p>
        </p:txBody>
      </p:sp>
      <p:sp>
        <p:nvSpPr>
          <p:cNvPr id="13" name="Shape 13"/>
          <p:cNvSpPr/>
          <p:nvPr/>
        </p:nvSpPr>
        <p:spPr>
          <a:xfrm>
            <a:off x="7589520" y="2148840"/>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4" name="Shape 14"/>
          <p:cNvSpPr/>
          <p:nvPr/>
        </p:nvSpPr>
        <p:spPr>
          <a:xfrm>
            <a:off x="7589520" y="2148840"/>
            <a:ext cx="109728" cy="1051560"/>
          </a:xfrm>
          <a:prstGeom prst="rect">
            <a:avLst/>
          </a:prstGeom>
          <a:solidFill>
            <a:srgbClr val="F59E0B"/>
          </a:solidFill>
          <a:ln>
            <a:noFill/>
          </a:ln>
        </p:spPr>
        <p:txBody>
          <a:bodyPr wrap="square" lIns="0" tIns="0" rIns="0" bIns="0" rtlCol="0" anchor="t"/>
          <a:lstStyle/>
          <a:p>
            <a:endParaRPr lang="en-US"/>
          </a:p>
        </p:txBody>
      </p:sp>
      <p:sp>
        <p:nvSpPr>
          <p:cNvPr id="15" name="Callout"/>
          <p:cNvSpPr/>
          <p:nvPr/>
        </p:nvSpPr>
        <p:spPr>
          <a:xfrm>
            <a:off x="7699248" y="214884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condition describes the </a:t>
            </a:r>
            <a:r>
              <a:rPr lang="en-US" sz="2400" b="1" dirty="0">
                <a:solidFill>
                  <a:srgbClr val="18324A"/>
                </a:solidFill>
              </a:rPr>
              <a:t>bad</a:t>
            </a:r>
            <a:r>
              <a:rPr lang="en-US" sz="2400" dirty="0">
                <a:solidFill>
                  <a:srgbClr val="18324A"/>
                </a:solidFill>
              </a:rPr>
              <a:t> input.</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Step 3: ask again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39</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768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768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149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149852"/>
            <a:ext cx="82296" cy="381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age;</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printf("Enter age: ");</a:t>
            </a:r>
            <a:endParaRPr lang="en-US" sz="2400" dirty="0"/>
          </a:p>
          <a:p>
            <a:pPr marL="0" indent="0" algn="l">
              <a:lnSpc>
                <a:spcPts val="3000"/>
              </a:lnSpc>
              <a:buNone/>
            </a:pPr>
            <a:r>
              <a:rPr lang="en-US" sz="2400" dirty="0">
                <a:solidFill>
                  <a:srgbClr val="64748B"/>
                </a:solidFill>
                <a:latin typeface="Consolas"/>
                <a:ea typeface="Consolas"/>
                <a:cs typeface="Consolas"/>
              </a:rPr>
              <a:t>scanf("%d", &amp;age);</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while (age &lt; 0 || age &gt; 120) {</a:t>
            </a:r>
            <a:endParaRPr lang="en-US" sz="2400" dirty="0"/>
          </a:p>
          <a:p>
            <a:pPr marL="0" indent="0" algn="l">
              <a:lnSpc>
                <a:spcPts val="3000"/>
              </a:lnSpc>
              <a:buNone/>
            </a:pPr>
            <a:r>
              <a:rPr lang="en-US" sz="2400" dirty="0">
                <a:solidFill>
                  <a:srgbClr val="FFFFFF"/>
                </a:solidFill>
                <a:latin typeface="Consolas"/>
                <a:ea typeface="Consolas"/>
                <a:cs typeface="Consolas"/>
              </a:rPr>
              <a:t>    printf("Invalid. Try again: ");</a:t>
            </a:r>
            <a:endParaRPr lang="en-US" sz="2400" dirty="0"/>
          </a:p>
          <a:p>
            <a:pPr marL="0" indent="0" algn="l">
              <a:lnSpc>
                <a:spcPts val="3000"/>
              </a:lnSpc>
              <a:buNone/>
            </a:pPr>
            <a:r>
              <a:rPr lang="en-US" sz="2400" dirty="0">
                <a:solidFill>
                  <a:srgbClr val="FFFFFF"/>
                </a:solidFill>
                <a:latin typeface="Consolas"/>
                <a:ea typeface="Consolas"/>
                <a:cs typeface="Consolas"/>
              </a:rPr>
              <a:t>    scanf("%d", &amp;age);</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printf("Accepted: %d\n", age);</a:t>
            </a:r>
            <a:endParaRPr lang="en-US" sz="2400" dirty="0"/>
          </a:p>
          <a:p>
            <a:pPr marL="0" indent="0" algn="l">
              <a:lnSpc>
                <a:spcPts val="3000"/>
              </a:lnSpc>
              <a:buNone/>
            </a:pPr>
            <a:r>
              <a:rPr lang="en-US" sz="2400" dirty="0">
                <a:solidFill>
                  <a:srgbClr val="64748B"/>
                </a:solidFill>
                <a:latin typeface="Consolas"/>
                <a:ea typeface="Consolas"/>
                <a:cs typeface="Consolas"/>
              </a:rPr>
              <a:t>return 0;</a:t>
            </a:r>
            <a:endParaRPr lang="en-US" sz="2400" dirty="0"/>
          </a:p>
        </p:txBody>
      </p:sp>
      <p:sp>
        <p:nvSpPr>
          <p:cNvPr id="12" name="Shape 12"/>
          <p:cNvSpPr/>
          <p:nvPr/>
        </p:nvSpPr>
        <p:spPr>
          <a:xfrm>
            <a:off x="7589520" y="1261872"/>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3" name="Shape 13"/>
          <p:cNvSpPr/>
          <p:nvPr/>
        </p:nvSpPr>
        <p:spPr>
          <a:xfrm>
            <a:off x="7589520" y="1261872"/>
            <a:ext cx="109728" cy="1051560"/>
          </a:xfrm>
          <a:prstGeom prst="rect">
            <a:avLst/>
          </a:prstGeom>
          <a:solidFill>
            <a:srgbClr val="31C48D"/>
          </a:solidFill>
          <a:ln>
            <a:noFill/>
          </a:ln>
        </p:spPr>
        <p:txBody>
          <a:bodyPr wrap="square" lIns="0" tIns="0" rIns="0" bIns="0" rtlCol="0" anchor="t"/>
          <a:lstStyle/>
          <a:p>
            <a:endParaRPr lang="en-US"/>
          </a:p>
        </p:txBody>
      </p:sp>
      <p:sp>
        <p:nvSpPr>
          <p:cNvPr id="14"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This </a:t>
            </a:r>
            <a:r>
              <a:rPr lang="en-US" sz="2400" dirty="0">
                <a:solidFill>
                  <a:srgbClr val="18324A"/>
                </a:solidFill>
                <a:latin typeface="Consolas"/>
                <a:ea typeface="Consolas"/>
                <a:cs typeface="Consolas"/>
              </a:rPr>
              <a:t>scanf</a:t>
            </a:r>
            <a:r>
              <a:rPr lang="en-US" sz="2400" dirty="0">
                <a:solidFill>
                  <a:srgbClr val="18324A"/>
                </a:solidFill>
              </a:rPr>
              <a:t> is the </a:t>
            </a:r>
            <a:r>
              <a:rPr lang="en-US" sz="2400" b="1" dirty="0">
                <a:solidFill>
                  <a:srgbClr val="18324A"/>
                </a:solidFill>
              </a:rPr>
              <a:t>update</a:t>
            </a:r>
            <a:r>
              <a:rPr lang="en-US" sz="2400" dirty="0">
                <a:solidFill>
                  <a:srgbClr val="18324A"/>
                </a:solidFill>
              </a:rPr>
              <a:t>.</a:t>
            </a:r>
            <a:endParaRPr lang="en-US" sz="2400" dirty="0"/>
          </a:p>
        </p:txBody>
      </p:sp>
      <p:sp>
        <p:nvSpPr>
          <p:cNvPr id="15" name="Shape 15"/>
          <p:cNvSpPr/>
          <p:nvPr/>
        </p:nvSpPr>
        <p:spPr>
          <a:xfrm>
            <a:off x="7589520" y="2514600"/>
            <a:ext cx="4053535" cy="141732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6" name="Shape 16"/>
          <p:cNvSpPr/>
          <p:nvPr/>
        </p:nvSpPr>
        <p:spPr>
          <a:xfrm>
            <a:off x="7589520" y="2514600"/>
            <a:ext cx="109728" cy="1417320"/>
          </a:xfrm>
          <a:prstGeom prst="rect">
            <a:avLst/>
          </a:prstGeom>
          <a:solidFill>
            <a:srgbClr val="31C48D"/>
          </a:solidFill>
          <a:ln>
            <a:noFill/>
          </a:ln>
        </p:spPr>
        <p:txBody>
          <a:bodyPr wrap="square" lIns="0" tIns="0" rIns="0" bIns="0" rtlCol="0" anchor="t"/>
          <a:lstStyle/>
          <a:p>
            <a:endParaRPr lang="en-US"/>
          </a:p>
        </p:txBody>
      </p:sp>
      <p:sp>
        <p:nvSpPr>
          <p:cNvPr id="17" name="Callout"/>
          <p:cNvSpPr/>
          <p:nvPr/>
        </p:nvSpPr>
        <p:spPr>
          <a:xfrm>
            <a:off x="7699248" y="2514600"/>
            <a:ext cx="394380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is the only line that can make the condition false.</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Step 4: after the loop, trust the input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40</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5292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5292852"/>
            <a:ext cx="82296" cy="381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age;</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printf("Enter age: ");</a:t>
            </a:r>
            <a:endParaRPr lang="en-US" sz="2400" dirty="0"/>
          </a:p>
          <a:p>
            <a:pPr marL="0" indent="0" algn="l">
              <a:lnSpc>
                <a:spcPts val="3000"/>
              </a:lnSpc>
              <a:buNone/>
            </a:pPr>
            <a:r>
              <a:rPr lang="en-US" sz="2400" dirty="0">
                <a:solidFill>
                  <a:srgbClr val="64748B"/>
                </a:solidFill>
                <a:latin typeface="Consolas"/>
                <a:ea typeface="Consolas"/>
                <a:cs typeface="Consolas"/>
              </a:rPr>
              <a:t>scanf("%d", &amp;age);</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while (age &lt; 0 || age &gt; 120) {</a:t>
            </a:r>
            <a:endParaRPr lang="en-US" sz="2400" dirty="0"/>
          </a:p>
          <a:p>
            <a:pPr marL="0" indent="0" algn="l">
              <a:lnSpc>
                <a:spcPts val="3000"/>
              </a:lnSpc>
              <a:buNone/>
            </a:pPr>
            <a:r>
              <a:rPr lang="en-US" sz="2400" dirty="0">
                <a:solidFill>
                  <a:srgbClr val="64748B"/>
                </a:solidFill>
                <a:latin typeface="Consolas"/>
                <a:ea typeface="Consolas"/>
                <a:cs typeface="Consolas"/>
              </a:rPr>
              <a:t>    printf("Invalid. Try again: ");</a:t>
            </a:r>
            <a:endParaRPr lang="en-US" sz="2400" dirty="0"/>
          </a:p>
          <a:p>
            <a:pPr marL="0" indent="0" algn="l">
              <a:lnSpc>
                <a:spcPts val="3000"/>
              </a:lnSpc>
              <a:buNone/>
            </a:pPr>
            <a:r>
              <a:rPr lang="en-US" sz="2400" dirty="0">
                <a:solidFill>
                  <a:srgbClr val="64748B"/>
                </a:solidFill>
                <a:latin typeface="Consolas"/>
                <a:ea typeface="Consolas"/>
                <a:cs typeface="Consolas"/>
              </a:rPr>
              <a:t>    scanf("%d", &amp;age);</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printf("Accepted: %d\n", age);</a:t>
            </a:r>
            <a:endParaRPr lang="en-US" sz="2400" dirty="0"/>
          </a:p>
          <a:p>
            <a:pPr marL="0" indent="0" algn="l">
              <a:lnSpc>
                <a:spcPts val="3000"/>
              </a:lnSpc>
              <a:buNone/>
            </a:pPr>
            <a:r>
              <a:rPr lang="en-US" sz="2400" dirty="0">
                <a:solidFill>
                  <a:srgbClr val="64748B"/>
                </a:solidFill>
                <a:latin typeface="Consolas"/>
                <a:ea typeface="Consolas"/>
                <a:cs typeface="Consolas"/>
              </a:rPr>
              <a:t>return 0;</a:t>
            </a:r>
            <a:endParaRPr lang="en-US" sz="2400" dirty="0"/>
          </a:p>
        </p:txBody>
      </p:sp>
      <p:sp>
        <p:nvSpPr>
          <p:cNvPr id="10" name="Shape 10"/>
          <p:cNvSpPr/>
          <p:nvPr/>
        </p:nvSpPr>
        <p:spPr>
          <a:xfrm>
            <a:off x="7589520" y="1261872"/>
            <a:ext cx="4053535" cy="68580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1" name="Shape 11"/>
          <p:cNvSpPr/>
          <p:nvPr/>
        </p:nvSpPr>
        <p:spPr>
          <a:xfrm>
            <a:off x="7589520" y="1261872"/>
            <a:ext cx="109728" cy="685800"/>
          </a:xfrm>
          <a:prstGeom prst="rect">
            <a:avLst/>
          </a:prstGeom>
          <a:solidFill>
            <a:srgbClr val="8B5CF6"/>
          </a:solidFill>
          <a:ln>
            <a:noFill/>
          </a:ln>
        </p:spPr>
        <p:txBody>
          <a:bodyPr wrap="square" lIns="0" tIns="0" rIns="0" bIns="0" rtlCol="0" anchor="t"/>
          <a:lstStyle/>
          <a:p>
            <a:endParaRPr lang="en-US"/>
          </a:p>
        </p:txBody>
      </p:sp>
      <p:sp>
        <p:nvSpPr>
          <p:cNvPr id="12"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loop has ended.</a:t>
            </a:r>
            <a:endParaRPr lang="en-US" sz="2400" dirty="0"/>
          </a:p>
        </p:txBody>
      </p:sp>
      <p:sp>
        <p:nvSpPr>
          <p:cNvPr id="13" name="Shape 13"/>
          <p:cNvSpPr/>
          <p:nvPr/>
        </p:nvSpPr>
        <p:spPr>
          <a:xfrm>
            <a:off x="7589520" y="2148840"/>
            <a:ext cx="4053535" cy="141732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4" name="Shape 14"/>
          <p:cNvSpPr/>
          <p:nvPr/>
        </p:nvSpPr>
        <p:spPr>
          <a:xfrm>
            <a:off x="7589520" y="2148840"/>
            <a:ext cx="109728" cy="1417320"/>
          </a:xfrm>
          <a:prstGeom prst="rect">
            <a:avLst/>
          </a:prstGeom>
          <a:solidFill>
            <a:srgbClr val="8B5CF6"/>
          </a:solidFill>
          <a:ln>
            <a:noFill/>
          </a:ln>
        </p:spPr>
        <p:txBody>
          <a:bodyPr wrap="square" lIns="0" tIns="0" rIns="0" bIns="0" rtlCol="0" anchor="t"/>
          <a:lstStyle/>
          <a:p>
            <a:endParaRPr lang="en-US"/>
          </a:p>
        </p:txBody>
      </p:sp>
      <p:sp>
        <p:nvSpPr>
          <p:cNvPr id="15" name="Callout"/>
          <p:cNvSpPr/>
          <p:nvPr/>
        </p:nvSpPr>
        <p:spPr>
          <a:xfrm>
            <a:off x="7699248" y="2148840"/>
            <a:ext cx="394380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So the age is good. Every line from here can trust it.</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Run 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41</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E5E7EB"/>
                </a:solidFill>
                <a:latin typeface="Consolas"/>
                <a:ea typeface="Consolas"/>
                <a:cs typeface="Consolas"/>
              </a:rPr>
              <a:t>int age;</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printf("Enter age: ");</a:t>
            </a:r>
            <a:endParaRPr lang="en-US" sz="2400" dirty="0"/>
          </a:p>
          <a:p>
            <a:pPr marL="0" indent="0" algn="l">
              <a:lnSpc>
                <a:spcPts val="3000"/>
              </a:lnSpc>
              <a:buNone/>
            </a:pPr>
            <a:r>
              <a:rPr lang="en-US" sz="2400" dirty="0">
                <a:solidFill>
                  <a:srgbClr val="E5E7EB"/>
                </a:solidFill>
                <a:latin typeface="Consolas"/>
                <a:ea typeface="Consolas"/>
                <a:cs typeface="Consolas"/>
              </a:rPr>
              <a:t>scanf("%d", &amp;age);</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while (age &lt; 0 || age &gt; 120) {</a:t>
            </a:r>
            <a:endParaRPr lang="en-US" sz="2400" dirty="0"/>
          </a:p>
          <a:p>
            <a:pPr marL="0" indent="0" algn="l">
              <a:lnSpc>
                <a:spcPts val="3000"/>
              </a:lnSpc>
              <a:buNone/>
            </a:pPr>
            <a:r>
              <a:rPr lang="en-US" sz="2400" dirty="0">
                <a:solidFill>
                  <a:srgbClr val="E5E7EB"/>
                </a:solidFill>
                <a:latin typeface="Consolas"/>
                <a:ea typeface="Consolas"/>
                <a:cs typeface="Consolas"/>
              </a:rPr>
              <a:t>    printf("Invalid. Try again: ");</a:t>
            </a:r>
            <a:endParaRPr lang="en-US" sz="2400" dirty="0"/>
          </a:p>
          <a:p>
            <a:pPr marL="0" indent="0" algn="l">
              <a:lnSpc>
                <a:spcPts val="3000"/>
              </a:lnSpc>
              <a:buNone/>
            </a:pPr>
            <a:r>
              <a:rPr lang="en-US" sz="2400" dirty="0">
                <a:solidFill>
                  <a:srgbClr val="E5E7EB"/>
                </a:solidFill>
                <a:latin typeface="Consolas"/>
                <a:ea typeface="Consolas"/>
                <a:cs typeface="Consolas"/>
              </a:rPr>
              <a:t>    scanf("%d", &amp;age);</a:t>
            </a:r>
            <a:endParaRPr lang="en-US" sz="2400" dirty="0"/>
          </a:p>
          <a:p>
            <a:pPr marL="0" indent="0" algn="l">
              <a:lnSpc>
                <a:spcPts val="3000"/>
              </a:lnSpc>
              <a:buNone/>
            </a:pPr>
            <a:r>
              <a:rPr lang="en-US" sz="2400" dirty="0">
                <a:solidFill>
                  <a:srgbClr val="E5E7EB"/>
                </a:solidFill>
                <a:latin typeface="Consolas"/>
                <a:ea typeface="Consolas"/>
                <a:cs typeface="Consolas"/>
              </a:rPr>
              <a:t>}</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printf("Accepted: %d\n", age);</a:t>
            </a:r>
            <a:endParaRPr lang="en-US" sz="2400" dirty="0"/>
          </a:p>
          <a:p>
            <a:pPr marL="0" indent="0" algn="l">
              <a:lnSpc>
                <a:spcPts val="3000"/>
              </a:lnSpc>
              <a:buNone/>
            </a:pPr>
            <a:r>
              <a:rPr lang="en-US" sz="2400" dirty="0">
                <a:solidFill>
                  <a:srgbClr val="E5E7EB"/>
                </a:solidFill>
                <a:latin typeface="Consolas"/>
                <a:ea typeface="Consolas"/>
                <a:cs typeface="Consolas"/>
              </a:rPr>
              <a:t>return 0;</a:t>
            </a:r>
            <a:endParaRPr lang="en-US" sz="2400" dirty="0"/>
          </a:p>
        </p:txBody>
      </p:sp>
      <p:sp>
        <p:nvSpPr>
          <p:cNvPr id="8" name="Shape 8"/>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9" name="Shape 9"/>
          <p:cNvSpPr/>
          <p:nvPr/>
        </p:nvSpPr>
        <p:spPr>
          <a:xfrm>
            <a:off x="7589520" y="1645920"/>
            <a:ext cx="4053535" cy="1762760"/>
          </a:xfrm>
          <a:prstGeom prst="rect">
            <a:avLst/>
          </a:prstGeom>
          <a:solidFill>
            <a:srgbClr val="000000"/>
          </a:solidFill>
          <a:ln>
            <a:noFill/>
          </a:ln>
        </p:spPr>
        <p:txBody>
          <a:bodyPr wrap="square" lIns="0" tIns="0" rIns="0" bIns="0" rtlCol="0" anchor="t"/>
          <a:lstStyle/>
          <a:p>
            <a:endParaRPr lang="en-US"/>
          </a:p>
        </p:txBody>
      </p:sp>
      <p:sp>
        <p:nvSpPr>
          <p:cNvPr id="10" name="Code"/>
          <p:cNvSpPr/>
          <p:nvPr/>
        </p:nvSpPr>
        <p:spPr>
          <a:xfrm>
            <a:off x="7589520" y="1645920"/>
            <a:ext cx="4053535" cy="17627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D1FAE5"/>
                </a:solidFill>
                <a:latin typeface="Consolas"/>
                <a:ea typeface="Consolas"/>
                <a:cs typeface="Consolas"/>
              </a:rPr>
              <a:t>Enter age: -5</a:t>
            </a:r>
            <a:endParaRPr lang="en-US" sz="2200" dirty="0"/>
          </a:p>
          <a:p>
            <a:pPr marL="0" indent="0" algn="l">
              <a:lnSpc>
                <a:spcPts val="2750"/>
              </a:lnSpc>
              <a:buNone/>
            </a:pPr>
            <a:r>
              <a:rPr lang="en-US" sz="2200" dirty="0">
                <a:solidFill>
                  <a:srgbClr val="D1FAE5"/>
                </a:solidFill>
                <a:latin typeface="Consolas"/>
                <a:ea typeface="Consolas"/>
                <a:cs typeface="Consolas"/>
              </a:rPr>
              <a:t>Invalid. Try again: 200</a:t>
            </a:r>
            <a:endParaRPr lang="en-US" sz="2200" dirty="0"/>
          </a:p>
          <a:p>
            <a:pPr marL="0" indent="0" algn="l">
              <a:lnSpc>
                <a:spcPts val="2750"/>
              </a:lnSpc>
              <a:buNone/>
            </a:pPr>
            <a:r>
              <a:rPr lang="en-US" sz="2200" dirty="0">
                <a:solidFill>
                  <a:srgbClr val="D1FAE5"/>
                </a:solidFill>
                <a:latin typeface="Consolas"/>
                <a:ea typeface="Consolas"/>
                <a:cs typeface="Consolas"/>
              </a:rPr>
              <a:t>Invalid. Try again: 19</a:t>
            </a:r>
            <a:endParaRPr lang="en-US" sz="2200" dirty="0"/>
          </a:p>
          <a:p>
            <a:pPr marL="0" indent="0" algn="l">
              <a:lnSpc>
                <a:spcPts val="2750"/>
              </a:lnSpc>
              <a:buNone/>
            </a:pPr>
            <a:r>
              <a:rPr lang="en-US" sz="2200" dirty="0">
                <a:solidFill>
                  <a:srgbClr val="D1FAE5"/>
                </a:solidFill>
                <a:latin typeface="Consolas"/>
                <a:ea typeface="Consolas"/>
                <a:cs typeface="Consolas"/>
              </a:rPr>
              <a:t>Accepted: 19</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Test the edges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42</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For </a:t>
            </a:r>
            <a:r>
              <a:rPr lang="en-US" sz="2400" dirty="0">
                <a:solidFill>
                  <a:srgbClr val="18324A"/>
                </a:solidFill>
                <a:latin typeface="Consolas"/>
                <a:ea typeface="Consolas"/>
                <a:cs typeface="Consolas"/>
              </a:rPr>
              <a:t>0</a:t>
            </a:r>
            <a:r>
              <a:rPr lang="en-US" sz="2400" dirty="0">
                <a:solidFill>
                  <a:srgbClr val="18324A"/>
                </a:solidFill>
              </a:rPr>
              <a:t> and </a:t>
            </a:r>
            <a:r>
              <a:rPr lang="en-US" sz="2400" dirty="0">
                <a:solidFill>
                  <a:srgbClr val="18324A"/>
                </a:solidFill>
                <a:latin typeface="Consolas"/>
                <a:ea typeface="Consolas"/>
                <a:cs typeface="Consolas"/>
              </a:rPr>
              <a:t>120</a:t>
            </a:r>
            <a:r>
              <a:rPr lang="en-US" sz="2400" dirty="0">
                <a:solidFill>
                  <a:srgbClr val="18324A"/>
                </a:solidFill>
              </a:rPr>
              <a:t> the body runs </a:t>
            </a:r>
            <a:r>
              <a:rPr lang="en-US" sz="2400" b="1" dirty="0">
                <a:solidFill>
                  <a:srgbClr val="18324A"/>
                </a:solidFill>
              </a:rPr>
              <a:t>zero times</a:t>
            </a:r>
            <a:r>
              <a:rPr lang="en-US" sz="2400" dirty="0">
                <a:solidFill>
                  <a:srgbClr val="18324A"/>
                </a:solidFill>
              </a:rPr>
              <a:t>. A </a:t>
            </a:r>
            <a:r>
              <a:rPr lang="en-US" sz="2400" dirty="0">
                <a:solidFill>
                  <a:srgbClr val="18324A"/>
                </a:solidFill>
                <a:latin typeface="Consolas"/>
                <a:ea typeface="Consolas"/>
                <a:cs typeface="Consolas"/>
              </a:rPr>
              <a:t>while</a:t>
            </a:r>
            <a:r>
              <a:rPr lang="en-US" sz="2400" dirty="0">
                <a:solidFill>
                  <a:srgbClr val="18324A"/>
                </a:solidFill>
              </a:rPr>
              <a:t> checks first.</a:t>
            </a:r>
            <a:endParaRPr lang="en-US" sz="2400" dirty="0"/>
          </a:p>
        </p:txBody>
      </p:sp>
      <p:sp>
        <p:nvSpPr>
          <p:cNvPr id="9" name="Shape 9"/>
          <p:cNvSpPr/>
          <p:nvPr/>
        </p:nvSpPr>
        <p:spPr>
          <a:xfrm>
            <a:off x="548640" y="1261872"/>
            <a:ext cx="2641527"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You type</a:t>
            </a:r>
            <a:endParaRPr lang="en-US" sz="1800" dirty="0"/>
          </a:p>
        </p:txBody>
      </p:sp>
      <p:sp>
        <p:nvSpPr>
          <p:cNvPr id="10" name="Shape 10"/>
          <p:cNvSpPr/>
          <p:nvPr/>
        </p:nvSpPr>
        <p:spPr>
          <a:xfrm>
            <a:off x="3190167" y="1261872"/>
            <a:ext cx="422644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What happens</a:t>
            </a:r>
            <a:endParaRPr lang="en-US" sz="1800" dirty="0"/>
          </a:p>
        </p:txBody>
      </p:sp>
      <p:sp>
        <p:nvSpPr>
          <p:cNvPr id="11" name="Shape 11"/>
          <p:cNvSpPr/>
          <p:nvPr/>
        </p:nvSpPr>
        <p:spPr>
          <a:xfrm>
            <a:off x="7416611" y="1261872"/>
            <a:ext cx="422644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Why</a:t>
            </a:r>
            <a:endParaRPr lang="en-US" sz="1800" dirty="0"/>
          </a:p>
        </p:txBody>
      </p:sp>
      <p:sp>
        <p:nvSpPr>
          <p:cNvPr id="12" name="Shape 12"/>
          <p:cNvSpPr/>
          <p:nvPr/>
        </p:nvSpPr>
        <p:spPr>
          <a:xfrm>
            <a:off x="548640" y="1920240"/>
            <a:ext cx="2641527"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0</a:t>
            </a:r>
            <a:endParaRPr lang="en-US" sz="2600" dirty="0"/>
          </a:p>
        </p:txBody>
      </p:sp>
      <p:sp>
        <p:nvSpPr>
          <p:cNvPr id="13" name="Shape 13"/>
          <p:cNvSpPr/>
          <p:nvPr/>
        </p:nvSpPr>
        <p:spPr>
          <a:xfrm>
            <a:off x="3190167" y="1920240"/>
            <a:ext cx="422644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accepted at once</a:t>
            </a:r>
            <a:endParaRPr lang="en-US" sz="2600" dirty="0"/>
          </a:p>
        </p:txBody>
      </p:sp>
      <p:sp>
        <p:nvSpPr>
          <p:cNvPr id="14" name="Shape 14"/>
          <p:cNvSpPr/>
          <p:nvPr/>
        </p:nvSpPr>
        <p:spPr>
          <a:xfrm>
            <a:off x="7416611" y="1920240"/>
            <a:ext cx="422644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0 &lt; 0</a:t>
            </a:r>
            <a:r>
              <a:rPr lang="en-US" sz="2600" dirty="0">
                <a:solidFill>
                  <a:srgbClr val="18324A"/>
                </a:solidFill>
              </a:rPr>
              <a:t> is false</a:t>
            </a:r>
            <a:endParaRPr lang="en-US" sz="2600" dirty="0"/>
          </a:p>
        </p:txBody>
      </p:sp>
      <p:sp>
        <p:nvSpPr>
          <p:cNvPr id="15" name="Shape 15"/>
          <p:cNvSpPr/>
          <p:nvPr/>
        </p:nvSpPr>
        <p:spPr>
          <a:xfrm>
            <a:off x="548640" y="2578608"/>
            <a:ext cx="2641527"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120</a:t>
            </a:r>
            <a:endParaRPr lang="en-US" sz="2600" dirty="0"/>
          </a:p>
        </p:txBody>
      </p:sp>
      <p:sp>
        <p:nvSpPr>
          <p:cNvPr id="16" name="Shape 16"/>
          <p:cNvSpPr/>
          <p:nvPr/>
        </p:nvSpPr>
        <p:spPr>
          <a:xfrm>
            <a:off x="3190167" y="2578608"/>
            <a:ext cx="422644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accepted at once</a:t>
            </a:r>
            <a:endParaRPr lang="en-US" sz="2600" dirty="0"/>
          </a:p>
        </p:txBody>
      </p:sp>
      <p:sp>
        <p:nvSpPr>
          <p:cNvPr id="17" name="Shape 17"/>
          <p:cNvSpPr/>
          <p:nvPr/>
        </p:nvSpPr>
        <p:spPr>
          <a:xfrm>
            <a:off x="7416611" y="2578608"/>
            <a:ext cx="422644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120 &gt; 120</a:t>
            </a:r>
            <a:r>
              <a:rPr lang="en-US" sz="2600" dirty="0">
                <a:solidFill>
                  <a:srgbClr val="18324A"/>
                </a:solidFill>
              </a:rPr>
              <a:t> is false</a:t>
            </a:r>
            <a:endParaRPr lang="en-US" sz="2600" dirty="0"/>
          </a:p>
        </p:txBody>
      </p:sp>
      <p:sp>
        <p:nvSpPr>
          <p:cNvPr id="18" name="Shape 18"/>
          <p:cNvSpPr/>
          <p:nvPr/>
        </p:nvSpPr>
        <p:spPr>
          <a:xfrm>
            <a:off x="548640" y="3236976"/>
            <a:ext cx="2641527"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121</a:t>
            </a:r>
            <a:endParaRPr lang="en-US" sz="2600" dirty="0"/>
          </a:p>
        </p:txBody>
      </p:sp>
      <p:sp>
        <p:nvSpPr>
          <p:cNvPr id="19" name="Shape 19"/>
          <p:cNvSpPr/>
          <p:nvPr/>
        </p:nvSpPr>
        <p:spPr>
          <a:xfrm>
            <a:off x="3190167" y="3236976"/>
            <a:ext cx="422644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Invalid. Try again:</a:t>
            </a:r>
            <a:endParaRPr lang="en-US" sz="2600" dirty="0"/>
          </a:p>
        </p:txBody>
      </p:sp>
      <p:sp>
        <p:nvSpPr>
          <p:cNvPr id="20" name="Shape 20"/>
          <p:cNvSpPr/>
          <p:nvPr/>
        </p:nvSpPr>
        <p:spPr>
          <a:xfrm>
            <a:off x="7416611" y="3236976"/>
            <a:ext cx="422644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121 &gt; 120</a:t>
            </a:r>
            <a:r>
              <a:rPr lang="en-US" sz="2600" dirty="0">
                <a:solidFill>
                  <a:srgbClr val="18324A"/>
                </a:solidFill>
              </a:rPr>
              <a:t> is true</a:t>
            </a:r>
            <a:endParaRPr lang="en-US" sz="2600" dirty="0"/>
          </a:p>
        </p:txBody>
      </p:sp>
      <p:sp>
        <p:nvSpPr>
          <p:cNvPr id="21" name="Shape 21"/>
          <p:cNvSpPr/>
          <p:nvPr/>
        </p:nvSpPr>
        <p:spPr>
          <a:xfrm>
            <a:off x="548640" y="3895344"/>
            <a:ext cx="2641527"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a:t>
            </a:r>
            <a:endParaRPr lang="en-US" sz="2600" dirty="0"/>
          </a:p>
        </p:txBody>
      </p:sp>
      <p:sp>
        <p:nvSpPr>
          <p:cNvPr id="22" name="Shape 22"/>
          <p:cNvSpPr/>
          <p:nvPr/>
        </p:nvSpPr>
        <p:spPr>
          <a:xfrm>
            <a:off x="3190167" y="3895344"/>
            <a:ext cx="422644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Invalid. Try again:</a:t>
            </a:r>
            <a:endParaRPr lang="en-US" sz="2600" dirty="0"/>
          </a:p>
        </p:txBody>
      </p:sp>
      <p:sp>
        <p:nvSpPr>
          <p:cNvPr id="23" name="Shape 23"/>
          <p:cNvSpPr/>
          <p:nvPr/>
        </p:nvSpPr>
        <p:spPr>
          <a:xfrm>
            <a:off x="7416611" y="3895344"/>
            <a:ext cx="422644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 &lt; 0</a:t>
            </a:r>
            <a:r>
              <a:rPr lang="en-US" sz="2600" dirty="0">
                <a:solidFill>
                  <a:srgbClr val="18324A"/>
                </a:solidFill>
              </a:rPr>
              <a:t> is true</a:t>
            </a:r>
            <a:endParaRPr lang="en-US"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Same shape, new condition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43</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Only the condition changes. It always describes the </a:t>
            </a:r>
            <a:r>
              <a:rPr lang="en-US" sz="2400" b="1" dirty="0">
                <a:solidFill>
                  <a:srgbClr val="18324A"/>
                </a:solidFill>
              </a:rPr>
              <a:t>bad</a:t>
            </a:r>
            <a:r>
              <a:rPr lang="en-US" sz="2400" dirty="0">
                <a:solidFill>
                  <a:srgbClr val="18324A"/>
                </a:solidFill>
              </a:rPr>
              <a:t> input.</a:t>
            </a:r>
            <a:endParaRPr lang="en-US" sz="2400" dirty="0"/>
          </a:p>
        </p:txBody>
      </p:sp>
      <p:sp>
        <p:nvSpPr>
          <p:cNvPr id="9" name="Shape 9"/>
          <p:cNvSpPr/>
          <p:nvPr/>
        </p:nvSpPr>
        <p:spPr>
          <a:xfrm>
            <a:off x="548640" y="1261872"/>
            <a:ext cx="5364328" cy="384048"/>
          </a:xfrm>
          <a:prstGeom prst="rect">
            <a:avLst/>
          </a:prstGeom>
          <a:solidFill>
            <a:srgbClr val="2F80ED"/>
          </a:solidFill>
          <a:ln>
            <a:noFill/>
          </a:ln>
        </p:spPr>
        <p:txBody>
          <a:bodyPr wrap="square" lIns="0" tIns="0" rIns="0" bIns="0" rtlCol="0" anchor="ctr"/>
          <a:lstStyle/>
          <a:p>
            <a:pPr marL="0" indent="0" algn="ctr">
              <a:buNone/>
            </a:pPr>
            <a:r>
              <a:rPr lang="en-US" sz="1800" b="1" dirty="0">
                <a:solidFill>
                  <a:srgbClr val="FFFFFF"/>
                </a:solidFill>
              </a:rPr>
              <a:t>age: 0 to 120</a:t>
            </a:r>
            <a:endParaRPr lang="en-US" sz="1800" dirty="0"/>
          </a:p>
        </p:txBody>
      </p:sp>
      <p:sp>
        <p:nvSpPr>
          <p:cNvPr id="10" name="Shape 10"/>
          <p:cNvSpPr/>
          <p:nvPr/>
        </p:nvSpPr>
        <p:spPr>
          <a:xfrm>
            <a:off x="548640" y="1645920"/>
            <a:ext cx="5364328" cy="1635760"/>
          </a:xfrm>
          <a:prstGeom prst="rect">
            <a:avLst/>
          </a:prstGeom>
          <a:solidFill>
            <a:srgbClr val="0F172A"/>
          </a:solidFill>
          <a:ln>
            <a:noFill/>
          </a:ln>
        </p:spPr>
        <p:txBody>
          <a:bodyPr wrap="square" lIns="0" tIns="0" rIns="0" bIns="0" rtlCol="0" anchor="t"/>
          <a:lstStyle/>
          <a:p>
            <a:endParaRPr lang="en-US"/>
          </a:p>
        </p:txBody>
      </p:sp>
      <p:sp>
        <p:nvSpPr>
          <p:cNvPr id="11" name="Shape 11"/>
          <p:cNvSpPr/>
          <p:nvPr/>
        </p:nvSpPr>
        <p:spPr>
          <a:xfrm>
            <a:off x="548640" y="1860550"/>
            <a:ext cx="5364328" cy="317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1860550"/>
            <a:ext cx="82296" cy="3175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645920"/>
            <a:ext cx="5364328" cy="163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FFFFFF"/>
                </a:solidFill>
                <a:latin typeface="Consolas"/>
                <a:ea typeface="Consolas"/>
                <a:cs typeface="Consolas"/>
              </a:rPr>
              <a:t>while (age &lt; 0 || age &gt; 120) {</a:t>
            </a:r>
            <a:endParaRPr lang="en-US" sz="2000" dirty="0"/>
          </a:p>
          <a:p>
            <a:pPr marL="0" indent="0" algn="l">
              <a:lnSpc>
                <a:spcPts val="2500"/>
              </a:lnSpc>
              <a:buNone/>
            </a:pPr>
            <a:r>
              <a:rPr lang="en-US" sz="2000" dirty="0">
                <a:solidFill>
                  <a:srgbClr val="64748B"/>
                </a:solidFill>
                <a:latin typeface="Consolas"/>
                <a:ea typeface="Consolas"/>
                <a:cs typeface="Consolas"/>
              </a:rPr>
              <a:t>    printf("Invalid. Try again: ");</a:t>
            </a:r>
            <a:endParaRPr lang="en-US" sz="2000" dirty="0"/>
          </a:p>
          <a:p>
            <a:pPr marL="0" indent="0" algn="l">
              <a:lnSpc>
                <a:spcPts val="2500"/>
              </a:lnSpc>
              <a:buNone/>
            </a:pPr>
            <a:r>
              <a:rPr lang="en-US" sz="2000" dirty="0">
                <a:solidFill>
                  <a:srgbClr val="64748B"/>
                </a:solidFill>
                <a:latin typeface="Consolas"/>
                <a:ea typeface="Consolas"/>
                <a:cs typeface="Consolas"/>
              </a:rPr>
              <a:t>    scanf("%d", &amp;age);</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4" name="Shape 14"/>
          <p:cNvSpPr/>
          <p:nvPr/>
        </p:nvSpPr>
        <p:spPr>
          <a:xfrm>
            <a:off x="6278728" y="1261872"/>
            <a:ext cx="5364328" cy="384048"/>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month: 1 to 12</a:t>
            </a:r>
            <a:endParaRPr lang="en-US" sz="1800" dirty="0"/>
          </a:p>
        </p:txBody>
      </p:sp>
      <p:sp>
        <p:nvSpPr>
          <p:cNvPr id="15" name="Shape 15"/>
          <p:cNvSpPr/>
          <p:nvPr/>
        </p:nvSpPr>
        <p:spPr>
          <a:xfrm>
            <a:off x="6278728" y="1645920"/>
            <a:ext cx="5364328" cy="1635760"/>
          </a:xfrm>
          <a:prstGeom prst="rect">
            <a:avLst/>
          </a:prstGeom>
          <a:solidFill>
            <a:srgbClr val="0F172A"/>
          </a:solidFill>
          <a:ln>
            <a:noFill/>
          </a:ln>
        </p:spPr>
        <p:txBody>
          <a:bodyPr wrap="square" lIns="0" tIns="0" rIns="0" bIns="0" rtlCol="0" anchor="t"/>
          <a:lstStyle/>
          <a:p>
            <a:endParaRPr lang="en-US"/>
          </a:p>
        </p:txBody>
      </p:sp>
      <p:sp>
        <p:nvSpPr>
          <p:cNvPr id="16" name="Shape 16"/>
          <p:cNvSpPr/>
          <p:nvPr/>
        </p:nvSpPr>
        <p:spPr>
          <a:xfrm>
            <a:off x="6278728" y="1860550"/>
            <a:ext cx="5364328" cy="317500"/>
          </a:xfrm>
          <a:prstGeom prst="rect">
            <a:avLst/>
          </a:prstGeom>
          <a:solidFill>
            <a:srgbClr val="25406B"/>
          </a:solidFill>
          <a:ln>
            <a:noFill/>
          </a:ln>
        </p:spPr>
        <p:txBody>
          <a:bodyPr wrap="square" lIns="0" tIns="0" rIns="0" bIns="0" rtlCol="0" anchor="t"/>
          <a:lstStyle/>
          <a:p>
            <a:endParaRPr lang="en-US"/>
          </a:p>
        </p:txBody>
      </p:sp>
      <p:sp>
        <p:nvSpPr>
          <p:cNvPr id="17" name="Shape 17"/>
          <p:cNvSpPr/>
          <p:nvPr/>
        </p:nvSpPr>
        <p:spPr>
          <a:xfrm>
            <a:off x="6278728" y="1860550"/>
            <a:ext cx="82296" cy="317500"/>
          </a:xfrm>
          <a:prstGeom prst="rect">
            <a:avLst/>
          </a:prstGeom>
          <a:solidFill>
            <a:srgbClr val="F59E0B"/>
          </a:solidFill>
          <a:ln>
            <a:noFill/>
          </a:ln>
        </p:spPr>
        <p:txBody>
          <a:bodyPr wrap="square" lIns="0" tIns="0" rIns="0" bIns="0" rtlCol="0" anchor="t"/>
          <a:lstStyle/>
          <a:p>
            <a:endParaRPr lang="en-US"/>
          </a:p>
        </p:txBody>
      </p:sp>
      <p:sp>
        <p:nvSpPr>
          <p:cNvPr id="18" name="Code"/>
          <p:cNvSpPr/>
          <p:nvPr/>
        </p:nvSpPr>
        <p:spPr>
          <a:xfrm>
            <a:off x="6278728" y="1645920"/>
            <a:ext cx="5364328" cy="163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FFFFFF"/>
                </a:solidFill>
                <a:latin typeface="Consolas"/>
                <a:ea typeface="Consolas"/>
                <a:cs typeface="Consolas"/>
              </a:rPr>
              <a:t>while (month &lt; 1 || month &gt; 12) {</a:t>
            </a:r>
            <a:endParaRPr lang="en-US" sz="2000" dirty="0"/>
          </a:p>
          <a:p>
            <a:pPr marL="0" indent="0" algn="l">
              <a:lnSpc>
                <a:spcPts val="2500"/>
              </a:lnSpc>
              <a:buNone/>
            </a:pPr>
            <a:r>
              <a:rPr lang="en-US" sz="2000" dirty="0">
                <a:solidFill>
                  <a:srgbClr val="64748B"/>
                </a:solidFill>
                <a:latin typeface="Consolas"/>
                <a:ea typeface="Consolas"/>
                <a:cs typeface="Consolas"/>
              </a:rPr>
              <a:t>    printf("Invalid. Try again: ");</a:t>
            </a:r>
            <a:endParaRPr lang="en-US" sz="2000" dirty="0"/>
          </a:p>
          <a:p>
            <a:pPr marL="0" indent="0" algn="l">
              <a:lnSpc>
                <a:spcPts val="2500"/>
              </a:lnSpc>
              <a:buNone/>
            </a:pPr>
            <a:r>
              <a:rPr lang="en-US" sz="2000" dirty="0">
                <a:solidFill>
                  <a:srgbClr val="64748B"/>
                </a:solidFill>
                <a:latin typeface="Consolas"/>
                <a:ea typeface="Consolas"/>
                <a:cs typeface="Consolas"/>
              </a:rPr>
              <a:t>    scanf("%d", &amp;month);</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8B5CF6"/>
          </a:solidFill>
          <a:ln>
            <a:noFill/>
          </a:ln>
        </p:spPr>
        <p:txBody>
          <a:bodyPr wrap="square" lIns="0" tIns="0" rIns="0" bIns="0" rtlCol="0" anchor="ctr"/>
          <a:lstStyle/>
          <a:p>
            <a:pPr marL="0" indent="0" algn="ctr">
              <a:buNone/>
            </a:pPr>
            <a:r>
              <a:rPr lang="en-US" sz="5400" b="1" dirty="0">
                <a:solidFill>
                  <a:srgbClr val="FFFFFF"/>
                </a:solidFill>
              </a:rPr>
              <a:t>4</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Choosing loop boundaries</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FFFFFF"/>
                </a:solidFill>
                <a:latin typeface="Consolas"/>
                <a:ea typeface="Consolas"/>
                <a:cs typeface="Consolas"/>
              </a:rPr>
              <a:t>&lt;</a:t>
            </a:r>
            <a:r>
              <a:rPr lang="en-US" sz="2600" dirty="0">
                <a:solidFill>
                  <a:srgbClr val="D7E3F0"/>
                </a:solidFill>
              </a:rPr>
              <a:t> or </a:t>
            </a:r>
            <a:r>
              <a:rPr lang="en-US" sz="2600" dirty="0">
                <a:solidFill>
                  <a:srgbClr val="FFFFFF"/>
                </a:solidFill>
                <a:latin typeface="Consolas"/>
                <a:ea typeface="Consolas"/>
                <a:cs typeface="Consolas"/>
              </a:rPr>
              <a:t>&lt;=</a:t>
            </a:r>
            <a:r>
              <a:rPr lang="en-US" sz="2600" dirty="0">
                <a:solidFill>
                  <a:srgbClr val="D7E3F0"/>
                </a:solidFill>
              </a:rPr>
              <a:t>? Start at 0 or at 1?</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Choosing loop boundaries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45</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Both run </a:t>
            </a:r>
            <a:r>
              <a:rPr lang="en-US" sz="2400" b="1" dirty="0">
                <a:solidFill>
                  <a:srgbClr val="18324A"/>
                </a:solidFill>
              </a:rPr>
              <a:t>five</a:t>
            </a:r>
            <a:r>
              <a:rPr lang="en-US" sz="2400" dirty="0">
                <a:solidFill>
                  <a:srgbClr val="18324A"/>
                </a:solidFill>
              </a:rPr>
              <a:t> times. Both are correct. The left style comes back with arrays.</a:t>
            </a:r>
            <a:endParaRPr lang="en-US" sz="2400" dirty="0"/>
          </a:p>
        </p:txBody>
      </p:sp>
      <p:sp>
        <p:nvSpPr>
          <p:cNvPr id="9" name="Shape 9"/>
          <p:cNvSpPr/>
          <p:nvPr/>
        </p:nvSpPr>
        <p:spPr>
          <a:xfrm>
            <a:off x="548640" y="1261872"/>
            <a:ext cx="5364328" cy="384048"/>
          </a:xfrm>
          <a:prstGeom prst="rect">
            <a:avLst/>
          </a:prstGeom>
          <a:solidFill>
            <a:srgbClr val="2F80ED"/>
          </a:solidFill>
          <a:ln>
            <a:noFill/>
          </a:ln>
        </p:spPr>
        <p:txBody>
          <a:bodyPr wrap="square" lIns="0" tIns="0" rIns="0" bIns="0" rtlCol="0" anchor="ctr"/>
          <a:lstStyle/>
          <a:p>
            <a:pPr marL="0" indent="0" algn="ctr">
              <a:buNone/>
            </a:pPr>
            <a:r>
              <a:rPr lang="en-US" sz="1800" b="1" dirty="0">
                <a:solidFill>
                  <a:srgbClr val="FFFFFF"/>
                </a:solidFill>
              </a:rPr>
              <a:t>0 to n - 1, with &lt;</a:t>
            </a:r>
            <a:endParaRPr lang="en-US" sz="1800" dirty="0"/>
          </a:p>
        </p:txBody>
      </p:sp>
      <p:sp>
        <p:nvSpPr>
          <p:cNvPr id="10" name="Shape 10"/>
          <p:cNvSpPr/>
          <p:nvPr/>
        </p:nvSpPr>
        <p:spPr>
          <a:xfrm>
            <a:off x="548640" y="1645920"/>
            <a:ext cx="5364328" cy="176276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17627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for (int i = 0; i &lt; 5; i++) {</a:t>
            </a:r>
            <a:endParaRPr lang="en-US" sz="2200" dirty="0"/>
          </a:p>
          <a:p>
            <a:pPr marL="0" indent="0" algn="l">
              <a:lnSpc>
                <a:spcPts val="2750"/>
              </a:lnSpc>
              <a:buNone/>
            </a:pPr>
            <a:r>
              <a:rPr lang="en-US" sz="2200" dirty="0">
                <a:solidFill>
                  <a:srgbClr val="E5E7EB"/>
                </a:solidFill>
                <a:latin typeface="Consolas"/>
                <a:ea typeface="Consolas"/>
                <a:cs typeface="Consolas"/>
              </a:rPr>
              <a:t>    printf("%d ", i);</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a:p>
            <a:pPr marL="0" indent="0" algn="l">
              <a:lnSpc>
                <a:spcPts val="2750"/>
              </a:lnSpc>
              <a:buNone/>
            </a:pPr>
            <a:r>
              <a:rPr lang="en-US" sz="2200" dirty="0">
                <a:solidFill>
                  <a:srgbClr val="86C79A"/>
                </a:solidFill>
                <a:latin typeface="Consolas"/>
                <a:ea typeface="Consolas"/>
                <a:cs typeface="Consolas"/>
              </a:rPr>
              <a:t>// 0 1 2 3 4</a:t>
            </a:r>
            <a:endParaRPr lang="en-US" sz="2200" dirty="0"/>
          </a:p>
        </p:txBody>
      </p:sp>
      <p:sp>
        <p:nvSpPr>
          <p:cNvPr id="12" name="Shape 12"/>
          <p:cNvSpPr/>
          <p:nvPr/>
        </p:nvSpPr>
        <p:spPr>
          <a:xfrm>
            <a:off x="6278728" y="1261872"/>
            <a:ext cx="5364328" cy="384048"/>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1 to n, with &lt;=</a:t>
            </a:r>
            <a:endParaRPr lang="en-US" sz="1800" dirty="0"/>
          </a:p>
        </p:txBody>
      </p:sp>
      <p:sp>
        <p:nvSpPr>
          <p:cNvPr id="13" name="Shape 13"/>
          <p:cNvSpPr/>
          <p:nvPr/>
        </p:nvSpPr>
        <p:spPr>
          <a:xfrm>
            <a:off x="6278728" y="1645920"/>
            <a:ext cx="5364328" cy="176276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17627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for (int i = 1; i &lt;= 5; i++) {</a:t>
            </a:r>
            <a:endParaRPr lang="en-US" sz="2200" dirty="0"/>
          </a:p>
          <a:p>
            <a:pPr marL="0" indent="0" algn="l">
              <a:lnSpc>
                <a:spcPts val="2750"/>
              </a:lnSpc>
              <a:buNone/>
            </a:pPr>
            <a:r>
              <a:rPr lang="en-US" sz="2200" dirty="0">
                <a:solidFill>
                  <a:srgbClr val="E5E7EB"/>
                </a:solidFill>
                <a:latin typeface="Consolas"/>
                <a:ea typeface="Consolas"/>
                <a:cs typeface="Consolas"/>
              </a:rPr>
              <a:t>    printf("%d ", i);</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a:p>
            <a:pPr marL="0" indent="0" algn="l">
              <a:lnSpc>
                <a:spcPts val="2750"/>
              </a:lnSpc>
              <a:buNone/>
            </a:pPr>
            <a:r>
              <a:rPr lang="en-US" sz="2200" dirty="0">
                <a:solidFill>
                  <a:srgbClr val="86C79A"/>
                </a:solidFill>
                <a:latin typeface="Consolas"/>
                <a:ea typeface="Consolas"/>
                <a:cs typeface="Consolas"/>
              </a:rPr>
              <a:t>// 1 2 3 4 5</a:t>
            </a:r>
            <a:endParaRPr lang="en-US"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Which loop prints exactly 10 numbers?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46</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for (int i = 0; i &lt; 10; i++)</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for (int i = 1; i &lt;= 10; i++)</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for (int i = 0; i &lt;= 10; i++)</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for (int i = 1; i &lt; 10; i++)</a:t>
            </a:r>
            <a:endParaRPr lang="en-US" sz="2800" dirty="0"/>
          </a:p>
        </p:txBody>
      </p:sp>
      <p:sp>
        <p:nvSpPr>
          <p:cNvPr id="14" name="Shape 14"/>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Hands up for each one. More than one can be right.</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Which loop prints exactly 10 numbers?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47</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One too many, or one too few: the </a:t>
            </a:r>
            <a:r>
              <a:rPr lang="en-US" sz="2400" b="1" dirty="0">
                <a:solidFill>
                  <a:srgbClr val="18324A"/>
                </a:solidFill>
              </a:rPr>
              <a:t>off-by-one error</a:t>
            </a:r>
            <a:r>
              <a:rPr lang="en-US" sz="2400" dirty="0">
                <a:solidFill>
                  <a:srgbClr val="18324A"/>
                </a:solidFill>
              </a:rPr>
              <a:t>. The most common loop bug there is.</a:t>
            </a:r>
            <a:endParaRPr lang="en-US" sz="2400" dirty="0"/>
          </a:p>
        </p:txBody>
      </p:sp>
      <p:sp>
        <p:nvSpPr>
          <p:cNvPr id="9" name="Shape 9"/>
          <p:cNvSpPr/>
          <p:nvPr/>
        </p:nvSpPr>
        <p:spPr>
          <a:xfrm>
            <a:off x="548640"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Loop head</a:t>
            </a:r>
            <a:endParaRPr lang="en-US" sz="1800" dirty="0"/>
          </a:p>
        </p:txBody>
      </p:sp>
      <p:sp>
        <p:nvSpPr>
          <p:cNvPr id="10" name="Shape 10"/>
          <p:cNvSpPr/>
          <p:nvPr/>
        </p:nvSpPr>
        <p:spPr>
          <a:xfrm>
            <a:off x="4246778"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1" name="Shape 11"/>
          <p:cNvSpPr/>
          <p:nvPr/>
        </p:nvSpPr>
        <p:spPr>
          <a:xfrm>
            <a:off x="7944917" y="1261872"/>
            <a:ext cx="3698138"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How many</a:t>
            </a:r>
            <a:endParaRPr lang="en-US" sz="1800" dirty="0"/>
          </a:p>
        </p:txBody>
      </p:sp>
      <p:sp>
        <p:nvSpPr>
          <p:cNvPr id="12" name="Shape 12"/>
          <p:cNvSpPr/>
          <p:nvPr/>
        </p:nvSpPr>
        <p:spPr>
          <a:xfrm>
            <a:off x="548640"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i = 0; i &lt; 10</a:t>
            </a:r>
            <a:endParaRPr lang="en-US" sz="2600" dirty="0"/>
          </a:p>
        </p:txBody>
      </p:sp>
      <p:sp>
        <p:nvSpPr>
          <p:cNvPr id="13" name="Shape 13"/>
          <p:cNvSpPr/>
          <p:nvPr/>
        </p:nvSpPr>
        <p:spPr>
          <a:xfrm>
            <a:off x="4246778"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0 to 9</a:t>
            </a:r>
            <a:endParaRPr lang="en-US" sz="2600" dirty="0"/>
          </a:p>
        </p:txBody>
      </p:sp>
      <p:sp>
        <p:nvSpPr>
          <p:cNvPr id="14" name="Shape 14"/>
          <p:cNvSpPr/>
          <p:nvPr/>
        </p:nvSpPr>
        <p:spPr>
          <a:xfrm>
            <a:off x="7944917" y="1920240"/>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10</a:t>
            </a:r>
            <a:endParaRPr lang="en-US" sz="2600" dirty="0"/>
          </a:p>
        </p:txBody>
      </p:sp>
      <p:sp>
        <p:nvSpPr>
          <p:cNvPr id="15" name="Shape 15"/>
          <p:cNvSpPr/>
          <p:nvPr/>
        </p:nvSpPr>
        <p:spPr>
          <a:xfrm>
            <a:off x="548640"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i = 1; i &lt;= 10</a:t>
            </a:r>
            <a:endParaRPr lang="en-US" sz="2600" dirty="0"/>
          </a:p>
        </p:txBody>
      </p:sp>
      <p:sp>
        <p:nvSpPr>
          <p:cNvPr id="16" name="Shape 16"/>
          <p:cNvSpPr/>
          <p:nvPr/>
        </p:nvSpPr>
        <p:spPr>
          <a:xfrm>
            <a:off x="4246778"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1 to 10</a:t>
            </a:r>
            <a:endParaRPr lang="en-US" sz="2600" dirty="0"/>
          </a:p>
        </p:txBody>
      </p:sp>
      <p:sp>
        <p:nvSpPr>
          <p:cNvPr id="17" name="Shape 17"/>
          <p:cNvSpPr/>
          <p:nvPr/>
        </p:nvSpPr>
        <p:spPr>
          <a:xfrm>
            <a:off x="7944917" y="2578608"/>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10</a:t>
            </a:r>
            <a:endParaRPr lang="en-US" sz="2600" dirty="0"/>
          </a:p>
        </p:txBody>
      </p:sp>
      <p:sp>
        <p:nvSpPr>
          <p:cNvPr id="18" name="Shape 18"/>
          <p:cNvSpPr/>
          <p:nvPr/>
        </p:nvSpPr>
        <p:spPr>
          <a:xfrm>
            <a:off x="548640"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i = 0; i &lt;= 10</a:t>
            </a:r>
            <a:endParaRPr lang="en-US" sz="2600" dirty="0"/>
          </a:p>
        </p:txBody>
      </p:sp>
      <p:sp>
        <p:nvSpPr>
          <p:cNvPr id="19" name="Shape 19"/>
          <p:cNvSpPr/>
          <p:nvPr/>
        </p:nvSpPr>
        <p:spPr>
          <a:xfrm>
            <a:off x="4246778"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0 to 10</a:t>
            </a:r>
            <a:endParaRPr lang="en-US" sz="2600" dirty="0"/>
          </a:p>
        </p:txBody>
      </p:sp>
      <p:sp>
        <p:nvSpPr>
          <p:cNvPr id="20" name="Shape 20"/>
          <p:cNvSpPr/>
          <p:nvPr/>
        </p:nvSpPr>
        <p:spPr>
          <a:xfrm>
            <a:off x="7944917" y="3236976"/>
            <a:ext cx="3698138"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b="1" dirty="0">
                <a:solidFill>
                  <a:srgbClr val="18324A"/>
                </a:solidFill>
              </a:rPr>
              <a:t>11</a:t>
            </a:r>
            <a:endParaRPr lang="en-US" sz="2600" dirty="0"/>
          </a:p>
        </p:txBody>
      </p:sp>
      <p:sp>
        <p:nvSpPr>
          <p:cNvPr id="21" name="Shape 21"/>
          <p:cNvSpPr/>
          <p:nvPr/>
        </p:nvSpPr>
        <p:spPr>
          <a:xfrm>
            <a:off x="548640"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i = 1; i &lt; 10</a:t>
            </a:r>
            <a:endParaRPr lang="en-US" sz="2600" dirty="0"/>
          </a:p>
        </p:txBody>
      </p:sp>
      <p:sp>
        <p:nvSpPr>
          <p:cNvPr id="22" name="Shape 22"/>
          <p:cNvSpPr/>
          <p:nvPr/>
        </p:nvSpPr>
        <p:spPr>
          <a:xfrm>
            <a:off x="4246778"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rPr>
              <a:t>1 to 9</a:t>
            </a:r>
            <a:endParaRPr lang="en-US" sz="2600" dirty="0"/>
          </a:p>
        </p:txBody>
      </p:sp>
      <p:sp>
        <p:nvSpPr>
          <p:cNvPr id="23" name="Shape 23"/>
          <p:cNvSpPr/>
          <p:nvPr/>
        </p:nvSpPr>
        <p:spPr>
          <a:xfrm>
            <a:off x="7944917" y="3895344"/>
            <a:ext cx="3698138"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b="1" dirty="0">
                <a:solidFill>
                  <a:srgbClr val="18324A"/>
                </a:solidFill>
              </a:rPr>
              <a:t>9</a:t>
            </a:r>
            <a:endParaRPr lang="en-US" sz="2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Do not choose &lt; or &lt;= by feeling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48</a:t>
            </a:r>
            <a:endParaRPr lang="en-US" sz="1400" dirty="0"/>
          </a:p>
        </p:txBody>
      </p:sp>
      <p:sp>
        <p:nvSpPr>
          <p:cNvPr id="6" name="Shape 6"/>
          <p:cNvSpPr/>
          <p:nvPr/>
        </p:nvSpPr>
        <p:spPr>
          <a:xfrm>
            <a:off x="548640" y="1399032"/>
            <a:ext cx="109728" cy="14020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Ask two questions. Then test the last value by hand.</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1. What is the </a:t>
            </a:r>
            <a:r>
              <a:rPr lang="en-US" sz="3000" b="1" dirty="0">
                <a:solidFill>
                  <a:srgbClr val="18324A"/>
                </a:solidFill>
              </a:rPr>
              <a:t>first</a:t>
            </a:r>
            <a:r>
              <a:rPr lang="en-US" sz="3000" dirty="0">
                <a:solidFill>
                  <a:srgbClr val="18324A"/>
                </a:solidFill>
              </a:rPr>
              <a:t> value I want?</a:t>
            </a:r>
            <a:endParaRPr lang="en-US" sz="3000" dirty="0"/>
          </a:p>
          <a:p>
            <a:pPr marL="0" indent="0" algn="l">
              <a:spcAft>
                <a:spcPts val="1600"/>
              </a:spcAft>
              <a:buNone/>
            </a:pPr>
            <a:r>
              <a:rPr lang="en-US" sz="3000" dirty="0">
                <a:solidFill>
                  <a:srgbClr val="18324A"/>
                </a:solidFill>
              </a:rPr>
              <a:t>2. What is the </a:t>
            </a:r>
            <a:r>
              <a:rPr lang="en-US" sz="3000" b="1" dirty="0">
                <a:solidFill>
                  <a:srgbClr val="18324A"/>
                </a:solidFill>
              </a:rPr>
              <a:t>last</a:t>
            </a:r>
            <a:r>
              <a:rPr lang="en-US" sz="3000" dirty="0">
                <a:solidFill>
                  <a:srgbClr val="18324A"/>
                </a:solidFill>
              </a:rPr>
              <a:t> value I want?</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 want 10 included. Is </a:t>
            </a:r>
            <a:r>
              <a:rPr lang="en-US" sz="2400" dirty="0">
                <a:solidFill>
                  <a:srgbClr val="18324A"/>
                </a:solidFill>
                <a:latin typeface="Consolas"/>
                <a:ea typeface="Consolas"/>
                <a:cs typeface="Consolas"/>
              </a:rPr>
              <a:t>10 &lt;= 10</a:t>
            </a:r>
            <a:r>
              <a:rPr lang="en-US" sz="2400" dirty="0">
                <a:solidFill>
                  <a:srgbClr val="18324A"/>
                </a:solidFill>
              </a:rPr>
              <a:t> true? Yes. Is </a:t>
            </a:r>
            <a:r>
              <a:rPr lang="en-US" sz="2400" dirty="0">
                <a:solidFill>
                  <a:srgbClr val="18324A"/>
                </a:solidFill>
                <a:latin typeface="Consolas"/>
                <a:ea typeface="Consolas"/>
                <a:cs typeface="Consolas"/>
              </a:rPr>
              <a:t>10 &lt; 10</a:t>
            </a:r>
            <a:r>
              <a:rPr lang="en-US" sz="2400" dirty="0">
                <a:solidFill>
                  <a:srgbClr val="18324A"/>
                </a:solidFill>
              </a:rPr>
              <a:t> true? No: that loop stops at 9.</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F6B6B"/>
          </a:solidFill>
          <a:ln>
            <a:noFill/>
          </a:ln>
        </p:spPr>
        <p:txBody>
          <a:bodyPr wrap="square" lIns="0" tIns="0" rIns="0" bIns="0" rtlCol="0" anchor="ctr"/>
          <a:lstStyle/>
          <a:p>
            <a:pPr marL="0" indent="0" algn="ctr">
              <a:buNone/>
            </a:pPr>
            <a:r>
              <a:rPr lang="en-US" sz="5400" b="1" dirty="0">
                <a:solidFill>
                  <a:srgbClr val="FFFFFF"/>
                </a:solidFill>
              </a:rPr>
              <a:t>5</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latin typeface="Consolas"/>
                <a:ea typeface="Consolas"/>
                <a:cs typeface="Consolas"/>
              </a:rPr>
              <a:t>break</a:t>
            </a:r>
            <a:r>
              <a:rPr lang="en-US" sz="4800" b="1" dirty="0">
                <a:solidFill>
                  <a:srgbClr val="FFFFFF"/>
                </a:solidFill>
              </a:rPr>
              <a:t> and </a:t>
            </a:r>
            <a:r>
              <a:rPr lang="en-US" sz="4800" b="1" dirty="0">
                <a:solidFill>
                  <a:srgbClr val="FFFFFF"/>
                </a:solidFill>
                <a:latin typeface="Consolas"/>
                <a:ea typeface="Consolas"/>
                <a:cs typeface="Consolas"/>
              </a:rPr>
              <a:t>continue</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Two words that change the normal flow of a loop</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break: what prints?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50</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i</a:t>
            </a:r>
            <a:r>
              <a:rPr lang="en-US" sz="3200" dirty="0">
                <a:solidFill>
                  <a:srgbClr val="18324A"/>
                </a:solidFill>
              </a:rPr>
              <a:t> goes from 1 to 10.</a:t>
            </a:r>
            <a:endParaRPr lang="en-US" sz="3200" dirty="0"/>
          </a:p>
          <a:p>
            <a:pPr marL="0" indent="0" algn="l">
              <a:spcAft>
                <a:spcPts val="600"/>
              </a:spcAft>
              <a:buNone/>
            </a:pPr>
            <a:r>
              <a:rPr lang="en-US" sz="3200" dirty="0">
                <a:solidFill>
                  <a:srgbClr val="18324A"/>
                </a:solidFill>
              </a:rPr>
              <a:t>But look at the </a:t>
            </a:r>
            <a:r>
              <a:rPr lang="en-US" sz="3200" dirty="0">
                <a:solidFill>
                  <a:srgbClr val="2F80ED"/>
                </a:solidFill>
                <a:latin typeface="Consolas"/>
                <a:ea typeface="Consolas"/>
                <a:cs typeface="Consolas"/>
              </a:rPr>
              <a:t>if</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is on the screen?</a:t>
            </a:r>
            <a:endParaRPr lang="en-US" sz="3200" dirty="0"/>
          </a:p>
        </p:txBody>
      </p:sp>
      <p:sp>
        <p:nvSpPr>
          <p:cNvPr id="8" name="Shape 8"/>
          <p:cNvSpPr/>
          <p:nvPr/>
        </p:nvSpPr>
        <p:spPr>
          <a:xfrm>
            <a:off x="5760720" y="1261872"/>
            <a:ext cx="5882335" cy="2651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651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E5E7EB"/>
                </a:solidFill>
                <a:latin typeface="Consolas"/>
                <a:ea typeface="Consolas"/>
                <a:cs typeface="Consolas"/>
              </a:rPr>
              <a:t>for (int i = 1; i &lt;= 10; i++) {</a:t>
            </a:r>
            <a:endParaRPr lang="en-US" sz="2400" dirty="0"/>
          </a:p>
          <a:p>
            <a:pPr marL="0" indent="0" algn="l">
              <a:lnSpc>
                <a:spcPts val="3000"/>
              </a:lnSpc>
              <a:buNone/>
            </a:pPr>
            <a:r>
              <a:rPr lang="en-US" sz="2400" dirty="0">
                <a:solidFill>
                  <a:srgbClr val="E5E7EB"/>
                </a:solidFill>
                <a:latin typeface="Consolas"/>
                <a:ea typeface="Consolas"/>
                <a:cs typeface="Consolas"/>
              </a:rPr>
              <a:t>    if (i == 6) {</a:t>
            </a:r>
            <a:endParaRPr lang="en-US" sz="2400" dirty="0"/>
          </a:p>
          <a:p>
            <a:pPr marL="0" indent="0" algn="l">
              <a:lnSpc>
                <a:spcPts val="3000"/>
              </a:lnSpc>
              <a:buNone/>
            </a:pPr>
            <a:r>
              <a:rPr lang="en-US" sz="2400" dirty="0">
                <a:solidFill>
                  <a:srgbClr val="E5E7EB"/>
                </a:solidFill>
                <a:latin typeface="Consolas"/>
                <a:ea typeface="Consolas"/>
                <a:cs typeface="Consolas"/>
              </a:rPr>
              <a:t>        break;</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    printf("%d ", i);</a:t>
            </a:r>
            <a:endParaRPr lang="en-US" sz="2400" dirty="0"/>
          </a:p>
          <a:p>
            <a:pPr marL="0" indent="0" algn="l">
              <a:lnSpc>
                <a:spcPts val="3000"/>
              </a:lnSpc>
              <a:buNone/>
            </a:pPr>
            <a:r>
              <a:rPr lang="en-US" sz="2400" dirty="0">
                <a:solidFill>
                  <a:srgbClr val="E5E7EB"/>
                </a:solidFill>
                <a:latin typeface="Consolas"/>
                <a:ea typeface="Consolas"/>
                <a:cs typeface="Consolas"/>
              </a:rPr>
              <a:t>}</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break: leave the loop now</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51</a:t>
            </a:r>
            <a:endParaRPr lang="en-US" sz="1400" dirty="0"/>
          </a:p>
        </p:txBody>
      </p:sp>
      <p:sp>
        <p:nvSpPr>
          <p:cNvPr id="6" name="Shape 6"/>
          <p:cNvSpPr/>
          <p:nvPr/>
        </p:nvSpPr>
        <p:spPr>
          <a:xfrm>
            <a:off x="548640" y="1261872"/>
            <a:ext cx="6766560" cy="3032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933702"/>
            <a:ext cx="6766560" cy="444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933702"/>
            <a:ext cx="82296" cy="444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378202"/>
            <a:ext cx="6766560" cy="444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378202"/>
            <a:ext cx="82296" cy="444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2822702"/>
            <a:ext cx="6766560" cy="444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2822702"/>
            <a:ext cx="82296" cy="4445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for (int i = 1; i &lt;= 10; i++) {</a:t>
            </a:r>
            <a:endParaRPr lang="en-US" sz="2800" dirty="0"/>
          </a:p>
          <a:p>
            <a:pPr marL="0" indent="0" algn="l">
              <a:lnSpc>
                <a:spcPts val="3500"/>
              </a:lnSpc>
              <a:buNone/>
            </a:pPr>
            <a:r>
              <a:rPr lang="en-US" sz="2800" dirty="0">
                <a:solidFill>
                  <a:srgbClr val="FFFFFF"/>
                </a:solidFill>
                <a:latin typeface="Consolas"/>
                <a:ea typeface="Consolas"/>
                <a:cs typeface="Consolas"/>
              </a:rPr>
              <a:t>    if (i == 6) {</a:t>
            </a:r>
            <a:endParaRPr lang="en-US" sz="2800" dirty="0"/>
          </a:p>
          <a:p>
            <a:pPr marL="0" indent="0" algn="l">
              <a:lnSpc>
                <a:spcPts val="3500"/>
              </a:lnSpc>
              <a:buNone/>
            </a:pPr>
            <a:r>
              <a:rPr lang="en-US" sz="2800" dirty="0">
                <a:solidFill>
                  <a:srgbClr val="FFFFFF"/>
                </a:solidFill>
                <a:latin typeface="Consolas"/>
                <a:ea typeface="Consolas"/>
                <a:cs typeface="Consolas"/>
              </a:rPr>
              <a:t>        break;</a:t>
            </a:r>
            <a:endParaRPr lang="en-US" sz="2800" dirty="0"/>
          </a:p>
          <a:p>
            <a:pPr marL="0" indent="0" algn="l">
              <a:lnSpc>
                <a:spcPts val="3500"/>
              </a:lnSpc>
              <a:buNone/>
            </a:pPr>
            <a:r>
              <a:rPr lang="en-US" sz="2800" dirty="0">
                <a:solidFill>
                  <a:srgbClr val="FFFFFF"/>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    printf("%d ", i);</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1 2 3 4 5</a:t>
            </a:r>
            <a:endParaRPr lang="en-US" sz="2400" dirty="0"/>
          </a:p>
        </p:txBody>
      </p:sp>
      <p:sp>
        <p:nvSpPr>
          <p:cNvPr id="17" name="Shape 17"/>
          <p:cNvSpPr/>
          <p:nvPr/>
        </p:nvSpPr>
        <p:spPr>
          <a:xfrm>
            <a:off x="7589520" y="26670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8" name="Shape 18"/>
          <p:cNvSpPr/>
          <p:nvPr/>
        </p:nvSpPr>
        <p:spPr>
          <a:xfrm>
            <a:off x="7589520" y="2667000"/>
            <a:ext cx="109728" cy="1051560"/>
          </a:xfrm>
          <a:prstGeom prst="rect">
            <a:avLst/>
          </a:prstGeom>
          <a:solidFill>
            <a:srgbClr val="FF6B6B"/>
          </a:solidFill>
          <a:ln>
            <a:noFill/>
          </a:ln>
        </p:spPr>
        <p:txBody>
          <a:bodyPr wrap="square" lIns="0" tIns="0" rIns="0" bIns="0" rtlCol="0" anchor="t"/>
          <a:lstStyle/>
          <a:p>
            <a:endParaRPr lang="en-US"/>
          </a:p>
        </p:txBody>
      </p:sp>
      <p:sp>
        <p:nvSpPr>
          <p:cNvPr id="19"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At 6 the loop ends. </a:t>
            </a:r>
            <a:r>
              <a:rPr lang="en-US" sz="2400" b="1" dirty="0">
                <a:solidFill>
                  <a:srgbClr val="18324A"/>
                </a:solidFill>
              </a:rPr>
              <a:t>Completely.</a:t>
            </a:r>
            <a:endParaRPr lang="en-US" sz="2400" dirty="0"/>
          </a:p>
        </p:txBody>
      </p:sp>
      <p:sp>
        <p:nvSpPr>
          <p:cNvPr id="20" name="Shape 20"/>
          <p:cNvSpPr/>
          <p:nvPr/>
        </p:nvSpPr>
        <p:spPr>
          <a:xfrm>
            <a:off x="7589520" y="3919728"/>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1" name="Shape 21"/>
          <p:cNvSpPr/>
          <p:nvPr/>
        </p:nvSpPr>
        <p:spPr>
          <a:xfrm>
            <a:off x="7589520" y="3919728"/>
            <a:ext cx="109728" cy="1051560"/>
          </a:xfrm>
          <a:prstGeom prst="rect">
            <a:avLst/>
          </a:prstGeom>
          <a:solidFill>
            <a:srgbClr val="FF6B6B"/>
          </a:solidFill>
          <a:ln>
            <a:noFill/>
          </a:ln>
        </p:spPr>
        <p:txBody>
          <a:bodyPr wrap="square" lIns="0" tIns="0" rIns="0" bIns="0" rtlCol="0" anchor="t"/>
          <a:lstStyle/>
          <a:p>
            <a:endParaRPr lang="en-US"/>
          </a:p>
        </p:txBody>
      </p:sp>
      <p:sp>
        <p:nvSpPr>
          <p:cNvPr id="22" name="Callout"/>
          <p:cNvSpPr/>
          <p:nvPr/>
        </p:nvSpPr>
        <p:spPr>
          <a:xfrm>
            <a:off x="7699248" y="3919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6 is not printed. 7 to 10 never happen.</a:t>
            </a: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continue: what prints?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52</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i</a:t>
            </a:r>
            <a:r>
              <a:rPr lang="en-US" sz="3200" dirty="0">
                <a:solidFill>
                  <a:srgbClr val="18324A"/>
                </a:solidFill>
              </a:rPr>
              <a:t> goes from 1 to 5.</a:t>
            </a:r>
            <a:endParaRPr lang="en-US" sz="3200" dirty="0"/>
          </a:p>
          <a:p>
            <a:pPr marL="0" indent="0" algn="l">
              <a:spcAft>
                <a:spcPts val="600"/>
              </a:spcAft>
              <a:buNone/>
            </a:pPr>
            <a:r>
              <a:rPr lang="en-US" sz="3200" dirty="0">
                <a:solidFill>
                  <a:srgbClr val="18324A"/>
                </a:solidFill>
              </a:rPr>
              <a:t>What is on the screen?</a:t>
            </a:r>
            <a:endParaRPr lang="en-US" sz="3200" dirty="0"/>
          </a:p>
        </p:txBody>
      </p:sp>
      <p:sp>
        <p:nvSpPr>
          <p:cNvPr id="8" name="Shape 8"/>
          <p:cNvSpPr/>
          <p:nvPr/>
        </p:nvSpPr>
        <p:spPr>
          <a:xfrm>
            <a:off x="5760720" y="1261872"/>
            <a:ext cx="5882335" cy="28422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8422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1; i &lt;= 5; i++) {</a:t>
            </a:r>
            <a:endParaRPr lang="en-US" sz="2600" dirty="0"/>
          </a:p>
          <a:p>
            <a:pPr marL="0" indent="0" algn="l">
              <a:lnSpc>
                <a:spcPts val="3250"/>
              </a:lnSpc>
              <a:buNone/>
            </a:pPr>
            <a:r>
              <a:rPr lang="en-US" sz="2600" dirty="0">
                <a:solidFill>
                  <a:srgbClr val="E5E7EB"/>
                </a:solidFill>
                <a:latin typeface="Consolas"/>
                <a:ea typeface="Consolas"/>
                <a:cs typeface="Consolas"/>
              </a:rPr>
              <a:t>    if (i == 3) {</a:t>
            </a:r>
            <a:endParaRPr lang="en-US" sz="2600" dirty="0"/>
          </a:p>
          <a:p>
            <a:pPr marL="0" indent="0" algn="l">
              <a:lnSpc>
                <a:spcPts val="3250"/>
              </a:lnSpc>
              <a:buNone/>
            </a:pPr>
            <a:r>
              <a:rPr lang="en-US" sz="2600" dirty="0">
                <a:solidFill>
                  <a:srgbClr val="E5E7EB"/>
                </a:solidFill>
                <a:latin typeface="Consolas"/>
                <a:ea typeface="Consolas"/>
                <a:cs typeface="Consolas"/>
              </a:rPr>
              <a:t>        continue;</a:t>
            </a:r>
            <a:endParaRPr lang="en-US" sz="2600" dirty="0"/>
          </a:p>
          <a:p>
            <a:pPr marL="0" indent="0" algn="l">
              <a:lnSpc>
                <a:spcPts val="3250"/>
              </a:lnSpc>
              <a:buNone/>
            </a:pPr>
            <a:r>
              <a:rPr lang="en-US" sz="2600" dirty="0">
                <a:solidFill>
                  <a:srgbClr val="E5E7EB"/>
                </a:solidFill>
                <a:latin typeface="Consolas"/>
                <a:ea typeface="Consolas"/>
                <a:cs typeface="Consolas"/>
              </a:rPr>
              <a:t>    }</a:t>
            </a:r>
            <a:endParaRPr lang="en-US" sz="2600" dirty="0"/>
          </a:p>
          <a:p>
            <a:pPr marL="0" indent="0" algn="l">
              <a:lnSpc>
                <a:spcPts val="3250"/>
              </a:lnSpc>
              <a:buNone/>
            </a:pPr>
            <a:r>
              <a:rPr lang="en-US" sz="2600" dirty="0">
                <a:solidFill>
                  <a:srgbClr val="E5E7EB"/>
                </a:solidFill>
                <a:latin typeface="Consolas"/>
                <a:ea typeface="Consolas"/>
                <a:cs typeface="Consolas"/>
              </a:rPr>
              <a:t>    printf("%d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continue: skip the rest of this round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53</a:t>
            </a:r>
            <a:endParaRPr lang="en-US" sz="1400" dirty="0"/>
          </a:p>
        </p:txBody>
      </p:sp>
      <p:sp>
        <p:nvSpPr>
          <p:cNvPr id="6" name="Shape 6"/>
          <p:cNvSpPr/>
          <p:nvPr/>
        </p:nvSpPr>
        <p:spPr>
          <a:xfrm>
            <a:off x="548640" y="1261872"/>
            <a:ext cx="6766560" cy="3032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933702"/>
            <a:ext cx="6766560" cy="444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933702"/>
            <a:ext cx="82296" cy="444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378202"/>
            <a:ext cx="6766560" cy="444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378202"/>
            <a:ext cx="82296" cy="444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2822702"/>
            <a:ext cx="6766560" cy="444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2822702"/>
            <a:ext cx="82296" cy="4445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for (int i = 1; i &lt;= 5; i++) {</a:t>
            </a:r>
            <a:endParaRPr lang="en-US" sz="2800" dirty="0"/>
          </a:p>
          <a:p>
            <a:pPr marL="0" indent="0" algn="l">
              <a:lnSpc>
                <a:spcPts val="3500"/>
              </a:lnSpc>
              <a:buNone/>
            </a:pPr>
            <a:r>
              <a:rPr lang="en-US" sz="2800" dirty="0">
                <a:solidFill>
                  <a:srgbClr val="FFFFFF"/>
                </a:solidFill>
                <a:latin typeface="Consolas"/>
                <a:ea typeface="Consolas"/>
                <a:cs typeface="Consolas"/>
              </a:rPr>
              <a:t>    if (i == 3) {</a:t>
            </a:r>
            <a:endParaRPr lang="en-US" sz="2800" dirty="0"/>
          </a:p>
          <a:p>
            <a:pPr marL="0" indent="0" algn="l">
              <a:lnSpc>
                <a:spcPts val="3500"/>
              </a:lnSpc>
              <a:buNone/>
            </a:pPr>
            <a:r>
              <a:rPr lang="en-US" sz="2800" dirty="0">
                <a:solidFill>
                  <a:srgbClr val="FFFFFF"/>
                </a:solidFill>
                <a:latin typeface="Consolas"/>
                <a:ea typeface="Consolas"/>
                <a:cs typeface="Consolas"/>
              </a:rPr>
              <a:t>        continue;</a:t>
            </a:r>
            <a:endParaRPr lang="en-US" sz="2800" dirty="0"/>
          </a:p>
          <a:p>
            <a:pPr marL="0" indent="0" algn="l">
              <a:lnSpc>
                <a:spcPts val="3500"/>
              </a:lnSpc>
              <a:buNone/>
            </a:pPr>
            <a:r>
              <a:rPr lang="en-US" sz="2800" dirty="0">
                <a:solidFill>
                  <a:srgbClr val="FFFFFF"/>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    printf("%d ", i);</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1 2 4 5</a:t>
            </a:r>
            <a:endParaRPr lang="en-US" sz="2400" dirty="0"/>
          </a:p>
        </p:txBody>
      </p:sp>
      <p:sp>
        <p:nvSpPr>
          <p:cNvPr id="17" name="Shape 17"/>
          <p:cNvSpPr/>
          <p:nvPr/>
        </p:nvSpPr>
        <p:spPr>
          <a:xfrm>
            <a:off x="7589520" y="266700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8" name="Shape 18"/>
          <p:cNvSpPr/>
          <p:nvPr/>
        </p:nvSpPr>
        <p:spPr>
          <a:xfrm>
            <a:off x="7589520" y="2667000"/>
            <a:ext cx="109728" cy="1051560"/>
          </a:xfrm>
          <a:prstGeom prst="rect">
            <a:avLst/>
          </a:prstGeom>
          <a:solidFill>
            <a:srgbClr val="2F80ED"/>
          </a:solidFill>
          <a:ln>
            <a:noFill/>
          </a:ln>
        </p:spPr>
        <p:txBody>
          <a:bodyPr wrap="square" lIns="0" tIns="0" rIns="0" bIns="0" rtlCol="0" anchor="t"/>
          <a:lstStyle/>
          <a:p>
            <a:endParaRPr lang="en-US"/>
          </a:p>
        </p:txBody>
      </p:sp>
      <p:sp>
        <p:nvSpPr>
          <p:cNvPr id="19"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At 3 the </a:t>
            </a:r>
            <a:r>
              <a:rPr lang="en-US" sz="2400" dirty="0">
                <a:solidFill>
                  <a:srgbClr val="18324A"/>
                </a:solidFill>
                <a:latin typeface="Consolas"/>
                <a:ea typeface="Consolas"/>
                <a:cs typeface="Consolas"/>
              </a:rPr>
              <a:t>printf</a:t>
            </a:r>
            <a:r>
              <a:rPr lang="en-US" sz="2400" dirty="0">
                <a:solidFill>
                  <a:srgbClr val="18324A"/>
                </a:solidFill>
              </a:rPr>
              <a:t> is skipped.</a:t>
            </a:r>
            <a:endParaRPr lang="en-US" sz="2400" dirty="0"/>
          </a:p>
        </p:txBody>
      </p:sp>
      <p:sp>
        <p:nvSpPr>
          <p:cNvPr id="20" name="Shape 20"/>
          <p:cNvSpPr/>
          <p:nvPr/>
        </p:nvSpPr>
        <p:spPr>
          <a:xfrm>
            <a:off x="7589520" y="3919728"/>
            <a:ext cx="4053535" cy="141732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21" name="Shape 21"/>
          <p:cNvSpPr/>
          <p:nvPr/>
        </p:nvSpPr>
        <p:spPr>
          <a:xfrm>
            <a:off x="7589520" y="3919728"/>
            <a:ext cx="109728" cy="1417320"/>
          </a:xfrm>
          <a:prstGeom prst="rect">
            <a:avLst/>
          </a:prstGeom>
          <a:solidFill>
            <a:srgbClr val="2F80ED"/>
          </a:solidFill>
          <a:ln>
            <a:noFill/>
          </a:ln>
        </p:spPr>
        <p:txBody>
          <a:bodyPr wrap="square" lIns="0" tIns="0" rIns="0" bIns="0" rtlCol="0" anchor="t"/>
          <a:lstStyle/>
          <a:p>
            <a:endParaRPr lang="en-US"/>
          </a:p>
        </p:txBody>
      </p:sp>
      <p:sp>
        <p:nvSpPr>
          <p:cNvPr id="22" name="Callout"/>
          <p:cNvSpPr/>
          <p:nvPr/>
        </p:nvSpPr>
        <p:spPr>
          <a:xfrm>
            <a:off x="7699248" y="3919728"/>
            <a:ext cx="394380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Then the loop goes on with 4. The update </a:t>
            </a:r>
            <a:r>
              <a:rPr lang="en-US" sz="2400" dirty="0">
                <a:solidFill>
                  <a:srgbClr val="18324A"/>
                </a:solidFill>
                <a:latin typeface="Consolas"/>
                <a:ea typeface="Consolas"/>
                <a:cs typeface="Consolas"/>
              </a:rPr>
              <a:t>i++</a:t>
            </a:r>
            <a:r>
              <a:rPr lang="en-US" sz="2400" dirty="0">
                <a:solidFill>
                  <a:srgbClr val="18324A"/>
                </a:solidFill>
              </a:rPr>
              <a:t> still runs.</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break and continue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54</a:t>
            </a:r>
            <a:endParaRPr lang="en-US" sz="1400" dirty="0"/>
          </a:p>
        </p:txBody>
      </p:sp>
      <p:sp>
        <p:nvSpPr>
          <p:cNvPr id="6" name="Shape 6"/>
          <p:cNvSpPr/>
          <p:nvPr/>
        </p:nvSpPr>
        <p:spPr>
          <a:xfrm>
            <a:off x="548640" y="1536192"/>
            <a:ext cx="5432908"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break</a:t>
            </a:r>
            <a:endParaRPr lang="en-US" sz="2600" dirty="0"/>
          </a:p>
        </p:txBody>
      </p:sp>
      <p:sp>
        <p:nvSpPr>
          <p:cNvPr id="7" name="Shape 7"/>
          <p:cNvSpPr/>
          <p:nvPr/>
        </p:nvSpPr>
        <p:spPr>
          <a:xfrm>
            <a:off x="548640" y="2267712"/>
            <a:ext cx="5432908"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18324A"/>
                </a:solidFill>
              </a:rPr>
              <a:t>Out of the loop.</a:t>
            </a:r>
            <a:endParaRPr lang="en-US" sz="2400" dirty="0"/>
          </a:p>
          <a:p>
            <a:pPr marL="0" indent="0" algn="ctr">
              <a:spcAft>
                <a:spcPts val="600"/>
              </a:spcAft>
              <a:buNone/>
            </a:pPr>
            <a:r>
              <a:rPr lang="en-US" sz="2400" dirty="0">
                <a:solidFill>
                  <a:srgbClr val="18324A"/>
                </a:solidFill>
              </a:rPr>
              <a:t>For good.</a:t>
            </a:r>
            <a:endParaRPr lang="en-US" sz="2400" dirty="0"/>
          </a:p>
        </p:txBody>
      </p:sp>
      <p:sp>
        <p:nvSpPr>
          <p:cNvPr id="8" name="Shape 8"/>
          <p:cNvSpPr/>
          <p:nvPr/>
        </p:nvSpPr>
        <p:spPr>
          <a:xfrm>
            <a:off x="6210148" y="1536192"/>
            <a:ext cx="5432908"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continue</a:t>
            </a:r>
            <a:endParaRPr lang="en-US" sz="2600" dirty="0"/>
          </a:p>
        </p:txBody>
      </p:sp>
      <p:sp>
        <p:nvSpPr>
          <p:cNvPr id="9" name="Shape 9"/>
          <p:cNvSpPr/>
          <p:nvPr/>
        </p:nvSpPr>
        <p:spPr>
          <a:xfrm>
            <a:off x="6210148" y="2267712"/>
            <a:ext cx="5432908"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18324A"/>
                </a:solidFill>
              </a:rPr>
              <a:t>Skip to the</a:t>
            </a:r>
            <a:endParaRPr lang="en-US" sz="2400" dirty="0"/>
          </a:p>
          <a:p>
            <a:pPr marL="0" indent="0" algn="ctr">
              <a:spcAft>
                <a:spcPts val="600"/>
              </a:spcAft>
              <a:buNone/>
            </a:pPr>
            <a:r>
              <a:rPr lang="en-US" sz="2400" dirty="0">
                <a:solidFill>
                  <a:srgbClr val="18324A"/>
                </a:solidFill>
              </a:rPr>
              <a:t>next round.</a:t>
            </a:r>
            <a:endParaRPr lang="en-US" sz="2400" dirty="0"/>
          </a:p>
        </p:txBody>
      </p:sp>
      <p:sp>
        <p:nvSpPr>
          <p:cNvPr id="10" name="Shape 10"/>
          <p:cNvSpPr/>
          <p:nvPr/>
        </p:nvSpPr>
        <p:spPr>
          <a:xfrm>
            <a:off x="548640" y="5166360"/>
            <a:ext cx="11094415" cy="9144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548640" y="5166360"/>
            <a:ext cx="109728" cy="91440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Use them carefully. Most simple loops need neither: the condition does the work.</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Two more examples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55</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Left prints </a:t>
            </a:r>
            <a:r>
              <a:rPr lang="en-US" sz="2400" dirty="0">
                <a:solidFill>
                  <a:srgbClr val="18324A"/>
                </a:solidFill>
                <a:latin typeface="Consolas"/>
                <a:ea typeface="Consolas"/>
                <a:cs typeface="Consolas"/>
              </a:rPr>
              <a:t>1 4 9 16 25</a:t>
            </a:r>
            <a:r>
              <a:rPr lang="en-US" sz="2400" dirty="0">
                <a:solidFill>
                  <a:srgbClr val="18324A"/>
                </a:solidFill>
              </a:rPr>
              <a:t>. Right prints </a:t>
            </a:r>
            <a:r>
              <a:rPr lang="en-US" sz="2400" dirty="0">
                <a:solidFill>
                  <a:srgbClr val="18324A"/>
                </a:solidFill>
                <a:latin typeface="Consolas"/>
                <a:ea typeface="Consolas"/>
                <a:cs typeface="Consolas"/>
              </a:rPr>
              <a:t>1 3 5 7 9</a:t>
            </a:r>
            <a:r>
              <a:rPr lang="en-US" sz="2400" dirty="0">
                <a:solidFill>
                  <a:srgbClr val="18324A"/>
                </a:solidFill>
              </a:rPr>
              <a:t>.</a:t>
            </a:r>
            <a:endParaRPr lang="en-US" sz="2400" dirty="0"/>
          </a:p>
        </p:txBody>
      </p:sp>
      <p:sp>
        <p:nvSpPr>
          <p:cNvPr id="9" name="Shape 9"/>
          <p:cNvSpPr/>
          <p:nvPr/>
        </p:nvSpPr>
        <p:spPr>
          <a:xfrm>
            <a:off x="548640" y="1261872"/>
            <a:ext cx="5364328" cy="384048"/>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break: squares up to 30</a:t>
            </a:r>
            <a:endParaRPr lang="en-US" sz="1800" dirty="0"/>
          </a:p>
        </p:txBody>
      </p:sp>
      <p:sp>
        <p:nvSpPr>
          <p:cNvPr id="10" name="Shape 10"/>
          <p:cNvSpPr/>
          <p:nvPr/>
        </p:nvSpPr>
        <p:spPr>
          <a:xfrm>
            <a:off x="548640" y="1645920"/>
            <a:ext cx="5364328" cy="246126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24612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for (int i = 1; i &lt;= 10; i++) {</a:t>
            </a:r>
            <a:endParaRPr lang="en-US" sz="2200" dirty="0"/>
          </a:p>
          <a:p>
            <a:pPr marL="0" indent="0" algn="l">
              <a:lnSpc>
                <a:spcPts val="2750"/>
              </a:lnSpc>
              <a:buNone/>
            </a:pPr>
            <a:r>
              <a:rPr lang="en-US" sz="2200" dirty="0">
                <a:solidFill>
                  <a:srgbClr val="E5E7EB"/>
                </a:solidFill>
                <a:latin typeface="Consolas"/>
                <a:ea typeface="Consolas"/>
                <a:cs typeface="Consolas"/>
              </a:rPr>
              <a:t>    if (i * i &gt; 30) {</a:t>
            </a:r>
            <a:endParaRPr lang="en-US" sz="2200" dirty="0"/>
          </a:p>
          <a:p>
            <a:pPr marL="0" indent="0" algn="l">
              <a:lnSpc>
                <a:spcPts val="2750"/>
              </a:lnSpc>
              <a:buNone/>
            </a:pPr>
            <a:r>
              <a:rPr lang="en-US" sz="2200" dirty="0">
                <a:solidFill>
                  <a:srgbClr val="E5E7EB"/>
                </a:solidFill>
                <a:latin typeface="Consolas"/>
                <a:ea typeface="Consolas"/>
                <a:cs typeface="Consolas"/>
              </a:rPr>
              <a:t>        break;</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printf("%d ", i * i);</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
        <p:nvSpPr>
          <p:cNvPr id="12" name="Shape 12"/>
          <p:cNvSpPr/>
          <p:nvPr/>
        </p:nvSpPr>
        <p:spPr>
          <a:xfrm>
            <a:off x="6278728" y="1261872"/>
            <a:ext cx="5364328" cy="384048"/>
          </a:xfrm>
          <a:prstGeom prst="rect">
            <a:avLst/>
          </a:prstGeom>
          <a:solidFill>
            <a:srgbClr val="2F80ED"/>
          </a:solidFill>
          <a:ln>
            <a:noFill/>
          </a:ln>
        </p:spPr>
        <p:txBody>
          <a:bodyPr wrap="square" lIns="0" tIns="0" rIns="0" bIns="0" rtlCol="0" anchor="ctr"/>
          <a:lstStyle/>
          <a:p>
            <a:pPr marL="0" indent="0" algn="ctr">
              <a:buNone/>
            </a:pPr>
            <a:r>
              <a:rPr lang="en-US" sz="1800" b="1" dirty="0">
                <a:solidFill>
                  <a:srgbClr val="FFFFFF"/>
                </a:solidFill>
              </a:rPr>
              <a:t>continue: only odd numbers</a:t>
            </a:r>
            <a:endParaRPr lang="en-US" sz="1800" dirty="0"/>
          </a:p>
        </p:txBody>
      </p:sp>
      <p:sp>
        <p:nvSpPr>
          <p:cNvPr id="13" name="Shape 13"/>
          <p:cNvSpPr/>
          <p:nvPr/>
        </p:nvSpPr>
        <p:spPr>
          <a:xfrm>
            <a:off x="6278728" y="1645920"/>
            <a:ext cx="5364328" cy="246126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24612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for (int i = 1; i &lt;= 10; i++) {</a:t>
            </a:r>
            <a:endParaRPr lang="en-US" sz="2200" dirty="0"/>
          </a:p>
          <a:p>
            <a:pPr marL="0" indent="0" algn="l">
              <a:lnSpc>
                <a:spcPts val="2750"/>
              </a:lnSpc>
              <a:buNone/>
            </a:pPr>
            <a:r>
              <a:rPr lang="en-US" sz="2200" dirty="0">
                <a:solidFill>
                  <a:srgbClr val="E5E7EB"/>
                </a:solidFill>
                <a:latin typeface="Consolas"/>
                <a:ea typeface="Consolas"/>
                <a:cs typeface="Consolas"/>
              </a:rPr>
              <a:t>    if (i % 2 == 0) {</a:t>
            </a:r>
            <a:endParaRPr lang="en-US" sz="2200" dirty="0"/>
          </a:p>
          <a:p>
            <a:pPr marL="0" indent="0" algn="l">
              <a:lnSpc>
                <a:spcPts val="2750"/>
              </a:lnSpc>
              <a:buNone/>
            </a:pPr>
            <a:r>
              <a:rPr lang="en-US" sz="2200" dirty="0">
                <a:solidFill>
                  <a:srgbClr val="E5E7EB"/>
                </a:solidFill>
                <a:latin typeface="Consolas"/>
                <a:ea typeface="Consolas"/>
                <a:cs typeface="Consolas"/>
              </a:rPr>
              <a:t>        continue;</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printf("%d ", i);</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real use of break: three tries for a PIN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56</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Right PIN: no more tries are needed, so </a:t>
            </a:r>
            <a:r>
              <a:rPr lang="en-US" sz="2400" dirty="0">
                <a:solidFill>
                  <a:srgbClr val="18324A"/>
                </a:solidFill>
                <a:latin typeface="Consolas"/>
                <a:ea typeface="Consolas"/>
                <a:cs typeface="Consolas"/>
              </a:rPr>
              <a:t>break</a:t>
            </a:r>
            <a:r>
              <a:rPr lang="en-US" sz="2400" dirty="0">
                <a:solidFill>
                  <a:srgbClr val="18324A"/>
                </a:solidFill>
              </a:rPr>
              <a:t>. After the loop, </a:t>
            </a:r>
            <a:r>
              <a:rPr lang="en-US" sz="2400" dirty="0">
                <a:solidFill>
                  <a:srgbClr val="18324A"/>
                </a:solidFill>
                <a:latin typeface="Consolas"/>
                <a:ea typeface="Consolas"/>
                <a:cs typeface="Consolas"/>
              </a:rPr>
              <a:t>ok</a:t>
            </a:r>
            <a:r>
              <a:rPr lang="en-US" sz="2400" dirty="0">
                <a:solidFill>
                  <a:srgbClr val="18324A"/>
                </a:solidFill>
              </a:rPr>
              <a:t> says why we left.</a:t>
            </a:r>
            <a:endParaRPr lang="en-US" sz="2400" dirty="0"/>
          </a:p>
        </p:txBody>
      </p:sp>
      <p:sp>
        <p:nvSpPr>
          <p:cNvPr id="9" name="Shape 9"/>
          <p:cNvSpPr/>
          <p:nvPr/>
        </p:nvSpPr>
        <p:spPr>
          <a:xfrm>
            <a:off x="548640" y="1261872"/>
            <a:ext cx="11094415" cy="3540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064002"/>
            <a:ext cx="11094415"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064002"/>
            <a:ext cx="82296" cy="31750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3381502"/>
            <a:ext cx="11094415" cy="31750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3381502"/>
            <a:ext cx="82296" cy="317500"/>
          </a:xfrm>
          <a:prstGeom prst="rect">
            <a:avLst/>
          </a:prstGeom>
          <a:solidFill>
            <a:srgbClr val="F59E0B"/>
          </a:solidFill>
          <a:ln>
            <a:noFill/>
          </a:ln>
        </p:spPr>
        <p:txBody>
          <a:bodyPr wrap="square" lIns="0" tIns="0" rIns="0" bIns="0" rtlCol="0" anchor="t"/>
          <a:lstStyle/>
          <a:p>
            <a:endParaRPr lang="en-US"/>
          </a:p>
        </p:txBody>
      </p:sp>
      <p:sp>
        <p:nvSpPr>
          <p:cNvPr id="14" name="Shape 14"/>
          <p:cNvSpPr/>
          <p:nvPr/>
        </p:nvSpPr>
        <p:spPr>
          <a:xfrm>
            <a:off x="548640" y="3699002"/>
            <a:ext cx="11094415" cy="317500"/>
          </a:xfrm>
          <a:prstGeom prst="rect">
            <a:avLst/>
          </a:prstGeom>
          <a:solidFill>
            <a:srgbClr val="25406B"/>
          </a:solidFill>
          <a:ln>
            <a:noFill/>
          </a:ln>
        </p:spPr>
        <p:txBody>
          <a:bodyPr wrap="square" lIns="0" tIns="0" rIns="0" bIns="0" rtlCol="0" anchor="t"/>
          <a:lstStyle/>
          <a:p>
            <a:endParaRPr lang="en-US"/>
          </a:p>
        </p:txBody>
      </p:sp>
      <p:sp>
        <p:nvSpPr>
          <p:cNvPr id="15" name="Shape 15"/>
          <p:cNvSpPr/>
          <p:nvPr/>
        </p:nvSpPr>
        <p:spPr>
          <a:xfrm>
            <a:off x="548640" y="3699002"/>
            <a:ext cx="82296" cy="317500"/>
          </a:xfrm>
          <a:prstGeom prst="rect">
            <a:avLst/>
          </a:prstGeom>
          <a:solidFill>
            <a:srgbClr val="F59E0B"/>
          </a:solidFill>
          <a:ln>
            <a:noFill/>
          </a:ln>
        </p:spPr>
        <p:txBody>
          <a:bodyPr wrap="square" lIns="0" tIns="0" rIns="0" bIns="0" rtlCol="0" anchor="t"/>
          <a:lstStyle/>
          <a:p>
            <a:endParaRPr lang="en-US"/>
          </a:p>
        </p:txBody>
      </p:sp>
      <p:sp>
        <p:nvSpPr>
          <p:cNvPr id="16" name="Shape 16"/>
          <p:cNvSpPr/>
          <p:nvPr/>
        </p:nvSpPr>
        <p:spPr>
          <a:xfrm>
            <a:off x="548640" y="4016502"/>
            <a:ext cx="11094415" cy="317500"/>
          </a:xfrm>
          <a:prstGeom prst="rect">
            <a:avLst/>
          </a:prstGeom>
          <a:solidFill>
            <a:srgbClr val="25406B"/>
          </a:solidFill>
          <a:ln>
            <a:noFill/>
          </a:ln>
        </p:spPr>
        <p:txBody>
          <a:bodyPr wrap="square" lIns="0" tIns="0" rIns="0" bIns="0" rtlCol="0" anchor="t"/>
          <a:lstStyle/>
          <a:p>
            <a:endParaRPr lang="en-US"/>
          </a:p>
        </p:txBody>
      </p:sp>
      <p:sp>
        <p:nvSpPr>
          <p:cNvPr id="17" name="Shape 17"/>
          <p:cNvSpPr/>
          <p:nvPr/>
        </p:nvSpPr>
        <p:spPr>
          <a:xfrm>
            <a:off x="548640" y="4016502"/>
            <a:ext cx="82296" cy="317500"/>
          </a:xfrm>
          <a:prstGeom prst="rect">
            <a:avLst/>
          </a:prstGeom>
          <a:solidFill>
            <a:srgbClr val="F59E0B"/>
          </a:solidFill>
          <a:ln>
            <a:noFill/>
          </a:ln>
        </p:spPr>
        <p:txBody>
          <a:bodyPr wrap="square" lIns="0" tIns="0" rIns="0" bIns="0" rtlCol="0" anchor="t"/>
          <a:lstStyle/>
          <a:p>
            <a:endParaRPr lang="en-US"/>
          </a:p>
        </p:txBody>
      </p:sp>
      <p:sp>
        <p:nvSpPr>
          <p:cNvPr id="18" name="Code"/>
          <p:cNvSpPr/>
          <p:nvPr/>
        </p:nvSpPr>
        <p:spPr>
          <a:xfrm>
            <a:off x="548640" y="1261872"/>
            <a:ext cx="11094415" cy="354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ok = 0;          // 0: not right yet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for (int tries = 1; tries &lt;= 3; tries++) {</a:t>
            </a:r>
            <a:endParaRPr lang="en-US" sz="2000" dirty="0"/>
          </a:p>
          <a:p>
            <a:pPr marL="0" indent="0" algn="l">
              <a:lnSpc>
                <a:spcPts val="2500"/>
              </a:lnSpc>
              <a:buNone/>
            </a:pPr>
            <a:r>
              <a:rPr lang="en-US" sz="2000" dirty="0">
                <a:solidFill>
                  <a:srgbClr val="64748B"/>
                </a:solidFill>
                <a:latin typeface="Consolas"/>
                <a:ea typeface="Consolas"/>
                <a:cs typeface="Consolas"/>
              </a:rPr>
              <a:t>    printf("PIN (try %d of 3): ", tries);</a:t>
            </a:r>
            <a:endParaRPr lang="en-US" sz="2000" dirty="0"/>
          </a:p>
          <a:p>
            <a:pPr marL="0" indent="0" algn="l">
              <a:lnSpc>
                <a:spcPts val="2500"/>
              </a:lnSpc>
              <a:buNone/>
            </a:pPr>
            <a:r>
              <a:rPr lang="en-US" sz="2000" dirty="0">
                <a:solidFill>
                  <a:srgbClr val="64748B"/>
                </a:solidFill>
                <a:latin typeface="Consolas"/>
                <a:ea typeface="Consolas"/>
                <a:cs typeface="Consolas"/>
              </a:rPr>
              <a:t>    scanf("%d", &amp;pin);</a:t>
            </a:r>
            <a:endParaRPr lang="en-US" sz="2000" dirty="0"/>
          </a:p>
          <a:p>
            <a:pPr marL="0" indent="0" algn="l">
              <a:lnSpc>
                <a:spcPts val="2500"/>
              </a:lnSpc>
              <a:buNone/>
            </a:pPr>
            <a:r>
              <a:rPr lang="en-US" sz="2000" dirty="0">
                <a:solidFill>
                  <a:srgbClr val="FFFFFF"/>
                </a:solidFill>
                <a:latin typeface="Consolas"/>
                <a:ea typeface="Consolas"/>
                <a:cs typeface="Consolas"/>
              </a:rPr>
              <a:t>    if (pin == 1234) {</a:t>
            </a:r>
            <a:endParaRPr lang="en-US" sz="2000" dirty="0"/>
          </a:p>
          <a:p>
            <a:pPr marL="0" indent="0" algn="l">
              <a:lnSpc>
                <a:spcPts val="2500"/>
              </a:lnSpc>
              <a:buNone/>
            </a:pPr>
            <a:r>
              <a:rPr lang="en-US" sz="2000" dirty="0">
                <a:solidFill>
                  <a:srgbClr val="FFFFFF"/>
                </a:solidFill>
                <a:latin typeface="Consolas"/>
                <a:ea typeface="Consolas"/>
                <a:cs typeface="Consolas"/>
              </a:rPr>
              <a:t>        ok = 1;</a:t>
            </a:r>
            <a:endParaRPr lang="en-US" sz="2000" dirty="0"/>
          </a:p>
          <a:p>
            <a:pPr marL="0" indent="0" algn="l">
              <a:lnSpc>
                <a:spcPts val="2500"/>
              </a:lnSpc>
              <a:buNone/>
            </a:pPr>
            <a:r>
              <a:rPr lang="en-US" sz="2000" dirty="0">
                <a:solidFill>
                  <a:srgbClr val="FFFFFF"/>
                </a:solidFill>
                <a:latin typeface="Consolas"/>
                <a:ea typeface="Consolas"/>
                <a:cs typeface="Consolas"/>
              </a:rPr>
              <a:t>        break;       </a:t>
            </a:r>
            <a:r>
              <a:rPr lang="en-US" sz="2000" dirty="0">
                <a:solidFill>
                  <a:srgbClr val="86C79A"/>
                </a:solidFill>
                <a:latin typeface="Consolas"/>
                <a:ea typeface="Consolas"/>
                <a:cs typeface="Consolas"/>
              </a:rPr>
              <a:t>// right: stop asking</a:t>
            </a:r>
            <a:endParaRPr lang="en-US" sz="2000" dirty="0"/>
          </a:p>
          <a:p>
            <a:pPr marL="0" indent="0" algn="l">
              <a:lnSpc>
                <a:spcPts val="2500"/>
              </a:lnSpc>
              <a:buNone/>
            </a:pPr>
            <a:r>
              <a:rPr lang="en-US" sz="2000" dirty="0">
                <a:solidFill>
                  <a:srgbClr val="FFFFFF"/>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06B6D4"/>
          </a:solidFill>
          <a:ln>
            <a:noFill/>
          </a:ln>
        </p:spPr>
        <p:txBody>
          <a:bodyPr wrap="square" lIns="0" tIns="0" rIns="0" bIns="0" rtlCol="0" anchor="ctr"/>
          <a:lstStyle/>
          <a:p>
            <a:pPr marL="0" indent="0" algn="ctr">
              <a:buNone/>
            </a:pPr>
            <a:r>
              <a:rPr lang="en-US" sz="5400" b="1" dirty="0">
                <a:solidFill>
                  <a:srgbClr val="FFFFFF"/>
                </a:solidFill>
              </a:rPr>
              <a:t>6</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Worked examples</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Two whole programs with a loop inside</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Worked example: multiplication table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58</a:t>
            </a:r>
            <a:endParaRPr lang="en-US" sz="1400" dirty="0"/>
          </a:p>
        </p:txBody>
      </p:sp>
      <p:sp>
        <p:nvSpPr>
          <p:cNvPr id="6" name="Shape 6"/>
          <p:cNvSpPr/>
          <p:nvPr/>
        </p:nvSpPr>
        <p:spPr>
          <a:xfrm>
            <a:off x="548640" y="1261872"/>
            <a:ext cx="11094415" cy="490601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11094415"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#include &lt;stdio.h&gt;</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int main(void) {</a:t>
            </a:r>
            <a:endParaRPr lang="en-US" sz="2200" dirty="0"/>
          </a:p>
          <a:p>
            <a:pPr marL="0" indent="0" algn="l">
              <a:lnSpc>
                <a:spcPts val="2750"/>
              </a:lnSpc>
              <a:buNone/>
            </a:pPr>
            <a:r>
              <a:rPr lang="en-US" sz="2200" dirty="0">
                <a:solidFill>
                  <a:srgbClr val="E5E7EB"/>
                </a:solidFill>
                <a:latin typeface="Consolas"/>
                <a:ea typeface="Consolas"/>
                <a:cs typeface="Consolas"/>
              </a:rPr>
              <a:t>    int n;</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printf("Enter a number: ");</a:t>
            </a:r>
            <a:endParaRPr lang="en-US" sz="2200" dirty="0"/>
          </a:p>
          <a:p>
            <a:pPr marL="0" indent="0" algn="l">
              <a:lnSpc>
                <a:spcPts val="2750"/>
              </a:lnSpc>
              <a:buNone/>
            </a:pPr>
            <a:r>
              <a:rPr lang="en-US" sz="2200" dirty="0">
                <a:solidFill>
                  <a:srgbClr val="E5E7EB"/>
                </a:solidFill>
                <a:latin typeface="Consolas"/>
                <a:ea typeface="Consolas"/>
                <a:cs typeface="Consolas"/>
              </a:rPr>
              <a:t>    scanf("%d", &amp;n);</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for (int i = 1; i &lt;= 10; i++) {</a:t>
            </a:r>
            <a:endParaRPr lang="en-US" sz="2200" dirty="0"/>
          </a:p>
          <a:p>
            <a:pPr marL="0" indent="0" algn="l">
              <a:lnSpc>
                <a:spcPts val="2750"/>
              </a:lnSpc>
              <a:buNone/>
            </a:pPr>
            <a:r>
              <a:rPr lang="en-US" sz="2200" dirty="0">
                <a:solidFill>
                  <a:srgbClr val="E5E7EB"/>
                </a:solidFill>
                <a:latin typeface="Consolas"/>
                <a:ea typeface="Consolas"/>
                <a:cs typeface="Consolas"/>
              </a:rPr>
              <a:t>        printf("%d x %d = %d\n", n, i, n * i);</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return 0;</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Same code, different value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59</a:t>
            </a:r>
            <a:endParaRPr lang="en-US" sz="1400" dirty="0"/>
          </a:p>
        </p:txBody>
      </p:sp>
      <p:sp>
        <p:nvSpPr>
          <p:cNvPr id="6" name="Shape 6"/>
          <p:cNvSpPr/>
          <p:nvPr/>
        </p:nvSpPr>
        <p:spPr>
          <a:xfrm>
            <a:off x="548640" y="1261872"/>
            <a:ext cx="6949440" cy="14135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828927"/>
            <a:ext cx="694944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82892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949440" cy="1413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for (int i = 1; i &lt;= 10; i++) {</a:t>
            </a:r>
            <a:endParaRPr lang="en-US" sz="2200" dirty="0"/>
          </a:p>
          <a:p>
            <a:pPr marL="0" indent="0" algn="l">
              <a:lnSpc>
                <a:spcPts val="2750"/>
              </a:lnSpc>
              <a:buNone/>
            </a:pPr>
            <a:r>
              <a:rPr lang="en-US" sz="2200" dirty="0">
                <a:solidFill>
                  <a:srgbClr val="FFFFFF"/>
                </a:solidFill>
                <a:latin typeface="Consolas"/>
                <a:ea typeface="Consolas"/>
                <a:cs typeface="Consolas"/>
              </a:rPr>
              <a:t>    printf("%d x %d = %d\n", n, i, n * 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0" name="Shape 10"/>
          <p:cNvSpPr/>
          <p:nvPr/>
        </p:nvSpPr>
        <p:spPr>
          <a:xfrm>
            <a:off x="7772400" y="1261872"/>
            <a:ext cx="387065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772400" y="1645920"/>
            <a:ext cx="3870655" cy="4556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772400" y="1645920"/>
            <a:ext cx="3870655" cy="455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Enter a number: 7</a:t>
            </a:r>
            <a:endParaRPr lang="en-US" sz="2400" dirty="0"/>
          </a:p>
          <a:p>
            <a:pPr marL="0" indent="0" algn="l">
              <a:lnSpc>
                <a:spcPts val="3000"/>
              </a:lnSpc>
              <a:buNone/>
            </a:pPr>
            <a:r>
              <a:rPr lang="en-US" sz="2400" dirty="0">
                <a:solidFill>
                  <a:srgbClr val="D1FAE5"/>
                </a:solidFill>
                <a:latin typeface="Consolas"/>
                <a:ea typeface="Consolas"/>
                <a:cs typeface="Consolas"/>
              </a:rPr>
              <a:t>7 x 1 = 7</a:t>
            </a:r>
            <a:endParaRPr lang="en-US" sz="2400" dirty="0"/>
          </a:p>
          <a:p>
            <a:pPr marL="0" indent="0" algn="l">
              <a:lnSpc>
                <a:spcPts val="3000"/>
              </a:lnSpc>
              <a:buNone/>
            </a:pPr>
            <a:r>
              <a:rPr lang="en-US" sz="2400" dirty="0">
                <a:solidFill>
                  <a:srgbClr val="D1FAE5"/>
                </a:solidFill>
                <a:latin typeface="Consolas"/>
                <a:ea typeface="Consolas"/>
                <a:cs typeface="Consolas"/>
              </a:rPr>
              <a:t>7 x 2 = 14</a:t>
            </a:r>
            <a:endParaRPr lang="en-US" sz="2400" dirty="0"/>
          </a:p>
          <a:p>
            <a:pPr marL="0" indent="0" algn="l">
              <a:lnSpc>
                <a:spcPts val="3000"/>
              </a:lnSpc>
              <a:buNone/>
            </a:pPr>
            <a:r>
              <a:rPr lang="en-US" sz="2400" dirty="0">
                <a:solidFill>
                  <a:srgbClr val="D1FAE5"/>
                </a:solidFill>
                <a:latin typeface="Consolas"/>
                <a:ea typeface="Consolas"/>
                <a:cs typeface="Consolas"/>
              </a:rPr>
              <a:t>7 x 3 = 21</a:t>
            </a:r>
            <a:endParaRPr lang="en-US" sz="2400" dirty="0"/>
          </a:p>
          <a:p>
            <a:pPr marL="0" indent="0" algn="l">
              <a:lnSpc>
                <a:spcPts val="3000"/>
              </a:lnSpc>
              <a:buNone/>
            </a:pPr>
            <a:r>
              <a:rPr lang="en-US" sz="2400" dirty="0">
                <a:solidFill>
                  <a:srgbClr val="D1FAE5"/>
                </a:solidFill>
                <a:latin typeface="Consolas"/>
                <a:ea typeface="Consolas"/>
                <a:cs typeface="Consolas"/>
              </a:rPr>
              <a:t>7 x 4 = 28</a:t>
            </a:r>
            <a:endParaRPr lang="en-US" sz="2400" dirty="0"/>
          </a:p>
          <a:p>
            <a:pPr marL="0" indent="0" algn="l">
              <a:lnSpc>
                <a:spcPts val="3000"/>
              </a:lnSpc>
              <a:buNone/>
            </a:pPr>
            <a:r>
              <a:rPr lang="en-US" sz="2400" dirty="0">
                <a:solidFill>
                  <a:srgbClr val="D1FAE5"/>
                </a:solidFill>
                <a:latin typeface="Consolas"/>
                <a:ea typeface="Consolas"/>
                <a:cs typeface="Consolas"/>
              </a:rPr>
              <a:t>7 x 5 = 35</a:t>
            </a:r>
            <a:endParaRPr lang="en-US" sz="2400" dirty="0"/>
          </a:p>
          <a:p>
            <a:pPr marL="0" indent="0" algn="l">
              <a:lnSpc>
                <a:spcPts val="3000"/>
              </a:lnSpc>
              <a:buNone/>
            </a:pPr>
            <a:r>
              <a:rPr lang="en-US" sz="2400" dirty="0">
                <a:solidFill>
                  <a:srgbClr val="D1FAE5"/>
                </a:solidFill>
                <a:latin typeface="Consolas"/>
                <a:ea typeface="Consolas"/>
                <a:cs typeface="Consolas"/>
              </a:rPr>
              <a:t>7 x 6 = 42</a:t>
            </a:r>
            <a:endParaRPr lang="en-US" sz="2400" dirty="0"/>
          </a:p>
          <a:p>
            <a:pPr marL="0" indent="0" algn="l">
              <a:lnSpc>
                <a:spcPts val="3000"/>
              </a:lnSpc>
              <a:buNone/>
            </a:pPr>
            <a:r>
              <a:rPr lang="en-US" sz="2400" dirty="0">
                <a:solidFill>
                  <a:srgbClr val="D1FAE5"/>
                </a:solidFill>
                <a:latin typeface="Consolas"/>
                <a:ea typeface="Consolas"/>
                <a:cs typeface="Consolas"/>
              </a:rPr>
              <a:t>7 x 7 = 49</a:t>
            </a:r>
            <a:endParaRPr lang="en-US" sz="2400" dirty="0"/>
          </a:p>
          <a:p>
            <a:pPr marL="0" indent="0" algn="l">
              <a:lnSpc>
                <a:spcPts val="3000"/>
              </a:lnSpc>
              <a:buNone/>
            </a:pPr>
            <a:r>
              <a:rPr lang="en-US" sz="2400" dirty="0">
                <a:solidFill>
                  <a:srgbClr val="D1FAE5"/>
                </a:solidFill>
                <a:latin typeface="Consolas"/>
                <a:ea typeface="Consolas"/>
                <a:cs typeface="Consolas"/>
              </a:rPr>
              <a:t>7 x 8 = 56</a:t>
            </a:r>
            <a:endParaRPr lang="en-US" sz="2400" dirty="0"/>
          </a:p>
          <a:p>
            <a:pPr marL="0" indent="0" algn="l">
              <a:lnSpc>
                <a:spcPts val="3000"/>
              </a:lnSpc>
              <a:buNone/>
            </a:pPr>
            <a:r>
              <a:rPr lang="en-US" sz="2400" dirty="0">
                <a:solidFill>
                  <a:srgbClr val="D1FAE5"/>
                </a:solidFill>
                <a:latin typeface="Consolas"/>
                <a:ea typeface="Consolas"/>
                <a:cs typeface="Consolas"/>
              </a:rPr>
              <a:t>7 x 9 = 63</a:t>
            </a:r>
            <a:endParaRPr lang="en-US" sz="2400" dirty="0"/>
          </a:p>
          <a:p>
            <a:pPr marL="0" indent="0" algn="l">
              <a:lnSpc>
                <a:spcPts val="3000"/>
              </a:lnSpc>
              <a:buNone/>
            </a:pPr>
            <a:r>
              <a:rPr lang="en-US" sz="2400" dirty="0">
                <a:solidFill>
                  <a:srgbClr val="D1FAE5"/>
                </a:solidFill>
                <a:latin typeface="Consolas"/>
                <a:ea typeface="Consolas"/>
                <a:cs typeface="Consolas"/>
              </a:rPr>
              <a:t>7 x 10 = 70</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line of code, ten lines on the screen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60</a:t>
            </a:r>
            <a:endParaRPr lang="en-US" sz="1400" dirty="0"/>
          </a:p>
        </p:txBody>
      </p:sp>
      <p:sp>
        <p:nvSpPr>
          <p:cNvPr id="6" name="Shape 6"/>
          <p:cNvSpPr/>
          <p:nvPr/>
        </p:nvSpPr>
        <p:spPr>
          <a:xfrm>
            <a:off x="548640" y="1399032"/>
            <a:ext cx="109728" cy="7924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2F80ED"/>
                </a:solidFill>
                <a:latin typeface="Consolas"/>
                <a:ea typeface="Consolas"/>
                <a:cs typeface="Consolas"/>
              </a:rPr>
              <a:t>n</a:t>
            </a:r>
            <a:r>
              <a:rPr lang="en-US" sz="4000" b="1" dirty="0">
                <a:solidFill>
                  <a:srgbClr val="18324A"/>
                </a:solidFill>
              </a:rPr>
              <a:t> stays the same. </a:t>
            </a:r>
            <a:r>
              <a:rPr lang="en-US" sz="4000" b="1" dirty="0">
                <a:solidFill>
                  <a:srgbClr val="2F80ED"/>
                </a:solidFill>
                <a:latin typeface="Consolas"/>
                <a:ea typeface="Consolas"/>
                <a:cs typeface="Consolas"/>
              </a:rPr>
              <a:t>i</a:t>
            </a:r>
            <a:r>
              <a:rPr lang="en-US" sz="4000" b="1" dirty="0">
                <a:solidFill>
                  <a:srgbClr val="18324A"/>
                </a:solidFill>
              </a:rPr>
              <a:t> changes every round.</a:t>
            </a:r>
            <a:endParaRPr lang="en-US" sz="4000" dirty="0"/>
          </a:p>
        </p:txBody>
      </p:sp>
      <p:sp>
        <p:nvSpPr>
          <p:cNvPr id="8" name="Shape 8"/>
          <p:cNvSpPr/>
          <p:nvPr/>
        </p:nvSpPr>
        <p:spPr>
          <a:xfrm>
            <a:off x="914400" y="26029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Three holes: </a:t>
            </a:r>
            <a:r>
              <a:rPr lang="en-US" sz="3000" dirty="0">
                <a:solidFill>
                  <a:srgbClr val="2F80ED"/>
                </a:solidFill>
                <a:latin typeface="Consolas"/>
                <a:ea typeface="Consolas"/>
                <a:cs typeface="Consolas"/>
              </a:rPr>
              <a:t>%d x %d = %d</a:t>
            </a:r>
            <a:endParaRPr lang="en-US" sz="3000" dirty="0"/>
          </a:p>
          <a:p>
            <a:pPr marL="0" indent="0" algn="l">
              <a:spcAft>
                <a:spcPts val="1600"/>
              </a:spcAft>
              <a:buNone/>
            </a:pPr>
            <a:r>
              <a:rPr lang="en-US" sz="3000" dirty="0">
                <a:solidFill>
                  <a:srgbClr val="18324A"/>
                </a:solidFill>
              </a:rPr>
              <a:t>Three values: </a:t>
            </a:r>
            <a:r>
              <a:rPr lang="en-US" sz="3000" dirty="0">
                <a:solidFill>
                  <a:srgbClr val="2F80ED"/>
                </a:solidFill>
                <a:latin typeface="Consolas"/>
                <a:ea typeface="Consolas"/>
                <a:cs typeface="Consolas"/>
              </a:rPr>
              <a:t>n</a:t>
            </a:r>
            <a:r>
              <a:rPr lang="en-US" sz="3000" dirty="0">
                <a:solidFill>
                  <a:srgbClr val="18324A"/>
                </a:solidFill>
              </a:rPr>
              <a:t>, </a:t>
            </a:r>
            <a:r>
              <a:rPr lang="en-US" sz="3000" dirty="0">
                <a:solidFill>
                  <a:srgbClr val="2F80ED"/>
                </a:solidFill>
                <a:latin typeface="Consolas"/>
                <a:ea typeface="Consolas"/>
                <a:cs typeface="Consolas"/>
              </a:rPr>
              <a:t>i</a:t>
            </a:r>
            <a:r>
              <a:rPr lang="en-US" sz="3000" dirty="0">
                <a:solidFill>
                  <a:srgbClr val="18324A"/>
                </a:solidFill>
              </a:rPr>
              <a:t>, </a:t>
            </a:r>
            <a:r>
              <a:rPr lang="en-US" sz="3000" dirty="0">
                <a:solidFill>
                  <a:srgbClr val="2F80ED"/>
                </a:solidFill>
                <a:latin typeface="Consolas"/>
                <a:ea typeface="Consolas"/>
                <a:cs typeface="Consolas"/>
              </a:rPr>
              <a:t>n * i</a:t>
            </a:r>
            <a:endParaRPr lang="en-US" sz="3000" dirty="0"/>
          </a:p>
        </p:txBody>
      </p:sp>
      <p:sp>
        <p:nvSpPr>
          <p:cNvPr id="9" name="Shape 9"/>
          <p:cNvSpPr/>
          <p:nvPr/>
        </p:nvSpPr>
        <p:spPr>
          <a:xfrm>
            <a:off x="548640" y="5577840"/>
            <a:ext cx="11094415" cy="68580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0" name="Shape 10"/>
          <p:cNvSpPr/>
          <p:nvPr/>
        </p:nvSpPr>
        <p:spPr>
          <a:xfrm>
            <a:off x="548640" y="5577840"/>
            <a:ext cx="109728" cy="685800"/>
          </a:xfrm>
          <a:prstGeom prst="rect">
            <a:avLst/>
          </a:prstGeom>
          <a:solidFill>
            <a:srgbClr val="8B5CF6"/>
          </a:solidFill>
          <a:ln>
            <a:noFill/>
          </a:ln>
        </p:spPr>
        <p:txBody>
          <a:bodyPr wrap="square" lIns="0" tIns="0" rIns="0" bIns="0" rtlCol="0" anchor="t"/>
          <a:lstStyle/>
          <a:p>
            <a:endParaRPr lang="en-US"/>
          </a:p>
        </p:txBody>
      </p:sp>
      <p:sp>
        <p:nvSpPr>
          <p:cNvPr id="11"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Question: I want the table up to 12. What do I change?</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look ahead: a loop inside a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61</a:t>
            </a:r>
            <a:endParaRPr lang="en-US" sz="1400" dirty="0"/>
          </a:p>
        </p:txBody>
      </p:sp>
      <p:sp>
        <p:nvSpPr>
          <p:cNvPr id="6" name="Shape 6"/>
          <p:cNvSpPr/>
          <p:nvPr/>
        </p:nvSpPr>
        <p:spPr>
          <a:xfrm>
            <a:off x="548640" y="1261872"/>
            <a:ext cx="6766560" cy="24612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6766560" cy="24612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for (int row = 1; row &lt;= 3; row++) {</a:t>
            </a:r>
            <a:endParaRPr lang="en-US" sz="2200" dirty="0"/>
          </a:p>
          <a:p>
            <a:pPr marL="0" indent="0" algn="l">
              <a:lnSpc>
                <a:spcPts val="2750"/>
              </a:lnSpc>
              <a:buNone/>
            </a:pPr>
            <a:r>
              <a:rPr lang="en-US" sz="2200" dirty="0">
                <a:solidFill>
                  <a:srgbClr val="E5E7EB"/>
                </a:solidFill>
                <a:latin typeface="Consolas"/>
                <a:ea typeface="Consolas"/>
                <a:cs typeface="Consolas"/>
              </a:rPr>
              <a:t>    for (int col = 1; col &lt;= 5; col++) {</a:t>
            </a:r>
            <a:endParaRPr lang="en-US" sz="2200" dirty="0"/>
          </a:p>
          <a:p>
            <a:pPr marL="0" indent="0" algn="l">
              <a:lnSpc>
                <a:spcPts val="2750"/>
              </a:lnSpc>
              <a:buNone/>
            </a:pPr>
            <a:r>
              <a:rPr lang="en-US" sz="2200" dirty="0">
                <a:solidFill>
                  <a:srgbClr val="E5E7EB"/>
                </a:solidFill>
                <a:latin typeface="Consolas"/>
                <a:ea typeface="Consolas"/>
                <a:cs typeface="Consolas"/>
              </a:rPr>
              <a:t>        printf("%4d", row * col);</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    printf("\n");</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p:txBody>
      </p:sp>
      <p:sp>
        <p:nvSpPr>
          <p:cNvPr id="8" name="Shape 8"/>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9" name="Shape 9"/>
          <p:cNvSpPr/>
          <p:nvPr/>
        </p:nvSpPr>
        <p:spPr>
          <a:xfrm>
            <a:off x="7589520" y="1645920"/>
            <a:ext cx="4053535" cy="1508760"/>
          </a:xfrm>
          <a:prstGeom prst="rect">
            <a:avLst/>
          </a:prstGeom>
          <a:solidFill>
            <a:srgbClr val="000000"/>
          </a:solidFill>
          <a:ln>
            <a:noFill/>
          </a:ln>
        </p:spPr>
        <p:txBody>
          <a:bodyPr wrap="square" lIns="0" tIns="0" rIns="0" bIns="0" rtlCol="0" anchor="t"/>
          <a:lstStyle/>
          <a:p>
            <a:endParaRPr lang="en-US"/>
          </a:p>
        </p:txBody>
      </p:sp>
      <p:sp>
        <p:nvSpPr>
          <p:cNvPr id="10" name="Code"/>
          <p:cNvSpPr/>
          <p:nvPr/>
        </p:nvSpPr>
        <p:spPr>
          <a:xfrm>
            <a:off x="7589520" y="1645920"/>
            <a:ext cx="4053535" cy="1508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   1   2   3   4   5</a:t>
            </a:r>
            <a:endParaRPr lang="en-US" sz="2400" dirty="0"/>
          </a:p>
          <a:p>
            <a:pPr marL="0" indent="0" algn="l">
              <a:lnSpc>
                <a:spcPts val="3000"/>
              </a:lnSpc>
              <a:buNone/>
            </a:pPr>
            <a:r>
              <a:rPr lang="en-US" sz="2400" dirty="0">
                <a:solidFill>
                  <a:srgbClr val="D1FAE5"/>
                </a:solidFill>
                <a:latin typeface="Consolas"/>
                <a:ea typeface="Consolas"/>
                <a:cs typeface="Consolas"/>
              </a:rPr>
              <a:t>   2   4   6   8  10</a:t>
            </a:r>
            <a:endParaRPr lang="en-US" sz="2400" dirty="0"/>
          </a:p>
          <a:p>
            <a:pPr marL="0" indent="0" algn="l">
              <a:lnSpc>
                <a:spcPts val="3000"/>
              </a:lnSpc>
              <a:buNone/>
            </a:pPr>
            <a:r>
              <a:rPr lang="en-US" sz="2400" dirty="0">
                <a:solidFill>
                  <a:srgbClr val="D1FAE5"/>
                </a:solidFill>
                <a:latin typeface="Consolas"/>
                <a:ea typeface="Consolas"/>
                <a:cs typeface="Consolas"/>
              </a:rPr>
              <a:t>   3   6   9  12  15</a:t>
            </a:r>
            <a:endParaRPr lang="en-US" sz="2400" dirty="0"/>
          </a:p>
        </p:txBody>
      </p:sp>
      <p:sp>
        <p:nvSpPr>
          <p:cNvPr id="11" name="Shape 11"/>
          <p:cNvSpPr/>
          <p:nvPr/>
        </p:nvSpPr>
        <p:spPr>
          <a:xfrm>
            <a:off x="7589520" y="3429000"/>
            <a:ext cx="4053535" cy="1051560"/>
          </a:xfrm>
          <a:prstGeom prst="rect">
            <a:avLst/>
          </a:prstGeom>
          <a:solidFill>
            <a:srgbClr val="FFFFFF"/>
          </a:solidFill>
          <a:ln w="19050">
            <a:solidFill>
              <a:srgbClr val="06B6D4"/>
            </a:solidFill>
          </a:ln>
        </p:spPr>
        <p:txBody>
          <a:bodyPr wrap="square" lIns="0" tIns="0" rIns="0" bIns="0" rtlCol="0" anchor="t"/>
          <a:lstStyle/>
          <a:p>
            <a:endParaRPr lang="en-US"/>
          </a:p>
        </p:txBody>
      </p:sp>
      <p:sp>
        <p:nvSpPr>
          <p:cNvPr id="12" name="Shape 12"/>
          <p:cNvSpPr/>
          <p:nvPr/>
        </p:nvSpPr>
        <p:spPr>
          <a:xfrm>
            <a:off x="7589520" y="3429000"/>
            <a:ext cx="109728" cy="1051560"/>
          </a:xfrm>
          <a:prstGeom prst="rect">
            <a:avLst/>
          </a:prstGeom>
          <a:solidFill>
            <a:srgbClr val="06B6D4"/>
          </a:solidFill>
          <a:ln>
            <a:noFill/>
          </a:ln>
        </p:spPr>
        <p:txBody>
          <a:bodyPr wrap="square" lIns="0" tIns="0" rIns="0" bIns="0" rtlCol="0" anchor="t"/>
          <a:lstStyle/>
          <a:p>
            <a:endParaRPr lang="en-US"/>
          </a:p>
        </p:txBody>
      </p:sp>
      <p:sp>
        <p:nvSpPr>
          <p:cNvPr id="13" name="Callout"/>
          <p:cNvSpPr/>
          <p:nvPr/>
        </p:nvSpPr>
        <p:spPr>
          <a:xfrm>
            <a:off x="7699248" y="3429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For </a:t>
            </a:r>
            <a:r>
              <a:rPr lang="en-US" sz="2400" b="1" dirty="0">
                <a:solidFill>
                  <a:srgbClr val="18324A"/>
                </a:solidFill>
              </a:rPr>
              <a:t>every</a:t>
            </a:r>
            <a:r>
              <a:rPr lang="en-US" sz="2400" dirty="0">
                <a:solidFill>
                  <a:srgbClr val="18324A"/>
                </a:solidFill>
              </a:rPr>
              <a:t> row, the inner loop runs 5 times.</a:t>
            </a:r>
            <a:endParaRPr lang="en-US" sz="2400" dirty="0"/>
          </a:p>
        </p:txBody>
      </p:sp>
      <p:sp>
        <p:nvSpPr>
          <p:cNvPr id="14" name="Shape 14"/>
          <p:cNvSpPr/>
          <p:nvPr/>
        </p:nvSpPr>
        <p:spPr>
          <a:xfrm>
            <a:off x="7589520" y="4681728"/>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5" name="Shape 15"/>
          <p:cNvSpPr/>
          <p:nvPr/>
        </p:nvSpPr>
        <p:spPr>
          <a:xfrm>
            <a:off x="7589520" y="4681728"/>
            <a:ext cx="109728" cy="1051560"/>
          </a:xfrm>
          <a:prstGeom prst="rect">
            <a:avLst/>
          </a:prstGeom>
          <a:solidFill>
            <a:srgbClr val="F59E0B"/>
          </a:solidFill>
          <a:ln>
            <a:noFill/>
          </a:ln>
        </p:spPr>
        <p:txBody>
          <a:bodyPr wrap="square" lIns="0" tIns="0" rIns="0" bIns="0" rtlCol="0" anchor="t"/>
          <a:lstStyle/>
          <a:p>
            <a:endParaRPr lang="en-US"/>
          </a:p>
        </p:txBody>
      </p:sp>
      <p:sp>
        <p:nvSpPr>
          <p:cNvPr id="16" name="Callout"/>
          <p:cNvSpPr/>
          <p:nvPr/>
        </p:nvSpPr>
        <p:spPr>
          <a:xfrm>
            <a:off x="7699248" y="4681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Not for Quiz 2. It comes back in October.</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Worked example: factorial</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62</a:t>
            </a:r>
            <a:endParaRPr lang="en-US" sz="1400" dirty="0"/>
          </a:p>
        </p:txBody>
      </p:sp>
      <p:sp>
        <p:nvSpPr>
          <p:cNvPr id="6" name="Shape 6"/>
          <p:cNvSpPr/>
          <p:nvPr/>
        </p:nvSpPr>
        <p:spPr>
          <a:xfrm>
            <a:off x="548640" y="1399032"/>
            <a:ext cx="109728" cy="792480"/>
          </a:xfrm>
          <a:prstGeom prst="rect">
            <a:avLst/>
          </a:prstGeom>
          <a:solidFill>
            <a:srgbClr val="8B5CF6"/>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5! = 1 × 2 × 3 × 4 × 5 = 120</a:t>
            </a:r>
            <a:endParaRPr lang="en-US" sz="4000" dirty="0"/>
          </a:p>
        </p:txBody>
      </p:sp>
      <p:sp>
        <p:nvSpPr>
          <p:cNvPr id="8" name="Shape 8"/>
          <p:cNvSpPr/>
          <p:nvPr/>
        </p:nvSpPr>
        <p:spPr>
          <a:xfrm>
            <a:off x="914400" y="26029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It is the running total again.</a:t>
            </a:r>
            <a:endParaRPr lang="en-US" sz="3000" dirty="0"/>
          </a:p>
          <a:p>
            <a:pPr marL="0" indent="0" algn="l">
              <a:spcAft>
                <a:spcPts val="1600"/>
              </a:spcAft>
              <a:buNone/>
            </a:pPr>
            <a:r>
              <a:rPr lang="en-US" sz="3000" dirty="0">
                <a:solidFill>
                  <a:srgbClr val="18324A"/>
                </a:solidFill>
              </a:rPr>
              <a:t>But with </a:t>
            </a:r>
            <a:r>
              <a:rPr lang="en-US" sz="3000" b="1" dirty="0">
                <a:solidFill>
                  <a:srgbClr val="18324A"/>
                </a:solidFill>
              </a:rPr>
              <a:t>times</a:t>
            </a:r>
            <a:r>
              <a:rPr lang="en-US" sz="3000" dirty="0">
                <a:solidFill>
                  <a:srgbClr val="18324A"/>
                </a:solidFill>
              </a:rPr>
              <a:t>, not plus: a running </a:t>
            </a:r>
            <a:r>
              <a:rPr lang="en-US" sz="3000" b="1" dirty="0">
                <a:solidFill>
                  <a:srgbClr val="18324A"/>
                </a:solidFill>
              </a:rPr>
              <a:t>product</a:t>
            </a:r>
            <a:r>
              <a:rPr lang="en-US" sz="3000" dirty="0">
                <a:solidFill>
                  <a:srgbClr val="18324A"/>
                </a:solidFill>
              </a:rPr>
              <a:t>.</a:t>
            </a:r>
            <a:endParaRPr lang="en-US" sz="3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Worked example: factorial</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63</a:t>
            </a:r>
            <a:endParaRPr lang="en-US" sz="1400" dirty="0"/>
          </a:p>
        </p:txBody>
      </p:sp>
      <p:sp>
        <p:nvSpPr>
          <p:cNvPr id="6" name="Shape 6"/>
          <p:cNvSpPr/>
          <p:nvPr/>
        </p:nvSpPr>
        <p:spPr>
          <a:xfrm>
            <a:off x="548640" y="1261872"/>
            <a:ext cx="11094415"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876677"/>
            <a:ext cx="11094415"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924427"/>
            <a:ext cx="11094415"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924427"/>
            <a:ext cx="82296" cy="3492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11094415"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#include &lt;stdio.h&gt;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n = 5;</a:t>
            </a:r>
            <a:endParaRPr lang="en-US" sz="2200" dirty="0"/>
          </a:p>
          <a:p>
            <a:pPr marL="0" indent="0" algn="l">
              <a:lnSpc>
                <a:spcPts val="2750"/>
              </a:lnSpc>
              <a:buNone/>
            </a:pPr>
            <a:r>
              <a:rPr lang="en-US" sz="2200" dirty="0">
                <a:solidFill>
                  <a:srgbClr val="FFFFFF"/>
                </a:solidFill>
                <a:latin typeface="Consolas"/>
                <a:ea typeface="Consolas"/>
                <a:cs typeface="Consolas"/>
              </a:rPr>
              <a:t>    int fact = 1;</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for (int i = 1; i &lt;= n; i++) {</a:t>
            </a:r>
            <a:endParaRPr lang="en-US" sz="2200" dirty="0"/>
          </a:p>
          <a:p>
            <a:pPr marL="0" indent="0" algn="l">
              <a:lnSpc>
                <a:spcPts val="2750"/>
              </a:lnSpc>
              <a:buNone/>
            </a:pPr>
            <a:r>
              <a:rPr lang="en-US" sz="2200" dirty="0">
                <a:solidFill>
                  <a:srgbClr val="FFFFFF"/>
                </a:solidFill>
                <a:latin typeface="Consolas"/>
                <a:ea typeface="Consolas"/>
                <a:cs typeface="Consolas"/>
              </a:rPr>
              <a:t>        fact *= 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printf("%d\n", fact);</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Factorial, round by round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64</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Round 2: </a:t>
            </a:r>
            <a:r>
              <a:rPr lang="en-US" sz="2400" dirty="0">
                <a:solidFill>
                  <a:srgbClr val="18324A"/>
                </a:solidFill>
                <a:latin typeface="Consolas"/>
                <a:ea typeface="Consolas"/>
                <a:cs typeface="Consolas"/>
              </a:rPr>
              <a:t>fact</a:t>
            </a:r>
            <a:r>
              <a:rPr lang="en-US" sz="2400" dirty="0">
                <a:solidFill>
                  <a:srgbClr val="18324A"/>
                </a:solidFill>
              </a:rPr>
              <a:t> is 1. Times 2. Now </a:t>
            </a:r>
            <a:r>
              <a:rPr lang="en-US" sz="2400" dirty="0">
                <a:solidFill>
                  <a:srgbClr val="18324A"/>
                </a:solidFill>
                <a:latin typeface="Consolas"/>
                <a:ea typeface="Consolas"/>
                <a:cs typeface="Consolas"/>
              </a:rPr>
              <a:t>fact</a:t>
            </a:r>
            <a:r>
              <a:rPr lang="en-US" sz="2400" dirty="0">
                <a:solidFill>
                  <a:srgbClr val="18324A"/>
                </a:solidFill>
              </a:rPr>
              <a:t> is 2.</a:t>
            </a:r>
            <a:endParaRPr lang="en-US" sz="2400" dirty="0"/>
          </a:p>
        </p:txBody>
      </p:sp>
      <p:sp>
        <p:nvSpPr>
          <p:cNvPr id="9" name="Shape 9"/>
          <p:cNvSpPr/>
          <p:nvPr/>
        </p:nvSpPr>
        <p:spPr>
          <a:xfrm>
            <a:off x="548640" y="1261872"/>
            <a:ext cx="5669280" cy="3413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006852"/>
            <a:ext cx="566928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006852"/>
            <a:ext cx="82296" cy="381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413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n = 5;</a:t>
            </a:r>
            <a:endParaRPr lang="en-US" sz="2400" dirty="0"/>
          </a:p>
          <a:p>
            <a:pPr marL="0" indent="0" algn="l">
              <a:lnSpc>
                <a:spcPts val="3000"/>
              </a:lnSpc>
              <a:buNone/>
            </a:pPr>
            <a:r>
              <a:rPr lang="en-US" sz="2400" dirty="0">
                <a:solidFill>
                  <a:srgbClr val="64748B"/>
                </a:solidFill>
                <a:latin typeface="Consolas"/>
                <a:ea typeface="Consolas"/>
                <a:cs typeface="Consolas"/>
              </a:rPr>
              <a:t>int fact = 1;</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for (int i = 1; i &lt;= n; i++) {</a:t>
            </a:r>
            <a:endParaRPr lang="en-US" sz="2400" dirty="0"/>
          </a:p>
          <a:p>
            <a:pPr marL="0" indent="0" algn="l">
              <a:lnSpc>
                <a:spcPts val="3000"/>
              </a:lnSpc>
              <a:buNone/>
            </a:pPr>
            <a:r>
              <a:rPr lang="en-US" sz="2400" dirty="0">
                <a:solidFill>
                  <a:srgbClr val="FFFFFF"/>
                </a:solidFill>
                <a:latin typeface="Consolas"/>
                <a:ea typeface="Consolas"/>
                <a:cs typeface="Consolas"/>
              </a:rPr>
              <a:t>    fact *= i;</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printf("%d\n", fact);</a:t>
            </a:r>
            <a:endParaRPr lang="en-US" sz="2400" dirty="0"/>
          </a:p>
        </p:txBody>
      </p:sp>
      <p:sp>
        <p:nvSpPr>
          <p:cNvPr id="13" name="Shape 13"/>
          <p:cNvSpPr/>
          <p:nvPr/>
        </p:nvSpPr>
        <p:spPr>
          <a:xfrm>
            <a:off x="6492240" y="1261872"/>
            <a:ext cx="77262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264862" y="1261872"/>
            <a:ext cx="141647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fact</a:t>
            </a:r>
            <a:r>
              <a:rPr lang="en-US" sz="1800" b="1" dirty="0">
                <a:solidFill>
                  <a:srgbClr val="FFFFFF"/>
                </a:solidFill>
              </a:rPr>
              <a:t> before</a:t>
            </a:r>
            <a:endParaRPr lang="en-US" sz="1800" dirty="0"/>
          </a:p>
        </p:txBody>
      </p:sp>
      <p:sp>
        <p:nvSpPr>
          <p:cNvPr id="15" name="Shape 15"/>
          <p:cNvSpPr/>
          <p:nvPr/>
        </p:nvSpPr>
        <p:spPr>
          <a:xfrm>
            <a:off x="8681336" y="1261872"/>
            <a:ext cx="154524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fact *= i</a:t>
            </a:r>
            <a:endParaRPr lang="en-US" sz="1800" dirty="0"/>
          </a:p>
        </p:txBody>
      </p:sp>
      <p:sp>
        <p:nvSpPr>
          <p:cNvPr id="16" name="Shape 16"/>
          <p:cNvSpPr/>
          <p:nvPr/>
        </p:nvSpPr>
        <p:spPr>
          <a:xfrm>
            <a:off x="10226581" y="1261872"/>
            <a:ext cx="141647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fact</a:t>
            </a:r>
            <a:r>
              <a:rPr lang="en-US" sz="1800" b="1" dirty="0">
                <a:solidFill>
                  <a:srgbClr val="FFFFFF"/>
                </a:solidFill>
              </a:rPr>
              <a:t> after</a:t>
            </a:r>
            <a:endParaRPr lang="en-US" sz="1800" dirty="0"/>
          </a:p>
        </p:txBody>
      </p:sp>
      <p:sp>
        <p:nvSpPr>
          <p:cNvPr id="17" name="Shape 17"/>
          <p:cNvSpPr/>
          <p:nvPr/>
        </p:nvSpPr>
        <p:spPr>
          <a:xfrm>
            <a:off x="6492240" y="1920240"/>
            <a:ext cx="77262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264862" y="1920240"/>
            <a:ext cx="141647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9" name="Shape 19"/>
          <p:cNvSpPr/>
          <p:nvPr/>
        </p:nvSpPr>
        <p:spPr>
          <a:xfrm>
            <a:off x="8681336" y="1920240"/>
            <a:ext cx="154524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 × 1</a:t>
            </a:r>
            <a:endParaRPr lang="en-US" sz="2400" dirty="0"/>
          </a:p>
        </p:txBody>
      </p:sp>
      <p:sp>
        <p:nvSpPr>
          <p:cNvPr id="20" name="Shape 20"/>
          <p:cNvSpPr/>
          <p:nvPr/>
        </p:nvSpPr>
        <p:spPr>
          <a:xfrm>
            <a:off x="10226581" y="1920240"/>
            <a:ext cx="141647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1" name="Shape 21"/>
          <p:cNvSpPr/>
          <p:nvPr/>
        </p:nvSpPr>
        <p:spPr>
          <a:xfrm>
            <a:off x="6492240" y="2578608"/>
            <a:ext cx="77262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2" name="Shape 22"/>
          <p:cNvSpPr/>
          <p:nvPr/>
        </p:nvSpPr>
        <p:spPr>
          <a:xfrm>
            <a:off x="7264862" y="2578608"/>
            <a:ext cx="141647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3" name="Shape 23"/>
          <p:cNvSpPr/>
          <p:nvPr/>
        </p:nvSpPr>
        <p:spPr>
          <a:xfrm>
            <a:off x="8681336" y="2578608"/>
            <a:ext cx="154524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 × 2</a:t>
            </a:r>
            <a:endParaRPr lang="en-US" sz="2400" dirty="0"/>
          </a:p>
        </p:txBody>
      </p:sp>
      <p:sp>
        <p:nvSpPr>
          <p:cNvPr id="24" name="Shape 24"/>
          <p:cNvSpPr/>
          <p:nvPr/>
        </p:nvSpPr>
        <p:spPr>
          <a:xfrm>
            <a:off x="10226581" y="2578608"/>
            <a:ext cx="141647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5" name="Shape 25"/>
          <p:cNvSpPr/>
          <p:nvPr/>
        </p:nvSpPr>
        <p:spPr>
          <a:xfrm>
            <a:off x="6492240" y="3236976"/>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264862" y="3236976"/>
            <a:ext cx="141647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681336" y="3236976"/>
            <a:ext cx="154524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10226581" y="3236976"/>
            <a:ext cx="141647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6492240" y="3895344"/>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7264862" y="3895344"/>
            <a:ext cx="141647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8681336" y="3895344"/>
            <a:ext cx="154524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10226581" y="3895344"/>
            <a:ext cx="141647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6492240" y="4553712"/>
            <a:ext cx="772622"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264862" y="4553712"/>
            <a:ext cx="141647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8681336" y="4553712"/>
            <a:ext cx="154524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226581" y="4553712"/>
            <a:ext cx="1416474"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Factorial, round by round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65</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After round 5: </a:t>
            </a:r>
            <a:r>
              <a:rPr lang="en-US" sz="2400" dirty="0">
                <a:solidFill>
                  <a:srgbClr val="18324A"/>
                </a:solidFill>
                <a:latin typeface="Consolas"/>
                <a:ea typeface="Consolas"/>
                <a:cs typeface="Consolas"/>
              </a:rPr>
              <a:t>fact</a:t>
            </a:r>
            <a:r>
              <a:rPr lang="en-US" sz="2400" dirty="0">
                <a:solidFill>
                  <a:srgbClr val="18324A"/>
                </a:solidFill>
              </a:rPr>
              <a:t> is 120. The program prints </a:t>
            </a:r>
            <a:r>
              <a:rPr lang="en-US" sz="2400" dirty="0">
                <a:solidFill>
                  <a:srgbClr val="18324A"/>
                </a:solidFill>
                <a:latin typeface="Consolas"/>
                <a:ea typeface="Consolas"/>
                <a:cs typeface="Consolas"/>
              </a:rPr>
              <a:t>120</a:t>
            </a:r>
            <a:r>
              <a:rPr lang="en-US" sz="2400" dirty="0">
                <a:solidFill>
                  <a:srgbClr val="18324A"/>
                </a:solidFill>
              </a:rPr>
              <a:t>.</a:t>
            </a:r>
            <a:endParaRPr lang="en-US" sz="2400" dirty="0"/>
          </a:p>
        </p:txBody>
      </p:sp>
      <p:sp>
        <p:nvSpPr>
          <p:cNvPr id="9" name="Shape 9"/>
          <p:cNvSpPr/>
          <p:nvPr/>
        </p:nvSpPr>
        <p:spPr>
          <a:xfrm>
            <a:off x="548640" y="1261872"/>
            <a:ext cx="5669280" cy="3413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4149852"/>
            <a:ext cx="566928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4149852"/>
            <a:ext cx="82296" cy="381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413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n = 5;</a:t>
            </a:r>
            <a:endParaRPr lang="en-US" sz="2400" dirty="0"/>
          </a:p>
          <a:p>
            <a:pPr marL="0" indent="0" algn="l">
              <a:lnSpc>
                <a:spcPts val="3000"/>
              </a:lnSpc>
              <a:buNone/>
            </a:pPr>
            <a:r>
              <a:rPr lang="en-US" sz="2400" dirty="0">
                <a:solidFill>
                  <a:srgbClr val="64748B"/>
                </a:solidFill>
                <a:latin typeface="Consolas"/>
                <a:ea typeface="Consolas"/>
                <a:cs typeface="Consolas"/>
              </a:rPr>
              <a:t>int fact = 1;</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for (int i = 1; i &lt;= n; i++) {</a:t>
            </a:r>
            <a:endParaRPr lang="en-US" sz="2400" dirty="0"/>
          </a:p>
          <a:p>
            <a:pPr marL="0" indent="0" algn="l">
              <a:lnSpc>
                <a:spcPts val="3000"/>
              </a:lnSpc>
              <a:buNone/>
            </a:pPr>
            <a:r>
              <a:rPr lang="en-US" sz="2400" dirty="0">
                <a:solidFill>
                  <a:srgbClr val="64748B"/>
                </a:solidFill>
                <a:latin typeface="Consolas"/>
                <a:ea typeface="Consolas"/>
                <a:cs typeface="Consolas"/>
              </a:rPr>
              <a:t>    fact *= i;</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printf("%d\n", fact);</a:t>
            </a:r>
            <a:endParaRPr lang="en-US" sz="2400" dirty="0"/>
          </a:p>
        </p:txBody>
      </p:sp>
      <p:sp>
        <p:nvSpPr>
          <p:cNvPr id="13" name="Shape 13"/>
          <p:cNvSpPr/>
          <p:nvPr/>
        </p:nvSpPr>
        <p:spPr>
          <a:xfrm>
            <a:off x="6492240" y="1261872"/>
            <a:ext cx="77262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264862" y="1261872"/>
            <a:ext cx="141647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fact</a:t>
            </a:r>
            <a:r>
              <a:rPr lang="en-US" sz="1800" b="1" dirty="0">
                <a:solidFill>
                  <a:srgbClr val="FFFFFF"/>
                </a:solidFill>
              </a:rPr>
              <a:t> before</a:t>
            </a:r>
            <a:endParaRPr lang="en-US" sz="1800" dirty="0"/>
          </a:p>
        </p:txBody>
      </p:sp>
      <p:sp>
        <p:nvSpPr>
          <p:cNvPr id="15" name="Shape 15"/>
          <p:cNvSpPr/>
          <p:nvPr/>
        </p:nvSpPr>
        <p:spPr>
          <a:xfrm>
            <a:off x="8681336" y="1261872"/>
            <a:ext cx="154524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fact *= i</a:t>
            </a:r>
            <a:endParaRPr lang="en-US" sz="1800" dirty="0"/>
          </a:p>
        </p:txBody>
      </p:sp>
      <p:sp>
        <p:nvSpPr>
          <p:cNvPr id="16" name="Shape 16"/>
          <p:cNvSpPr/>
          <p:nvPr/>
        </p:nvSpPr>
        <p:spPr>
          <a:xfrm>
            <a:off x="10226581" y="1261872"/>
            <a:ext cx="141647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fact</a:t>
            </a:r>
            <a:r>
              <a:rPr lang="en-US" sz="1800" b="1" dirty="0">
                <a:solidFill>
                  <a:srgbClr val="FFFFFF"/>
                </a:solidFill>
              </a:rPr>
              <a:t> after</a:t>
            </a:r>
            <a:endParaRPr lang="en-US" sz="1800" dirty="0"/>
          </a:p>
        </p:txBody>
      </p:sp>
      <p:sp>
        <p:nvSpPr>
          <p:cNvPr id="17" name="Shape 17"/>
          <p:cNvSpPr/>
          <p:nvPr/>
        </p:nvSpPr>
        <p:spPr>
          <a:xfrm>
            <a:off x="6492240" y="1920240"/>
            <a:ext cx="77262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264862" y="1920240"/>
            <a:ext cx="141647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9" name="Shape 19"/>
          <p:cNvSpPr/>
          <p:nvPr/>
        </p:nvSpPr>
        <p:spPr>
          <a:xfrm>
            <a:off x="8681336" y="1920240"/>
            <a:ext cx="154524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 × 1</a:t>
            </a:r>
            <a:endParaRPr lang="en-US" sz="2400" dirty="0"/>
          </a:p>
        </p:txBody>
      </p:sp>
      <p:sp>
        <p:nvSpPr>
          <p:cNvPr id="20" name="Shape 20"/>
          <p:cNvSpPr/>
          <p:nvPr/>
        </p:nvSpPr>
        <p:spPr>
          <a:xfrm>
            <a:off x="10226581" y="1920240"/>
            <a:ext cx="141647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1" name="Shape 21"/>
          <p:cNvSpPr/>
          <p:nvPr/>
        </p:nvSpPr>
        <p:spPr>
          <a:xfrm>
            <a:off x="6492240" y="2578608"/>
            <a:ext cx="77262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7264862" y="2578608"/>
            <a:ext cx="141647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3" name="Shape 23"/>
          <p:cNvSpPr/>
          <p:nvPr/>
        </p:nvSpPr>
        <p:spPr>
          <a:xfrm>
            <a:off x="8681336" y="2578608"/>
            <a:ext cx="1545245"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 × 2</a:t>
            </a:r>
            <a:endParaRPr lang="en-US" sz="2400" dirty="0"/>
          </a:p>
        </p:txBody>
      </p:sp>
      <p:sp>
        <p:nvSpPr>
          <p:cNvPr id="24" name="Shape 24"/>
          <p:cNvSpPr/>
          <p:nvPr/>
        </p:nvSpPr>
        <p:spPr>
          <a:xfrm>
            <a:off x="10226581" y="2578608"/>
            <a:ext cx="141647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5" name="Shape 25"/>
          <p:cNvSpPr/>
          <p:nvPr/>
        </p:nvSpPr>
        <p:spPr>
          <a:xfrm>
            <a:off x="6492240" y="3236976"/>
            <a:ext cx="77262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7264862" y="3236976"/>
            <a:ext cx="141647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7" name="Shape 27"/>
          <p:cNvSpPr/>
          <p:nvPr/>
        </p:nvSpPr>
        <p:spPr>
          <a:xfrm>
            <a:off x="8681336" y="3236976"/>
            <a:ext cx="154524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 × 3</a:t>
            </a:r>
            <a:endParaRPr lang="en-US" sz="2400" dirty="0"/>
          </a:p>
        </p:txBody>
      </p:sp>
      <p:sp>
        <p:nvSpPr>
          <p:cNvPr id="28" name="Shape 28"/>
          <p:cNvSpPr/>
          <p:nvPr/>
        </p:nvSpPr>
        <p:spPr>
          <a:xfrm>
            <a:off x="10226581" y="3236976"/>
            <a:ext cx="141647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29" name="Shape 29"/>
          <p:cNvSpPr/>
          <p:nvPr/>
        </p:nvSpPr>
        <p:spPr>
          <a:xfrm>
            <a:off x="6492240" y="3895344"/>
            <a:ext cx="772622"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30" name="Shape 30"/>
          <p:cNvSpPr/>
          <p:nvPr/>
        </p:nvSpPr>
        <p:spPr>
          <a:xfrm>
            <a:off x="7264862" y="3895344"/>
            <a:ext cx="141647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31" name="Shape 31"/>
          <p:cNvSpPr/>
          <p:nvPr/>
        </p:nvSpPr>
        <p:spPr>
          <a:xfrm>
            <a:off x="8681336" y="3895344"/>
            <a:ext cx="1545245"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6 × 4</a:t>
            </a:r>
            <a:endParaRPr lang="en-US" sz="2400" dirty="0"/>
          </a:p>
        </p:txBody>
      </p:sp>
      <p:sp>
        <p:nvSpPr>
          <p:cNvPr id="32" name="Shape 32"/>
          <p:cNvSpPr/>
          <p:nvPr/>
        </p:nvSpPr>
        <p:spPr>
          <a:xfrm>
            <a:off x="10226581" y="3895344"/>
            <a:ext cx="141647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24</a:t>
            </a:r>
            <a:endParaRPr lang="en-US" sz="2400" dirty="0"/>
          </a:p>
        </p:txBody>
      </p:sp>
      <p:sp>
        <p:nvSpPr>
          <p:cNvPr id="33" name="Shape 33"/>
          <p:cNvSpPr/>
          <p:nvPr/>
        </p:nvSpPr>
        <p:spPr>
          <a:xfrm>
            <a:off x="6492240" y="4553712"/>
            <a:ext cx="772622"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5</a:t>
            </a:r>
            <a:endParaRPr lang="en-US" sz="2400" dirty="0"/>
          </a:p>
        </p:txBody>
      </p:sp>
      <p:sp>
        <p:nvSpPr>
          <p:cNvPr id="34" name="Shape 34"/>
          <p:cNvSpPr/>
          <p:nvPr/>
        </p:nvSpPr>
        <p:spPr>
          <a:xfrm>
            <a:off x="7264862" y="4553712"/>
            <a:ext cx="141647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24</a:t>
            </a:r>
            <a:endParaRPr lang="en-US" sz="2400" dirty="0"/>
          </a:p>
        </p:txBody>
      </p:sp>
      <p:sp>
        <p:nvSpPr>
          <p:cNvPr id="35" name="Shape 35"/>
          <p:cNvSpPr/>
          <p:nvPr/>
        </p:nvSpPr>
        <p:spPr>
          <a:xfrm>
            <a:off x="8681336" y="4553712"/>
            <a:ext cx="154524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24 × 5</a:t>
            </a:r>
            <a:endParaRPr lang="en-US" sz="2400" dirty="0"/>
          </a:p>
        </p:txBody>
      </p:sp>
      <p:sp>
        <p:nvSpPr>
          <p:cNvPr id="36" name="Shape 36"/>
          <p:cNvSpPr/>
          <p:nvPr/>
        </p:nvSpPr>
        <p:spPr>
          <a:xfrm>
            <a:off x="10226581" y="4553712"/>
            <a:ext cx="141647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120</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Why does fact start at 1?</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66</a:t>
            </a:r>
            <a:endParaRPr lang="en-US" sz="1400" dirty="0"/>
          </a:p>
        </p:txBody>
      </p:sp>
      <p:sp>
        <p:nvSpPr>
          <p:cNvPr id="6" name="Shape 6"/>
          <p:cNvSpPr/>
          <p:nvPr/>
        </p:nvSpPr>
        <p:spPr>
          <a:xfrm>
            <a:off x="548640" y="1261872"/>
            <a:ext cx="2377440" cy="457200"/>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QUESTION</a:t>
            </a:r>
            <a:endParaRPr lang="en-US" sz="1800" dirty="0"/>
          </a:p>
        </p:txBody>
      </p:sp>
      <p:sp>
        <p:nvSpPr>
          <p:cNvPr id="7" name="Shape 7"/>
          <p:cNvSpPr/>
          <p:nvPr/>
        </p:nvSpPr>
        <p:spPr>
          <a:xfrm>
            <a:off x="548640" y="1947672"/>
            <a:ext cx="4937760"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The sum started at 0.</a:t>
            </a:r>
            <a:endParaRPr lang="en-US" sz="3200" dirty="0"/>
          </a:p>
          <a:p>
            <a:pPr marL="0" indent="0" algn="l">
              <a:spcAft>
                <a:spcPts val="600"/>
              </a:spcAft>
              <a:buNone/>
            </a:pPr>
            <a:r>
              <a:rPr lang="en-US" sz="3200" dirty="0">
                <a:solidFill>
                  <a:srgbClr val="18324A"/>
                </a:solidFill>
              </a:rPr>
              <a:t>Why not </a:t>
            </a:r>
            <a:r>
              <a:rPr lang="en-US" sz="3200" dirty="0">
                <a:solidFill>
                  <a:srgbClr val="2F80ED"/>
                </a:solidFill>
                <a:latin typeface="Consolas"/>
                <a:ea typeface="Consolas"/>
                <a:cs typeface="Consolas"/>
              </a:rPr>
              <a:t>int fact = 0;</a:t>
            </a:r>
            <a:r>
              <a:rPr lang="en-US" sz="3200" dirty="0">
                <a:solidFill>
                  <a:srgbClr val="18324A"/>
                </a:solidFill>
              </a:rPr>
              <a:t> ?</a:t>
            </a:r>
            <a:endParaRPr lang="en-US" sz="3200" dirty="0"/>
          </a:p>
        </p:txBody>
      </p:sp>
      <p:sp>
        <p:nvSpPr>
          <p:cNvPr id="8" name="Shape 8"/>
          <p:cNvSpPr/>
          <p:nvPr/>
        </p:nvSpPr>
        <p:spPr>
          <a:xfrm>
            <a:off x="5760720" y="1261872"/>
            <a:ext cx="5882335" cy="36677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1898777"/>
            <a:ext cx="5882335"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189877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36677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n = 5;</a:t>
            </a:r>
            <a:endParaRPr lang="en-US" sz="2600" dirty="0"/>
          </a:p>
          <a:p>
            <a:pPr marL="0" indent="0" algn="l">
              <a:lnSpc>
                <a:spcPts val="3250"/>
              </a:lnSpc>
              <a:buNone/>
            </a:pPr>
            <a:r>
              <a:rPr lang="en-US" sz="2600" dirty="0">
                <a:solidFill>
                  <a:srgbClr val="FFFFFF"/>
                </a:solidFill>
                <a:latin typeface="Consolas"/>
                <a:ea typeface="Consolas"/>
                <a:cs typeface="Consolas"/>
              </a:rPr>
              <a:t>int fact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1; i &lt;= n; i++) {</a:t>
            </a:r>
            <a:endParaRPr lang="en-US" sz="2600" dirty="0"/>
          </a:p>
          <a:p>
            <a:pPr marL="0" indent="0" algn="l">
              <a:lnSpc>
                <a:spcPts val="3250"/>
              </a:lnSpc>
              <a:buNone/>
            </a:pPr>
            <a:r>
              <a:rPr lang="en-US" sz="2600" dirty="0">
                <a:solidFill>
                  <a:srgbClr val="64748B"/>
                </a:solidFill>
                <a:latin typeface="Consolas"/>
                <a:ea typeface="Consolas"/>
                <a:cs typeface="Consolas"/>
              </a:rPr>
              <a:t>    fact *= 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printf("%d\n", fact);</a:t>
            </a:r>
            <a:endParaRPr lang="en-US" sz="2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If fact starts at 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67</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When you </a:t>
            </a:r>
            <a:r>
              <a:rPr lang="en-US" sz="2400" b="1" dirty="0">
                <a:solidFill>
                  <a:srgbClr val="18324A"/>
                </a:solidFill>
              </a:rPr>
              <a:t>add</a:t>
            </a:r>
            <a:r>
              <a:rPr lang="en-US" sz="2400" dirty="0">
                <a:solidFill>
                  <a:srgbClr val="18324A"/>
                </a:solidFill>
              </a:rPr>
              <a:t>, start at 0. When you </a:t>
            </a:r>
            <a:r>
              <a:rPr lang="en-US" sz="2400" b="1" dirty="0">
                <a:solidFill>
                  <a:srgbClr val="18324A"/>
                </a:solidFill>
              </a:rPr>
              <a:t>multiply</a:t>
            </a:r>
            <a:r>
              <a:rPr lang="en-US" sz="2400" dirty="0">
                <a:solidFill>
                  <a:srgbClr val="18324A"/>
                </a:solidFill>
              </a:rPr>
              <a:t>, start at 1.</a:t>
            </a:r>
            <a:endParaRPr lang="en-US" sz="2400" dirty="0"/>
          </a:p>
        </p:txBody>
      </p:sp>
      <p:sp>
        <p:nvSpPr>
          <p:cNvPr id="9" name="Shape 9"/>
          <p:cNvSpPr/>
          <p:nvPr/>
        </p:nvSpPr>
        <p:spPr>
          <a:xfrm>
            <a:off x="548640" y="1261872"/>
            <a:ext cx="6766560" cy="3921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1933702"/>
            <a:ext cx="6766560" cy="444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1933702"/>
            <a:ext cx="82296" cy="444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766560" cy="3921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int n = 5;</a:t>
            </a:r>
            <a:endParaRPr lang="en-US" sz="2800" dirty="0"/>
          </a:p>
          <a:p>
            <a:pPr marL="0" indent="0" algn="l">
              <a:lnSpc>
                <a:spcPts val="3500"/>
              </a:lnSpc>
              <a:buNone/>
            </a:pPr>
            <a:r>
              <a:rPr lang="en-US" sz="2800" dirty="0">
                <a:solidFill>
                  <a:srgbClr val="FFFFFF"/>
                </a:solidFill>
                <a:latin typeface="Consolas"/>
                <a:ea typeface="Consolas"/>
                <a:cs typeface="Consolas"/>
              </a:rPr>
              <a:t>int fact = 0;</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for (int i = 1; i &lt;= n; i++) {</a:t>
            </a:r>
            <a:endParaRPr lang="en-US" sz="2800" dirty="0"/>
          </a:p>
          <a:p>
            <a:pPr marL="0" indent="0" algn="l">
              <a:lnSpc>
                <a:spcPts val="3500"/>
              </a:lnSpc>
              <a:buNone/>
            </a:pPr>
            <a:r>
              <a:rPr lang="en-US" sz="2800" dirty="0">
                <a:solidFill>
                  <a:srgbClr val="64748B"/>
                </a:solidFill>
                <a:latin typeface="Consolas"/>
                <a:ea typeface="Consolas"/>
                <a:cs typeface="Consolas"/>
              </a:rPr>
              <a:t>    fact *= i;</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printf("%d\n", fact);</a:t>
            </a:r>
            <a:endParaRPr lang="en-US" sz="2800" dirty="0"/>
          </a:p>
        </p:txBody>
      </p:sp>
      <p:sp>
        <p:nvSpPr>
          <p:cNvPr id="13" name="Shape 13"/>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4" name="Shape 14"/>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0</a:t>
            </a:r>
            <a:endParaRPr lang="en-US" sz="2400" dirty="0"/>
          </a:p>
        </p:txBody>
      </p:sp>
      <p:sp>
        <p:nvSpPr>
          <p:cNvPr id="16" name="Shape 16"/>
          <p:cNvSpPr/>
          <p:nvPr/>
        </p:nvSpPr>
        <p:spPr>
          <a:xfrm>
            <a:off x="7589520" y="2667000"/>
            <a:ext cx="4053535" cy="68580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589520" y="2667000"/>
            <a:ext cx="109728" cy="68580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699248" y="266700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Anything times 0 is 0.</a:t>
            </a:r>
            <a:endParaRPr lang="en-US" sz="2400" dirty="0"/>
          </a:p>
        </p:txBody>
      </p:sp>
      <p:sp>
        <p:nvSpPr>
          <p:cNvPr id="19" name="Shape 19"/>
          <p:cNvSpPr/>
          <p:nvPr/>
        </p:nvSpPr>
        <p:spPr>
          <a:xfrm>
            <a:off x="7589520" y="3553968"/>
            <a:ext cx="4053535" cy="68580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0" name="Shape 20"/>
          <p:cNvSpPr/>
          <p:nvPr/>
        </p:nvSpPr>
        <p:spPr>
          <a:xfrm>
            <a:off x="7589520" y="3553968"/>
            <a:ext cx="109728" cy="685800"/>
          </a:xfrm>
          <a:prstGeom prst="rect">
            <a:avLst/>
          </a:prstGeom>
          <a:solidFill>
            <a:srgbClr val="FF6B6B"/>
          </a:solidFill>
          <a:ln>
            <a:noFill/>
          </a:ln>
        </p:spPr>
        <p:txBody>
          <a:bodyPr wrap="square" lIns="0" tIns="0" rIns="0" bIns="0" rtlCol="0" anchor="t"/>
          <a:lstStyle/>
          <a:p>
            <a:endParaRPr lang="en-US"/>
          </a:p>
        </p:txBody>
      </p:sp>
      <p:sp>
        <p:nvSpPr>
          <p:cNvPr id="21" name="Callout"/>
          <p:cNvSpPr/>
          <p:nvPr/>
        </p:nvSpPr>
        <p:spPr>
          <a:xfrm>
            <a:off x="7699248" y="3553968"/>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fact</a:t>
            </a:r>
            <a:r>
              <a:rPr lang="en-US" sz="2400" dirty="0">
                <a:solidFill>
                  <a:srgbClr val="18324A"/>
                </a:solidFill>
              </a:rPr>
              <a:t> stays 0 for ever.</a:t>
            </a:r>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Mini-task: read n from the user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68</a:t>
            </a:r>
            <a:endParaRPr lang="en-US" sz="1400" dirty="0"/>
          </a:p>
        </p:txBody>
      </p:sp>
      <p:sp>
        <p:nvSpPr>
          <p:cNvPr id="6" name="Shape 6"/>
          <p:cNvSpPr/>
          <p:nvPr/>
        </p:nvSpPr>
        <p:spPr>
          <a:xfrm>
            <a:off x="548640" y="1261872"/>
            <a:ext cx="6766560" cy="4810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89202"/>
            <a:ext cx="6766560" cy="444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89202"/>
            <a:ext cx="82296" cy="444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267202"/>
            <a:ext cx="6766560" cy="444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267202"/>
            <a:ext cx="82296" cy="4445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4810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FFFFFF"/>
                </a:solidFill>
                <a:latin typeface="Consolas"/>
                <a:ea typeface="Consolas"/>
                <a:cs typeface="Consolas"/>
              </a:rPr>
              <a:t>int n;</a:t>
            </a:r>
            <a:endParaRPr lang="en-US" sz="2800" dirty="0"/>
          </a:p>
          <a:p>
            <a:pPr marL="0" indent="0" algn="l">
              <a:lnSpc>
                <a:spcPts val="3500"/>
              </a:lnSpc>
              <a:buNone/>
            </a:pPr>
            <a:r>
              <a:rPr lang="en-US" sz="2800" dirty="0">
                <a:solidFill>
                  <a:srgbClr val="64748B"/>
                </a:solidFill>
                <a:latin typeface="Consolas"/>
                <a:ea typeface="Consolas"/>
                <a:cs typeface="Consolas"/>
              </a:rPr>
              <a:t>int fact = 1;</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printf("Enter n: ");</a:t>
            </a:r>
            <a:endParaRPr lang="en-US" sz="2800" dirty="0"/>
          </a:p>
          <a:p>
            <a:pPr marL="0" indent="0" algn="l">
              <a:lnSpc>
                <a:spcPts val="3500"/>
              </a:lnSpc>
              <a:buNone/>
            </a:pPr>
            <a:r>
              <a:rPr lang="en-US" sz="2800" dirty="0">
                <a:solidFill>
                  <a:srgbClr val="FFFFFF"/>
                </a:solidFill>
                <a:latin typeface="Consolas"/>
                <a:ea typeface="Consolas"/>
                <a:cs typeface="Consolas"/>
              </a:rPr>
              <a:t>scanf("%d", &amp;n);</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for (int i = 1; i &lt;= n; i++) {</a:t>
            </a:r>
            <a:endParaRPr lang="en-US" sz="2800" dirty="0"/>
          </a:p>
          <a:p>
            <a:pPr marL="0" indent="0" algn="l">
              <a:lnSpc>
                <a:spcPts val="3500"/>
              </a:lnSpc>
              <a:buNone/>
            </a:pPr>
            <a:r>
              <a:rPr lang="en-US" sz="2800" dirty="0">
                <a:solidFill>
                  <a:srgbClr val="64748B"/>
                </a:solidFill>
                <a:latin typeface="Consolas"/>
                <a:ea typeface="Consolas"/>
                <a:cs typeface="Consolas"/>
              </a:rPr>
              <a:t>    fact *= i;</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a:p>
            <a:pPr marL="0" indent="0" algn="l">
              <a:lnSpc>
                <a:spcPts val="3500"/>
              </a:lnSpc>
              <a:buNone/>
            </a:pPr>
            <a:r>
              <a:rPr lang="en-US" sz="2800" dirty="0">
                <a:solidFill>
                  <a:srgbClr val="64748B"/>
                </a:solidFill>
                <a:latin typeface="Consolas"/>
                <a:ea typeface="Consolas"/>
                <a:cs typeface="Consolas"/>
              </a:rPr>
              <a:t>printf("%d! = %d\n", n, fact);</a:t>
            </a:r>
            <a:endParaRPr lang="en-US" sz="2800" dirty="0"/>
          </a:p>
        </p:txBody>
      </p:sp>
      <p:sp>
        <p:nvSpPr>
          <p:cNvPr id="12" name="Shape 12"/>
          <p:cNvSpPr/>
          <p:nvPr/>
        </p:nvSpPr>
        <p:spPr>
          <a:xfrm>
            <a:off x="7589520" y="1261872"/>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3" name="Shape 13"/>
          <p:cNvSpPr/>
          <p:nvPr/>
        </p:nvSpPr>
        <p:spPr>
          <a:xfrm>
            <a:off x="7589520" y="1261872"/>
            <a:ext cx="109728" cy="685800"/>
          </a:xfrm>
          <a:prstGeom prst="rect">
            <a:avLst/>
          </a:prstGeom>
          <a:solidFill>
            <a:srgbClr val="31C48D"/>
          </a:solidFill>
          <a:ln>
            <a:noFill/>
          </a:ln>
        </p:spPr>
        <p:txBody>
          <a:bodyPr wrap="square" lIns="0" tIns="0" rIns="0" bIns="0" rtlCol="0" anchor="t"/>
          <a:lstStyle/>
          <a:p>
            <a:endParaRPr lang="en-US"/>
          </a:p>
        </p:txBody>
      </p:sp>
      <p:sp>
        <p:nvSpPr>
          <p:cNvPr id="14"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Two lines change.</a:t>
            </a:r>
            <a:endParaRPr lang="en-US" sz="2400" dirty="0"/>
          </a:p>
        </p:txBody>
      </p:sp>
      <p:sp>
        <p:nvSpPr>
          <p:cNvPr id="15" name="Shape 15"/>
          <p:cNvSpPr/>
          <p:nvPr/>
        </p:nvSpPr>
        <p:spPr>
          <a:xfrm>
            <a:off x="7589520" y="214884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6" name="Shape 16"/>
          <p:cNvSpPr/>
          <p:nvPr/>
        </p:nvSpPr>
        <p:spPr>
          <a:xfrm>
            <a:off x="7589520" y="2148840"/>
            <a:ext cx="109728" cy="685800"/>
          </a:xfrm>
          <a:prstGeom prst="rect">
            <a:avLst/>
          </a:prstGeom>
          <a:solidFill>
            <a:srgbClr val="31C48D"/>
          </a:solidFill>
          <a:ln>
            <a:noFill/>
          </a:ln>
        </p:spPr>
        <p:txBody>
          <a:bodyPr wrap="square" lIns="0" tIns="0" rIns="0" bIns="0" rtlCol="0" anchor="t"/>
          <a:lstStyle/>
          <a:p>
            <a:endParaRPr lang="en-US"/>
          </a:p>
        </p:txBody>
      </p:sp>
      <p:sp>
        <p:nvSpPr>
          <p:cNvPr id="17" name="Callout"/>
          <p:cNvSpPr/>
          <p:nvPr/>
        </p:nvSpPr>
        <p:spPr>
          <a:xfrm>
            <a:off x="7699248" y="214884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int n;</a:t>
            </a:r>
            <a:r>
              <a:rPr lang="en-US" sz="2400" dirty="0">
                <a:solidFill>
                  <a:srgbClr val="18324A"/>
                </a:solidFill>
              </a:rPr>
              <a:t> and a </a:t>
            </a:r>
            <a:r>
              <a:rPr lang="en-US" sz="2400" dirty="0">
                <a:solidFill>
                  <a:srgbClr val="18324A"/>
                </a:solidFill>
                <a:latin typeface="Consolas"/>
                <a:ea typeface="Consolas"/>
                <a:cs typeface="Consolas"/>
              </a:rPr>
              <a:t>scanf</a:t>
            </a:r>
            <a:r>
              <a:rPr lang="en-US" sz="2400" dirty="0">
                <a:solidFill>
                  <a:srgbClr val="18324A"/>
                </a:solidFill>
              </a:rPr>
              <a:t>.</a:t>
            </a:r>
            <a:endParaRPr 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Now watch the numbers grow</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69</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An </a:t>
            </a:r>
            <a:r>
              <a:rPr lang="en-US" sz="2400" dirty="0">
                <a:solidFill>
                  <a:srgbClr val="18324A"/>
                </a:solidFill>
                <a:latin typeface="Consolas"/>
                <a:ea typeface="Consolas"/>
                <a:cs typeface="Consolas"/>
              </a:rPr>
              <a:t>int</a:t>
            </a:r>
            <a:r>
              <a:rPr lang="en-US" sz="2400" dirty="0">
                <a:solidFill>
                  <a:srgbClr val="18324A"/>
                </a:solidFill>
              </a:rPr>
              <a:t> box has a size: the largest number is 2147483647. 13! does not fit. </a:t>
            </a:r>
            <a:r>
              <a:rPr lang="en-US" sz="2400" b="1" dirty="0">
                <a:solidFill>
                  <a:srgbClr val="18324A"/>
                </a:solidFill>
              </a:rPr>
              <a:t>No error. No warning.</a:t>
            </a:r>
            <a:endParaRPr lang="en-US" sz="2400" dirty="0"/>
          </a:p>
        </p:txBody>
      </p:sp>
      <p:sp>
        <p:nvSpPr>
          <p:cNvPr id="9" name="Shape 9"/>
          <p:cNvSpPr/>
          <p:nvPr/>
        </p:nvSpPr>
        <p:spPr>
          <a:xfrm>
            <a:off x="548640" y="1261872"/>
            <a:ext cx="2773604"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You type</a:t>
            </a:r>
            <a:endParaRPr lang="en-US" sz="1800" dirty="0"/>
          </a:p>
        </p:txBody>
      </p:sp>
      <p:sp>
        <p:nvSpPr>
          <p:cNvPr id="10" name="Shape 10"/>
          <p:cNvSpPr/>
          <p:nvPr/>
        </p:nvSpPr>
        <p:spPr>
          <a:xfrm>
            <a:off x="3322244" y="1261872"/>
            <a:ext cx="5547208"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Screen shows</a:t>
            </a:r>
            <a:endParaRPr lang="en-US" sz="1800" dirty="0"/>
          </a:p>
        </p:txBody>
      </p:sp>
      <p:sp>
        <p:nvSpPr>
          <p:cNvPr id="11" name="Shape 11"/>
          <p:cNvSpPr/>
          <p:nvPr/>
        </p:nvSpPr>
        <p:spPr>
          <a:xfrm>
            <a:off x="8869451" y="1261872"/>
            <a:ext cx="2773604"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Correct?</a:t>
            </a:r>
            <a:endParaRPr lang="en-US" sz="1800" dirty="0"/>
          </a:p>
        </p:txBody>
      </p:sp>
      <p:sp>
        <p:nvSpPr>
          <p:cNvPr id="12" name="Shape 12"/>
          <p:cNvSpPr/>
          <p:nvPr/>
        </p:nvSpPr>
        <p:spPr>
          <a:xfrm>
            <a:off x="548640" y="1882140"/>
            <a:ext cx="2773604"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5</a:t>
            </a:r>
            <a:endParaRPr lang="en-US" sz="2600" dirty="0"/>
          </a:p>
        </p:txBody>
      </p:sp>
      <p:sp>
        <p:nvSpPr>
          <p:cNvPr id="13" name="Shape 13"/>
          <p:cNvSpPr/>
          <p:nvPr/>
        </p:nvSpPr>
        <p:spPr>
          <a:xfrm>
            <a:off x="3322244" y="1882140"/>
            <a:ext cx="554720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5! = 120</a:t>
            </a:r>
            <a:endParaRPr lang="en-US" sz="2600" dirty="0"/>
          </a:p>
        </p:txBody>
      </p:sp>
      <p:sp>
        <p:nvSpPr>
          <p:cNvPr id="14" name="Shape 14"/>
          <p:cNvSpPr/>
          <p:nvPr/>
        </p:nvSpPr>
        <p:spPr>
          <a:xfrm>
            <a:off x="8869451" y="1882140"/>
            <a:ext cx="2773604"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0E9F6E"/>
                </a:solidFill>
              </a:rPr>
              <a:t>yes</a:t>
            </a:r>
            <a:endParaRPr lang="en-US" sz="2600" dirty="0"/>
          </a:p>
        </p:txBody>
      </p:sp>
      <p:sp>
        <p:nvSpPr>
          <p:cNvPr id="15" name="Shape 15"/>
          <p:cNvSpPr/>
          <p:nvPr/>
        </p:nvSpPr>
        <p:spPr>
          <a:xfrm>
            <a:off x="548640" y="2502408"/>
            <a:ext cx="2773604"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10</a:t>
            </a:r>
            <a:endParaRPr lang="en-US" sz="2600" dirty="0"/>
          </a:p>
        </p:txBody>
      </p:sp>
      <p:sp>
        <p:nvSpPr>
          <p:cNvPr id="16" name="Shape 16"/>
          <p:cNvSpPr/>
          <p:nvPr/>
        </p:nvSpPr>
        <p:spPr>
          <a:xfrm>
            <a:off x="3322244" y="2502408"/>
            <a:ext cx="5547208"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10! = 3628800</a:t>
            </a:r>
            <a:endParaRPr lang="en-US" sz="2600" dirty="0"/>
          </a:p>
        </p:txBody>
      </p:sp>
      <p:sp>
        <p:nvSpPr>
          <p:cNvPr id="17" name="Shape 17"/>
          <p:cNvSpPr/>
          <p:nvPr/>
        </p:nvSpPr>
        <p:spPr>
          <a:xfrm>
            <a:off x="8869451" y="2502408"/>
            <a:ext cx="2773604"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0E9F6E"/>
                </a:solidFill>
              </a:rPr>
              <a:t>yes</a:t>
            </a:r>
            <a:endParaRPr lang="en-US" sz="2600" dirty="0"/>
          </a:p>
        </p:txBody>
      </p:sp>
      <p:sp>
        <p:nvSpPr>
          <p:cNvPr id="18" name="Shape 18"/>
          <p:cNvSpPr/>
          <p:nvPr/>
        </p:nvSpPr>
        <p:spPr>
          <a:xfrm>
            <a:off x="548640" y="3122676"/>
            <a:ext cx="2773604"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12</a:t>
            </a:r>
            <a:endParaRPr lang="en-US" sz="2600" dirty="0"/>
          </a:p>
        </p:txBody>
      </p:sp>
      <p:sp>
        <p:nvSpPr>
          <p:cNvPr id="19" name="Shape 19"/>
          <p:cNvSpPr/>
          <p:nvPr/>
        </p:nvSpPr>
        <p:spPr>
          <a:xfrm>
            <a:off x="3322244" y="3122676"/>
            <a:ext cx="554720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12! = 479001600</a:t>
            </a:r>
            <a:endParaRPr lang="en-US" sz="2600" dirty="0"/>
          </a:p>
        </p:txBody>
      </p:sp>
      <p:sp>
        <p:nvSpPr>
          <p:cNvPr id="20" name="Shape 20"/>
          <p:cNvSpPr/>
          <p:nvPr/>
        </p:nvSpPr>
        <p:spPr>
          <a:xfrm>
            <a:off x="8869451" y="3122676"/>
            <a:ext cx="2773604"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0E9F6E"/>
                </a:solidFill>
              </a:rPr>
              <a:t>yes</a:t>
            </a:r>
            <a:endParaRPr lang="en-US" sz="2600" dirty="0"/>
          </a:p>
        </p:txBody>
      </p:sp>
      <p:sp>
        <p:nvSpPr>
          <p:cNvPr id="21" name="Shape 21"/>
          <p:cNvSpPr/>
          <p:nvPr/>
        </p:nvSpPr>
        <p:spPr>
          <a:xfrm>
            <a:off x="548640" y="3742944"/>
            <a:ext cx="2773604"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13</a:t>
            </a:r>
            <a:endParaRPr lang="en-US" sz="2600" dirty="0"/>
          </a:p>
        </p:txBody>
      </p:sp>
      <p:sp>
        <p:nvSpPr>
          <p:cNvPr id="22" name="Shape 22"/>
          <p:cNvSpPr/>
          <p:nvPr/>
        </p:nvSpPr>
        <p:spPr>
          <a:xfrm>
            <a:off x="3322244" y="3742944"/>
            <a:ext cx="5547208"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13! = 1932053504</a:t>
            </a:r>
            <a:endParaRPr lang="en-US" sz="2600" dirty="0"/>
          </a:p>
        </p:txBody>
      </p:sp>
      <p:sp>
        <p:nvSpPr>
          <p:cNvPr id="23" name="Shape 23"/>
          <p:cNvSpPr/>
          <p:nvPr/>
        </p:nvSpPr>
        <p:spPr>
          <a:xfrm>
            <a:off x="8869451" y="3742944"/>
            <a:ext cx="2773604"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600" dirty="0">
                <a:solidFill>
                  <a:srgbClr val="E02424"/>
                </a:solidFill>
              </a:rPr>
              <a:t>no</a:t>
            </a:r>
            <a:endParaRPr lang="en-US" sz="2600" dirty="0"/>
          </a:p>
        </p:txBody>
      </p:sp>
      <p:sp>
        <p:nvSpPr>
          <p:cNvPr id="24" name="Shape 24"/>
          <p:cNvSpPr/>
          <p:nvPr/>
        </p:nvSpPr>
        <p:spPr>
          <a:xfrm>
            <a:off x="548640" y="4363212"/>
            <a:ext cx="2773604"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17</a:t>
            </a:r>
            <a:endParaRPr lang="en-US" sz="2600" dirty="0"/>
          </a:p>
        </p:txBody>
      </p:sp>
      <p:sp>
        <p:nvSpPr>
          <p:cNvPr id="25" name="Shape 25"/>
          <p:cNvSpPr/>
          <p:nvPr/>
        </p:nvSpPr>
        <p:spPr>
          <a:xfrm>
            <a:off x="3322244" y="4363212"/>
            <a:ext cx="5547208"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17! = -288522240</a:t>
            </a:r>
            <a:endParaRPr lang="en-US" sz="2600" dirty="0"/>
          </a:p>
        </p:txBody>
      </p:sp>
      <p:sp>
        <p:nvSpPr>
          <p:cNvPr id="26" name="Shape 26"/>
          <p:cNvSpPr/>
          <p:nvPr/>
        </p:nvSpPr>
        <p:spPr>
          <a:xfrm>
            <a:off x="8869451" y="4363212"/>
            <a:ext cx="2773604"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E02424"/>
                </a:solidFill>
              </a:rPr>
              <a:t>no</a:t>
            </a:r>
            <a:endParaRPr lang="en-US" sz="2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2F80ED"/>
          </a:solidFill>
          <a:ln>
            <a:noFill/>
          </a:ln>
        </p:spPr>
        <p:txBody>
          <a:bodyPr wrap="square" lIns="0" tIns="0" rIns="0" bIns="0" rtlCol="0" anchor="ctr"/>
          <a:lstStyle/>
          <a:p>
            <a:pPr marL="0" indent="0" algn="ctr">
              <a:buNone/>
            </a:pPr>
            <a:r>
              <a:rPr lang="en-US" sz="5400" b="1" dirty="0">
                <a:solidFill>
                  <a:srgbClr val="FFFFFF"/>
                </a:solidFill>
              </a:rPr>
              <a:t>7</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Common Week 3 bugs</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Small-looking, but they change the whole result</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Common Week 3 bugs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71</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Missing update</a:t>
            </a:r>
            <a:r>
              <a:rPr lang="en-US" sz="2800" dirty="0">
                <a:solidFill>
                  <a:srgbClr val="18324A"/>
                </a:solidFill>
              </a:rPr>
              <a:t>: the loop never stops</a:t>
            </a:r>
            <a:endParaRPr lang="en-US" sz="2800" dirty="0"/>
          </a:p>
        </p:txBody>
      </p:sp>
      <p:sp>
        <p:nvSpPr>
          <p:cNvPr id="8" name="Shape 8"/>
          <p:cNvSpPr/>
          <p:nvPr/>
        </p:nvSpPr>
        <p:spPr>
          <a:xfrm>
            <a:off x="731520" y="2141220"/>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141220"/>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Wrong comparison</a:t>
            </a:r>
            <a:r>
              <a:rPr lang="en-US" sz="2800" dirty="0">
                <a:solidFill>
                  <a:srgbClr val="18324A"/>
                </a:solidFill>
              </a:rPr>
              <a:t>: </a:t>
            </a:r>
            <a:r>
              <a:rPr lang="en-US" sz="2800" dirty="0">
                <a:solidFill>
                  <a:srgbClr val="2F80ED"/>
                </a:solidFill>
                <a:latin typeface="Consolas"/>
                <a:ea typeface="Consolas"/>
                <a:cs typeface="Consolas"/>
              </a:rPr>
              <a:t>&lt;</a:t>
            </a:r>
            <a:r>
              <a:rPr lang="en-US" sz="2800" dirty="0">
                <a:solidFill>
                  <a:srgbClr val="18324A"/>
                </a:solidFill>
              </a:rPr>
              <a:t> against </a:t>
            </a:r>
            <a:r>
              <a:rPr lang="en-US" sz="2800" dirty="0">
                <a:solidFill>
                  <a:srgbClr val="2F80ED"/>
                </a:solidFill>
                <a:latin typeface="Consolas"/>
                <a:ea typeface="Consolas"/>
                <a:cs typeface="Consolas"/>
              </a:rPr>
              <a:t>&lt;=</a:t>
            </a:r>
            <a:endParaRPr lang="en-US" sz="2800" dirty="0"/>
          </a:p>
        </p:txBody>
      </p:sp>
      <p:sp>
        <p:nvSpPr>
          <p:cNvPr id="10" name="Shape 10"/>
          <p:cNvSpPr/>
          <p:nvPr/>
        </p:nvSpPr>
        <p:spPr>
          <a:xfrm>
            <a:off x="731520" y="2974848"/>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2974848"/>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Resetting inside the loop</a:t>
            </a:r>
            <a:r>
              <a:rPr lang="en-US" sz="2800" dirty="0">
                <a:solidFill>
                  <a:srgbClr val="18324A"/>
                </a:solidFill>
              </a:rPr>
              <a:t>: the total is lost</a:t>
            </a:r>
            <a:endParaRPr lang="en-US" sz="2800" dirty="0"/>
          </a:p>
        </p:txBody>
      </p:sp>
      <p:sp>
        <p:nvSpPr>
          <p:cNvPr id="12" name="Shape 12"/>
          <p:cNvSpPr/>
          <p:nvPr/>
        </p:nvSpPr>
        <p:spPr>
          <a:xfrm>
            <a:off x="731520" y="3808476"/>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3808476"/>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Semicolon after the loop</a:t>
            </a:r>
            <a:r>
              <a:rPr lang="en-US" sz="2800" dirty="0">
                <a:solidFill>
                  <a:srgbClr val="18324A"/>
                </a:solidFill>
              </a:rPr>
              <a:t>: an empty loop</a:t>
            </a:r>
            <a:endParaRPr lang="en-US" sz="2800" dirty="0"/>
          </a:p>
        </p:txBody>
      </p:sp>
      <p:sp>
        <p:nvSpPr>
          <p:cNvPr id="14" name="Shape 14"/>
          <p:cNvSpPr/>
          <p:nvPr/>
        </p:nvSpPr>
        <p:spPr>
          <a:xfrm>
            <a:off x="731520" y="4642104"/>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642104"/>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a:t>
            </a:r>
            <a:r>
              <a:rPr lang="en-US" sz="2800" dirty="0">
                <a:solidFill>
                  <a:srgbClr val="18324A"/>
                </a:solidFill>
              </a:rPr>
              <a:t> instead of </a:t>
            </a:r>
            <a:r>
              <a:rPr lang="en-US" sz="2800" dirty="0">
                <a:solidFill>
                  <a:srgbClr val="2F80ED"/>
                </a:solidFill>
                <a:latin typeface="Consolas"/>
                <a:ea typeface="Consolas"/>
                <a:cs typeface="Consolas"/>
              </a:rPr>
              <a:t>==</a:t>
            </a:r>
            <a:r>
              <a:rPr lang="en-US" sz="2800" dirty="0">
                <a:solidFill>
                  <a:srgbClr val="18324A"/>
                </a:solidFill>
              </a:rPr>
              <a:t>: an assignment, not a question</a:t>
            </a:r>
            <a:endParaRPr lang="en-US" sz="2800" dirty="0"/>
          </a:p>
        </p:txBody>
      </p:sp>
      <p:sp>
        <p:nvSpPr>
          <p:cNvPr id="16" name="Shape 16"/>
          <p:cNvSpPr/>
          <p:nvPr/>
        </p:nvSpPr>
        <p:spPr>
          <a:xfrm>
            <a:off x="731520" y="5475732"/>
            <a:ext cx="640080" cy="640080"/>
          </a:xfrm>
          <a:prstGeom prst="rect">
            <a:avLst/>
          </a:prstGeom>
          <a:solidFill>
            <a:srgbClr val="06B6D4"/>
          </a:solidFill>
          <a:ln>
            <a:noFill/>
          </a:ln>
        </p:spPr>
        <p:txBody>
          <a:bodyPr wrap="square" lIns="0" tIns="0" rIns="0" bIns="0" rtlCol="0" anchor="ctr"/>
          <a:lstStyle/>
          <a:p>
            <a:pPr marL="0" indent="0" algn="ctr">
              <a:buNone/>
            </a:pPr>
            <a:r>
              <a:rPr lang="en-US" sz="2400" b="1" dirty="0">
                <a:solidFill>
                  <a:srgbClr val="FFFFFF"/>
                </a:solidFill>
              </a:rPr>
              <a:t>6</a:t>
            </a:r>
            <a:endParaRPr lang="en-US" sz="2400" dirty="0"/>
          </a:p>
        </p:txBody>
      </p:sp>
      <p:sp>
        <p:nvSpPr>
          <p:cNvPr id="17" name="Shape 17"/>
          <p:cNvSpPr/>
          <p:nvPr/>
        </p:nvSpPr>
        <p:spPr>
          <a:xfrm>
            <a:off x="1691640" y="547573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Bad starting value</a:t>
            </a:r>
            <a:r>
              <a:rPr lang="en-US" sz="2800" dirty="0">
                <a:solidFill>
                  <a:srgbClr val="18324A"/>
                </a:solidFill>
              </a:rPr>
              <a:t>: </a:t>
            </a:r>
            <a:r>
              <a:rPr lang="en-US" sz="2800" dirty="0">
                <a:solidFill>
                  <a:srgbClr val="2F80ED"/>
                </a:solidFill>
                <a:latin typeface="Consolas"/>
                <a:ea typeface="Consolas"/>
                <a:cs typeface="Consolas"/>
              </a:rPr>
              <a:t>i</a:t>
            </a:r>
            <a:r>
              <a:rPr lang="en-US" sz="2800" dirty="0">
                <a:solidFill>
                  <a:srgbClr val="18324A"/>
                </a:solidFill>
              </a:rPr>
              <a:t> or </a:t>
            </a:r>
            <a:r>
              <a:rPr lang="en-US" sz="2800" dirty="0">
                <a:solidFill>
                  <a:srgbClr val="2F80ED"/>
                </a:solidFill>
                <a:latin typeface="Consolas"/>
                <a:ea typeface="Consolas"/>
                <a:cs typeface="Consolas"/>
              </a:rPr>
              <a:t>fact</a:t>
            </a:r>
            <a:r>
              <a:rPr lang="en-US" sz="2800" dirty="0">
                <a:solidFill>
                  <a:srgbClr val="18324A"/>
                </a:solidFill>
              </a:rPr>
              <a:t> starts wrong</a:t>
            </a:r>
            <a:endParaRPr lang="en-US" sz="2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semicolon bug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72</a:t>
            </a:r>
            <a:endParaRPr lang="en-US" sz="1400" dirty="0"/>
          </a:p>
        </p:txBody>
      </p:sp>
      <p:sp>
        <p:nvSpPr>
          <p:cNvPr id="6" name="Shape 6"/>
          <p:cNvSpPr/>
          <p:nvPr/>
        </p:nvSpPr>
        <p:spPr>
          <a:xfrm>
            <a:off x="548640" y="1261872"/>
            <a:ext cx="2377440" cy="457200"/>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CAREFUL</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One character too many.</a:t>
            </a:r>
            <a:endParaRPr lang="en-US" sz="3200" dirty="0"/>
          </a:p>
          <a:p>
            <a:pPr marL="0" indent="0" algn="l">
              <a:spcAft>
                <a:spcPts val="600"/>
              </a:spcAft>
              <a:buNone/>
            </a:pPr>
            <a:r>
              <a:rPr lang="en-US" sz="3200" dirty="0">
                <a:solidFill>
                  <a:srgbClr val="18324A"/>
                </a:solidFill>
              </a:rPr>
              <a:t>What do you expect on the screen?</a:t>
            </a:r>
            <a:endParaRPr lang="en-US" sz="3200" dirty="0"/>
          </a:p>
        </p:txBody>
      </p:sp>
      <p:sp>
        <p:nvSpPr>
          <p:cNvPr id="8" name="Shape 8"/>
          <p:cNvSpPr/>
          <p:nvPr/>
        </p:nvSpPr>
        <p:spPr>
          <a:xfrm>
            <a:off x="5760720" y="1261872"/>
            <a:ext cx="5882335" cy="3032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i;</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for (i = 1; i &lt;= 5; i++);</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a:p>
            <a:pPr marL="0" indent="0" algn="l">
              <a:lnSpc>
                <a:spcPts val="3500"/>
              </a:lnSpc>
              <a:buNone/>
            </a:pPr>
            <a:r>
              <a:rPr lang="en-US" sz="2800" dirty="0">
                <a:solidFill>
                  <a:srgbClr val="E5E7EB"/>
                </a:solidFill>
                <a:latin typeface="Consolas"/>
                <a:ea typeface="Consolas"/>
                <a:cs typeface="Consolas"/>
              </a:rPr>
              <a:t>    printf("%d\n", i);</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semicolon bug: it prints 6, once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73</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F59E0B"/>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gcc -Wall warns: </a:t>
            </a:r>
            <a:r>
              <a:rPr lang="en-US" sz="2400" dirty="0">
                <a:solidFill>
                  <a:srgbClr val="18324A"/>
                </a:solidFill>
                <a:latin typeface="Consolas"/>
                <a:ea typeface="Consolas"/>
                <a:cs typeface="Consolas"/>
              </a:rPr>
              <a:t>this 'for' clause does not guard...</a:t>
            </a:r>
            <a:r>
              <a:rPr lang="en-US" sz="2400" dirty="0">
                <a:solidFill>
                  <a:srgbClr val="18324A"/>
                </a:solidFill>
              </a:rPr>
              <a:t> Read your warnings.</a:t>
            </a:r>
            <a:endParaRPr lang="en-US" sz="2400" dirty="0"/>
          </a:p>
        </p:txBody>
      </p:sp>
      <p:sp>
        <p:nvSpPr>
          <p:cNvPr id="9" name="Shape 9"/>
          <p:cNvSpPr/>
          <p:nvPr/>
        </p:nvSpPr>
        <p:spPr>
          <a:xfrm>
            <a:off x="548640" y="1261872"/>
            <a:ext cx="6766560" cy="3413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511552"/>
            <a:ext cx="6766560" cy="508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511552"/>
            <a:ext cx="82296" cy="508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766560" cy="3413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int i;</a:t>
            </a:r>
            <a:endParaRPr lang="en-US" sz="3200" dirty="0"/>
          </a:p>
          <a:p>
            <a:pPr marL="0" indent="0" algn="l">
              <a:lnSpc>
                <a:spcPts val="4000"/>
              </a:lnSpc>
              <a:buNone/>
            </a:pPr>
            <a:r>
              <a:rPr lang="en-US" sz="3200" dirty="0">
                <a:solidFill>
                  <a:srgbClr val="64748B"/>
                </a:solidFill>
                <a:latin typeface="Consolas"/>
                <a:ea typeface="Consolas"/>
                <a:cs typeface="Consolas"/>
              </a:rPr>
              <a:t> </a:t>
            </a:r>
            <a:endParaRPr lang="en-US" sz="3200" dirty="0"/>
          </a:p>
          <a:p>
            <a:pPr marL="0" indent="0" algn="l">
              <a:lnSpc>
                <a:spcPts val="4000"/>
              </a:lnSpc>
              <a:buNone/>
            </a:pPr>
            <a:r>
              <a:rPr lang="en-US" sz="3200" dirty="0">
                <a:solidFill>
                  <a:srgbClr val="FFFFFF"/>
                </a:solidFill>
                <a:latin typeface="Consolas"/>
                <a:ea typeface="Consolas"/>
                <a:cs typeface="Consolas"/>
              </a:rPr>
              <a:t>for (i = 1; i &lt;= 5; i++);</a:t>
            </a:r>
            <a:endParaRPr lang="en-US" sz="3200" dirty="0"/>
          </a:p>
          <a:p>
            <a:pPr marL="0" indent="0" algn="l">
              <a:lnSpc>
                <a:spcPts val="4000"/>
              </a:lnSpc>
              <a:buNone/>
            </a:pPr>
            <a:r>
              <a:rPr lang="en-US" sz="3200" dirty="0">
                <a:solidFill>
                  <a:srgbClr val="64748B"/>
                </a:solidFill>
                <a:latin typeface="Consolas"/>
                <a:ea typeface="Consolas"/>
                <a:cs typeface="Consolas"/>
              </a:rPr>
              <a:t>{</a:t>
            </a:r>
            <a:endParaRPr lang="en-US" sz="3200" dirty="0"/>
          </a:p>
          <a:p>
            <a:pPr marL="0" indent="0" algn="l">
              <a:lnSpc>
                <a:spcPts val="4000"/>
              </a:lnSpc>
              <a:buNone/>
            </a:pPr>
            <a:r>
              <a:rPr lang="en-US" sz="3200" dirty="0">
                <a:solidFill>
                  <a:srgbClr val="64748B"/>
                </a:solidFill>
                <a:latin typeface="Consolas"/>
                <a:ea typeface="Consolas"/>
                <a:cs typeface="Consolas"/>
              </a:rPr>
              <a:t>    printf("%d\n", i);</a:t>
            </a:r>
            <a:endParaRPr lang="en-US" sz="3200" dirty="0"/>
          </a:p>
          <a:p>
            <a:pPr marL="0" indent="0" algn="l">
              <a:lnSpc>
                <a:spcPts val="4000"/>
              </a:lnSpc>
              <a:buNone/>
            </a:pPr>
            <a:r>
              <a:rPr lang="en-US" sz="3200" dirty="0">
                <a:solidFill>
                  <a:srgbClr val="64748B"/>
                </a:solidFill>
                <a:latin typeface="Consolas"/>
                <a:ea typeface="Consolas"/>
                <a:cs typeface="Consolas"/>
              </a:rPr>
              <a:t>}</a:t>
            </a:r>
            <a:endParaRPr lang="en-US" sz="3200" dirty="0"/>
          </a:p>
        </p:txBody>
      </p:sp>
      <p:sp>
        <p:nvSpPr>
          <p:cNvPr id="13" name="Shape 13"/>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4" name="Shape 14"/>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6</a:t>
            </a:r>
            <a:endParaRPr lang="en-US" sz="2400" dirty="0"/>
          </a:p>
        </p:txBody>
      </p:sp>
      <p:sp>
        <p:nvSpPr>
          <p:cNvPr id="16" name="Shape 16"/>
          <p:cNvSpPr/>
          <p:nvPr/>
        </p:nvSpPr>
        <p:spPr>
          <a:xfrm>
            <a:off x="7589520" y="26670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589520" y="2667000"/>
            <a:ext cx="109728" cy="105156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a:t>
            </a:r>
            <a:r>
              <a:rPr lang="en-US" sz="2400" dirty="0">
                <a:solidFill>
                  <a:srgbClr val="18324A"/>
                </a:solidFill>
                <a:latin typeface="Consolas"/>
                <a:ea typeface="Consolas"/>
                <a:cs typeface="Consolas"/>
              </a:rPr>
              <a:t>;</a:t>
            </a:r>
            <a:r>
              <a:rPr lang="en-US" sz="2400" dirty="0">
                <a:solidFill>
                  <a:srgbClr val="18324A"/>
                </a:solidFill>
              </a:rPr>
              <a:t> </a:t>
            </a:r>
            <a:r>
              <a:rPr lang="en-US" sz="2400" b="1" dirty="0">
                <a:solidFill>
                  <a:srgbClr val="18324A"/>
                </a:solidFill>
              </a:rPr>
              <a:t>is</a:t>
            </a:r>
            <a:r>
              <a:rPr lang="en-US" sz="2400" dirty="0">
                <a:solidFill>
                  <a:srgbClr val="18324A"/>
                </a:solidFill>
              </a:rPr>
              <a:t> the body: do nothing, five times.</a:t>
            </a:r>
            <a:endParaRPr lang="en-US" sz="2400" dirty="0"/>
          </a:p>
        </p:txBody>
      </p:sp>
      <p:sp>
        <p:nvSpPr>
          <p:cNvPr id="19" name="Shape 19"/>
          <p:cNvSpPr/>
          <p:nvPr/>
        </p:nvSpPr>
        <p:spPr>
          <a:xfrm>
            <a:off x="7589520" y="3919728"/>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0" name="Shape 20"/>
          <p:cNvSpPr/>
          <p:nvPr/>
        </p:nvSpPr>
        <p:spPr>
          <a:xfrm>
            <a:off x="7589520" y="3919728"/>
            <a:ext cx="109728" cy="1051560"/>
          </a:xfrm>
          <a:prstGeom prst="rect">
            <a:avLst/>
          </a:prstGeom>
          <a:solidFill>
            <a:srgbClr val="FF6B6B"/>
          </a:solidFill>
          <a:ln>
            <a:noFill/>
          </a:ln>
        </p:spPr>
        <p:txBody>
          <a:bodyPr wrap="square" lIns="0" tIns="0" rIns="0" bIns="0" rtlCol="0" anchor="t"/>
          <a:lstStyle/>
          <a:p>
            <a:endParaRPr lang="en-US"/>
          </a:p>
        </p:txBody>
      </p:sp>
      <p:sp>
        <p:nvSpPr>
          <p:cNvPr id="21" name="Callout"/>
          <p:cNvSpPr/>
          <p:nvPr/>
        </p:nvSpPr>
        <p:spPr>
          <a:xfrm>
            <a:off x="7699248" y="3919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Then </a:t>
            </a:r>
            <a:r>
              <a:rPr lang="en-US" sz="2400" dirty="0">
                <a:solidFill>
                  <a:srgbClr val="18324A"/>
                </a:solidFill>
                <a:latin typeface="Consolas"/>
                <a:ea typeface="Consolas"/>
                <a:cs typeface="Consolas"/>
              </a:rPr>
              <a:t>i</a:t>
            </a:r>
            <a:r>
              <a:rPr lang="en-US" sz="2400" dirty="0">
                <a:solidFill>
                  <a:srgbClr val="18324A"/>
                </a:solidFill>
              </a:rPr>
              <a:t> is 6. The block runs once.</a:t>
            </a:r>
            <a:endParaRPr lang="en-US"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 instead of == inside a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74</a:t>
            </a:r>
            <a:endParaRPr lang="en-US" sz="1400" dirty="0"/>
          </a:p>
        </p:txBody>
      </p:sp>
      <p:sp>
        <p:nvSpPr>
          <p:cNvPr id="6" name="Shape 6"/>
          <p:cNvSpPr/>
          <p:nvPr/>
        </p:nvSpPr>
        <p:spPr>
          <a:xfrm>
            <a:off x="548640" y="1261872"/>
            <a:ext cx="6766560" cy="2588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933702"/>
            <a:ext cx="6766560" cy="444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933702"/>
            <a:ext cx="82296" cy="444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25882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for (int i = 1; i &lt;= 5; i++) {</a:t>
            </a:r>
            <a:endParaRPr lang="en-US" sz="2800" dirty="0"/>
          </a:p>
          <a:p>
            <a:pPr marL="0" indent="0" algn="l">
              <a:lnSpc>
                <a:spcPts val="3500"/>
              </a:lnSpc>
              <a:buNone/>
            </a:pPr>
            <a:r>
              <a:rPr lang="en-US" sz="2800" dirty="0">
                <a:solidFill>
                  <a:srgbClr val="FFFFFF"/>
                </a:solidFill>
                <a:latin typeface="Consolas"/>
                <a:ea typeface="Consolas"/>
                <a:cs typeface="Consolas"/>
              </a:rPr>
              <a:t>    if (i = 3) {</a:t>
            </a:r>
            <a:endParaRPr lang="en-US" sz="2800" dirty="0"/>
          </a:p>
          <a:p>
            <a:pPr marL="0" indent="0" algn="l">
              <a:lnSpc>
                <a:spcPts val="3500"/>
              </a:lnSpc>
              <a:buNone/>
            </a:pPr>
            <a:r>
              <a:rPr lang="en-US" sz="2800" dirty="0">
                <a:solidFill>
                  <a:srgbClr val="64748B"/>
                </a:solidFill>
                <a:latin typeface="Consolas"/>
                <a:ea typeface="Consolas"/>
                <a:cs typeface="Consolas"/>
              </a:rPr>
              <a:t>        printf("three\n");</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64748B"/>
                </a:solidFill>
                <a:latin typeface="Consolas"/>
                <a:ea typeface="Consolas"/>
                <a:cs typeface="Consolas"/>
              </a:rPr>
              <a:t>}</a:t>
            </a:r>
            <a:endParaRPr lang="en-US" sz="2800" dirty="0"/>
          </a:p>
        </p:txBody>
      </p:sp>
      <p:sp>
        <p:nvSpPr>
          <p:cNvPr id="10" name="Shape 10"/>
          <p:cNvSpPr/>
          <p:nvPr/>
        </p:nvSpPr>
        <p:spPr>
          <a:xfrm>
            <a:off x="7589520" y="1261872"/>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1" name="Shape 11"/>
          <p:cNvSpPr/>
          <p:nvPr/>
        </p:nvSpPr>
        <p:spPr>
          <a:xfrm>
            <a:off x="7589520" y="1261872"/>
            <a:ext cx="109728" cy="1051560"/>
          </a:xfrm>
          <a:prstGeom prst="rect">
            <a:avLst/>
          </a:prstGeom>
          <a:solidFill>
            <a:srgbClr val="FF6B6B"/>
          </a:solidFill>
          <a:ln>
            <a:noFill/>
          </a:ln>
        </p:spPr>
        <p:txBody>
          <a:bodyPr wrap="square" lIns="0" tIns="0" rIns="0" bIns="0" rtlCol="0" anchor="t"/>
          <a:lstStyle/>
          <a:p>
            <a:endParaRPr lang="en-US"/>
          </a:p>
        </p:txBody>
      </p:sp>
      <p:sp>
        <p:nvSpPr>
          <p:cNvPr id="12"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 = 3</a:t>
            </a:r>
            <a:r>
              <a:rPr lang="en-US" sz="2400" dirty="0">
                <a:solidFill>
                  <a:srgbClr val="18324A"/>
                </a:solidFill>
              </a:rPr>
              <a:t> puts 3 into </a:t>
            </a:r>
            <a:r>
              <a:rPr lang="en-US" sz="2400" dirty="0">
                <a:solidFill>
                  <a:srgbClr val="18324A"/>
                </a:solidFill>
                <a:latin typeface="Consolas"/>
                <a:ea typeface="Consolas"/>
                <a:cs typeface="Consolas"/>
              </a:rPr>
              <a:t>i</a:t>
            </a:r>
            <a:r>
              <a:rPr lang="en-US" sz="2400" dirty="0">
                <a:solidFill>
                  <a:srgbClr val="18324A"/>
                </a:solidFill>
              </a:rPr>
              <a:t>. </a:t>
            </a:r>
            <a:r>
              <a:rPr lang="en-US" sz="2400" b="1" dirty="0">
                <a:solidFill>
                  <a:srgbClr val="18324A"/>
                </a:solidFill>
              </a:rPr>
              <a:t>Every round.</a:t>
            </a:r>
            <a:endParaRPr lang="en-US" sz="2400" dirty="0"/>
          </a:p>
        </p:txBody>
      </p:sp>
      <p:sp>
        <p:nvSpPr>
          <p:cNvPr id="13" name="Shape 13"/>
          <p:cNvSpPr/>
          <p:nvPr/>
        </p:nvSpPr>
        <p:spPr>
          <a:xfrm>
            <a:off x="7589520" y="25146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4" name="Shape 14"/>
          <p:cNvSpPr/>
          <p:nvPr/>
        </p:nvSpPr>
        <p:spPr>
          <a:xfrm>
            <a:off x="7589520" y="2514600"/>
            <a:ext cx="109728" cy="1051560"/>
          </a:xfrm>
          <a:prstGeom prst="rect">
            <a:avLst/>
          </a:prstGeom>
          <a:solidFill>
            <a:srgbClr val="FF6B6B"/>
          </a:solidFill>
          <a:ln>
            <a:noFill/>
          </a:ln>
        </p:spPr>
        <p:txBody>
          <a:bodyPr wrap="square" lIns="0" tIns="0" rIns="0" bIns="0" rtlCol="0" anchor="t"/>
          <a:lstStyle/>
          <a:p>
            <a:endParaRPr lang="en-US"/>
          </a:p>
        </p:txBody>
      </p:sp>
      <p:sp>
        <p:nvSpPr>
          <p:cNvPr id="15"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a:t>
            </a:r>
            <a:r>
              <a:rPr lang="en-US" sz="2400" dirty="0">
                <a:solidFill>
                  <a:srgbClr val="18324A"/>
                </a:solidFill>
              </a:rPr>
              <a:t> never gets past 3. The loop never ends.</a:t>
            </a:r>
            <a:endParaRPr lang="en-US" sz="2400" dirty="0"/>
          </a:p>
        </p:txBody>
      </p:sp>
      <p:sp>
        <p:nvSpPr>
          <p:cNvPr id="16" name="Shape 16"/>
          <p:cNvSpPr/>
          <p:nvPr/>
        </p:nvSpPr>
        <p:spPr>
          <a:xfrm>
            <a:off x="7589520" y="3767328"/>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7" name="Shape 17"/>
          <p:cNvSpPr/>
          <p:nvPr/>
        </p:nvSpPr>
        <p:spPr>
          <a:xfrm>
            <a:off x="7589520" y="3767328"/>
            <a:ext cx="109728" cy="1051560"/>
          </a:xfrm>
          <a:prstGeom prst="rect">
            <a:avLst/>
          </a:prstGeom>
          <a:solidFill>
            <a:srgbClr val="31C48D"/>
          </a:solidFill>
          <a:ln>
            <a:noFill/>
          </a:ln>
        </p:spPr>
        <p:txBody>
          <a:bodyPr wrap="square" lIns="0" tIns="0" rIns="0" bIns="0" rtlCol="0" anchor="t"/>
          <a:lstStyle/>
          <a:p>
            <a:endParaRPr lang="en-US"/>
          </a:p>
        </p:txBody>
      </p:sp>
      <p:sp>
        <p:nvSpPr>
          <p:cNvPr id="18" name="Callout"/>
          <p:cNvSpPr/>
          <p:nvPr/>
        </p:nvSpPr>
        <p:spPr>
          <a:xfrm>
            <a:off x="7699248" y="37673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Ctrl+C. In a condition: always </a:t>
            </a:r>
            <a:r>
              <a:rPr lang="en-US" sz="2400" dirty="0">
                <a:solidFill>
                  <a:srgbClr val="18324A"/>
                </a:solidFill>
                <a:latin typeface="Consolas"/>
                <a:ea typeface="Consolas"/>
                <a:cs typeface="Consolas"/>
              </a:rPr>
              <a:t>==</a:t>
            </a:r>
            <a:r>
              <a:rPr lang="en-US" sz="2400" dirty="0">
                <a:solidFill>
                  <a:srgbClr val="18324A"/>
                </a:solidFill>
              </a:rPr>
              <a:t>.</a:t>
            </a:r>
            <a:endParaRPr 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Two loops that never stop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75</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Left: prints </a:t>
            </a:r>
            <a:r>
              <a:rPr lang="en-US" sz="2400" dirty="0">
                <a:solidFill>
                  <a:srgbClr val="18324A"/>
                </a:solidFill>
                <a:latin typeface="Consolas"/>
                <a:ea typeface="Consolas"/>
                <a:cs typeface="Consolas"/>
              </a:rPr>
              <a:t>1</a:t>
            </a:r>
            <a:r>
              <a:rPr lang="en-US" sz="2400" dirty="0">
                <a:solidFill>
                  <a:srgbClr val="18324A"/>
                </a:solidFill>
              </a:rPr>
              <a:t> for ever, and gcc says nothing. Right: prints nothing and hangs. Both: </a:t>
            </a:r>
            <a:r>
              <a:rPr lang="en-US" sz="2400" b="1" dirty="0">
                <a:solidFill>
                  <a:srgbClr val="18324A"/>
                </a:solidFill>
              </a:rPr>
              <a:t>Ctrl+C</a:t>
            </a:r>
            <a:r>
              <a:rPr lang="en-US" sz="2400" dirty="0">
                <a:solidFill>
                  <a:srgbClr val="18324A"/>
                </a:solidFill>
              </a:rPr>
              <a:t>.</a:t>
            </a:r>
            <a:endParaRPr lang="en-US" sz="2400" dirty="0"/>
          </a:p>
        </p:txBody>
      </p:sp>
      <p:sp>
        <p:nvSpPr>
          <p:cNvPr id="9" name="Shape 9"/>
          <p:cNvSpPr/>
          <p:nvPr/>
        </p:nvSpPr>
        <p:spPr>
          <a:xfrm>
            <a:off x="548640" y="1261872"/>
            <a:ext cx="5364328" cy="384048"/>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Missing update</a:t>
            </a:r>
            <a:endParaRPr lang="en-US" sz="1800" dirty="0"/>
          </a:p>
        </p:txBody>
      </p:sp>
      <p:sp>
        <p:nvSpPr>
          <p:cNvPr id="10" name="Shape 10"/>
          <p:cNvSpPr/>
          <p:nvPr/>
        </p:nvSpPr>
        <p:spPr>
          <a:xfrm>
            <a:off x="548640" y="1645920"/>
            <a:ext cx="5364328" cy="242951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24295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int i = 1;</a:t>
            </a:r>
            <a:endParaRPr lang="en-US" sz="2600" dirty="0"/>
          </a:p>
          <a:p>
            <a:pPr marL="0" indent="0" algn="l">
              <a:lnSpc>
                <a:spcPts val="3250"/>
              </a:lnSpc>
              <a:buNone/>
            </a:pPr>
            <a:r>
              <a:rPr lang="en-US" sz="2600" dirty="0">
                <a:solidFill>
                  <a:srgbClr val="E5E7EB"/>
                </a:solidFill>
                <a:latin typeface="Consolas"/>
                <a:ea typeface="Consolas"/>
                <a:cs typeface="Consolas"/>
              </a:rPr>
              <a:t> </a:t>
            </a:r>
            <a:endParaRPr lang="en-US" sz="2600" dirty="0"/>
          </a:p>
          <a:p>
            <a:pPr marL="0" indent="0" algn="l">
              <a:lnSpc>
                <a:spcPts val="3250"/>
              </a:lnSpc>
              <a:buNone/>
            </a:pPr>
            <a:r>
              <a:rPr lang="en-US" sz="2600" dirty="0">
                <a:solidFill>
                  <a:srgbClr val="E5E7EB"/>
                </a:solidFill>
                <a:latin typeface="Consolas"/>
                <a:ea typeface="Consolas"/>
                <a:cs typeface="Consolas"/>
              </a:rPr>
              <a:t>while (i &lt;= 5) {</a:t>
            </a:r>
            <a:endParaRPr lang="en-US" sz="2600" dirty="0"/>
          </a:p>
          <a:p>
            <a:pPr marL="0" indent="0" algn="l">
              <a:lnSpc>
                <a:spcPts val="3250"/>
              </a:lnSpc>
              <a:buNone/>
            </a:pPr>
            <a:r>
              <a:rPr lang="en-US" sz="2600" dirty="0">
                <a:solidFill>
                  <a:srgbClr val="E5E7EB"/>
                </a:solidFill>
                <a:latin typeface="Consolas"/>
                <a:ea typeface="Consolas"/>
                <a:cs typeface="Consolas"/>
              </a:rPr>
              <a:t>    printf("%d\n",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
        <p:nvSpPr>
          <p:cNvPr id="12" name="Shape 12"/>
          <p:cNvSpPr/>
          <p:nvPr/>
        </p:nvSpPr>
        <p:spPr>
          <a:xfrm>
            <a:off x="6278728" y="1261872"/>
            <a:ext cx="5364328" cy="384048"/>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Semicolon after while</a:t>
            </a:r>
            <a:endParaRPr lang="en-US" sz="1800" dirty="0"/>
          </a:p>
        </p:txBody>
      </p:sp>
      <p:sp>
        <p:nvSpPr>
          <p:cNvPr id="13" name="Shape 13"/>
          <p:cNvSpPr/>
          <p:nvPr/>
        </p:nvSpPr>
        <p:spPr>
          <a:xfrm>
            <a:off x="6278728" y="1645920"/>
            <a:ext cx="5364328" cy="3255010"/>
          </a:xfrm>
          <a:prstGeom prst="rect">
            <a:avLst/>
          </a:prstGeom>
          <a:solidFill>
            <a:srgbClr val="0F172A"/>
          </a:solidFill>
          <a:ln>
            <a:noFill/>
          </a:ln>
        </p:spPr>
        <p:txBody>
          <a:bodyPr wrap="square" lIns="0" tIns="0" rIns="0" bIns="0" rtlCol="0" anchor="t"/>
          <a:lstStyle/>
          <a:p>
            <a:endParaRPr lang="en-US"/>
          </a:p>
        </p:txBody>
      </p:sp>
      <p:sp>
        <p:nvSpPr>
          <p:cNvPr id="14" name="Shape 14"/>
          <p:cNvSpPr/>
          <p:nvPr/>
        </p:nvSpPr>
        <p:spPr>
          <a:xfrm>
            <a:off x="6278728" y="2695575"/>
            <a:ext cx="5364328" cy="412750"/>
          </a:xfrm>
          <a:prstGeom prst="rect">
            <a:avLst/>
          </a:prstGeom>
          <a:solidFill>
            <a:srgbClr val="25406B"/>
          </a:solidFill>
          <a:ln>
            <a:noFill/>
          </a:ln>
        </p:spPr>
        <p:txBody>
          <a:bodyPr wrap="square" lIns="0" tIns="0" rIns="0" bIns="0" rtlCol="0" anchor="t"/>
          <a:lstStyle/>
          <a:p>
            <a:endParaRPr lang="en-US"/>
          </a:p>
        </p:txBody>
      </p:sp>
      <p:sp>
        <p:nvSpPr>
          <p:cNvPr id="15" name="Shape 15"/>
          <p:cNvSpPr/>
          <p:nvPr/>
        </p:nvSpPr>
        <p:spPr>
          <a:xfrm>
            <a:off x="6278728" y="2695575"/>
            <a:ext cx="82296" cy="412750"/>
          </a:xfrm>
          <a:prstGeom prst="rect">
            <a:avLst/>
          </a:prstGeom>
          <a:solidFill>
            <a:srgbClr val="F59E0B"/>
          </a:solidFill>
          <a:ln>
            <a:noFill/>
          </a:ln>
        </p:spPr>
        <p:txBody>
          <a:bodyPr wrap="square" lIns="0" tIns="0" rIns="0" bIns="0" rtlCol="0" anchor="t"/>
          <a:lstStyle/>
          <a:p>
            <a:endParaRPr lang="en-US"/>
          </a:p>
        </p:txBody>
      </p:sp>
      <p:sp>
        <p:nvSpPr>
          <p:cNvPr id="16" name="Code"/>
          <p:cNvSpPr/>
          <p:nvPr/>
        </p:nvSpPr>
        <p:spPr>
          <a:xfrm>
            <a:off x="6278728" y="1645920"/>
            <a:ext cx="5364328" cy="3255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x = 1;</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FFFFFF"/>
                </a:solidFill>
                <a:latin typeface="Consolas"/>
                <a:ea typeface="Consolas"/>
                <a:cs typeface="Consolas"/>
              </a:rPr>
              <a:t>while (x &lt;= 5);</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printf("%d\n", x);</a:t>
            </a:r>
            <a:endParaRPr lang="en-US" sz="2600" dirty="0"/>
          </a:p>
          <a:p>
            <a:pPr marL="0" indent="0" algn="l">
              <a:lnSpc>
                <a:spcPts val="3250"/>
              </a:lnSpc>
              <a:buNone/>
            </a:pPr>
            <a:r>
              <a:rPr lang="en-US" sz="2600" dirty="0">
                <a:solidFill>
                  <a:srgbClr val="64748B"/>
                </a:solidFill>
                <a:latin typeface="Consolas"/>
                <a:ea typeface="Consolas"/>
                <a:cs typeface="Consolas"/>
              </a:rPr>
              <a:t>    x++;</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debugging habit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76</a:t>
            </a:r>
            <a:endParaRPr lang="en-US" sz="1400" dirty="0"/>
          </a:p>
        </p:txBody>
      </p:sp>
      <p:sp>
        <p:nvSpPr>
          <p:cNvPr id="6" name="Shape 6"/>
          <p:cNvSpPr/>
          <p:nvPr/>
        </p:nvSpPr>
        <p:spPr>
          <a:xfrm>
            <a:off x="548640" y="1536192"/>
            <a:ext cx="2602154"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Start</a:t>
            </a:r>
            <a:endParaRPr lang="en-US" sz="2600" dirty="0"/>
          </a:p>
        </p:txBody>
      </p:sp>
      <p:sp>
        <p:nvSpPr>
          <p:cNvPr id="7" name="Shape 7"/>
          <p:cNvSpPr/>
          <p:nvPr/>
        </p:nvSpPr>
        <p:spPr>
          <a:xfrm>
            <a:off x="548640" y="2267712"/>
            <a:ext cx="2602154"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18324A"/>
                </a:solidFill>
              </a:rPr>
              <a:t>Where does it begin?</a:t>
            </a:r>
            <a:endParaRPr lang="en-US" sz="2400" dirty="0"/>
          </a:p>
        </p:txBody>
      </p:sp>
      <p:sp>
        <p:nvSpPr>
          <p:cNvPr id="8" name="Shape 8"/>
          <p:cNvSpPr/>
          <p:nvPr/>
        </p:nvSpPr>
        <p:spPr>
          <a:xfrm>
            <a:off x="3379394" y="1536192"/>
            <a:ext cx="2602154"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Check</a:t>
            </a:r>
            <a:endParaRPr lang="en-US" sz="2600" dirty="0"/>
          </a:p>
        </p:txBody>
      </p:sp>
      <p:sp>
        <p:nvSpPr>
          <p:cNvPr id="9" name="Shape 9"/>
          <p:cNvSpPr/>
          <p:nvPr/>
        </p:nvSpPr>
        <p:spPr>
          <a:xfrm>
            <a:off x="3379394" y="2267712"/>
            <a:ext cx="2602154"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18324A"/>
                </a:solidFill>
              </a:rPr>
              <a:t>When does it stop?</a:t>
            </a:r>
            <a:endParaRPr lang="en-US" sz="2400" dirty="0"/>
          </a:p>
        </p:txBody>
      </p:sp>
      <p:sp>
        <p:nvSpPr>
          <p:cNvPr id="10" name="Shape 10"/>
          <p:cNvSpPr/>
          <p:nvPr/>
        </p:nvSpPr>
        <p:spPr>
          <a:xfrm>
            <a:off x="6210148" y="1536192"/>
            <a:ext cx="2602154" cy="731520"/>
          </a:xfrm>
          <a:prstGeom prst="rect">
            <a:avLst/>
          </a:prstGeom>
          <a:solidFill>
            <a:srgbClr val="F59E0B"/>
          </a:solidFill>
          <a:ln>
            <a:noFill/>
          </a:ln>
        </p:spPr>
        <p:txBody>
          <a:bodyPr wrap="square" lIns="0" tIns="0" rIns="0" bIns="0" rtlCol="0" anchor="ctr"/>
          <a:lstStyle/>
          <a:p>
            <a:pPr marL="0" indent="0" algn="ctr">
              <a:buNone/>
            </a:pPr>
            <a:r>
              <a:rPr lang="en-US" sz="2600" b="1" dirty="0">
                <a:solidFill>
                  <a:srgbClr val="FFFFFF"/>
                </a:solidFill>
              </a:rPr>
              <a:t>Body</a:t>
            </a:r>
            <a:endParaRPr lang="en-US" sz="2600" dirty="0"/>
          </a:p>
        </p:txBody>
      </p:sp>
      <p:sp>
        <p:nvSpPr>
          <p:cNvPr id="11" name="Shape 11"/>
          <p:cNvSpPr/>
          <p:nvPr/>
        </p:nvSpPr>
        <p:spPr>
          <a:xfrm>
            <a:off x="6210148" y="2267712"/>
            <a:ext cx="2602154" cy="2377440"/>
          </a:xfrm>
          <a:prstGeom prst="rect">
            <a:avLst/>
          </a:prstGeom>
          <a:solidFill>
            <a:srgbClr val="FFFFFF"/>
          </a:solidFill>
          <a:ln w="19050">
            <a:solidFill>
              <a:srgbClr val="F59E0B"/>
            </a:solidFill>
          </a:ln>
        </p:spPr>
        <p:txBody>
          <a:bodyPr wrap="square" lIns="73152" tIns="91440" rIns="73152" bIns="91440" rtlCol="0" anchor="ctr"/>
          <a:lstStyle/>
          <a:p>
            <a:pPr marL="0" indent="0" algn="ctr">
              <a:spcAft>
                <a:spcPts val="600"/>
              </a:spcAft>
              <a:buNone/>
            </a:pPr>
            <a:r>
              <a:rPr lang="en-US" sz="2400" dirty="0">
                <a:solidFill>
                  <a:srgbClr val="18324A"/>
                </a:solidFill>
              </a:rPr>
              <a:t>What is repeated?</a:t>
            </a:r>
            <a:endParaRPr lang="en-US" sz="2400" dirty="0"/>
          </a:p>
        </p:txBody>
      </p:sp>
      <p:sp>
        <p:nvSpPr>
          <p:cNvPr id="12" name="Shape 12"/>
          <p:cNvSpPr/>
          <p:nvPr/>
        </p:nvSpPr>
        <p:spPr>
          <a:xfrm>
            <a:off x="9040901" y="1536192"/>
            <a:ext cx="2602154" cy="731520"/>
          </a:xfrm>
          <a:prstGeom prst="rect">
            <a:avLst/>
          </a:prstGeom>
          <a:solidFill>
            <a:srgbClr val="8B5CF6"/>
          </a:solidFill>
          <a:ln>
            <a:noFill/>
          </a:ln>
        </p:spPr>
        <p:txBody>
          <a:bodyPr wrap="square" lIns="0" tIns="0" rIns="0" bIns="0" rtlCol="0" anchor="ctr"/>
          <a:lstStyle/>
          <a:p>
            <a:pPr marL="0" indent="0" algn="ctr">
              <a:buNone/>
            </a:pPr>
            <a:r>
              <a:rPr lang="en-US" sz="2600" b="1" dirty="0">
                <a:solidFill>
                  <a:srgbClr val="FFFFFF"/>
                </a:solidFill>
              </a:rPr>
              <a:t>Update</a:t>
            </a:r>
            <a:endParaRPr lang="en-US" sz="2600" dirty="0"/>
          </a:p>
        </p:txBody>
      </p:sp>
      <p:sp>
        <p:nvSpPr>
          <p:cNvPr id="13" name="Shape 13"/>
          <p:cNvSpPr/>
          <p:nvPr/>
        </p:nvSpPr>
        <p:spPr>
          <a:xfrm>
            <a:off x="9040901" y="2267712"/>
            <a:ext cx="2602154" cy="2377440"/>
          </a:xfrm>
          <a:prstGeom prst="rect">
            <a:avLst/>
          </a:prstGeom>
          <a:solidFill>
            <a:srgbClr val="FFFFFF"/>
          </a:solidFill>
          <a:ln w="19050">
            <a:solidFill>
              <a:srgbClr val="8B5CF6"/>
            </a:solidFill>
          </a:ln>
        </p:spPr>
        <p:txBody>
          <a:bodyPr wrap="square" lIns="73152" tIns="91440" rIns="73152" bIns="91440" rtlCol="0" anchor="ctr"/>
          <a:lstStyle/>
          <a:p>
            <a:pPr marL="0" indent="0" algn="ctr">
              <a:spcAft>
                <a:spcPts val="600"/>
              </a:spcAft>
              <a:buNone/>
            </a:pPr>
            <a:r>
              <a:rPr lang="en-US" sz="2400" dirty="0">
                <a:solidFill>
                  <a:srgbClr val="18324A"/>
                </a:solidFill>
              </a:rPr>
              <a:t>What changes each round?</a:t>
            </a:r>
            <a:endParaRPr lang="en-US" sz="2400" dirty="0"/>
          </a:p>
        </p:txBody>
      </p:sp>
      <p:sp>
        <p:nvSpPr>
          <p:cNvPr id="14" name="Shape 14"/>
          <p:cNvSpPr/>
          <p:nvPr/>
        </p:nvSpPr>
        <p:spPr>
          <a:xfrm>
            <a:off x="548640" y="5166360"/>
            <a:ext cx="11094415" cy="9144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166360"/>
            <a:ext cx="109728" cy="91440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Before you run a loop, put your finger on each of the four parts. If you cannot find one, that is your bug.</a:t>
            </a:r>
            <a:endParaRPr 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31C48D"/>
          </a:solidFill>
          <a:ln>
            <a:noFill/>
          </a:ln>
        </p:spPr>
        <p:txBody>
          <a:bodyPr wrap="square" lIns="0" tIns="0" rIns="0" bIns="0" rtlCol="0" anchor="ctr"/>
          <a:lstStyle/>
          <a:p>
            <a:pPr marL="0" indent="0" algn="ctr">
              <a:buNone/>
            </a:pPr>
            <a:r>
              <a:rPr lang="en-US" sz="5400" b="1" dirty="0">
                <a:solidFill>
                  <a:srgbClr val="FFFFFF"/>
                </a:solidFill>
              </a:rPr>
              <a:t>8</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Code tracing exercise</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Laptops down. Pen and paper. Trace first, then run.</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Code tracing exercise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78</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4937760" cy="310896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1. </a:t>
            </a:r>
            <a:r>
              <a:rPr lang="en-US" sz="3200" dirty="0">
                <a:solidFill>
                  <a:srgbClr val="2F80ED"/>
                </a:solidFill>
                <a:latin typeface="Consolas"/>
                <a:ea typeface="Consolas"/>
                <a:cs typeface="Consolas"/>
              </a:rPr>
              <a:t>x</a:t>
            </a:r>
            <a:r>
              <a:rPr lang="en-US" sz="3200" dirty="0">
                <a:solidFill>
                  <a:srgbClr val="18324A"/>
                </a:solidFill>
              </a:rPr>
              <a:t> and </a:t>
            </a:r>
            <a:r>
              <a:rPr lang="en-US" sz="3200" dirty="0">
                <a:solidFill>
                  <a:srgbClr val="2F80ED"/>
                </a:solidFill>
                <a:latin typeface="Consolas"/>
                <a:ea typeface="Consolas"/>
                <a:cs typeface="Consolas"/>
              </a:rPr>
              <a:t>y</a:t>
            </a:r>
            <a:r>
              <a:rPr lang="en-US" sz="3200" dirty="0">
                <a:solidFill>
                  <a:srgbClr val="18324A"/>
                </a:solidFill>
              </a:rPr>
              <a:t> after each round?</a:t>
            </a:r>
            <a:endParaRPr lang="en-US" sz="3200" dirty="0"/>
          </a:p>
          <a:p>
            <a:pPr marL="0" indent="0" algn="l">
              <a:spcAft>
                <a:spcPts val="600"/>
              </a:spcAft>
              <a:buNone/>
            </a:pPr>
            <a:r>
              <a:rPr lang="en-US" sz="3200" dirty="0">
                <a:solidFill>
                  <a:srgbClr val="18324A"/>
                </a:solidFill>
              </a:rPr>
              <a:t>2. How many rounds?</a:t>
            </a:r>
            <a:endParaRPr lang="en-US" sz="3200" dirty="0"/>
          </a:p>
          <a:p>
            <a:pPr marL="0" indent="0" algn="l">
              <a:spcAft>
                <a:spcPts val="600"/>
              </a:spcAft>
              <a:buNone/>
            </a:pPr>
            <a:r>
              <a:rPr lang="en-US" sz="3200" dirty="0">
                <a:solidFill>
                  <a:srgbClr val="18324A"/>
                </a:solidFill>
              </a:rPr>
              <a:t>3. What is printed?</a:t>
            </a:r>
            <a:endParaRPr lang="en-US" sz="3200" dirty="0"/>
          </a:p>
          <a:p>
            <a:pPr marL="0" indent="0" algn="l">
              <a:spcAft>
                <a:spcPts val="600"/>
              </a:spcAft>
              <a:buNone/>
            </a:pPr>
            <a:r>
              <a:rPr lang="en-US" sz="3200" dirty="0">
                <a:solidFill>
                  <a:srgbClr val="18324A"/>
                </a:solidFill>
              </a:rPr>
              <a:t>4. Which line moves the loop toward stopping?</a:t>
            </a:r>
            <a:endParaRPr lang="en-US" sz="3200" dirty="0"/>
          </a:p>
        </p:txBody>
      </p:sp>
      <p:sp>
        <p:nvSpPr>
          <p:cNvPr id="8" name="Shape 8"/>
          <p:cNvSpPr/>
          <p:nvPr/>
        </p:nvSpPr>
        <p:spPr>
          <a:xfrm>
            <a:off x="5760720" y="1261872"/>
            <a:ext cx="5882335" cy="43662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43662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int x = 2;</a:t>
            </a:r>
            <a:endParaRPr lang="en-US" sz="2800" dirty="0"/>
          </a:p>
          <a:p>
            <a:pPr marL="0" indent="0" algn="l">
              <a:lnSpc>
                <a:spcPts val="3500"/>
              </a:lnSpc>
              <a:buNone/>
            </a:pPr>
            <a:r>
              <a:rPr lang="en-US" sz="2800" dirty="0">
                <a:solidFill>
                  <a:srgbClr val="E5E7EB"/>
                </a:solidFill>
                <a:latin typeface="Consolas"/>
                <a:ea typeface="Consolas"/>
                <a:cs typeface="Consolas"/>
              </a:rPr>
              <a:t>int y = 0;</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while (x &lt; 8) {</a:t>
            </a:r>
            <a:endParaRPr lang="en-US" sz="2800" dirty="0"/>
          </a:p>
          <a:p>
            <a:pPr marL="0" indent="0" algn="l">
              <a:lnSpc>
                <a:spcPts val="3500"/>
              </a:lnSpc>
              <a:buNone/>
            </a:pPr>
            <a:r>
              <a:rPr lang="en-US" sz="2800" dirty="0">
                <a:solidFill>
                  <a:srgbClr val="E5E7EB"/>
                </a:solidFill>
                <a:latin typeface="Consolas"/>
                <a:ea typeface="Consolas"/>
                <a:cs typeface="Consolas"/>
              </a:rPr>
              <a:t>    y += x;</a:t>
            </a:r>
            <a:endParaRPr lang="en-US" sz="2800" dirty="0"/>
          </a:p>
          <a:p>
            <a:pPr marL="0" indent="0" algn="l">
              <a:lnSpc>
                <a:spcPts val="3500"/>
              </a:lnSpc>
              <a:buNone/>
            </a:pPr>
            <a:r>
              <a:rPr lang="en-US" sz="2800" dirty="0">
                <a:solidFill>
                  <a:srgbClr val="E5E7EB"/>
                </a:solidFill>
                <a:latin typeface="Consolas"/>
                <a:ea typeface="Consolas"/>
                <a:cs typeface="Consolas"/>
              </a:rPr>
              <a:t>    x += 2;</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printf("x=%d y=%d\n", x, y);</a:t>
            </a:r>
            <a:endParaRPr lang="en-US" sz="2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Tracing: round 1</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79</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2 &lt; 8</a:t>
            </a:r>
            <a:r>
              <a:rPr lang="en-US" sz="2400" dirty="0">
                <a:solidFill>
                  <a:srgbClr val="18324A"/>
                </a:solidFill>
              </a:rPr>
              <a:t> is true. </a:t>
            </a:r>
            <a:r>
              <a:rPr lang="en-US" sz="2400" dirty="0">
                <a:solidFill>
                  <a:srgbClr val="18324A"/>
                </a:solidFill>
                <a:latin typeface="Consolas"/>
                <a:ea typeface="Consolas"/>
                <a:cs typeface="Consolas"/>
              </a:rPr>
              <a:t>y</a:t>
            </a:r>
            <a:r>
              <a:rPr lang="en-US" sz="2400" dirty="0">
                <a:solidFill>
                  <a:srgbClr val="18324A"/>
                </a:solidFill>
              </a:rPr>
              <a:t> is 0 + 2 = 2. Then </a:t>
            </a:r>
            <a:r>
              <a:rPr lang="en-US" sz="2400" dirty="0">
                <a:solidFill>
                  <a:srgbClr val="18324A"/>
                </a:solidFill>
                <a:latin typeface="Consolas"/>
                <a:ea typeface="Consolas"/>
                <a:cs typeface="Consolas"/>
              </a:rPr>
              <a:t>x</a:t>
            </a:r>
            <a:r>
              <a:rPr lang="en-US" sz="2400" dirty="0">
                <a:solidFill>
                  <a:srgbClr val="18324A"/>
                </a:solidFill>
              </a:rPr>
              <a:t> is 2 + 2 = 4.</a:t>
            </a:r>
            <a:endParaRPr lang="en-US" sz="2400" dirty="0"/>
          </a:p>
        </p:txBody>
      </p:sp>
      <p:sp>
        <p:nvSpPr>
          <p:cNvPr id="9" name="Shape 9"/>
          <p:cNvSpPr/>
          <p:nvPr/>
        </p:nvSpPr>
        <p:spPr>
          <a:xfrm>
            <a:off x="548640" y="1261872"/>
            <a:ext cx="5669280" cy="40805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137027"/>
            <a:ext cx="5669280" cy="4127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137027"/>
            <a:ext cx="82296" cy="41275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3549777"/>
            <a:ext cx="5669280" cy="41275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3549777"/>
            <a:ext cx="82296" cy="412750"/>
          </a:xfrm>
          <a:prstGeom prst="rect">
            <a:avLst/>
          </a:prstGeom>
          <a:solidFill>
            <a:srgbClr val="F59E0B"/>
          </a:solidFill>
          <a:ln>
            <a:noFill/>
          </a:ln>
        </p:spPr>
        <p:txBody>
          <a:bodyPr wrap="square" lIns="0" tIns="0" rIns="0" bIns="0" rtlCol="0" anchor="t"/>
          <a:lstStyle/>
          <a:p>
            <a:endParaRPr lang="en-US"/>
          </a:p>
        </p:txBody>
      </p:sp>
      <p:sp>
        <p:nvSpPr>
          <p:cNvPr id="14" name="Code"/>
          <p:cNvSpPr/>
          <p:nvPr/>
        </p:nvSpPr>
        <p:spPr>
          <a:xfrm>
            <a:off x="548640" y="1261872"/>
            <a:ext cx="5669280" cy="40805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x = 2;</a:t>
            </a:r>
            <a:endParaRPr lang="en-US" sz="2600" dirty="0"/>
          </a:p>
          <a:p>
            <a:pPr marL="0" indent="0" algn="l">
              <a:lnSpc>
                <a:spcPts val="3250"/>
              </a:lnSpc>
              <a:buNone/>
            </a:pPr>
            <a:r>
              <a:rPr lang="en-US" sz="2600" dirty="0">
                <a:solidFill>
                  <a:srgbClr val="64748B"/>
                </a:solidFill>
                <a:latin typeface="Consolas"/>
                <a:ea typeface="Consolas"/>
                <a:cs typeface="Consolas"/>
              </a:rPr>
              <a:t>int y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while (x &lt; 8) {</a:t>
            </a:r>
            <a:endParaRPr lang="en-US" sz="2600" dirty="0"/>
          </a:p>
          <a:p>
            <a:pPr marL="0" indent="0" algn="l">
              <a:lnSpc>
                <a:spcPts val="3250"/>
              </a:lnSpc>
              <a:buNone/>
            </a:pPr>
            <a:r>
              <a:rPr lang="en-US" sz="2600" dirty="0">
                <a:solidFill>
                  <a:srgbClr val="FFFFFF"/>
                </a:solidFill>
                <a:latin typeface="Consolas"/>
                <a:ea typeface="Consolas"/>
                <a:cs typeface="Consolas"/>
              </a:rPr>
              <a:t>    y += x;</a:t>
            </a:r>
            <a:endParaRPr lang="en-US" sz="2600" dirty="0"/>
          </a:p>
          <a:p>
            <a:pPr marL="0" indent="0" algn="l">
              <a:lnSpc>
                <a:spcPts val="3250"/>
              </a:lnSpc>
              <a:buNone/>
            </a:pPr>
            <a:r>
              <a:rPr lang="en-US" sz="2600" dirty="0">
                <a:solidFill>
                  <a:srgbClr val="FFFFFF"/>
                </a:solidFill>
                <a:latin typeface="Consolas"/>
                <a:ea typeface="Consolas"/>
                <a:cs typeface="Consolas"/>
              </a:rPr>
              <a:t>    x += 2;</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printf("x=%d y=%d\n", x, y);</a:t>
            </a:r>
            <a:endParaRPr lang="en-US" sz="2600" dirty="0"/>
          </a:p>
        </p:txBody>
      </p:sp>
      <p:sp>
        <p:nvSpPr>
          <p:cNvPr id="15" name="Shape 15"/>
          <p:cNvSpPr/>
          <p:nvPr/>
        </p:nvSpPr>
        <p:spPr>
          <a:xfrm>
            <a:off x="6492240"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6" name="Shape 16"/>
          <p:cNvSpPr/>
          <p:nvPr/>
        </p:nvSpPr>
        <p:spPr>
          <a:xfrm>
            <a:off x="7779944"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8</a:t>
            </a:r>
            <a:r>
              <a:rPr lang="en-US" sz="1800" b="1" dirty="0">
                <a:solidFill>
                  <a:srgbClr val="FFFFFF"/>
                </a:solidFill>
              </a:rPr>
              <a:t>?</a:t>
            </a:r>
            <a:endParaRPr lang="en-US" sz="1800" dirty="0"/>
          </a:p>
        </p:txBody>
      </p:sp>
      <p:sp>
        <p:nvSpPr>
          <p:cNvPr id="17" name="Shape 17"/>
          <p:cNvSpPr/>
          <p:nvPr/>
        </p:nvSpPr>
        <p:spPr>
          <a:xfrm>
            <a:off x="9067648"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y</a:t>
            </a:r>
            <a:endParaRPr lang="en-US" sz="1800" dirty="0"/>
          </a:p>
        </p:txBody>
      </p:sp>
      <p:sp>
        <p:nvSpPr>
          <p:cNvPr id="18" name="Shape 18"/>
          <p:cNvSpPr/>
          <p:nvPr/>
        </p:nvSpPr>
        <p:spPr>
          <a:xfrm>
            <a:off x="10355351"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9" name="Shape 19"/>
          <p:cNvSpPr/>
          <p:nvPr/>
        </p:nvSpPr>
        <p:spPr>
          <a:xfrm>
            <a:off x="6492240" y="1920240"/>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20" name="Shape 20"/>
          <p:cNvSpPr/>
          <p:nvPr/>
        </p:nvSpPr>
        <p:spPr>
          <a:xfrm>
            <a:off x="7779944" y="1920240"/>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1" name="Shape 21"/>
          <p:cNvSpPr/>
          <p:nvPr/>
        </p:nvSpPr>
        <p:spPr>
          <a:xfrm>
            <a:off x="9067648" y="1920240"/>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2" name="Shape 22"/>
          <p:cNvSpPr/>
          <p:nvPr/>
        </p:nvSpPr>
        <p:spPr>
          <a:xfrm>
            <a:off x="10355351" y="1920240"/>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23" name="Shape 23"/>
          <p:cNvSpPr/>
          <p:nvPr/>
        </p:nvSpPr>
        <p:spPr>
          <a:xfrm>
            <a:off x="6492240" y="2578608"/>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7779944" y="2578608"/>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9067648" y="2578608"/>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10355351" y="2578608"/>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6492240" y="3236976"/>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7779944" y="3236976"/>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9067648" y="3236976"/>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10355351" y="3236976"/>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492240"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7779944"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9067648"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10355351"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Tracing: round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4 &lt; 8</a:t>
            </a:r>
            <a:r>
              <a:rPr lang="en-US" sz="2400" dirty="0">
                <a:solidFill>
                  <a:srgbClr val="18324A"/>
                </a:solidFill>
              </a:rPr>
              <a:t> is true. </a:t>
            </a:r>
            <a:r>
              <a:rPr lang="en-US" sz="2400" dirty="0">
                <a:solidFill>
                  <a:srgbClr val="18324A"/>
                </a:solidFill>
                <a:latin typeface="Consolas"/>
                <a:ea typeface="Consolas"/>
                <a:cs typeface="Consolas"/>
              </a:rPr>
              <a:t>y</a:t>
            </a:r>
            <a:r>
              <a:rPr lang="en-US" sz="2400" dirty="0">
                <a:solidFill>
                  <a:srgbClr val="18324A"/>
                </a:solidFill>
              </a:rPr>
              <a:t> is 2 + 4 = 6. Then </a:t>
            </a:r>
            <a:r>
              <a:rPr lang="en-US" sz="2400" dirty="0">
                <a:solidFill>
                  <a:srgbClr val="18324A"/>
                </a:solidFill>
                <a:latin typeface="Consolas"/>
                <a:ea typeface="Consolas"/>
                <a:cs typeface="Consolas"/>
              </a:rPr>
              <a:t>x</a:t>
            </a:r>
            <a:r>
              <a:rPr lang="en-US" sz="2400" dirty="0">
                <a:solidFill>
                  <a:srgbClr val="18324A"/>
                </a:solidFill>
              </a:rPr>
              <a:t> is 6.</a:t>
            </a:r>
            <a:endParaRPr lang="en-US" sz="2400" dirty="0"/>
          </a:p>
        </p:txBody>
      </p:sp>
      <p:sp>
        <p:nvSpPr>
          <p:cNvPr id="9" name="Shape 9"/>
          <p:cNvSpPr/>
          <p:nvPr/>
        </p:nvSpPr>
        <p:spPr>
          <a:xfrm>
            <a:off x="548640" y="1261872"/>
            <a:ext cx="5669280" cy="40805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137027"/>
            <a:ext cx="5669280" cy="4127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137027"/>
            <a:ext cx="82296" cy="41275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3549777"/>
            <a:ext cx="5669280" cy="41275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3549777"/>
            <a:ext cx="82296" cy="412750"/>
          </a:xfrm>
          <a:prstGeom prst="rect">
            <a:avLst/>
          </a:prstGeom>
          <a:solidFill>
            <a:srgbClr val="F59E0B"/>
          </a:solidFill>
          <a:ln>
            <a:noFill/>
          </a:ln>
        </p:spPr>
        <p:txBody>
          <a:bodyPr wrap="square" lIns="0" tIns="0" rIns="0" bIns="0" rtlCol="0" anchor="t"/>
          <a:lstStyle/>
          <a:p>
            <a:endParaRPr lang="en-US"/>
          </a:p>
        </p:txBody>
      </p:sp>
      <p:sp>
        <p:nvSpPr>
          <p:cNvPr id="14" name="Code"/>
          <p:cNvSpPr/>
          <p:nvPr/>
        </p:nvSpPr>
        <p:spPr>
          <a:xfrm>
            <a:off x="548640" y="1261872"/>
            <a:ext cx="5669280" cy="40805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x = 2;</a:t>
            </a:r>
            <a:endParaRPr lang="en-US" sz="2600" dirty="0"/>
          </a:p>
          <a:p>
            <a:pPr marL="0" indent="0" algn="l">
              <a:lnSpc>
                <a:spcPts val="3250"/>
              </a:lnSpc>
              <a:buNone/>
            </a:pPr>
            <a:r>
              <a:rPr lang="en-US" sz="2600" dirty="0">
                <a:solidFill>
                  <a:srgbClr val="64748B"/>
                </a:solidFill>
                <a:latin typeface="Consolas"/>
                <a:ea typeface="Consolas"/>
                <a:cs typeface="Consolas"/>
              </a:rPr>
              <a:t>int y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while (x &lt; 8) {</a:t>
            </a:r>
            <a:endParaRPr lang="en-US" sz="2600" dirty="0"/>
          </a:p>
          <a:p>
            <a:pPr marL="0" indent="0" algn="l">
              <a:lnSpc>
                <a:spcPts val="3250"/>
              </a:lnSpc>
              <a:buNone/>
            </a:pPr>
            <a:r>
              <a:rPr lang="en-US" sz="2600" dirty="0">
                <a:solidFill>
                  <a:srgbClr val="FFFFFF"/>
                </a:solidFill>
                <a:latin typeface="Consolas"/>
                <a:ea typeface="Consolas"/>
                <a:cs typeface="Consolas"/>
              </a:rPr>
              <a:t>    y += x;</a:t>
            </a:r>
            <a:endParaRPr lang="en-US" sz="2600" dirty="0"/>
          </a:p>
          <a:p>
            <a:pPr marL="0" indent="0" algn="l">
              <a:lnSpc>
                <a:spcPts val="3250"/>
              </a:lnSpc>
              <a:buNone/>
            </a:pPr>
            <a:r>
              <a:rPr lang="en-US" sz="2600" dirty="0">
                <a:solidFill>
                  <a:srgbClr val="FFFFFF"/>
                </a:solidFill>
                <a:latin typeface="Consolas"/>
                <a:ea typeface="Consolas"/>
                <a:cs typeface="Consolas"/>
              </a:rPr>
              <a:t>    x += 2;</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printf("x=%d y=%d\n", x, y);</a:t>
            </a:r>
            <a:endParaRPr lang="en-US" sz="2600" dirty="0"/>
          </a:p>
        </p:txBody>
      </p:sp>
      <p:sp>
        <p:nvSpPr>
          <p:cNvPr id="15" name="Shape 15"/>
          <p:cNvSpPr/>
          <p:nvPr/>
        </p:nvSpPr>
        <p:spPr>
          <a:xfrm>
            <a:off x="6492240"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6" name="Shape 16"/>
          <p:cNvSpPr/>
          <p:nvPr/>
        </p:nvSpPr>
        <p:spPr>
          <a:xfrm>
            <a:off x="7779944"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8</a:t>
            </a:r>
            <a:r>
              <a:rPr lang="en-US" sz="1800" b="1" dirty="0">
                <a:solidFill>
                  <a:srgbClr val="FFFFFF"/>
                </a:solidFill>
              </a:rPr>
              <a:t>?</a:t>
            </a:r>
            <a:endParaRPr lang="en-US" sz="1800" dirty="0"/>
          </a:p>
        </p:txBody>
      </p:sp>
      <p:sp>
        <p:nvSpPr>
          <p:cNvPr id="17" name="Shape 17"/>
          <p:cNvSpPr/>
          <p:nvPr/>
        </p:nvSpPr>
        <p:spPr>
          <a:xfrm>
            <a:off x="9067648"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y</a:t>
            </a:r>
            <a:endParaRPr lang="en-US" sz="1800" dirty="0"/>
          </a:p>
        </p:txBody>
      </p:sp>
      <p:sp>
        <p:nvSpPr>
          <p:cNvPr id="18" name="Shape 18"/>
          <p:cNvSpPr/>
          <p:nvPr/>
        </p:nvSpPr>
        <p:spPr>
          <a:xfrm>
            <a:off x="10355351"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9" name="Shape 19"/>
          <p:cNvSpPr/>
          <p:nvPr/>
        </p:nvSpPr>
        <p:spPr>
          <a:xfrm>
            <a:off x="6492240"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7779944"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1" name="Shape 21"/>
          <p:cNvSpPr/>
          <p:nvPr/>
        </p:nvSpPr>
        <p:spPr>
          <a:xfrm>
            <a:off x="9067648"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10355351"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23" name="Shape 23"/>
          <p:cNvSpPr/>
          <p:nvPr/>
        </p:nvSpPr>
        <p:spPr>
          <a:xfrm>
            <a:off x="6492240" y="2578608"/>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4" name="Shape 24"/>
          <p:cNvSpPr/>
          <p:nvPr/>
        </p:nvSpPr>
        <p:spPr>
          <a:xfrm>
            <a:off x="7779944" y="2578608"/>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5" name="Shape 25"/>
          <p:cNvSpPr/>
          <p:nvPr/>
        </p:nvSpPr>
        <p:spPr>
          <a:xfrm>
            <a:off x="9067648" y="2578608"/>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6</a:t>
            </a:r>
            <a:endParaRPr lang="en-US" sz="2400" dirty="0"/>
          </a:p>
        </p:txBody>
      </p:sp>
      <p:sp>
        <p:nvSpPr>
          <p:cNvPr id="26" name="Shape 26"/>
          <p:cNvSpPr/>
          <p:nvPr/>
        </p:nvSpPr>
        <p:spPr>
          <a:xfrm>
            <a:off x="10355351" y="2578608"/>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6</a:t>
            </a:r>
            <a:endParaRPr lang="en-US" sz="2400" dirty="0"/>
          </a:p>
        </p:txBody>
      </p:sp>
      <p:sp>
        <p:nvSpPr>
          <p:cNvPr id="27" name="Shape 27"/>
          <p:cNvSpPr/>
          <p:nvPr/>
        </p:nvSpPr>
        <p:spPr>
          <a:xfrm>
            <a:off x="6492240" y="3236976"/>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7779944" y="3236976"/>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9067648" y="3236976"/>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10355351" y="3236976"/>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492240"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7779944"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9067648"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10355351"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Tracing: round 3</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81</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6 &lt; 8</a:t>
            </a:r>
            <a:r>
              <a:rPr lang="en-US" sz="2400" dirty="0">
                <a:solidFill>
                  <a:srgbClr val="18324A"/>
                </a:solidFill>
              </a:rPr>
              <a:t> is true: the loop does not "feel" that 6 is close to 8. </a:t>
            </a:r>
            <a:r>
              <a:rPr lang="en-US" sz="2400" dirty="0">
                <a:solidFill>
                  <a:srgbClr val="18324A"/>
                </a:solidFill>
                <a:latin typeface="Consolas"/>
                <a:ea typeface="Consolas"/>
                <a:cs typeface="Consolas"/>
              </a:rPr>
              <a:t>y</a:t>
            </a:r>
            <a:r>
              <a:rPr lang="en-US" sz="2400" dirty="0">
                <a:solidFill>
                  <a:srgbClr val="18324A"/>
                </a:solidFill>
              </a:rPr>
              <a:t> is 12. </a:t>
            </a:r>
            <a:r>
              <a:rPr lang="en-US" sz="2400" dirty="0">
                <a:solidFill>
                  <a:srgbClr val="18324A"/>
                </a:solidFill>
                <a:latin typeface="Consolas"/>
                <a:ea typeface="Consolas"/>
                <a:cs typeface="Consolas"/>
              </a:rPr>
              <a:t>x</a:t>
            </a:r>
            <a:r>
              <a:rPr lang="en-US" sz="2400" dirty="0">
                <a:solidFill>
                  <a:srgbClr val="18324A"/>
                </a:solidFill>
              </a:rPr>
              <a:t> is 8.</a:t>
            </a:r>
            <a:endParaRPr lang="en-US" sz="2400" dirty="0"/>
          </a:p>
        </p:txBody>
      </p:sp>
      <p:sp>
        <p:nvSpPr>
          <p:cNvPr id="9" name="Shape 9"/>
          <p:cNvSpPr/>
          <p:nvPr/>
        </p:nvSpPr>
        <p:spPr>
          <a:xfrm>
            <a:off x="548640" y="1261872"/>
            <a:ext cx="5669280" cy="35090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876677"/>
            <a:ext cx="566928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3225927"/>
            <a:ext cx="5669280" cy="34925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14" name="Code"/>
          <p:cNvSpPr/>
          <p:nvPr/>
        </p:nvSpPr>
        <p:spPr>
          <a:xfrm>
            <a:off x="548640" y="1261872"/>
            <a:ext cx="5669280" cy="3509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x = 2;</a:t>
            </a:r>
            <a:endParaRPr lang="en-US" sz="2200" dirty="0"/>
          </a:p>
          <a:p>
            <a:pPr marL="0" indent="0" algn="l">
              <a:lnSpc>
                <a:spcPts val="2750"/>
              </a:lnSpc>
              <a:buNone/>
            </a:pPr>
            <a:r>
              <a:rPr lang="en-US" sz="2200" dirty="0">
                <a:solidFill>
                  <a:srgbClr val="64748B"/>
                </a:solidFill>
                <a:latin typeface="Consolas"/>
                <a:ea typeface="Consolas"/>
                <a:cs typeface="Consolas"/>
              </a:rPr>
              <a:t>int y = 0;</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while (x &lt; 8) {</a:t>
            </a:r>
            <a:endParaRPr lang="en-US" sz="2200" dirty="0"/>
          </a:p>
          <a:p>
            <a:pPr marL="0" indent="0" algn="l">
              <a:lnSpc>
                <a:spcPts val="2750"/>
              </a:lnSpc>
              <a:buNone/>
            </a:pPr>
            <a:r>
              <a:rPr lang="en-US" sz="2200" dirty="0">
                <a:solidFill>
                  <a:srgbClr val="FFFFFF"/>
                </a:solidFill>
                <a:latin typeface="Consolas"/>
                <a:ea typeface="Consolas"/>
                <a:cs typeface="Consolas"/>
              </a:rPr>
              <a:t>    y += x;</a:t>
            </a:r>
            <a:endParaRPr lang="en-US" sz="2200" dirty="0"/>
          </a:p>
          <a:p>
            <a:pPr marL="0" indent="0" algn="l">
              <a:lnSpc>
                <a:spcPts val="2750"/>
              </a:lnSpc>
              <a:buNone/>
            </a:pPr>
            <a:r>
              <a:rPr lang="en-US" sz="2200" dirty="0">
                <a:solidFill>
                  <a:srgbClr val="FFFFFF"/>
                </a:solidFill>
                <a:latin typeface="Consolas"/>
                <a:ea typeface="Consolas"/>
                <a:cs typeface="Consolas"/>
              </a:rPr>
              <a:t>    x += 2;</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printf("x=%d y=%d\n", x, y);</a:t>
            </a:r>
            <a:endParaRPr lang="en-US" sz="2200" dirty="0"/>
          </a:p>
        </p:txBody>
      </p:sp>
      <p:sp>
        <p:nvSpPr>
          <p:cNvPr id="15" name="Shape 15"/>
          <p:cNvSpPr/>
          <p:nvPr/>
        </p:nvSpPr>
        <p:spPr>
          <a:xfrm>
            <a:off x="6492240"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6" name="Shape 16"/>
          <p:cNvSpPr/>
          <p:nvPr/>
        </p:nvSpPr>
        <p:spPr>
          <a:xfrm>
            <a:off x="7779944"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8</a:t>
            </a:r>
            <a:r>
              <a:rPr lang="en-US" sz="1800" b="1" dirty="0">
                <a:solidFill>
                  <a:srgbClr val="FFFFFF"/>
                </a:solidFill>
              </a:rPr>
              <a:t>?</a:t>
            </a:r>
            <a:endParaRPr lang="en-US" sz="1800" dirty="0"/>
          </a:p>
        </p:txBody>
      </p:sp>
      <p:sp>
        <p:nvSpPr>
          <p:cNvPr id="17" name="Shape 17"/>
          <p:cNvSpPr/>
          <p:nvPr/>
        </p:nvSpPr>
        <p:spPr>
          <a:xfrm>
            <a:off x="9067648"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y</a:t>
            </a:r>
            <a:endParaRPr lang="en-US" sz="1800" dirty="0"/>
          </a:p>
        </p:txBody>
      </p:sp>
      <p:sp>
        <p:nvSpPr>
          <p:cNvPr id="18" name="Shape 18"/>
          <p:cNvSpPr/>
          <p:nvPr/>
        </p:nvSpPr>
        <p:spPr>
          <a:xfrm>
            <a:off x="10355351"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9" name="Shape 19"/>
          <p:cNvSpPr/>
          <p:nvPr/>
        </p:nvSpPr>
        <p:spPr>
          <a:xfrm>
            <a:off x="6492240"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7779944"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1" name="Shape 21"/>
          <p:cNvSpPr/>
          <p:nvPr/>
        </p:nvSpPr>
        <p:spPr>
          <a:xfrm>
            <a:off x="9067648"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10355351"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23" name="Shape 23"/>
          <p:cNvSpPr/>
          <p:nvPr/>
        </p:nvSpPr>
        <p:spPr>
          <a:xfrm>
            <a:off x="6492240" y="2578608"/>
            <a:ext cx="12877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4" name="Shape 24"/>
          <p:cNvSpPr/>
          <p:nvPr/>
        </p:nvSpPr>
        <p:spPr>
          <a:xfrm>
            <a:off x="7779944" y="2578608"/>
            <a:ext cx="12877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5" name="Shape 25"/>
          <p:cNvSpPr/>
          <p:nvPr/>
        </p:nvSpPr>
        <p:spPr>
          <a:xfrm>
            <a:off x="9067648" y="2578608"/>
            <a:ext cx="12877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26" name="Shape 26"/>
          <p:cNvSpPr/>
          <p:nvPr/>
        </p:nvSpPr>
        <p:spPr>
          <a:xfrm>
            <a:off x="10355351" y="2578608"/>
            <a:ext cx="12877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27" name="Shape 27"/>
          <p:cNvSpPr/>
          <p:nvPr/>
        </p:nvSpPr>
        <p:spPr>
          <a:xfrm>
            <a:off x="6492240" y="3236976"/>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8" name="Shape 28"/>
          <p:cNvSpPr/>
          <p:nvPr/>
        </p:nvSpPr>
        <p:spPr>
          <a:xfrm>
            <a:off x="7779944" y="3236976"/>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9" name="Shape 29"/>
          <p:cNvSpPr/>
          <p:nvPr/>
        </p:nvSpPr>
        <p:spPr>
          <a:xfrm>
            <a:off x="9067648" y="3236976"/>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12</a:t>
            </a:r>
            <a:endParaRPr lang="en-US" sz="2400" dirty="0"/>
          </a:p>
        </p:txBody>
      </p:sp>
      <p:sp>
        <p:nvSpPr>
          <p:cNvPr id="30" name="Shape 30"/>
          <p:cNvSpPr/>
          <p:nvPr/>
        </p:nvSpPr>
        <p:spPr>
          <a:xfrm>
            <a:off x="10355351" y="3236976"/>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8</a:t>
            </a:r>
            <a:endParaRPr lang="en-US" sz="2400" dirty="0"/>
          </a:p>
        </p:txBody>
      </p:sp>
      <p:sp>
        <p:nvSpPr>
          <p:cNvPr id="31" name="Shape 31"/>
          <p:cNvSpPr/>
          <p:nvPr/>
        </p:nvSpPr>
        <p:spPr>
          <a:xfrm>
            <a:off x="6492240"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7779944"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9067648"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10355351" y="3895344"/>
            <a:ext cx="1287704"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Tracing: the loop ends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82</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8 &lt; 8</a:t>
            </a:r>
            <a:r>
              <a:rPr lang="en-US" sz="2400" dirty="0">
                <a:solidFill>
                  <a:srgbClr val="18324A"/>
                </a:solidFill>
              </a:rPr>
              <a:t> is </a:t>
            </a:r>
            <a:r>
              <a:rPr lang="en-US" sz="2400" b="1" dirty="0">
                <a:solidFill>
                  <a:srgbClr val="18324A"/>
                </a:solidFill>
              </a:rPr>
              <a:t>false</a:t>
            </a:r>
            <a:r>
              <a:rPr lang="en-US" sz="2400" dirty="0">
                <a:solidFill>
                  <a:srgbClr val="18324A"/>
                </a:solidFill>
              </a:rPr>
              <a:t>. Three rounds. Prints </a:t>
            </a:r>
            <a:r>
              <a:rPr lang="en-US" sz="2400" dirty="0">
                <a:solidFill>
                  <a:srgbClr val="18324A"/>
                </a:solidFill>
                <a:latin typeface="Consolas"/>
                <a:ea typeface="Consolas"/>
                <a:cs typeface="Consolas"/>
              </a:rPr>
              <a:t>x=8 y=12</a:t>
            </a:r>
            <a:r>
              <a:rPr lang="en-US" sz="2400" dirty="0">
                <a:solidFill>
                  <a:srgbClr val="18324A"/>
                </a:solidFill>
              </a:rPr>
              <a:t>. After a loop, </a:t>
            </a:r>
            <a:r>
              <a:rPr lang="en-US" sz="2400" dirty="0">
                <a:solidFill>
                  <a:srgbClr val="18324A"/>
                </a:solidFill>
                <a:latin typeface="Consolas"/>
                <a:ea typeface="Consolas"/>
                <a:cs typeface="Consolas"/>
              </a:rPr>
              <a:t>x</a:t>
            </a:r>
            <a:r>
              <a:rPr lang="en-US" sz="2400" dirty="0">
                <a:solidFill>
                  <a:srgbClr val="18324A"/>
                </a:solidFill>
              </a:rPr>
              <a:t> holds the first value that failed the check.</a:t>
            </a:r>
            <a:endParaRPr lang="en-US" sz="2400" dirty="0"/>
          </a:p>
        </p:txBody>
      </p:sp>
      <p:sp>
        <p:nvSpPr>
          <p:cNvPr id="9" name="Shape 9"/>
          <p:cNvSpPr/>
          <p:nvPr/>
        </p:nvSpPr>
        <p:spPr>
          <a:xfrm>
            <a:off x="548640" y="1261872"/>
            <a:ext cx="5669280" cy="35090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4273677"/>
            <a:ext cx="566928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427367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3509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x = 2;</a:t>
            </a:r>
            <a:endParaRPr lang="en-US" sz="2200" dirty="0"/>
          </a:p>
          <a:p>
            <a:pPr marL="0" indent="0" algn="l">
              <a:lnSpc>
                <a:spcPts val="2750"/>
              </a:lnSpc>
              <a:buNone/>
            </a:pPr>
            <a:r>
              <a:rPr lang="en-US" sz="2200" dirty="0">
                <a:solidFill>
                  <a:srgbClr val="64748B"/>
                </a:solidFill>
                <a:latin typeface="Consolas"/>
                <a:ea typeface="Consolas"/>
                <a:cs typeface="Consolas"/>
              </a:rPr>
              <a:t>int y = 0;</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while (x &lt; 8) {</a:t>
            </a:r>
            <a:endParaRPr lang="en-US" sz="2200" dirty="0"/>
          </a:p>
          <a:p>
            <a:pPr marL="0" indent="0" algn="l">
              <a:lnSpc>
                <a:spcPts val="2750"/>
              </a:lnSpc>
              <a:buNone/>
            </a:pPr>
            <a:r>
              <a:rPr lang="en-US" sz="2200" dirty="0">
                <a:solidFill>
                  <a:srgbClr val="64748B"/>
                </a:solidFill>
                <a:latin typeface="Consolas"/>
                <a:ea typeface="Consolas"/>
                <a:cs typeface="Consolas"/>
              </a:rPr>
              <a:t>    y += x;</a:t>
            </a:r>
            <a:endParaRPr lang="en-US" sz="2200" dirty="0"/>
          </a:p>
          <a:p>
            <a:pPr marL="0" indent="0" algn="l">
              <a:lnSpc>
                <a:spcPts val="2750"/>
              </a:lnSpc>
              <a:buNone/>
            </a:pPr>
            <a:r>
              <a:rPr lang="en-US" sz="2200" dirty="0">
                <a:solidFill>
                  <a:srgbClr val="64748B"/>
                </a:solidFill>
                <a:latin typeface="Consolas"/>
                <a:ea typeface="Consolas"/>
                <a:cs typeface="Consolas"/>
              </a:rPr>
              <a:t>    x += 2;</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printf("x=%d y=%d\n", x, y);</a:t>
            </a:r>
            <a:endParaRPr lang="en-US" sz="2200" dirty="0"/>
          </a:p>
        </p:txBody>
      </p:sp>
      <p:sp>
        <p:nvSpPr>
          <p:cNvPr id="13" name="Shape 13"/>
          <p:cNvSpPr/>
          <p:nvPr/>
        </p:nvSpPr>
        <p:spPr>
          <a:xfrm>
            <a:off x="6492240"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round</a:t>
            </a:r>
            <a:endParaRPr lang="en-US" sz="1800" dirty="0"/>
          </a:p>
        </p:txBody>
      </p:sp>
      <p:sp>
        <p:nvSpPr>
          <p:cNvPr id="14" name="Shape 14"/>
          <p:cNvSpPr/>
          <p:nvPr/>
        </p:nvSpPr>
        <p:spPr>
          <a:xfrm>
            <a:off x="7779944"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8</a:t>
            </a:r>
            <a:r>
              <a:rPr lang="en-US" sz="1800" b="1" dirty="0">
                <a:solidFill>
                  <a:srgbClr val="FFFFFF"/>
                </a:solidFill>
              </a:rPr>
              <a:t>?</a:t>
            </a:r>
            <a:endParaRPr lang="en-US" sz="1800" dirty="0"/>
          </a:p>
        </p:txBody>
      </p:sp>
      <p:sp>
        <p:nvSpPr>
          <p:cNvPr id="15" name="Shape 15"/>
          <p:cNvSpPr/>
          <p:nvPr/>
        </p:nvSpPr>
        <p:spPr>
          <a:xfrm>
            <a:off x="9067648"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y</a:t>
            </a:r>
            <a:endParaRPr lang="en-US" sz="1800" dirty="0"/>
          </a:p>
        </p:txBody>
      </p:sp>
      <p:sp>
        <p:nvSpPr>
          <p:cNvPr id="16" name="Shape 16"/>
          <p:cNvSpPr/>
          <p:nvPr/>
        </p:nvSpPr>
        <p:spPr>
          <a:xfrm>
            <a:off x="10355351" y="1261872"/>
            <a:ext cx="128770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7" name="Shape 17"/>
          <p:cNvSpPr/>
          <p:nvPr/>
        </p:nvSpPr>
        <p:spPr>
          <a:xfrm>
            <a:off x="6492240"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779944"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9" name="Shape 19"/>
          <p:cNvSpPr/>
          <p:nvPr/>
        </p:nvSpPr>
        <p:spPr>
          <a:xfrm>
            <a:off x="9067648"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0" name="Shape 20"/>
          <p:cNvSpPr/>
          <p:nvPr/>
        </p:nvSpPr>
        <p:spPr>
          <a:xfrm>
            <a:off x="10355351" y="1920240"/>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21" name="Shape 21"/>
          <p:cNvSpPr/>
          <p:nvPr/>
        </p:nvSpPr>
        <p:spPr>
          <a:xfrm>
            <a:off x="6492240" y="2578608"/>
            <a:ext cx="12877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2" name="Shape 22"/>
          <p:cNvSpPr/>
          <p:nvPr/>
        </p:nvSpPr>
        <p:spPr>
          <a:xfrm>
            <a:off x="7779944" y="2578608"/>
            <a:ext cx="12877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3" name="Shape 23"/>
          <p:cNvSpPr/>
          <p:nvPr/>
        </p:nvSpPr>
        <p:spPr>
          <a:xfrm>
            <a:off x="9067648" y="2578608"/>
            <a:ext cx="12877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24" name="Shape 24"/>
          <p:cNvSpPr/>
          <p:nvPr/>
        </p:nvSpPr>
        <p:spPr>
          <a:xfrm>
            <a:off x="10355351" y="2578608"/>
            <a:ext cx="128770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25" name="Shape 25"/>
          <p:cNvSpPr/>
          <p:nvPr/>
        </p:nvSpPr>
        <p:spPr>
          <a:xfrm>
            <a:off x="6492240" y="3236976"/>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7779944" y="3236976"/>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7" name="Shape 27"/>
          <p:cNvSpPr/>
          <p:nvPr/>
        </p:nvSpPr>
        <p:spPr>
          <a:xfrm>
            <a:off x="9067648" y="3236976"/>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12</a:t>
            </a:r>
            <a:endParaRPr lang="en-US" sz="2400" dirty="0"/>
          </a:p>
        </p:txBody>
      </p:sp>
      <p:sp>
        <p:nvSpPr>
          <p:cNvPr id="28" name="Shape 28"/>
          <p:cNvSpPr/>
          <p:nvPr/>
        </p:nvSpPr>
        <p:spPr>
          <a:xfrm>
            <a:off x="10355351" y="3236976"/>
            <a:ext cx="128770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8</a:t>
            </a:r>
            <a:endParaRPr lang="en-US" sz="2400" dirty="0"/>
          </a:p>
        </p:txBody>
      </p:sp>
      <p:sp>
        <p:nvSpPr>
          <p:cNvPr id="29" name="Shape 29"/>
          <p:cNvSpPr/>
          <p:nvPr/>
        </p:nvSpPr>
        <p:spPr>
          <a:xfrm>
            <a:off x="6492240" y="3895344"/>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0" name="Shape 30"/>
          <p:cNvSpPr/>
          <p:nvPr/>
        </p:nvSpPr>
        <p:spPr>
          <a:xfrm>
            <a:off x="7779944" y="3895344"/>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false</a:t>
            </a:r>
            <a:endParaRPr lang="en-US" sz="2400" dirty="0"/>
          </a:p>
        </p:txBody>
      </p:sp>
      <p:sp>
        <p:nvSpPr>
          <p:cNvPr id="31" name="Shape 31"/>
          <p:cNvSpPr/>
          <p:nvPr/>
        </p:nvSpPr>
        <p:spPr>
          <a:xfrm>
            <a:off x="9067648" y="3895344"/>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32" name="Shape 32"/>
          <p:cNvSpPr/>
          <p:nvPr/>
        </p:nvSpPr>
        <p:spPr>
          <a:xfrm>
            <a:off x="10355351" y="3895344"/>
            <a:ext cx="1287704" cy="65836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more to trace at home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83</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Trace it on paper.</a:t>
            </a:r>
            <a:endParaRPr lang="en-US" sz="3200" dirty="0"/>
          </a:p>
          <a:p>
            <a:pPr marL="0" indent="0" algn="l">
              <a:spcAft>
                <a:spcPts val="600"/>
              </a:spcAft>
              <a:buNone/>
            </a:pPr>
            <a:r>
              <a:rPr lang="en-US" sz="3200" dirty="0">
                <a:solidFill>
                  <a:srgbClr val="18324A"/>
                </a:solidFill>
              </a:rPr>
              <a:t>Remember: </a:t>
            </a:r>
            <a:r>
              <a:rPr lang="en-US" sz="3200" dirty="0">
                <a:solidFill>
                  <a:srgbClr val="2F80ED"/>
                </a:solidFill>
                <a:latin typeface="Consolas"/>
                <a:ea typeface="Consolas"/>
                <a:cs typeface="Consolas"/>
              </a:rPr>
              <a:t>5 / 2</a:t>
            </a:r>
            <a:r>
              <a:rPr lang="en-US" sz="3200" dirty="0">
                <a:solidFill>
                  <a:srgbClr val="18324A"/>
                </a:solidFill>
              </a:rPr>
              <a:t> is 2.</a:t>
            </a:r>
            <a:endParaRPr lang="en-US" sz="3200" dirty="0"/>
          </a:p>
          <a:p>
            <a:pPr marL="0" indent="0" algn="l">
              <a:spcAft>
                <a:spcPts val="600"/>
              </a:spcAft>
              <a:buNone/>
            </a:pPr>
            <a:r>
              <a:rPr lang="en-US" sz="3200" dirty="0">
                <a:solidFill>
                  <a:srgbClr val="18324A"/>
                </a:solidFill>
              </a:rPr>
              <a:t>Then run </a:t>
            </a:r>
            <a:r>
              <a:rPr lang="en-US" sz="3200" dirty="0">
                <a:solidFill>
                  <a:srgbClr val="2F80ED"/>
                </a:solidFill>
                <a:latin typeface="Consolas"/>
                <a:ea typeface="Consolas"/>
                <a:cs typeface="Consolas"/>
              </a:rPr>
              <a:t>30_trace_halving.c</a:t>
            </a:r>
            <a:r>
              <a:rPr lang="en-US" sz="3200" dirty="0">
                <a:solidFill>
                  <a:srgbClr val="18324A"/>
                </a:solidFill>
              </a:rPr>
              <a:t> to check.</a:t>
            </a:r>
            <a:endParaRPr lang="en-US" sz="3200" dirty="0"/>
          </a:p>
        </p:txBody>
      </p:sp>
      <p:sp>
        <p:nvSpPr>
          <p:cNvPr id="8" name="Shape 8"/>
          <p:cNvSpPr/>
          <p:nvPr/>
        </p:nvSpPr>
        <p:spPr>
          <a:xfrm>
            <a:off x="5760720" y="1261872"/>
            <a:ext cx="5882335" cy="32232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322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n = 10;</a:t>
            </a:r>
            <a:endParaRPr lang="en-US" sz="2000" dirty="0"/>
          </a:p>
          <a:p>
            <a:pPr marL="0" indent="0" algn="l">
              <a:lnSpc>
                <a:spcPts val="2500"/>
              </a:lnSpc>
              <a:buNone/>
            </a:pPr>
            <a:r>
              <a:rPr lang="en-US" sz="2000" dirty="0">
                <a:solidFill>
                  <a:srgbClr val="E5E7EB"/>
                </a:solidFill>
                <a:latin typeface="Consolas"/>
                <a:ea typeface="Consolas"/>
                <a:cs typeface="Consolas"/>
              </a:rPr>
              <a:t>int steps = 0;</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while (n &gt; 1) {</a:t>
            </a:r>
            <a:endParaRPr lang="en-US" sz="2000" dirty="0"/>
          </a:p>
          <a:p>
            <a:pPr marL="0" indent="0" algn="l">
              <a:lnSpc>
                <a:spcPts val="2500"/>
              </a:lnSpc>
              <a:buNone/>
            </a:pPr>
            <a:r>
              <a:rPr lang="en-US" sz="2000" dirty="0">
                <a:solidFill>
                  <a:srgbClr val="E5E7EB"/>
                </a:solidFill>
                <a:latin typeface="Consolas"/>
                <a:ea typeface="Consolas"/>
                <a:cs typeface="Consolas"/>
              </a:rPr>
              <a:t>    n = n / 2;</a:t>
            </a:r>
            <a:endParaRPr lang="en-US" sz="2000" dirty="0"/>
          </a:p>
          <a:p>
            <a:pPr marL="0" indent="0" algn="l">
              <a:lnSpc>
                <a:spcPts val="2500"/>
              </a:lnSpc>
              <a:buNone/>
            </a:pPr>
            <a:r>
              <a:rPr lang="en-US" sz="2000" dirty="0">
                <a:solidFill>
                  <a:srgbClr val="E5E7EB"/>
                </a:solidFill>
                <a:latin typeface="Consolas"/>
                <a:ea typeface="Consolas"/>
                <a:cs typeface="Consolas"/>
              </a:rPr>
              <a:t>    steps++;</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printf("n=%d steps=%d\n", n, steps);</a:t>
            </a:r>
            <a:endParaRPr lang="en-US"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59E0B"/>
          </a:solidFill>
          <a:ln>
            <a:noFill/>
          </a:ln>
        </p:spPr>
        <p:txBody>
          <a:bodyPr wrap="square" lIns="0" tIns="0" rIns="0" bIns="0" rtlCol="0" anchor="ctr"/>
          <a:lstStyle/>
          <a:p>
            <a:pPr marL="0" indent="0" algn="ctr">
              <a:buNone/>
            </a:pPr>
            <a:r>
              <a:rPr lang="en-US" sz="5400" b="1" dirty="0">
                <a:solidFill>
                  <a:srgbClr val="FFFFFF"/>
                </a:solidFill>
              </a:rPr>
              <a:t>9</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Practice</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Now you write</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6</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In-class practice tasks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85</a:t>
            </a:r>
            <a:endParaRPr lang="en-US" sz="1400" dirty="0"/>
          </a:p>
        </p:txBody>
      </p:sp>
      <p:sp>
        <p:nvSpPr>
          <p:cNvPr id="6" name="Shape 6"/>
          <p:cNvSpPr/>
          <p:nvPr/>
        </p:nvSpPr>
        <p:spPr>
          <a:xfrm>
            <a:off x="731520" y="1307592"/>
            <a:ext cx="544068" cy="544068"/>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595628" y="1307592"/>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Print the numbers from 1 to n</a:t>
            </a:r>
            <a:endParaRPr lang="en-US" sz="2800" dirty="0"/>
          </a:p>
        </p:txBody>
      </p:sp>
      <p:sp>
        <p:nvSpPr>
          <p:cNvPr id="8" name="Shape 8"/>
          <p:cNvSpPr/>
          <p:nvPr/>
        </p:nvSpPr>
        <p:spPr>
          <a:xfrm>
            <a:off x="731520" y="1988820"/>
            <a:ext cx="544068" cy="544068"/>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595628" y="1988820"/>
            <a:ext cx="10001707" cy="544068"/>
          </a:xfrm>
          <a:prstGeom prst="rect">
            <a:avLst/>
          </a:prstGeom>
          <a:noFill/>
          <a:ln>
            <a:noFill/>
          </a:ln>
        </p:spPr>
        <p:txBody>
          <a:bodyPr wrap="square" lIns="0" tIns="0" rIns="0" bIns="0" rtlCol="0" anchor="ctr"/>
          <a:lstStyle/>
          <a:p>
            <a:pPr marL="0" indent="0" algn="l">
              <a:buNone/>
            </a:pPr>
            <a:r>
              <a:rPr lang="en-US" sz="2800" b="1" dirty="0">
                <a:solidFill>
                  <a:srgbClr val="18324A"/>
                </a:solidFill>
              </a:rPr>
              <a:t>Print the even numbers from 2 to n</a:t>
            </a:r>
            <a:endParaRPr lang="en-US" sz="2800" dirty="0"/>
          </a:p>
        </p:txBody>
      </p:sp>
      <p:sp>
        <p:nvSpPr>
          <p:cNvPr id="10" name="Shape 10"/>
          <p:cNvSpPr/>
          <p:nvPr/>
        </p:nvSpPr>
        <p:spPr>
          <a:xfrm>
            <a:off x="731520" y="2670048"/>
            <a:ext cx="544068" cy="544068"/>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595628" y="2670048"/>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Read n values and calculate their sum</a:t>
            </a:r>
            <a:endParaRPr lang="en-US" sz="2800" dirty="0"/>
          </a:p>
        </p:txBody>
      </p:sp>
      <p:sp>
        <p:nvSpPr>
          <p:cNvPr id="12" name="Shape 12"/>
          <p:cNvSpPr/>
          <p:nvPr/>
        </p:nvSpPr>
        <p:spPr>
          <a:xfrm>
            <a:off x="731520" y="3351276"/>
            <a:ext cx="544068" cy="544068"/>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595628" y="3351276"/>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Read n values and count the positives</a:t>
            </a:r>
            <a:endParaRPr lang="en-US" sz="2800" dirty="0"/>
          </a:p>
        </p:txBody>
      </p:sp>
      <p:sp>
        <p:nvSpPr>
          <p:cNvPr id="14" name="Shape 14"/>
          <p:cNvSpPr/>
          <p:nvPr/>
        </p:nvSpPr>
        <p:spPr>
          <a:xfrm>
            <a:off x="731520" y="4032504"/>
            <a:ext cx="544068" cy="544068"/>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595628" y="4032504"/>
            <a:ext cx="10001707" cy="544068"/>
          </a:xfrm>
          <a:prstGeom prst="rect">
            <a:avLst/>
          </a:prstGeom>
          <a:noFill/>
          <a:ln>
            <a:noFill/>
          </a:ln>
        </p:spPr>
        <p:txBody>
          <a:bodyPr wrap="square" lIns="0" tIns="0" rIns="0" bIns="0" rtlCol="0" anchor="ctr"/>
          <a:lstStyle/>
          <a:p>
            <a:pPr marL="0" indent="0" algn="l">
              <a:buNone/>
            </a:pPr>
            <a:r>
              <a:rPr lang="en-US" sz="2800" b="1" dirty="0">
                <a:solidFill>
                  <a:srgbClr val="18324A"/>
                </a:solidFill>
              </a:rPr>
              <a:t>Keep asking for a PIN until it is correct</a:t>
            </a:r>
            <a:endParaRPr lang="en-US" sz="2800" dirty="0"/>
          </a:p>
        </p:txBody>
      </p:sp>
      <p:sp>
        <p:nvSpPr>
          <p:cNvPr id="16" name="Shape 16"/>
          <p:cNvSpPr/>
          <p:nvPr/>
        </p:nvSpPr>
        <p:spPr>
          <a:xfrm>
            <a:off x="731520" y="4713732"/>
            <a:ext cx="544068" cy="544068"/>
          </a:xfrm>
          <a:prstGeom prst="rect">
            <a:avLst/>
          </a:prstGeom>
          <a:solidFill>
            <a:srgbClr val="06B6D4"/>
          </a:solidFill>
          <a:ln>
            <a:noFill/>
          </a:ln>
        </p:spPr>
        <p:txBody>
          <a:bodyPr wrap="square" lIns="0" tIns="0" rIns="0" bIns="0" rtlCol="0" anchor="ctr"/>
          <a:lstStyle/>
          <a:p>
            <a:pPr marL="0" indent="0" algn="ctr">
              <a:buNone/>
            </a:pPr>
            <a:r>
              <a:rPr lang="en-US" sz="2400" b="1" dirty="0">
                <a:solidFill>
                  <a:srgbClr val="FFFFFF"/>
                </a:solidFill>
              </a:rPr>
              <a:t>6</a:t>
            </a:r>
            <a:endParaRPr lang="en-US" sz="2400" dirty="0"/>
          </a:p>
        </p:txBody>
      </p:sp>
      <p:sp>
        <p:nvSpPr>
          <p:cNvPr id="17" name="Shape 17"/>
          <p:cNvSpPr/>
          <p:nvPr/>
        </p:nvSpPr>
        <p:spPr>
          <a:xfrm>
            <a:off x="1595628" y="4713732"/>
            <a:ext cx="10001707" cy="544068"/>
          </a:xfrm>
          <a:prstGeom prst="rect">
            <a:avLst/>
          </a:prstGeom>
          <a:noFill/>
          <a:ln>
            <a:noFill/>
          </a:ln>
        </p:spPr>
        <p:txBody>
          <a:bodyPr wrap="square" lIns="0" tIns="0" rIns="0" bIns="0" rtlCol="0" anchor="ctr"/>
          <a:lstStyle/>
          <a:p>
            <a:pPr marL="0" indent="0" algn="l">
              <a:buNone/>
            </a:pPr>
            <a:r>
              <a:rPr lang="en-US" sz="2800" dirty="0">
                <a:solidFill>
                  <a:srgbClr val="18324A"/>
                </a:solidFill>
              </a:rPr>
              <a:t>Print a multiplication table for one number</a:t>
            </a:r>
            <a:endParaRPr lang="en-US" sz="2800" dirty="0"/>
          </a:p>
        </p:txBody>
      </p:sp>
      <p:sp>
        <p:nvSpPr>
          <p:cNvPr id="18" name="Shape 18"/>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9" name="Shape 19"/>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20"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Before you type: write the input, the output, the start, the stop and the update in plain words.</a:t>
            </a:r>
            <a:endParaRPr lang="en-US"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2: even numbers from 2 to 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86</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11094415"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Read </a:t>
            </a:r>
            <a:r>
              <a:rPr lang="en-US" sz="3200" dirty="0">
                <a:solidFill>
                  <a:srgbClr val="2F80ED"/>
                </a:solidFill>
                <a:latin typeface="Consolas"/>
                <a:ea typeface="Consolas"/>
                <a:cs typeface="Consolas"/>
              </a:rPr>
              <a:t>n</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Print the even numbers from 2 to </a:t>
            </a:r>
            <a:r>
              <a:rPr lang="en-US" sz="3200" dirty="0">
                <a:solidFill>
                  <a:srgbClr val="2F80ED"/>
                </a:solidFill>
                <a:latin typeface="Consolas"/>
                <a:ea typeface="Consolas"/>
                <a:cs typeface="Consolas"/>
              </a:rPr>
              <a:t>n</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You type </a:t>
            </a:r>
            <a:r>
              <a:rPr lang="en-US" sz="3200" dirty="0">
                <a:solidFill>
                  <a:srgbClr val="2F80ED"/>
                </a:solidFill>
                <a:latin typeface="Consolas"/>
                <a:ea typeface="Consolas"/>
                <a:cs typeface="Consolas"/>
              </a:rPr>
              <a:t>10</a:t>
            </a:r>
            <a:r>
              <a:rPr lang="en-US" sz="3200" dirty="0">
                <a:solidFill>
                  <a:srgbClr val="18324A"/>
                </a:solidFill>
              </a:rPr>
              <a:t>: the screen shows </a:t>
            </a:r>
            <a:r>
              <a:rPr lang="en-US" sz="3200" dirty="0">
                <a:solidFill>
                  <a:srgbClr val="2F80ED"/>
                </a:solidFill>
                <a:latin typeface="Consolas"/>
                <a:ea typeface="Consolas"/>
                <a:cs typeface="Consolas"/>
              </a:rPr>
              <a:t>2 4 6 8 10</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You type </a:t>
            </a:r>
            <a:r>
              <a:rPr lang="en-US" sz="3200" dirty="0">
                <a:solidFill>
                  <a:srgbClr val="2F80ED"/>
                </a:solidFill>
                <a:latin typeface="Consolas"/>
                <a:ea typeface="Consolas"/>
                <a:cs typeface="Consolas"/>
              </a:rPr>
              <a:t>9</a:t>
            </a:r>
            <a:r>
              <a:rPr lang="en-US" sz="3200" dirty="0">
                <a:solidFill>
                  <a:srgbClr val="18324A"/>
                </a:solidFill>
              </a:rPr>
              <a:t>: the screen shows </a:t>
            </a:r>
            <a:r>
              <a:rPr lang="en-US" sz="3200" dirty="0">
                <a:solidFill>
                  <a:srgbClr val="2F80ED"/>
                </a:solidFill>
                <a:latin typeface="Consolas"/>
                <a:ea typeface="Consolas"/>
                <a:cs typeface="Consolas"/>
              </a:rPr>
              <a:t>2 4 6 8</a:t>
            </a:r>
            <a:r>
              <a:rPr lang="en-US" sz="3200" dirty="0">
                <a:solidFill>
                  <a:srgbClr val="18324A"/>
                </a:solidFill>
              </a:rPr>
              <a:t>.</a:t>
            </a:r>
            <a:endParaRPr lang="en-US" sz="3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2: two good ways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87</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Both are right. </a:t>
            </a:r>
            <a:r>
              <a:rPr lang="en-US" sz="2400" dirty="0">
                <a:solidFill>
                  <a:srgbClr val="18324A"/>
                </a:solidFill>
                <a:latin typeface="Consolas"/>
                <a:ea typeface="Consolas"/>
                <a:cs typeface="Consolas"/>
              </a:rPr>
              <a:t>i % 2 == 0</a:t>
            </a:r>
            <a:r>
              <a:rPr lang="en-US" sz="2400" dirty="0">
                <a:solidFill>
                  <a:srgbClr val="18324A"/>
                </a:solidFill>
              </a:rPr>
              <a:t> means: the remainder after dividing by 2 is 0, so </a:t>
            </a:r>
            <a:r>
              <a:rPr lang="en-US" sz="2400" dirty="0">
                <a:solidFill>
                  <a:srgbClr val="18324A"/>
                </a:solidFill>
                <a:latin typeface="Consolas"/>
                <a:ea typeface="Consolas"/>
                <a:cs typeface="Consolas"/>
              </a:rPr>
              <a:t>i</a:t>
            </a:r>
            <a:r>
              <a:rPr lang="en-US" sz="2400" dirty="0">
                <a:solidFill>
                  <a:srgbClr val="18324A"/>
                </a:solidFill>
              </a:rPr>
              <a:t> is even.</a:t>
            </a:r>
            <a:endParaRPr lang="en-US" sz="2400" dirty="0"/>
          </a:p>
        </p:txBody>
      </p:sp>
      <p:sp>
        <p:nvSpPr>
          <p:cNvPr id="9" name="Shape 9"/>
          <p:cNvSpPr/>
          <p:nvPr/>
        </p:nvSpPr>
        <p:spPr>
          <a:xfrm>
            <a:off x="548640" y="1261872"/>
            <a:ext cx="5364328" cy="384048"/>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Jump by two</a:t>
            </a:r>
            <a:endParaRPr lang="en-US" sz="1800" dirty="0"/>
          </a:p>
        </p:txBody>
      </p:sp>
      <p:sp>
        <p:nvSpPr>
          <p:cNvPr id="10" name="Shape 10"/>
          <p:cNvSpPr/>
          <p:nvPr/>
        </p:nvSpPr>
        <p:spPr>
          <a:xfrm>
            <a:off x="548640" y="1645920"/>
            <a:ext cx="5364328" cy="1318260"/>
          </a:xfrm>
          <a:prstGeom prst="rect">
            <a:avLst/>
          </a:prstGeom>
          <a:solidFill>
            <a:srgbClr val="0F172A"/>
          </a:solidFill>
          <a:ln>
            <a:noFill/>
          </a:ln>
        </p:spPr>
        <p:txBody>
          <a:bodyPr wrap="square" lIns="0" tIns="0" rIns="0" bIns="0" rtlCol="0" anchor="t"/>
          <a:lstStyle/>
          <a:p>
            <a:endParaRPr lang="en-US"/>
          </a:p>
        </p:txBody>
      </p:sp>
      <p:sp>
        <p:nvSpPr>
          <p:cNvPr id="11" name="Code"/>
          <p:cNvSpPr/>
          <p:nvPr/>
        </p:nvSpPr>
        <p:spPr>
          <a:xfrm>
            <a:off x="548640" y="1645920"/>
            <a:ext cx="5364328" cy="1318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for (int i = 2; i &lt;= n; i += 2) {</a:t>
            </a:r>
            <a:endParaRPr lang="en-US" sz="2000" dirty="0"/>
          </a:p>
          <a:p>
            <a:pPr marL="0" indent="0" algn="l">
              <a:lnSpc>
                <a:spcPts val="2500"/>
              </a:lnSpc>
              <a:buNone/>
            </a:pPr>
            <a:r>
              <a:rPr lang="en-US" sz="2000" dirty="0">
                <a:solidFill>
                  <a:srgbClr val="E5E7EB"/>
                </a:solidFill>
                <a:latin typeface="Consolas"/>
                <a:ea typeface="Consolas"/>
                <a:cs typeface="Consolas"/>
              </a:rPr>
              <a:t>    printf("%d ", i);</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
        <p:nvSpPr>
          <p:cNvPr id="12" name="Shape 12"/>
          <p:cNvSpPr/>
          <p:nvPr/>
        </p:nvSpPr>
        <p:spPr>
          <a:xfrm>
            <a:off x="6278728" y="1261872"/>
            <a:ext cx="5364328" cy="384048"/>
          </a:xfrm>
          <a:prstGeom prst="rect">
            <a:avLst/>
          </a:prstGeom>
          <a:solidFill>
            <a:srgbClr val="2F80ED"/>
          </a:solidFill>
          <a:ln>
            <a:noFill/>
          </a:ln>
        </p:spPr>
        <p:txBody>
          <a:bodyPr wrap="square" lIns="0" tIns="0" rIns="0" bIns="0" rtlCol="0" anchor="ctr"/>
          <a:lstStyle/>
          <a:p>
            <a:pPr marL="0" indent="0" algn="ctr">
              <a:buNone/>
            </a:pPr>
            <a:r>
              <a:rPr lang="en-US" sz="1800" b="1" dirty="0">
                <a:solidFill>
                  <a:srgbClr val="FFFFFF"/>
                </a:solidFill>
              </a:rPr>
              <a:t>Visit every number, ask</a:t>
            </a:r>
            <a:endParaRPr lang="en-US" sz="1800" dirty="0"/>
          </a:p>
        </p:txBody>
      </p:sp>
      <p:sp>
        <p:nvSpPr>
          <p:cNvPr id="13" name="Shape 13"/>
          <p:cNvSpPr/>
          <p:nvPr/>
        </p:nvSpPr>
        <p:spPr>
          <a:xfrm>
            <a:off x="6278728" y="1645920"/>
            <a:ext cx="5364328" cy="1953260"/>
          </a:xfrm>
          <a:prstGeom prst="rect">
            <a:avLst/>
          </a:prstGeom>
          <a:solidFill>
            <a:srgbClr val="0F172A"/>
          </a:solidFill>
          <a:ln>
            <a:noFill/>
          </a:ln>
        </p:spPr>
        <p:txBody>
          <a:bodyPr wrap="square" lIns="0" tIns="0" rIns="0" bIns="0" rtlCol="0" anchor="t"/>
          <a:lstStyle/>
          <a:p>
            <a:endParaRPr lang="en-US"/>
          </a:p>
        </p:txBody>
      </p:sp>
      <p:sp>
        <p:nvSpPr>
          <p:cNvPr id="14" name="Code"/>
          <p:cNvSpPr/>
          <p:nvPr/>
        </p:nvSpPr>
        <p:spPr>
          <a:xfrm>
            <a:off x="6278728" y="1645920"/>
            <a:ext cx="5364328" cy="195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for (int i = 1; i &lt;= n; i++) {</a:t>
            </a:r>
            <a:endParaRPr lang="en-US" sz="2000" dirty="0"/>
          </a:p>
          <a:p>
            <a:pPr marL="0" indent="0" algn="l">
              <a:lnSpc>
                <a:spcPts val="2500"/>
              </a:lnSpc>
              <a:buNone/>
            </a:pPr>
            <a:r>
              <a:rPr lang="en-US" sz="2000" dirty="0">
                <a:solidFill>
                  <a:srgbClr val="E5E7EB"/>
                </a:solidFill>
                <a:latin typeface="Consolas"/>
                <a:ea typeface="Consolas"/>
                <a:cs typeface="Consolas"/>
              </a:rPr>
              <a:t>    if (i % 2 == 0) {</a:t>
            </a:r>
            <a:endParaRPr lang="en-US" sz="2000" dirty="0"/>
          </a:p>
          <a:p>
            <a:pPr marL="0" indent="0" algn="l">
              <a:lnSpc>
                <a:spcPts val="2500"/>
              </a:lnSpc>
              <a:buNone/>
            </a:pPr>
            <a:r>
              <a:rPr lang="en-US" sz="2000" dirty="0">
                <a:solidFill>
                  <a:srgbClr val="E5E7EB"/>
                </a:solidFill>
                <a:latin typeface="Consolas"/>
                <a:ea typeface="Consolas"/>
                <a:cs typeface="Consolas"/>
              </a:rPr>
              <a:t>        printf("%d ", i);</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5: keep asking for the PIN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88</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The right PIN is </a:t>
            </a:r>
            <a:r>
              <a:rPr lang="en-US" sz="3200" dirty="0">
                <a:solidFill>
                  <a:srgbClr val="2F80ED"/>
                </a:solidFill>
                <a:latin typeface="Consolas"/>
                <a:ea typeface="Consolas"/>
                <a:cs typeface="Consolas"/>
              </a:rPr>
              <a:t>1234</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Wrong PIN: ask again.</a:t>
            </a:r>
            <a:endParaRPr lang="en-US" sz="3200" dirty="0"/>
          </a:p>
          <a:p>
            <a:pPr marL="0" indent="0" algn="l">
              <a:spcAft>
                <a:spcPts val="600"/>
              </a:spcAft>
              <a:buNone/>
            </a:pPr>
            <a:r>
              <a:rPr lang="en-US" sz="3200" dirty="0">
                <a:solidFill>
                  <a:srgbClr val="18324A"/>
                </a:solidFill>
              </a:rPr>
              <a:t>Right PIN: print </a:t>
            </a:r>
            <a:r>
              <a:rPr lang="en-US" sz="3200" dirty="0">
                <a:solidFill>
                  <a:srgbClr val="2F80ED"/>
                </a:solidFill>
                <a:latin typeface="Consolas"/>
                <a:ea typeface="Consolas"/>
                <a:cs typeface="Consolas"/>
              </a:rPr>
              <a:t>Welcome</a:t>
            </a:r>
            <a:r>
              <a:rPr lang="en-US" sz="3200" dirty="0">
                <a:solidFill>
                  <a:srgbClr val="18324A"/>
                </a:solidFill>
              </a:rPr>
              <a:t>.</a:t>
            </a:r>
            <a:endParaRPr lang="en-US" sz="3200" dirty="0"/>
          </a:p>
        </p:txBody>
      </p:sp>
      <p:sp>
        <p:nvSpPr>
          <p:cNvPr id="8" name="Shape 8"/>
          <p:cNvSpPr/>
          <p:nvPr/>
        </p:nvSpPr>
        <p:spPr>
          <a:xfrm>
            <a:off x="5760720" y="1261872"/>
            <a:ext cx="5882335" cy="2397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397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PIN: 1111</a:t>
            </a:r>
            <a:endParaRPr lang="en-US" sz="3200" dirty="0"/>
          </a:p>
          <a:p>
            <a:pPr marL="0" indent="0" algn="l">
              <a:lnSpc>
                <a:spcPts val="4000"/>
              </a:lnSpc>
              <a:buNone/>
            </a:pPr>
            <a:r>
              <a:rPr lang="en-US" sz="3200" dirty="0">
                <a:solidFill>
                  <a:srgbClr val="E5E7EB"/>
                </a:solidFill>
                <a:latin typeface="Consolas"/>
                <a:ea typeface="Consolas"/>
                <a:cs typeface="Consolas"/>
              </a:rPr>
              <a:t>Wrong. Try again: 4321</a:t>
            </a:r>
            <a:endParaRPr lang="en-US" sz="3200" dirty="0"/>
          </a:p>
          <a:p>
            <a:pPr marL="0" indent="0" algn="l">
              <a:lnSpc>
                <a:spcPts val="4000"/>
              </a:lnSpc>
              <a:buNone/>
            </a:pPr>
            <a:r>
              <a:rPr lang="en-US" sz="3200" dirty="0">
                <a:solidFill>
                  <a:srgbClr val="E5E7EB"/>
                </a:solidFill>
                <a:latin typeface="Consolas"/>
                <a:ea typeface="Consolas"/>
                <a:cs typeface="Consolas"/>
              </a:rPr>
              <a:t>Wrong. Try again: 1234</a:t>
            </a:r>
            <a:endParaRPr lang="en-US" sz="3200" dirty="0"/>
          </a:p>
          <a:p>
            <a:pPr marL="0" indent="0" algn="l">
              <a:lnSpc>
                <a:spcPts val="4000"/>
              </a:lnSpc>
              <a:buNone/>
            </a:pPr>
            <a:r>
              <a:rPr lang="en-US" sz="3200" dirty="0">
                <a:solidFill>
                  <a:srgbClr val="E5E7EB"/>
                </a:solidFill>
                <a:latin typeface="Consolas"/>
                <a:ea typeface="Consolas"/>
                <a:cs typeface="Consolas"/>
              </a:rPr>
              <a:t>Welcome</a:t>
            </a:r>
            <a:endParaRPr lang="en-US" sz="3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5: it is the age check again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89</a:t>
            </a:r>
            <a:endParaRPr lang="en-US" sz="1400" dirty="0"/>
          </a:p>
        </p:txBody>
      </p:sp>
      <p:sp>
        <p:nvSpPr>
          <p:cNvPr id="6" name="Shape 6"/>
          <p:cNvSpPr/>
          <p:nvPr/>
        </p:nvSpPr>
        <p:spPr>
          <a:xfrm>
            <a:off x="548640" y="1261872"/>
            <a:ext cx="6766560" cy="44932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54977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549777"/>
            <a:ext cx="82296" cy="4127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4932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64748B"/>
                </a:solidFill>
                <a:latin typeface="Consolas"/>
                <a:ea typeface="Consolas"/>
                <a:cs typeface="Consolas"/>
              </a:rPr>
              <a:t>int pin;</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printf("PIN: ");</a:t>
            </a:r>
            <a:endParaRPr lang="en-US" sz="2600" dirty="0"/>
          </a:p>
          <a:p>
            <a:pPr marL="0" indent="0" algn="l">
              <a:lnSpc>
                <a:spcPts val="3250"/>
              </a:lnSpc>
              <a:buNone/>
            </a:pPr>
            <a:r>
              <a:rPr lang="en-US" sz="2600" dirty="0">
                <a:solidFill>
                  <a:srgbClr val="64748B"/>
                </a:solidFill>
                <a:latin typeface="Consolas"/>
                <a:ea typeface="Consolas"/>
                <a:cs typeface="Consolas"/>
              </a:rPr>
              <a:t>scanf("%d", &amp;pin);</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FFFFFF"/>
                </a:solidFill>
                <a:latin typeface="Consolas"/>
                <a:ea typeface="Consolas"/>
                <a:cs typeface="Consolas"/>
              </a:rPr>
              <a:t>while (pin != 1234) {</a:t>
            </a:r>
            <a:endParaRPr lang="en-US" sz="2600" dirty="0"/>
          </a:p>
          <a:p>
            <a:pPr marL="0" indent="0" algn="l">
              <a:lnSpc>
                <a:spcPts val="3250"/>
              </a:lnSpc>
              <a:buNone/>
            </a:pPr>
            <a:r>
              <a:rPr lang="en-US" sz="2600" dirty="0">
                <a:solidFill>
                  <a:srgbClr val="64748B"/>
                </a:solidFill>
                <a:latin typeface="Consolas"/>
                <a:ea typeface="Consolas"/>
                <a:cs typeface="Consolas"/>
              </a:rPr>
              <a:t>    printf("Wrong. Try again: ");</a:t>
            </a:r>
            <a:endParaRPr lang="en-US" sz="2600" dirty="0"/>
          </a:p>
          <a:p>
            <a:pPr marL="0" indent="0" algn="l">
              <a:lnSpc>
                <a:spcPts val="3250"/>
              </a:lnSpc>
              <a:buNone/>
            </a:pPr>
            <a:r>
              <a:rPr lang="en-US" sz="2600" dirty="0">
                <a:solidFill>
                  <a:srgbClr val="64748B"/>
                </a:solidFill>
                <a:latin typeface="Consolas"/>
                <a:ea typeface="Consolas"/>
                <a:cs typeface="Consolas"/>
              </a:rPr>
              <a:t>    scanf("%d", &amp;pin);</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p:txBody>
      </p:sp>
      <p:sp>
        <p:nvSpPr>
          <p:cNvPr id="10" name="Shape 10"/>
          <p:cNvSpPr/>
          <p:nvPr/>
        </p:nvSpPr>
        <p:spPr>
          <a:xfrm>
            <a:off x="7589520" y="1261872"/>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1" name="Shape 11"/>
          <p:cNvSpPr/>
          <p:nvPr/>
        </p:nvSpPr>
        <p:spPr>
          <a:xfrm>
            <a:off x="7589520" y="1261872"/>
            <a:ext cx="109728" cy="1051560"/>
          </a:xfrm>
          <a:prstGeom prst="rect">
            <a:avLst/>
          </a:prstGeom>
          <a:solidFill>
            <a:srgbClr val="F59E0B"/>
          </a:solidFill>
          <a:ln>
            <a:noFill/>
          </a:ln>
        </p:spPr>
        <p:txBody>
          <a:bodyPr wrap="square" lIns="0" tIns="0" rIns="0" bIns="0" rtlCol="0" anchor="t"/>
          <a:lstStyle/>
          <a:p>
            <a:endParaRPr lang="en-US"/>
          </a:p>
        </p:txBody>
      </p:sp>
      <p:sp>
        <p:nvSpPr>
          <p:cNvPr id="12"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pin != 1234</a:t>
            </a:r>
            <a:r>
              <a:rPr lang="en-US" sz="2400" dirty="0">
                <a:solidFill>
                  <a:srgbClr val="18324A"/>
                </a:solidFill>
              </a:rPr>
              <a:t>: the PIN is </a:t>
            </a:r>
            <a:r>
              <a:rPr lang="en-US" sz="2400" b="1" dirty="0">
                <a:solidFill>
                  <a:srgbClr val="18324A"/>
                </a:solidFill>
              </a:rPr>
              <a:t>not</a:t>
            </a:r>
            <a:r>
              <a:rPr lang="en-US" sz="2400" dirty="0">
                <a:solidFill>
                  <a:srgbClr val="18324A"/>
                </a:solidFill>
              </a:rPr>
              <a:t> 1234.</a:t>
            </a:r>
            <a:endParaRPr lang="en-US" sz="2400" dirty="0"/>
          </a:p>
        </p:txBody>
      </p:sp>
      <p:sp>
        <p:nvSpPr>
          <p:cNvPr id="13" name="Shape 13"/>
          <p:cNvSpPr/>
          <p:nvPr/>
        </p:nvSpPr>
        <p:spPr>
          <a:xfrm>
            <a:off x="7589520" y="2514600"/>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4" name="Shape 14"/>
          <p:cNvSpPr/>
          <p:nvPr/>
        </p:nvSpPr>
        <p:spPr>
          <a:xfrm>
            <a:off x="7589520" y="2514600"/>
            <a:ext cx="109728" cy="1051560"/>
          </a:xfrm>
          <a:prstGeom prst="rect">
            <a:avLst/>
          </a:prstGeom>
          <a:solidFill>
            <a:srgbClr val="F59E0B"/>
          </a:solidFill>
          <a:ln>
            <a:noFill/>
          </a:ln>
        </p:spPr>
        <p:txBody>
          <a:bodyPr wrap="square" lIns="0" tIns="0" rIns="0" bIns="0" rtlCol="0" anchor="t"/>
          <a:lstStyle/>
          <a:p>
            <a:endParaRPr lang="en-US"/>
          </a:p>
        </p:txBody>
      </p:sp>
      <p:sp>
        <p:nvSpPr>
          <p:cNvPr id="15"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That is the bad input. So the loop goes on.</a:t>
            </a:r>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Quiz-style question 1</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90</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67056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is printed?</a:t>
            </a:r>
            <a:endParaRPr lang="en-US" sz="3200" dirty="0"/>
          </a:p>
        </p:txBody>
      </p:sp>
      <p:sp>
        <p:nvSpPr>
          <p:cNvPr id="8" name="Shape 8"/>
          <p:cNvSpPr/>
          <p:nvPr/>
        </p:nvSpPr>
        <p:spPr>
          <a:xfrm>
            <a:off x="5760720" y="1261872"/>
            <a:ext cx="5882335" cy="2905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905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int i = 1;</a:t>
            </a:r>
            <a:endParaRPr lang="en-US" sz="3200" dirty="0"/>
          </a:p>
          <a:p>
            <a:pPr marL="0" indent="0" algn="l">
              <a:lnSpc>
                <a:spcPts val="4000"/>
              </a:lnSpc>
              <a:buNone/>
            </a:pPr>
            <a:r>
              <a:rPr lang="en-US" sz="3200" dirty="0">
                <a:solidFill>
                  <a:srgbClr val="E5E7EB"/>
                </a:solidFill>
                <a:latin typeface="Consolas"/>
                <a:ea typeface="Consolas"/>
                <a:cs typeface="Consolas"/>
              </a:rPr>
              <a:t>while (i &lt;= 3) {</a:t>
            </a:r>
            <a:endParaRPr lang="en-US" sz="3200" dirty="0"/>
          </a:p>
          <a:p>
            <a:pPr marL="0" indent="0" algn="l">
              <a:lnSpc>
                <a:spcPts val="4000"/>
              </a:lnSpc>
              <a:buNone/>
            </a:pPr>
            <a:r>
              <a:rPr lang="en-US" sz="3200" dirty="0">
                <a:solidFill>
                  <a:srgbClr val="E5E7EB"/>
                </a:solidFill>
                <a:latin typeface="Consolas"/>
                <a:ea typeface="Consolas"/>
                <a:cs typeface="Consolas"/>
              </a:rPr>
              <a:t>    printf("%d ", i);</a:t>
            </a:r>
            <a:endParaRPr lang="en-US" sz="3200" dirty="0"/>
          </a:p>
          <a:p>
            <a:pPr marL="0" indent="0" algn="l">
              <a:lnSpc>
                <a:spcPts val="4000"/>
              </a:lnSpc>
              <a:buNone/>
            </a:pPr>
            <a:r>
              <a:rPr lang="en-US" sz="3200" dirty="0">
                <a:solidFill>
                  <a:srgbClr val="E5E7EB"/>
                </a:solidFill>
                <a:latin typeface="Consolas"/>
                <a:ea typeface="Consolas"/>
                <a:cs typeface="Consolas"/>
              </a:rPr>
              <a:t>    i++;</a:t>
            </a:r>
            <a:endParaRPr lang="en-US" sz="3200" dirty="0"/>
          </a:p>
          <a:p>
            <a:pPr marL="0" indent="0" algn="l">
              <a:lnSpc>
                <a:spcPts val="4000"/>
              </a:lnSpc>
              <a:buNone/>
            </a:pPr>
            <a:r>
              <a:rPr lang="en-US" sz="3200" dirty="0">
                <a:solidFill>
                  <a:srgbClr val="E5E7EB"/>
                </a:solidFill>
                <a:latin typeface="Consolas"/>
                <a:ea typeface="Consolas"/>
                <a:cs typeface="Consolas"/>
              </a:rPr>
              <a:t>}</a:t>
            </a:r>
            <a:endParaRPr lang="en-US" sz="3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Quiz-style question 2</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91</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67056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is the output?</a:t>
            </a:r>
            <a:endParaRPr lang="en-US" sz="3200" dirty="0"/>
          </a:p>
        </p:txBody>
      </p:sp>
      <p:sp>
        <p:nvSpPr>
          <p:cNvPr id="8" name="Shape 8"/>
          <p:cNvSpPr/>
          <p:nvPr/>
        </p:nvSpPr>
        <p:spPr>
          <a:xfrm>
            <a:off x="5760720" y="1261872"/>
            <a:ext cx="5882335" cy="1889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1889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E5E7EB"/>
                </a:solidFill>
                <a:latin typeface="Consolas"/>
                <a:ea typeface="Consolas"/>
                <a:cs typeface="Consolas"/>
              </a:rPr>
              <a:t>int x = 5;</a:t>
            </a:r>
            <a:endParaRPr lang="en-US" sz="3200" dirty="0"/>
          </a:p>
          <a:p>
            <a:pPr marL="0" indent="0" algn="l">
              <a:lnSpc>
                <a:spcPts val="4000"/>
              </a:lnSpc>
              <a:buNone/>
            </a:pPr>
            <a:r>
              <a:rPr lang="en-US" sz="3200" dirty="0">
                <a:solidFill>
                  <a:srgbClr val="E5E7EB"/>
                </a:solidFill>
                <a:latin typeface="Consolas"/>
                <a:ea typeface="Consolas"/>
                <a:cs typeface="Consolas"/>
              </a:rPr>
              <a:t>printf("%d ", x++);</a:t>
            </a:r>
            <a:endParaRPr lang="en-US" sz="3200" dirty="0"/>
          </a:p>
          <a:p>
            <a:pPr marL="0" indent="0" algn="l">
              <a:lnSpc>
                <a:spcPts val="4000"/>
              </a:lnSpc>
              <a:buNone/>
            </a:pPr>
            <a:r>
              <a:rPr lang="en-US" sz="3200" dirty="0">
                <a:solidFill>
                  <a:srgbClr val="E5E7EB"/>
                </a:solidFill>
                <a:latin typeface="Consolas"/>
                <a:ea typeface="Consolas"/>
                <a:cs typeface="Consolas"/>
              </a:rPr>
              <a:t>printf("%d\n", x);</a:t>
            </a:r>
            <a:endParaRPr lang="en-US" sz="3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Quiz-style question 2: the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92</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67056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is the output?</a:t>
            </a:r>
            <a:endParaRPr lang="en-US" sz="3200" dirty="0"/>
          </a:p>
        </p:txBody>
      </p:sp>
      <p:sp>
        <p:nvSpPr>
          <p:cNvPr id="8" name="Shape 8"/>
          <p:cNvSpPr/>
          <p:nvPr/>
        </p:nvSpPr>
        <p:spPr>
          <a:xfrm>
            <a:off x="5760720" y="1261872"/>
            <a:ext cx="5882335" cy="18897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2003552"/>
            <a:ext cx="5882335" cy="508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2003552"/>
            <a:ext cx="82296" cy="5080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760720" y="1261872"/>
            <a:ext cx="5882335" cy="1889760"/>
          </a:xfrm>
          <a:prstGeom prst="rect">
            <a:avLst/>
          </a:prstGeom>
          <a:noFill/>
          <a:ln>
            <a:noFill/>
          </a:ln>
        </p:spPr>
        <p:txBody>
          <a:bodyPr wrap="square" lIns="182880" tIns="182880" rIns="182880" bIns="182880" rtlCol="0" anchor="t"/>
          <a:lstStyle/>
          <a:p>
            <a:pPr marL="0" indent="0" algn="l">
              <a:lnSpc>
                <a:spcPts val="4000"/>
              </a:lnSpc>
              <a:buNone/>
            </a:pPr>
            <a:r>
              <a:rPr lang="en-US" sz="3200" dirty="0">
                <a:solidFill>
                  <a:srgbClr val="64748B"/>
                </a:solidFill>
                <a:latin typeface="Consolas"/>
                <a:ea typeface="Consolas"/>
                <a:cs typeface="Consolas"/>
              </a:rPr>
              <a:t>int x = 5;</a:t>
            </a:r>
            <a:endParaRPr lang="en-US" sz="3200" dirty="0"/>
          </a:p>
          <a:p>
            <a:pPr marL="0" indent="0" algn="l">
              <a:lnSpc>
                <a:spcPts val="4000"/>
              </a:lnSpc>
              <a:buNone/>
            </a:pPr>
            <a:r>
              <a:rPr lang="en-US" sz="3200" dirty="0">
                <a:solidFill>
                  <a:srgbClr val="FFFFFF"/>
                </a:solidFill>
                <a:latin typeface="Consolas"/>
                <a:ea typeface="Consolas"/>
                <a:cs typeface="Consolas"/>
              </a:rPr>
              <a:t>printf("%d ", x++);</a:t>
            </a:r>
            <a:endParaRPr lang="en-US" sz="3200" dirty="0"/>
          </a:p>
          <a:p>
            <a:pPr marL="0" indent="0" algn="l">
              <a:lnSpc>
                <a:spcPts val="4000"/>
              </a:lnSpc>
              <a:buNone/>
            </a:pPr>
            <a:r>
              <a:rPr lang="en-US" sz="3200" dirty="0">
                <a:solidFill>
                  <a:srgbClr val="64748B"/>
                </a:solidFill>
                <a:latin typeface="Consolas"/>
                <a:ea typeface="Consolas"/>
                <a:cs typeface="Consolas"/>
              </a:rPr>
              <a:t>printf("%d\n", x);</a:t>
            </a:r>
            <a:endParaRPr lang="en-US" sz="3200" dirty="0"/>
          </a:p>
        </p:txBody>
      </p:sp>
      <p:sp>
        <p:nvSpPr>
          <p:cNvPr id="12" name="Shape 12"/>
          <p:cNvSpPr/>
          <p:nvPr/>
        </p:nvSpPr>
        <p:spPr>
          <a:xfrm>
            <a:off x="548640" y="4648200"/>
            <a:ext cx="4937760" cy="161544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3" name="Shape 13"/>
          <p:cNvSpPr/>
          <p:nvPr/>
        </p:nvSpPr>
        <p:spPr>
          <a:xfrm>
            <a:off x="548640" y="4648200"/>
            <a:ext cx="109728" cy="1615440"/>
          </a:xfrm>
          <a:prstGeom prst="rect">
            <a:avLst/>
          </a:prstGeom>
          <a:solidFill>
            <a:srgbClr val="31C48D"/>
          </a:solidFill>
          <a:ln>
            <a:noFill/>
          </a:ln>
        </p:spPr>
        <p:txBody>
          <a:bodyPr wrap="square" lIns="0" tIns="0" rIns="0" bIns="0" rtlCol="0" anchor="t"/>
          <a:lstStyle/>
          <a:p>
            <a:endParaRPr lang="en-US"/>
          </a:p>
        </p:txBody>
      </p:sp>
      <p:sp>
        <p:nvSpPr>
          <p:cNvPr id="14" name="Callout"/>
          <p:cNvSpPr/>
          <p:nvPr/>
        </p:nvSpPr>
        <p:spPr>
          <a:xfrm>
            <a:off x="658368" y="4648200"/>
            <a:ext cx="4828032" cy="161544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5 6</a:t>
            </a:r>
            <a:endParaRPr lang="en-US" sz="2600" dirty="0"/>
          </a:p>
          <a:p>
            <a:pPr marL="0" indent="0" algn="l">
              <a:buNone/>
            </a:pPr>
            <a:r>
              <a:rPr lang="en-US" sz="2600" dirty="0">
                <a:solidFill>
                  <a:srgbClr val="18324A"/>
                </a:solidFill>
                <a:latin typeface="Consolas"/>
                <a:ea typeface="Consolas"/>
                <a:cs typeface="Consolas"/>
              </a:rPr>
              <a:t>x++</a:t>
            </a:r>
            <a:r>
              <a:rPr lang="en-US" sz="2600" dirty="0">
                <a:solidFill>
                  <a:srgbClr val="18324A"/>
                </a:solidFill>
              </a:rPr>
              <a:t>: old value first.</a:t>
            </a:r>
            <a:endParaRPr lang="en-US" sz="2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Quiz-style question 3</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93</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What is the final value of </a:t>
            </a:r>
            <a:r>
              <a:rPr lang="en-US" sz="3200" dirty="0">
                <a:solidFill>
                  <a:srgbClr val="2F80ED"/>
                </a:solidFill>
                <a:latin typeface="Consolas"/>
                <a:ea typeface="Consolas"/>
                <a:cs typeface="Consolas"/>
              </a:rPr>
              <a:t>sum</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Show the trace, not only the answer.</a:t>
            </a:r>
            <a:endParaRPr lang="en-US" sz="3200" dirty="0"/>
          </a:p>
        </p:txBody>
      </p:sp>
      <p:sp>
        <p:nvSpPr>
          <p:cNvPr id="8" name="Shape 8"/>
          <p:cNvSpPr/>
          <p:nvPr/>
        </p:nvSpPr>
        <p:spPr>
          <a:xfrm>
            <a:off x="5760720" y="1261872"/>
            <a:ext cx="5882335" cy="2016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01676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int sum = 0;</a:t>
            </a:r>
            <a:endParaRPr lang="en-US" sz="2600" dirty="0"/>
          </a:p>
          <a:p>
            <a:pPr marL="0" indent="0" algn="l">
              <a:lnSpc>
                <a:spcPts val="3250"/>
              </a:lnSpc>
              <a:buNone/>
            </a:pPr>
            <a:r>
              <a:rPr lang="en-US" sz="2600" dirty="0">
                <a:solidFill>
                  <a:srgbClr val="E5E7EB"/>
                </a:solidFill>
                <a:latin typeface="Consolas"/>
                <a:ea typeface="Consolas"/>
                <a:cs typeface="Consolas"/>
              </a:rPr>
              <a:t>for (int i = 1; i &lt;= 4; i++) {</a:t>
            </a:r>
            <a:endParaRPr lang="en-US" sz="2600" dirty="0"/>
          </a:p>
          <a:p>
            <a:pPr marL="0" indent="0" algn="l">
              <a:lnSpc>
                <a:spcPts val="3250"/>
              </a:lnSpc>
              <a:buNone/>
            </a:pPr>
            <a:r>
              <a:rPr lang="en-US" sz="2600" dirty="0">
                <a:solidFill>
                  <a:srgbClr val="E5E7EB"/>
                </a:solidFill>
                <a:latin typeface="Consolas"/>
                <a:ea typeface="Consolas"/>
                <a:cs typeface="Consolas"/>
              </a:rPr>
              <a:t>    sum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Week 3 summary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94</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while</a:t>
            </a:r>
            <a:r>
              <a:rPr lang="en-US" sz="2800" dirty="0">
                <a:solidFill>
                  <a:srgbClr val="18324A"/>
                </a:solidFill>
              </a:rPr>
              <a:t>: repeat while a condition is true</a:t>
            </a:r>
            <a:endParaRPr lang="en-US" sz="2800" dirty="0"/>
          </a:p>
        </p:txBody>
      </p:sp>
      <p:sp>
        <p:nvSpPr>
          <p:cNvPr id="8" name="Shape 8"/>
          <p:cNvSpPr/>
          <p:nvPr/>
        </p:nvSpPr>
        <p:spPr>
          <a:xfrm>
            <a:off x="731520" y="2141220"/>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141220"/>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for</a:t>
            </a:r>
            <a:r>
              <a:rPr lang="en-US" sz="2800" dirty="0">
                <a:solidFill>
                  <a:srgbClr val="18324A"/>
                </a:solidFill>
              </a:rPr>
              <a:t>: the compact loop with a counter</a:t>
            </a:r>
            <a:endParaRPr lang="en-US" sz="2800" dirty="0"/>
          </a:p>
        </p:txBody>
      </p:sp>
      <p:sp>
        <p:nvSpPr>
          <p:cNvPr id="10" name="Shape 10"/>
          <p:cNvSpPr/>
          <p:nvPr/>
        </p:nvSpPr>
        <p:spPr>
          <a:xfrm>
            <a:off x="731520" y="2974848"/>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2974848"/>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a:t>
            </a:r>
            <a:r>
              <a:rPr lang="en-US" sz="2800" dirty="0">
                <a:solidFill>
                  <a:srgbClr val="18324A"/>
                </a:solidFill>
              </a:rPr>
              <a:t>, </a:t>
            </a:r>
            <a:r>
              <a:rPr lang="en-US" sz="2800" dirty="0">
                <a:solidFill>
                  <a:srgbClr val="2F80ED"/>
                </a:solidFill>
                <a:latin typeface="Consolas"/>
                <a:ea typeface="Consolas"/>
                <a:cs typeface="Consolas"/>
              </a:rPr>
              <a:t>--</a:t>
            </a:r>
            <a:r>
              <a:rPr lang="en-US" sz="2800" dirty="0">
                <a:solidFill>
                  <a:srgbClr val="18324A"/>
                </a:solidFill>
              </a:rPr>
              <a:t>, </a:t>
            </a:r>
            <a:r>
              <a:rPr lang="en-US" sz="2800" dirty="0">
                <a:solidFill>
                  <a:srgbClr val="2F80ED"/>
                </a:solidFill>
                <a:latin typeface="Consolas"/>
                <a:ea typeface="Consolas"/>
                <a:cs typeface="Consolas"/>
              </a:rPr>
              <a:t>+=</a:t>
            </a:r>
            <a:r>
              <a:rPr lang="en-US" sz="2800" dirty="0">
                <a:solidFill>
                  <a:srgbClr val="18324A"/>
                </a:solidFill>
              </a:rPr>
              <a:t> and friends: short updates</a:t>
            </a:r>
            <a:endParaRPr lang="en-US" sz="2800" dirty="0"/>
          </a:p>
        </p:txBody>
      </p:sp>
      <p:sp>
        <p:nvSpPr>
          <p:cNvPr id="12" name="Shape 12"/>
          <p:cNvSpPr/>
          <p:nvPr/>
        </p:nvSpPr>
        <p:spPr>
          <a:xfrm>
            <a:off x="731520" y="3808476"/>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3808476"/>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Accumulator: a total starts at 0, a product at 1</a:t>
            </a:r>
            <a:endParaRPr lang="en-US" sz="2800" dirty="0"/>
          </a:p>
        </p:txBody>
      </p:sp>
      <p:sp>
        <p:nvSpPr>
          <p:cNvPr id="14" name="Shape 14"/>
          <p:cNvSpPr/>
          <p:nvPr/>
        </p:nvSpPr>
        <p:spPr>
          <a:xfrm>
            <a:off x="731520" y="4642104"/>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642104"/>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Counter: </a:t>
            </a:r>
            <a:r>
              <a:rPr lang="en-US" sz="2800" dirty="0">
                <a:solidFill>
                  <a:srgbClr val="2F80ED"/>
                </a:solidFill>
                <a:latin typeface="Consolas"/>
                <a:ea typeface="Consolas"/>
                <a:cs typeface="Consolas"/>
              </a:rPr>
              <a:t>count++</a:t>
            </a:r>
            <a:r>
              <a:rPr lang="en-US" sz="2800" dirty="0">
                <a:solidFill>
                  <a:srgbClr val="18324A"/>
                </a:solidFill>
              </a:rPr>
              <a:t> inside an </a:t>
            </a:r>
            <a:r>
              <a:rPr lang="en-US" sz="2800" dirty="0">
                <a:solidFill>
                  <a:srgbClr val="2F80ED"/>
                </a:solidFill>
                <a:latin typeface="Consolas"/>
                <a:ea typeface="Consolas"/>
                <a:cs typeface="Consolas"/>
              </a:rPr>
              <a:t>if</a:t>
            </a:r>
            <a:r>
              <a:rPr lang="en-US" sz="2800" dirty="0">
                <a:solidFill>
                  <a:srgbClr val="18324A"/>
                </a:solidFill>
              </a:rPr>
              <a:t> inside the loop</a:t>
            </a:r>
            <a:endParaRPr lang="en-US" sz="2800" dirty="0"/>
          </a:p>
        </p:txBody>
      </p:sp>
      <p:sp>
        <p:nvSpPr>
          <p:cNvPr id="16" name="Shape 16"/>
          <p:cNvSpPr/>
          <p:nvPr/>
        </p:nvSpPr>
        <p:spPr>
          <a:xfrm>
            <a:off x="731520" y="5475732"/>
            <a:ext cx="640080" cy="640080"/>
          </a:xfrm>
          <a:prstGeom prst="rect">
            <a:avLst/>
          </a:prstGeom>
          <a:solidFill>
            <a:srgbClr val="06B6D4"/>
          </a:solidFill>
          <a:ln>
            <a:noFill/>
          </a:ln>
        </p:spPr>
        <p:txBody>
          <a:bodyPr wrap="square" lIns="0" tIns="0" rIns="0" bIns="0" rtlCol="0" anchor="ctr"/>
          <a:lstStyle/>
          <a:p>
            <a:pPr marL="0" indent="0" algn="ctr">
              <a:buNone/>
            </a:pPr>
            <a:r>
              <a:rPr lang="en-US" sz="2400" b="1" dirty="0">
                <a:solidFill>
                  <a:srgbClr val="FFFFFF"/>
                </a:solidFill>
              </a:rPr>
              <a:t>6</a:t>
            </a:r>
            <a:endParaRPr lang="en-US" sz="2400" dirty="0"/>
          </a:p>
        </p:txBody>
      </p:sp>
      <p:sp>
        <p:nvSpPr>
          <p:cNvPr id="17" name="Shape 17"/>
          <p:cNvSpPr/>
          <p:nvPr/>
        </p:nvSpPr>
        <p:spPr>
          <a:xfrm>
            <a:off x="1691640" y="547573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Tracing: a table of values beats guessing</a:t>
            </a:r>
            <a:endParaRPr lang="en-US" sz="2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Always ask, for every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95</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Where does it </a:t>
            </a:r>
            <a:r>
              <a:rPr lang="en-US" sz="2800" b="1" dirty="0">
                <a:solidFill>
                  <a:srgbClr val="18324A"/>
                </a:solidFill>
              </a:rPr>
              <a:t>start</a:t>
            </a:r>
            <a:r>
              <a:rPr lang="en-US" sz="2800" dirty="0">
                <a:solidFill>
                  <a:srgbClr val="18324A"/>
                </a:solidFill>
              </a:rPr>
              <a:t>?</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When does it </a:t>
            </a:r>
            <a:r>
              <a:rPr lang="en-US" sz="2800" b="1" dirty="0">
                <a:solidFill>
                  <a:srgbClr val="18324A"/>
                </a:solidFill>
              </a:rPr>
              <a:t>stop</a:t>
            </a:r>
            <a:r>
              <a:rPr lang="en-US" sz="2800" dirty="0">
                <a:solidFill>
                  <a:srgbClr val="18324A"/>
                </a:solidFill>
              </a:rPr>
              <a:t>?</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What </a:t>
            </a:r>
            <a:r>
              <a:rPr lang="en-US" sz="2800" b="1" dirty="0">
                <a:solidFill>
                  <a:srgbClr val="18324A"/>
                </a:solidFill>
              </a:rPr>
              <a:t>changes</a:t>
            </a:r>
            <a:r>
              <a:rPr lang="en-US" sz="2800" dirty="0">
                <a:solidFill>
                  <a:srgbClr val="18324A"/>
                </a:solidFill>
              </a:rPr>
              <a:t> each time?</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What should be </a:t>
            </a:r>
            <a:r>
              <a:rPr lang="en-US" sz="2800" b="1" dirty="0">
                <a:solidFill>
                  <a:srgbClr val="18324A"/>
                </a:solidFill>
              </a:rPr>
              <a:t>printed or stored</a:t>
            </a:r>
            <a:r>
              <a:rPr lang="en-US" sz="2800" dirty="0">
                <a:solidFill>
                  <a:srgbClr val="18324A"/>
                </a:solidFill>
              </a:rPr>
              <a:t>?</a:t>
            </a:r>
            <a:endParaRPr lang="en-US" sz="2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Before Tuesday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6</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96</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Knowledge check 6</a:t>
            </a:r>
            <a:r>
              <a:rPr lang="en-US" sz="2800" dirty="0">
                <a:solidFill>
                  <a:srgbClr val="18324A"/>
                </a:solidFill>
              </a:rPr>
              <a:t> on Blackboard: today's slides</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Tasks </a:t>
            </a:r>
            <a:r>
              <a:rPr lang="en-US" sz="2800" b="1" dirty="0">
                <a:solidFill>
                  <a:srgbClr val="18324A"/>
                </a:solidFill>
              </a:rPr>
              <a:t>1, 3, 4 and 6</a:t>
            </a:r>
            <a:r>
              <a:rPr lang="en-US" sz="2800" dirty="0">
                <a:solidFill>
                  <a:srgbClr val="18324A"/>
                </a:solidFill>
              </a:rPr>
              <a:t>: bring them, working or not</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Quiz 2: Fri 2 October</a:t>
            </a:r>
            <a:r>
              <a:rPr lang="en-US" sz="2800" dirty="0">
                <a:solidFill>
                  <a:srgbClr val="18324A"/>
                </a:solidFill>
              </a:rPr>
              <a:t>, on paper, classes 3 to 6</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Today's code: Blackboard, Week 3 module, </a:t>
            </a:r>
            <a:r>
              <a:rPr lang="en-US" sz="2800" b="1" dirty="0">
                <a:solidFill>
                  <a:srgbClr val="18324A"/>
                </a:solidFill>
              </a:rPr>
              <a:t>Class 6 code</a:t>
            </a:r>
            <a:endParaRPr lang="en-US" sz="2800" dirty="0"/>
          </a:p>
        </p:txBody>
      </p:sp>
      <p:sp>
        <p:nvSpPr>
          <p:cNvPr id="14" name="Shape 14"/>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Next week: functions. Giving a name to a piece of program, so you can use it again.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9E6C91384D4CF4A8C11771C71AF99FC" ma:contentTypeVersion="3" ma:contentTypeDescription="Create a new document." ma:contentTypeScope="" ma:versionID="9457c7892666d9df0301343fedda2daf">
  <xsd:schema xmlns:xsd="http://www.w3.org/2001/XMLSchema" xmlns:xs="http://www.w3.org/2001/XMLSchema" xmlns:p="http://schemas.microsoft.com/office/2006/metadata/properties" xmlns:ns2="76ba2307-afa1-4918-86e6-ffe4c7b76c67" targetNamespace="http://schemas.microsoft.com/office/2006/metadata/properties" ma:root="true" ma:fieldsID="01dbc32444af8b37558df168563705b5" ns2:_="">
    <xsd:import namespace="76ba2307-afa1-4918-86e6-ffe4c7b76c6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ba2307-afa1-4918-86e6-ffe4c7b76c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59415D-7EF4-4728-B780-B028948F84C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A66058B-8C7C-44C5-988D-122F37B2CD12}">
  <ds:schemaRefs>
    <ds:schemaRef ds:uri="http://schemas.microsoft.com/sharepoint/v3/contenttype/forms"/>
  </ds:schemaRefs>
</ds:datastoreItem>
</file>

<file path=customXml/itemProps3.xml><?xml version="1.0" encoding="utf-8"?>
<ds:datastoreItem xmlns:ds="http://schemas.openxmlformats.org/officeDocument/2006/customXml" ds:itemID="{DC07D86D-9D44-4F53-9B6F-B55C63480B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ba2307-afa1-4918-86e6-ffe4c7b76c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13667</Words>
  <Application>Microsoft Office PowerPoint</Application>
  <PresentationFormat>Widescreen</PresentationFormat>
  <Paragraphs>1791</Paragraphs>
  <Slides>96</Slides>
  <Notes>96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96</vt:i4>
      </vt:variant>
    </vt:vector>
  </HeadingPairs>
  <TitlesOfParts>
    <vt:vector size="100"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 Loops in C</dc:title>
  <dc:subject>Programming Principles I - Week 3</dc:subject>
  <dc:creator>Azar Aliyev</dc:creator>
  <cp:lastModifiedBy>Abbas Aliyev</cp:lastModifiedBy>
  <cp:revision>7</cp:revision>
  <dcterms:created xsi:type="dcterms:W3CDTF">2026-09-17T10:16:02Z</dcterms:created>
  <dcterms:modified xsi:type="dcterms:W3CDTF">2026-10-16T20:06:08Z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0x010100A9E6C91384D4CF4A8C11771C71AF99FC</vt:lpwstr>
  </property>
</Properties>
</file>