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80E1C-4B18-808A-24AC-C6A5B98F141A}" v="10" dt="2026-09-07T19:20:37.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zar Aliyev" userId="S::araaliyev@ada.edu.az::0c7593f8-1565-47f7-b6e8-46fadf6d8db4" providerId="AD" clId="Web-{31780E1C-4B18-808A-24AC-C6A5B98F141A}"/>
    <pc:docChg chg="modSld">
      <pc:chgData name="Azar Aliyev" userId="S::araaliyev@ada.edu.az::0c7593f8-1565-47f7-b6e8-46fadf6d8db4" providerId="AD" clId="Web-{31780E1C-4B18-808A-24AC-C6A5B98F141A}" dt="2026-09-07T19:20:36.316" v="5" actId="20577"/>
      <pc:docMkLst>
        <pc:docMk/>
      </pc:docMkLst>
      <pc:sldChg chg="modSp">
        <pc:chgData name="Azar Aliyev" userId="S::araaliyev@ada.edu.az::0c7593f8-1565-47f7-b6e8-46fadf6d8db4" providerId="AD" clId="Web-{31780E1C-4B18-808A-24AC-C6A5B98F141A}" dt="2026-09-07T19:20:36.316" v="5" actId="20577"/>
        <pc:sldMkLst>
          <pc:docMk/>
          <pc:sldMk cId="0" sldId="262"/>
        </pc:sldMkLst>
        <pc:spChg chg="mod">
          <ac:chgData name="Azar Aliyev" userId="S::araaliyev@ada.edu.az::0c7593f8-1565-47f7-b6e8-46fadf6d8db4" providerId="AD" clId="Web-{31780E1C-4B18-808A-24AC-C6A5B98F141A}" dt="2026-09-07T19:20:29.378" v="2" actId="20577"/>
          <ac:spMkLst>
            <pc:docMk/>
            <pc:sldMk cId="0" sldId="262"/>
            <ac:spMk id="8" creationId="{00000000-0000-0000-0000-000000000000}"/>
          </ac:spMkLst>
        </pc:spChg>
        <pc:spChg chg="mod">
          <ac:chgData name="Azar Aliyev" userId="S::araaliyev@ada.edu.az::0c7593f8-1565-47f7-b6e8-46fadf6d8db4" providerId="AD" clId="Web-{31780E1C-4B18-808A-24AC-C6A5B98F141A}" dt="2026-09-07T19:20:30.691" v="3" actId="20577"/>
          <ac:spMkLst>
            <pc:docMk/>
            <pc:sldMk cId="0" sldId="262"/>
            <ac:spMk id="9" creationId="{00000000-0000-0000-0000-000000000000}"/>
          </ac:spMkLst>
        </pc:spChg>
        <pc:spChg chg="mod">
          <ac:chgData name="Azar Aliyev" userId="S::araaliyev@ada.edu.az::0c7593f8-1565-47f7-b6e8-46fadf6d8db4" providerId="AD" clId="Web-{31780E1C-4B18-808A-24AC-C6A5B98F141A}" dt="2026-09-07T19:20:33.566" v="4" actId="20577"/>
          <ac:spMkLst>
            <pc:docMk/>
            <pc:sldMk cId="0" sldId="262"/>
            <ac:spMk id="10" creationId="{00000000-0000-0000-0000-000000000000}"/>
          </ac:spMkLst>
        </pc:spChg>
        <pc:spChg chg="mod">
          <ac:chgData name="Azar Aliyev" userId="S::araaliyev@ada.edu.az::0c7593f8-1565-47f7-b6e8-46fadf6d8db4" providerId="AD" clId="Web-{31780E1C-4B18-808A-24AC-C6A5B98F141A}" dt="2026-09-07T19:20:36.316" v="5" actId="20577"/>
          <ac:spMkLst>
            <pc:docMk/>
            <pc:sldMk cId="0" sldId="262"/>
            <ac:spMk id="11" creationId="{00000000-0000-0000-0000-000000000000}"/>
          </ac:spMkLst>
        </pc:spChg>
      </pc:sldChg>
      <pc:sldChg chg="delSp">
        <pc:chgData name="Azar Aliyev" userId="S::araaliyev@ada.edu.az::0c7593f8-1565-47f7-b6e8-46fadf6d8db4" providerId="AD" clId="Web-{31780E1C-4B18-808A-24AC-C6A5B98F141A}" dt="2026-09-07T19:17:06.256" v="0"/>
        <pc:sldMkLst>
          <pc:docMk/>
          <pc:sldMk cId="0" sldId="271"/>
        </pc:sldMkLst>
        <pc:spChg chg="del">
          <ac:chgData name="Azar Aliyev" userId="S::araaliyev@ada.edu.az::0c7593f8-1565-47f7-b6e8-46fadf6d8db4" providerId="AD" clId="Web-{31780E1C-4B18-808A-24AC-C6A5B98F141A}" dt="2026-09-07T19:17:06.256" v="0"/>
          <ac:spMkLst>
            <pc:docMk/>
            <pc:sldMk cId="0" sldId="271"/>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1EF8FCE-795B-4500-A95D-FDE432891CB6}" type="datetimeFigureOut">
              <a:t>10/17/2026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7ABBA6E-D753-4DC1-B201-31E113430D7E}" type="slidenum">
              <a:t>‹#›</a:t>
            </a:fld>
            <a:endParaRPr lang="en-US"/>
          </a:p>
        </p:txBody>
      </p:sp>
    </p:spTree>
    <p:extLst>
      <p:ext uri="{BB962C8B-B14F-4D97-AF65-F5344CB8AC3E}">
        <p14:creationId xmlns:p14="http://schemas.microsoft.com/office/powerpoint/2010/main" val="2370708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CSCI 1101, Programming Principles I, Fall 2026. This course teaches you to write programs in the C language, starting from nothing. You are not expected to have written code before.</a:t>
            </a:r>
          </a:p>
          <a:p>
            <a:endParaRPr lang="en-US"/>
          </a:p>
          <a:p>
            <a:r>
              <a:rPr lang="en-US"/>
              <a:t>When and where. Tuesday in B102 and Friday in B101, both 16:00 to 17:15. Note that the two rooms are different.</a:t>
            </a:r>
          </a:p>
          <a:p>
            <a:endParaRPr lang="en-US"/>
          </a:p>
          <a:p>
            <a:r>
              <a:rPr lang="en-US"/>
              <a:t>Where everything lives. Blackboard: slides, the syllabus, homework, grades, announcements.</a:t>
            </a:r>
          </a:p>
          <a:p>
            <a:endParaRPr lang="en-US"/>
          </a:p>
          <a:p>
            <a:r>
              <a:rPr lang="en-US"/>
              <a:t>How to ask a question. Use the Blackboard discussion forum first. If you are confused, other people are confused about the same thing, and on the forum everyone sees the answer. For private matters, email ashaliyev@ada.edu.az. Office hours are by appointment only — book a slot with the link in the syllabus. Please do not knock on B017 without a booking.</a:t>
            </a:r>
          </a:p>
          <a:p>
            <a:endParaRPr lang="en-US"/>
          </a:p>
          <a:p>
            <a:r>
              <a:rPr lang="en-US"/>
              <a:t>How you are graded. Quizzes 15%, Project 1 10%, Project 2 10%, Project 3 15%, Midterm 20%, Final 30%.</a:t>
            </a:r>
          </a:p>
          <a:p>
            <a:endParaRPr lang="en-US"/>
          </a:p>
          <a:p>
            <a:r>
              <a:rPr lang="en-US"/>
              <a:t>- Quizzes: six short ones, about every second week, one or two short questions each. Only your best five count, so one bad day costs you nothing — and that is why there are no make-up quizzes.</a:t>
            </a:r>
          </a:p>
          <a:p>
            <a:r>
              <a:rPr lang="en-US"/>
              <a:t>- Projects: three programs, getting harder as the semester goes. After you submit, the Teaching Assistant may ask you to explain part of your code or make a small change to it. That counts towards the project grade, so never submit code you cannot explain.</a:t>
            </a:r>
          </a:p>
          <a:p>
            <a:r>
              <a:rPr lang="en-US"/>
              <a:t>- Midterm and final: both on paper. The midterm covers the first half; the final covers everything, with more weight on the second half.</a:t>
            </a:r>
          </a:p>
          <a:p>
            <a:endParaRPr lang="en-US"/>
          </a:p>
          <a:p>
            <a:r>
              <a:rPr lang="en-US"/>
              <a:t>Knowledge checks (0%). Every week a short check opens on Blackboard: about six multiple-choice questions on that week. It is worth zero percent and cannot lower your grade. You get three attempts and the best one is kept, and each check stays open for three weeks. They exist so you can find out what you did not understand while there is still time to ask, and they are the best preparation for the quizzes, which cover the same material without a laptop. Each check you complete earns a Blackboard badge. Students who complete every check on time may receive small bonuses at the instructors' discretion.</a:t>
            </a:r>
          </a:p>
          <a:p>
            <a:endParaRPr lang="en-US"/>
          </a:p>
          <a:p>
            <a:r>
              <a:rPr lang="en-US"/>
              <a:t>Attendance. By law you must attend at least 75% of classes or you fail the course. Attendance is taken at the start of class from week 2, right after Add/Drop closes on 16 September. There is no late mark. If you are ill, send documents to your advisor.</a:t>
            </a:r>
          </a:p>
          <a:p>
            <a:endParaRPr lang="en-US"/>
          </a:p>
          <a:p>
            <a:r>
              <a:rPr lang="en-US"/>
              <a:t>Deadlines are never extended. Up to 30 minutes late costs 10%; up to a day, 25%; each further day, another 25%.</a:t>
            </a:r>
          </a:p>
          <a:p>
            <a:endParaRPr lang="en-US"/>
          </a:p>
          <a:p>
            <a:r>
              <a:rPr lang="en-US"/>
              <a:t>What you need on your laptop. An editor and a C compiler. We recommend Visual Studio Code with the C/C++ extension, both free. Any C compiler is fine. On Windows use the one-click installer we provide, or WSL, or the Microsoft compiler; on macOS run xcode-select --install; on Linux install GCC from your package manager. If you cannot install anything, use CoCalc (https://cocalc.ai/) in your browser. Step-by-step instructions are in "Setting up a C compiler" on Blackboard. Bring your laptop to every class.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things for week 1: set up the tools, write a small C program, compile it from the terminal, use variables, read input and print output, and use basic math functions.</a:t>
            </a:r>
          </a:p>
          <a:p>
            <a:endParaRPr lang="en-US"/>
          </a:p>
          <a:p>
            <a:r>
              <a:rPr lang="en-US"/>
              <a:t>The program on the right of the slide is where you will be by the end of the week. It reads a radius from the user and prints the area of the circle. Right now it probably looks like nonsense. By Friday you will understand every character of it.</a:t>
            </a:r>
          </a:p>
          <a:p>
            <a:endParaRPr lang="en-US"/>
          </a:p>
          <a:p>
            <a:r>
              <a:rPr lang="en-US"/>
              <a:t>The sentence at the bottom is the most important one: programming is not memorizing syntax, it is translating a problem into precise steps a machine can follow. The typing is easy. The thinking is the course.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program is a list of instructions for the computer. The computer follows them exactly. It does what you wrote, not what you meant.</a:t>
            </a:r>
          </a:p>
          <a:p>
            <a:endParaRPr lang="en-US"/>
          </a:p>
          <a:p>
            <a:r>
              <a:rPr lang="en-US"/>
              <a:t>Example. A recipe says "boil the eggs". A person knows what that means. A computer does not. For a computer you have to write: put water in the pot, put the pot on the stove, turn the stove on, wait until the water boils, put the eggs in, wait eight minutes, take the eggs out. Every step. In order.</a:t>
            </a:r>
          </a:p>
          <a:p>
            <a:endParaRPr lang="en-US"/>
          </a:p>
          <a:p>
            <a:r>
              <a:rPr lang="en-US"/>
              <a:t>Programming has three stages. Do not skip the middle one.</a:t>
            </a:r>
          </a:p>
          <a:p>
            <a:endParaRPr lang="en-US"/>
          </a:p>
          <a:p>
            <a:r>
              <a:rPr lang="en-US"/>
              <a:t>1. The task in words. "Calculate the area of a circle."</a:t>
            </a:r>
          </a:p>
          <a:p>
            <a:r>
              <a:rPr lang="en-US"/>
              <a:t>2. The steps, in plain language. Ask for the radius. Multiply pi by the radius by the radius. Show the result. This list of steps is called an algorithm. There is no C in it. You can write it on paper.</a:t>
            </a:r>
          </a:p>
          <a:p>
            <a:r>
              <a:rPr lang="en-US"/>
              <a:t>3. The C code. Only now you turn each step into C.</a:t>
            </a:r>
          </a:p>
          <a:p>
            <a:endParaRPr lang="en-US"/>
          </a:p>
          <a:p>
            <a:r>
              <a:rPr lang="en-US"/>
              <a:t>The question on the slide. "Calculate the salary." What is missing? A computer cannot do this, because it does not know: how many hours were worked, how much per hour, is there tax, is there a bonus. Before you can write a program, every number it needs and every step it takes must be written down.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computer cannot read C. C is a language for people. So there are three separate things, and it is important to keep them apart.</a:t>
            </a:r>
          </a:p>
          <a:p>
            <a:endParaRPr lang="en-US"/>
          </a:p>
          <a:p>
            <a:r>
              <a:rPr lang="en-US"/>
              <a:t>1. Your file. It ends in .c, for example hello.c. It is text that you typed. You can open it and read it. The computer cannot run it.</a:t>
            </a:r>
          </a:p>
          <a:p>
            <a:r>
              <a:rPr lang="en-US"/>
              <a:t>2. The compiler. That is the program called gcc. It reads your .c file and translates it into a form the computer can run.</a:t>
            </a:r>
          </a:p>
          <a:p>
            <a:r>
              <a:rPr lang="en-US"/>
              <a:t>3. The program. That is the new file gcc makes. On Windows it is hello.exe, on Mac and Linux just hello. This is the file that runs.</a:t>
            </a:r>
          </a:p>
          <a:p>
            <a:endParaRPr lang="en-US"/>
          </a:p>
          <a:p>
            <a:r>
              <a:rPr lang="en-US"/>
              <a:t>The two commands. Type them in the terminal, one at a time, and press Enter after each.</a:t>
            </a:r>
          </a:p>
          <a:p>
            <a:endParaRPr lang="en-US"/>
          </a:p>
          <a:p>
            <a:r>
              <a:rPr lang="en-US"/>
              <a:t>gcc -Wall hello.c -o hello</a:t>
            </a:r>
          </a:p>
          <a:p>
            <a:r>
              <a:rPr lang="en-US"/>
              <a:t>./hello</a:t>
            </a:r>
          </a:p>
          <a:p>
            <a:endParaRPr lang="en-US"/>
          </a:p>
          <a:p>
            <a:r>
              <a:rPr lang="en-US"/>
              <a:t>- The first line says: gcc, take hello.c, and put the result in a file called hello. -o means "output". -Wall means "warn me about everything that looks wrong".</a:t>
            </a:r>
          </a:p>
          <a:p>
            <a:r>
              <a:rPr lang="en-US"/>
              <a:t>- The second line runs the program. ./ means "the one in this folder". In Windows PowerShell type .\hello instead.</a:t>
            </a:r>
          </a:p>
          <a:p>
            <a:endParaRPr lang="en-US"/>
          </a:p>
          <a:p>
            <a:r>
              <a:rPr lang="en-US"/>
              <a:t>What you see. After the first command, if everything is right, you see nothing. The terminal just shows a new line. That is good. Silence means success. After the second command you see what your program prints.</a:t>
            </a:r>
          </a:p>
          <a:p>
            <a:endParaRPr lang="en-US"/>
          </a:p>
          <a:p>
            <a:r>
              <a:rPr lang="en-US"/>
              <a:t>When you see red text instead. That is an error. Everyone gets errors. Your instructor gets errors. The compiler is telling you the file name, the line number, and what it did not understand. Read it. Fix one thing. Compile again.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you need on your laptop:</a:t>
            </a:r>
          </a:p>
          <a:p>
            <a:endParaRPr lang="en-US"/>
          </a:p>
          <a:p>
            <a:r>
              <a:rPr lang="en-US"/>
              <a:t>- Visual Studio Code, called VS Code. This is where you type your program. It is free.</a:t>
            </a:r>
          </a:p>
          <a:p>
            <a:r>
              <a:rPr lang="en-US"/>
              <a:t>- A C compiler, such as gcc. This is what turns your program into something the computer can run.</a:t>
            </a:r>
          </a:p>
          <a:p>
            <a:r>
              <a:rPr lang="en-US"/>
              <a:t>- The C/C++ extension for VS Code. It colours your code and underlines mistakes. Free too.</a:t>
            </a:r>
          </a:p>
          <a:p>
            <a:r>
              <a:rPr lang="en-US"/>
              <a:t>- A terminal. The window where you type commands. VS Code has one built in: click View, then Terminal.</a:t>
            </a:r>
          </a:p>
          <a:p>
            <a:r>
              <a:rPr lang="en-US"/>
              <a:t>- Git. Not needed yet. Skip it.</a:t>
            </a:r>
          </a:p>
          <a:p>
            <a:endParaRPr lang="en-US"/>
          </a:p>
          <a:p>
            <a:r>
              <a:rPr lang="en-US"/>
              <a:t>How to install all of this is in "Setting up a C compiler" on Blackboard, step by step.</a:t>
            </a:r>
          </a:p>
          <a:p>
            <a:endParaRPr lang="en-US"/>
          </a:p>
          <a:p>
            <a:r>
              <a:rPr lang="en-US"/>
              <a:t>Your test. Type the small program on the slide into VS Code. Save it as test.c. In the terminal, type:</a:t>
            </a:r>
          </a:p>
          <a:p>
            <a:endParaRPr lang="en-US"/>
          </a:p>
          <a:p>
            <a:r>
              <a:rPr lang="en-US"/>
              <a:t>gcc -Wall test.c -o test</a:t>
            </a:r>
          </a:p>
          <a:p>
            <a:r>
              <a:rPr lang="en-US"/>
              <a:t>./test</a:t>
            </a:r>
          </a:p>
          <a:p>
            <a:endParaRPr lang="en-US"/>
          </a:p>
          <a:p>
            <a:r>
              <a:rPr lang="en-US"/>
              <a:t>If the screen shows C setup works!, you are ready. If you see an error instead, bring your laptop to class with the error still on the screen. We fix it together.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terminal is a window where you type commands instead of clicking. It looks scary. It is not. In this course you need only six commands.</a:t>
            </a:r>
          </a:p>
          <a:p>
            <a:endParaRPr lang="en-US"/>
          </a:p>
          <a:p>
            <a:r>
              <a:rPr lang="en-US"/>
              <a:t>You want to: Type · Example</a:t>
            </a:r>
          </a:p>
          <a:p>
            <a:r>
              <a:rPr lang="en-US"/>
              <a:t>know which folder you are in: pwd · pwd shows /home/ali</a:t>
            </a:r>
          </a:p>
          <a:p>
            <a:r>
              <a:rPr lang="en-US"/>
              <a:t>see the files in this folder: ls (on Windows also dir) · ls shows hello.c</a:t>
            </a:r>
          </a:p>
          <a:p>
            <a:r>
              <a:rPr lang="en-US"/>
              <a:t>go into a folder: cd and the folder's name · cd c_week1</a:t>
            </a:r>
          </a:p>
          <a:p>
            <a:r>
              <a:rPr lang="en-US"/>
              <a:t>go back up one folder: cd .. · cd ..</a:t>
            </a:r>
          </a:p>
          <a:p>
            <a:r>
              <a:rPr lang="en-US"/>
              <a:t>make a new folder: mkdir and a name · mkdir c_week1</a:t>
            </a:r>
          </a:p>
          <a:p>
            <a:r>
              <a:rPr lang="en-US"/>
              <a:t>compile: gcc -Wall file -o name · gcc -Wall hello.c -o hello</a:t>
            </a:r>
          </a:p>
          <a:p>
            <a:r>
              <a:rPr lang="en-US"/>
              <a:t>run: ./ and the name · ./hello</a:t>
            </a:r>
          </a:p>
          <a:p>
            <a:endParaRPr lang="en-US"/>
          </a:p>
          <a:p>
            <a:r>
              <a:rPr lang="en-US"/>
              <a:t>A walk through, so you see what happens. You open a terminal. You type:</a:t>
            </a:r>
          </a:p>
          <a:p>
            <a:endParaRPr lang="en-US"/>
          </a:p>
          <a:p>
            <a:r>
              <a:rPr lang="en-US"/>
              <a:t>1. pwd and Enter. The screen shows your home folder, something like C:\Users\ali or /home/ali.</a:t>
            </a:r>
          </a:p>
          <a:p>
            <a:r>
              <a:rPr lang="en-US"/>
              <a:t>2. mkdir c_week1 and Enter. Nothing is shown. The folder was made.</a:t>
            </a:r>
          </a:p>
          <a:p>
            <a:r>
              <a:rPr lang="en-US"/>
              <a:t>3. ls and Enter. Now c_week1 is in the list.</a:t>
            </a:r>
          </a:p>
          <a:p>
            <a:r>
              <a:rPr lang="en-US"/>
              <a:t>4. cd c_week1 and Enter. Nothing is shown. You are inside now.</a:t>
            </a:r>
          </a:p>
          <a:p>
            <a:r>
              <a:rPr lang="en-US"/>
              <a:t>5. pwd and Enter. The screen shows a path ending in c_week1. See, you moved.</a:t>
            </a:r>
          </a:p>
          <a:p>
            <a:r>
              <a:rPr lang="en-US"/>
              <a:t>6. ls and Enter. Nothing. The folder is empty. You just made it.</a:t>
            </a:r>
          </a:p>
          <a:p>
            <a:r>
              <a:rPr lang="en-US"/>
              <a:t>7. cd .. and Enter. You are back where you started.</a:t>
            </a:r>
          </a:p>
          <a:p>
            <a:endParaRPr lang="en-US"/>
          </a:p>
          <a:p>
            <a:r>
              <a:rPr lang="en-US"/>
              <a:t>The most common problem of the first month. You type gcc hello.c -o hello and the screen says hello.c: No such file or directory. This almost always means you are in the wrong folder. gcc looks only in the folder you are in. Type pwd to see where you are. Type ls to see what is there. If hello.c is not in the list, cd to the folder where it is.</a:t>
            </a:r>
          </a:p>
          <a:p>
            <a:endParaRPr lang="en-US"/>
          </a:p>
          <a:p>
            <a:r>
              <a:rPr lang="en-US"/>
              <a:t>Do this at home. Make a folder called c_week1. Save hello.c inside it. Compile it. Run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 complete C program. Every program you write this semester has this shape.</a:t>
            </a:r>
          </a:p>
          <a:p>
            <a:endParaRPr lang="en-US"/>
          </a:p>
          <a:p>
            <a:r>
              <a:rPr lang="en-US"/>
              <a:t>#include &lt;stdio.h&gt;</a:t>
            </a:r>
          </a:p>
          <a:p>
            <a:r>
              <a:rPr lang="en-US"/>
              <a:t>int main(void) {</a:t>
            </a:r>
          </a:p>
          <a:p>
            <a:r>
              <a:rPr lang="en-US"/>
              <a:t>    printf("Hello, ADA!\n");</a:t>
            </a:r>
          </a:p>
          <a:p>
            <a:r>
              <a:rPr lang="en-US"/>
              <a:t>    return 0;</a:t>
            </a:r>
          </a:p>
          <a:p>
            <a:r>
              <a:rPr lang="en-US"/>
              <a:t>}</a:t>
            </a:r>
          </a:p>
          <a:p>
            <a:endParaRPr lang="en-US"/>
          </a:p>
          <a:p>
            <a:r>
              <a:rPr lang="en-US"/>
              <a:t>When you compile and run it, the screen shows:</a:t>
            </a:r>
          </a:p>
          <a:p>
            <a:endParaRPr lang="en-US"/>
          </a:p>
          <a:p>
            <a:r>
              <a:rPr lang="en-US"/>
              <a:t>Hello, ADA!</a:t>
            </a:r>
          </a:p>
          <a:p>
            <a:endParaRPr lang="en-US"/>
          </a:p>
          <a:p>
            <a:r>
              <a:rPr lang="en-US"/>
              <a:t>Line by line.</a:t>
            </a:r>
          </a:p>
          <a:p>
            <a:endParaRPr lang="en-US"/>
          </a:p>
          <a:p>
            <a:r>
              <a:rPr lang="en-US"/>
              <a:t>- #include &lt;stdio.h&gt;. Say it "hash include standard i-o". This line gives your program the ability to print. Without it, printf does not exist. For now, always start your program with this exact line. You will understand it fully in week 8.</a:t>
            </a:r>
          </a:p>
          <a:p>
            <a:r>
              <a:rPr lang="en-US"/>
              <a:t>- int main(void) {. This is where the program starts. When you run a program, the computer looks for main and begins there. Every program has exactly one main. The words int and void are explained in week 4. For now copy this line exactly.</a:t>
            </a:r>
          </a:p>
          <a:p>
            <a:r>
              <a:rPr lang="en-US"/>
              <a:t>- { and }. Everything between the curly braces belongs to main. They come in pairs. If you open one, you must close one.</a:t>
            </a:r>
          </a:p>
          <a:p>
            <a:r>
              <a:rPr lang="en-US"/>
              <a:t>- printf("Hello, ADA!\n");. This prints. What is between the quotes goes on the screen. The \n at the end is not shown: it means "go to a new line". Note it is a backslash \, the one that leans to the left, not /.</a:t>
            </a:r>
          </a:p>
          <a:p>
            <a:r>
              <a:rPr lang="en-US"/>
              <a:t>- return 0;. This says "the program is finished and everything is fine". Zero means fine. Yes, that feels backwards.</a:t>
            </a:r>
          </a:p>
          <a:p>
            <a:endParaRPr lang="en-US"/>
          </a:p>
          <a:p>
            <a:r>
              <a:rPr lang="en-US"/>
              <a:t>Semicolons. Every instruction inside main ends with ;. That is how C knows where one instruction stops. The #include line, the int main(void) line and the braces do not get a semicolon.</a:t>
            </a:r>
          </a:p>
          <a:p>
            <a:endParaRPr lang="en-US"/>
          </a:p>
          <a:p>
            <a:r>
              <a:rPr lang="en-US"/>
              <a:t>Example of the most common error. Remove the semicolon after printf("Hello, ADA!\n") and compile. The screen shows something like:</a:t>
            </a:r>
          </a:p>
          <a:p>
            <a:endParaRPr lang="en-US"/>
          </a:p>
          <a:p>
            <a:r>
              <a:rPr lang="en-US"/>
              <a:t>hello.c:3:28: error: expected ';' before 'return'</a:t>
            </a:r>
          </a:p>
          <a:p>
            <a:endParaRPr lang="en-US"/>
          </a:p>
          <a:p>
            <a:r>
              <a:rPr lang="en-US"/>
              <a:t>Read it: file hello.c, line 3, it expected a semicolon. Put it back, compile again, and the error is gone. This is the normal way of working: type, compile, read the error, fix one thing, compile again.</a:t>
            </a:r>
          </a:p>
          <a:p>
            <a:endParaRPr lang="en-US"/>
          </a:p>
          <a:p>
            <a:r>
              <a:rPr lang="en-US"/>
              <a:t>Try it yourself. Change the message to your own name. Compile. Run. Then add a second printf line under the first, with a different message, and run again. You should see two lines.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variable is a box in the computer's memory. It has a name and something inside it.</a:t>
            </a:r>
          </a:p>
          <a:p>
            <a:endParaRPr lang="en-US"/>
          </a:p>
          <a:p>
            <a:r>
              <a:rPr lang="en-US"/>
              <a:t>int age = 20;</a:t>
            </a:r>
          </a:p>
          <a:p>
            <a:endParaRPr lang="en-US"/>
          </a:p>
          <a:p>
            <a:r>
              <a:rPr lang="en-US"/>
              <a:t>This makes a box called age and puts 20 in it. After this line, whenever you write age, C looks in the box and uses what is inside.</a:t>
            </a:r>
          </a:p>
          <a:p>
            <a:endParaRPr lang="en-US"/>
          </a:p>
          <a:p>
            <a:r>
              <a:rPr lang="en-US"/>
              <a:t>Two steps, which you can do together or apart.</a:t>
            </a:r>
          </a:p>
          <a:p>
            <a:endParaRPr lang="en-US"/>
          </a:p>
          <a:p>
            <a:r>
              <a:rPr lang="en-US"/>
              <a:t>- Making the box is called declaring. int count; makes a box called count for whole numbers. It is empty for now.</a:t>
            </a:r>
          </a:p>
          <a:p>
            <a:r>
              <a:rPr lang="en-US"/>
              <a:t>- Putting something in is called assigning. count = 5; puts 5 in the box.</a:t>
            </a:r>
          </a:p>
          <a:p>
            <a:r>
              <a:rPr lang="en-US"/>
              <a:t>- Usually you do both at once: int count = 5;.</a:t>
            </a:r>
          </a:p>
          <a:p>
            <a:endParaRPr lang="en-US"/>
          </a:p>
          <a:p>
            <a:r>
              <a:rPr lang="en-US"/>
              <a:t>You make a box once. You can put a new value in it as many times as you like. The old value is thrown away each time. The box holds one value.</a:t>
            </a:r>
          </a:p>
          <a:p>
            <a:endParaRPr lang="en-US"/>
          </a:p>
          <a:p>
            <a:r>
              <a:rPr lang="en-US"/>
              <a:t>int count = 5;</a:t>
            </a:r>
          </a:p>
          <a:p>
            <a:r>
              <a:rPr lang="en-US"/>
              <a:t>count = 8;</a:t>
            </a:r>
          </a:p>
          <a:p>
            <a:r>
              <a:rPr lang="en-US"/>
              <a:t>count = 2;</a:t>
            </a:r>
          </a:p>
          <a:p>
            <a:r>
              <a:rPr lang="en-US"/>
              <a:t>printf("%d\n", count);</a:t>
            </a:r>
          </a:p>
          <a:p>
            <a:endParaRPr lang="en-US"/>
          </a:p>
          <a:p>
            <a:r>
              <a:rPr lang="en-US"/>
              <a:t>The screen shows 2. The 5 and the 8 are gone.</a:t>
            </a:r>
          </a:p>
          <a:p>
            <a:endParaRPr lang="en-US"/>
          </a:p>
          <a:p>
            <a:r>
              <a:rPr lang="en-US"/>
              <a:t>Types. When you make a box, you must say what kind of thing goes in it. Three types for this week:</a:t>
            </a:r>
          </a:p>
          <a:p>
            <a:endParaRPr lang="en-US"/>
          </a:p>
          <a:p>
            <a:r>
              <a:rPr lang="en-US"/>
              <a:t>Type: Holds · Examples · Use it for</a:t>
            </a:r>
          </a:p>
          <a:p>
            <a:r>
              <a:rPr lang="en-US"/>
              <a:t>int: whole numbers · 20, -3, 0 · age, number of students, a count</a:t>
            </a:r>
          </a:p>
          <a:p>
            <a:r>
              <a:rPr lang="en-US"/>
              <a:t>double: numbers with a decimal point · 4.75, 3.14159, 1.8 · price, height, average</a:t>
            </a:r>
          </a:p>
          <a:p>
            <a:r>
              <a:rPr lang="en-US"/>
              <a:t>char: one single character · 'A', 'z', '7' · a letter grade, an answer y/n</a:t>
            </a:r>
          </a:p>
          <a:p>
            <a:endParaRPr lang="en-US"/>
          </a:p>
          <a:p>
            <a:r>
              <a:rPr lang="en-US"/>
              <a:t>Examples of making each kind:</a:t>
            </a:r>
          </a:p>
          <a:p>
            <a:endParaRPr lang="en-US"/>
          </a:p>
          <a:p>
            <a:r>
              <a:rPr lang="en-US"/>
              <a:t>int students = 30;</a:t>
            </a:r>
          </a:p>
          <a:p>
            <a:r>
              <a:rPr lang="en-US"/>
              <a:t>double price = 4.75;</a:t>
            </a:r>
          </a:p>
          <a:p>
            <a:r>
              <a:rPr lang="en-US"/>
              <a:t>char grade = 'A';</a:t>
            </a:r>
          </a:p>
          <a:p>
            <a:endParaRPr lang="en-US"/>
          </a:p>
          <a:p>
            <a:r>
              <a:rPr lang="en-US"/>
              <a:t>Quotes. One character uses single quotes: 'A'. Text uses double quotes: "Hello". They are not the same to C. 'A' is a char. "A" is text.</a:t>
            </a:r>
          </a:p>
          <a:p>
            <a:endParaRPr lang="en-US"/>
          </a:p>
          <a:p>
            <a:r>
              <a:rPr lang="en-US"/>
              <a:t>One surprise, explained fully on Friday. If you divide two whole numbers, C throws away the decimal part. 7 / 2 is 3, not 3.5. For now, if a value can have a decimal point, use double.</a:t>
            </a:r>
          </a:p>
          <a:p>
            <a:endParaRPr lang="en-US"/>
          </a:p>
          <a:p>
            <a:r>
              <a:rPr lang="en-US"/>
              <a:t>Try it yourself. Make a variable for your age, one for your height, and one for the first letter of your name. Print all three with labels.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x = x + 1;</a:t>
            </a:r>
          </a:p>
          <a:p>
            <a:endParaRPr lang="en-US"/>
          </a:p>
          <a:p>
            <a:r>
              <a:rPr lang="en-US"/>
              <a:t>In school maths this line is nonsense. No number equals itself plus one. So do not read it as maths.</a:t>
            </a:r>
          </a:p>
          <a:p>
            <a:endParaRPr lang="en-US"/>
          </a:p>
          <a:p>
            <a:r>
              <a:rPr lang="en-US"/>
              <a:t>In C, = does not mean "is equal to". It means: work out the right side, then put the answer in the box on the left. Read it from right to left.</a:t>
            </a:r>
          </a:p>
          <a:p>
            <a:endParaRPr lang="en-US"/>
          </a:p>
          <a:p>
            <a:r>
              <a:rPr lang="en-US"/>
              <a:t>x = x + 1; means: take what is in x, add 1, put the result back in x.</a:t>
            </a:r>
          </a:p>
          <a:p>
            <a:endParaRPr lang="en-US"/>
          </a:p>
          <a:p>
            <a:r>
              <a:rPr lang="en-US"/>
              <a:t>Trace it step by step.</a:t>
            </a:r>
          </a:p>
          <a:p>
            <a:endParaRPr lang="en-US"/>
          </a:p>
          <a:p>
            <a:r>
              <a:rPr lang="en-US"/>
              <a:t>int x = 5;</a:t>
            </a:r>
          </a:p>
          <a:p>
            <a:r>
              <a:rPr lang="en-US"/>
              <a:t>x = x + 1;</a:t>
            </a:r>
          </a:p>
          <a:p>
            <a:r>
              <a:rPr lang="en-US"/>
              <a:t>printf("%d\n", x);</a:t>
            </a:r>
          </a:p>
          <a:p>
            <a:endParaRPr lang="en-US"/>
          </a:p>
          <a:p>
            <a:r>
              <a:rPr lang="en-US"/>
              <a:t>1. int x = 5; makes the box x and puts 5 in it. x is 5.</a:t>
            </a:r>
          </a:p>
          <a:p>
            <a:r>
              <a:rPr lang="en-US"/>
              <a:t>2. x = x + 1; First the right side. What is in x? 5. Add 1. That is 6.</a:t>
            </a:r>
          </a:p>
          <a:p>
            <a:r>
              <a:rPr lang="en-US"/>
              <a:t>3. Now 6 is put into x. The 5 is gone. x is 6.</a:t>
            </a:r>
          </a:p>
          <a:p>
            <a:r>
              <a:rPr lang="en-US"/>
              <a:t>4. printf shows 6.</a:t>
            </a:r>
          </a:p>
          <a:p>
            <a:endParaRPr lang="en-US"/>
          </a:p>
          <a:p>
            <a:r>
              <a:rPr lang="en-US"/>
              <a:t>A second one.</a:t>
            </a:r>
          </a:p>
          <a:p>
            <a:endParaRPr lang="en-US"/>
          </a:p>
          <a:p>
            <a:r>
              <a:rPr lang="en-US"/>
              <a:t>int y = 3;</a:t>
            </a:r>
          </a:p>
          <a:p>
            <a:r>
              <a:rPr lang="en-US"/>
              <a:t>y = y * 2 + 1;</a:t>
            </a:r>
          </a:p>
          <a:p>
            <a:r>
              <a:rPr lang="en-US"/>
              <a:t>printf("%d\n", y);</a:t>
            </a:r>
          </a:p>
          <a:p>
            <a:endParaRPr lang="en-US"/>
          </a:p>
          <a:p>
            <a:r>
              <a:rPr lang="en-US"/>
              <a:t>Right side first. y is 3. Multiply before you add: 3 × 2 = 6. Then 6 + 1 = 7. Put 7 in y. The screen shows 7. If you got 8, you added first. Multiplication comes before addition, as in school.</a:t>
            </a:r>
          </a:p>
          <a:p>
            <a:endParaRPr lang="en-US"/>
          </a:p>
          <a:p>
            <a:r>
              <a:rPr lang="en-US"/>
              <a:t>A third one, with two boxes.</a:t>
            </a:r>
          </a:p>
          <a:p>
            <a:endParaRPr lang="en-US"/>
          </a:p>
          <a:p>
            <a:r>
              <a:rPr lang="en-US"/>
              <a:t>int a = 10;</a:t>
            </a:r>
          </a:p>
          <a:p>
            <a:r>
              <a:rPr lang="en-US"/>
              <a:t>int b = a + 5;</a:t>
            </a:r>
          </a:p>
          <a:p>
            <a:r>
              <a:rPr lang="en-US"/>
              <a:t>a = 1;</a:t>
            </a:r>
          </a:p>
          <a:p>
            <a:r>
              <a:rPr lang="en-US"/>
              <a:t>printf("%d %d\n", a, b);</a:t>
            </a:r>
          </a:p>
          <a:p>
            <a:endParaRPr lang="en-US"/>
          </a:p>
          <a:p>
            <a:r>
              <a:rPr lang="en-US"/>
              <a:t>b becomes 10 + 5 = 15. Then a is changed to 1. b does not change, because the calculation for b already happened. The screen shows 1 15.</a:t>
            </a:r>
          </a:p>
          <a:p>
            <a:endParaRPr lang="en-US"/>
          </a:p>
          <a:p>
            <a:r>
              <a:rPr lang="en-US"/>
              <a:t>The rule, once more: right side first, then the answer goes into the box on the left. Almost everything in this course uses this. If it is still unclear, ask in the forum or in class.</a:t>
            </a:r>
          </a:p>
          <a:p>
            <a:endParaRPr lang="en-US"/>
          </a:p>
          <a:p>
            <a:r>
              <a:rPr lang="en-US"/>
              <a:t>Try it yourself. Before you run each program, write on paper what you think it prints. Then run it.</a:t>
            </a:r>
          </a:p>
          <a:p>
            <a:endParaRPr lang="en-US"/>
          </a:p>
          <a:p>
            <a:r>
              <a:rPr lang="en-US"/>
              <a:t>1. int n = 10; n = n - 3; printf("%d\n", n); (Expect 7.)</a:t>
            </a:r>
          </a:p>
          <a:p>
            <a:r>
              <a:rPr lang="en-US"/>
              <a:t>2. int n = 2; n = n * n; printf("%d\n", n); (Expect 4.)</a:t>
            </a:r>
          </a:p>
          <a:p>
            <a:r>
              <a:rPr lang="en-US"/>
              <a:t>3. int n = 1; n = n + 1; n = n + 1; printf("%d\n", n); (Expect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to try the examples in these notes. Every example below is a small program. To try one:</a:t>
            </a:r>
          </a:p>
          <a:p>
            <a:endParaRPr lang="en-US"/>
          </a:p>
          <a:p>
            <a:r>
              <a:rPr lang="en-US"/>
              <a:t>1. Open Visual Studio Code.</a:t>
            </a:r>
          </a:p>
          <a:p>
            <a:r>
              <a:rPr lang="en-US"/>
              <a:t>2. Click File, then Open Folder, and open your c_week1 folder.</a:t>
            </a:r>
          </a:p>
          <a:p>
            <a:r>
              <a:rPr lang="en-US"/>
              <a:t>3. Click File, then New Text File. Type the program. Click File, then Save As, and give it a name ending in .c, for example test.c.</a:t>
            </a:r>
          </a:p>
          <a:p>
            <a:r>
              <a:rPr lang="en-US"/>
              <a:t>4. Click View, then Terminal. A window opens at the bottom. That is the terminal.</a:t>
            </a:r>
          </a:p>
          <a:p>
            <a:r>
              <a:rPr lang="en-US"/>
              <a:t>5. In the terminal, type gcc -Wall test.c -o test and press Enter. If nothing is printed, good. That means it worked.</a:t>
            </a:r>
          </a:p>
          <a:p>
            <a:r>
              <a:rPr lang="en-US"/>
              <a:t>6. Type ./test and press Enter. (In Windows PowerShell, type .\test instead.) Your program runs.</a:t>
            </a:r>
          </a:p>
          <a:p>
            <a:endParaRPr lang="en-US"/>
          </a:p>
          <a:p>
            <a:r>
              <a:rPr lang="en-US"/>
              <a:t>Now the slide.</a:t>
            </a:r>
          </a:p>
          <a:p>
            <a:endParaRPr lang="en-US"/>
          </a:p>
          <a:p>
            <a:r>
              <a:rPr lang="en-US"/>
              <a:t>What printf does. printf puts words and numbers on the screen. Without it, your program is silent.</a:t>
            </a:r>
          </a:p>
          <a:p>
            <a:endParaRPr lang="en-US"/>
          </a:p>
          <a:p>
            <a:r>
              <a:rPr lang="en-US"/>
              <a:t>Example 1. Print fixed words.</a:t>
            </a:r>
          </a:p>
          <a:p>
            <a:endParaRPr lang="en-US"/>
          </a:p>
          <a:p>
            <a:r>
              <a:rPr lang="en-US"/>
              <a:t>printf("Hello!\n");</a:t>
            </a:r>
          </a:p>
          <a:p>
            <a:endParaRPr lang="en-US"/>
          </a:p>
          <a:p>
            <a:r>
              <a:rPr lang="en-US"/>
              <a:t>The screen shows:</a:t>
            </a:r>
          </a:p>
          <a:p>
            <a:endParaRPr lang="en-US"/>
          </a:p>
          <a:p>
            <a:r>
              <a:rPr lang="en-US"/>
              <a:t>Hello!</a:t>
            </a:r>
          </a:p>
          <a:p>
            <a:endParaRPr lang="en-US"/>
          </a:p>
          <a:p>
            <a:r>
              <a:rPr lang="en-US"/>
              <a:t>Whatever is between the quotes goes on the screen. The \n at the end is not shown. It means "go to the next line".</a:t>
            </a:r>
          </a:p>
          <a:p>
            <a:endParaRPr lang="en-US"/>
          </a:p>
          <a:p>
            <a:r>
              <a:rPr lang="en-US"/>
              <a:t>Example 2. Print a number that is in a variable.</a:t>
            </a:r>
          </a:p>
          <a:p>
            <a:endParaRPr lang="en-US"/>
          </a:p>
          <a:p>
            <a:r>
              <a:rPr lang="en-US"/>
              <a:t>int age = 20;</a:t>
            </a:r>
          </a:p>
          <a:p>
            <a:r>
              <a:rPr lang="en-US"/>
              <a:t>printf("Age: %d\n", age);</a:t>
            </a:r>
          </a:p>
          <a:p>
            <a:endParaRPr lang="en-US"/>
          </a:p>
          <a:p>
            <a:r>
              <a:rPr lang="en-US"/>
              <a:t>The screen shows:</a:t>
            </a:r>
          </a:p>
          <a:p>
            <a:endParaRPr lang="en-US"/>
          </a:p>
          <a:p>
            <a:r>
              <a:rPr lang="en-US"/>
              <a:t>Age: 20</a:t>
            </a:r>
          </a:p>
          <a:p>
            <a:endParaRPr lang="en-US"/>
          </a:p>
          <a:p>
            <a:r>
              <a:rPr lang="en-US"/>
              <a:t>Look at the printf line. It has two parts, with a comma between them:</a:t>
            </a:r>
          </a:p>
          <a:p>
            <a:endParaRPr lang="en-US"/>
          </a:p>
          <a:p>
            <a:r>
              <a:rPr lang="en-US"/>
              <a:t>- Part 1, before the comma: the words in quotes, "Age: %d\n".</a:t>
            </a:r>
          </a:p>
          <a:p>
            <a:r>
              <a:rPr lang="en-US"/>
              <a:t>- Part 2, after the comma: the variable, age.</a:t>
            </a:r>
          </a:p>
          <a:p>
            <a:endParaRPr lang="en-US"/>
          </a:p>
          <a:p>
            <a:r>
              <a:rPr lang="en-US"/>
              <a:t>Inside the words there is %d. Think of %d as a hole. When the program runs, the value of age, which is 20, is put into the hole. So %d is not shown. The number 20 is shown in its place.</a:t>
            </a:r>
          </a:p>
          <a:p>
            <a:endParaRPr lang="en-US"/>
          </a:p>
          <a:p>
            <a:r>
              <a:rPr lang="en-US"/>
              <a:t>The hole must match the type of the variable. There is a different hole for each type.</a:t>
            </a:r>
          </a:p>
          <a:p>
            <a:endParaRPr lang="en-US"/>
          </a:p>
          <a:p>
            <a:r>
              <a:rPr lang="en-US"/>
              <a:t>Variable type: Hole to use · Example · Screen shows</a:t>
            </a:r>
          </a:p>
          <a:p>
            <a:r>
              <a:rPr lang="en-US"/>
              <a:t>int (whole number): %d · int n = 7; printf("%d\n", n); · 7</a:t>
            </a:r>
          </a:p>
          <a:p>
            <a:r>
              <a:rPr lang="en-US"/>
              <a:t>double (number with decimal point): %f · double p = 3.75; printf("%f\n", p); · 3.750000</a:t>
            </a:r>
          </a:p>
          <a:p>
            <a:r>
              <a:rPr lang="en-US"/>
              <a:t>double, only 2 digits after the point: %.2f · double p = 3.75; printf("%.2f\n", p); · 3.75</a:t>
            </a:r>
          </a:p>
          <a:p>
            <a:r>
              <a:rPr lang="en-US"/>
              <a:t>double, no digits after the point: %.0f · double p = 3.75; printf("%.0f\n", p); · 4</a:t>
            </a:r>
          </a:p>
          <a:p>
            <a:r>
              <a:rPr lang="en-US"/>
              <a:t>char (one letter): %c · char g = 'A'; printf("%c\n", g); · A</a:t>
            </a:r>
          </a:p>
          <a:p>
            <a:endParaRPr lang="en-US"/>
          </a:p>
          <a:p>
            <a:r>
              <a:rPr lang="en-US"/>
              <a:t>Look at the three double rows. Same variable, same value 3.75, three different holes, three different results. Plain %f always shows six digits after the point. %.2f shows two. %.0f shows none and rounds 3.75 up to 4. The number after the dot tells printf how many digits after the decimal point to show. The variable itself does not change.</a:t>
            </a:r>
          </a:p>
          <a:p>
            <a:endParaRPr lang="en-US"/>
          </a:p>
          <a:p>
            <a:r>
              <a:rPr lang="en-US"/>
              <a:t>For money, always use %.2f. Prices have two digits after the point.</a:t>
            </a:r>
          </a:p>
          <a:p>
            <a:endParaRPr lang="en-US"/>
          </a:p>
          <a:p>
            <a:r>
              <a:rPr lang="en-US"/>
              <a:t>Example 3. Wrong hole. What if you use %d for a double?</a:t>
            </a:r>
          </a:p>
          <a:p>
            <a:endParaRPr lang="en-US"/>
          </a:p>
          <a:p>
            <a:r>
              <a:rPr lang="en-US"/>
              <a:t>double p = 3.75;</a:t>
            </a:r>
          </a:p>
          <a:p>
            <a:r>
              <a:rPr lang="en-US"/>
              <a:t>printf("%d\n", p);</a:t>
            </a:r>
          </a:p>
          <a:p>
            <a:endParaRPr lang="en-US"/>
          </a:p>
          <a:p>
            <a:r>
              <a:rPr lang="en-US"/>
              <a:t>The screen shows something like 0 or 1074266112. Nonsense. The hole and the variable do not match. The computer does not stop you. It just prints rubbish.</a:t>
            </a:r>
          </a:p>
          <a:p>
            <a:endParaRPr lang="en-US"/>
          </a:p>
          <a:p>
            <a:r>
              <a:rPr lang="en-US"/>
              <a:t>To catch this mistake, ask the compiler to check for you. From now on, always compile like this:</a:t>
            </a:r>
          </a:p>
          <a:p>
            <a:endParaRPr lang="en-US"/>
          </a:p>
          <a:p>
            <a:r>
              <a:rPr lang="en-US"/>
              <a:t>gcc -Wall test.c -o test</a:t>
            </a:r>
          </a:p>
          <a:p>
            <a:endParaRPr lang="en-US"/>
          </a:p>
          <a:p>
            <a:r>
              <a:rPr lang="en-US"/>
              <a:t>-Wall means "warn me about all problems". With -Wall, the compiler prints a warning for Example 3. It says the format expects an int but you gave it a double. Read the warning, fix the hole, compile again.</a:t>
            </a:r>
          </a:p>
          <a:p>
            <a:endParaRPr lang="en-US"/>
          </a:p>
          <a:p>
            <a:r>
              <a:rPr lang="en-US"/>
              <a:t>Rule: when your output looks like nonsense, check your % letters first.</a:t>
            </a:r>
          </a:p>
          <a:p>
            <a:endParaRPr lang="en-US"/>
          </a:p>
          <a:p>
            <a:r>
              <a:rPr lang="en-US"/>
              <a:t>Example 4. Two holes in one line.</a:t>
            </a:r>
          </a:p>
          <a:p>
            <a:endParaRPr lang="en-US"/>
          </a:p>
          <a:p>
            <a:r>
              <a:rPr lang="en-US"/>
              <a:t>int a = 3;</a:t>
            </a:r>
          </a:p>
          <a:p>
            <a:r>
              <a:rPr lang="en-US"/>
              <a:t>int b = 4;</a:t>
            </a:r>
          </a:p>
          <a:p>
            <a:r>
              <a:rPr lang="en-US"/>
              <a:t>printf("%d plus %d\n", a, b);</a:t>
            </a:r>
          </a:p>
          <a:p>
            <a:endParaRPr lang="en-US"/>
          </a:p>
          <a:p>
            <a:r>
              <a:rPr lang="en-US"/>
              <a:t>The screen shows:</a:t>
            </a:r>
          </a:p>
          <a:p>
            <a:endParaRPr lang="en-US"/>
          </a:p>
          <a:p>
            <a:r>
              <a:rPr lang="en-US"/>
              <a:t>3 plus 4</a:t>
            </a:r>
          </a:p>
          <a:p>
            <a:endParaRPr lang="en-US"/>
          </a:p>
          <a:p>
            <a:r>
              <a:rPr lang="en-US"/>
              <a:t>Two holes, so two variables after the comma. The first variable goes into the first hole. The second goes into the second. Count them: the number of holes and the number of variables must be the same.</a:t>
            </a:r>
          </a:p>
          <a:p>
            <a:endParaRPr lang="en-US"/>
          </a:p>
          <a:p>
            <a:r>
              <a:rPr lang="en-US"/>
              <a:t>Example 5. Words and a number together.</a:t>
            </a:r>
          </a:p>
          <a:p>
            <a:endParaRPr lang="en-US"/>
          </a:p>
          <a:p>
            <a:r>
              <a:rPr lang="en-US"/>
              <a:t>double price = 12.5;</a:t>
            </a:r>
          </a:p>
          <a:p>
            <a:r>
              <a:rPr lang="en-US"/>
              <a:t>printf("The price is %.2f manat\n", price);</a:t>
            </a:r>
          </a:p>
          <a:p>
            <a:endParaRPr lang="en-US"/>
          </a:p>
          <a:p>
            <a:r>
              <a:rPr lang="en-US"/>
              <a:t>The screen shows:</a:t>
            </a:r>
          </a:p>
          <a:p>
            <a:endParaRPr lang="en-US"/>
          </a:p>
          <a:p>
            <a:r>
              <a:rPr lang="en-US"/>
              <a:t>The price is 12.50 manat</a:t>
            </a:r>
          </a:p>
          <a:p>
            <a:endParaRPr lang="en-US"/>
          </a:p>
          <a:p>
            <a:r>
              <a:rPr lang="en-US"/>
              <a:t>Example 6. What \n does. Two printf lines, without \n:</a:t>
            </a:r>
          </a:p>
          <a:p>
            <a:endParaRPr lang="en-US"/>
          </a:p>
          <a:p>
            <a:r>
              <a:rPr lang="en-US"/>
              <a:t>printf("one");</a:t>
            </a:r>
          </a:p>
          <a:p>
            <a:r>
              <a:rPr lang="en-US"/>
              <a:t>printf("two");</a:t>
            </a:r>
          </a:p>
          <a:p>
            <a:endParaRPr lang="en-US"/>
          </a:p>
          <a:p>
            <a:r>
              <a:rPr lang="en-US"/>
              <a:t>The screen shows:</a:t>
            </a:r>
          </a:p>
          <a:p>
            <a:endParaRPr lang="en-US"/>
          </a:p>
          <a:p>
            <a:r>
              <a:rPr lang="en-US"/>
              <a:t>onetwo</a:t>
            </a:r>
          </a:p>
          <a:p>
            <a:endParaRPr lang="en-US"/>
          </a:p>
          <a:p>
            <a:r>
              <a:rPr lang="en-US"/>
              <a:t>Both words on one line, stuck together. Now with \n:</a:t>
            </a:r>
          </a:p>
          <a:p>
            <a:endParaRPr lang="en-US"/>
          </a:p>
          <a:p>
            <a:r>
              <a:rPr lang="en-US"/>
              <a:t>printf("one\n");</a:t>
            </a:r>
          </a:p>
          <a:p>
            <a:r>
              <a:rPr lang="en-US"/>
              <a:t>printf("two\n");</a:t>
            </a:r>
          </a:p>
          <a:p>
            <a:endParaRPr lang="en-US"/>
          </a:p>
          <a:p>
            <a:r>
              <a:rPr lang="en-US"/>
              <a:t>The screen shows:</a:t>
            </a:r>
          </a:p>
          <a:p>
            <a:endParaRPr lang="en-US"/>
          </a:p>
          <a:p>
            <a:r>
              <a:rPr lang="en-US"/>
              <a:t>one</a:t>
            </a:r>
          </a:p>
          <a:p>
            <a:r>
              <a:rPr lang="en-US"/>
              <a:t>two</a:t>
            </a:r>
          </a:p>
          <a:p>
            <a:endParaRPr lang="en-US"/>
          </a:p>
          <a:p>
            <a:r>
              <a:rPr lang="en-US"/>
              <a:t>So \n means "the next thing starts on a new line".</a:t>
            </a:r>
          </a:p>
          <a:p>
            <a:endParaRPr lang="en-US"/>
          </a:p>
          <a:p>
            <a:r>
              <a:rPr lang="en-US"/>
              <a:t>Good habit: always print a label. Do not print just 20. Print Age: 20. When your program prints five bare numbers and one is wrong, you cannot tell which is which.</a:t>
            </a:r>
          </a:p>
          <a:p>
            <a:endParaRPr lang="en-US"/>
          </a:p>
          <a:p>
            <a:r>
              <a:rPr lang="en-US"/>
              <a:t>Try it yourself.</a:t>
            </a:r>
          </a:p>
          <a:p>
            <a:endParaRPr lang="en-US"/>
          </a:p>
          <a:p>
            <a:r>
              <a:rPr lang="en-US"/>
              <a:t>1. Make a variable int year = 2026; and print Year: 2026.</a:t>
            </a:r>
          </a:p>
          <a:p>
            <a:r>
              <a:rPr lang="en-US"/>
              <a:t>2. Make a variable double height = 1.8; and print Height: 1.80.</a:t>
            </a:r>
          </a:p>
          <a:p>
            <a:r>
              <a:rPr lang="en-US"/>
              <a:t>3. Print your name and age on one line, like Ali is 19 years old, with the age coming from an int variable.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printf sends things out to the screen. scanf brings things in from the keyboard. With scanf, your program can ask you a question and use your answer.</a:t>
            </a:r>
          </a:p>
          <a:p>
            <a:endParaRPr lang="en-US"/>
          </a:p>
          <a:p>
            <a:r>
              <a:rPr lang="en-US"/>
              <a:t>Example 1. Ask for a number.</a:t>
            </a:r>
          </a:p>
          <a:p>
            <a:endParaRPr lang="en-US"/>
          </a:p>
          <a:p>
            <a:r>
              <a:rPr lang="en-US"/>
              <a:t>#include &lt;stdio.h&gt;</a:t>
            </a:r>
          </a:p>
          <a:p>
            <a:r>
              <a:rPr lang="en-US"/>
              <a:t>int main(void) {</a:t>
            </a:r>
          </a:p>
          <a:p>
            <a:r>
              <a:rPr lang="en-US"/>
              <a:t>    int age;</a:t>
            </a:r>
          </a:p>
          <a:p>
            <a:r>
              <a:rPr lang="en-US"/>
              <a:t>    printf("Enter age: ");</a:t>
            </a:r>
          </a:p>
          <a:p>
            <a:r>
              <a:rPr lang="en-US"/>
              <a:t>    scanf("%d", &amp;age);</a:t>
            </a:r>
          </a:p>
          <a:p>
            <a:r>
              <a:rPr lang="en-US"/>
              <a:t>    printf("You are %d years old\n", age);</a:t>
            </a:r>
          </a:p>
          <a:p>
            <a:r>
              <a:rPr lang="en-US"/>
              <a:t>    return 0;</a:t>
            </a:r>
          </a:p>
          <a:p>
            <a:r>
              <a:rPr lang="en-US"/>
              <a:t>}</a:t>
            </a:r>
          </a:p>
          <a:p>
            <a:endParaRPr lang="en-US"/>
          </a:p>
          <a:p>
            <a:r>
              <a:rPr lang="en-US"/>
              <a:t>Compile and run it. This is what happens:</a:t>
            </a:r>
          </a:p>
          <a:p>
            <a:endParaRPr lang="en-US"/>
          </a:p>
          <a:p>
            <a:r>
              <a:rPr lang="en-US"/>
              <a:t>1. The screen shows Enter age:  and then nothing. The program is waiting. The blinking cursor is right after the colon.</a:t>
            </a:r>
          </a:p>
          <a:p>
            <a:r>
              <a:rPr lang="en-US"/>
              <a:t>2. You type 19 and press Enter.</a:t>
            </a:r>
          </a:p>
          <a:p>
            <a:r>
              <a:rPr lang="en-US"/>
              <a:t>3. The screen shows You are 19 years old.</a:t>
            </a:r>
          </a:p>
          <a:p>
            <a:endParaRPr lang="en-US"/>
          </a:p>
          <a:p>
            <a:r>
              <a:rPr lang="en-US"/>
              <a:t>So scanf does three things. It waits for you to type. It reads what you typed. It stores it in the variable age.</a:t>
            </a:r>
          </a:p>
          <a:p>
            <a:endParaRPr lang="en-US"/>
          </a:p>
          <a:p>
            <a:r>
              <a:rPr lang="en-US"/>
              <a:t>Look closely at the scanf line. scanf("%d", &amp;age);</a:t>
            </a:r>
          </a:p>
          <a:p>
            <a:endParaRPr lang="en-US"/>
          </a:p>
          <a:p>
            <a:r>
              <a:rPr lang="en-US"/>
              <a:t>- %d is the hole, like in printf. It says "I expect a whole number".</a:t>
            </a:r>
          </a:p>
          <a:p>
            <a:r>
              <a:rPr lang="en-US"/>
              <a:t>- &amp;age is the variable, but with &amp; in front of it. The &amp; is not a mistake. You must write it.</a:t>
            </a:r>
          </a:p>
          <a:p>
            <a:endParaRPr lang="en-US"/>
          </a:p>
          <a:p>
            <a:r>
              <a:rPr lang="en-US"/>
              <a:t>Why &amp;? Think of the variable age as a box. printf only needs to look inside the box, so you give it the box's contents. scanf needs to put something into the box. To do that it needs to know where the box is. &amp;age means "the place where age is". Without &amp;, scanf does not know where to put the number.</a:t>
            </a:r>
          </a:p>
          <a:p>
            <a:endParaRPr lang="en-US"/>
          </a:p>
          <a:p>
            <a:r>
              <a:rPr lang="en-US"/>
              <a:t>If you forget the &amp;: the program still compiles. But when you run it, it crashes, or age stays empty and you see a nonsense number. With -Wall, the compiler warns you: format '%d' expects argument of type 'int *'. When you see that warning, you forgot &amp;.</a:t>
            </a:r>
          </a:p>
          <a:p>
            <a:endParaRPr lang="en-US"/>
          </a:p>
          <a:p>
            <a:r>
              <a:rPr lang="en-US"/>
              <a:t>Example 2. Ask for a number with a decimal point.</a:t>
            </a:r>
          </a:p>
          <a:p>
            <a:endParaRPr lang="en-US"/>
          </a:p>
          <a:p>
            <a:r>
              <a:rPr lang="en-US"/>
              <a:t>double height;</a:t>
            </a:r>
          </a:p>
          <a:p>
            <a:r>
              <a:rPr lang="en-US"/>
              <a:t>printf("Enter height: ");</a:t>
            </a:r>
          </a:p>
          <a:p>
            <a:r>
              <a:rPr lang="en-US"/>
              <a:t>scanf("%lf", &amp;height);</a:t>
            </a:r>
          </a:p>
          <a:p>
            <a:r>
              <a:rPr lang="en-US"/>
              <a:t>printf("Height: %.2f\n", height);</a:t>
            </a:r>
          </a:p>
          <a:p>
            <a:endParaRPr lang="en-US"/>
          </a:p>
          <a:p>
            <a:r>
              <a:rPr lang="en-US"/>
              <a:t>You type 1.82 and press Enter. The screen shows Height: 1.82.</a:t>
            </a:r>
          </a:p>
          <a:p>
            <a:endParaRPr lang="en-US"/>
          </a:p>
          <a:p>
            <a:r>
              <a:rPr lang="en-US"/>
              <a:t>Careful: for a double, scanf uses %lf, not %f. That is an L, not a 1. This is just how C is. Remember it like this:</a:t>
            </a:r>
          </a:p>
          <a:p>
            <a:endParaRPr lang="en-US"/>
          </a:p>
          <a:p>
            <a:r>
              <a:rPr lang="en-US"/>
              <a:t>Type: printf hole · scanf hole</a:t>
            </a:r>
          </a:p>
          <a:p>
            <a:r>
              <a:rPr lang="en-US"/>
              <a:t>int: %d · %d</a:t>
            </a:r>
          </a:p>
          <a:p>
            <a:r>
              <a:rPr lang="en-US"/>
              <a:t>double: %f or %.2f · %lf</a:t>
            </a:r>
          </a:p>
          <a:p>
            <a:endParaRPr lang="en-US"/>
          </a:p>
          <a:p>
            <a:r>
              <a:rPr lang="en-US"/>
              <a:t>Example 3. Ask for two numbers, one after the other. This is the program on the slide.</a:t>
            </a:r>
          </a:p>
          <a:p>
            <a:endParaRPr lang="en-US"/>
          </a:p>
          <a:p>
            <a:r>
              <a:rPr lang="en-US"/>
              <a:t>int age;</a:t>
            </a:r>
          </a:p>
          <a:p>
            <a:r>
              <a:rPr lang="en-US"/>
              <a:t>double height;</a:t>
            </a:r>
          </a:p>
          <a:p>
            <a:r>
              <a:rPr lang="en-US"/>
              <a:t>printf("Enter age: ");</a:t>
            </a:r>
          </a:p>
          <a:p>
            <a:r>
              <a:rPr lang="en-US"/>
              <a:t>scanf("%d", &amp;age);</a:t>
            </a:r>
          </a:p>
          <a:p>
            <a:r>
              <a:rPr lang="en-US"/>
              <a:t>printf("Enter height: ");</a:t>
            </a:r>
          </a:p>
          <a:p>
            <a:r>
              <a:rPr lang="en-US"/>
              <a:t>scanf("%lf", &amp;height);</a:t>
            </a:r>
          </a:p>
          <a:p>
            <a:r>
              <a:rPr lang="en-US"/>
              <a:t>printf("Age %d, height %.2f\n", age, height);</a:t>
            </a:r>
          </a:p>
          <a:p>
            <a:endParaRPr lang="en-US"/>
          </a:p>
          <a:p>
            <a:r>
              <a:rPr lang="en-US"/>
              <a:t>Run it. Type 19, press Enter. Type 1.82, press Enter. The screen shows Age 19, height 1.82. So age holds 19 and height holds 1.82.</a:t>
            </a:r>
          </a:p>
          <a:p>
            <a:endParaRPr lang="en-US"/>
          </a:p>
          <a:p>
            <a:r>
              <a:rPr lang="en-US"/>
              <a:t>You may also type both on one line, 19 1.82, and press Enter once. scanf skips the space and takes the next number. Both ways work.</a:t>
            </a:r>
          </a:p>
          <a:p>
            <a:endParaRPr lang="en-US"/>
          </a:p>
          <a:p>
            <a:r>
              <a:rPr lang="en-US"/>
              <a:t>Example 4. Two numbers in one scanf.</a:t>
            </a:r>
          </a:p>
          <a:p>
            <a:endParaRPr lang="en-US"/>
          </a:p>
          <a:p>
            <a:r>
              <a:rPr lang="en-US"/>
              <a:t>int a, b;</a:t>
            </a:r>
          </a:p>
          <a:p>
            <a:r>
              <a:rPr lang="en-US"/>
              <a:t>printf("Two numbers: ");</a:t>
            </a:r>
          </a:p>
          <a:p>
            <a:r>
              <a:rPr lang="en-US"/>
              <a:t>scanf("%d %d", &amp;a, &amp;b);</a:t>
            </a:r>
          </a:p>
          <a:p>
            <a:r>
              <a:rPr lang="en-US"/>
              <a:t>printf("Sum = %d\n", a + b);</a:t>
            </a:r>
          </a:p>
          <a:p>
            <a:endParaRPr lang="en-US"/>
          </a:p>
          <a:p>
            <a:r>
              <a:rPr lang="en-US"/>
              <a:t>You type 4 9 and press Enter. The screen shows Sum = 13. Two holes, so two variables, each with &amp;.</a:t>
            </a:r>
          </a:p>
          <a:p>
            <a:endParaRPr lang="en-US"/>
          </a:p>
          <a:p>
            <a:r>
              <a:rPr lang="en-US"/>
              <a:t>Why no \n in the question? printf("Enter age: ") has no \n. So the cursor stays on the same line, and you type right after the colon. That looks like a proper question. If you put \n, you would type on the next line. Both work. No \n looks nicer.</a:t>
            </a:r>
          </a:p>
          <a:p>
            <a:endParaRPr lang="en-US"/>
          </a:p>
          <a:p>
            <a:r>
              <a:rPr lang="en-US"/>
              <a:t>What if you type a letter instead of a number? The program gets confused and age gets no value. In week 7 you learn how to check for that. For now, type numbers.</a:t>
            </a:r>
          </a:p>
          <a:p>
            <a:endParaRPr lang="en-US"/>
          </a:p>
          <a:p>
            <a:r>
              <a:rPr lang="en-US"/>
              <a:t>Try it yourself.</a:t>
            </a:r>
          </a:p>
          <a:p>
            <a:endParaRPr lang="en-US"/>
          </a:p>
          <a:p>
            <a:r>
              <a:rPr lang="en-US"/>
              <a:t>1. Write a program that asks "Enter a number: " and then prints You typed 5 (or whatever you typed).</a:t>
            </a:r>
          </a:p>
          <a:p>
            <a:r>
              <a:rPr lang="en-US"/>
              <a:t>2. Change it so it asks for a price with a decimal point and prints Price: 12.50.</a:t>
            </a:r>
          </a:p>
          <a:p>
            <a:r>
              <a:rPr lang="en-US"/>
              <a:t>3. Ask for two whole numbers and print them the other way round: type 3 8, see 8 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expression is a small calculation, like a + b. C has five basic operators:</a:t>
            </a:r>
          </a:p>
          <a:p>
            <a:endParaRPr lang="en-US"/>
          </a:p>
          <a:p>
            <a:r>
              <a:rPr lang="en-US"/>
              <a:t>Operator: Meaning · Example · Result</a:t>
            </a:r>
          </a:p>
          <a:p>
            <a:r>
              <a:rPr lang="en-US"/>
              <a:t>+: add · 7 + 3 · 10</a:t>
            </a:r>
          </a:p>
          <a:p>
            <a:r>
              <a:rPr lang="en-US"/>
              <a:t>-: subtract · 7 - 3 · 4</a:t>
            </a:r>
          </a:p>
          <a:p>
            <a:r>
              <a:rPr lang="en-US"/>
              <a:t>*: multiply (this is the star, not x) · 7 * 3 · 21</a:t>
            </a:r>
          </a:p>
          <a:p>
            <a:r>
              <a:rPr lang="en-US"/>
              <a:t>/: divide · 7 / 3 · 2 (yes, 2. Read on.)</a:t>
            </a:r>
          </a:p>
          <a:p>
            <a:r>
              <a:rPr lang="en-US"/>
              <a:t>%: remainder after dividing · 7 % 3 · 1</a:t>
            </a:r>
          </a:p>
          <a:p>
            <a:endParaRPr lang="en-US"/>
          </a:p>
          <a:p>
            <a:r>
              <a:rPr lang="en-US"/>
              <a:t>You can print a calculation directly. You do not need to store it first:</a:t>
            </a:r>
          </a:p>
          <a:p>
            <a:endParaRPr lang="en-US"/>
          </a:p>
          <a:p>
            <a:r>
              <a:rPr lang="en-US"/>
              <a:t>int a = 7;</a:t>
            </a:r>
          </a:p>
          <a:p>
            <a:r>
              <a:rPr lang="en-US"/>
              <a:t>int b = 3;</a:t>
            </a:r>
          </a:p>
          <a:p>
            <a:r>
              <a:rPr lang="en-US"/>
              <a:t>printf("%d\n", a + b);</a:t>
            </a:r>
          </a:p>
          <a:p>
            <a:endParaRPr lang="en-US"/>
          </a:p>
          <a:p>
            <a:r>
              <a:rPr lang="en-US"/>
              <a:t>The screen shows 10.</a:t>
            </a:r>
          </a:p>
          <a:p>
            <a:endParaRPr lang="en-US"/>
          </a:p>
          <a:p>
            <a:r>
              <a:rPr lang="en-US"/>
              <a:t>Surprise 1: dividing whole numbers gives a whole number. 7 / 3 is 2, not 2.33. Why? Both 7 and 3 are int. When C divides an int by an int, the answer is an int. The part after the decimal point is thrown away. Not rounded. Thrown away.</a:t>
            </a:r>
          </a:p>
          <a:p>
            <a:endParaRPr lang="en-US"/>
          </a:p>
          <a:p>
            <a:r>
              <a:rPr lang="en-US"/>
              <a:t>More examples:</a:t>
            </a:r>
          </a:p>
          <a:p>
            <a:endParaRPr lang="en-US"/>
          </a:p>
          <a:p>
            <a:r>
              <a:rPr lang="en-US"/>
              <a:t>Expression: Result · Why</a:t>
            </a:r>
          </a:p>
          <a:p>
            <a:r>
              <a:rPr lang="en-US"/>
              <a:t>7 / 2: 3 · 3.5, and the .5 is thrown away</a:t>
            </a:r>
          </a:p>
          <a:p>
            <a:r>
              <a:rPr lang="en-US"/>
              <a:t>9 / 2: 4 · 4.5, and the .5 is thrown away</a:t>
            </a:r>
          </a:p>
          <a:p>
            <a:r>
              <a:rPr lang="en-US"/>
              <a:t>10 / 5: 2 · exact, nothing to throw away</a:t>
            </a:r>
          </a:p>
          <a:p>
            <a:r>
              <a:rPr lang="en-US"/>
              <a:t>1 / 2: 0 · 0.5, and the .5 is thrown away</a:t>
            </a:r>
          </a:p>
          <a:p>
            <a:endParaRPr lang="en-US"/>
          </a:p>
          <a:p>
            <a:r>
              <a:rPr lang="en-US"/>
              <a:t>If you want the decimal part, at least one of the numbers must be a double:</a:t>
            </a:r>
          </a:p>
          <a:p>
            <a:endParaRPr lang="en-US"/>
          </a:p>
          <a:p>
            <a:r>
              <a:rPr lang="en-US"/>
              <a:t>Expression: Result</a:t>
            </a:r>
          </a:p>
          <a:p>
            <a:r>
              <a:rPr lang="en-US"/>
              <a:t>7 / 2: 3</a:t>
            </a:r>
          </a:p>
          <a:p>
            <a:r>
              <a:rPr lang="en-US"/>
              <a:t>7.0 / 2: 3.5</a:t>
            </a:r>
          </a:p>
          <a:p>
            <a:r>
              <a:rPr lang="en-US"/>
              <a:t>7 / 2.0: 3.5</a:t>
            </a:r>
          </a:p>
          <a:p>
            <a:endParaRPr lang="en-US"/>
          </a:p>
          <a:p>
            <a:r>
              <a:rPr lang="en-US"/>
              <a:t>Rule for now: if you want decimals, use double.</a:t>
            </a:r>
          </a:p>
          <a:p>
            <a:endParaRPr lang="en-US"/>
          </a:p>
          <a:p>
            <a:r>
              <a:rPr lang="en-US"/>
              <a:t>Surprise 2: % is the remainder. It is called "modulo". 7 % 3 asks: divide 7 by 3, what is left over? 3 goes into 7 two times, and 1 is left over. So 7 % 3 is 1.</a:t>
            </a:r>
          </a:p>
          <a:p>
            <a:endParaRPr lang="en-US"/>
          </a:p>
          <a:p>
            <a:r>
              <a:rPr lang="en-US"/>
              <a:t>More examples:</a:t>
            </a:r>
          </a:p>
          <a:p>
            <a:endParaRPr lang="en-US"/>
          </a:p>
          <a:p>
            <a:r>
              <a:rPr lang="en-US"/>
              <a:t>Expression: Result · Why</a:t>
            </a:r>
          </a:p>
          <a:p>
            <a:r>
              <a:rPr lang="en-US"/>
              <a:t>10 % 3: 1 · 3 × 3 = 9, and 1 is left</a:t>
            </a:r>
          </a:p>
          <a:p>
            <a:r>
              <a:rPr lang="en-US"/>
              <a:t>10 % 5: 0 · 5 × 2 = 10, nothing left</a:t>
            </a:r>
          </a:p>
          <a:p>
            <a:r>
              <a:rPr lang="en-US"/>
              <a:t>8 % 2: 0 · even numbers leave 0 when divided by 2</a:t>
            </a:r>
          </a:p>
          <a:p>
            <a:r>
              <a:rPr lang="en-US"/>
              <a:t>9 % 2: 1 · odd numbers leave 1</a:t>
            </a:r>
          </a:p>
          <a:p>
            <a:r>
              <a:rPr lang="en-US"/>
              <a:t>123 % 10: 3 · the last digit</a:t>
            </a:r>
          </a:p>
          <a:p>
            <a:endParaRPr lang="en-US"/>
          </a:p>
          <a:p>
            <a:r>
              <a:rPr lang="en-US"/>
              <a:t>% only works with whole numbers.</a:t>
            </a:r>
          </a:p>
          <a:p>
            <a:endParaRPr lang="en-US"/>
          </a:p>
          <a:p>
            <a:r>
              <a:rPr lang="en-US"/>
              <a:t>Surprise 3: multiplication and division come before addition and subtraction. Exactly as in school.</a:t>
            </a:r>
          </a:p>
          <a:p>
            <a:endParaRPr lang="en-US"/>
          </a:p>
          <a:p>
            <a:r>
              <a:rPr lang="en-US"/>
              <a:t>Expression: Result · Why</a:t>
            </a:r>
          </a:p>
          <a:p>
            <a:r>
              <a:rPr lang="en-US"/>
              <a:t>2 + 3 * 4: 14 · 3 × 4 first, that is 12, then 2 + 12</a:t>
            </a:r>
          </a:p>
          <a:p>
            <a:r>
              <a:rPr lang="en-US"/>
              <a:t>(2 + 3) * 4: 20 · brackets first: 2 + 3 is 5, then 5 × 4</a:t>
            </a:r>
          </a:p>
          <a:p>
            <a:r>
              <a:rPr lang="en-US"/>
              <a:t>10 - 4 / 2: 8 · 4 / 2 first, that is 2, then 10 - 2</a:t>
            </a:r>
          </a:p>
          <a:p>
            <a:endParaRPr lang="en-US"/>
          </a:p>
          <a:p>
            <a:r>
              <a:rPr lang="en-US"/>
              <a:t>If you want the addition first, use brackets.</a:t>
            </a:r>
          </a:p>
          <a:p>
            <a:endParaRPr lang="en-US"/>
          </a:p>
          <a:p>
            <a:r>
              <a:rPr lang="en-US"/>
              <a:t>The four lines on the slide. With a = 7 and b = 3:</a:t>
            </a:r>
          </a:p>
          <a:p>
            <a:endParaRPr lang="en-US"/>
          </a:p>
          <a:p>
            <a:r>
              <a:rPr lang="en-US"/>
              <a:t>a + b      → 10</a:t>
            </a:r>
          </a:p>
          <a:p>
            <a:r>
              <a:rPr lang="en-US"/>
              <a:t>a / b      → 2</a:t>
            </a:r>
          </a:p>
          <a:p>
            <a:r>
              <a:rPr lang="en-US"/>
              <a:t>a % b      → 1</a:t>
            </a:r>
          </a:p>
          <a:p>
            <a:r>
              <a:rPr lang="en-US"/>
              <a:t>2 + 3 * 4  → 14</a:t>
            </a:r>
          </a:p>
          <a:p>
            <a:endParaRPr lang="en-US"/>
          </a:p>
          <a:p>
            <a:r>
              <a:rPr lang="en-US"/>
              <a:t>Try it yourself. Before you run each one, write down what you think it prints. Then run it and check.</a:t>
            </a:r>
          </a:p>
          <a:p>
            <a:endParaRPr lang="en-US"/>
          </a:p>
          <a:p>
            <a:r>
              <a:rPr lang="en-US"/>
              <a:t>1. printf("%d\n", 15 / 4);</a:t>
            </a:r>
          </a:p>
          <a:p>
            <a:r>
              <a:rPr lang="en-US"/>
              <a:t>2. printf("%d\n", 15 % 4);</a:t>
            </a:r>
          </a:p>
          <a:p>
            <a:r>
              <a:rPr lang="en-US"/>
              <a:t>3. printf("%d\n", 1 + 2 * 3);</a:t>
            </a:r>
          </a:p>
          <a:p>
            <a:r>
              <a:rPr lang="en-US"/>
              <a:t>4. printf("%f\n", 15.0 / 4);</a:t>
            </a:r>
          </a:p>
          <a:p>
            <a:endParaRPr lang="en-US"/>
          </a:p>
          <a:p>
            <a:r>
              <a:rPr lang="en-US"/>
              <a:t>(Answers: 3, 3, 7, 3.750000.)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Adding and multiplying are built into C. Square root is not. To use square root, powers and rounding, you need the math library. You get it with one extra line at the top of your program:</a:t>
            </a:r>
          </a:p>
          <a:p>
            <a:endParaRPr lang="en-US"/>
          </a:p>
          <a:p>
            <a:r>
              <a:rPr lang="en-US"/>
              <a:t>#include &lt;stdio.h&gt;</a:t>
            </a:r>
          </a:p>
          <a:p>
            <a:r>
              <a:rPr lang="en-US"/>
              <a:t>#include &lt;math.h&gt;</a:t>
            </a:r>
          </a:p>
          <a:p>
            <a:endParaRPr lang="en-US"/>
          </a:p>
          <a:p>
            <a:r>
              <a:rPr lang="en-US"/>
              <a:t>Now you have two #include lines. The first one gives you printf and scanf. The second one gives you the math functions. Without the second line, sqrt does not exist and the compiler complains.</a:t>
            </a:r>
          </a:p>
          <a:p>
            <a:endParaRPr lang="en-US"/>
          </a:p>
          <a:p>
            <a:r>
              <a:rPr lang="en-US"/>
              <a:t>How a function works. You write the name, then brackets, then what you want inside the brackets. The answer comes back. You can print it or store it in a variable.</a:t>
            </a:r>
          </a:p>
          <a:p>
            <a:endParaRPr lang="en-US"/>
          </a:p>
          <a:p>
            <a:r>
              <a:rPr lang="en-US"/>
              <a:t>double x = 16.0;</a:t>
            </a:r>
          </a:p>
          <a:p>
            <a:r>
              <a:rPr lang="en-US"/>
              <a:t>printf("%.2f\n", sqrt(x));</a:t>
            </a:r>
          </a:p>
          <a:p>
            <a:endParaRPr lang="en-US"/>
          </a:p>
          <a:p>
            <a:r>
              <a:rPr lang="en-US"/>
              <a:t>The screen shows 4.00. The function sqrt took 16 and gave back 4.</a:t>
            </a:r>
          </a:p>
          <a:p>
            <a:endParaRPr lang="en-US"/>
          </a:p>
          <a:p>
            <a:r>
              <a:rPr lang="en-US"/>
              <a:t>The five functions.</a:t>
            </a:r>
          </a:p>
          <a:p>
            <a:endParaRPr lang="en-US"/>
          </a:p>
          <a:p>
            <a:r>
              <a:rPr lang="en-US"/>
              <a:t>Function: What it does · Example · Gives</a:t>
            </a:r>
          </a:p>
          <a:p>
            <a:r>
              <a:rPr lang="en-US"/>
              <a:t>sqrt(x): square root · sqrt(16.0) · 4</a:t>
            </a:r>
          </a:p>
          <a:p>
            <a:r>
              <a:rPr lang="en-US"/>
              <a:t>pow(a, b): a to the power b · pow(2, 5) · 32 (2×2×2×2×2)</a:t>
            </a:r>
          </a:p>
          <a:p>
            <a:r>
              <a:rPr lang="en-US"/>
              <a:t>round(x): nearest whole number · round(3.6) · 4</a:t>
            </a:r>
          </a:p>
          <a:p>
            <a:r>
              <a:rPr lang="en-US"/>
              <a:t>ceil(x): round up · ceil(3.2) · 4</a:t>
            </a:r>
          </a:p>
          <a:p>
            <a:r>
              <a:rPr lang="en-US"/>
              <a:t>floor(x): round down · floor(3.8) · 3</a:t>
            </a:r>
          </a:p>
          <a:p>
            <a:endParaRPr lang="en-US"/>
          </a:p>
          <a:p>
            <a:r>
              <a:rPr lang="en-US"/>
              <a:t>Notice pow needs two things inside the brackets, with a comma between them.</a:t>
            </a:r>
          </a:p>
          <a:p>
            <a:endParaRPr lang="en-US"/>
          </a:p>
          <a:p>
            <a:r>
              <a:rPr lang="en-US"/>
              <a:t>All of them give back a double. Even round. So print them with %f or %.2f or %.0f, never with %d. This is why the slide prints round(3.6) with %.0f and gets 4.</a:t>
            </a:r>
          </a:p>
          <a:p>
            <a:endParaRPr lang="en-US"/>
          </a:p>
          <a:p>
            <a:r>
              <a:rPr lang="en-US"/>
              <a:t>Example: the full program on the slide.</a:t>
            </a:r>
          </a:p>
          <a:p>
            <a:endParaRPr lang="en-US"/>
          </a:p>
          <a:p>
            <a:r>
              <a:rPr lang="en-US"/>
              <a:t>#include &lt;stdio.h&gt;</a:t>
            </a:r>
          </a:p>
          <a:p>
            <a:r>
              <a:rPr lang="en-US"/>
              <a:t>#include &lt;math.h&gt;</a:t>
            </a:r>
          </a:p>
          <a:p>
            <a:r>
              <a:rPr lang="en-US"/>
              <a:t>int main(void) {</a:t>
            </a:r>
          </a:p>
          <a:p>
            <a:r>
              <a:rPr lang="en-US"/>
              <a:t>    double x = 16.0;</a:t>
            </a:r>
          </a:p>
          <a:p>
            <a:r>
              <a:rPr lang="en-US"/>
              <a:t>    printf("sqrt = %.2f\n", sqrt(x));</a:t>
            </a:r>
          </a:p>
          <a:p>
            <a:r>
              <a:rPr lang="en-US"/>
              <a:t>    printf("power = %.2f\n", pow(2, 5));</a:t>
            </a:r>
          </a:p>
          <a:p>
            <a:r>
              <a:rPr lang="en-US"/>
              <a:t>    printf("round = %.0f\n", round(3.6));</a:t>
            </a:r>
          </a:p>
          <a:p>
            <a:r>
              <a:rPr lang="en-US"/>
              <a:t>    return 0;</a:t>
            </a:r>
          </a:p>
          <a:p>
            <a:r>
              <a:rPr lang="en-US"/>
              <a:t>}</a:t>
            </a:r>
          </a:p>
          <a:p>
            <a:endParaRPr lang="en-US"/>
          </a:p>
          <a:p>
            <a:r>
              <a:rPr lang="en-US"/>
              <a:t>The screen shows:</a:t>
            </a:r>
          </a:p>
          <a:p>
            <a:endParaRPr lang="en-US"/>
          </a:p>
          <a:p>
            <a:r>
              <a:rPr lang="en-US"/>
              <a:t>sqrt = 4.00</a:t>
            </a:r>
          </a:p>
          <a:p>
            <a:r>
              <a:rPr lang="en-US"/>
              <a:t>power = 32.00</a:t>
            </a:r>
          </a:p>
          <a:p>
            <a:r>
              <a:rPr lang="en-US"/>
              <a:t>round = 4</a:t>
            </a:r>
          </a:p>
          <a:p>
            <a:endParaRPr lang="en-US"/>
          </a:p>
          <a:p>
            <a:r>
              <a:rPr lang="en-US"/>
              <a:t>Storing the answer in a variable.</a:t>
            </a:r>
          </a:p>
          <a:p>
            <a:endParaRPr lang="en-US"/>
          </a:p>
          <a:p>
            <a:r>
              <a:rPr lang="en-US"/>
              <a:t>double side = 9.0;</a:t>
            </a:r>
          </a:p>
          <a:p>
            <a:r>
              <a:rPr lang="en-US"/>
              <a:t>double root = sqrt(side);</a:t>
            </a:r>
          </a:p>
          <a:p>
            <a:r>
              <a:rPr lang="en-US"/>
              <a:t>printf("Root: %.1f\n", root);</a:t>
            </a:r>
          </a:p>
          <a:p>
            <a:endParaRPr lang="en-US"/>
          </a:p>
          <a:p>
            <a:r>
              <a:rPr lang="en-US"/>
              <a:t>The screen shows Root: 3.0.</a:t>
            </a:r>
          </a:p>
          <a:p>
            <a:endParaRPr lang="en-US"/>
          </a:p>
          <a:p>
            <a:r>
              <a:rPr lang="en-US"/>
              <a:t>Compile note for Linux and WSL. On Linux, and in WSL on Windows, you must add -lm at the end of the compile command:</a:t>
            </a:r>
          </a:p>
          <a:p>
            <a:endParaRPr lang="en-US"/>
          </a:p>
          <a:p>
            <a:r>
              <a:rPr lang="en-US"/>
              <a:t>gcc -Wall test.c -o test -lm</a:t>
            </a:r>
          </a:p>
          <a:p>
            <a:endParaRPr lang="en-US"/>
          </a:p>
          <a:p>
            <a:r>
              <a:rPr lang="en-US"/>
              <a:t>If you forget it, you see the error undefined reference to 'sqrt'. That error means: add -lm. On Windows with the course installer, and on a Mac, you do not need -lm. Adding it anyway does no harm.</a:t>
            </a:r>
          </a:p>
          <a:p>
            <a:endParaRPr lang="en-US"/>
          </a:p>
          <a:p>
            <a:r>
              <a:rPr lang="en-US"/>
              <a:t>The question on the slide. A rectangle has width w and height h. The diagonal is the square root of w² + h². In C:</a:t>
            </a:r>
          </a:p>
          <a:p>
            <a:endParaRPr lang="en-US"/>
          </a:p>
          <a:p>
            <a:r>
              <a:rPr lang="en-US"/>
              <a:t>double d = sqrt(w * w + h * h);</a:t>
            </a:r>
          </a:p>
          <a:p>
            <a:endParaRPr lang="en-US"/>
          </a:p>
          <a:p>
            <a:r>
              <a:rPr lang="en-US"/>
              <a:t>Or with pow: sqrt(pow(w, 2) + pow(h, 2)). Both are right. The first is simpler.</a:t>
            </a:r>
          </a:p>
          <a:p>
            <a:endParaRPr lang="en-US"/>
          </a:p>
          <a:p>
            <a:r>
              <a:rPr lang="en-US"/>
              <a:t>Try it yourself.</a:t>
            </a:r>
          </a:p>
          <a:p>
            <a:endParaRPr lang="en-US"/>
          </a:p>
          <a:p>
            <a:r>
              <a:rPr lang="en-US"/>
              <a:t>1. Print the square root of 81. (Expect 9.00.)</a:t>
            </a:r>
          </a:p>
          <a:p>
            <a:r>
              <a:rPr lang="en-US"/>
              <a:t>2. Print 3 to the power 4. (Expect 81.00.)</a:t>
            </a:r>
          </a:p>
          <a:p>
            <a:r>
              <a:rPr lang="en-US"/>
              <a:t>3. Print ceil(2.1) and floor(2.9) with %.0f. (Expect 3 and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program uses everything from this week. Read it slowly. Every line is something you already know.</a:t>
            </a:r>
          </a:p>
          <a:p>
            <a:endParaRPr lang="en-US"/>
          </a:p>
          <a:p>
            <a:r>
              <a:rPr lang="en-US"/>
              <a:t>Step 1: the plan, before any code. The problem: read the radius of a circle, print its area and circumference. The plan:</a:t>
            </a:r>
          </a:p>
          <a:p>
            <a:endParaRPr lang="en-US"/>
          </a:p>
          <a:p>
            <a:r>
              <a:rPr lang="en-US"/>
              <a:t>1. Ask for the radius. Call it r.</a:t>
            </a:r>
          </a:p>
          <a:p>
            <a:r>
              <a:rPr lang="en-US"/>
              <a:t>2. Area = π × r × r.</a:t>
            </a:r>
          </a:p>
          <a:p>
            <a:r>
              <a:rPr lang="en-US"/>
              <a:t>3. Circumference = 2 × π × r.</a:t>
            </a:r>
          </a:p>
          <a:p>
            <a:r>
              <a:rPr lang="en-US"/>
              <a:t>4. Print both, with two digits after the point.</a:t>
            </a:r>
          </a:p>
          <a:p>
            <a:endParaRPr lang="en-US"/>
          </a:p>
          <a:p>
            <a:r>
              <a:rPr lang="en-US"/>
              <a:t>There is no C in the plan. Always write the plan first.</a:t>
            </a:r>
          </a:p>
          <a:p>
            <a:endParaRPr lang="en-US"/>
          </a:p>
          <a:p>
            <a:r>
              <a:rPr lang="en-US"/>
              <a:t>Step 2: the code.</a:t>
            </a:r>
          </a:p>
          <a:p>
            <a:endParaRPr lang="en-US"/>
          </a:p>
          <a:p>
            <a:r>
              <a:rPr lang="en-US"/>
              <a:t>#include &lt;stdio.h&gt;</a:t>
            </a:r>
          </a:p>
          <a:p>
            <a:r>
              <a:rPr lang="en-US"/>
              <a:t>int main(void) {</a:t>
            </a:r>
          </a:p>
          <a:p>
            <a:r>
              <a:rPr lang="en-US"/>
              <a:t>    double r, area, c;</a:t>
            </a:r>
          </a:p>
          <a:p>
            <a:r>
              <a:rPr lang="en-US"/>
              <a:t>    const double PI = 3.14159;</a:t>
            </a:r>
          </a:p>
          <a:p>
            <a:r>
              <a:rPr lang="en-US"/>
              <a:t>    printf("Radius: ");</a:t>
            </a:r>
          </a:p>
          <a:p>
            <a:r>
              <a:rPr lang="en-US"/>
              <a:t>    scanf("%lf", &amp;r);</a:t>
            </a:r>
          </a:p>
          <a:p>
            <a:r>
              <a:rPr lang="en-US"/>
              <a:t>    area = PI * r * r;</a:t>
            </a:r>
          </a:p>
          <a:p>
            <a:r>
              <a:rPr lang="en-US"/>
              <a:t>    c = 2 * PI * r;</a:t>
            </a:r>
          </a:p>
          <a:p>
            <a:r>
              <a:rPr lang="en-US"/>
              <a:t>    printf("Area: %.2f\n", area);</a:t>
            </a:r>
          </a:p>
          <a:p>
            <a:r>
              <a:rPr lang="en-US"/>
              <a:t>    printf("Circumference: %.2f\n", c);</a:t>
            </a:r>
          </a:p>
          <a:p>
            <a:r>
              <a:rPr lang="en-US"/>
              <a:t>    return 0;</a:t>
            </a:r>
          </a:p>
          <a:p>
            <a:r>
              <a:rPr lang="en-US"/>
              <a:t>}</a:t>
            </a:r>
          </a:p>
          <a:p>
            <a:endParaRPr lang="en-US"/>
          </a:p>
          <a:p>
            <a:r>
              <a:rPr lang="en-US"/>
              <a:t>Line by line.</a:t>
            </a:r>
          </a:p>
          <a:p>
            <a:endParaRPr lang="en-US"/>
          </a:p>
          <a:p>
            <a:r>
              <a:rPr lang="en-US"/>
              <a:t>- #include &lt;stdio.h&gt; because we use printf and scanf. No math.h here. There is no square root in this program.</a:t>
            </a:r>
          </a:p>
          <a:p>
            <a:r>
              <a:rPr lang="en-US"/>
              <a:t>- double r, area, c; makes three double variables in one line. The commas separate the names. Same as writing three lines: double r; double area; double c;.</a:t>
            </a:r>
          </a:p>
          <a:p>
            <a:r>
              <a:rPr lang="en-US"/>
              <a:t>- const double PI = 3.14159; makes a variable called PI with 3.14159 in it. The word const means "constant": this value is locked and cannot be changed later. Capital letters are the custom for constants. Why not just write 3.14159 twice? Because PI is easier to read, and if you want more digits later, you change one line.</a:t>
            </a:r>
          </a:p>
          <a:p>
            <a:r>
              <a:rPr lang="en-US"/>
              <a:t>- printf("Radius: "); asks the question. No \n, so you type on the same line.</a:t>
            </a:r>
          </a:p>
          <a:p>
            <a:r>
              <a:rPr lang="en-US"/>
              <a:t>- scanf("%lf", &amp;r); reads a double, so %lf. Into r, so &amp;r.</a:t>
            </a:r>
          </a:p>
          <a:p>
            <a:r>
              <a:rPr lang="en-US"/>
              <a:t>- area = PI * r * r; calculates the right side, then stores the answer in area. Plan step 2.</a:t>
            </a:r>
          </a:p>
          <a:p>
            <a:r>
              <a:rPr lang="en-US"/>
              <a:t>- c = 2 * PI * r; plan step 3.</a:t>
            </a:r>
          </a:p>
          <a:p>
            <a:r>
              <a:rPr lang="en-US"/>
              <a:t>- The two printf lines print with a label and two decimals. Plan step 4.</a:t>
            </a:r>
          </a:p>
          <a:p>
            <a:r>
              <a:rPr lang="en-US"/>
              <a:t>- return 0; says "finished, all fine".</a:t>
            </a:r>
          </a:p>
          <a:p>
            <a:endParaRPr lang="en-US"/>
          </a:p>
          <a:p>
            <a:r>
              <a:rPr lang="en-US"/>
              <a:t>Step 3: run it. Save as circle.c. In the terminal:</a:t>
            </a:r>
          </a:p>
          <a:p>
            <a:endParaRPr lang="en-US"/>
          </a:p>
          <a:p>
            <a:r>
              <a:rPr lang="en-US"/>
              <a:t>gcc -Wall circle.c -o circle</a:t>
            </a:r>
          </a:p>
          <a:p>
            <a:r>
              <a:rPr lang="en-US"/>
              <a:t>./circle</a:t>
            </a:r>
          </a:p>
          <a:p>
            <a:endParaRPr lang="en-US"/>
          </a:p>
          <a:p>
            <a:r>
              <a:rPr lang="en-US"/>
              <a:t>The screen shows Radius: . Type 3 and press Enter. The screen shows:</a:t>
            </a:r>
          </a:p>
          <a:p>
            <a:endParaRPr lang="en-US"/>
          </a:p>
          <a:p>
            <a:r>
              <a:rPr lang="en-US"/>
              <a:t>Area: 28.27</a:t>
            </a:r>
          </a:p>
          <a:p>
            <a:r>
              <a:rPr lang="en-US"/>
              <a:t>Circumference: 18.85</a:t>
            </a:r>
          </a:p>
          <a:p>
            <a:endParaRPr lang="en-US"/>
          </a:p>
          <a:p>
            <a:r>
              <a:rPr lang="en-US"/>
              <a:t>Try radius 1. You get Area: 3.14 and Circumference: 6.28. Try 2.5. You get Area: 19.63 and Circumference: 15.71.</a:t>
            </a:r>
          </a:p>
          <a:p>
            <a:endParaRPr lang="en-US"/>
          </a:p>
          <a:p>
            <a:r>
              <a:rPr lang="en-US"/>
              <a:t>Extension: print the diameter too. The diameter is 2 × r. Add one line before return 0;:</a:t>
            </a:r>
          </a:p>
          <a:p>
            <a:endParaRPr lang="en-US"/>
          </a:p>
          <a:p>
            <a:r>
              <a:rPr lang="en-US"/>
              <a:t>printf("Diameter: %.2f\n", 2 * r);</a:t>
            </a:r>
          </a:p>
          <a:p>
            <a:endParaRPr lang="en-US"/>
          </a:p>
          <a:p>
            <a:r>
              <a:rPr lang="en-US"/>
              <a:t>For radius 3 it prints Diameter: 6.00. Here the calculation 2 * r is put straight into the hole. You could also make a new variable, double d = 2 * r;, and print d. Both work.</a:t>
            </a:r>
          </a:p>
          <a:p>
            <a:endParaRPr lang="en-US"/>
          </a:p>
          <a:p>
            <a:r>
              <a:rPr lang="en-US"/>
              <a:t>If your output is wrong, check these three things first.</a:t>
            </a:r>
          </a:p>
          <a:p>
            <a:endParaRPr lang="en-US"/>
          </a:p>
          <a:p>
            <a:r>
              <a:rPr lang="en-US"/>
              <a:t>1. Did you write &amp;r in scanf, with the &amp;?</a:t>
            </a:r>
          </a:p>
          <a:p>
            <a:r>
              <a:rPr lang="en-US"/>
              <a:t>2. Did you write %lf in scanf, with the L?</a:t>
            </a:r>
          </a:p>
          <a:p>
            <a:r>
              <a:rPr lang="en-US"/>
              <a:t>3. Is there a semicolon at the end of every line inside main?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program has mistakes in it at first. Every program, every programmer, every day. That is normal. A mistake in a program is called a bug. Finding and fixing bugs is called debugging.</a:t>
            </a:r>
          </a:p>
          <a:p>
            <a:endParaRPr lang="en-US"/>
          </a:p>
          <a:p>
            <a:r>
              <a:rPr lang="en-US"/>
              <a:t>Changing random things until it works is not debugging. It is guessing.</a:t>
            </a:r>
          </a:p>
          <a:p>
            <a:endParaRPr lang="en-US"/>
          </a:p>
          <a:p>
            <a:r>
              <a:rPr lang="en-US"/>
              <a:t>The program on the slide has two bugs. Here it is:</a:t>
            </a:r>
          </a:p>
          <a:p>
            <a:endParaRPr lang="en-US"/>
          </a:p>
          <a:p>
            <a:r>
              <a:rPr lang="en-US"/>
              <a:t>#include &lt;stdio.h&gt;</a:t>
            </a:r>
          </a:p>
          <a:p>
            <a:r>
              <a:rPr lang="en-US"/>
              <a:t>int main(void) {</a:t>
            </a:r>
          </a:p>
          <a:p>
            <a:r>
              <a:rPr lang="en-US"/>
              <a:t>    int a, b;</a:t>
            </a:r>
          </a:p>
          <a:p>
            <a:r>
              <a:rPr lang="en-US"/>
              <a:t>    printf("Two numbers: ");</a:t>
            </a:r>
          </a:p>
          <a:p>
            <a:r>
              <a:rPr lang="en-US"/>
              <a:t>    scanf("%d %d", a, b);</a:t>
            </a:r>
          </a:p>
          <a:p>
            <a:r>
              <a:rPr lang="en-US"/>
              <a:t>    printf("Sum = %d\n", a + b)</a:t>
            </a:r>
          </a:p>
          <a:p>
            <a:r>
              <a:rPr lang="en-US"/>
              <a:t>    return 0;</a:t>
            </a:r>
          </a:p>
          <a:p>
            <a:r>
              <a:rPr lang="en-US"/>
              <a:t>}</a:t>
            </a:r>
          </a:p>
          <a:p>
            <a:endParaRPr lang="en-US"/>
          </a:p>
          <a:p>
            <a:r>
              <a:rPr lang="en-US"/>
              <a:t>- Bug 1: a missing semicolon. The line printf("Sum = %d\n", a + b) has no ; at the end. The compiler stops with an error. It prints something like error: expected ';' before 'return' and the line number. No program is made until you fix it.</a:t>
            </a:r>
          </a:p>
          <a:p>
            <a:r>
              <a:rPr lang="en-US"/>
              <a:t>- Bug 2: missing &amp;. The line scanf("%d %d", a, b) should be scanf("%d %d", &amp;a, &amp;b). The compiler does not stop for this. It makes a program anyway. With -Wall it prints a warning. If you run the program, it crashes or prints a wrong sum.</a:t>
            </a:r>
          </a:p>
          <a:p>
            <a:endParaRPr lang="en-US"/>
          </a:p>
          <a:p>
            <a:r>
              <a:rPr lang="en-US"/>
              <a:t>The difference between an error and a warning.</a:t>
            </a:r>
          </a:p>
          <a:p>
            <a:endParaRPr lang="en-US"/>
          </a:p>
          <a:p>
            <a:r>
              <a:rPr lang="en-US"/>
              <a:t>: Error · Warning</a:t>
            </a:r>
          </a:p>
          <a:p>
            <a:r>
              <a:rPr lang="en-US"/>
              <a:t>Does the compiler make a program?: No · Yes</a:t>
            </a:r>
          </a:p>
          <a:p>
            <a:r>
              <a:rPr lang="en-US"/>
              <a:t>Must you fix it?: Yes, or nothing runs · Yes, or it runs wrong</a:t>
            </a:r>
          </a:p>
          <a:p>
            <a:r>
              <a:rPr lang="en-US"/>
              <a:t>Do you see it without -Wall?: Yes · Often not</a:t>
            </a:r>
          </a:p>
          <a:p>
            <a:endParaRPr lang="en-US"/>
          </a:p>
          <a:p>
            <a:r>
              <a:rPr lang="en-US"/>
              <a:t>How to fix a program with several problems.</a:t>
            </a:r>
          </a:p>
          <a:p>
            <a:endParaRPr lang="en-US"/>
          </a:p>
          <a:p>
            <a:r>
              <a:rPr lang="en-US"/>
              <a:t>1. Compile with -Wall.</a:t>
            </a:r>
          </a:p>
          <a:p>
            <a:r>
              <a:rPr lang="en-US"/>
              <a:t>2. Read the first error only. Ignore the rest for now. Later errors are often caused by the first one.</a:t>
            </a:r>
          </a:p>
          <a:p>
            <a:r>
              <a:rPr lang="en-US"/>
              <a:t>3. Fix that one thing.</a:t>
            </a:r>
          </a:p>
          <a:p>
            <a:r>
              <a:rPr lang="en-US"/>
              <a:t>4. Compile again. Repeat.</a:t>
            </a:r>
          </a:p>
          <a:p>
            <a:r>
              <a:rPr lang="en-US"/>
              <a:t>5. When there are no errors left, read the warnings and fix them the same way.</a:t>
            </a:r>
          </a:p>
          <a:p>
            <a:endParaRPr lang="en-US"/>
          </a:p>
          <a:p>
            <a:r>
              <a:rPr lang="en-US"/>
              <a:t>The fixed program:</a:t>
            </a:r>
          </a:p>
          <a:p>
            <a:endParaRPr lang="en-US"/>
          </a:p>
          <a:p>
            <a:r>
              <a:rPr lang="en-US"/>
              <a:t>#include &lt;stdio.h&gt;</a:t>
            </a:r>
          </a:p>
          <a:p>
            <a:r>
              <a:rPr lang="en-US"/>
              <a:t>int main(void) {</a:t>
            </a:r>
          </a:p>
          <a:p>
            <a:r>
              <a:rPr lang="en-US"/>
              <a:t>    int a, b;</a:t>
            </a:r>
          </a:p>
          <a:p>
            <a:r>
              <a:rPr lang="en-US"/>
              <a:t>    printf("Two numbers: ");</a:t>
            </a:r>
          </a:p>
          <a:p>
            <a:r>
              <a:rPr lang="en-US"/>
              <a:t>    scanf("%d %d", &amp;a, &amp;b);</a:t>
            </a:r>
          </a:p>
          <a:p>
            <a:r>
              <a:rPr lang="en-US"/>
              <a:t>    printf("Sum = %d\n", a + b);</a:t>
            </a:r>
          </a:p>
          <a:p>
            <a:r>
              <a:rPr lang="en-US"/>
              <a:t>    return 0;</a:t>
            </a:r>
          </a:p>
          <a:p>
            <a:r>
              <a:rPr lang="en-US"/>
              <a:t>}</a:t>
            </a:r>
          </a:p>
          <a:p>
            <a:endParaRPr lang="en-US"/>
          </a:p>
          <a:p>
            <a:r>
              <a:rPr lang="en-US"/>
              <a:t>Run it, type 4 9, press Enter. The screen shows Sum = 13.</a:t>
            </a:r>
          </a:p>
          <a:p>
            <a:endParaRPr lang="en-US"/>
          </a:p>
          <a:p>
            <a:r>
              <a:rPr lang="en-US"/>
              <a:t>Try it yourself. Type the broken version exactly as on the slide. Compile it with -Wall. Read the error. Fix only the semicolon. Compile again. Read the warning. Fix the &amp;. Compile again. Run with 4 and 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 these yourself first. Then read the answers.</a:t>
            </a:r>
          </a:p>
          <a:p>
            <a:endParaRPr lang="en-US"/>
          </a:p>
          <a:p>
            <a:r>
              <a:rPr lang="en-US"/>
              <a:t>Q1. What is the difference between source code and an executable?</a:t>
            </a:r>
          </a:p>
          <a:p>
            <a:r>
              <a:rPr lang="en-US"/>
              <a:t>Source code is the text you write, in the file hello.c. You can read it. The computer cannot run it. The executable is the new file the compiler makes from it, for example hello or hello.exe. The computer can run that one. You cannot read it.</a:t>
            </a:r>
          </a:p>
          <a:p>
            <a:endParaRPr lang="en-US"/>
          </a:p>
          <a:p>
            <a:r>
              <a:rPr lang="en-US"/>
              <a:t>Q2. What does #include &lt;stdio.h&gt; give us?</a:t>
            </a:r>
          </a:p>
          <a:p>
            <a:r>
              <a:rPr lang="en-US"/>
              <a:t>printf and scanf. Without that line, the compiler does not know what printf is.</a:t>
            </a:r>
          </a:p>
          <a:p>
            <a:endParaRPr lang="en-US"/>
          </a:p>
          <a:p>
            <a:r>
              <a:rPr lang="en-US"/>
              <a:t>Q3. Why does scanf need &amp; before a variable?</a:t>
            </a:r>
          </a:p>
          <a:p>
            <a:r>
              <a:rPr lang="en-US"/>
              <a:t>Because scanf puts a value into the variable. To do that it needs to know where the variable is. &amp; gives it the place.</a:t>
            </a:r>
          </a:p>
          <a:p>
            <a:endParaRPr lang="en-US"/>
          </a:p>
          <a:p>
            <a:r>
              <a:rPr lang="en-US"/>
              <a:t>Q4. What is printed by int x = 4; x = x + 3; printf("%d", x);?</a:t>
            </a:r>
          </a:p>
          <a:p>
            <a:r>
              <a:rPr lang="en-US"/>
              <a:t>7. First x is 4. Then the right side is calculated: 4 + 3 is 7. Then 7 is stored in x. Then 7 is printed.</a:t>
            </a:r>
          </a:p>
          <a:p>
            <a:endParaRPr lang="en-US"/>
          </a:p>
          <a:p>
            <a:r>
              <a:rPr lang="en-US"/>
              <a:t>Q5. Why is 7 / 2 equal to 3 in C?</a:t>
            </a:r>
          </a:p>
          <a:p>
            <a:r>
              <a:rPr lang="en-US"/>
              <a:t>Both 7 and 2 are whole numbers (int). Dividing an int by an int gives an int. The .5 is thrown away. To get 3.5, write 7.0 / 2.</a:t>
            </a:r>
          </a:p>
          <a:p>
            <a:endParaRPr lang="en-US"/>
          </a:p>
          <a:p>
            <a:r>
              <a:rPr lang="en-US"/>
              <a:t>Q6. Write one line that prints a double with 2 decimal places.</a:t>
            </a:r>
          </a:p>
          <a:p>
            <a:r>
              <a:rPr lang="en-US"/>
              <a:t>printf("%.2f\n", 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Write these three programs at home. Each one is the circle calculator with a different formula. Use the same shape: ask, calculate, print with a label.</a:t>
            </a:r>
          </a:p>
          <a:p>
            <a:endParaRPr lang="en-US"/>
          </a:p>
          <a:p>
            <a:r>
              <a:rPr lang="en-US"/>
              <a:t>1. Temperature converter. Ask for a temperature in Celsius. Print it in Fahrenheit. The formula is F = C × 9 / 5 + 32.</a:t>
            </a:r>
          </a:p>
          <a:p>
            <a:endParaRPr lang="en-US"/>
          </a:p>
          <a:p>
            <a:r>
              <a:rPr lang="en-US"/>
              <a:t>Example run: you type 25, the screen shows Fahrenheit: 77.00.</a:t>
            </a:r>
          </a:p>
          <a:p>
            <a:endParaRPr lang="en-US"/>
          </a:p>
          <a:p>
            <a:r>
              <a:rPr lang="en-US"/>
              <a:t>Warning: use double for the temperature. If you use int, then 9 / 5 becomes 1 and every answer is wrong. Write c * 9 / 5 + 32 with c as a double, or write c * 9.0 / 5 + 32.</a:t>
            </a:r>
          </a:p>
          <a:p>
            <a:endParaRPr lang="en-US"/>
          </a:p>
          <a:p>
            <a:r>
              <a:rPr lang="en-US"/>
              <a:t>2. Bill splitter. Ask for the total bill and the number of people. Print how much each person pays.</a:t>
            </a:r>
          </a:p>
          <a:p>
            <a:endParaRPr lang="en-US"/>
          </a:p>
          <a:p>
            <a:r>
              <a:rPr lang="en-US"/>
              <a:t>Example run: you type 100 and 3, the screen shows Each pays: 33.33.</a:t>
            </a:r>
          </a:p>
          <a:p>
            <a:endParaRPr lang="en-US"/>
          </a:p>
          <a:p>
            <a:r>
              <a:rPr lang="en-US"/>
              <a:t>The total is a double (read it with %lf). The number of people is an int (read it with %d). Dividing a double by an int gives a double, so the decimals are kept.</a:t>
            </a:r>
          </a:p>
          <a:p>
            <a:endParaRPr lang="en-US"/>
          </a:p>
          <a:p>
            <a:r>
              <a:rPr lang="en-US"/>
              <a:t>3. Distance between two points. Ask for four numbers: x1, y1, x2, y2. Print the distance between the points (x1, y1) and (x2, y2).</a:t>
            </a:r>
          </a:p>
          <a:p>
            <a:endParaRPr lang="en-US"/>
          </a:p>
          <a:p>
            <a:r>
              <a:rPr lang="en-US"/>
              <a:t>The formula is the square root of (x2 − x1)² + (y2 − y1)². In C:</a:t>
            </a:r>
          </a:p>
          <a:p>
            <a:endParaRPr lang="en-US"/>
          </a:p>
          <a:p>
            <a:r>
              <a:rPr lang="en-US"/>
              <a:t>double d = sqrt((x2 - x1) * (x2 - x1) + (y2 - y1) * (y2 - y1));</a:t>
            </a:r>
          </a:p>
          <a:p>
            <a:endParaRPr lang="en-US"/>
          </a:p>
          <a:p>
            <a:r>
              <a:rPr lang="en-US"/>
              <a:t>You need #include &lt;math.h&gt; at the top, and -lm at the end of the compile command on Linux and WSL.</a:t>
            </a:r>
          </a:p>
          <a:p>
            <a:endParaRPr lang="en-US"/>
          </a:p>
          <a:p>
            <a:r>
              <a:rPr lang="en-US"/>
              <a:t>Example run: you type 0 0 3 4, the screen shows Distance: 5.00.</a:t>
            </a:r>
          </a:p>
          <a:p>
            <a:endParaRPr lang="en-US"/>
          </a:p>
          <a:p>
            <a:r>
              <a:rPr lang="en-US"/>
              <a:t>Before you say a program is done, check:</a:t>
            </a:r>
          </a:p>
          <a:p>
            <a:endParaRPr lang="en-US"/>
          </a:p>
          <a:p>
            <a:r>
              <a:rPr lang="en-US"/>
              <a:t>- It compiles with -Wall and no warnings.</a:t>
            </a:r>
          </a:p>
          <a:p>
            <a:r>
              <a:rPr lang="en-US"/>
              <a:t>- Every number it prints has a label in front of it.</a:t>
            </a:r>
          </a:p>
          <a:p>
            <a:r>
              <a:rPr lang="en-US"/>
              <a:t>- You ran it with at least two different inputs and the answers are right.</a:t>
            </a:r>
          </a:p>
          <a:p>
            <a:r>
              <a:rPr lang="en-US"/>
              <a:t>- The code is tidy: one instruction per line, lines inside main indented.</a:t>
            </a:r>
          </a:p>
          <a:p>
            <a:endParaRPr lang="en-US"/>
          </a:p>
          <a:p>
            <a:r>
              <a:rPr lang="en-US"/>
              <a:t>Challenge: money with exactly two digits after the point. You already know how: %.2f.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this week you can:</a:t>
            </a:r>
          </a:p>
          <a:p>
            <a:endParaRPr lang="en-US"/>
          </a:p>
          <a:p>
            <a:r>
              <a:rPr lang="en-US"/>
              <a:t>- Write a C program, save it as a .c file, compile it, and run it.</a:t>
            </a:r>
          </a:p>
          <a:p>
            <a:r>
              <a:rPr lang="en-US"/>
              <a:t>- Use the terminal: pwd, ls, cd, mkdir, gcc, ./program.</a:t>
            </a:r>
          </a:p>
          <a:p>
            <a:r>
              <a:rPr lang="en-US"/>
              <a:t>- Make variables (int, double, char) and put values in them.</a:t>
            </a:r>
          </a:p>
          <a:p>
            <a:r>
              <a:rPr lang="en-US"/>
              <a:t>- Print with printf, with the right hole (%d, %.2f, %c) and a label.</a:t>
            </a:r>
          </a:p>
          <a:p>
            <a:r>
              <a:rPr lang="en-US"/>
              <a:t>- Read a number with scanf, with &amp; and with %lf for a double.</a:t>
            </a:r>
          </a:p>
          <a:p>
            <a:r>
              <a:rPr lang="en-US"/>
              <a:t>- Calculate with + - * / %, and use sqrt, pow, round.</a:t>
            </a:r>
          </a:p>
          <a:p>
            <a:endParaRPr lang="en-US"/>
          </a:p>
          <a:p>
            <a:r>
              <a:rPr lang="en-US"/>
              <a:t>Before Tuesday.</a:t>
            </a:r>
          </a:p>
          <a:p>
            <a:endParaRPr lang="en-US"/>
          </a:p>
          <a:p>
            <a:r>
              <a:rPr lang="en-US"/>
              <a:t>1. Do Knowledge check 1 on Blackboard, in the Session 1 folder. It is worth zero percent. You have three attempts and the best one counts. Do the practice questions too. They tell you what you did not understand while there is still time to ask.</a:t>
            </a:r>
          </a:p>
          <a:p>
            <a:r>
              <a:rPr lang="en-US"/>
              <a:t>2. Write the three practice programs from slide 17. Bring them on Tuesday, working or not.</a:t>
            </a:r>
          </a:p>
          <a:p>
            <a:r>
              <a:rPr lang="en-US"/>
              <a:t>3. Compiler still not working? Follow "Setting up a C compiler" on Blackboard. If you are stuck, post the exact error message in the Questions and answers forum. Nobody is behind because of a setup.</a:t>
            </a:r>
          </a:p>
          <a:p>
            <a:endParaRPr lang="en-US"/>
          </a:p>
          <a:p>
            <a:r>
              <a:rPr lang="en-US"/>
              <a:t>Next week: data types properly, why 7 / 2 is 3, and if, which lets a program make decisions.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a:effectLst/>
      </p:bgPr>
    </p:bg>
    <p:spTree>
      <p:nvGrpSpPr>
        <p:cNvPr id="1" name=""/>
        <p:cNvGrpSpPr/>
        <p:nvPr/>
      </p:nvGrpSpPr>
      <p:grpSpPr>
        <a:xfrm>
          <a:off x="0" y="0"/>
          <a:ext cx="0" cy="0"/>
          <a:chOff x="0" y="0"/>
          <a:chExt cx="0" cy="0"/>
        </a:xfrm>
      </p:grpSpPr>
      <p:sp>
        <p:nvSpPr>
          <p:cNvPr id="2" name="Text 0"/>
          <p:cNvSpPr/>
          <p:nvPr/>
        </p:nvSpPr>
        <p:spPr>
          <a:xfrm>
            <a:off x="685800" y="713232"/>
            <a:ext cx="7406640" cy="502920"/>
          </a:xfrm>
          <a:prstGeom prst="rect">
            <a:avLst/>
          </a:prstGeom>
          <a:noFill/>
          <a:ln/>
        </p:spPr>
        <p:txBody>
          <a:bodyPr wrap="square" lIns="0" tIns="0" rIns="0" bIns="0" rtlCol="0" anchor="ctr">
            <a:normAutofit/>
          </a:bodyPr>
          <a:lstStyle/>
          <a:p>
            <a:pPr marL="0" indent="0" algn="l">
              <a:buNone/>
            </a:pPr>
            <a:r>
              <a:rPr lang="en-US" sz="2200" b="1">
                <a:solidFill>
                  <a:srgbClr val="56CCF2"/>
                </a:solidFill>
                <a:latin typeface="Aptos" pitchFamily="34" charset="0"/>
                <a:ea typeface="Aptos" pitchFamily="34" charset="-122"/>
                <a:cs typeface="Aptos" pitchFamily="34" charset="-120"/>
              </a:rPr>
              <a:t>Programming Principles I</a:t>
            </a:r>
            <a:endParaRPr lang="en-US" sz="2200"/>
          </a:p>
        </p:txBody>
      </p:sp>
      <p:sp>
        <p:nvSpPr>
          <p:cNvPr id="3" name="Text 1"/>
          <p:cNvSpPr/>
          <p:nvPr/>
        </p:nvSpPr>
        <p:spPr>
          <a:xfrm>
            <a:off x="685800" y="1508760"/>
            <a:ext cx="2743200" cy="502920"/>
          </a:xfrm>
          <a:prstGeom prst="rect">
            <a:avLst/>
          </a:prstGeom>
          <a:noFill/>
          <a:ln/>
        </p:spPr>
        <p:txBody>
          <a:bodyPr wrap="square" lIns="0" tIns="0" rIns="0" bIns="0" rtlCol="0" anchor="ctr">
            <a:normAutofit/>
          </a:bodyPr>
          <a:lstStyle/>
          <a:p>
            <a:pPr marL="0" indent="0" algn="l">
              <a:buNone/>
            </a:pPr>
            <a:r>
              <a:rPr lang="en-US" sz="3000" b="1">
                <a:solidFill>
                  <a:srgbClr val="FFFFFF"/>
                </a:solidFill>
                <a:latin typeface="Aptos" pitchFamily="34" charset="0"/>
                <a:ea typeface="Aptos" pitchFamily="34" charset="-122"/>
                <a:cs typeface="Aptos" pitchFamily="34" charset="-120"/>
              </a:rPr>
              <a:t>Week 1</a:t>
            </a:r>
            <a:endParaRPr lang="en-US" sz="3000"/>
          </a:p>
        </p:txBody>
      </p:sp>
      <p:sp>
        <p:nvSpPr>
          <p:cNvPr id="4" name="Text 2"/>
          <p:cNvSpPr/>
          <p:nvPr/>
        </p:nvSpPr>
        <p:spPr>
          <a:xfrm>
            <a:off x="685800" y="2057400"/>
            <a:ext cx="7406640" cy="731520"/>
          </a:xfrm>
          <a:prstGeom prst="rect">
            <a:avLst/>
          </a:prstGeom>
          <a:noFill/>
          <a:ln/>
        </p:spPr>
        <p:txBody>
          <a:bodyPr wrap="square" lIns="0" tIns="0" rIns="0" bIns="0" rtlCol="0" anchor="ctr">
            <a:normAutofit/>
          </a:bodyPr>
          <a:lstStyle/>
          <a:p>
            <a:pPr marL="0" indent="0" algn="l">
              <a:buNone/>
            </a:pPr>
            <a:r>
              <a:rPr lang="en-US" sz="4000" b="1">
                <a:solidFill>
                  <a:srgbClr val="FFFFFF"/>
                </a:solidFill>
                <a:latin typeface="Aptos" pitchFamily="34" charset="0"/>
                <a:ea typeface="Aptos" pitchFamily="34" charset="-122"/>
                <a:cs typeface="Aptos" pitchFamily="34" charset="-120"/>
              </a:rPr>
              <a:t>Getting Started with C</a:t>
            </a:r>
            <a:endParaRPr lang="en-US" sz="4000"/>
          </a:p>
        </p:txBody>
      </p:sp>
      <p:sp>
        <p:nvSpPr>
          <p:cNvPr id="5" name="Text 3"/>
          <p:cNvSpPr/>
          <p:nvPr/>
        </p:nvSpPr>
        <p:spPr>
          <a:xfrm>
            <a:off x="713232" y="2944368"/>
            <a:ext cx="7589520" cy="320040"/>
          </a:xfrm>
          <a:prstGeom prst="rect">
            <a:avLst/>
          </a:prstGeom>
          <a:noFill/>
          <a:ln/>
        </p:spPr>
        <p:txBody>
          <a:bodyPr wrap="square" lIns="0" tIns="0" rIns="0" bIns="0" rtlCol="0" anchor="ctr">
            <a:normAutofit/>
          </a:bodyPr>
          <a:lstStyle/>
          <a:p>
            <a:pPr marL="0" indent="0" algn="l">
              <a:buNone/>
            </a:pPr>
            <a:r>
              <a:rPr lang="en-US" sz="1600">
                <a:solidFill>
                  <a:srgbClr val="DCEBFA"/>
                </a:solidFill>
                <a:latin typeface="Aptos" pitchFamily="34" charset="0"/>
                <a:ea typeface="Aptos" pitchFamily="34" charset="-122"/>
                <a:cs typeface="Aptos" pitchFamily="34" charset="-120"/>
              </a:rPr>
              <a:t>IDE · Command Line · Variables · Standard I/O · Math Functions</a:t>
            </a:r>
            <a:endParaRPr lang="en-US" sz="1600"/>
          </a:p>
        </p:txBody>
      </p:sp>
      <p:sp>
        <p:nvSpPr>
          <p:cNvPr id="6" name="Text 4"/>
          <p:cNvSpPr/>
          <p:nvPr/>
        </p:nvSpPr>
        <p:spPr>
          <a:xfrm>
            <a:off x="7223760" y="4526280"/>
            <a:ext cx="3931920" cy="393192"/>
          </a:xfrm>
          <a:prstGeom prst="rect">
            <a:avLst/>
          </a:prstGeom>
          <a:noFill/>
          <a:ln/>
        </p:spPr>
        <p:txBody>
          <a:bodyPr wrap="square" lIns="0" tIns="0" rIns="0" bIns="0" rtlCol="0" anchor="ctr">
            <a:normAutofit/>
          </a:bodyPr>
          <a:lstStyle/>
          <a:p>
            <a:pPr marL="0" indent="0" algn="ctr">
              <a:buNone/>
            </a:pPr>
            <a:r>
              <a:rPr lang="en-US" sz="2100" b="1">
                <a:solidFill>
                  <a:srgbClr val="FFFFFF"/>
                </a:solidFill>
                <a:latin typeface="Cascadia Mono" pitchFamily="34" charset="0"/>
                <a:ea typeface="Cascadia Mono" pitchFamily="34" charset="-122"/>
                <a:cs typeface="Cascadia Mono" pitchFamily="34" charset="-120"/>
              </a:rPr>
              <a:t>printf("Hello, C!");</a:t>
            </a:r>
            <a:endParaRPr lang="en-US" sz="2100"/>
          </a:p>
        </p:txBody>
      </p:sp>
      <p:sp>
        <p:nvSpPr>
          <p:cNvPr id="7" name="Text 5"/>
          <p:cNvSpPr/>
          <p:nvPr/>
        </p:nvSpPr>
        <p:spPr>
          <a:xfrm>
            <a:off x="8549640" y="2267712"/>
            <a:ext cx="2011680" cy="438912"/>
          </a:xfrm>
          <a:prstGeom prst="rect">
            <a:avLst/>
          </a:prstGeom>
          <a:noFill/>
          <a:ln/>
        </p:spPr>
        <p:txBody>
          <a:bodyPr wrap="square" lIns="635" tIns="635" rIns="635" bIns="635" rtlCol="0" anchor="ctr">
            <a:normAutofit/>
          </a:bodyPr>
          <a:lstStyle/>
          <a:p>
            <a:pPr marL="0" indent="0" algn="ctr">
              <a:buNone/>
            </a:pPr>
            <a:r>
              <a:rPr lang="en-US" sz="3200" b="1">
                <a:solidFill>
                  <a:srgbClr val="56CCF2"/>
                </a:solidFill>
                <a:latin typeface="Cascadia Mono" pitchFamily="34" charset="0"/>
                <a:ea typeface="Cascadia Mono" pitchFamily="34" charset="-122"/>
                <a:cs typeface="Cascadia Mono" pitchFamily="34" charset="-120"/>
              </a:rPr>
              <a:t>&gt; _</a:t>
            </a:r>
            <a:endParaRPr lang="en-US" sz="3200"/>
          </a:p>
        </p:txBody>
      </p:sp>
      <p:sp>
        <p:nvSpPr>
          <p:cNvPr id="8" name="Text 6"/>
          <p:cNvSpPr/>
          <p:nvPr/>
        </p:nvSpPr>
        <p:spPr>
          <a:xfrm>
            <a:off x="713232" y="6309360"/>
            <a:ext cx="3840480" cy="228600"/>
          </a:xfrm>
          <a:prstGeom prst="rect">
            <a:avLst/>
          </a:prstGeom>
          <a:noFill/>
          <a:ln/>
        </p:spPr>
        <p:txBody>
          <a:bodyPr wrap="square" lIns="0" tIns="0" rIns="0" bIns="0" rtlCol="0" anchor="ctr">
            <a:normAutofit/>
          </a:bodyPr>
          <a:lstStyle/>
          <a:p>
            <a:pPr marL="0" indent="0" algn="l">
              <a:buNone/>
            </a:pPr>
            <a:r>
              <a:rPr lang="en-US" sz="1100">
                <a:solidFill>
                  <a:srgbClr val="BFD7F3"/>
                </a:solidFill>
                <a:latin typeface="Aptos" pitchFamily="34" charset="0"/>
                <a:ea typeface="Aptos" pitchFamily="34" charset="-122"/>
                <a:cs typeface="Aptos" pitchFamily="34" charset="-120"/>
              </a:rPr>
              <a:t>ADA University · Fall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Today’s roadmap</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What students should be able to do after Week 1</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777240" y="1417320"/>
            <a:ext cx="457200" cy="438912"/>
          </a:xfrm>
          <a:prstGeom prst="rect">
            <a:avLst/>
          </a:prstGeom>
          <a:noFill/>
          <a:ln/>
        </p:spPr>
        <p:txBody>
          <a:bodyPr wrap="square" lIns="635" tIns="635" rIns="635" bIns="635" rtlCol="0" anchor="ctr">
            <a:normAutofit/>
          </a:bodyPr>
          <a:lstStyle/>
          <a:p>
            <a:pPr marL="0" indent="0" algn="ctr">
              <a:buNone/>
            </a:pPr>
            <a:r>
              <a:rPr lang="en-US" sz="2200" b="1">
                <a:solidFill>
                  <a:srgbClr val="2F80ED"/>
                </a:solidFill>
                <a:latin typeface="Aptos" pitchFamily="34" charset="0"/>
                <a:ea typeface="Aptos" pitchFamily="34" charset="-122"/>
                <a:cs typeface="Aptos" pitchFamily="34" charset="-120"/>
              </a:rPr>
              <a:t>1</a:t>
            </a:r>
            <a:endParaRPr lang="en-US" sz="2200"/>
          </a:p>
        </p:txBody>
      </p:sp>
      <p:sp>
        <p:nvSpPr>
          <p:cNvPr id="8" name="Text 6"/>
          <p:cNvSpPr/>
          <p:nvPr/>
        </p:nvSpPr>
        <p:spPr>
          <a:xfrm>
            <a:off x="1280160" y="1435608"/>
            <a:ext cx="1920240" cy="384048"/>
          </a:xfrm>
          <a:prstGeom prst="rect">
            <a:avLst/>
          </a:prstGeom>
          <a:noFill/>
          <a:ln/>
        </p:spPr>
        <p:txBody>
          <a:bodyPr wrap="square" lIns="635" tIns="635" rIns="635" bIns="635"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Set up the tools</a:t>
            </a:r>
            <a:endParaRPr lang="en-US" sz="1350"/>
          </a:p>
        </p:txBody>
      </p:sp>
      <p:sp>
        <p:nvSpPr>
          <p:cNvPr id="9" name="Text 7"/>
          <p:cNvSpPr/>
          <p:nvPr/>
        </p:nvSpPr>
        <p:spPr>
          <a:xfrm>
            <a:off x="777240" y="2057400"/>
            <a:ext cx="457200" cy="438912"/>
          </a:xfrm>
          <a:prstGeom prst="rect">
            <a:avLst/>
          </a:prstGeom>
          <a:noFill/>
          <a:ln/>
        </p:spPr>
        <p:txBody>
          <a:bodyPr wrap="square" lIns="635" tIns="635" rIns="635" bIns="635" rtlCol="0" anchor="ctr">
            <a:normAutofit/>
          </a:bodyPr>
          <a:lstStyle/>
          <a:p>
            <a:pPr marL="0" indent="0" algn="ctr">
              <a:buNone/>
            </a:pPr>
            <a:r>
              <a:rPr lang="en-US" sz="2200" b="1">
                <a:solidFill>
                  <a:srgbClr val="27AE60"/>
                </a:solidFill>
                <a:latin typeface="Aptos" pitchFamily="34" charset="0"/>
                <a:ea typeface="Aptos" pitchFamily="34" charset="-122"/>
                <a:cs typeface="Aptos" pitchFamily="34" charset="-120"/>
              </a:rPr>
              <a:t>2</a:t>
            </a:r>
            <a:endParaRPr lang="en-US" sz="2200"/>
          </a:p>
        </p:txBody>
      </p:sp>
      <p:sp>
        <p:nvSpPr>
          <p:cNvPr id="10" name="Text 8"/>
          <p:cNvSpPr/>
          <p:nvPr/>
        </p:nvSpPr>
        <p:spPr>
          <a:xfrm>
            <a:off x="1280160" y="2075688"/>
            <a:ext cx="1920240" cy="384048"/>
          </a:xfrm>
          <a:prstGeom prst="rect">
            <a:avLst/>
          </a:prstGeom>
          <a:noFill/>
          <a:ln/>
        </p:spPr>
        <p:txBody>
          <a:bodyPr wrap="square" lIns="635" tIns="635" rIns="635" bIns="635"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Write a tiny C program</a:t>
            </a:r>
            <a:endParaRPr lang="en-US" sz="1350"/>
          </a:p>
        </p:txBody>
      </p:sp>
      <p:sp>
        <p:nvSpPr>
          <p:cNvPr id="11" name="Text 9"/>
          <p:cNvSpPr/>
          <p:nvPr/>
        </p:nvSpPr>
        <p:spPr>
          <a:xfrm>
            <a:off x="777240" y="2697480"/>
            <a:ext cx="457200" cy="438912"/>
          </a:xfrm>
          <a:prstGeom prst="rect">
            <a:avLst/>
          </a:prstGeom>
          <a:noFill/>
          <a:ln/>
        </p:spPr>
        <p:txBody>
          <a:bodyPr wrap="square" lIns="635" tIns="635" rIns="635" bIns="635" rtlCol="0" anchor="ctr">
            <a:normAutofit/>
          </a:bodyPr>
          <a:lstStyle/>
          <a:p>
            <a:pPr marL="0" indent="0" algn="ctr">
              <a:buNone/>
            </a:pPr>
            <a:r>
              <a:rPr lang="en-US" sz="2200" b="1">
                <a:solidFill>
                  <a:srgbClr val="F2C94C"/>
                </a:solidFill>
                <a:latin typeface="Aptos" pitchFamily="34" charset="0"/>
                <a:ea typeface="Aptos" pitchFamily="34" charset="-122"/>
                <a:cs typeface="Aptos" pitchFamily="34" charset="-120"/>
              </a:rPr>
              <a:t>3</a:t>
            </a:r>
            <a:endParaRPr lang="en-US" sz="2200"/>
          </a:p>
        </p:txBody>
      </p:sp>
      <p:sp>
        <p:nvSpPr>
          <p:cNvPr id="12" name="Text 10"/>
          <p:cNvSpPr/>
          <p:nvPr/>
        </p:nvSpPr>
        <p:spPr>
          <a:xfrm>
            <a:off x="1280160" y="2715768"/>
            <a:ext cx="1920240" cy="384048"/>
          </a:xfrm>
          <a:prstGeom prst="rect">
            <a:avLst/>
          </a:prstGeom>
          <a:noFill/>
          <a:ln/>
        </p:spPr>
        <p:txBody>
          <a:bodyPr wrap="square" lIns="635" tIns="635" rIns="635" bIns="635"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Compile from the terminal</a:t>
            </a:r>
            <a:endParaRPr lang="en-US" sz="1350"/>
          </a:p>
        </p:txBody>
      </p:sp>
      <p:sp>
        <p:nvSpPr>
          <p:cNvPr id="13" name="Text 11"/>
          <p:cNvSpPr/>
          <p:nvPr/>
        </p:nvSpPr>
        <p:spPr>
          <a:xfrm>
            <a:off x="777240" y="3337560"/>
            <a:ext cx="457200" cy="438912"/>
          </a:xfrm>
          <a:prstGeom prst="rect">
            <a:avLst/>
          </a:prstGeom>
          <a:noFill/>
          <a:ln/>
        </p:spPr>
        <p:txBody>
          <a:bodyPr wrap="square" lIns="635" tIns="635" rIns="635" bIns="635" rtlCol="0" anchor="ctr">
            <a:normAutofit/>
          </a:bodyPr>
          <a:lstStyle/>
          <a:p>
            <a:pPr marL="0" indent="0" algn="ctr">
              <a:buNone/>
            </a:pPr>
            <a:r>
              <a:rPr lang="en-US" sz="2200" b="1">
                <a:solidFill>
                  <a:srgbClr val="EB5757"/>
                </a:solidFill>
                <a:latin typeface="Aptos" pitchFamily="34" charset="0"/>
                <a:ea typeface="Aptos" pitchFamily="34" charset="-122"/>
                <a:cs typeface="Aptos" pitchFamily="34" charset="-120"/>
              </a:rPr>
              <a:t>4</a:t>
            </a:r>
            <a:endParaRPr lang="en-US" sz="2200"/>
          </a:p>
        </p:txBody>
      </p:sp>
      <p:sp>
        <p:nvSpPr>
          <p:cNvPr id="14" name="Text 12"/>
          <p:cNvSpPr/>
          <p:nvPr/>
        </p:nvSpPr>
        <p:spPr>
          <a:xfrm>
            <a:off x="1280160" y="3355848"/>
            <a:ext cx="1920240" cy="384048"/>
          </a:xfrm>
          <a:prstGeom prst="rect">
            <a:avLst/>
          </a:prstGeom>
          <a:noFill/>
          <a:ln/>
        </p:spPr>
        <p:txBody>
          <a:bodyPr wrap="square" lIns="635" tIns="635" rIns="635" bIns="635"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Use variables and expressions</a:t>
            </a:r>
            <a:endParaRPr lang="en-US" sz="1350"/>
          </a:p>
        </p:txBody>
      </p:sp>
      <p:sp>
        <p:nvSpPr>
          <p:cNvPr id="15" name="Text 13"/>
          <p:cNvSpPr/>
          <p:nvPr/>
        </p:nvSpPr>
        <p:spPr>
          <a:xfrm>
            <a:off x="777240" y="3977640"/>
            <a:ext cx="457200" cy="438912"/>
          </a:xfrm>
          <a:prstGeom prst="rect">
            <a:avLst/>
          </a:prstGeom>
          <a:noFill/>
          <a:ln/>
        </p:spPr>
        <p:txBody>
          <a:bodyPr wrap="square" lIns="635" tIns="635" rIns="635" bIns="635" rtlCol="0" anchor="ctr">
            <a:normAutofit/>
          </a:bodyPr>
          <a:lstStyle/>
          <a:p>
            <a:pPr marL="0" indent="0" algn="ctr">
              <a:buNone/>
            </a:pPr>
            <a:r>
              <a:rPr lang="en-US" sz="2200" b="1">
                <a:solidFill>
                  <a:srgbClr val="56CCF2"/>
                </a:solidFill>
                <a:latin typeface="Aptos" pitchFamily="34" charset="0"/>
                <a:ea typeface="Aptos" pitchFamily="34" charset="-122"/>
                <a:cs typeface="Aptos" pitchFamily="34" charset="-120"/>
              </a:rPr>
              <a:t>5</a:t>
            </a:r>
            <a:endParaRPr lang="en-US" sz="2200"/>
          </a:p>
        </p:txBody>
      </p:sp>
      <p:sp>
        <p:nvSpPr>
          <p:cNvPr id="16" name="Text 14"/>
          <p:cNvSpPr/>
          <p:nvPr/>
        </p:nvSpPr>
        <p:spPr>
          <a:xfrm>
            <a:off x="1280160" y="3995928"/>
            <a:ext cx="1920240" cy="384048"/>
          </a:xfrm>
          <a:prstGeom prst="rect">
            <a:avLst/>
          </a:prstGeom>
          <a:noFill/>
          <a:ln/>
        </p:spPr>
        <p:txBody>
          <a:bodyPr wrap="square" lIns="635" tIns="635" rIns="635" bIns="635"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Read input and print output</a:t>
            </a:r>
            <a:endParaRPr lang="en-US" sz="1350"/>
          </a:p>
        </p:txBody>
      </p:sp>
      <p:sp>
        <p:nvSpPr>
          <p:cNvPr id="17" name="Text 15"/>
          <p:cNvSpPr/>
          <p:nvPr/>
        </p:nvSpPr>
        <p:spPr>
          <a:xfrm>
            <a:off x="777240" y="4617720"/>
            <a:ext cx="457200" cy="438912"/>
          </a:xfrm>
          <a:prstGeom prst="rect">
            <a:avLst/>
          </a:prstGeom>
          <a:noFill/>
          <a:ln/>
        </p:spPr>
        <p:txBody>
          <a:bodyPr wrap="square" lIns="635" tIns="635" rIns="635" bIns="635" rtlCol="0" anchor="ctr">
            <a:normAutofit/>
          </a:bodyPr>
          <a:lstStyle/>
          <a:p>
            <a:pPr marL="0" indent="0" algn="ctr">
              <a:buNone/>
            </a:pPr>
            <a:r>
              <a:rPr lang="en-US" sz="2200" b="1">
                <a:solidFill>
                  <a:srgbClr val="2F80ED"/>
                </a:solidFill>
                <a:latin typeface="Aptos" pitchFamily="34" charset="0"/>
                <a:ea typeface="Aptos" pitchFamily="34" charset="-122"/>
                <a:cs typeface="Aptos" pitchFamily="34" charset="-120"/>
              </a:rPr>
              <a:t>6</a:t>
            </a:r>
            <a:endParaRPr lang="en-US" sz="2200"/>
          </a:p>
        </p:txBody>
      </p:sp>
      <p:sp>
        <p:nvSpPr>
          <p:cNvPr id="18" name="Text 16"/>
          <p:cNvSpPr/>
          <p:nvPr/>
        </p:nvSpPr>
        <p:spPr>
          <a:xfrm>
            <a:off x="1280160" y="4636008"/>
            <a:ext cx="1920240" cy="384048"/>
          </a:xfrm>
          <a:prstGeom prst="rect">
            <a:avLst/>
          </a:prstGeom>
          <a:noFill/>
          <a:ln/>
        </p:spPr>
        <p:txBody>
          <a:bodyPr wrap="square" lIns="635" tIns="635" rIns="635" bIns="635"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Use basic math functions</a:t>
            </a:r>
            <a:endParaRPr lang="en-US" sz="1350"/>
          </a:p>
        </p:txBody>
      </p:sp>
      <p:sp>
        <p:nvSpPr>
          <p:cNvPr id="19" name="Text 17"/>
          <p:cNvSpPr/>
          <p:nvPr/>
        </p:nvSpPr>
        <p:spPr>
          <a:xfrm>
            <a:off x="5806440" y="1417320"/>
            <a:ext cx="5394960" cy="41605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70">
                <a:solidFill>
                  <a:srgbClr val="E5E7EB"/>
                </a:solidFill>
                <a:latin typeface="Cascadia Mono" pitchFamily="34" charset="0"/>
                <a:ea typeface="Cascadia Mono" pitchFamily="34" charset="-122"/>
                <a:cs typeface="Cascadia Mono" pitchFamily="34" charset="-120"/>
              </a:rPr>
              <a:t>#include &lt;stdio.h&gt;</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#include &lt;math.h&gt;</a:t>
            </a:r>
            <a:endParaRPr lang="en-US" sz="1270"/>
          </a:p>
          <a:p>
            <a:pPr marL="0" indent="0" algn="l">
              <a:buNone/>
            </a:pP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int main(void) {</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double r;</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printf("Radius: ");</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scanf("%lf", &amp;r);</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printf("Area = %.2f\n", 3.14159 * r * r);</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return 0;</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a:t>
            </a:r>
            <a:endParaRPr lang="en-US" sz="1270"/>
          </a:p>
        </p:txBody>
      </p:sp>
      <p:sp>
        <p:nvSpPr>
          <p:cNvPr id="20" name="Text 18"/>
          <p:cNvSpPr/>
          <p:nvPr/>
        </p:nvSpPr>
        <p:spPr>
          <a:xfrm>
            <a:off x="960120" y="5715000"/>
            <a:ext cx="9875520" cy="50292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Core idea: programming is not memorizing syntax. It is translating a problem into precise steps that a machine can execute.</a:t>
            </a:r>
            <a:endParaRPr lang="en-US" sz="13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What is a program?</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A program is an exact recipe written for a very literal machine</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22960" y="1371600"/>
            <a:ext cx="2286000" cy="256032"/>
          </a:xfrm>
          <a:prstGeom prst="rect">
            <a:avLst/>
          </a:prstGeom>
          <a:noFill/>
          <a:ln/>
        </p:spPr>
        <p:txBody>
          <a:bodyPr wrap="square" lIns="635" tIns="635" rIns="635" bIns="635" rtlCol="0" anchor="ctr">
            <a:normAutofit/>
          </a:bodyPr>
          <a:lstStyle/>
          <a:p>
            <a:pPr marL="0" indent="0" algn="ctr">
              <a:buNone/>
            </a:pPr>
            <a:r>
              <a:rPr lang="en-US" sz="1600" b="1">
                <a:solidFill>
                  <a:srgbClr val="1B365D"/>
                </a:solidFill>
                <a:latin typeface="Aptos" pitchFamily="34" charset="0"/>
                <a:ea typeface="Aptos" pitchFamily="34" charset="-122"/>
                <a:cs typeface="Aptos" pitchFamily="34" charset="-120"/>
              </a:rPr>
              <a:t>Human instruction</a:t>
            </a:r>
            <a:endParaRPr lang="en-US" sz="1600"/>
          </a:p>
        </p:txBody>
      </p:sp>
      <p:sp>
        <p:nvSpPr>
          <p:cNvPr id="8" name="Text 6"/>
          <p:cNvSpPr/>
          <p:nvPr/>
        </p:nvSpPr>
        <p:spPr>
          <a:xfrm>
            <a:off x="731520" y="1965960"/>
            <a:ext cx="2560320" cy="530352"/>
          </a:xfrm>
          <a:prstGeom prst="rect">
            <a:avLst/>
          </a:prstGeom>
          <a:solidFill>
            <a:srgbClr val="FFFFFF"/>
          </a:solidFill>
          <a:ln>
            <a:solidFill>
              <a:srgbClr val="D7DEE8"/>
            </a:solidFill>
          </a:ln>
        </p:spPr>
        <p:txBody>
          <a:bodyPr wrap="square" lIns="635" tIns="635" rIns="635" bIns="635" rtlCol="0" anchor="ctr">
            <a:normAutofit/>
          </a:bodyPr>
          <a:lstStyle/>
          <a:p>
            <a:pPr marL="0" indent="0" algn="ctr">
              <a:buNone/>
            </a:pPr>
            <a:r>
              <a:rPr lang="en-US" sz="1500">
                <a:solidFill>
                  <a:srgbClr val="1F2937"/>
                </a:solidFill>
                <a:latin typeface="Aptos" pitchFamily="34" charset="0"/>
                <a:ea typeface="Aptos" pitchFamily="34" charset="-122"/>
                <a:cs typeface="Aptos" pitchFamily="34" charset="-120"/>
              </a:rPr>
              <a:t>“Calculate the area of a circle.”</a:t>
            </a:r>
            <a:endParaRPr lang="en-US" sz="1500"/>
          </a:p>
        </p:txBody>
      </p:sp>
      <p:sp>
        <p:nvSpPr>
          <p:cNvPr id="9" name="Shape 7"/>
          <p:cNvSpPr/>
          <p:nvPr/>
        </p:nvSpPr>
        <p:spPr>
          <a:xfrm>
            <a:off x="3429000" y="2221992"/>
            <a:ext cx="1371600" cy="0"/>
          </a:xfrm>
          <a:prstGeom prst="line">
            <a:avLst/>
          </a:prstGeom>
          <a:noFill/>
          <a:ln w="17780">
            <a:solidFill>
              <a:srgbClr val="2F80ED"/>
            </a:solidFill>
            <a:prstDash val="solid"/>
            <a:headEnd type="none"/>
            <a:tailEnd type="triangle"/>
          </a:ln>
        </p:spPr>
      </p:sp>
      <p:sp>
        <p:nvSpPr>
          <p:cNvPr id="10" name="Text 8"/>
          <p:cNvSpPr/>
          <p:nvPr/>
        </p:nvSpPr>
        <p:spPr>
          <a:xfrm>
            <a:off x="4617720" y="1371600"/>
            <a:ext cx="2286000" cy="256032"/>
          </a:xfrm>
          <a:prstGeom prst="rect">
            <a:avLst/>
          </a:prstGeom>
          <a:noFill/>
          <a:ln/>
        </p:spPr>
        <p:txBody>
          <a:bodyPr wrap="square" lIns="635" tIns="635" rIns="635" bIns="635" rtlCol="0" anchor="ctr">
            <a:normAutofit/>
          </a:bodyPr>
          <a:lstStyle/>
          <a:p>
            <a:pPr marL="0" indent="0" algn="ctr">
              <a:buNone/>
            </a:pPr>
            <a:r>
              <a:rPr lang="en-US" sz="1600" b="1">
                <a:solidFill>
                  <a:srgbClr val="1B365D"/>
                </a:solidFill>
                <a:latin typeface="Aptos" pitchFamily="34" charset="0"/>
                <a:ea typeface="Aptos" pitchFamily="34" charset="-122"/>
                <a:cs typeface="Aptos" pitchFamily="34" charset="-120"/>
              </a:rPr>
              <a:t>Algorithm</a:t>
            </a:r>
            <a:endParaRPr lang="en-US" sz="1600"/>
          </a:p>
        </p:txBody>
      </p:sp>
      <p:sp>
        <p:nvSpPr>
          <p:cNvPr id="11" name="Text 9"/>
          <p:cNvSpPr/>
          <p:nvPr/>
        </p:nvSpPr>
        <p:spPr>
          <a:xfrm>
            <a:off x="4526280" y="1847088"/>
            <a:ext cx="2560320" cy="822960"/>
          </a:xfrm>
          <a:prstGeom prst="rect">
            <a:avLst/>
          </a:prstGeom>
          <a:solidFill>
            <a:srgbClr val="FFFFFF"/>
          </a:solidFill>
          <a:ln>
            <a:solidFill>
              <a:srgbClr val="D7DEE8"/>
            </a:solidFill>
          </a:ln>
        </p:spPr>
        <p:txBody>
          <a:bodyPr wrap="square" lIns="635" tIns="635" rIns="635" bIns="635" rtlCol="0" anchor="ctr">
            <a:normAutofit/>
          </a:bodyPr>
          <a:lstStyle/>
          <a:p>
            <a:pPr marL="0" indent="0" algn="l">
              <a:buNone/>
            </a:pPr>
            <a:r>
              <a:rPr lang="en-US" sz="1450">
                <a:solidFill>
                  <a:srgbClr val="1F2937"/>
                </a:solidFill>
                <a:latin typeface="Aptos" pitchFamily="34" charset="0"/>
                <a:ea typeface="Aptos" pitchFamily="34" charset="-122"/>
                <a:cs typeface="Aptos" pitchFamily="34" charset="-120"/>
              </a:rPr>
              <a:t>1. Read radius</a:t>
            </a:r>
            <a:endParaRPr lang="en-US" sz="1450"/>
          </a:p>
          <a:p>
            <a:pPr marL="0" indent="0" algn="l">
              <a:buNone/>
            </a:pPr>
            <a:r>
              <a:rPr lang="en-US" sz="1450">
                <a:solidFill>
                  <a:srgbClr val="1F2937"/>
                </a:solidFill>
                <a:latin typeface="Aptos" pitchFamily="34" charset="0"/>
                <a:ea typeface="Aptos" pitchFamily="34" charset="-122"/>
                <a:cs typeface="Aptos" pitchFamily="34" charset="-120"/>
              </a:rPr>
              <a:t>2. Compute πr²</a:t>
            </a:r>
            <a:endParaRPr lang="en-US" sz="1450"/>
          </a:p>
          <a:p>
            <a:pPr marL="0" indent="0" algn="l">
              <a:buNone/>
            </a:pPr>
            <a:r>
              <a:rPr lang="en-US" sz="1450">
                <a:solidFill>
                  <a:srgbClr val="1F2937"/>
                </a:solidFill>
                <a:latin typeface="Aptos" pitchFamily="34" charset="0"/>
                <a:ea typeface="Aptos" pitchFamily="34" charset="-122"/>
                <a:cs typeface="Aptos" pitchFamily="34" charset="-120"/>
              </a:rPr>
              <a:t>3. Print result</a:t>
            </a:r>
            <a:endParaRPr lang="en-US" sz="1450"/>
          </a:p>
        </p:txBody>
      </p:sp>
      <p:sp>
        <p:nvSpPr>
          <p:cNvPr id="12" name="Shape 10"/>
          <p:cNvSpPr/>
          <p:nvPr/>
        </p:nvSpPr>
        <p:spPr>
          <a:xfrm>
            <a:off x="7223760" y="2221992"/>
            <a:ext cx="1371600" cy="0"/>
          </a:xfrm>
          <a:prstGeom prst="line">
            <a:avLst/>
          </a:prstGeom>
          <a:noFill/>
          <a:ln w="17780">
            <a:solidFill>
              <a:srgbClr val="2F80ED"/>
            </a:solidFill>
            <a:prstDash val="solid"/>
            <a:headEnd type="none"/>
            <a:tailEnd type="triangle"/>
          </a:ln>
        </p:spPr>
      </p:sp>
      <p:sp>
        <p:nvSpPr>
          <p:cNvPr id="13" name="Text 11"/>
          <p:cNvSpPr/>
          <p:nvPr/>
        </p:nvSpPr>
        <p:spPr>
          <a:xfrm>
            <a:off x="8595360" y="1371600"/>
            <a:ext cx="2286000" cy="256032"/>
          </a:xfrm>
          <a:prstGeom prst="rect">
            <a:avLst/>
          </a:prstGeom>
          <a:noFill/>
          <a:ln/>
        </p:spPr>
        <p:txBody>
          <a:bodyPr wrap="square" lIns="635" tIns="635" rIns="635" bIns="635" rtlCol="0" anchor="ctr">
            <a:normAutofit/>
          </a:bodyPr>
          <a:lstStyle/>
          <a:p>
            <a:pPr marL="0" indent="0" algn="ctr">
              <a:buNone/>
            </a:pPr>
            <a:r>
              <a:rPr lang="en-US" sz="1600" b="1">
                <a:solidFill>
                  <a:srgbClr val="1B365D"/>
                </a:solidFill>
                <a:latin typeface="Aptos" pitchFamily="34" charset="0"/>
                <a:ea typeface="Aptos" pitchFamily="34" charset="-122"/>
                <a:cs typeface="Aptos" pitchFamily="34" charset="-120"/>
              </a:rPr>
              <a:t>C code</a:t>
            </a:r>
            <a:endParaRPr lang="en-US" sz="1600"/>
          </a:p>
        </p:txBody>
      </p:sp>
      <p:sp>
        <p:nvSpPr>
          <p:cNvPr id="14" name="Text 12"/>
          <p:cNvSpPr/>
          <p:nvPr/>
        </p:nvSpPr>
        <p:spPr>
          <a:xfrm>
            <a:off x="8412480" y="1792224"/>
            <a:ext cx="2743200" cy="9601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30">
                <a:solidFill>
                  <a:srgbClr val="E5E7EB"/>
                </a:solidFill>
                <a:latin typeface="Cascadia Mono" pitchFamily="34" charset="0"/>
                <a:ea typeface="Cascadia Mono" pitchFamily="34" charset="-122"/>
                <a:cs typeface="Cascadia Mono" pitchFamily="34" charset="-120"/>
              </a:rPr>
              <a:t>scanf("%lf", &amp;r);</a:t>
            </a:r>
            <a:endParaRPr lang="en-US" sz="1130"/>
          </a:p>
          <a:p>
            <a:pPr marL="0" indent="0" algn="l">
              <a:buNone/>
            </a:pPr>
            <a:r>
              <a:rPr lang="en-US" sz="1130">
                <a:solidFill>
                  <a:srgbClr val="E5E7EB"/>
                </a:solidFill>
                <a:latin typeface="Cascadia Mono" pitchFamily="34" charset="0"/>
                <a:ea typeface="Cascadia Mono" pitchFamily="34" charset="-122"/>
                <a:cs typeface="Cascadia Mono" pitchFamily="34" charset="-120"/>
              </a:rPr>
              <a:t>area = PI * r * r;</a:t>
            </a:r>
            <a:endParaRPr lang="en-US" sz="1130"/>
          </a:p>
          <a:p>
            <a:pPr marL="0" indent="0" algn="l">
              <a:buNone/>
            </a:pPr>
            <a:r>
              <a:rPr lang="en-US" sz="1130">
                <a:solidFill>
                  <a:srgbClr val="E5E7EB"/>
                </a:solidFill>
                <a:latin typeface="Cascadia Mono" pitchFamily="34" charset="0"/>
                <a:ea typeface="Cascadia Mono" pitchFamily="34" charset="-122"/>
                <a:cs typeface="Cascadia Mono" pitchFamily="34" charset="-120"/>
              </a:rPr>
              <a:t>printf("%.2f", area);</a:t>
            </a:r>
            <a:endParaRPr lang="en-US" sz="1130"/>
          </a:p>
        </p:txBody>
      </p:sp>
      <p:sp>
        <p:nvSpPr>
          <p:cNvPr id="15" name="Text 13"/>
          <p:cNvSpPr/>
          <p:nvPr/>
        </p:nvSpPr>
        <p:spPr>
          <a:xfrm>
            <a:off x="914400" y="3931920"/>
            <a:ext cx="4709160" cy="91440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Bad instruction: “make it work”. Good instruction: every input, operation, and output is specified.</a:t>
            </a:r>
            <a:endParaRPr lang="en-US" sz="1350"/>
          </a:p>
        </p:txBody>
      </p:sp>
      <p:sp>
        <p:nvSpPr>
          <p:cNvPr id="16" name="Text 14"/>
          <p:cNvSpPr/>
          <p:nvPr/>
        </p:nvSpPr>
        <p:spPr>
          <a:xfrm>
            <a:off x="6400800" y="3931920"/>
            <a:ext cx="4709160" cy="91440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Question: What information is missing if I only say “calculate salary”?</a:t>
            </a:r>
            <a:endParaRPr lang="en-US" sz="13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From source code to running program</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The computer cannot run C source code directly</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777240" y="1828800"/>
            <a:ext cx="2011680" cy="438912"/>
          </a:xfrm>
          <a:prstGeom prst="rect">
            <a:avLst/>
          </a:prstGeom>
          <a:solidFill>
            <a:srgbClr val="FFFFFF"/>
          </a:solidFill>
          <a:ln w="19050">
            <a:solidFill>
              <a:srgbClr val="2F80ED"/>
            </a:solidFill>
          </a:ln>
        </p:spPr>
        <p:txBody>
          <a:bodyPr wrap="square" lIns="635" tIns="635" rIns="635" bIns="635" rtlCol="0" anchor="ctr">
            <a:normAutofit/>
          </a:bodyPr>
          <a:lstStyle/>
          <a:p>
            <a:pPr marL="0" indent="0" algn="ctr">
              <a:buNone/>
            </a:pPr>
            <a:r>
              <a:rPr lang="en-US" sz="2000" b="1">
                <a:solidFill>
                  <a:srgbClr val="2F80ED"/>
                </a:solidFill>
                <a:latin typeface="Aptos" pitchFamily="34" charset="0"/>
                <a:ea typeface="Aptos" pitchFamily="34" charset="-122"/>
                <a:cs typeface="Aptos" pitchFamily="34" charset="-120"/>
              </a:rPr>
              <a:t>.c file</a:t>
            </a:r>
            <a:endParaRPr lang="en-US" sz="2000"/>
          </a:p>
        </p:txBody>
      </p:sp>
      <p:sp>
        <p:nvSpPr>
          <p:cNvPr id="8" name="Text 6"/>
          <p:cNvSpPr/>
          <p:nvPr/>
        </p:nvSpPr>
        <p:spPr>
          <a:xfrm>
            <a:off x="777240" y="2377440"/>
            <a:ext cx="2011680" cy="228600"/>
          </a:xfrm>
          <a:prstGeom prst="rect">
            <a:avLst/>
          </a:prstGeom>
          <a:noFill/>
          <a:ln/>
        </p:spPr>
        <p:txBody>
          <a:bodyPr wrap="square" lIns="635" tIns="635" rIns="635" bIns="635" rtlCol="0" anchor="ctr">
            <a:normAutofit/>
          </a:bodyPr>
          <a:lstStyle/>
          <a:p>
            <a:pPr marL="0" indent="0" algn="ctr">
              <a:buNone/>
            </a:pPr>
            <a:r>
              <a:rPr lang="en-US" sz="1230">
                <a:solidFill>
                  <a:srgbClr val="6B7280"/>
                </a:solidFill>
                <a:latin typeface="Aptos" pitchFamily="34" charset="0"/>
                <a:ea typeface="Aptos" pitchFamily="34" charset="-122"/>
                <a:cs typeface="Aptos" pitchFamily="34" charset="-120"/>
              </a:rPr>
              <a:t>You write it</a:t>
            </a:r>
            <a:endParaRPr lang="en-US" sz="1230"/>
          </a:p>
        </p:txBody>
      </p:sp>
      <p:sp>
        <p:nvSpPr>
          <p:cNvPr id="9" name="Shape 7"/>
          <p:cNvSpPr/>
          <p:nvPr/>
        </p:nvSpPr>
        <p:spPr>
          <a:xfrm>
            <a:off x="2926080" y="2057400"/>
            <a:ext cx="777240" cy="0"/>
          </a:xfrm>
          <a:prstGeom prst="line">
            <a:avLst/>
          </a:prstGeom>
          <a:noFill/>
          <a:ln w="17780">
            <a:solidFill>
              <a:srgbClr val="1B365D"/>
            </a:solidFill>
            <a:prstDash val="solid"/>
            <a:headEnd type="none"/>
            <a:tailEnd type="triangle"/>
          </a:ln>
        </p:spPr>
      </p:sp>
      <p:sp>
        <p:nvSpPr>
          <p:cNvPr id="10" name="Text 8"/>
          <p:cNvSpPr/>
          <p:nvPr/>
        </p:nvSpPr>
        <p:spPr>
          <a:xfrm>
            <a:off x="3566160" y="1828800"/>
            <a:ext cx="2011680" cy="438912"/>
          </a:xfrm>
          <a:prstGeom prst="rect">
            <a:avLst/>
          </a:prstGeom>
          <a:solidFill>
            <a:srgbClr val="FFFFFF"/>
          </a:solidFill>
          <a:ln w="19050">
            <a:solidFill>
              <a:srgbClr val="27AE60"/>
            </a:solidFill>
          </a:ln>
        </p:spPr>
        <p:txBody>
          <a:bodyPr wrap="square" lIns="635" tIns="635" rIns="635" bIns="635" rtlCol="0" anchor="ctr">
            <a:normAutofit/>
          </a:bodyPr>
          <a:lstStyle/>
          <a:p>
            <a:pPr marL="0" indent="0" algn="ctr">
              <a:buNone/>
            </a:pPr>
            <a:r>
              <a:rPr lang="en-US" sz="2000" b="1">
                <a:solidFill>
                  <a:srgbClr val="27AE60"/>
                </a:solidFill>
                <a:latin typeface="Aptos" pitchFamily="34" charset="0"/>
                <a:ea typeface="Aptos" pitchFamily="34" charset="-122"/>
                <a:cs typeface="Aptos" pitchFamily="34" charset="-120"/>
              </a:rPr>
              <a:t>Compiler</a:t>
            </a:r>
            <a:endParaRPr lang="en-US" sz="2000"/>
          </a:p>
        </p:txBody>
      </p:sp>
      <p:sp>
        <p:nvSpPr>
          <p:cNvPr id="11" name="Text 9"/>
          <p:cNvSpPr/>
          <p:nvPr/>
        </p:nvSpPr>
        <p:spPr>
          <a:xfrm>
            <a:off x="3566160" y="2377440"/>
            <a:ext cx="2011680" cy="228600"/>
          </a:xfrm>
          <a:prstGeom prst="rect">
            <a:avLst/>
          </a:prstGeom>
          <a:noFill/>
          <a:ln/>
        </p:spPr>
        <p:txBody>
          <a:bodyPr wrap="square" lIns="635" tIns="635" rIns="635" bIns="635" rtlCol="0" anchor="ctr">
            <a:normAutofit/>
          </a:bodyPr>
          <a:lstStyle/>
          <a:p>
            <a:pPr marL="0" indent="0" algn="ctr">
              <a:buNone/>
            </a:pPr>
            <a:r>
              <a:rPr lang="en-US" sz="1230">
                <a:solidFill>
                  <a:srgbClr val="6B7280"/>
                </a:solidFill>
                <a:latin typeface="Aptos" pitchFamily="34" charset="0"/>
                <a:ea typeface="Aptos" pitchFamily="34" charset="-122"/>
                <a:cs typeface="Aptos" pitchFamily="34" charset="-120"/>
              </a:rPr>
              <a:t>Translates C</a:t>
            </a:r>
            <a:endParaRPr lang="en-US" sz="1230"/>
          </a:p>
        </p:txBody>
      </p:sp>
      <p:sp>
        <p:nvSpPr>
          <p:cNvPr id="12" name="Shape 10"/>
          <p:cNvSpPr/>
          <p:nvPr/>
        </p:nvSpPr>
        <p:spPr>
          <a:xfrm>
            <a:off x="5715000" y="2057400"/>
            <a:ext cx="777240" cy="0"/>
          </a:xfrm>
          <a:prstGeom prst="line">
            <a:avLst/>
          </a:prstGeom>
          <a:noFill/>
          <a:ln w="17780">
            <a:solidFill>
              <a:srgbClr val="1B365D"/>
            </a:solidFill>
            <a:prstDash val="solid"/>
            <a:headEnd type="none"/>
            <a:tailEnd type="triangle"/>
          </a:ln>
        </p:spPr>
      </p:sp>
      <p:sp>
        <p:nvSpPr>
          <p:cNvPr id="13" name="Text 11"/>
          <p:cNvSpPr/>
          <p:nvPr/>
        </p:nvSpPr>
        <p:spPr>
          <a:xfrm>
            <a:off x="6355080" y="1828800"/>
            <a:ext cx="2011680" cy="438912"/>
          </a:xfrm>
          <a:prstGeom prst="rect">
            <a:avLst/>
          </a:prstGeom>
          <a:solidFill>
            <a:srgbClr val="FFFFFF"/>
          </a:solidFill>
          <a:ln w="19050">
            <a:solidFill>
              <a:srgbClr val="F2C94C"/>
            </a:solidFill>
          </a:ln>
        </p:spPr>
        <p:txBody>
          <a:bodyPr wrap="square" lIns="635" tIns="635" rIns="635" bIns="635" rtlCol="0" anchor="ctr">
            <a:normAutofit/>
          </a:bodyPr>
          <a:lstStyle/>
          <a:p>
            <a:pPr marL="0" indent="0" algn="ctr">
              <a:buNone/>
            </a:pPr>
            <a:r>
              <a:rPr lang="en-US" sz="2000" b="1">
                <a:solidFill>
                  <a:srgbClr val="F2C94C"/>
                </a:solidFill>
                <a:latin typeface="Aptos" pitchFamily="34" charset="0"/>
                <a:ea typeface="Aptos" pitchFamily="34" charset="-122"/>
                <a:cs typeface="Aptos" pitchFamily="34" charset="-120"/>
              </a:rPr>
              <a:t>Executable</a:t>
            </a:r>
            <a:endParaRPr lang="en-US" sz="2000"/>
          </a:p>
        </p:txBody>
      </p:sp>
      <p:sp>
        <p:nvSpPr>
          <p:cNvPr id="14" name="Text 12"/>
          <p:cNvSpPr/>
          <p:nvPr/>
        </p:nvSpPr>
        <p:spPr>
          <a:xfrm>
            <a:off x="6355080" y="2377440"/>
            <a:ext cx="2011680" cy="228600"/>
          </a:xfrm>
          <a:prstGeom prst="rect">
            <a:avLst/>
          </a:prstGeom>
          <a:noFill/>
          <a:ln/>
        </p:spPr>
        <p:txBody>
          <a:bodyPr wrap="square" lIns="635" tIns="635" rIns="635" bIns="635" rtlCol="0" anchor="ctr">
            <a:normAutofit/>
          </a:bodyPr>
          <a:lstStyle/>
          <a:p>
            <a:pPr marL="0" indent="0" algn="ctr">
              <a:buNone/>
            </a:pPr>
            <a:r>
              <a:rPr lang="en-US" sz="1230">
                <a:solidFill>
                  <a:srgbClr val="6B7280"/>
                </a:solidFill>
                <a:latin typeface="Aptos" pitchFamily="34" charset="0"/>
                <a:ea typeface="Aptos" pitchFamily="34" charset="-122"/>
                <a:cs typeface="Aptos" pitchFamily="34" charset="-120"/>
              </a:rPr>
              <a:t>Machine code</a:t>
            </a:r>
            <a:endParaRPr lang="en-US" sz="1230"/>
          </a:p>
        </p:txBody>
      </p:sp>
      <p:sp>
        <p:nvSpPr>
          <p:cNvPr id="15" name="Shape 13"/>
          <p:cNvSpPr/>
          <p:nvPr/>
        </p:nvSpPr>
        <p:spPr>
          <a:xfrm>
            <a:off x="8503920" y="2057400"/>
            <a:ext cx="777240" cy="0"/>
          </a:xfrm>
          <a:prstGeom prst="line">
            <a:avLst/>
          </a:prstGeom>
          <a:noFill/>
          <a:ln w="17780">
            <a:solidFill>
              <a:srgbClr val="1B365D"/>
            </a:solidFill>
            <a:prstDash val="solid"/>
            <a:headEnd type="none"/>
            <a:tailEnd type="triangle"/>
          </a:ln>
        </p:spPr>
      </p:sp>
      <p:sp>
        <p:nvSpPr>
          <p:cNvPr id="16" name="Text 14"/>
          <p:cNvSpPr/>
          <p:nvPr/>
        </p:nvSpPr>
        <p:spPr>
          <a:xfrm>
            <a:off x="9144000" y="1828800"/>
            <a:ext cx="2011680" cy="438912"/>
          </a:xfrm>
          <a:prstGeom prst="rect">
            <a:avLst/>
          </a:prstGeom>
          <a:solidFill>
            <a:srgbClr val="FFFFFF"/>
          </a:solidFill>
          <a:ln w="19050">
            <a:solidFill>
              <a:srgbClr val="EB5757"/>
            </a:solidFill>
          </a:ln>
        </p:spPr>
        <p:txBody>
          <a:bodyPr wrap="square" lIns="635" tIns="635" rIns="635" bIns="635" rtlCol="0" anchor="ctr">
            <a:normAutofit/>
          </a:bodyPr>
          <a:lstStyle/>
          <a:p>
            <a:pPr marL="0" indent="0" algn="ctr">
              <a:buNone/>
            </a:pPr>
            <a:r>
              <a:rPr lang="en-US" sz="2000" b="1">
                <a:solidFill>
                  <a:srgbClr val="EB5757"/>
                </a:solidFill>
                <a:latin typeface="Aptos" pitchFamily="34" charset="0"/>
                <a:ea typeface="Aptos" pitchFamily="34" charset="-122"/>
                <a:cs typeface="Aptos" pitchFamily="34" charset="-120"/>
              </a:rPr>
              <a:t>Run</a:t>
            </a:r>
            <a:endParaRPr lang="en-US" sz="2000"/>
          </a:p>
        </p:txBody>
      </p:sp>
      <p:sp>
        <p:nvSpPr>
          <p:cNvPr id="17" name="Text 15"/>
          <p:cNvSpPr/>
          <p:nvPr/>
        </p:nvSpPr>
        <p:spPr>
          <a:xfrm>
            <a:off x="9144000" y="2377440"/>
            <a:ext cx="2011680" cy="228600"/>
          </a:xfrm>
          <a:prstGeom prst="rect">
            <a:avLst/>
          </a:prstGeom>
          <a:noFill/>
          <a:ln/>
        </p:spPr>
        <p:txBody>
          <a:bodyPr wrap="square" lIns="635" tIns="635" rIns="635" bIns="635" rtlCol="0" anchor="ctr">
            <a:normAutofit/>
          </a:bodyPr>
          <a:lstStyle/>
          <a:p>
            <a:pPr marL="0" indent="0" algn="ctr">
              <a:buNone/>
            </a:pPr>
            <a:r>
              <a:rPr lang="en-US" sz="1230">
                <a:solidFill>
                  <a:srgbClr val="6B7280"/>
                </a:solidFill>
                <a:latin typeface="Aptos" pitchFamily="34" charset="0"/>
                <a:ea typeface="Aptos" pitchFamily="34" charset="-122"/>
                <a:cs typeface="Aptos" pitchFamily="34" charset="-120"/>
              </a:rPr>
              <a:t>Input → Output</a:t>
            </a:r>
            <a:endParaRPr lang="en-US" sz="1230"/>
          </a:p>
        </p:txBody>
      </p:sp>
      <p:sp>
        <p:nvSpPr>
          <p:cNvPr id="18" name="Text 16"/>
          <p:cNvSpPr/>
          <p:nvPr/>
        </p:nvSpPr>
        <p:spPr>
          <a:xfrm>
            <a:off x="960120" y="3749040"/>
            <a:ext cx="4526280" cy="9601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700">
                <a:solidFill>
                  <a:srgbClr val="E5E7EB"/>
                </a:solidFill>
                <a:latin typeface="Cascadia Mono" pitchFamily="34" charset="0"/>
                <a:ea typeface="Cascadia Mono" pitchFamily="34" charset="-122"/>
                <a:cs typeface="Cascadia Mono" pitchFamily="34" charset="-120"/>
              </a:rPr>
              <a:t>gcc hello.c -o hello</a:t>
            </a:r>
            <a:endParaRPr lang="en-US" sz="1700"/>
          </a:p>
          <a:p>
            <a:pPr marL="0" indent="0" algn="l">
              <a:buNone/>
            </a:pPr>
            <a:r>
              <a:rPr lang="en-US" sz="1700">
                <a:solidFill>
                  <a:srgbClr val="E5E7EB"/>
                </a:solidFill>
                <a:latin typeface="Cascadia Mono" pitchFamily="34" charset="0"/>
                <a:ea typeface="Cascadia Mono" pitchFamily="34" charset="-122"/>
                <a:cs typeface="Cascadia Mono" pitchFamily="34" charset="-120"/>
              </a:rPr>
              <a:t>./hello</a:t>
            </a:r>
            <a:endParaRPr lang="en-US" sz="1700"/>
          </a:p>
        </p:txBody>
      </p:sp>
      <p:sp>
        <p:nvSpPr>
          <p:cNvPr id="19" name="Text 17"/>
          <p:cNvSpPr/>
          <p:nvPr/>
        </p:nvSpPr>
        <p:spPr>
          <a:xfrm>
            <a:off x="6217920" y="3566160"/>
            <a:ext cx="4572000" cy="68580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Important: an error message is not a failure. It is feedback from the compiler.</a:t>
            </a:r>
            <a:endParaRPr lang="en-US" sz="1350"/>
          </a:p>
        </p:txBody>
      </p:sp>
      <p:sp>
        <p:nvSpPr>
          <p:cNvPr id="20" name="Text 18"/>
          <p:cNvSpPr/>
          <p:nvPr/>
        </p:nvSpPr>
        <p:spPr>
          <a:xfrm>
            <a:off x="6217920" y="4480560"/>
            <a:ext cx="4572000" cy="68580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Class habit: compile often, read the first error carefully, fix one thing at a time.</a:t>
            </a:r>
            <a:endParaRPr lang="en-US" sz="13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Week 1 setup checklist</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Everything must be ready before solving classroom tasks</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22960" y="1325880"/>
            <a:ext cx="1828800" cy="320040"/>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Install</a:t>
            </a:r>
            <a:endParaRPr lang="en-US" sz="1800"/>
          </a:p>
        </p:txBody>
      </p:sp>
      <p:sp>
        <p:nvSpPr>
          <p:cNvPr id="8" name="Text 6"/>
          <p:cNvSpPr/>
          <p:nvPr/>
        </p:nvSpPr>
        <p:spPr>
          <a:xfrm>
            <a:off x="914400" y="1828800"/>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9" name="Text 7"/>
          <p:cNvSpPr/>
          <p:nvPr/>
        </p:nvSpPr>
        <p:spPr>
          <a:xfrm>
            <a:off x="1280160" y="1828800"/>
            <a:ext cx="2377440" cy="292608"/>
          </a:xfrm>
          <a:prstGeom prst="rect">
            <a:avLst/>
          </a:prstGeom>
          <a:noFill/>
          <a:ln/>
        </p:spPr>
        <p:txBody>
          <a:bodyPr wrap="square" lIns="635" tIns="635" rIns="635" bIns="635" rtlCol="0" anchor="ctr">
            <a:normAutofit/>
          </a:bodyPr>
          <a:lstStyle/>
          <a:p>
            <a:pPr marL="0" indent="0" algn="l">
              <a:buNone/>
            </a:pPr>
            <a:r>
              <a:rPr lang="en-US" sz="1550" b="1">
                <a:solidFill>
                  <a:srgbClr val="1F2937"/>
                </a:solidFill>
                <a:latin typeface="Aptos" pitchFamily="34" charset="0"/>
                <a:ea typeface="Aptos" pitchFamily="34" charset="-122"/>
                <a:cs typeface="Aptos" pitchFamily="34" charset="-120"/>
              </a:rPr>
              <a:t>Visual Studio Code</a:t>
            </a:r>
            <a:endParaRPr lang="en-US" sz="1550"/>
          </a:p>
        </p:txBody>
      </p:sp>
      <p:sp>
        <p:nvSpPr>
          <p:cNvPr id="10" name="Text 8"/>
          <p:cNvSpPr/>
          <p:nvPr/>
        </p:nvSpPr>
        <p:spPr>
          <a:xfrm>
            <a:off x="3703320" y="1828800"/>
            <a:ext cx="2834640" cy="292608"/>
          </a:xfrm>
          <a:prstGeom prst="rect">
            <a:avLst/>
          </a:prstGeom>
          <a:noFill/>
          <a:ln/>
        </p:spPr>
        <p:txBody>
          <a:bodyPr wrap="square" lIns="635" tIns="635" rIns="635" bIns="635" rtlCol="0" anchor="ctr">
            <a:normAutofit/>
          </a:bodyPr>
          <a:lstStyle/>
          <a:p>
            <a:pPr marL="0" indent="0" algn="l">
              <a:buNone/>
            </a:pPr>
            <a:r>
              <a:rPr lang="en-US" sz="1350">
                <a:solidFill>
                  <a:srgbClr val="6B7280"/>
                </a:solidFill>
                <a:latin typeface="Aptos" pitchFamily="34" charset="0"/>
                <a:ea typeface="Aptos" pitchFamily="34" charset="-122"/>
                <a:cs typeface="Aptos" pitchFamily="34" charset="-120"/>
              </a:rPr>
              <a:t>Editor</a:t>
            </a:r>
            <a:endParaRPr lang="en-US" sz="1350"/>
          </a:p>
        </p:txBody>
      </p:sp>
      <p:sp>
        <p:nvSpPr>
          <p:cNvPr id="11" name="Text 9"/>
          <p:cNvSpPr/>
          <p:nvPr/>
        </p:nvSpPr>
        <p:spPr>
          <a:xfrm>
            <a:off x="914400" y="2487168"/>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2" name="Text 10"/>
          <p:cNvSpPr/>
          <p:nvPr/>
        </p:nvSpPr>
        <p:spPr>
          <a:xfrm>
            <a:off x="1280160" y="2487168"/>
            <a:ext cx="2377440" cy="292608"/>
          </a:xfrm>
          <a:prstGeom prst="rect">
            <a:avLst/>
          </a:prstGeom>
          <a:noFill/>
          <a:ln/>
        </p:spPr>
        <p:txBody>
          <a:bodyPr wrap="square" lIns="635" tIns="635" rIns="635" bIns="635" rtlCol="0" anchor="ctr">
            <a:normAutofit/>
          </a:bodyPr>
          <a:lstStyle/>
          <a:p>
            <a:pPr marL="0" indent="0" algn="l">
              <a:buNone/>
            </a:pPr>
            <a:r>
              <a:rPr lang="en-US" sz="1550" b="1">
                <a:solidFill>
                  <a:srgbClr val="1F2937"/>
                </a:solidFill>
                <a:latin typeface="Aptos" pitchFamily="34" charset="0"/>
                <a:ea typeface="Aptos" pitchFamily="34" charset="-122"/>
                <a:cs typeface="Aptos" pitchFamily="34" charset="-120"/>
              </a:rPr>
              <a:t>GCC compiler</a:t>
            </a:r>
            <a:endParaRPr lang="en-US" sz="1550"/>
          </a:p>
        </p:txBody>
      </p:sp>
      <p:sp>
        <p:nvSpPr>
          <p:cNvPr id="13" name="Text 11"/>
          <p:cNvSpPr/>
          <p:nvPr/>
        </p:nvSpPr>
        <p:spPr>
          <a:xfrm>
            <a:off x="3703320" y="2487168"/>
            <a:ext cx="2834640" cy="292608"/>
          </a:xfrm>
          <a:prstGeom prst="rect">
            <a:avLst/>
          </a:prstGeom>
          <a:noFill/>
          <a:ln/>
        </p:spPr>
        <p:txBody>
          <a:bodyPr wrap="square" lIns="635" tIns="635" rIns="635" bIns="635" rtlCol="0" anchor="ctr">
            <a:normAutofit/>
          </a:bodyPr>
          <a:lstStyle/>
          <a:p>
            <a:pPr marL="0" indent="0" algn="l">
              <a:buNone/>
            </a:pPr>
            <a:r>
              <a:rPr lang="en-US" sz="1350">
                <a:solidFill>
                  <a:srgbClr val="6B7280"/>
                </a:solidFill>
                <a:latin typeface="Aptos" pitchFamily="34" charset="0"/>
                <a:ea typeface="Aptos" pitchFamily="34" charset="-122"/>
                <a:cs typeface="Aptos" pitchFamily="34" charset="-120"/>
              </a:rPr>
              <a:t>Builds C programs</a:t>
            </a:r>
            <a:endParaRPr lang="en-US" sz="1350"/>
          </a:p>
        </p:txBody>
      </p:sp>
      <p:sp>
        <p:nvSpPr>
          <p:cNvPr id="14" name="Text 12"/>
          <p:cNvSpPr/>
          <p:nvPr/>
        </p:nvSpPr>
        <p:spPr>
          <a:xfrm>
            <a:off x="914400" y="3145536"/>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5" name="Text 13"/>
          <p:cNvSpPr/>
          <p:nvPr/>
        </p:nvSpPr>
        <p:spPr>
          <a:xfrm>
            <a:off x="1280160" y="3145536"/>
            <a:ext cx="2377440" cy="292608"/>
          </a:xfrm>
          <a:prstGeom prst="rect">
            <a:avLst/>
          </a:prstGeom>
          <a:noFill/>
          <a:ln/>
        </p:spPr>
        <p:txBody>
          <a:bodyPr wrap="square" lIns="635" tIns="635" rIns="635" bIns="635" rtlCol="0" anchor="ctr">
            <a:normAutofit/>
          </a:bodyPr>
          <a:lstStyle/>
          <a:p>
            <a:pPr marL="0" indent="0" algn="l">
              <a:buNone/>
            </a:pPr>
            <a:r>
              <a:rPr lang="en-US" sz="1550" b="1">
                <a:solidFill>
                  <a:srgbClr val="1F2937"/>
                </a:solidFill>
                <a:latin typeface="Aptos" pitchFamily="34" charset="0"/>
                <a:ea typeface="Aptos" pitchFamily="34" charset="-122"/>
                <a:cs typeface="Aptos" pitchFamily="34" charset="-120"/>
              </a:rPr>
              <a:t>C/C++ extension</a:t>
            </a:r>
            <a:endParaRPr lang="en-US" sz="1550"/>
          </a:p>
        </p:txBody>
      </p:sp>
      <p:sp>
        <p:nvSpPr>
          <p:cNvPr id="16" name="Text 14"/>
          <p:cNvSpPr/>
          <p:nvPr/>
        </p:nvSpPr>
        <p:spPr>
          <a:xfrm>
            <a:off x="3703320" y="3145536"/>
            <a:ext cx="2834640" cy="292608"/>
          </a:xfrm>
          <a:prstGeom prst="rect">
            <a:avLst/>
          </a:prstGeom>
          <a:noFill/>
          <a:ln/>
        </p:spPr>
        <p:txBody>
          <a:bodyPr wrap="square" lIns="635" tIns="635" rIns="635" bIns="635" rtlCol="0" anchor="ctr">
            <a:normAutofit/>
          </a:bodyPr>
          <a:lstStyle/>
          <a:p>
            <a:pPr marL="0" indent="0" algn="l">
              <a:buNone/>
            </a:pPr>
            <a:r>
              <a:rPr lang="en-US" sz="1350">
                <a:solidFill>
                  <a:srgbClr val="6B7280"/>
                </a:solidFill>
                <a:latin typeface="Aptos" pitchFamily="34" charset="0"/>
                <a:ea typeface="Aptos" pitchFamily="34" charset="-122"/>
                <a:cs typeface="Aptos" pitchFamily="34" charset="-120"/>
              </a:rPr>
              <a:t>Syntax + diagnostics</a:t>
            </a:r>
            <a:endParaRPr lang="en-US" sz="1350"/>
          </a:p>
        </p:txBody>
      </p:sp>
      <p:sp>
        <p:nvSpPr>
          <p:cNvPr id="17" name="Text 15"/>
          <p:cNvSpPr/>
          <p:nvPr/>
        </p:nvSpPr>
        <p:spPr>
          <a:xfrm>
            <a:off x="914400" y="3803904"/>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8" name="Text 16"/>
          <p:cNvSpPr/>
          <p:nvPr/>
        </p:nvSpPr>
        <p:spPr>
          <a:xfrm>
            <a:off x="1280160" y="3803904"/>
            <a:ext cx="2377440" cy="292608"/>
          </a:xfrm>
          <a:prstGeom prst="rect">
            <a:avLst/>
          </a:prstGeom>
          <a:noFill/>
          <a:ln/>
        </p:spPr>
        <p:txBody>
          <a:bodyPr wrap="square" lIns="635" tIns="635" rIns="635" bIns="635" rtlCol="0" anchor="ctr">
            <a:normAutofit/>
          </a:bodyPr>
          <a:lstStyle/>
          <a:p>
            <a:pPr marL="0" indent="0" algn="l">
              <a:buNone/>
            </a:pPr>
            <a:r>
              <a:rPr lang="en-US" sz="1550" b="1">
                <a:solidFill>
                  <a:srgbClr val="1F2937"/>
                </a:solidFill>
                <a:latin typeface="Aptos" pitchFamily="34" charset="0"/>
                <a:ea typeface="Aptos" pitchFamily="34" charset="-122"/>
                <a:cs typeface="Aptos" pitchFamily="34" charset="-120"/>
              </a:rPr>
              <a:t>Terminal access</a:t>
            </a:r>
            <a:endParaRPr lang="en-US" sz="1550"/>
          </a:p>
        </p:txBody>
      </p:sp>
      <p:sp>
        <p:nvSpPr>
          <p:cNvPr id="19" name="Text 17"/>
          <p:cNvSpPr/>
          <p:nvPr/>
        </p:nvSpPr>
        <p:spPr>
          <a:xfrm>
            <a:off x="3703320" y="3803904"/>
            <a:ext cx="2834640" cy="292608"/>
          </a:xfrm>
          <a:prstGeom prst="rect">
            <a:avLst/>
          </a:prstGeom>
          <a:noFill/>
          <a:ln/>
        </p:spPr>
        <p:txBody>
          <a:bodyPr wrap="square" lIns="635" tIns="635" rIns="635" bIns="635" rtlCol="0" anchor="ctr">
            <a:normAutofit/>
          </a:bodyPr>
          <a:lstStyle/>
          <a:p>
            <a:pPr marL="0" indent="0" algn="l">
              <a:buNone/>
            </a:pPr>
            <a:r>
              <a:rPr lang="en-US" sz="1350">
                <a:solidFill>
                  <a:srgbClr val="6B7280"/>
                </a:solidFill>
                <a:latin typeface="Aptos" pitchFamily="34" charset="0"/>
                <a:ea typeface="Aptos" pitchFamily="34" charset="-122"/>
                <a:cs typeface="Aptos" pitchFamily="34" charset="-120"/>
              </a:rPr>
              <a:t>Run commands</a:t>
            </a:r>
            <a:endParaRPr lang="en-US" sz="1350"/>
          </a:p>
        </p:txBody>
      </p:sp>
      <p:sp>
        <p:nvSpPr>
          <p:cNvPr id="20" name="Text 18"/>
          <p:cNvSpPr/>
          <p:nvPr/>
        </p:nvSpPr>
        <p:spPr>
          <a:xfrm>
            <a:off x="914400" y="4462272"/>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21" name="Text 19"/>
          <p:cNvSpPr/>
          <p:nvPr/>
        </p:nvSpPr>
        <p:spPr>
          <a:xfrm>
            <a:off x="1280160" y="4462272"/>
            <a:ext cx="2377440" cy="292608"/>
          </a:xfrm>
          <a:prstGeom prst="rect">
            <a:avLst/>
          </a:prstGeom>
          <a:noFill/>
          <a:ln/>
        </p:spPr>
        <p:txBody>
          <a:bodyPr wrap="square" lIns="635" tIns="635" rIns="635" bIns="635" rtlCol="0" anchor="ctr">
            <a:normAutofit/>
          </a:bodyPr>
          <a:lstStyle/>
          <a:p>
            <a:pPr marL="0" indent="0" algn="l">
              <a:buNone/>
            </a:pPr>
            <a:r>
              <a:rPr lang="en-US" sz="1550" b="1">
                <a:solidFill>
                  <a:srgbClr val="1F2937"/>
                </a:solidFill>
                <a:latin typeface="Aptos" pitchFamily="34" charset="0"/>
                <a:ea typeface="Aptos" pitchFamily="34" charset="-122"/>
                <a:cs typeface="Aptos" pitchFamily="34" charset="-120"/>
              </a:rPr>
              <a:t>Git optional</a:t>
            </a:r>
            <a:endParaRPr lang="en-US" sz="1550"/>
          </a:p>
        </p:txBody>
      </p:sp>
      <p:sp>
        <p:nvSpPr>
          <p:cNvPr id="22" name="Text 20"/>
          <p:cNvSpPr/>
          <p:nvPr/>
        </p:nvSpPr>
        <p:spPr>
          <a:xfrm>
            <a:off x="3703320" y="4462272"/>
            <a:ext cx="2834640" cy="292608"/>
          </a:xfrm>
          <a:prstGeom prst="rect">
            <a:avLst/>
          </a:prstGeom>
          <a:noFill/>
          <a:ln/>
        </p:spPr>
        <p:txBody>
          <a:bodyPr wrap="square" lIns="635" tIns="635" rIns="635" bIns="635" rtlCol="0" anchor="ctr">
            <a:normAutofit/>
          </a:bodyPr>
          <a:lstStyle/>
          <a:p>
            <a:pPr marL="0" indent="0" algn="l">
              <a:buNone/>
            </a:pPr>
            <a:r>
              <a:rPr lang="en-US" sz="1350">
                <a:solidFill>
                  <a:srgbClr val="6B7280"/>
                </a:solidFill>
                <a:latin typeface="Aptos" pitchFamily="34" charset="0"/>
                <a:ea typeface="Aptos" pitchFamily="34" charset="-122"/>
                <a:cs typeface="Aptos" pitchFamily="34" charset="-120"/>
              </a:rPr>
              <a:t>Version control later</a:t>
            </a:r>
            <a:endParaRPr lang="en-US" sz="1350"/>
          </a:p>
        </p:txBody>
      </p:sp>
      <p:sp>
        <p:nvSpPr>
          <p:cNvPr id="23" name="Text 21"/>
          <p:cNvSpPr/>
          <p:nvPr/>
        </p:nvSpPr>
        <p:spPr>
          <a:xfrm>
            <a:off x="6537960" y="1536192"/>
            <a:ext cx="4526280" cy="23317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80">
                <a:solidFill>
                  <a:srgbClr val="E5E7EB"/>
                </a:solidFill>
                <a:latin typeface="Cascadia Mono" pitchFamily="34" charset="0"/>
                <a:ea typeface="Cascadia Mono" pitchFamily="34" charset="-122"/>
                <a:cs typeface="Cascadia Mono" pitchFamily="34" charset="-120"/>
              </a:rPr>
              <a:t>// quick test file: test.c</a:t>
            </a:r>
            <a:endParaRPr lang="en-US" sz="1280"/>
          </a:p>
          <a:p>
            <a:pPr marL="0" indent="0" algn="l">
              <a:buNone/>
            </a:pPr>
            <a:r>
              <a:rPr lang="en-US" sz="1280">
                <a:solidFill>
                  <a:srgbClr val="E5E7EB"/>
                </a:solidFill>
                <a:latin typeface="Cascadia Mono" pitchFamily="34" charset="0"/>
                <a:ea typeface="Cascadia Mono" pitchFamily="34" charset="-122"/>
                <a:cs typeface="Cascadia Mono" pitchFamily="34" charset="-120"/>
              </a:rPr>
              <a:t>#include &lt;stdio.h&gt;</a:t>
            </a:r>
            <a:endParaRPr lang="en-US" sz="1280"/>
          </a:p>
          <a:p>
            <a:pPr marL="0" indent="0" algn="l">
              <a:buNone/>
            </a:pPr>
            <a:endParaRPr lang="en-US" sz="1280"/>
          </a:p>
          <a:p>
            <a:pPr marL="0" indent="0" algn="l">
              <a:buNone/>
            </a:pPr>
            <a:r>
              <a:rPr lang="en-US" sz="1280">
                <a:solidFill>
                  <a:srgbClr val="E5E7EB"/>
                </a:solidFill>
                <a:latin typeface="Cascadia Mono" pitchFamily="34" charset="0"/>
                <a:ea typeface="Cascadia Mono" pitchFamily="34" charset="-122"/>
                <a:cs typeface="Cascadia Mono" pitchFamily="34" charset="-120"/>
              </a:rPr>
              <a:t>int main(void) {</a:t>
            </a:r>
            <a:endParaRPr lang="en-US" sz="1280"/>
          </a:p>
          <a:p>
            <a:pPr marL="0" indent="0" algn="l">
              <a:buNone/>
            </a:pPr>
            <a:r>
              <a:rPr lang="en-US" sz="1280">
                <a:solidFill>
                  <a:srgbClr val="E5E7EB"/>
                </a:solidFill>
                <a:latin typeface="Cascadia Mono" pitchFamily="34" charset="0"/>
                <a:ea typeface="Cascadia Mono" pitchFamily="34" charset="-122"/>
                <a:cs typeface="Cascadia Mono" pitchFamily="34" charset="-120"/>
              </a:rPr>
              <a:t>    printf("C setup works!\n");</a:t>
            </a:r>
            <a:endParaRPr lang="en-US" sz="1280"/>
          </a:p>
          <a:p>
            <a:pPr marL="0" indent="0" algn="l">
              <a:buNone/>
            </a:pPr>
            <a:r>
              <a:rPr lang="en-US" sz="1280">
                <a:solidFill>
                  <a:srgbClr val="E5E7EB"/>
                </a:solidFill>
                <a:latin typeface="Cascadia Mono" pitchFamily="34" charset="0"/>
                <a:ea typeface="Cascadia Mono" pitchFamily="34" charset="-122"/>
                <a:cs typeface="Cascadia Mono" pitchFamily="34" charset="-120"/>
              </a:rPr>
              <a:t>    return 0;</a:t>
            </a:r>
            <a:endParaRPr lang="en-US" sz="1280"/>
          </a:p>
          <a:p>
            <a:pPr marL="0" indent="0" algn="l">
              <a:buNone/>
            </a:pPr>
            <a:r>
              <a:rPr lang="en-US" sz="1280">
                <a:solidFill>
                  <a:srgbClr val="E5E7EB"/>
                </a:solidFill>
                <a:latin typeface="Cascadia Mono" pitchFamily="34" charset="0"/>
                <a:ea typeface="Cascadia Mono" pitchFamily="34" charset="-122"/>
                <a:cs typeface="Cascadia Mono" pitchFamily="34" charset="-120"/>
              </a:rPr>
              <a:t>}</a:t>
            </a:r>
            <a:endParaRPr lang="en-US" sz="1280"/>
          </a:p>
        </p:txBody>
      </p:sp>
      <p:sp>
        <p:nvSpPr>
          <p:cNvPr id="24" name="Text 22"/>
          <p:cNvSpPr/>
          <p:nvPr/>
        </p:nvSpPr>
        <p:spPr>
          <a:xfrm>
            <a:off x="6537960" y="4160520"/>
            <a:ext cx="4526280" cy="786384"/>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600">
                <a:solidFill>
                  <a:srgbClr val="E5E7EB"/>
                </a:solidFill>
                <a:latin typeface="Cascadia Mono" pitchFamily="34" charset="0"/>
                <a:ea typeface="Cascadia Mono" pitchFamily="34" charset="-122"/>
                <a:cs typeface="Cascadia Mono" pitchFamily="34" charset="-120"/>
              </a:rPr>
              <a:t>gcc test.c -o test</a:t>
            </a:r>
            <a:endParaRPr lang="en-US" sz="1600"/>
          </a:p>
          <a:p>
            <a:pPr marL="0" indent="0" algn="l">
              <a:buNone/>
            </a:pPr>
            <a:r>
              <a:rPr lang="en-US" sz="1600">
                <a:solidFill>
                  <a:srgbClr val="E5E7EB"/>
                </a:solidFill>
                <a:latin typeface="Cascadia Mono" pitchFamily="34" charset="0"/>
                <a:ea typeface="Cascadia Mono" pitchFamily="34" charset="-122"/>
                <a:cs typeface="Cascadia Mono" pitchFamily="34" charset="-120"/>
              </a:rPr>
              <a:t>./test</a:t>
            </a:r>
            <a:endParaRPr lang="en-US" sz="1600"/>
          </a:p>
        </p:txBody>
      </p:sp>
      <p:sp>
        <p:nvSpPr>
          <p:cNvPr id="25" name="Text 23"/>
          <p:cNvSpPr/>
          <p:nvPr/>
        </p:nvSpPr>
        <p:spPr>
          <a:xfrm>
            <a:off x="914400" y="5596128"/>
            <a:ext cx="9829800" cy="50292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Checkpoint question: What does gcc produce after a successful compile?</a:t>
            </a:r>
            <a:endParaRPr lang="en-US" sz="13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Command line basics</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A few commands are enough for this course</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68680" y="1417320"/>
            <a:ext cx="2148840" cy="43891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50">
                <a:solidFill>
                  <a:srgbClr val="E5E7EB"/>
                </a:solidFill>
                <a:latin typeface="Cascadia Mono" pitchFamily="34" charset="0"/>
                <a:ea typeface="Cascadia Mono" pitchFamily="34" charset="-122"/>
                <a:cs typeface="Cascadia Mono" pitchFamily="34" charset="-120"/>
              </a:rPr>
              <a:t>pwd</a:t>
            </a:r>
            <a:endParaRPr lang="en-US" sz="1350"/>
          </a:p>
        </p:txBody>
      </p:sp>
      <p:sp>
        <p:nvSpPr>
          <p:cNvPr id="8" name="Text 6"/>
          <p:cNvSpPr/>
          <p:nvPr/>
        </p:nvSpPr>
        <p:spPr>
          <a:xfrm>
            <a:off x="3200400" y="1453896"/>
            <a:ext cx="2743200" cy="310896"/>
          </a:xfrm>
          <a:prstGeom prst="rect">
            <a:avLst/>
          </a:prstGeom>
          <a:noFill/>
          <a:ln/>
        </p:spPr>
        <p:txBody>
          <a:bodyPr wrap="square" lIns="635" tIns="635" rIns="635" bIns="635" rtlCol="0" anchor="ctr">
            <a:normAutofit/>
          </a:bodyPr>
          <a:lstStyle/>
          <a:p>
            <a:pPr marL="0" indent="0" algn="l">
              <a:buNone/>
            </a:pPr>
            <a:r>
              <a:rPr lang="en-US" sz="1380">
                <a:solidFill>
                  <a:srgbClr val="1F2937"/>
                </a:solidFill>
                <a:latin typeface="Aptos" pitchFamily="34" charset="0"/>
                <a:ea typeface="Aptos" pitchFamily="34" charset="-122"/>
                <a:cs typeface="Aptos" pitchFamily="34" charset="-120"/>
              </a:rPr>
              <a:t>Where am I?</a:t>
            </a:r>
            <a:endParaRPr lang="en-US" sz="1380"/>
          </a:p>
        </p:txBody>
      </p:sp>
      <p:sp>
        <p:nvSpPr>
          <p:cNvPr id="9" name="Text 7"/>
          <p:cNvSpPr/>
          <p:nvPr/>
        </p:nvSpPr>
        <p:spPr>
          <a:xfrm>
            <a:off x="868680" y="2423160"/>
            <a:ext cx="2148840" cy="43891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50">
                <a:solidFill>
                  <a:srgbClr val="E5E7EB"/>
                </a:solidFill>
                <a:latin typeface="Cascadia Mono" pitchFamily="34" charset="0"/>
                <a:ea typeface="Cascadia Mono" pitchFamily="34" charset="-122"/>
                <a:cs typeface="Cascadia Mono" pitchFamily="34" charset="-120"/>
              </a:rPr>
              <a:t>ls / dir</a:t>
            </a:r>
            <a:endParaRPr lang="en-US" sz="1350"/>
          </a:p>
        </p:txBody>
      </p:sp>
      <p:sp>
        <p:nvSpPr>
          <p:cNvPr id="10" name="Text 8"/>
          <p:cNvSpPr/>
          <p:nvPr/>
        </p:nvSpPr>
        <p:spPr>
          <a:xfrm>
            <a:off x="3200400" y="2459736"/>
            <a:ext cx="2743200" cy="310896"/>
          </a:xfrm>
          <a:prstGeom prst="rect">
            <a:avLst/>
          </a:prstGeom>
          <a:noFill/>
          <a:ln/>
        </p:spPr>
        <p:txBody>
          <a:bodyPr wrap="square" lIns="635" tIns="635" rIns="635" bIns="635" rtlCol="0" anchor="ctr">
            <a:normAutofit/>
          </a:bodyPr>
          <a:lstStyle/>
          <a:p>
            <a:pPr marL="0" indent="0" algn="l">
              <a:buNone/>
            </a:pPr>
            <a:r>
              <a:rPr lang="en-US" sz="1380">
                <a:solidFill>
                  <a:srgbClr val="1F2937"/>
                </a:solidFill>
                <a:latin typeface="Aptos" pitchFamily="34" charset="0"/>
                <a:ea typeface="Aptos" pitchFamily="34" charset="-122"/>
                <a:cs typeface="Aptos" pitchFamily="34" charset="-120"/>
              </a:rPr>
              <a:t>What files are here?</a:t>
            </a:r>
            <a:endParaRPr lang="en-US" sz="1380"/>
          </a:p>
        </p:txBody>
      </p:sp>
      <p:sp>
        <p:nvSpPr>
          <p:cNvPr id="11" name="Text 9"/>
          <p:cNvSpPr/>
          <p:nvPr/>
        </p:nvSpPr>
        <p:spPr>
          <a:xfrm>
            <a:off x="868680" y="3429000"/>
            <a:ext cx="2148840" cy="43891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50">
                <a:solidFill>
                  <a:srgbClr val="E5E7EB"/>
                </a:solidFill>
                <a:latin typeface="Cascadia Mono" pitchFamily="34" charset="0"/>
                <a:ea typeface="Cascadia Mono" pitchFamily="34" charset="-122"/>
                <a:cs typeface="Cascadia Mono" pitchFamily="34" charset="-120"/>
              </a:rPr>
              <a:t>cd folder</a:t>
            </a:r>
            <a:endParaRPr lang="en-US" sz="1350"/>
          </a:p>
        </p:txBody>
      </p:sp>
      <p:sp>
        <p:nvSpPr>
          <p:cNvPr id="12" name="Text 10"/>
          <p:cNvSpPr/>
          <p:nvPr/>
        </p:nvSpPr>
        <p:spPr>
          <a:xfrm>
            <a:off x="3200400" y="3465576"/>
            <a:ext cx="2743200" cy="310896"/>
          </a:xfrm>
          <a:prstGeom prst="rect">
            <a:avLst/>
          </a:prstGeom>
          <a:noFill/>
          <a:ln/>
        </p:spPr>
        <p:txBody>
          <a:bodyPr wrap="square" lIns="635" tIns="635" rIns="635" bIns="635" rtlCol="0" anchor="ctr">
            <a:normAutofit/>
          </a:bodyPr>
          <a:lstStyle/>
          <a:p>
            <a:pPr marL="0" indent="0" algn="l">
              <a:buNone/>
            </a:pPr>
            <a:r>
              <a:rPr lang="en-US" sz="1380">
                <a:solidFill>
                  <a:srgbClr val="1F2937"/>
                </a:solidFill>
                <a:latin typeface="Aptos" pitchFamily="34" charset="0"/>
                <a:ea typeface="Aptos" pitchFamily="34" charset="-122"/>
                <a:cs typeface="Aptos" pitchFamily="34" charset="-120"/>
              </a:rPr>
              <a:t>Move into a folder</a:t>
            </a:r>
            <a:endParaRPr lang="en-US" sz="1380"/>
          </a:p>
        </p:txBody>
      </p:sp>
      <p:sp>
        <p:nvSpPr>
          <p:cNvPr id="13" name="Text 11"/>
          <p:cNvSpPr/>
          <p:nvPr/>
        </p:nvSpPr>
        <p:spPr>
          <a:xfrm>
            <a:off x="6172200" y="1417320"/>
            <a:ext cx="2148840" cy="43891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50">
                <a:solidFill>
                  <a:srgbClr val="E5E7EB"/>
                </a:solidFill>
                <a:latin typeface="Cascadia Mono" pitchFamily="34" charset="0"/>
                <a:ea typeface="Cascadia Mono" pitchFamily="34" charset="-122"/>
                <a:cs typeface="Cascadia Mono" pitchFamily="34" charset="-120"/>
              </a:rPr>
              <a:t>mkdir week1</a:t>
            </a:r>
            <a:endParaRPr lang="en-US" sz="1350"/>
          </a:p>
        </p:txBody>
      </p:sp>
      <p:sp>
        <p:nvSpPr>
          <p:cNvPr id="14" name="Text 12"/>
          <p:cNvSpPr/>
          <p:nvPr/>
        </p:nvSpPr>
        <p:spPr>
          <a:xfrm>
            <a:off x="8503920" y="1453896"/>
            <a:ext cx="2743200" cy="310896"/>
          </a:xfrm>
          <a:prstGeom prst="rect">
            <a:avLst/>
          </a:prstGeom>
          <a:noFill/>
          <a:ln/>
        </p:spPr>
        <p:txBody>
          <a:bodyPr wrap="square" lIns="635" tIns="635" rIns="635" bIns="635" rtlCol="0" anchor="ctr">
            <a:normAutofit/>
          </a:bodyPr>
          <a:lstStyle/>
          <a:p>
            <a:pPr marL="0" indent="0" algn="l">
              <a:buNone/>
            </a:pPr>
            <a:r>
              <a:rPr lang="en-US" sz="1380">
                <a:solidFill>
                  <a:srgbClr val="1F2937"/>
                </a:solidFill>
                <a:latin typeface="Aptos" pitchFamily="34" charset="0"/>
                <a:ea typeface="Aptos" pitchFamily="34" charset="-122"/>
                <a:cs typeface="Aptos" pitchFamily="34" charset="-120"/>
              </a:rPr>
              <a:t>Create folder</a:t>
            </a:r>
            <a:endParaRPr lang="en-US" sz="1380"/>
          </a:p>
        </p:txBody>
      </p:sp>
      <p:sp>
        <p:nvSpPr>
          <p:cNvPr id="15" name="Text 13"/>
          <p:cNvSpPr/>
          <p:nvPr/>
        </p:nvSpPr>
        <p:spPr>
          <a:xfrm>
            <a:off x="6172200" y="2423160"/>
            <a:ext cx="2148840" cy="43891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50">
                <a:solidFill>
                  <a:srgbClr val="E5E7EB"/>
                </a:solidFill>
                <a:latin typeface="Cascadia Mono" pitchFamily="34" charset="0"/>
                <a:ea typeface="Cascadia Mono" pitchFamily="34" charset="-122"/>
                <a:cs typeface="Cascadia Mono" pitchFamily="34" charset="-120"/>
              </a:rPr>
              <a:t>gcc file.c -o app</a:t>
            </a:r>
            <a:endParaRPr lang="en-US" sz="1350"/>
          </a:p>
        </p:txBody>
      </p:sp>
      <p:sp>
        <p:nvSpPr>
          <p:cNvPr id="16" name="Text 14"/>
          <p:cNvSpPr/>
          <p:nvPr/>
        </p:nvSpPr>
        <p:spPr>
          <a:xfrm>
            <a:off x="8503920" y="2459736"/>
            <a:ext cx="2743200" cy="310896"/>
          </a:xfrm>
          <a:prstGeom prst="rect">
            <a:avLst/>
          </a:prstGeom>
          <a:noFill/>
          <a:ln/>
        </p:spPr>
        <p:txBody>
          <a:bodyPr wrap="square" lIns="635" tIns="635" rIns="635" bIns="635" rtlCol="0" anchor="ctr">
            <a:normAutofit/>
          </a:bodyPr>
          <a:lstStyle/>
          <a:p>
            <a:pPr marL="0" indent="0" algn="l">
              <a:buNone/>
            </a:pPr>
            <a:r>
              <a:rPr lang="en-US" sz="1380">
                <a:solidFill>
                  <a:srgbClr val="1F2937"/>
                </a:solidFill>
                <a:latin typeface="Aptos" pitchFamily="34" charset="0"/>
                <a:ea typeface="Aptos" pitchFamily="34" charset="-122"/>
                <a:cs typeface="Aptos" pitchFamily="34" charset="-120"/>
              </a:rPr>
              <a:t>Compile</a:t>
            </a:r>
            <a:endParaRPr lang="en-US" sz="1380"/>
          </a:p>
        </p:txBody>
      </p:sp>
      <p:sp>
        <p:nvSpPr>
          <p:cNvPr id="17" name="Text 15"/>
          <p:cNvSpPr/>
          <p:nvPr/>
        </p:nvSpPr>
        <p:spPr>
          <a:xfrm>
            <a:off x="6172200" y="3429000"/>
            <a:ext cx="2148840" cy="43891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50">
                <a:solidFill>
                  <a:srgbClr val="E5E7EB"/>
                </a:solidFill>
                <a:latin typeface="Cascadia Mono" pitchFamily="34" charset="0"/>
                <a:ea typeface="Cascadia Mono" pitchFamily="34" charset="-122"/>
                <a:cs typeface="Cascadia Mono" pitchFamily="34" charset="-120"/>
              </a:rPr>
              <a:t>./app</a:t>
            </a:r>
            <a:endParaRPr lang="en-US" sz="1350"/>
          </a:p>
        </p:txBody>
      </p:sp>
      <p:sp>
        <p:nvSpPr>
          <p:cNvPr id="18" name="Text 16"/>
          <p:cNvSpPr/>
          <p:nvPr/>
        </p:nvSpPr>
        <p:spPr>
          <a:xfrm>
            <a:off x="8503920" y="3465576"/>
            <a:ext cx="2743200" cy="310896"/>
          </a:xfrm>
          <a:prstGeom prst="rect">
            <a:avLst/>
          </a:prstGeom>
          <a:noFill/>
          <a:ln/>
        </p:spPr>
        <p:txBody>
          <a:bodyPr wrap="square" lIns="635" tIns="635" rIns="635" bIns="635" rtlCol="0" anchor="ctr">
            <a:normAutofit/>
          </a:bodyPr>
          <a:lstStyle/>
          <a:p>
            <a:pPr marL="0" indent="0" algn="l">
              <a:buNone/>
            </a:pPr>
            <a:r>
              <a:rPr lang="en-US" sz="1380">
                <a:solidFill>
                  <a:srgbClr val="1F2937"/>
                </a:solidFill>
                <a:latin typeface="Aptos" pitchFamily="34" charset="0"/>
                <a:ea typeface="Aptos" pitchFamily="34" charset="-122"/>
                <a:cs typeface="Aptos" pitchFamily="34" charset="-120"/>
              </a:rPr>
              <a:t>Run</a:t>
            </a:r>
            <a:endParaRPr lang="en-US" sz="1380"/>
          </a:p>
        </p:txBody>
      </p:sp>
      <p:sp>
        <p:nvSpPr>
          <p:cNvPr id="19" name="Text 17"/>
          <p:cNvSpPr/>
          <p:nvPr/>
        </p:nvSpPr>
        <p:spPr>
          <a:xfrm>
            <a:off x="914400" y="5029200"/>
            <a:ext cx="9966960" cy="61264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Mini-task: create a folder named c_week1, create hello.c inside it, compile it, and run it.</a:t>
            </a:r>
            <a:endParaRPr lang="en-US" sz="1350"/>
          </a:p>
        </p:txBody>
      </p:sp>
      <p:sp>
        <p:nvSpPr>
          <p:cNvPr id="20" name="Text 18"/>
          <p:cNvSpPr/>
          <p:nvPr/>
        </p:nvSpPr>
        <p:spPr>
          <a:xfrm>
            <a:off x="960120" y="5943600"/>
            <a:ext cx="1554480" cy="228600"/>
          </a:xfrm>
          <a:prstGeom prst="rect">
            <a:avLst/>
          </a:prstGeom>
          <a:noFill/>
          <a:ln/>
        </p:spPr>
        <p:txBody>
          <a:bodyPr wrap="square" lIns="635" tIns="635" rIns="635" bIns="635" rtlCol="0" anchor="ctr">
            <a:normAutofit/>
          </a:bodyPr>
          <a:lstStyle/>
          <a:p>
            <a:pPr marL="0" indent="0" algn="l">
              <a:buNone/>
            </a:pPr>
            <a:r>
              <a:rPr lang="en-US" sz="1200" b="1">
                <a:solidFill>
                  <a:srgbClr val="EB5757"/>
                </a:solidFill>
                <a:latin typeface="Aptos" pitchFamily="34" charset="0"/>
                <a:ea typeface="Aptos" pitchFamily="34" charset="-122"/>
                <a:cs typeface="Aptos" pitchFamily="34" charset="-120"/>
              </a:rPr>
              <a:t>Common mistake</a:t>
            </a:r>
            <a:endParaRPr lang="en-US" sz="1200"/>
          </a:p>
        </p:txBody>
      </p:sp>
      <p:sp>
        <p:nvSpPr>
          <p:cNvPr id="21" name="Text 19"/>
          <p:cNvSpPr/>
          <p:nvPr/>
        </p:nvSpPr>
        <p:spPr>
          <a:xfrm>
            <a:off x="2606040" y="5925312"/>
            <a:ext cx="5669280" cy="228600"/>
          </a:xfrm>
          <a:prstGeom prst="rect">
            <a:avLst/>
          </a:prstGeom>
          <a:noFill/>
          <a:ln/>
        </p:spPr>
        <p:txBody>
          <a:bodyPr wrap="square" lIns="635" tIns="635" rIns="635" bIns="635" rtlCol="0" anchor="ctr">
            <a:normAutofit/>
          </a:bodyPr>
          <a:lstStyle/>
          <a:p>
            <a:pPr marL="0" indent="0" algn="l">
              <a:buNone/>
            </a:pPr>
            <a:r>
              <a:rPr lang="en-US" sz="1250">
                <a:solidFill>
                  <a:srgbClr val="1F2937"/>
                </a:solidFill>
                <a:latin typeface="Aptos" pitchFamily="34" charset="0"/>
                <a:ea typeface="Aptos" pitchFamily="34" charset="-122"/>
                <a:cs typeface="Aptos" pitchFamily="34" charset="-120"/>
              </a:rPr>
              <a:t>Compiling from the wrong folder. Use pwd and ls/dir first.</a:t>
            </a:r>
            <a:endParaRPr lang="en-US" sz="12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First C program: anatomy</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Every symbol has a role</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68680" y="1325880"/>
            <a:ext cx="5120640" cy="292608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700">
                <a:solidFill>
                  <a:srgbClr val="E5E7EB"/>
                </a:solidFill>
                <a:latin typeface="Cascadia Mono" pitchFamily="34" charset="0"/>
                <a:ea typeface="Cascadia Mono" pitchFamily="34" charset="-122"/>
                <a:cs typeface="Cascadia Mono" pitchFamily="34" charset="-120"/>
              </a:rPr>
              <a:t>#include &lt;stdio.h&gt;</a:t>
            </a:r>
            <a:endParaRPr lang="en-US" sz="1700"/>
          </a:p>
          <a:p>
            <a:pPr marL="0" indent="0" algn="l">
              <a:buNone/>
            </a:pPr>
            <a:endParaRPr lang="en-US" sz="1700"/>
          </a:p>
          <a:p>
            <a:pPr marL="0" indent="0" algn="l">
              <a:buNone/>
            </a:pPr>
            <a:r>
              <a:rPr lang="en-US" sz="1700">
                <a:solidFill>
                  <a:srgbClr val="E5E7EB"/>
                </a:solidFill>
                <a:latin typeface="Cascadia Mono" pitchFamily="34" charset="0"/>
                <a:ea typeface="Cascadia Mono" pitchFamily="34" charset="-122"/>
                <a:cs typeface="Cascadia Mono" pitchFamily="34" charset="-120"/>
              </a:rPr>
              <a:t>int main(void) {</a:t>
            </a:r>
            <a:endParaRPr lang="en-US" sz="1700"/>
          </a:p>
          <a:p>
            <a:pPr marL="0" indent="0" algn="l">
              <a:buNone/>
            </a:pPr>
            <a:r>
              <a:rPr lang="en-US" sz="1700">
                <a:solidFill>
                  <a:srgbClr val="E5E7EB"/>
                </a:solidFill>
                <a:latin typeface="Cascadia Mono" pitchFamily="34" charset="0"/>
                <a:ea typeface="Cascadia Mono" pitchFamily="34" charset="-122"/>
                <a:cs typeface="Cascadia Mono" pitchFamily="34" charset="-120"/>
              </a:rPr>
              <a:t>    printf("Hello, ADA!\n");</a:t>
            </a:r>
            <a:endParaRPr lang="en-US" sz="1700"/>
          </a:p>
          <a:p>
            <a:pPr marL="0" indent="0" algn="l">
              <a:buNone/>
            </a:pPr>
            <a:r>
              <a:rPr lang="en-US" sz="1700">
                <a:solidFill>
                  <a:srgbClr val="E5E7EB"/>
                </a:solidFill>
                <a:latin typeface="Cascadia Mono" pitchFamily="34" charset="0"/>
                <a:ea typeface="Cascadia Mono" pitchFamily="34" charset="-122"/>
                <a:cs typeface="Cascadia Mono" pitchFamily="34" charset="-120"/>
              </a:rPr>
              <a:t>    return 0;</a:t>
            </a:r>
            <a:endParaRPr lang="en-US" sz="1700"/>
          </a:p>
          <a:p>
            <a:pPr marL="0" indent="0" algn="l">
              <a:buNone/>
            </a:pPr>
            <a:r>
              <a:rPr lang="en-US" sz="1700">
                <a:solidFill>
                  <a:srgbClr val="E5E7EB"/>
                </a:solidFill>
                <a:latin typeface="Cascadia Mono" pitchFamily="34" charset="0"/>
                <a:ea typeface="Cascadia Mono" pitchFamily="34" charset="-122"/>
                <a:cs typeface="Cascadia Mono" pitchFamily="34" charset="-120"/>
              </a:rPr>
              <a:t>}</a:t>
            </a:r>
            <a:endParaRPr lang="en-US" sz="1700"/>
          </a:p>
        </p:txBody>
      </p:sp>
      <p:sp>
        <p:nvSpPr>
          <p:cNvPr id="8" name="Text 6"/>
          <p:cNvSpPr/>
          <p:nvPr/>
        </p:nvSpPr>
        <p:spPr>
          <a:xfrm>
            <a:off x="6400800" y="1298448"/>
            <a:ext cx="4434840" cy="521208"/>
          </a:xfrm>
          <a:prstGeom prst="rect">
            <a:avLst/>
          </a:prstGeom>
          <a:solidFill>
            <a:srgbClr val="FFFFFF"/>
          </a:solidFill>
          <a:ln w="15240">
            <a:solidFill>
              <a:srgbClr val="2F80ED"/>
            </a:solidFill>
          </a:ln>
        </p:spPr>
        <p:txBody>
          <a:bodyPr wrap="square" lIns="1778" tIns="1778" rIns="1778" bIns="1778" rtlCol="0" anchor="ctr">
            <a:normAutofit/>
          </a:bodyPr>
          <a:lstStyle/>
          <a:p>
            <a:r>
              <a:rPr lang="en-US" sz="1350">
                <a:solidFill>
                  <a:srgbClr val="1F2937"/>
                </a:solidFill>
                <a:latin typeface="Aptos"/>
                <a:ea typeface="Aptos" pitchFamily="34" charset="-122"/>
                <a:cs typeface="Aptos" pitchFamily="34" charset="-120"/>
              </a:rPr>
              <a:t> #include &lt;</a:t>
            </a:r>
            <a:r>
              <a:rPr lang="en-US" sz="1350" err="1">
                <a:solidFill>
                  <a:srgbClr val="1F2937"/>
                </a:solidFill>
                <a:latin typeface="Aptos"/>
                <a:ea typeface="Aptos" pitchFamily="34" charset="-122"/>
                <a:cs typeface="Aptos" pitchFamily="34" charset="-120"/>
              </a:rPr>
              <a:t>stdio.h</a:t>
            </a:r>
            <a:r>
              <a:rPr lang="en-US" sz="1350">
                <a:solidFill>
                  <a:srgbClr val="1F2937"/>
                </a:solidFill>
                <a:latin typeface="Aptos"/>
                <a:ea typeface="Aptos" pitchFamily="34" charset="-122"/>
                <a:cs typeface="Aptos" pitchFamily="34" charset="-120"/>
              </a:rPr>
              <a:t>&gt; gives access to </a:t>
            </a:r>
            <a:r>
              <a:rPr lang="en-US" sz="1350" err="1">
                <a:solidFill>
                  <a:srgbClr val="1F2937"/>
                </a:solidFill>
                <a:latin typeface="Aptos"/>
                <a:ea typeface="Aptos" pitchFamily="34" charset="-122"/>
                <a:cs typeface="Aptos" pitchFamily="34" charset="-120"/>
              </a:rPr>
              <a:t>printf</a:t>
            </a:r>
            <a:r>
              <a:rPr lang="en-US" sz="1350">
                <a:solidFill>
                  <a:srgbClr val="1F2937"/>
                </a:solidFill>
                <a:latin typeface="Aptos"/>
                <a:ea typeface="Aptos" pitchFamily="34" charset="-122"/>
                <a:cs typeface="Aptos" pitchFamily="34" charset="-120"/>
              </a:rPr>
              <a:t> and </a:t>
            </a:r>
            <a:r>
              <a:rPr lang="en-US" sz="1350" err="1">
                <a:solidFill>
                  <a:srgbClr val="1F2937"/>
                </a:solidFill>
                <a:latin typeface="Aptos"/>
                <a:ea typeface="Aptos" pitchFamily="34" charset="-122"/>
                <a:cs typeface="Aptos" pitchFamily="34" charset="-120"/>
              </a:rPr>
              <a:t>scanf</a:t>
            </a:r>
            <a:r>
              <a:rPr lang="en-US" sz="1350">
                <a:solidFill>
                  <a:srgbClr val="1F2937"/>
                </a:solidFill>
                <a:latin typeface="Aptos"/>
                <a:ea typeface="Aptos" pitchFamily="34" charset="-122"/>
                <a:cs typeface="Aptos" pitchFamily="34" charset="-120"/>
              </a:rPr>
              <a:t>.</a:t>
            </a:r>
            <a:endParaRPr lang="en-US" sz="1350">
              <a:latin typeface="Aptos"/>
            </a:endParaRPr>
          </a:p>
        </p:txBody>
      </p:sp>
      <p:sp>
        <p:nvSpPr>
          <p:cNvPr id="9" name="Text 7"/>
          <p:cNvSpPr/>
          <p:nvPr/>
        </p:nvSpPr>
        <p:spPr>
          <a:xfrm>
            <a:off x="6400800" y="2057400"/>
            <a:ext cx="4434840" cy="521208"/>
          </a:xfrm>
          <a:prstGeom prst="rect">
            <a:avLst/>
          </a:prstGeom>
          <a:solidFill>
            <a:srgbClr val="FFFFFF"/>
          </a:solidFill>
          <a:ln w="15240">
            <a:solidFill>
              <a:srgbClr val="27AE60"/>
            </a:solidFill>
          </a:ln>
        </p:spPr>
        <p:txBody>
          <a:bodyPr wrap="square" lIns="1778" tIns="1778" rIns="1778" bIns="1778" rtlCol="0" anchor="ctr">
            <a:normAutofit/>
          </a:bodyPr>
          <a:lstStyle/>
          <a:p>
            <a:r>
              <a:rPr lang="en-US" sz="1350">
                <a:solidFill>
                  <a:srgbClr val="1F2937"/>
                </a:solidFill>
                <a:latin typeface="Aptos"/>
                <a:ea typeface="Aptos" pitchFamily="34" charset="-122"/>
                <a:cs typeface="Aptos" pitchFamily="34" charset="-120"/>
              </a:rPr>
              <a:t> main is where execution starts.</a:t>
            </a:r>
            <a:endParaRPr lang="en-US" sz="1350">
              <a:latin typeface="Aptos"/>
            </a:endParaRPr>
          </a:p>
        </p:txBody>
      </p:sp>
      <p:sp>
        <p:nvSpPr>
          <p:cNvPr id="10" name="Text 8"/>
          <p:cNvSpPr/>
          <p:nvPr/>
        </p:nvSpPr>
        <p:spPr>
          <a:xfrm>
            <a:off x="6400800" y="2816352"/>
            <a:ext cx="4434840" cy="521208"/>
          </a:xfrm>
          <a:prstGeom prst="rect">
            <a:avLst/>
          </a:prstGeom>
          <a:solidFill>
            <a:srgbClr val="FFFFFF"/>
          </a:solidFill>
          <a:ln w="15240">
            <a:solidFill>
              <a:srgbClr val="F2C94C"/>
            </a:solidFill>
          </a:ln>
        </p:spPr>
        <p:txBody>
          <a:bodyPr wrap="square" lIns="1778" tIns="1778" rIns="1778" bIns="1778" rtlCol="0" anchor="ctr">
            <a:normAutofit/>
          </a:bodyPr>
          <a:lstStyle/>
          <a:p>
            <a:r>
              <a:rPr lang="en-US" sz="1350">
                <a:solidFill>
                  <a:srgbClr val="1F2937"/>
                </a:solidFill>
                <a:latin typeface="Aptos"/>
                <a:ea typeface="Aptos" pitchFamily="34" charset="-122"/>
                <a:cs typeface="Aptos" pitchFamily="34" charset="-120"/>
              </a:rPr>
              <a:t> Curly braces { } define the block of code inside main.</a:t>
            </a:r>
            <a:endParaRPr lang="en-US" sz="1350">
              <a:latin typeface="Aptos"/>
            </a:endParaRPr>
          </a:p>
        </p:txBody>
      </p:sp>
      <p:sp>
        <p:nvSpPr>
          <p:cNvPr id="11" name="Text 9"/>
          <p:cNvSpPr/>
          <p:nvPr/>
        </p:nvSpPr>
        <p:spPr>
          <a:xfrm>
            <a:off x="6400800" y="3575304"/>
            <a:ext cx="4434840" cy="521208"/>
          </a:xfrm>
          <a:prstGeom prst="rect">
            <a:avLst/>
          </a:prstGeom>
          <a:solidFill>
            <a:srgbClr val="FFFFFF"/>
          </a:solidFill>
          <a:ln w="15240">
            <a:solidFill>
              <a:srgbClr val="EB5757"/>
            </a:solidFill>
          </a:ln>
        </p:spPr>
        <p:txBody>
          <a:bodyPr wrap="square" lIns="1778" tIns="1778" rIns="1778" bIns="1778" rtlCol="0" anchor="ctr">
            <a:normAutofit/>
          </a:bodyPr>
          <a:lstStyle/>
          <a:p>
            <a:r>
              <a:rPr lang="en-US" sz="1350">
                <a:solidFill>
                  <a:srgbClr val="1F2937"/>
                </a:solidFill>
                <a:latin typeface="Aptos"/>
                <a:ea typeface="Aptos" pitchFamily="34" charset="-122"/>
                <a:cs typeface="Aptos" pitchFamily="34" charset="-120"/>
              </a:rPr>
              <a:t> return 0 means the program finished normally.</a:t>
            </a:r>
            <a:endParaRPr lang="en-US" sz="1350">
              <a:latin typeface="Aptos"/>
            </a:endParaRPr>
          </a:p>
        </p:txBody>
      </p:sp>
      <p:sp>
        <p:nvSpPr>
          <p:cNvPr id="12" name="Text 10"/>
          <p:cNvSpPr/>
          <p:nvPr/>
        </p:nvSpPr>
        <p:spPr>
          <a:xfrm>
            <a:off x="914400" y="5212080"/>
            <a:ext cx="9692640" cy="521208"/>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Quick question: What happens if we forget the semicolon after printf?</a:t>
            </a:r>
            <a:endParaRPr lang="en-US" sz="13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Variables: named boxes in memory</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A variable stores a value so the program can use it later</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1005840" y="1508760"/>
            <a:ext cx="1097280" cy="301752"/>
          </a:xfrm>
          <a:prstGeom prst="rect">
            <a:avLst/>
          </a:prstGeom>
          <a:noFill/>
          <a:ln/>
        </p:spPr>
        <p:txBody>
          <a:bodyPr wrap="square" lIns="635" tIns="635" rIns="635" bIns="635" rtlCol="0" anchor="ctr">
            <a:normAutofit/>
          </a:bodyPr>
          <a:lstStyle/>
          <a:p>
            <a:pPr marL="0" indent="0" algn="ctr">
              <a:buNone/>
            </a:pPr>
            <a:r>
              <a:rPr lang="en-US" sz="1600" b="1">
                <a:solidFill>
                  <a:srgbClr val="1B365D"/>
                </a:solidFill>
                <a:latin typeface="Aptos" pitchFamily="34" charset="0"/>
                <a:ea typeface="Aptos" pitchFamily="34" charset="-122"/>
                <a:cs typeface="Aptos" pitchFamily="34" charset="-120"/>
              </a:rPr>
              <a:t>age</a:t>
            </a:r>
            <a:endParaRPr lang="en-US" sz="1600"/>
          </a:p>
        </p:txBody>
      </p:sp>
      <p:sp>
        <p:nvSpPr>
          <p:cNvPr id="8" name="Text 6"/>
          <p:cNvSpPr/>
          <p:nvPr/>
        </p:nvSpPr>
        <p:spPr>
          <a:xfrm>
            <a:off x="1005840" y="1901952"/>
            <a:ext cx="1097280" cy="594360"/>
          </a:xfrm>
          <a:prstGeom prst="rect">
            <a:avLst/>
          </a:prstGeom>
          <a:solidFill>
            <a:srgbClr val="FFFFFF"/>
          </a:solidFill>
          <a:ln w="19050">
            <a:solidFill>
              <a:srgbClr val="2F80ED"/>
            </a:solidFill>
          </a:ln>
        </p:spPr>
        <p:txBody>
          <a:bodyPr wrap="square" lIns="635" tIns="635" rIns="635" bIns="635" rtlCol="0" anchor="ctr">
            <a:normAutofit/>
          </a:bodyPr>
          <a:lstStyle/>
          <a:p>
            <a:pPr marL="0" indent="0" algn="ctr">
              <a:buNone/>
            </a:pPr>
            <a:r>
              <a:rPr lang="en-US" sz="2800" b="1">
                <a:solidFill>
                  <a:srgbClr val="2F80ED"/>
                </a:solidFill>
                <a:latin typeface="Aptos" pitchFamily="34" charset="0"/>
                <a:ea typeface="Aptos" pitchFamily="34" charset="-122"/>
                <a:cs typeface="Aptos" pitchFamily="34" charset="-120"/>
              </a:rPr>
              <a:t>20</a:t>
            </a:r>
            <a:endParaRPr lang="en-US" sz="2800"/>
          </a:p>
        </p:txBody>
      </p:sp>
      <p:sp>
        <p:nvSpPr>
          <p:cNvPr id="9" name="Text 7"/>
          <p:cNvSpPr/>
          <p:nvPr/>
        </p:nvSpPr>
        <p:spPr>
          <a:xfrm>
            <a:off x="2743200" y="1508760"/>
            <a:ext cx="1097280" cy="301752"/>
          </a:xfrm>
          <a:prstGeom prst="rect">
            <a:avLst/>
          </a:prstGeom>
          <a:noFill/>
          <a:ln/>
        </p:spPr>
        <p:txBody>
          <a:bodyPr wrap="square" lIns="635" tIns="635" rIns="635" bIns="635" rtlCol="0" anchor="ctr">
            <a:normAutofit/>
          </a:bodyPr>
          <a:lstStyle/>
          <a:p>
            <a:pPr marL="0" indent="0" algn="ctr">
              <a:buNone/>
            </a:pPr>
            <a:r>
              <a:rPr lang="en-US" sz="1600" b="1">
                <a:solidFill>
                  <a:srgbClr val="1B365D"/>
                </a:solidFill>
                <a:latin typeface="Aptos" pitchFamily="34" charset="0"/>
                <a:ea typeface="Aptos" pitchFamily="34" charset="-122"/>
                <a:cs typeface="Aptos" pitchFamily="34" charset="-120"/>
              </a:rPr>
              <a:t>price</a:t>
            </a:r>
            <a:endParaRPr lang="en-US" sz="1600"/>
          </a:p>
        </p:txBody>
      </p:sp>
      <p:sp>
        <p:nvSpPr>
          <p:cNvPr id="10" name="Text 8"/>
          <p:cNvSpPr/>
          <p:nvPr/>
        </p:nvSpPr>
        <p:spPr>
          <a:xfrm>
            <a:off x="2743200" y="1901952"/>
            <a:ext cx="1097280" cy="594360"/>
          </a:xfrm>
          <a:prstGeom prst="rect">
            <a:avLst/>
          </a:prstGeom>
          <a:solidFill>
            <a:srgbClr val="FFFFFF"/>
          </a:solidFill>
          <a:ln w="19050">
            <a:solidFill>
              <a:srgbClr val="27AE60"/>
            </a:solidFill>
          </a:ln>
        </p:spPr>
        <p:txBody>
          <a:bodyPr wrap="square" lIns="635" tIns="635" rIns="635" bIns="635" rtlCol="0" anchor="ctr">
            <a:normAutofit/>
          </a:bodyPr>
          <a:lstStyle/>
          <a:p>
            <a:pPr marL="0" indent="0" algn="ctr">
              <a:buNone/>
            </a:pPr>
            <a:r>
              <a:rPr lang="en-US" sz="2400" b="1">
                <a:solidFill>
                  <a:srgbClr val="27AE60"/>
                </a:solidFill>
                <a:latin typeface="Aptos" pitchFamily="34" charset="0"/>
                <a:ea typeface="Aptos" pitchFamily="34" charset="-122"/>
                <a:cs typeface="Aptos" pitchFamily="34" charset="-120"/>
              </a:rPr>
              <a:t>4.75</a:t>
            </a:r>
            <a:endParaRPr lang="en-US" sz="2400"/>
          </a:p>
        </p:txBody>
      </p:sp>
      <p:sp>
        <p:nvSpPr>
          <p:cNvPr id="11" name="Text 9"/>
          <p:cNvSpPr/>
          <p:nvPr/>
        </p:nvSpPr>
        <p:spPr>
          <a:xfrm>
            <a:off x="4480560" y="1508760"/>
            <a:ext cx="1097280" cy="301752"/>
          </a:xfrm>
          <a:prstGeom prst="rect">
            <a:avLst/>
          </a:prstGeom>
          <a:noFill/>
          <a:ln/>
        </p:spPr>
        <p:txBody>
          <a:bodyPr wrap="square" lIns="635" tIns="635" rIns="635" bIns="635" rtlCol="0" anchor="ctr">
            <a:normAutofit/>
          </a:bodyPr>
          <a:lstStyle/>
          <a:p>
            <a:pPr marL="0" indent="0" algn="ctr">
              <a:buNone/>
            </a:pPr>
            <a:r>
              <a:rPr lang="en-US" sz="1600" b="1">
                <a:solidFill>
                  <a:srgbClr val="1B365D"/>
                </a:solidFill>
                <a:latin typeface="Aptos" pitchFamily="34" charset="0"/>
                <a:ea typeface="Aptos" pitchFamily="34" charset="-122"/>
                <a:cs typeface="Aptos" pitchFamily="34" charset="-120"/>
              </a:rPr>
              <a:t>grade</a:t>
            </a:r>
            <a:endParaRPr lang="en-US" sz="1600"/>
          </a:p>
        </p:txBody>
      </p:sp>
      <p:sp>
        <p:nvSpPr>
          <p:cNvPr id="12" name="Text 10"/>
          <p:cNvSpPr/>
          <p:nvPr/>
        </p:nvSpPr>
        <p:spPr>
          <a:xfrm>
            <a:off x="4480560" y="1901952"/>
            <a:ext cx="1097280" cy="594360"/>
          </a:xfrm>
          <a:prstGeom prst="rect">
            <a:avLst/>
          </a:prstGeom>
          <a:solidFill>
            <a:srgbClr val="FFFFFF"/>
          </a:solidFill>
          <a:ln w="19050">
            <a:solidFill>
              <a:srgbClr val="EB5757"/>
            </a:solidFill>
          </a:ln>
        </p:spPr>
        <p:txBody>
          <a:bodyPr wrap="square" lIns="635" tIns="635" rIns="635" bIns="635" rtlCol="0" anchor="ctr">
            <a:normAutofit/>
          </a:bodyPr>
          <a:lstStyle/>
          <a:p>
            <a:pPr marL="0" indent="0" algn="ctr">
              <a:buNone/>
            </a:pPr>
            <a:r>
              <a:rPr lang="en-US" sz="2800" b="1">
                <a:solidFill>
                  <a:srgbClr val="EB5757"/>
                </a:solidFill>
                <a:latin typeface="Aptos" pitchFamily="34" charset="0"/>
                <a:ea typeface="Aptos" pitchFamily="34" charset="-122"/>
                <a:cs typeface="Aptos" pitchFamily="34" charset="-120"/>
              </a:rPr>
              <a:t>A</a:t>
            </a:r>
            <a:endParaRPr lang="en-US" sz="2800"/>
          </a:p>
        </p:txBody>
      </p:sp>
      <p:sp>
        <p:nvSpPr>
          <p:cNvPr id="13" name="Text 11"/>
          <p:cNvSpPr/>
          <p:nvPr/>
        </p:nvSpPr>
        <p:spPr>
          <a:xfrm>
            <a:off x="6537960" y="1389888"/>
            <a:ext cx="4389120" cy="117043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600">
                <a:solidFill>
                  <a:srgbClr val="E5E7EB"/>
                </a:solidFill>
                <a:latin typeface="Cascadia Mono" pitchFamily="34" charset="0"/>
                <a:ea typeface="Cascadia Mono" pitchFamily="34" charset="-122"/>
                <a:cs typeface="Cascadia Mono" pitchFamily="34" charset="-120"/>
              </a:rPr>
              <a:t>int age = 20;</a:t>
            </a:r>
            <a:endParaRPr lang="en-US" sz="1600"/>
          </a:p>
          <a:p>
            <a:pPr marL="0" indent="0" algn="l">
              <a:buNone/>
            </a:pPr>
            <a:r>
              <a:rPr lang="en-US" sz="1600">
                <a:solidFill>
                  <a:srgbClr val="E5E7EB"/>
                </a:solidFill>
                <a:latin typeface="Cascadia Mono" pitchFamily="34" charset="0"/>
                <a:ea typeface="Cascadia Mono" pitchFamily="34" charset="-122"/>
                <a:cs typeface="Cascadia Mono" pitchFamily="34" charset="-120"/>
              </a:rPr>
              <a:t>double price = 4.75;</a:t>
            </a:r>
            <a:endParaRPr lang="en-US" sz="1600"/>
          </a:p>
          <a:p>
            <a:pPr marL="0" indent="0" algn="l">
              <a:buNone/>
            </a:pPr>
            <a:r>
              <a:rPr lang="en-US" sz="1600">
                <a:solidFill>
                  <a:srgbClr val="E5E7EB"/>
                </a:solidFill>
                <a:latin typeface="Cascadia Mono" pitchFamily="34" charset="0"/>
                <a:ea typeface="Cascadia Mono" pitchFamily="34" charset="-122"/>
                <a:cs typeface="Cascadia Mono" pitchFamily="34" charset="-120"/>
              </a:rPr>
              <a:t>char grade = 'A';</a:t>
            </a:r>
            <a:endParaRPr lang="en-US" sz="1600"/>
          </a:p>
        </p:txBody>
      </p:sp>
      <p:sp>
        <p:nvSpPr>
          <p:cNvPr id="14" name="Text 12"/>
          <p:cNvSpPr/>
          <p:nvPr/>
        </p:nvSpPr>
        <p:spPr>
          <a:xfrm>
            <a:off x="914400" y="3657600"/>
            <a:ext cx="4389120" cy="50292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Declaration: creates the variable and gives it a type.</a:t>
            </a:r>
            <a:endParaRPr lang="en-US" sz="1350"/>
          </a:p>
        </p:txBody>
      </p:sp>
      <p:sp>
        <p:nvSpPr>
          <p:cNvPr id="15" name="Text 13"/>
          <p:cNvSpPr/>
          <p:nvPr/>
        </p:nvSpPr>
        <p:spPr>
          <a:xfrm>
            <a:off x="6126480" y="3657600"/>
            <a:ext cx="4389120" cy="50292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Assignment: stores or replaces the value.</a:t>
            </a:r>
            <a:endParaRPr lang="en-US" sz="1350"/>
          </a:p>
        </p:txBody>
      </p:sp>
      <p:sp>
        <p:nvSpPr>
          <p:cNvPr id="16" name="Text 14"/>
          <p:cNvSpPr/>
          <p:nvPr/>
        </p:nvSpPr>
        <p:spPr>
          <a:xfrm>
            <a:off x="1828800" y="4663440"/>
            <a:ext cx="8183880" cy="98755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50">
                <a:solidFill>
                  <a:srgbClr val="E5E7EB"/>
                </a:solidFill>
                <a:latin typeface="Cascadia Mono" pitchFamily="34" charset="0"/>
                <a:ea typeface="Cascadia Mono" pitchFamily="34" charset="-122"/>
                <a:cs typeface="Cascadia Mono" pitchFamily="34" charset="-120"/>
              </a:rPr>
              <a:t>int count;      // declaration</a:t>
            </a:r>
            <a:endParaRPr lang="en-US" sz="1550"/>
          </a:p>
          <a:p>
            <a:pPr marL="0" indent="0" algn="l">
              <a:buNone/>
            </a:pPr>
            <a:r>
              <a:rPr lang="en-US" sz="1550">
                <a:solidFill>
                  <a:srgbClr val="E5E7EB"/>
                </a:solidFill>
                <a:latin typeface="Cascadia Mono" pitchFamily="34" charset="0"/>
                <a:ea typeface="Cascadia Mono" pitchFamily="34" charset="-122"/>
                <a:cs typeface="Cascadia Mono" pitchFamily="34" charset="-120"/>
              </a:rPr>
              <a:t>count = 5;       // assignment</a:t>
            </a:r>
            <a:endParaRPr lang="en-US" sz="1550"/>
          </a:p>
          <a:p>
            <a:pPr marL="0" indent="0" algn="l">
              <a:buNone/>
            </a:pPr>
            <a:r>
              <a:rPr lang="en-US" sz="1550">
                <a:solidFill>
                  <a:srgbClr val="E5E7EB"/>
                </a:solidFill>
                <a:latin typeface="Cascadia Mono" pitchFamily="34" charset="0"/>
                <a:ea typeface="Cascadia Mono" pitchFamily="34" charset="-122"/>
                <a:cs typeface="Cascadia Mono" pitchFamily="34" charset="-120"/>
              </a:rPr>
              <a:t>count = count+1; // update</a:t>
            </a:r>
            <a:endParaRPr lang="en-US" sz="15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The assignment trap</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In C, = does not mean “is equal to”</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68680" y="1417320"/>
            <a:ext cx="4480560" cy="14173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800">
                <a:solidFill>
                  <a:srgbClr val="E5E7EB"/>
                </a:solidFill>
                <a:latin typeface="Cascadia Mono" pitchFamily="34" charset="0"/>
                <a:ea typeface="Cascadia Mono" pitchFamily="34" charset="-122"/>
                <a:cs typeface="Cascadia Mono" pitchFamily="34" charset="-120"/>
              </a:rPr>
              <a:t>int x = 5;</a:t>
            </a:r>
            <a:endParaRPr lang="en-US" sz="1800"/>
          </a:p>
          <a:p>
            <a:pPr marL="0" indent="0" algn="l">
              <a:buNone/>
            </a:pPr>
            <a:r>
              <a:rPr lang="en-US" sz="1800">
                <a:solidFill>
                  <a:srgbClr val="E5E7EB"/>
                </a:solidFill>
                <a:latin typeface="Cascadia Mono" pitchFamily="34" charset="0"/>
                <a:ea typeface="Cascadia Mono" pitchFamily="34" charset="-122"/>
                <a:cs typeface="Cascadia Mono" pitchFamily="34" charset="-120"/>
              </a:rPr>
              <a:t>x = x + 1;</a:t>
            </a:r>
            <a:endParaRPr lang="en-US" sz="1800"/>
          </a:p>
          <a:p>
            <a:pPr marL="0" indent="0" algn="l">
              <a:buNone/>
            </a:pPr>
            <a:r>
              <a:rPr lang="en-US" sz="1800">
                <a:solidFill>
                  <a:srgbClr val="E5E7EB"/>
                </a:solidFill>
                <a:latin typeface="Cascadia Mono" pitchFamily="34" charset="0"/>
                <a:ea typeface="Cascadia Mono" pitchFamily="34" charset="-122"/>
                <a:cs typeface="Cascadia Mono" pitchFamily="34" charset="-120"/>
              </a:rPr>
              <a:t>printf("%d\n", x);</a:t>
            </a:r>
            <a:endParaRPr lang="en-US" sz="1800"/>
          </a:p>
        </p:txBody>
      </p:sp>
      <p:sp>
        <p:nvSpPr>
          <p:cNvPr id="8" name="Text 6"/>
          <p:cNvSpPr/>
          <p:nvPr/>
        </p:nvSpPr>
        <p:spPr>
          <a:xfrm>
            <a:off x="6492240" y="1325880"/>
            <a:ext cx="3657600" cy="320040"/>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Step-by-step execution</a:t>
            </a:r>
            <a:endParaRPr lang="en-US" sz="1800"/>
          </a:p>
        </p:txBody>
      </p:sp>
      <p:sp>
        <p:nvSpPr>
          <p:cNvPr id="9" name="Text 7"/>
          <p:cNvSpPr/>
          <p:nvPr/>
        </p:nvSpPr>
        <p:spPr>
          <a:xfrm>
            <a:off x="6583680" y="1920240"/>
            <a:ext cx="320040" cy="320040"/>
          </a:xfrm>
          <a:prstGeom prst="rect">
            <a:avLst/>
          </a:prstGeom>
          <a:solidFill>
            <a:srgbClr val="2F80ED"/>
          </a:solidFill>
          <a:ln/>
        </p:spPr>
        <p:txBody>
          <a:bodyPr wrap="square" lIns="635" tIns="635" rIns="635" bIns="635" rtlCol="0" anchor="ctr">
            <a:normAutofit/>
          </a:bodyPr>
          <a:lstStyle/>
          <a:p>
            <a:pPr marL="0" indent="0" algn="ctr">
              <a:buNone/>
            </a:pPr>
            <a:r>
              <a:rPr lang="en-US" sz="1600" b="1">
                <a:solidFill>
                  <a:srgbClr val="FFFFFF"/>
                </a:solidFill>
                <a:latin typeface="Aptos" pitchFamily="34" charset="0"/>
                <a:ea typeface="Aptos" pitchFamily="34" charset="-122"/>
                <a:cs typeface="Aptos" pitchFamily="34" charset="-120"/>
              </a:rPr>
              <a:t>1</a:t>
            </a:r>
            <a:endParaRPr lang="en-US" sz="1600"/>
          </a:p>
        </p:txBody>
      </p:sp>
      <p:sp>
        <p:nvSpPr>
          <p:cNvPr id="10" name="Text 8"/>
          <p:cNvSpPr/>
          <p:nvPr/>
        </p:nvSpPr>
        <p:spPr>
          <a:xfrm>
            <a:off x="7040880" y="1938528"/>
            <a:ext cx="2834640" cy="256032"/>
          </a:xfrm>
          <a:prstGeom prst="rect">
            <a:avLst/>
          </a:prstGeom>
          <a:noFill/>
          <a:ln/>
        </p:spPr>
        <p:txBody>
          <a:bodyPr wrap="square" lIns="635" tIns="635" rIns="635" bIns="635" rtlCol="0" anchor="ctr">
            <a:normAutofit/>
          </a:bodyPr>
          <a:lstStyle/>
          <a:p>
            <a:pPr marL="0" indent="0" algn="l">
              <a:buNone/>
            </a:pPr>
            <a:r>
              <a:rPr lang="en-US" sz="1450">
                <a:solidFill>
                  <a:srgbClr val="1F2937"/>
                </a:solidFill>
                <a:latin typeface="Aptos" pitchFamily="34" charset="0"/>
                <a:ea typeface="Aptos" pitchFamily="34" charset="-122"/>
                <a:cs typeface="Aptos" pitchFamily="34" charset="-120"/>
              </a:rPr>
              <a:t>Create x and store 5</a:t>
            </a:r>
            <a:endParaRPr lang="en-US" sz="1450"/>
          </a:p>
        </p:txBody>
      </p:sp>
      <p:sp>
        <p:nvSpPr>
          <p:cNvPr id="11" name="Text 9"/>
          <p:cNvSpPr/>
          <p:nvPr/>
        </p:nvSpPr>
        <p:spPr>
          <a:xfrm>
            <a:off x="6583680" y="2560320"/>
            <a:ext cx="320040" cy="320040"/>
          </a:xfrm>
          <a:prstGeom prst="rect">
            <a:avLst/>
          </a:prstGeom>
          <a:solidFill>
            <a:srgbClr val="27AE60"/>
          </a:solidFill>
          <a:ln/>
        </p:spPr>
        <p:txBody>
          <a:bodyPr wrap="square" lIns="635" tIns="635" rIns="635" bIns="635" rtlCol="0" anchor="ctr">
            <a:normAutofit/>
          </a:bodyPr>
          <a:lstStyle/>
          <a:p>
            <a:pPr marL="0" indent="0" algn="ctr">
              <a:buNone/>
            </a:pPr>
            <a:r>
              <a:rPr lang="en-US" sz="1600" b="1">
                <a:solidFill>
                  <a:srgbClr val="FFFFFF"/>
                </a:solidFill>
                <a:latin typeface="Aptos" pitchFamily="34" charset="0"/>
                <a:ea typeface="Aptos" pitchFamily="34" charset="-122"/>
                <a:cs typeface="Aptos" pitchFamily="34" charset="-120"/>
              </a:rPr>
              <a:t>2</a:t>
            </a:r>
            <a:endParaRPr lang="en-US" sz="1600"/>
          </a:p>
        </p:txBody>
      </p:sp>
      <p:sp>
        <p:nvSpPr>
          <p:cNvPr id="12" name="Text 10"/>
          <p:cNvSpPr/>
          <p:nvPr/>
        </p:nvSpPr>
        <p:spPr>
          <a:xfrm>
            <a:off x="7040880" y="2578608"/>
            <a:ext cx="3840480" cy="256032"/>
          </a:xfrm>
          <a:prstGeom prst="rect">
            <a:avLst/>
          </a:prstGeom>
          <a:noFill/>
          <a:ln/>
        </p:spPr>
        <p:txBody>
          <a:bodyPr wrap="square" lIns="635" tIns="635" rIns="635" bIns="635" rtlCol="0" anchor="ctr">
            <a:normAutofit/>
          </a:bodyPr>
          <a:lstStyle/>
          <a:p>
            <a:pPr marL="0" indent="0" algn="l">
              <a:buNone/>
            </a:pPr>
            <a:r>
              <a:rPr lang="en-US" sz="1450">
                <a:solidFill>
                  <a:srgbClr val="1F2937"/>
                </a:solidFill>
                <a:latin typeface="Aptos" pitchFamily="34" charset="0"/>
                <a:ea typeface="Aptos" pitchFamily="34" charset="-122"/>
                <a:cs typeface="Aptos" pitchFamily="34" charset="-120"/>
              </a:rPr>
              <a:t>Evaluate right side: x + 1 → 6</a:t>
            </a:r>
            <a:endParaRPr lang="en-US" sz="1450"/>
          </a:p>
        </p:txBody>
      </p:sp>
      <p:sp>
        <p:nvSpPr>
          <p:cNvPr id="13" name="Text 11"/>
          <p:cNvSpPr/>
          <p:nvPr/>
        </p:nvSpPr>
        <p:spPr>
          <a:xfrm>
            <a:off x="6583680" y="3200400"/>
            <a:ext cx="320040" cy="320040"/>
          </a:xfrm>
          <a:prstGeom prst="rect">
            <a:avLst/>
          </a:prstGeom>
          <a:solidFill>
            <a:srgbClr val="EB5757"/>
          </a:solidFill>
          <a:ln/>
        </p:spPr>
        <p:txBody>
          <a:bodyPr wrap="square" lIns="635" tIns="635" rIns="635" bIns="635" rtlCol="0" anchor="ctr">
            <a:normAutofit/>
          </a:bodyPr>
          <a:lstStyle/>
          <a:p>
            <a:pPr marL="0" indent="0" algn="ctr">
              <a:buNone/>
            </a:pPr>
            <a:r>
              <a:rPr lang="en-US" sz="1600" b="1">
                <a:solidFill>
                  <a:srgbClr val="FFFFFF"/>
                </a:solidFill>
                <a:latin typeface="Aptos" pitchFamily="34" charset="0"/>
                <a:ea typeface="Aptos" pitchFamily="34" charset="-122"/>
                <a:cs typeface="Aptos" pitchFamily="34" charset="-120"/>
              </a:rPr>
              <a:t>3</a:t>
            </a:r>
            <a:endParaRPr lang="en-US" sz="1600"/>
          </a:p>
        </p:txBody>
      </p:sp>
      <p:sp>
        <p:nvSpPr>
          <p:cNvPr id="14" name="Text 12"/>
          <p:cNvSpPr/>
          <p:nvPr/>
        </p:nvSpPr>
        <p:spPr>
          <a:xfrm>
            <a:off x="7040880" y="3218688"/>
            <a:ext cx="2834640" cy="256032"/>
          </a:xfrm>
          <a:prstGeom prst="rect">
            <a:avLst/>
          </a:prstGeom>
          <a:noFill/>
          <a:ln/>
        </p:spPr>
        <p:txBody>
          <a:bodyPr wrap="square" lIns="635" tIns="635" rIns="635" bIns="635" rtlCol="0" anchor="ctr">
            <a:normAutofit/>
          </a:bodyPr>
          <a:lstStyle/>
          <a:p>
            <a:pPr marL="0" indent="0" algn="l">
              <a:buNone/>
            </a:pPr>
            <a:r>
              <a:rPr lang="en-US" sz="1450">
                <a:solidFill>
                  <a:srgbClr val="1F2937"/>
                </a:solidFill>
                <a:latin typeface="Aptos" pitchFamily="34" charset="0"/>
                <a:ea typeface="Aptos" pitchFamily="34" charset="-122"/>
                <a:cs typeface="Aptos" pitchFamily="34" charset="-120"/>
              </a:rPr>
              <a:t>Store 6 back into x</a:t>
            </a:r>
            <a:endParaRPr lang="en-US" sz="1450"/>
          </a:p>
        </p:txBody>
      </p:sp>
      <p:sp>
        <p:nvSpPr>
          <p:cNvPr id="15" name="Text 13"/>
          <p:cNvSpPr/>
          <p:nvPr/>
        </p:nvSpPr>
        <p:spPr>
          <a:xfrm>
            <a:off x="914400" y="4096512"/>
            <a:ext cx="4297680" cy="521208"/>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Predict: What is printed?</a:t>
            </a:r>
            <a:endParaRPr lang="en-US" sz="1350"/>
          </a:p>
        </p:txBody>
      </p:sp>
      <p:sp>
        <p:nvSpPr>
          <p:cNvPr id="16" name="Text 14"/>
          <p:cNvSpPr/>
          <p:nvPr/>
        </p:nvSpPr>
        <p:spPr>
          <a:xfrm>
            <a:off x="5897880" y="4096512"/>
            <a:ext cx="4480560" cy="52120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Now predict: int y = 3; y = y * 2 + 1;</a:t>
            </a:r>
            <a:endParaRPr lang="en-US" sz="1350"/>
          </a:p>
        </p:txBody>
      </p:sp>
      <p:sp>
        <p:nvSpPr>
          <p:cNvPr id="17" name="Text 15"/>
          <p:cNvSpPr/>
          <p:nvPr/>
        </p:nvSpPr>
        <p:spPr>
          <a:xfrm>
            <a:off x="1143000" y="5486400"/>
            <a:ext cx="9326880" cy="502920"/>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Rule: the right side is calculated first, then the result replaces the left-side variable.</a:t>
            </a:r>
            <a:endParaRPr lang="en-US" sz="13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Standard output: printf</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Printing is how the program communicates results</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22960" y="1325880"/>
            <a:ext cx="5669280" cy="23317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00">
                <a:solidFill>
                  <a:srgbClr val="E5E7EB"/>
                </a:solidFill>
                <a:latin typeface="Cascadia Mono" pitchFamily="34" charset="0"/>
                <a:ea typeface="Cascadia Mono" pitchFamily="34" charset="-122"/>
                <a:cs typeface="Cascadia Mono" pitchFamily="34" charset="-120"/>
              </a:rPr>
              <a:t>int age = 20;</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double gpa = 3.75;</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char letter = 'A';</a:t>
            </a:r>
            <a:endParaRPr lang="en-US" sz="1400"/>
          </a:p>
          <a:p>
            <a:pPr marL="0" indent="0" algn="l">
              <a:buNone/>
            </a:pP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printf("Age: %d\n", age);</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printf("GPA: %.2f\n", gpa);</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printf("Grade: %c\n", letter);</a:t>
            </a:r>
            <a:endParaRPr lang="en-US" sz="1400"/>
          </a:p>
        </p:txBody>
      </p:sp>
      <p:sp>
        <p:nvSpPr>
          <p:cNvPr id="8" name="Text 6"/>
          <p:cNvSpPr/>
          <p:nvPr/>
        </p:nvSpPr>
        <p:spPr>
          <a:xfrm>
            <a:off x="6995160" y="1325880"/>
            <a:ext cx="3566160" cy="320040"/>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Format specifiers</a:t>
            </a:r>
            <a:endParaRPr lang="en-US" sz="1800"/>
          </a:p>
        </p:txBody>
      </p:sp>
      <p:sp>
        <p:nvSpPr>
          <p:cNvPr id="9" name="Text 7"/>
          <p:cNvSpPr/>
          <p:nvPr/>
        </p:nvSpPr>
        <p:spPr>
          <a:xfrm>
            <a:off x="7040880" y="1828800"/>
            <a:ext cx="1097280" cy="30175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50">
                <a:solidFill>
                  <a:srgbClr val="E5E7EB"/>
                </a:solidFill>
                <a:latin typeface="Cascadia Mono" pitchFamily="34" charset="0"/>
                <a:ea typeface="Cascadia Mono" pitchFamily="34" charset="-122"/>
                <a:cs typeface="Cascadia Mono" pitchFamily="34" charset="-120"/>
              </a:rPr>
              <a:t>%d</a:t>
            </a:r>
            <a:endParaRPr lang="en-US" sz="1150"/>
          </a:p>
        </p:txBody>
      </p:sp>
      <p:sp>
        <p:nvSpPr>
          <p:cNvPr id="10" name="Text 8"/>
          <p:cNvSpPr/>
          <p:nvPr/>
        </p:nvSpPr>
        <p:spPr>
          <a:xfrm>
            <a:off x="8412480" y="1865376"/>
            <a:ext cx="2286000" cy="228600"/>
          </a:xfrm>
          <a:prstGeom prst="rect">
            <a:avLst/>
          </a:prstGeom>
          <a:noFill/>
          <a:ln/>
        </p:spPr>
        <p:txBody>
          <a:bodyPr wrap="square" lIns="635" tIns="635" rIns="635" bIns="635" rtlCol="0" anchor="ctr">
            <a:normAutofit/>
          </a:bodyPr>
          <a:lstStyle/>
          <a:p>
            <a:pPr marL="0" indent="0" algn="l">
              <a:buNone/>
            </a:pPr>
            <a:r>
              <a:rPr lang="en-US" sz="1320">
                <a:solidFill>
                  <a:srgbClr val="1F2937"/>
                </a:solidFill>
                <a:latin typeface="Aptos" pitchFamily="34" charset="0"/>
                <a:ea typeface="Aptos" pitchFamily="34" charset="-122"/>
                <a:cs typeface="Aptos" pitchFamily="34" charset="-120"/>
              </a:rPr>
              <a:t>int</a:t>
            </a:r>
            <a:endParaRPr lang="en-US" sz="1320"/>
          </a:p>
        </p:txBody>
      </p:sp>
      <p:sp>
        <p:nvSpPr>
          <p:cNvPr id="11" name="Text 9"/>
          <p:cNvSpPr/>
          <p:nvPr/>
        </p:nvSpPr>
        <p:spPr>
          <a:xfrm>
            <a:off x="7040880" y="2331720"/>
            <a:ext cx="1097280" cy="30175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50">
                <a:solidFill>
                  <a:srgbClr val="E5E7EB"/>
                </a:solidFill>
                <a:latin typeface="Cascadia Mono" pitchFamily="34" charset="0"/>
                <a:ea typeface="Cascadia Mono" pitchFamily="34" charset="-122"/>
                <a:cs typeface="Cascadia Mono" pitchFamily="34" charset="-120"/>
              </a:rPr>
              <a:t>%f</a:t>
            </a:r>
            <a:endParaRPr lang="en-US" sz="1150"/>
          </a:p>
        </p:txBody>
      </p:sp>
      <p:sp>
        <p:nvSpPr>
          <p:cNvPr id="12" name="Text 10"/>
          <p:cNvSpPr/>
          <p:nvPr/>
        </p:nvSpPr>
        <p:spPr>
          <a:xfrm>
            <a:off x="8412480" y="2368296"/>
            <a:ext cx="2286000" cy="228600"/>
          </a:xfrm>
          <a:prstGeom prst="rect">
            <a:avLst/>
          </a:prstGeom>
          <a:noFill/>
          <a:ln/>
        </p:spPr>
        <p:txBody>
          <a:bodyPr wrap="square" lIns="635" tIns="635" rIns="635" bIns="635" rtlCol="0" anchor="ctr">
            <a:normAutofit/>
          </a:bodyPr>
          <a:lstStyle/>
          <a:p>
            <a:pPr marL="0" indent="0" algn="l">
              <a:buNone/>
            </a:pPr>
            <a:r>
              <a:rPr lang="en-US" sz="1320">
                <a:solidFill>
                  <a:srgbClr val="1F2937"/>
                </a:solidFill>
                <a:latin typeface="Aptos" pitchFamily="34" charset="0"/>
                <a:ea typeface="Aptos" pitchFamily="34" charset="-122"/>
                <a:cs typeface="Aptos" pitchFamily="34" charset="-120"/>
              </a:rPr>
              <a:t>float/double</a:t>
            </a:r>
            <a:endParaRPr lang="en-US" sz="1320"/>
          </a:p>
        </p:txBody>
      </p:sp>
      <p:sp>
        <p:nvSpPr>
          <p:cNvPr id="13" name="Text 11"/>
          <p:cNvSpPr/>
          <p:nvPr/>
        </p:nvSpPr>
        <p:spPr>
          <a:xfrm>
            <a:off x="7040880" y="2834640"/>
            <a:ext cx="1097280" cy="30175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50">
                <a:solidFill>
                  <a:srgbClr val="E5E7EB"/>
                </a:solidFill>
                <a:latin typeface="Cascadia Mono" pitchFamily="34" charset="0"/>
                <a:ea typeface="Cascadia Mono" pitchFamily="34" charset="-122"/>
                <a:cs typeface="Cascadia Mono" pitchFamily="34" charset="-120"/>
              </a:rPr>
              <a:t>%.2f</a:t>
            </a:r>
            <a:endParaRPr lang="en-US" sz="1150"/>
          </a:p>
        </p:txBody>
      </p:sp>
      <p:sp>
        <p:nvSpPr>
          <p:cNvPr id="14" name="Text 12"/>
          <p:cNvSpPr/>
          <p:nvPr/>
        </p:nvSpPr>
        <p:spPr>
          <a:xfrm>
            <a:off x="8412480" y="2871216"/>
            <a:ext cx="2286000" cy="228600"/>
          </a:xfrm>
          <a:prstGeom prst="rect">
            <a:avLst/>
          </a:prstGeom>
          <a:noFill/>
          <a:ln/>
        </p:spPr>
        <p:txBody>
          <a:bodyPr wrap="square" lIns="635" tIns="635" rIns="635" bIns="635" rtlCol="0" anchor="ctr">
            <a:normAutofit/>
          </a:bodyPr>
          <a:lstStyle/>
          <a:p>
            <a:pPr marL="0" indent="0" algn="l">
              <a:buNone/>
            </a:pPr>
            <a:r>
              <a:rPr lang="en-US" sz="1320">
                <a:solidFill>
                  <a:srgbClr val="1F2937"/>
                </a:solidFill>
                <a:latin typeface="Aptos" pitchFamily="34" charset="0"/>
                <a:ea typeface="Aptos" pitchFamily="34" charset="-122"/>
                <a:cs typeface="Aptos" pitchFamily="34" charset="-120"/>
              </a:rPr>
              <a:t>2 decimals</a:t>
            </a:r>
            <a:endParaRPr lang="en-US" sz="1320"/>
          </a:p>
        </p:txBody>
      </p:sp>
      <p:sp>
        <p:nvSpPr>
          <p:cNvPr id="15" name="Text 13"/>
          <p:cNvSpPr/>
          <p:nvPr/>
        </p:nvSpPr>
        <p:spPr>
          <a:xfrm>
            <a:off x="7040880" y="3337560"/>
            <a:ext cx="1097280" cy="30175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50">
                <a:solidFill>
                  <a:srgbClr val="E5E7EB"/>
                </a:solidFill>
                <a:latin typeface="Cascadia Mono" pitchFamily="34" charset="0"/>
                <a:ea typeface="Cascadia Mono" pitchFamily="34" charset="-122"/>
                <a:cs typeface="Cascadia Mono" pitchFamily="34" charset="-120"/>
              </a:rPr>
              <a:t>%c</a:t>
            </a:r>
            <a:endParaRPr lang="en-US" sz="1150"/>
          </a:p>
        </p:txBody>
      </p:sp>
      <p:sp>
        <p:nvSpPr>
          <p:cNvPr id="16" name="Text 14"/>
          <p:cNvSpPr/>
          <p:nvPr/>
        </p:nvSpPr>
        <p:spPr>
          <a:xfrm>
            <a:off x="8412480" y="3374136"/>
            <a:ext cx="2286000" cy="228600"/>
          </a:xfrm>
          <a:prstGeom prst="rect">
            <a:avLst/>
          </a:prstGeom>
          <a:noFill/>
          <a:ln/>
        </p:spPr>
        <p:txBody>
          <a:bodyPr wrap="square" lIns="635" tIns="635" rIns="635" bIns="635" rtlCol="0" anchor="ctr">
            <a:normAutofit/>
          </a:bodyPr>
          <a:lstStyle/>
          <a:p>
            <a:pPr marL="0" indent="0" algn="l">
              <a:buNone/>
            </a:pPr>
            <a:r>
              <a:rPr lang="en-US" sz="1320">
                <a:solidFill>
                  <a:srgbClr val="1F2937"/>
                </a:solidFill>
                <a:latin typeface="Aptos" pitchFamily="34" charset="0"/>
                <a:ea typeface="Aptos" pitchFamily="34" charset="-122"/>
                <a:cs typeface="Aptos" pitchFamily="34" charset="-120"/>
              </a:rPr>
              <a:t>character</a:t>
            </a:r>
            <a:endParaRPr lang="en-US" sz="1320"/>
          </a:p>
        </p:txBody>
      </p:sp>
      <p:sp>
        <p:nvSpPr>
          <p:cNvPr id="17" name="Text 15"/>
          <p:cNvSpPr/>
          <p:nvPr/>
        </p:nvSpPr>
        <p:spPr>
          <a:xfrm>
            <a:off x="7040880" y="3840480"/>
            <a:ext cx="1097280" cy="30175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50">
                <a:solidFill>
                  <a:srgbClr val="E5E7EB"/>
                </a:solidFill>
                <a:latin typeface="Cascadia Mono" pitchFamily="34" charset="0"/>
                <a:ea typeface="Cascadia Mono" pitchFamily="34" charset="-122"/>
                <a:cs typeface="Cascadia Mono" pitchFamily="34" charset="-120"/>
              </a:rPr>
              <a:t>%s</a:t>
            </a:r>
            <a:endParaRPr lang="en-US" sz="1150"/>
          </a:p>
        </p:txBody>
      </p:sp>
      <p:sp>
        <p:nvSpPr>
          <p:cNvPr id="18" name="Text 16"/>
          <p:cNvSpPr/>
          <p:nvPr/>
        </p:nvSpPr>
        <p:spPr>
          <a:xfrm>
            <a:off x="8412480" y="3877056"/>
            <a:ext cx="2286000" cy="228600"/>
          </a:xfrm>
          <a:prstGeom prst="rect">
            <a:avLst/>
          </a:prstGeom>
          <a:noFill/>
          <a:ln/>
        </p:spPr>
        <p:txBody>
          <a:bodyPr wrap="square" lIns="635" tIns="635" rIns="635" bIns="635" rtlCol="0" anchor="ctr">
            <a:normAutofit/>
          </a:bodyPr>
          <a:lstStyle/>
          <a:p>
            <a:pPr marL="0" indent="0" algn="l">
              <a:buNone/>
            </a:pPr>
            <a:r>
              <a:rPr lang="en-US" sz="1320">
                <a:solidFill>
                  <a:srgbClr val="1F2937"/>
                </a:solidFill>
                <a:latin typeface="Aptos" pitchFamily="34" charset="0"/>
                <a:ea typeface="Aptos" pitchFamily="34" charset="-122"/>
                <a:cs typeface="Aptos" pitchFamily="34" charset="-120"/>
              </a:rPr>
              <a:t>string later</a:t>
            </a:r>
            <a:endParaRPr lang="en-US" sz="1320"/>
          </a:p>
        </p:txBody>
      </p:sp>
      <p:sp>
        <p:nvSpPr>
          <p:cNvPr id="19" name="Text 17"/>
          <p:cNvSpPr/>
          <p:nvPr/>
        </p:nvSpPr>
        <p:spPr>
          <a:xfrm>
            <a:off x="914400" y="4617720"/>
            <a:ext cx="9875520" cy="50292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Question: Which line prints exactly two digits after the decimal point?</a:t>
            </a:r>
            <a:endParaRPr lang="en-US" sz="1350"/>
          </a:p>
        </p:txBody>
      </p:sp>
      <p:sp>
        <p:nvSpPr>
          <p:cNvPr id="20" name="Text 18"/>
          <p:cNvSpPr/>
          <p:nvPr/>
        </p:nvSpPr>
        <p:spPr>
          <a:xfrm>
            <a:off x="960120" y="5669280"/>
            <a:ext cx="8229600" cy="292608"/>
          </a:xfrm>
          <a:prstGeom prst="rect">
            <a:avLst/>
          </a:prstGeom>
          <a:noFill/>
          <a:ln/>
        </p:spPr>
        <p:txBody>
          <a:bodyPr wrap="square" lIns="635" tIns="635" rIns="635" bIns="635" rtlCol="0" anchor="ctr">
            <a:normAutofit/>
          </a:bodyPr>
          <a:lstStyle/>
          <a:p>
            <a:pPr marL="0" indent="0" algn="l">
              <a:buNone/>
            </a:pPr>
            <a:r>
              <a:rPr lang="en-US" sz="1550" b="1">
                <a:solidFill>
                  <a:srgbClr val="1B365D"/>
                </a:solidFill>
                <a:latin typeface="Aptos" pitchFamily="34" charset="0"/>
                <a:ea typeface="Aptos" pitchFamily="34" charset="-122"/>
                <a:cs typeface="Aptos" pitchFamily="34" charset="-120"/>
              </a:rPr>
              <a:t>Style habit: Always print labels, not just raw numbers.</a:t>
            </a:r>
            <a:endParaRPr lang="en-US" sz="15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Standard input: scanf</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Reading input means copying user data into variables</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22960" y="1325880"/>
            <a:ext cx="5166360" cy="23317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50">
                <a:solidFill>
                  <a:srgbClr val="E5E7EB"/>
                </a:solidFill>
                <a:latin typeface="Cascadia Mono" pitchFamily="34" charset="0"/>
                <a:ea typeface="Cascadia Mono" pitchFamily="34" charset="-122"/>
                <a:cs typeface="Cascadia Mono" pitchFamily="34" charset="-120"/>
              </a:rPr>
              <a:t>int age;</a:t>
            </a:r>
            <a:endParaRPr lang="en-US" sz="1450"/>
          </a:p>
          <a:p>
            <a:pPr marL="0" indent="0" algn="l">
              <a:buNone/>
            </a:pPr>
            <a:r>
              <a:rPr lang="en-US" sz="1450">
                <a:solidFill>
                  <a:srgbClr val="E5E7EB"/>
                </a:solidFill>
                <a:latin typeface="Cascadia Mono" pitchFamily="34" charset="0"/>
                <a:ea typeface="Cascadia Mono" pitchFamily="34" charset="-122"/>
                <a:cs typeface="Cascadia Mono" pitchFamily="34" charset="-120"/>
              </a:rPr>
              <a:t>double height;</a:t>
            </a:r>
            <a:endParaRPr lang="en-US" sz="1450"/>
          </a:p>
          <a:p>
            <a:pPr marL="0" indent="0" algn="l">
              <a:buNone/>
            </a:pPr>
            <a:endParaRPr lang="en-US" sz="1450"/>
          </a:p>
          <a:p>
            <a:pPr marL="0" indent="0" algn="l">
              <a:buNone/>
            </a:pPr>
            <a:r>
              <a:rPr lang="en-US" sz="1450">
                <a:solidFill>
                  <a:srgbClr val="E5E7EB"/>
                </a:solidFill>
                <a:latin typeface="Cascadia Mono" pitchFamily="34" charset="0"/>
                <a:ea typeface="Cascadia Mono" pitchFamily="34" charset="-122"/>
                <a:cs typeface="Cascadia Mono" pitchFamily="34" charset="-120"/>
              </a:rPr>
              <a:t>printf("Enter age: ");</a:t>
            </a:r>
            <a:endParaRPr lang="en-US" sz="1450"/>
          </a:p>
          <a:p>
            <a:pPr marL="0" indent="0" algn="l">
              <a:buNone/>
            </a:pPr>
            <a:r>
              <a:rPr lang="en-US" sz="1450">
                <a:solidFill>
                  <a:srgbClr val="E5E7EB"/>
                </a:solidFill>
                <a:latin typeface="Cascadia Mono" pitchFamily="34" charset="0"/>
                <a:ea typeface="Cascadia Mono" pitchFamily="34" charset="-122"/>
                <a:cs typeface="Cascadia Mono" pitchFamily="34" charset="-120"/>
              </a:rPr>
              <a:t>scanf("%d", &amp;age);</a:t>
            </a:r>
            <a:endParaRPr lang="en-US" sz="1450"/>
          </a:p>
          <a:p>
            <a:pPr marL="0" indent="0" algn="l">
              <a:buNone/>
            </a:pPr>
            <a:endParaRPr lang="en-US" sz="1450"/>
          </a:p>
          <a:p>
            <a:pPr marL="0" indent="0" algn="l">
              <a:buNone/>
            </a:pPr>
            <a:r>
              <a:rPr lang="en-US" sz="1450">
                <a:solidFill>
                  <a:srgbClr val="E5E7EB"/>
                </a:solidFill>
                <a:latin typeface="Cascadia Mono" pitchFamily="34" charset="0"/>
                <a:ea typeface="Cascadia Mono" pitchFamily="34" charset="-122"/>
                <a:cs typeface="Cascadia Mono" pitchFamily="34" charset="-120"/>
              </a:rPr>
              <a:t>printf("Enter height: ");</a:t>
            </a:r>
            <a:endParaRPr lang="en-US" sz="1450"/>
          </a:p>
          <a:p>
            <a:pPr marL="0" indent="0" algn="l">
              <a:buNone/>
            </a:pPr>
            <a:r>
              <a:rPr lang="en-US" sz="1450">
                <a:solidFill>
                  <a:srgbClr val="E5E7EB"/>
                </a:solidFill>
                <a:latin typeface="Cascadia Mono" pitchFamily="34" charset="0"/>
                <a:ea typeface="Cascadia Mono" pitchFamily="34" charset="-122"/>
                <a:cs typeface="Cascadia Mono" pitchFamily="34" charset="-120"/>
              </a:rPr>
              <a:t>scanf("%lf", &amp;height);</a:t>
            </a:r>
            <a:endParaRPr lang="en-US" sz="1450"/>
          </a:p>
        </p:txBody>
      </p:sp>
      <p:sp>
        <p:nvSpPr>
          <p:cNvPr id="8" name="Text 6"/>
          <p:cNvSpPr/>
          <p:nvPr/>
        </p:nvSpPr>
        <p:spPr>
          <a:xfrm>
            <a:off x="6400800" y="1353312"/>
            <a:ext cx="4389120" cy="566928"/>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scanf needs the address of the variable. That is why we write &amp;age.</a:t>
            </a:r>
            <a:endParaRPr lang="en-US" sz="1350"/>
          </a:p>
        </p:txBody>
      </p:sp>
      <p:sp>
        <p:nvSpPr>
          <p:cNvPr id="9" name="Text 7"/>
          <p:cNvSpPr/>
          <p:nvPr/>
        </p:nvSpPr>
        <p:spPr>
          <a:xfrm>
            <a:off x="6400800" y="2148840"/>
            <a:ext cx="4389120" cy="56692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For double input, use %lf in scanf. For printf, %.2f is fine.</a:t>
            </a:r>
            <a:endParaRPr lang="en-US" sz="1350"/>
          </a:p>
        </p:txBody>
      </p:sp>
      <p:sp>
        <p:nvSpPr>
          <p:cNvPr id="10" name="Text 8"/>
          <p:cNvSpPr/>
          <p:nvPr/>
        </p:nvSpPr>
        <p:spPr>
          <a:xfrm>
            <a:off x="6400800" y="2944368"/>
            <a:ext cx="4389120" cy="566928"/>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Common beginner bug: forgetting &amp; before the variable name.</a:t>
            </a:r>
            <a:endParaRPr lang="en-US" sz="1350"/>
          </a:p>
        </p:txBody>
      </p:sp>
      <p:sp>
        <p:nvSpPr>
          <p:cNvPr id="11" name="Text 9"/>
          <p:cNvSpPr/>
          <p:nvPr/>
        </p:nvSpPr>
        <p:spPr>
          <a:xfrm>
            <a:off x="1143000" y="4709160"/>
            <a:ext cx="5029200" cy="74980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50">
                <a:solidFill>
                  <a:srgbClr val="E5E7EB"/>
                </a:solidFill>
                <a:latin typeface="Cascadia Mono" pitchFamily="34" charset="0"/>
                <a:ea typeface="Cascadia Mono" pitchFamily="34" charset="-122"/>
                <a:cs typeface="Cascadia Mono" pitchFamily="34" charset="-120"/>
              </a:rPr>
              <a:t>scanf("%d", age);  // wrong</a:t>
            </a:r>
            <a:endParaRPr lang="en-US" sz="1550"/>
          </a:p>
          <a:p>
            <a:pPr marL="0" indent="0" algn="l">
              <a:buNone/>
            </a:pPr>
            <a:r>
              <a:rPr lang="en-US" sz="1550">
                <a:solidFill>
                  <a:srgbClr val="E5E7EB"/>
                </a:solidFill>
                <a:latin typeface="Cascadia Mono" pitchFamily="34" charset="0"/>
                <a:ea typeface="Cascadia Mono" pitchFamily="34" charset="-122"/>
                <a:cs typeface="Cascadia Mono" pitchFamily="34" charset="-120"/>
              </a:rPr>
              <a:t>scanf("%d", &amp;age); // correct</a:t>
            </a:r>
            <a:endParaRPr lang="en-US" sz="1550"/>
          </a:p>
        </p:txBody>
      </p:sp>
      <p:sp>
        <p:nvSpPr>
          <p:cNvPr id="12" name="Text 10"/>
          <p:cNvSpPr/>
          <p:nvPr/>
        </p:nvSpPr>
        <p:spPr>
          <a:xfrm>
            <a:off x="6446520" y="4645152"/>
            <a:ext cx="4343400" cy="685800"/>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Predict: What two values are stored if the user enters: 19 1.82 ?</a:t>
            </a:r>
            <a:endParaRPr lang="en-US" sz="13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Expressions and operators</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C calculates expressions using operator rules</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22960" y="1325880"/>
            <a:ext cx="4892040" cy="242316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00">
                <a:solidFill>
                  <a:srgbClr val="E5E7EB"/>
                </a:solidFill>
                <a:latin typeface="Cascadia Mono" pitchFamily="34" charset="0"/>
                <a:ea typeface="Cascadia Mono" pitchFamily="34" charset="-122"/>
                <a:cs typeface="Cascadia Mono" pitchFamily="34" charset="-120"/>
              </a:rPr>
              <a:t>int a = 7;</a:t>
            </a:r>
            <a:endParaRPr lang="en-US" sz="1500"/>
          </a:p>
          <a:p>
            <a:pPr marL="0" indent="0" algn="l">
              <a:buNone/>
            </a:pPr>
            <a:r>
              <a:rPr lang="en-US" sz="1500">
                <a:solidFill>
                  <a:srgbClr val="E5E7EB"/>
                </a:solidFill>
                <a:latin typeface="Cascadia Mono" pitchFamily="34" charset="0"/>
                <a:ea typeface="Cascadia Mono" pitchFamily="34" charset="-122"/>
                <a:cs typeface="Cascadia Mono" pitchFamily="34" charset="-120"/>
              </a:rPr>
              <a:t>int b = 3;</a:t>
            </a:r>
            <a:endParaRPr lang="en-US" sz="1500"/>
          </a:p>
          <a:p>
            <a:pPr marL="0" indent="0" algn="l">
              <a:buNone/>
            </a:pPr>
            <a:endParaRPr lang="en-US" sz="1500"/>
          </a:p>
          <a:p>
            <a:pPr marL="0" indent="0" algn="l">
              <a:buNone/>
            </a:pPr>
            <a:r>
              <a:rPr lang="en-US" sz="1500">
                <a:solidFill>
                  <a:srgbClr val="E5E7EB"/>
                </a:solidFill>
                <a:latin typeface="Cascadia Mono" pitchFamily="34" charset="0"/>
                <a:ea typeface="Cascadia Mono" pitchFamily="34" charset="-122"/>
                <a:cs typeface="Cascadia Mono" pitchFamily="34" charset="-120"/>
              </a:rPr>
              <a:t>printf("%d\n", a + b);</a:t>
            </a:r>
            <a:endParaRPr lang="en-US" sz="1500"/>
          </a:p>
          <a:p>
            <a:pPr marL="0" indent="0" algn="l">
              <a:buNone/>
            </a:pPr>
            <a:r>
              <a:rPr lang="en-US" sz="1500">
                <a:solidFill>
                  <a:srgbClr val="E5E7EB"/>
                </a:solidFill>
                <a:latin typeface="Cascadia Mono" pitchFamily="34" charset="0"/>
                <a:ea typeface="Cascadia Mono" pitchFamily="34" charset="-122"/>
                <a:cs typeface="Cascadia Mono" pitchFamily="34" charset="-120"/>
              </a:rPr>
              <a:t>printf("%d\n", a / b);</a:t>
            </a:r>
            <a:endParaRPr lang="en-US" sz="1500"/>
          </a:p>
          <a:p>
            <a:pPr marL="0" indent="0" algn="l">
              <a:buNone/>
            </a:pPr>
            <a:r>
              <a:rPr lang="en-US" sz="1500">
                <a:solidFill>
                  <a:srgbClr val="E5E7EB"/>
                </a:solidFill>
                <a:latin typeface="Cascadia Mono" pitchFamily="34" charset="0"/>
                <a:ea typeface="Cascadia Mono" pitchFamily="34" charset="-122"/>
                <a:cs typeface="Cascadia Mono" pitchFamily="34" charset="-120"/>
              </a:rPr>
              <a:t>printf("%d\n", a % b);</a:t>
            </a:r>
            <a:endParaRPr lang="en-US" sz="1500"/>
          </a:p>
          <a:p>
            <a:pPr marL="0" indent="0" algn="l">
              <a:buNone/>
            </a:pPr>
            <a:r>
              <a:rPr lang="en-US" sz="1500">
                <a:solidFill>
                  <a:srgbClr val="E5E7EB"/>
                </a:solidFill>
                <a:latin typeface="Cascadia Mono" pitchFamily="34" charset="0"/>
                <a:ea typeface="Cascadia Mono" pitchFamily="34" charset="-122"/>
                <a:cs typeface="Cascadia Mono" pitchFamily="34" charset="-120"/>
              </a:rPr>
              <a:t>printf("%d\n", 2 + 3 * 4);</a:t>
            </a:r>
            <a:endParaRPr lang="en-US" sz="1500"/>
          </a:p>
        </p:txBody>
      </p:sp>
      <p:sp>
        <p:nvSpPr>
          <p:cNvPr id="8" name="Text 6"/>
          <p:cNvSpPr/>
          <p:nvPr/>
        </p:nvSpPr>
        <p:spPr>
          <a:xfrm>
            <a:off x="6492240" y="1325880"/>
            <a:ext cx="3383280" cy="320040"/>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What prints?</a:t>
            </a:r>
            <a:endParaRPr lang="en-US" sz="1800"/>
          </a:p>
        </p:txBody>
      </p:sp>
      <p:sp>
        <p:nvSpPr>
          <p:cNvPr id="9" name="Text 7"/>
          <p:cNvSpPr/>
          <p:nvPr/>
        </p:nvSpPr>
        <p:spPr>
          <a:xfrm>
            <a:off x="6583680" y="1828800"/>
            <a:ext cx="3200400" cy="292608"/>
          </a:xfrm>
          <a:prstGeom prst="rect">
            <a:avLst/>
          </a:prstGeom>
          <a:solidFill>
            <a:srgbClr val="FFFFFF"/>
          </a:solidFill>
          <a:ln>
            <a:solidFill>
              <a:srgbClr val="D7DEE8"/>
            </a:solidFill>
          </a:ln>
        </p:spPr>
        <p:txBody>
          <a:bodyPr wrap="square" lIns="635" tIns="635" rIns="635" bIns="635" rtlCol="0" anchor="ctr">
            <a:normAutofit/>
          </a:bodyPr>
          <a:lstStyle/>
          <a:p>
            <a:pPr marL="0" indent="0" algn="l">
              <a:buNone/>
            </a:pPr>
            <a:r>
              <a:rPr lang="en-US" sz="1530">
                <a:solidFill>
                  <a:srgbClr val="1F2937"/>
                </a:solidFill>
                <a:latin typeface="Aptos" pitchFamily="34" charset="0"/>
                <a:ea typeface="Aptos" pitchFamily="34" charset="-122"/>
                <a:cs typeface="Aptos" pitchFamily="34" charset="-120"/>
              </a:rPr>
              <a:t>a + b → ?</a:t>
            </a:r>
            <a:endParaRPr lang="en-US" sz="1530"/>
          </a:p>
        </p:txBody>
      </p:sp>
      <p:sp>
        <p:nvSpPr>
          <p:cNvPr id="10" name="Text 8"/>
          <p:cNvSpPr/>
          <p:nvPr/>
        </p:nvSpPr>
        <p:spPr>
          <a:xfrm>
            <a:off x="6583680" y="2359152"/>
            <a:ext cx="3200400" cy="292608"/>
          </a:xfrm>
          <a:prstGeom prst="rect">
            <a:avLst/>
          </a:prstGeom>
          <a:solidFill>
            <a:srgbClr val="FFFFFF"/>
          </a:solidFill>
          <a:ln>
            <a:solidFill>
              <a:srgbClr val="D7DEE8"/>
            </a:solidFill>
          </a:ln>
        </p:spPr>
        <p:txBody>
          <a:bodyPr wrap="square" lIns="635" tIns="635" rIns="635" bIns="635" rtlCol="0" anchor="ctr">
            <a:normAutofit/>
          </a:bodyPr>
          <a:lstStyle/>
          <a:p>
            <a:pPr marL="0" indent="0" algn="l">
              <a:buNone/>
            </a:pPr>
            <a:r>
              <a:rPr lang="en-US" sz="1530">
                <a:solidFill>
                  <a:srgbClr val="1F2937"/>
                </a:solidFill>
                <a:latin typeface="Aptos" pitchFamily="34" charset="0"/>
                <a:ea typeface="Aptos" pitchFamily="34" charset="-122"/>
                <a:cs typeface="Aptos" pitchFamily="34" charset="-120"/>
              </a:rPr>
              <a:t>a / b → ?</a:t>
            </a:r>
            <a:endParaRPr lang="en-US" sz="1530"/>
          </a:p>
        </p:txBody>
      </p:sp>
      <p:sp>
        <p:nvSpPr>
          <p:cNvPr id="11" name="Text 9"/>
          <p:cNvSpPr/>
          <p:nvPr/>
        </p:nvSpPr>
        <p:spPr>
          <a:xfrm>
            <a:off x="6583680" y="2889504"/>
            <a:ext cx="3200400" cy="292608"/>
          </a:xfrm>
          <a:prstGeom prst="rect">
            <a:avLst/>
          </a:prstGeom>
          <a:solidFill>
            <a:srgbClr val="FFFFFF"/>
          </a:solidFill>
          <a:ln>
            <a:solidFill>
              <a:srgbClr val="D7DEE8"/>
            </a:solidFill>
          </a:ln>
        </p:spPr>
        <p:txBody>
          <a:bodyPr wrap="square" lIns="635" tIns="635" rIns="635" bIns="635" rtlCol="0" anchor="ctr">
            <a:normAutofit/>
          </a:bodyPr>
          <a:lstStyle/>
          <a:p>
            <a:pPr marL="0" indent="0" algn="l">
              <a:buNone/>
            </a:pPr>
            <a:r>
              <a:rPr lang="en-US" sz="1530">
                <a:solidFill>
                  <a:srgbClr val="1F2937"/>
                </a:solidFill>
                <a:latin typeface="Aptos" pitchFamily="34" charset="0"/>
                <a:ea typeface="Aptos" pitchFamily="34" charset="-122"/>
                <a:cs typeface="Aptos" pitchFamily="34" charset="-120"/>
              </a:rPr>
              <a:t>a % b → ?</a:t>
            </a:r>
            <a:endParaRPr lang="en-US" sz="1530"/>
          </a:p>
        </p:txBody>
      </p:sp>
      <p:sp>
        <p:nvSpPr>
          <p:cNvPr id="12" name="Text 10"/>
          <p:cNvSpPr/>
          <p:nvPr/>
        </p:nvSpPr>
        <p:spPr>
          <a:xfrm>
            <a:off x="6583680" y="3419856"/>
            <a:ext cx="3200400" cy="292608"/>
          </a:xfrm>
          <a:prstGeom prst="rect">
            <a:avLst/>
          </a:prstGeom>
          <a:solidFill>
            <a:srgbClr val="FFFFFF"/>
          </a:solidFill>
          <a:ln>
            <a:solidFill>
              <a:srgbClr val="D7DEE8"/>
            </a:solidFill>
          </a:ln>
        </p:spPr>
        <p:txBody>
          <a:bodyPr wrap="square" lIns="635" tIns="635" rIns="635" bIns="635" rtlCol="0" anchor="ctr">
            <a:normAutofit/>
          </a:bodyPr>
          <a:lstStyle/>
          <a:p>
            <a:pPr marL="0" indent="0" algn="l">
              <a:buNone/>
            </a:pPr>
            <a:r>
              <a:rPr lang="en-US" sz="1530">
                <a:solidFill>
                  <a:srgbClr val="1F2937"/>
                </a:solidFill>
                <a:latin typeface="Aptos" pitchFamily="34" charset="0"/>
                <a:ea typeface="Aptos" pitchFamily="34" charset="-122"/>
                <a:cs typeface="Aptos" pitchFamily="34" charset="-120"/>
              </a:rPr>
              <a:t>2 + 3 * 4 → ?</a:t>
            </a:r>
            <a:endParaRPr lang="en-US" sz="1530"/>
          </a:p>
        </p:txBody>
      </p:sp>
      <p:sp>
        <p:nvSpPr>
          <p:cNvPr id="13" name="Text 11"/>
          <p:cNvSpPr/>
          <p:nvPr/>
        </p:nvSpPr>
        <p:spPr>
          <a:xfrm>
            <a:off x="960120" y="4617720"/>
            <a:ext cx="5029200" cy="658368"/>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Integer division cuts off the decimal part: 7 / 3 is 2, not 2.333.</a:t>
            </a:r>
            <a:endParaRPr lang="en-US" sz="1350"/>
          </a:p>
        </p:txBody>
      </p:sp>
      <p:sp>
        <p:nvSpPr>
          <p:cNvPr id="14" name="Text 12"/>
          <p:cNvSpPr/>
          <p:nvPr/>
        </p:nvSpPr>
        <p:spPr>
          <a:xfrm>
            <a:off x="6446520" y="4617720"/>
            <a:ext cx="3977640" cy="65836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Modulo gives the remainder: 7 % 3 is 1.</a:t>
            </a:r>
            <a:endParaRPr lang="en-US" sz="13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Math functions</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Use &lt;math.h&gt; for common mathematical operations</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777240" y="1261872"/>
            <a:ext cx="5623560" cy="30632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70">
                <a:solidFill>
                  <a:srgbClr val="E5E7EB"/>
                </a:solidFill>
                <a:latin typeface="Cascadia Mono" pitchFamily="34" charset="0"/>
                <a:ea typeface="Cascadia Mono" pitchFamily="34" charset="-122"/>
                <a:cs typeface="Cascadia Mono" pitchFamily="34" charset="-120"/>
              </a:rPr>
              <a:t>#include &lt;stdio.h&gt;</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#include &lt;math.h&gt;</a:t>
            </a:r>
            <a:endParaRPr lang="en-US" sz="1270"/>
          </a:p>
          <a:p>
            <a:pPr marL="0" indent="0" algn="l">
              <a:buNone/>
            </a:pP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int main(void) {</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double x = 16.0;</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printf("sqrt = %.2f\n", sqrt(x));</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printf("power = %.2f\n", pow(2, 5));</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printf("round = %.0f\n", round(3.6));</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    return 0;</a:t>
            </a:r>
            <a:endParaRPr lang="en-US" sz="1270"/>
          </a:p>
          <a:p>
            <a:pPr marL="0" indent="0" algn="l">
              <a:buNone/>
            </a:pPr>
            <a:r>
              <a:rPr lang="en-US" sz="1270">
                <a:solidFill>
                  <a:srgbClr val="E5E7EB"/>
                </a:solidFill>
                <a:latin typeface="Cascadia Mono" pitchFamily="34" charset="0"/>
                <a:ea typeface="Cascadia Mono" pitchFamily="34" charset="-122"/>
                <a:cs typeface="Cascadia Mono" pitchFamily="34" charset="-120"/>
              </a:rPr>
              <a:t>}</a:t>
            </a:r>
            <a:endParaRPr lang="en-US" sz="1270"/>
          </a:p>
        </p:txBody>
      </p:sp>
      <p:sp>
        <p:nvSpPr>
          <p:cNvPr id="8" name="Text 6"/>
          <p:cNvSpPr/>
          <p:nvPr/>
        </p:nvSpPr>
        <p:spPr>
          <a:xfrm>
            <a:off x="6903720" y="1325880"/>
            <a:ext cx="2926080" cy="320040"/>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Useful functions</a:t>
            </a:r>
            <a:endParaRPr lang="en-US" sz="1800"/>
          </a:p>
        </p:txBody>
      </p:sp>
      <p:sp>
        <p:nvSpPr>
          <p:cNvPr id="9" name="Text 7"/>
          <p:cNvSpPr/>
          <p:nvPr/>
        </p:nvSpPr>
        <p:spPr>
          <a:xfrm>
            <a:off x="6903720" y="1828800"/>
            <a:ext cx="1417320" cy="283464"/>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a:solidFill>
                  <a:srgbClr val="E5E7EB"/>
                </a:solidFill>
                <a:latin typeface="Cascadia Mono" pitchFamily="34" charset="0"/>
                <a:ea typeface="Cascadia Mono" pitchFamily="34" charset="-122"/>
                <a:cs typeface="Cascadia Mono" pitchFamily="34" charset="-120"/>
              </a:rPr>
              <a:t>sqrt(x)</a:t>
            </a:r>
            <a:endParaRPr lang="en-US" sz="1030"/>
          </a:p>
        </p:txBody>
      </p:sp>
      <p:sp>
        <p:nvSpPr>
          <p:cNvPr id="10" name="Text 8"/>
          <p:cNvSpPr/>
          <p:nvPr/>
        </p:nvSpPr>
        <p:spPr>
          <a:xfrm>
            <a:off x="8595360" y="1856232"/>
            <a:ext cx="2377440" cy="228600"/>
          </a:xfrm>
          <a:prstGeom prst="rect">
            <a:avLst/>
          </a:prstGeom>
          <a:noFill/>
          <a:ln/>
        </p:spPr>
        <p:txBody>
          <a:bodyPr wrap="square" lIns="635" tIns="635" rIns="635" bIns="635" rtlCol="0" anchor="ctr">
            <a:normAutofit/>
          </a:bodyPr>
          <a:lstStyle/>
          <a:p>
            <a:pPr marL="0" indent="0" algn="l">
              <a:buNone/>
            </a:pPr>
            <a:r>
              <a:rPr lang="en-US" sz="1280">
                <a:solidFill>
                  <a:srgbClr val="1F2937"/>
                </a:solidFill>
                <a:latin typeface="Aptos" pitchFamily="34" charset="0"/>
                <a:ea typeface="Aptos" pitchFamily="34" charset="-122"/>
                <a:cs typeface="Aptos" pitchFamily="34" charset="-120"/>
              </a:rPr>
              <a:t>square root</a:t>
            </a:r>
            <a:endParaRPr lang="en-US" sz="1280"/>
          </a:p>
        </p:txBody>
      </p:sp>
      <p:sp>
        <p:nvSpPr>
          <p:cNvPr id="11" name="Text 9"/>
          <p:cNvSpPr/>
          <p:nvPr/>
        </p:nvSpPr>
        <p:spPr>
          <a:xfrm>
            <a:off x="6903720" y="2304288"/>
            <a:ext cx="1417320" cy="283464"/>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a:solidFill>
                  <a:srgbClr val="E5E7EB"/>
                </a:solidFill>
                <a:latin typeface="Cascadia Mono" pitchFamily="34" charset="0"/>
                <a:ea typeface="Cascadia Mono" pitchFamily="34" charset="-122"/>
                <a:cs typeface="Cascadia Mono" pitchFamily="34" charset="-120"/>
              </a:rPr>
              <a:t>pow(a,b)</a:t>
            </a:r>
            <a:endParaRPr lang="en-US" sz="1030"/>
          </a:p>
        </p:txBody>
      </p:sp>
      <p:sp>
        <p:nvSpPr>
          <p:cNvPr id="12" name="Text 10"/>
          <p:cNvSpPr/>
          <p:nvPr/>
        </p:nvSpPr>
        <p:spPr>
          <a:xfrm>
            <a:off x="8595360" y="2331720"/>
            <a:ext cx="2377440" cy="228600"/>
          </a:xfrm>
          <a:prstGeom prst="rect">
            <a:avLst/>
          </a:prstGeom>
          <a:noFill/>
          <a:ln/>
        </p:spPr>
        <p:txBody>
          <a:bodyPr wrap="square" lIns="635" tIns="635" rIns="635" bIns="635" rtlCol="0" anchor="ctr">
            <a:normAutofit/>
          </a:bodyPr>
          <a:lstStyle/>
          <a:p>
            <a:pPr marL="0" indent="0" algn="l">
              <a:buNone/>
            </a:pPr>
            <a:r>
              <a:rPr lang="en-US" sz="1280">
                <a:solidFill>
                  <a:srgbClr val="1F2937"/>
                </a:solidFill>
                <a:latin typeface="Aptos" pitchFamily="34" charset="0"/>
                <a:ea typeface="Aptos" pitchFamily="34" charset="-122"/>
                <a:cs typeface="Aptos" pitchFamily="34" charset="-120"/>
              </a:rPr>
              <a:t>a raised to b</a:t>
            </a:r>
            <a:endParaRPr lang="en-US" sz="1280"/>
          </a:p>
        </p:txBody>
      </p:sp>
      <p:sp>
        <p:nvSpPr>
          <p:cNvPr id="13" name="Text 11"/>
          <p:cNvSpPr/>
          <p:nvPr/>
        </p:nvSpPr>
        <p:spPr>
          <a:xfrm>
            <a:off x="6903720" y="2779776"/>
            <a:ext cx="1417320" cy="283464"/>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a:solidFill>
                  <a:srgbClr val="E5E7EB"/>
                </a:solidFill>
                <a:latin typeface="Cascadia Mono" pitchFamily="34" charset="0"/>
                <a:ea typeface="Cascadia Mono" pitchFamily="34" charset="-122"/>
                <a:cs typeface="Cascadia Mono" pitchFamily="34" charset="-120"/>
              </a:rPr>
              <a:t>round(x)</a:t>
            </a:r>
            <a:endParaRPr lang="en-US" sz="1030"/>
          </a:p>
        </p:txBody>
      </p:sp>
      <p:sp>
        <p:nvSpPr>
          <p:cNvPr id="14" name="Text 12"/>
          <p:cNvSpPr/>
          <p:nvPr/>
        </p:nvSpPr>
        <p:spPr>
          <a:xfrm>
            <a:off x="8595360" y="2807208"/>
            <a:ext cx="2377440" cy="228600"/>
          </a:xfrm>
          <a:prstGeom prst="rect">
            <a:avLst/>
          </a:prstGeom>
          <a:noFill/>
          <a:ln/>
        </p:spPr>
        <p:txBody>
          <a:bodyPr wrap="square" lIns="635" tIns="635" rIns="635" bIns="635" rtlCol="0" anchor="ctr">
            <a:normAutofit/>
          </a:bodyPr>
          <a:lstStyle/>
          <a:p>
            <a:pPr marL="0" indent="0" algn="l">
              <a:buNone/>
            </a:pPr>
            <a:r>
              <a:rPr lang="en-US" sz="1280">
                <a:solidFill>
                  <a:srgbClr val="1F2937"/>
                </a:solidFill>
                <a:latin typeface="Aptos" pitchFamily="34" charset="0"/>
                <a:ea typeface="Aptos" pitchFamily="34" charset="-122"/>
                <a:cs typeface="Aptos" pitchFamily="34" charset="-120"/>
              </a:rPr>
              <a:t>nearest integer</a:t>
            </a:r>
            <a:endParaRPr lang="en-US" sz="1280"/>
          </a:p>
        </p:txBody>
      </p:sp>
      <p:sp>
        <p:nvSpPr>
          <p:cNvPr id="15" name="Text 13"/>
          <p:cNvSpPr/>
          <p:nvPr/>
        </p:nvSpPr>
        <p:spPr>
          <a:xfrm>
            <a:off x="6903720" y="3255264"/>
            <a:ext cx="1417320" cy="283464"/>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a:solidFill>
                  <a:srgbClr val="E5E7EB"/>
                </a:solidFill>
                <a:latin typeface="Cascadia Mono" pitchFamily="34" charset="0"/>
                <a:ea typeface="Cascadia Mono" pitchFamily="34" charset="-122"/>
                <a:cs typeface="Cascadia Mono" pitchFamily="34" charset="-120"/>
              </a:rPr>
              <a:t>ceil(x)</a:t>
            </a:r>
            <a:endParaRPr lang="en-US" sz="1030"/>
          </a:p>
        </p:txBody>
      </p:sp>
      <p:sp>
        <p:nvSpPr>
          <p:cNvPr id="16" name="Text 14"/>
          <p:cNvSpPr/>
          <p:nvPr/>
        </p:nvSpPr>
        <p:spPr>
          <a:xfrm>
            <a:off x="8595360" y="3282696"/>
            <a:ext cx="2377440" cy="228600"/>
          </a:xfrm>
          <a:prstGeom prst="rect">
            <a:avLst/>
          </a:prstGeom>
          <a:noFill/>
          <a:ln/>
        </p:spPr>
        <p:txBody>
          <a:bodyPr wrap="square" lIns="635" tIns="635" rIns="635" bIns="635" rtlCol="0" anchor="ctr">
            <a:normAutofit/>
          </a:bodyPr>
          <a:lstStyle/>
          <a:p>
            <a:pPr marL="0" indent="0" algn="l">
              <a:buNone/>
            </a:pPr>
            <a:r>
              <a:rPr lang="en-US" sz="1280">
                <a:solidFill>
                  <a:srgbClr val="1F2937"/>
                </a:solidFill>
                <a:latin typeface="Aptos" pitchFamily="34" charset="0"/>
                <a:ea typeface="Aptos" pitchFamily="34" charset="-122"/>
                <a:cs typeface="Aptos" pitchFamily="34" charset="-120"/>
              </a:rPr>
              <a:t>round up</a:t>
            </a:r>
            <a:endParaRPr lang="en-US" sz="1280"/>
          </a:p>
        </p:txBody>
      </p:sp>
      <p:sp>
        <p:nvSpPr>
          <p:cNvPr id="17" name="Text 15"/>
          <p:cNvSpPr/>
          <p:nvPr/>
        </p:nvSpPr>
        <p:spPr>
          <a:xfrm>
            <a:off x="6903720" y="3730752"/>
            <a:ext cx="1417320" cy="283464"/>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a:solidFill>
                  <a:srgbClr val="E5E7EB"/>
                </a:solidFill>
                <a:latin typeface="Cascadia Mono" pitchFamily="34" charset="0"/>
                <a:ea typeface="Cascadia Mono" pitchFamily="34" charset="-122"/>
                <a:cs typeface="Cascadia Mono" pitchFamily="34" charset="-120"/>
              </a:rPr>
              <a:t>floor(x)</a:t>
            </a:r>
            <a:endParaRPr lang="en-US" sz="1030"/>
          </a:p>
        </p:txBody>
      </p:sp>
      <p:sp>
        <p:nvSpPr>
          <p:cNvPr id="18" name="Text 16"/>
          <p:cNvSpPr/>
          <p:nvPr/>
        </p:nvSpPr>
        <p:spPr>
          <a:xfrm>
            <a:off x="8595360" y="3758184"/>
            <a:ext cx="2377440" cy="228600"/>
          </a:xfrm>
          <a:prstGeom prst="rect">
            <a:avLst/>
          </a:prstGeom>
          <a:noFill/>
          <a:ln/>
        </p:spPr>
        <p:txBody>
          <a:bodyPr wrap="square" lIns="635" tIns="635" rIns="635" bIns="635" rtlCol="0" anchor="ctr">
            <a:normAutofit/>
          </a:bodyPr>
          <a:lstStyle/>
          <a:p>
            <a:pPr marL="0" indent="0" algn="l">
              <a:buNone/>
            </a:pPr>
            <a:r>
              <a:rPr lang="en-US" sz="1280">
                <a:solidFill>
                  <a:srgbClr val="1F2937"/>
                </a:solidFill>
                <a:latin typeface="Aptos" pitchFamily="34" charset="0"/>
                <a:ea typeface="Aptos" pitchFamily="34" charset="-122"/>
                <a:cs typeface="Aptos" pitchFamily="34" charset="-120"/>
              </a:rPr>
              <a:t>round down</a:t>
            </a:r>
            <a:endParaRPr lang="en-US" sz="1280"/>
          </a:p>
        </p:txBody>
      </p:sp>
      <p:sp>
        <p:nvSpPr>
          <p:cNvPr id="19" name="Text 17"/>
          <p:cNvSpPr/>
          <p:nvPr/>
        </p:nvSpPr>
        <p:spPr>
          <a:xfrm>
            <a:off x="914400" y="4983480"/>
            <a:ext cx="5394960" cy="502920"/>
          </a:xfrm>
          <a:prstGeom prst="rect">
            <a:avLst/>
          </a:prstGeom>
          <a:solidFill>
            <a:srgbClr val="FFFFFF"/>
          </a:solidFill>
          <a:ln w="15240">
            <a:solidFill>
              <a:srgbClr val="F2C94C"/>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Compile note: on some systems you may need gcc file.c -lm</a:t>
            </a:r>
            <a:endParaRPr lang="en-US" sz="1350"/>
          </a:p>
        </p:txBody>
      </p:sp>
      <p:sp>
        <p:nvSpPr>
          <p:cNvPr id="20" name="Text 18"/>
          <p:cNvSpPr/>
          <p:nvPr/>
        </p:nvSpPr>
        <p:spPr>
          <a:xfrm>
            <a:off x="6492240" y="4983480"/>
            <a:ext cx="4297680" cy="50292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Question: Which function should calculate the diagonal of a rectangle?</a:t>
            </a:r>
            <a:endParaRPr lang="en-US" sz="13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Worked example: circle calculator</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Small program, complete problem-solving process</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777240" y="1325880"/>
            <a:ext cx="1828800" cy="292608"/>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Problem</a:t>
            </a:r>
            <a:endParaRPr lang="en-US" sz="1800"/>
          </a:p>
        </p:txBody>
      </p:sp>
      <p:sp>
        <p:nvSpPr>
          <p:cNvPr id="8" name="Text 6"/>
          <p:cNvSpPr/>
          <p:nvPr/>
        </p:nvSpPr>
        <p:spPr>
          <a:xfrm>
            <a:off x="777240" y="1783080"/>
            <a:ext cx="4480560" cy="59436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Read the radius of a circle and print its circumference and area.</a:t>
            </a:r>
            <a:endParaRPr lang="en-US" sz="1350"/>
          </a:p>
        </p:txBody>
      </p:sp>
      <p:sp>
        <p:nvSpPr>
          <p:cNvPr id="9" name="Text 7"/>
          <p:cNvSpPr/>
          <p:nvPr/>
        </p:nvSpPr>
        <p:spPr>
          <a:xfrm>
            <a:off x="777240" y="2761488"/>
            <a:ext cx="1828800" cy="292608"/>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Plan</a:t>
            </a:r>
            <a:endParaRPr lang="en-US" sz="1800"/>
          </a:p>
        </p:txBody>
      </p:sp>
      <p:sp>
        <p:nvSpPr>
          <p:cNvPr id="10" name="Text 8"/>
          <p:cNvSpPr/>
          <p:nvPr/>
        </p:nvSpPr>
        <p:spPr>
          <a:xfrm>
            <a:off x="777240" y="3127248"/>
            <a:ext cx="4572000" cy="960120"/>
          </a:xfrm>
          <a:prstGeom prst="rect">
            <a:avLst/>
          </a:prstGeom>
          <a:solidFill>
            <a:srgbClr val="FFFFFF"/>
          </a:solidFill>
          <a:ln>
            <a:solidFill>
              <a:srgbClr val="D7DEE8"/>
            </a:solidFill>
          </a:ln>
        </p:spPr>
        <p:txBody>
          <a:bodyPr wrap="square" lIns="1270" tIns="1270" rIns="1270" bIns="1270" rtlCol="0" anchor="ctr">
            <a:normAutofit/>
          </a:bodyPr>
          <a:lstStyle/>
          <a:p>
            <a:pPr marL="0" indent="0" algn="l">
              <a:buNone/>
            </a:pPr>
            <a:r>
              <a:rPr lang="en-US" sz="1420">
                <a:solidFill>
                  <a:srgbClr val="1F2937"/>
                </a:solidFill>
                <a:latin typeface="Aptos" pitchFamily="34" charset="0"/>
                <a:ea typeface="Aptos" pitchFamily="34" charset="-122"/>
                <a:cs typeface="Aptos" pitchFamily="34" charset="-120"/>
              </a:rPr>
              <a:t>1. Input r</a:t>
            </a:r>
            <a:endParaRPr lang="en-US" sz="1420"/>
          </a:p>
          <a:p>
            <a:pPr marL="0" indent="0" algn="l">
              <a:buNone/>
            </a:pPr>
            <a:r>
              <a:rPr lang="en-US" sz="1420">
                <a:solidFill>
                  <a:srgbClr val="1F2937"/>
                </a:solidFill>
                <a:latin typeface="Aptos" pitchFamily="34" charset="0"/>
                <a:ea typeface="Aptos" pitchFamily="34" charset="-122"/>
                <a:cs typeface="Aptos" pitchFamily="34" charset="-120"/>
              </a:rPr>
              <a:t>2. area = π × r × r</a:t>
            </a:r>
            <a:endParaRPr lang="en-US" sz="1420"/>
          </a:p>
          <a:p>
            <a:pPr marL="0" indent="0" algn="l">
              <a:buNone/>
            </a:pPr>
            <a:r>
              <a:rPr lang="en-US" sz="1420">
                <a:solidFill>
                  <a:srgbClr val="1F2937"/>
                </a:solidFill>
                <a:latin typeface="Aptos" pitchFamily="34" charset="0"/>
                <a:ea typeface="Aptos" pitchFamily="34" charset="-122"/>
                <a:cs typeface="Aptos" pitchFamily="34" charset="-120"/>
              </a:rPr>
              <a:t>3. circumference = 2 × π × r</a:t>
            </a:r>
            <a:endParaRPr lang="en-US" sz="1420"/>
          </a:p>
          <a:p>
            <a:pPr marL="0" indent="0" algn="l">
              <a:buNone/>
            </a:pPr>
            <a:r>
              <a:rPr lang="en-US" sz="1420">
                <a:solidFill>
                  <a:srgbClr val="1F2937"/>
                </a:solidFill>
                <a:latin typeface="Aptos" pitchFamily="34" charset="0"/>
                <a:ea typeface="Aptos" pitchFamily="34" charset="-122"/>
                <a:cs typeface="Aptos" pitchFamily="34" charset="-120"/>
              </a:rPr>
              <a:t>4. Print both rounded to 2 decimals</a:t>
            </a:r>
            <a:endParaRPr lang="en-US" sz="1420"/>
          </a:p>
        </p:txBody>
      </p:sp>
      <p:sp>
        <p:nvSpPr>
          <p:cNvPr id="11" name="Text 9"/>
          <p:cNvSpPr/>
          <p:nvPr/>
        </p:nvSpPr>
        <p:spPr>
          <a:xfrm>
            <a:off x="5897880" y="1234440"/>
            <a:ext cx="5257800" cy="425196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20">
                <a:solidFill>
                  <a:srgbClr val="E5E7EB"/>
                </a:solidFill>
                <a:latin typeface="Cascadia Mono" pitchFamily="34" charset="0"/>
                <a:ea typeface="Cascadia Mono" pitchFamily="34" charset="-122"/>
                <a:cs typeface="Cascadia Mono" pitchFamily="34" charset="-120"/>
              </a:rPr>
              <a:t>#include &lt;stdio.h&gt;</a:t>
            </a:r>
            <a:endParaRPr lang="en-US" sz="1020"/>
          </a:p>
          <a:p>
            <a:pPr marL="0" indent="0" algn="l">
              <a:buNone/>
            </a:pP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int main(void) {</a:t>
            </a: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double r, area, c;</a:t>
            </a: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const double PI = 3.14159;</a:t>
            </a:r>
            <a:endParaRPr lang="en-US" sz="1020"/>
          </a:p>
          <a:p>
            <a:pPr marL="0" indent="0" algn="l">
              <a:buNone/>
            </a:pP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printf("Radius: ");</a:t>
            </a: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scanf("%lf", &amp;r);</a:t>
            </a:r>
            <a:endParaRPr lang="en-US" sz="1020"/>
          </a:p>
          <a:p>
            <a:pPr marL="0" indent="0" algn="l">
              <a:buNone/>
            </a:pP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area = PI * r * r;</a:t>
            </a: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c = 2 * PI * r;</a:t>
            </a:r>
            <a:endParaRPr lang="en-US" sz="1020"/>
          </a:p>
          <a:p>
            <a:pPr marL="0" indent="0" algn="l">
              <a:buNone/>
            </a:pP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printf("Area: %.2f\n", area);</a:t>
            </a: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printf("Circumference: %.2f\n", c);</a:t>
            </a: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    return 0;</a:t>
            </a:r>
            <a:endParaRPr lang="en-US" sz="1020"/>
          </a:p>
          <a:p>
            <a:pPr marL="0" indent="0" algn="l">
              <a:buNone/>
            </a:pPr>
            <a:r>
              <a:rPr lang="en-US" sz="1020">
                <a:solidFill>
                  <a:srgbClr val="E5E7EB"/>
                </a:solidFill>
                <a:latin typeface="Cascadia Mono" pitchFamily="34" charset="0"/>
                <a:ea typeface="Cascadia Mono" pitchFamily="34" charset="-122"/>
                <a:cs typeface="Cascadia Mono" pitchFamily="34" charset="-120"/>
              </a:rPr>
              <a:t>}</a:t>
            </a:r>
            <a:endParaRPr lang="en-US" sz="1020"/>
          </a:p>
        </p:txBody>
      </p:sp>
      <p:sp>
        <p:nvSpPr>
          <p:cNvPr id="12" name="Text 10"/>
          <p:cNvSpPr/>
          <p:nvPr/>
        </p:nvSpPr>
        <p:spPr>
          <a:xfrm>
            <a:off x="914400" y="5394960"/>
            <a:ext cx="4343400" cy="50292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Extension: Also print the diameter.</a:t>
            </a:r>
            <a:endParaRPr lang="en-US" sz="13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Debugging mindset</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Bugs are normal; random changes are not debugging</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822960" y="1325880"/>
            <a:ext cx="5212080" cy="274320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20">
                <a:solidFill>
                  <a:srgbClr val="E5E7EB"/>
                </a:solidFill>
                <a:latin typeface="Cascadia Mono" pitchFamily="34" charset="0"/>
                <a:ea typeface="Cascadia Mono" pitchFamily="34" charset="-122"/>
                <a:cs typeface="Cascadia Mono" pitchFamily="34" charset="-120"/>
              </a:rPr>
              <a:t>#include &lt;stdio.h&gt;</a:t>
            </a:r>
            <a:endParaRPr lang="en-US" sz="1320"/>
          </a:p>
          <a:p>
            <a:pPr marL="0" indent="0" algn="l">
              <a:buNone/>
            </a:pPr>
            <a:endParaRPr lang="en-US" sz="1320"/>
          </a:p>
          <a:p>
            <a:pPr marL="0" indent="0" algn="l">
              <a:buNone/>
            </a:pPr>
            <a:r>
              <a:rPr lang="en-US" sz="1320">
                <a:solidFill>
                  <a:srgbClr val="E5E7EB"/>
                </a:solidFill>
                <a:latin typeface="Cascadia Mono" pitchFamily="34" charset="0"/>
                <a:ea typeface="Cascadia Mono" pitchFamily="34" charset="-122"/>
                <a:cs typeface="Cascadia Mono" pitchFamily="34" charset="-120"/>
              </a:rPr>
              <a:t>int main(void) {</a:t>
            </a:r>
            <a:endParaRPr lang="en-US" sz="1320"/>
          </a:p>
          <a:p>
            <a:pPr marL="0" indent="0" algn="l">
              <a:buNone/>
            </a:pPr>
            <a:r>
              <a:rPr lang="en-US" sz="1320">
                <a:solidFill>
                  <a:srgbClr val="E5E7EB"/>
                </a:solidFill>
                <a:latin typeface="Cascadia Mono" pitchFamily="34" charset="0"/>
                <a:ea typeface="Cascadia Mono" pitchFamily="34" charset="-122"/>
                <a:cs typeface="Cascadia Mono" pitchFamily="34" charset="-120"/>
              </a:rPr>
              <a:t>    int a, b;</a:t>
            </a:r>
            <a:endParaRPr lang="en-US" sz="1320"/>
          </a:p>
          <a:p>
            <a:pPr marL="0" indent="0" algn="l">
              <a:buNone/>
            </a:pPr>
            <a:r>
              <a:rPr lang="en-US" sz="1320">
                <a:solidFill>
                  <a:srgbClr val="E5E7EB"/>
                </a:solidFill>
                <a:latin typeface="Cascadia Mono" pitchFamily="34" charset="0"/>
                <a:ea typeface="Cascadia Mono" pitchFamily="34" charset="-122"/>
                <a:cs typeface="Cascadia Mono" pitchFamily="34" charset="-120"/>
              </a:rPr>
              <a:t>    printf("Two numbers: ");</a:t>
            </a:r>
            <a:endParaRPr lang="en-US" sz="1320"/>
          </a:p>
          <a:p>
            <a:pPr marL="0" indent="0" algn="l">
              <a:buNone/>
            </a:pPr>
            <a:r>
              <a:rPr lang="en-US" sz="1320">
                <a:solidFill>
                  <a:srgbClr val="E5E7EB"/>
                </a:solidFill>
                <a:latin typeface="Cascadia Mono" pitchFamily="34" charset="0"/>
                <a:ea typeface="Cascadia Mono" pitchFamily="34" charset="-122"/>
                <a:cs typeface="Cascadia Mono" pitchFamily="34" charset="-120"/>
              </a:rPr>
              <a:t>    scanf("%d %d", a, b);</a:t>
            </a:r>
            <a:endParaRPr lang="en-US" sz="1320"/>
          </a:p>
          <a:p>
            <a:pPr marL="0" indent="0" algn="l">
              <a:buNone/>
            </a:pPr>
            <a:r>
              <a:rPr lang="en-US" sz="1320">
                <a:solidFill>
                  <a:srgbClr val="E5E7EB"/>
                </a:solidFill>
                <a:latin typeface="Cascadia Mono" pitchFamily="34" charset="0"/>
                <a:ea typeface="Cascadia Mono" pitchFamily="34" charset="-122"/>
                <a:cs typeface="Cascadia Mono" pitchFamily="34" charset="-120"/>
              </a:rPr>
              <a:t>    printf("Sum = %d\n", a + b)</a:t>
            </a:r>
            <a:endParaRPr lang="en-US" sz="1320"/>
          </a:p>
          <a:p>
            <a:pPr marL="0" indent="0" algn="l">
              <a:buNone/>
            </a:pPr>
            <a:r>
              <a:rPr lang="en-US" sz="1320">
                <a:solidFill>
                  <a:srgbClr val="E5E7EB"/>
                </a:solidFill>
                <a:latin typeface="Cascadia Mono" pitchFamily="34" charset="0"/>
                <a:ea typeface="Cascadia Mono" pitchFamily="34" charset="-122"/>
                <a:cs typeface="Cascadia Mono" pitchFamily="34" charset="-120"/>
              </a:rPr>
              <a:t>    return 0;</a:t>
            </a:r>
            <a:endParaRPr lang="en-US" sz="1320"/>
          </a:p>
          <a:p>
            <a:pPr marL="0" indent="0" algn="l">
              <a:buNone/>
            </a:pPr>
            <a:r>
              <a:rPr lang="en-US" sz="1320">
                <a:solidFill>
                  <a:srgbClr val="E5E7EB"/>
                </a:solidFill>
                <a:latin typeface="Cascadia Mono" pitchFamily="34" charset="0"/>
                <a:ea typeface="Cascadia Mono" pitchFamily="34" charset="-122"/>
                <a:cs typeface="Cascadia Mono" pitchFamily="34" charset="-120"/>
              </a:rPr>
              <a:t>}</a:t>
            </a:r>
            <a:endParaRPr lang="en-US" sz="1320"/>
          </a:p>
        </p:txBody>
      </p:sp>
      <p:sp>
        <p:nvSpPr>
          <p:cNvPr id="8" name="Text 6"/>
          <p:cNvSpPr/>
          <p:nvPr/>
        </p:nvSpPr>
        <p:spPr>
          <a:xfrm>
            <a:off x="6400800" y="1325880"/>
            <a:ext cx="3017520" cy="320040"/>
          </a:xfrm>
          <a:prstGeom prst="rect">
            <a:avLst/>
          </a:prstGeom>
          <a:noFill/>
          <a:ln/>
        </p:spPr>
        <p:txBody>
          <a:bodyPr wrap="square" lIns="635" tIns="635" rIns="635" bIns="635" rtlCol="0" anchor="ctr">
            <a:normAutofit/>
          </a:bodyPr>
          <a:lstStyle/>
          <a:p>
            <a:pPr marL="0" indent="0" algn="l">
              <a:buNone/>
            </a:pPr>
            <a:r>
              <a:rPr lang="en-US" sz="1800" b="1">
                <a:solidFill>
                  <a:srgbClr val="EB5757"/>
                </a:solidFill>
                <a:latin typeface="Aptos" pitchFamily="34" charset="0"/>
                <a:ea typeface="Aptos" pitchFamily="34" charset="-122"/>
                <a:cs typeface="Aptos" pitchFamily="34" charset="-120"/>
              </a:rPr>
              <a:t>Find two errors</a:t>
            </a:r>
            <a:endParaRPr lang="en-US" sz="1800"/>
          </a:p>
        </p:txBody>
      </p:sp>
      <p:sp>
        <p:nvSpPr>
          <p:cNvPr id="9" name="Text 7"/>
          <p:cNvSpPr/>
          <p:nvPr/>
        </p:nvSpPr>
        <p:spPr>
          <a:xfrm>
            <a:off x="6400800" y="1874520"/>
            <a:ext cx="4389120" cy="530352"/>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Syntax error: missing semicolon after printf.</a:t>
            </a:r>
            <a:endParaRPr lang="en-US" sz="1350"/>
          </a:p>
        </p:txBody>
      </p:sp>
      <p:sp>
        <p:nvSpPr>
          <p:cNvPr id="10" name="Text 8"/>
          <p:cNvSpPr/>
          <p:nvPr/>
        </p:nvSpPr>
        <p:spPr>
          <a:xfrm>
            <a:off x="6400800" y="2651760"/>
            <a:ext cx="4389120" cy="530352"/>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Input bug: scanf needs &amp;a and &amp;b.</a:t>
            </a:r>
            <a:endParaRPr lang="en-US" sz="1350"/>
          </a:p>
        </p:txBody>
      </p:sp>
      <p:sp>
        <p:nvSpPr>
          <p:cNvPr id="11" name="Text 9"/>
          <p:cNvSpPr/>
          <p:nvPr/>
        </p:nvSpPr>
        <p:spPr>
          <a:xfrm>
            <a:off x="6400800" y="3429000"/>
            <a:ext cx="4389120" cy="62179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Debugging rule: read the first compiler error first. Later errors may be side effects.</a:t>
            </a:r>
            <a:endParaRPr lang="en-US" sz="1350"/>
          </a:p>
        </p:txBody>
      </p:sp>
      <p:sp>
        <p:nvSpPr>
          <p:cNvPr id="12" name="Text 10"/>
          <p:cNvSpPr/>
          <p:nvPr/>
        </p:nvSpPr>
        <p:spPr>
          <a:xfrm>
            <a:off x="960120" y="5212080"/>
            <a:ext cx="9052560" cy="347472"/>
          </a:xfrm>
          <a:prstGeom prst="rect">
            <a:avLst/>
          </a:prstGeom>
          <a:solidFill>
            <a:srgbClr val="FFFFFF"/>
          </a:solidFill>
          <a:ln>
            <a:solidFill>
              <a:srgbClr val="D7DEE8"/>
            </a:solidFill>
          </a:ln>
        </p:spPr>
        <p:txBody>
          <a:bodyPr wrap="square" lIns="1016" tIns="1016" rIns="1016" bIns="1016" rtlCol="0" anchor="ctr">
            <a:normAutofit/>
          </a:bodyPr>
          <a:lstStyle/>
          <a:p>
            <a:pPr marL="0" indent="0" algn="l">
              <a:buNone/>
            </a:pPr>
            <a:r>
              <a:rPr lang="en-US" sz="1700" b="1">
                <a:solidFill>
                  <a:srgbClr val="1B365D"/>
                </a:solidFill>
                <a:latin typeface="Aptos" pitchFamily="34" charset="0"/>
                <a:ea typeface="Aptos" pitchFamily="34" charset="-122"/>
                <a:cs typeface="Aptos" pitchFamily="34" charset="-120"/>
              </a:rPr>
              <a:t>Exercise: correct the code and test it with 4 and 9.</a:t>
            </a:r>
            <a:endParaRPr lang="en-US" sz="1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Quick checks</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Use these to verify understanding before practice</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777240" y="1325880"/>
            <a:ext cx="502920" cy="320040"/>
          </a:xfrm>
          <a:prstGeom prst="rect">
            <a:avLst/>
          </a:prstGeom>
          <a:solidFill>
            <a:srgbClr val="2F80ED"/>
          </a:solidFill>
          <a:ln/>
        </p:spPr>
        <p:txBody>
          <a:bodyPr wrap="square" lIns="635" tIns="635" rIns="635" bIns="635" rtlCol="0" anchor="ctr">
            <a:normAutofit/>
          </a:bodyPr>
          <a:lstStyle/>
          <a:p>
            <a:pPr marL="0" indent="0" algn="ctr">
              <a:buNone/>
            </a:pPr>
            <a:r>
              <a:rPr lang="en-US" sz="1400" b="1">
                <a:solidFill>
                  <a:srgbClr val="FFFFFF"/>
                </a:solidFill>
                <a:latin typeface="Aptos" pitchFamily="34" charset="0"/>
                <a:ea typeface="Aptos" pitchFamily="34" charset="-122"/>
                <a:cs typeface="Aptos" pitchFamily="34" charset="-120"/>
              </a:rPr>
              <a:t>Q1</a:t>
            </a:r>
            <a:endParaRPr lang="en-US" sz="1400"/>
          </a:p>
        </p:txBody>
      </p:sp>
      <p:sp>
        <p:nvSpPr>
          <p:cNvPr id="8" name="Text 6"/>
          <p:cNvSpPr/>
          <p:nvPr/>
        </p:nvSpPr>
        <p:spPr>
          <a:xfrm>
            <a:off x="1463040" y="1307592"/>
            <a:ext cx="4480560" cy="438912"/>
          </a:xfrm>
          <a:prstGeom prst="rect">
            <a:avLst/>
          </a:prstGeom>
          <a:solidFill>
            <a:srgbClr val="FFFFFF"/>
          </a:solidFill>
          <a:ln>
            <a:solidFill>
              <a:srgbClr val="D7DEE8"/>
            </a:solidFill>
          </a:ln>
        </p:spPr>
        <p:txBody>
          <a:bodyPr wrap="square" lIns="1016" tIns="1016" rIns="1016" bIns="1016" rtlCol="0" anchor="ctr">
            <a:normAutofit/>
          </a:bodyPr>
          <a:lstStyle/>
          <a:p>
            <a:pPr marL="0" indent="0" algn="l">
              <a:buNone/>
            </a:pPr>
            <a:r>
              <a:rPr lang="en-US" sz="1410">
                <a:solidFill>
                  <a:srgbClr val="1F2937"/>
                </a:solidFill>
                <a:latin typeface="Aptos" pitchFamily="34" charset="0"/>
                <a:ea typeface="Aptos" pitchFamily="34" charset="-122"/>
                <a:cs typeface="Aptos" pitchFamily="34" charset="-120"/>
              </a:rPr>
              <a:t>What is the difference between source code and an executable?</a:t>
            </a:r>
            <a:endParaRPr lang="en-US" sz="1410"/>
          </a:p>
        </p:txBody>
      </p:sp>
      <p:sp>
        <p:nvSpPr>
          <p:cNvPr id="9" name="Text 7"/>
          <p:cNvSpPr/>
          <p:nvPr/>
        </p:nvSpPr>
        <p:spPr>
          <a:xfrm>
            <a:off x="777240" y="2532888"/>
            <a:ext cx="502920" cy="320040"/>
          </a:xfrm>
          <a:prstGeom prst="rect">
            <a:avLst/>
          </a:prstGeom>
          <a:solidFill>
            <a:srgbClr val="27AE60"/>
          </a:solidFill>
          <a:ln/>
        </p:spPr>
        <p:txBody>
          <a:bodyPr wrap="square" lIns="635" tIns="635" rIns="635" bIns="635" rtlCol="0" anchor="ctr">
            <a:normAutofit/>
          </a:bodyPr>
          <a:lstStyle/>
          <a:p>
            <a:pPr marL="0" indent="0" algn="ctr">
              <a:buNone/>
            </a:pPr>
            <a:r>
              <a:rPr lang="en-US" sz="1400" b="1">
                <a:solidFill>
                  <a:srgbClr val="FFFFFF"/>
                </a:solidFill>
                <a:latin typeface="Aptos" pitchFamily="34" charset="0"/>
                <a:ea typeface="Aptos" pitchFamily="34" charset="-122"/>
                <a:cs typeface="Aptos" pitchFamily="34" charset="-120"/>
              </a:rPr>
              <a:t>Q2</a:t>
            </a:r>
            <a:endParaRPr lang="en-US" sz="1400"/>
          </a:p>
        </p:txBody>
      </p:sp>
      <p:sp>
        <p:nvSpPr>
          <p:cNvPr id="10" name="Text 8"/>
          <p:cNvSpPr/>
          <p:nvPr/>
        </p:nvSpPr>
        <p:spPr>
          <a:xfrm>
            <a:off x="1463040" y="2514600"/>
            <a:ext cx="4480560" cy="438912"/>
          </a:xfrm>
          <a:prstGeom prst="rect">
            <a:avLst/>
          </a:prstGeom>
          <a:solidFill>
            <a:srgbClr val="FFFFFF"/>
          </a:solidFill>
          <a:ln>
            <a:solidFill>
              <a:srgbClr val="D7DEE8"/>
            </a:solidFill>
          </a:ln>
        </p:spPr>
        <p:txBody>
          <a:bodyPr wrap="square" lIns="1016" tIns="1016" rIns="1016" bIns="1016" rtlCol="0" anchor="ctr">
            <a:normAutofit/>
          </a:bodyPr>
          <a:lstStyle/>
          <a:p>
            <a:pPr marL="0" indent="0" algn="l">
              <a:buNone/>
            </a:pPr>
            <a:r>
              <a:rPr lang="en-US" sz="1410">
                <a:solidFill>
                  <a:srgbClr val="1F2937"/>
                </a:solidFill>
                <a:latin typeface="Aptos" pitchFamily="34" charset="0"/>
                <a:ea typeface="Aptos" pitchFamily="34" charset="-122"/>
                <a:cs typeface="Aptos" pitchFamily="34" charset="-120"/>
              </a:rPr>
              <a:t>What does #include &lt;stdio.h&gt; give us?</a:t>
            </a:r>
            <a:endParaRPr lang="en-US" sz="1410"/>
          </a:p>
        </p:txBody>
      </p:sp>
      <p:sp>
        <p:nvSpPr>
          <p:cNvPr id="11" name="Text 9"/>
          <p:cNvSpPr/>
          <p:nvPr/>
        </p:nvSpPr>
        <p:spPr>
          <a:xfrm>
            <a:off x="777240" y="3739896"/>
            <a:ext cx="502920" cy="320040"/>
          </a:xfrm>
          <a:prstGeom prst="rect">
            <a:avLst/>
          </a:prstGeom>
          <a:solidFill>
            <a:srgbClr val="2F80ED"/>
          </a:solidFill>
          <a:ln/>
        </p:spPr>
        <p:txBody>
          <a:bodyPr wrap="square" lIns="635" tIns="635" rIns="635" bIns="635" rtlCol="0" anchor="ctr">
            <a:normAutofit/>
          </a:bodyPr>
          <a:lstStyle/>
          <a:p>
            <a:pPr marL="0" indent="0" algn="ctr">
              <a:buNone/>
            </a:pPr>
            <a:r>
              <a:rPr lang="en-US" sz="1400" b="1">
                <a:solidFill>
                  <a:srgbClr val="FFFFFF"/>
                </a:solidFill>
                <a:latin typeface="Aptos" pitchFamily="34" charset="0"/>
                <a:ea typeface="Aptos" pitchFamily="34" charset="-122"/>
                <a:cs typeface="Aptos" pitchFamily="34" charset="-120"/>
              </a:rPr>
              <a:t>Q3</a:t>
            </a:r>
            <a:endParaRPr lang="en-US" sz="1400"/>
          </a:p>
        </p:txBody>
      </p:sp>
      <p:sp>
        <p:nvSpPr>
          <p:cNvPr id="12" name="Text 10"/>
          <p:cNvSpPr/>
          <p:nvPr/>
        </p:nvSpPr>
        <p:spPr>
          <a:xfrm>
            <a:off x="1463040" y="3721608"/>
            <a:ext cx="4480560" cy="438912"/>
          </a:xfrm>
          <a:prstGeom prst="rect">
            <a:avLst/>
          </a:prstGeom>
          <a:solidFill>
            <a:srgbClr val="FFFFFF"/>
          </a:solidFill>
          <a:ln>
            <a:solidFill>
              <a:srgbClr val="D7DEE8"/>
            </a:solidFill>
          </a:ln>
        </p:spPr>
        <p:txBody>
          <a:bodyPr wrap="square" lIns="1016" tIns="1016" rIns="1016" bIns="1016" rtlCol="0" anchor="ctr">
            <a:normAutofit/>
          </a:bodyPr>
          <a:lstStyle/>
          <a:p>
            <a:pPr marL="0" indent="0" algn="l">
              <a:buNone/>
            </a:pPr>
            <a:r>
              <a:rPr lang="en-US" sz="1410">
                <a:solidFill>
                  <a:srgbClr val="1F2937"/>
                </a:solidFill>
                <a:latin typeface="Aptos" pitchFamily="34" charset="0"/>
                <a:ea typeface="Aptos" pitchFamily="34" charset="-122"/>
                <a:cs typeface="Aptos" pitchFamily="34" charset="-120"/>
              </a:rPr>
              <a:t>Why does scanf usually use &amp; before a variable?</a:t>
            </a:r>
            <a:endParaRPr lang="en-US" sz="1410"/>
          </a:p>
        </p:txBody>
      </p:sp>
      <p:sp>
        <p:nvSpPr>
          <p:cNvPr id="13" name="Text 11"/>
          <p:cNvSpPr/>
          <p:nvPr/>
        </p:nvSpPr>
        <p:spPr>
          <a:xfrm>
            <a:off x="6263640" y="1325880"/>
            <a:ext cx="502920" cy="320040"/>
          </a:xfrm>
          <a:prstGeom prst="rect">
            <a:avLst/>
          </a:prstGeom>
          <a:solidFill>
            <a:srgbClr val="27AE60"/>
          </a:solidFill>
          <a:ln/>
        </p:spPr>
        <p:txBody>
          <a:bodyPr wrap="square" lIns="635" tIns="635" rIns="635" bIns="635" rtlCol="0" anchor="ctr">
            <a:normAutofit/>
          </a:bodyPr>
          <a:lstStyle/>
          <a:p>
            <a:pPr marL="0" indent="0" algn="ctr">
              <a:buNone/>
            </a:pPr>
            <a:r>
              <a:rPr lang="en-US" sz="1400" b="1">
                <a:solidFill>
                  <a:srgbClr val="FFFFFF"/>
                </a:solidFill>
                <a:latin typeface="Aptos" pitchFamily="34" charset="0"/>
                <a:ea typeface="Aptos" pitchFamily="34" charset="-122"/>
                <a:cs typeface="Aptos" pitchFamily="34" charset="-120"/>
              </a:rPr>
              <a:t>Q4</a:t>
            </a:r>
            <a:endParaRPr lang="en-US" sz="1400"/>
          </a:p>
        </p:txBody>
      </p:sp>
      <p:sp>
        <p:nvSpPr>
          <p:cNvPr id="14" name="Text 12"/>
          <p:cNvSpPr/>
          <p:nvPr/>
        </p:nvSpPr>
        <p:spPr>
          <a:xfrm>
            <a:off x="6949440" y="1307592"/>
            <a:ext cx="4480560" cy="438912"/>
          </a:xfrm>
          <a:prstGeom prst="rect">
            <a:avLst/>
          </a:prstGeom>
          <a:solidFill>
            <a:srgbClr val="FFFFFF"/>
          </a:solidFill>
          <a:ln>
            <a:solidFill>
              <a:srgbClr val="D7DEE8"/>
            </a:solidFill>
          </a:ln>
        </p:spPr>
        <p:txBody>
          <a:bodyPr wrap="square" lIns="1016" tIns="1016" rIns="1016" bIns="1016" rtlCol="0" anchor="ctr">
            <a:normAutofit/>
          </a:bodyPr>
          <a:lstStyle/>
          <a:p>
            <a:pPr marL="0" indent="0" algn="l">
              <a:buNone/>
            </a:pPr>
            <a:r>
              <a:rPr lang="en-US" sz="1410">
                <a:solidFill>
                  <a:srgbClr val="1F2937"/>
                </a:solidFill>
                <a:latin typeface="Aptos" pitchFamily="34" charset="0"/>
                <a:ea typeface="Aptos" pitchFamily="34" charset="-122"/>
                <a:cs typeface="Aptos" pitchFamily="34" charset="-120"/>
              </a:rPr>
              <a:t>What is printed by: int x = 4; x = x + 3; printf("%d", x);</a:t>
            </a:r>
            <a:endParaRPr lang="en-US" sz="1410"/>
          </a:p>
        </p:txBody>
      </p:sp>
      <p:sp>
        <p:nvSpPr>
          <p:cNvPr id="15" name="Text 13"/>
          <p:cNvSpPr/>
          <p:nvPr/>
        </p:nvSpPr>
        <p:spPr>
          <a:xfrm>
            <a:off x="6263640" y="2532888"/>
            <a:ext cx="502920" cy="320040"/>
          </a:xfrm>
          <a:prstGeom prst="rect">
            <a:avLst/>
          </a:prstGeom>
          <a:solidFill>
            <a:srgbClr val="2F80ED"/>
          </a:solidFill>
          <a:ln/>
        </p:spPr>
        <p:txBody>
          <a:bodyPr wrap="square" lIns="635" tIns="635" rIns="635" bIns="635" rtlCol="0" anchor="ctr">
            <a:normAutofit/>
          </a:bodyPr>
          <a:lstStyle/>
          <a:p>
            <a:pPr marL="0" indent="0" algn="ctr">
              <a:buNone/>
            </a:pPr>
            <a:r>
              <a:rPr lang="en-US" sz="1400" b="1">
                <a:solidFill>
                  <a:srgbClr val="FFFFFF"/>
                </a:solidFill>
                <a:latin typeface="Aptos" pitchFamily="34" charset="0"/>
                <a:ea typeface="Aptos" pitchFamily="34" charset="-122"/>
                <a:cs typeface="Aptos" pitchFamily="34" charset="-120"/>
              </a:rPr>
              <a:t>Q5</a:t>
            </a:r>
            <a:endParaRPr lang="en-US" sz="1400"/>
          </a:p>
        </p:txBody>
      </p:sp>
      <p:sp>
        <p:nvSpPr>
          <p:cNvPr id="16" name="Text 14"/>
          <p:cNvSpPr/>
          <p:nvPr/>
        </p:nvSpPr>
        <p:spPr>
          <a:xfrm>
            <a:off x="6949440" y="2514600"/>
            <a:ext cx="4480560" cy="438912"/>
          </a:xfrm>
          <a:prstGeom prst="rect">
            <a:avLst/>
          </a:prstGeom>
          <a:solidFill>
            <a:srgbClr val="FFFFFF"/>
          </a:solidFill>
          <a:ln>
            <a:solidFill>
              <a:srgbClr val="D7DEE8"/>
            </a:solidFill>
          </a:ln>
        </p:spPr>
        <p:txBody>
          <a:bodyPr wrap="square" lIns="1016" tIns="1016" rIns="1016" bIns="1016" rtlCol="0" anchor="ctr">
            <a:normAutofit/>
          </a:bodyPr>
          <a:lstStyle/>
          <a:p>
            <a:pPr marL="0" indent="0" algn="l">
              <a:buNone/>
            </a:pPr>
            <a:r>
              <a:rPr lang="en-US" sz="1410">
                <a:solidFill>
                  <a:srgbClr val="1F2937"/>
                </a:solidFill>
                <a:latin typeface="Aptos" pitchFamily="34" charset="0"/>
                <a:ea typeface="Aptos" pitchFamily="34" charset="-122"/>
                <a:cs typeface="Aptos" pitchFamily="34" charset="-120"/>
              </a:rPr>
              <a:t>Why is 7 / 2 equal to 3 in C when both values are integers?</a:t>
            </a:r>
            <a:endParaRPr lang="en-US" sz="1410"/>
          </a:p>
        </p:txBody>
      </p:sp>
      <p:sp>
        <p:nvSpPr>
          <p:cNvPr id="17" name="Text 15"/>
          <p:cNvSpPr/>
          <p:nvPr/>
        </p:nvSpPr>
        <p:spPr>
          <a:xfrm>
            <a:off x="6263640" y="3739896"/>
            <a:ext cx="502920" cy="320040"/>
          </a:xfrm>
          <a:prstGeom prst="rect">
            <a:avLst/>
          </a:prstGeom>
          <a:solidFill>
            <a:srgbClr val="27AE60"/>
          </a:solidFill>
          <a:ln/>
        </p:spPr>
        <p:txBody>
          <a:bodyPr wrap="square" lIns="635" tIns="635" rIns="635" bIns="635" rtlCol="0" anchor="ctr">
            <a:normAutofit/>
          </a:bodyPr>
          <a:lstStyle/>
          <a:p>
            <a:pPr marL="0" indent="0" algn="ctr">
              <a:buNone/>
            </a:pPr>
            <a:r>
              <a:rPr lang="en-US" sz="1400" b="1">
                <a:solidFill>
                  <a:srgbClr val="FFFFFF"/>
                </a:solidFill>
                <a:latin typeface="Aptos" pitchFamily="34" charset="0"/>
                <a:ea typeface="Aptos" pitchFamily="34" charset="-122"/>
                <a:cs typeface="Aptos" pitchFamily="34" charset="-120"/>
              </a:rPr>
              <a:t>Q6</a:t>
            </a:r>
            <a:endParaRPr lang="en-US" sz="1400"/>
          </a:p>
        </p:txBody>
      </p:sp>
      <p:sp>
        <p:nvSpPr>
          <p:cNvPr id="18" name="Text 16"/>
          <p:cNvSpPr/>
          <p:nvPr/>
        </p:nvSpPr>
        <p:spPr>
          <a:xfrm>
            <a:off x="6949440" y="3721608"/>
            <a:ext cx="4480560" cy="438912"/>
          </a:xfrm>
          <a:prstGeom prst="rect">
            <a:avLst/>
          </a:prstGeom>
          <a:solidFill>
            <a:srgbClr val="FFFFFF"/>
          </a:solidFill>
          <a:ln>
            <a:solidFill>
              <a:srgbClr val="D7DEE8"/>
            </a:solidFill>
          </a:ln>
        </p:spPr>
        <p:txBody>
          <a:bodyPr wrap="square" lIns="1016" tIns="1016" rIns="1016" bIns="1016" rtlCol="0" anchor="ctr">
            <a:normAutofit/>
          </a:bodyPr>
          <a:lstStyle/>
          <a:p>
            <a:pPr marL="0" indent="0" algn="l">
              <a:buNone/>
            </a:pPr>
            <a:r>
              <a:rPr lang="en-US" sz="1410">
                <a:solidFill>
                  <a:srgbClr val="1F2937"/>
                </a:solidFill>
                <a:latin typeface="Aptos" pitchFamily="34" charset="0"/>
                <a:ea typeface="Aptos" pitchFamily="34" charset="-122"/>
                <a:cs typeface="Aptos" pitchFamily="34" charset="-120"/>
              </a:rPr>
              <a:t>Write one line that prints a double with 2 decimal places.</a:t>
            </a:r>
            <a:endParaRPr lang="en-US" sz="141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Practice lab: three small programs</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Students should complete these during or after class</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777240" y="1325880"/>
            <a:ext cx="3108960" cy="320040"/>
          </a:xfrm>
          <a:prstGeom prst="rect">
            <a:avLst/>
          </a:prstGeom>
          <a:noFill/>
          <a:ln/>
        </p:spPr>
        <p:txBody>
          <a:bodyPr wrap="square" lIns="635" tIns="635" rIns="635" bIns="635" rtlCol="0" anchor="ctr">
            <a:normAutofit/>
          </a:bodyPr>
          <a:lstStyle/>
          <a:p>
            <a:pPr marL="0" indent="0" algn="l">
              <a:buNone/>
            </a:pPr>
            <a:r>
              <a:rPr lang="en-US" sz="1700" b="1">
                <a:solidFill>
                  <a:srgbClr val="2F80ED"/>
                </a:solidFill>
                <a:latin typeface="Aptos" pitchFamily="34" charset="0"/>
                <a:ea typeface="Aptos" pitchFamily="34" charset="-122"/>
                <a:cs typeface="Aptos" pitchFamily="34" charset="-120"/>
              </a:rPr>
              <a:t>1. Temperature converter</a:t>
            </a:r>
            <a:endParaRPr lang="en-US" sz="1700"/>
          </a:p>
        </p:txBody>
      </p:sp>
      <p:sp>
        <p:nvSpPr>
          <p:cNvPr id="8" name="Text 6"/>
          <p:cNvSpPr/>
          <p:nvPr/>
        </p:nvSpPr>
        <p:spPr>
          <a:xfrm>
            <a:off x="777240" y="1755648"/>
            <a:ext cx="3337560" cy="77724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Input Celsius. Print Fahrenheit using F = C × 9 / 5 + 32.</a:t>
            </a:r>
            <a:endParaRPr lang="en-US" sz="1350"/>
          </a:p>
        </p:txBody>
      </p:sp>
      <p:sp>
        <p:nvSpPr>
          <p:cNvPr id="9" name="Text 7"/>
          <p:cNvSpPr/>
          <p:nvPr/>
        </p:nvSpPr>
        <p:spPr>
          <a:xfrm>
            <a:off x="4434840" y="1325880"/>
            <a:ext cx="3108960" cy="320040"/>
          </a:xfrm>
          <a:prstGeom prst="rect">
            <a:avLst/>
          </a:prstGeom>
          <a:noFill/>
          <a:ln/>
        </p:spPr>
        <p:txBody>
          <a:bodyPr wrap="square" lIns="635" tIns="635" rIns="635" bIns="635" rtlCol="0" anchor="ctr">
            <a:normAutofit/>
          </a:bodyPr>
          <a:lstStyle/>
          <a:p>
            <a:pPr marL="0" indent="0" algn="l">
              <a:buNone/>
            </a:pPr>
            <a:r>
              <a:rPr lang="en-US" sz="1700" b="1">
                <a:solidFill>
                  <a:srgbClr val="27AE60"/>
                </a:solidFill>
                <a:latin typeface="Aptos" pitchFamily="34" charset="0"/>
                <a:ea typeface="Aptos" pitchFamily="34" charset="-122"/>
                <a:cs typeface="Aptos" pitchFamily="34" charset="-120"/>
              </a:rPr>
              <a:t>2. Bill splitter</a:t>
            </a:r>
            <a:endParaRPr lang="en-US" sz="1700"/>
          </a:p>
        </p:txBody>
      </p:sp>
      <p:sp>
        <p:nvSpPr>
          <p:cNvPr id="10" name="Text 8"/>
          <p:cNvSpPr/>
          <p:nvPr/>
        </p:nvSpPr>
        <p:spPr>
          <a:xfrm>
            <a:off x="4434840" y="1755648"/>
            <a:ext cx="3337560" cy="77724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Input total bill and number of people. Print how much each person pays.</a:t>
            </a:r>
            <a:endParaRPr lang="en-US" sz="1350"/>
          </a:p>
        </p:txBody>
      </p:sp>
      <p:sp>
        <p:nvSpPr>
          <p:cNvPr id="11" name="Text 9"/>
          <p:cNvSpPr/>
          <p:nvPr/>
        </p:nvSpPr>
        <p:spPr>
          <a:xfrm>
            <a:off x="8092440" y="1325880"/>
            <a:ext cx="3108960" cy="320040"/>
          </a:xfrm>
          <a:prstGeom prst="rect">
            <a:avLst/>
          </a:prstGeom>
          <a:noFill/>
          <a:ln/>
        </p:spPr>
        <p:txBody>
          <a:bodyPr wrap="square" lIns="635" tIns="635" rIns="635" bIns="635" rtlCol="0" anchor="ctr">
            <a:normAutofit/>
          </a:bodyPr>
          <a:lstStyle/>
          <a:p>
            <a:pPr marL="0" indent="0" algn="l">
              <a:buNone/>
            </a:pPr>
            <a:r>
              <a:rPr lang="en-US" sz="1700" b="1">
                <a:solidFill>
                  <a:srgbClr val="EB5757"/>
                </a:solidFill>
                <a:latin typeface="Aptos" pitchFamily="34" charset="0"/>
                <a:ea typeface="Aptos" pitchFamily="34" charset="-122"/>
                <a:cs typeface="Aptos" pitchFamily="34" charset="-120"/>
              </a:rPr>
              <a:t>3. Distance formula</a:t>
            </a:r>
            <a:endParaRPr lang="en-US" sz="1700"/>
          </a:p>
        </p:txBody>
      </p:sp>
      <p:sp>
        <p:nvSpPr>
          <p:cNvPr id="12" name="Text 10"/>
          <p:cNvSpPr/>
          <p:nvPr/>
        </p:nvSpPr>
        <p:spPr>
          <a:xfrm>
            <a:off x="8092440" y="1755648"/>
            <a:ext cx="3337560" cy="77724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Input x1, y1, x2, y2. Print sqrt((x2-x1)^2 + (y2-y1)^2).</a:t>
            </a:r>
            <a:endParaRPr lang="en-US" sz="1350"/>
          </a:p>
        </p:txBody>
      </p:sp>
      <p:sp>
        <p:nvSpPr>
          <p:cNvPr id="13" name="Text 11"/>
          <p:cNvSpPr/>
          <p:nvPr/>
        </p:nvSpPr>
        <p:spPr>
          <a:xfrm>
            <a:off x="914400" y="3657600"/>
            <a:ext cx="4663440" cy="14630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00">
                <a:solidFill>
                  <a:srgbClr val="E5E7EB"/>
                </a:solidFill>
                <a:latin typeface="Cascadia Mono" pitchFamily="34" charset="0"/>
                <a:ea typeface="Cascadia Mono" pitchFamily="34" charset="-122"/>
                <a:cs typeface="Cascadia Mono" pitchFamily="34" charset="-120"/>
              </a:rPr>
              <a:t>Checklist before submission:</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 ] Program compiles</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 ] Output has labels</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 ] Tested with at least 2 inputs</a:t>
            </a:r>
            <a:endParaRPr lang="en-US" sz="1400"/>
          </a:p>
          <a:p>
            <a:pPr marL="0" indent="0" algn="l">
              <a:buNone/>
            </a:pPr>
            <a:r>
              <a:rPr lang="en-US" sz="1400">
                <a:solidFill>
                  <a:srgbClr val="E5E7EB"/>
                </a:solidFill>
                <a:latin typeface="Cascadia Mono" pitchFamily="34" charset="0"/>
                <a:ea typeface="Cascadia Mono" pitchFamily="34" charset="-122"/>
                <a:cs typeface="Cascadia Mono" pitchFamily="34" charset="-120"/>
              </a:rPr>
              <a:t>[ ] Code is readable</a:t>
            </a:r>
            <a:endParaRPr lang="en-US" sz="1400"/>
          </a:p>
        </p:txBody>
      </p:sp>
      <p:sp>
        <p:nvSpPr>
          <p:cNvPr id="14" name="Text 12"/>
          <p:cNvSpPr/>
          <p:nvPr/>
        </p:nvSpPr>
        <p:spPr>
          <a:xfrm>
            <a:off x="6355080" y="3794760"/>
            <a:ext cx="4526280" cy="658368"/>
          </a:xfrm>
          <a:prstGeom prst="rect">
            <a:avLst/>
          </a:prstGeom>
          <a:solidFill>
            <a:srgbClr val="FFFFFF"/>
          </a:solidFill>
          <a:ln w="15240">
            <a:solidFill>
              <a:srgbClr val="F2C94C"/>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Challenge: handle money with exactly 2 digits after the decimal point.</a:t>
            </a:r>
            <a:endParaRPr lang="en-US" sz="1350"/>
          </a:p>
        </p:txBody>
      </p:sp>
      <p:sp>
        <p:nvSpPr>
          <p:cNvPr id="15" name="Text 13"/>
          <p:cNvSpPr/>
          <p:nvPr/>
        </p:nvSpPr>
        <p:spPr>
          <a:xfrm>
            <a:off x="6355080" y="4736592"/>
            <a:ext cx="4526280" cy="658368"/>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Exit ticket: explain in one sentence why scanf needs &amp;.</a:t>
            </a:r>
            <a:endParaRPr lang="en-US" sz="13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9875520" cy="384048"/>
          </a:xfrm>
          <a:prstGeom prst="rect">
            <a:avLst/>
          </a:prstGeom>
          <a:noFill/>
          <a:ln/>
        </p:spPr>
        <p:txBody>
          <a:bodyPr wrap="square" lIns="0" tIns="0" rIns="0" bIns="0" rtlCol="0" anchor="ctr"/>
          <a:lstStyle/>
          <a:p>
            <a:pPr marL="0" indent="0">
              <a:buNone/>
            </a:pPr>
            <a:r>
              <a:rPr lang="en-US" sz="2500" b="1">
                <a:solidFill>
                  <a:srgbClr val="1B365D"/>
                </a:solidFill>
                <a:latin typeface="Aptos Display" pitchFamily="34" charset="0"/>
                <a:ea typeface="Aptos Display" pitchFamily="34" charset="-122"/>
                <a:cs typeface="Aptos Display" pitchFamily="34" charset="-120"/>
              </a:rPr>
              <a:t>Wrap-up</a:t>
            </a:r>
            <a:endParaRPr lang="en-US" sz="2500"/>
          </a:p>
        </p:txBody>
      </p:sp>
      <p:sp>
        <p:nvSpPr>
          <p:cNvPr id="3" name="Text 1"/>
          <p:cNvSpPr/>
          <p:nvPr/>
        </p:nvSpPr>
        <p:spPr>
          <a:xfrm>
            <a:off x="530352" y="749808"/>
            <a:ext cx="7863840" cy="219456"/>
          </a:xfrm>
          <a:prstGeom prst="rect">
            <a:avLst/>
          </a:prstGeom>
          <a:noFill/>
          <a:ln/>
        </p:spPr>
        <p:txBody>
          <a:bodyPr wrap="square" lIns="0" tIns="0" rIns="0" bIns="0" rtlCol="0" anchor="ctr"/>
          <a:lstStyle/>
          <a:p>
            <a:pPr marL="0" indent="0">
              <a:buNone/>
            </a:pPr>
            <a:r>
              <a:rPr lang="en-US" sz="850">
                <a:solidFill>
                  <a:srgbClr val="6B7280"/>
                </a:solidFill>
              </a:rPr>
              <a:t>What students should now be able to do</a:t>
            </a:r>
            <a:endParaRPr lang="en-US" sz="85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675120" cy="164592"/>
          </a:xfrm>
          <a:prstGeom prst="rect">
            <a:avLst/>
          </a:prstGeom>
          <a:noFill/>
          <a:ln/>
        </p:spPr>
        <p:txBody>
          <a:bodyPr wrap="square" lIns="0" tIns="0" rIns="0" bIns="0" rtlCol="0" anchor="ctr"/>
          <a:lstStyle/>
          <a:p>
            <a:pPr marL="0" indent="0">
              <a:buNone/>
            </a:pPr>
            <a:r>
              <a:rPr lang="en-US" sz="800">
                <a:solidFill>
                  <a:srgbClr val="6B7280"/>
                </a:solidFill>
              </a:rPr>
              <a:t>CSCI 1101 · Programming Principles I · Week 1</a:t>
            </a:r>
            <a:endParaRPr lang="en-US" sz="80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lstStyle/>
          <a:p>
            <a:pPr marL="0" indent="0" algn="ctr">
              <a:buNone/>
            </a:pPr>
            <a:r>
              <a:rPr lang="en-US" sz="900" b="1">
                <a:solidFill>
                  <a:srgbClr val="FFFFFF"/>
                </a:solidFill>
              </a:rPr>
              <a:t>C</a:t>
            </a:r>
            <a:endParaRPr lang="en-US" sz="900"/>
          </a:p>
        </p:txBody>
      </p:sp>
      <p:sp>
        <p:nvSpPr>
          <p:cNvPr id="7" name="Text 5"/>
          <p:cNvSpPr/>
          <p:nvPr/>
        </p:nvSpPr>
        <p:spPr>
          <a:xfrm>
            <a:off x="914400" y="1417320"/>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8" name="Text 6"/>
          <p:cNvSpPr/>
          <p:nvPr/>
        </p:nvSpPr>
        <p:spPr>
          <a:xfrm>
            <a:off x="1325880" y="1417320"/>
            <a:ext cx="3931920" cy="292608"/>
          </a:xfrm>
          <a:prstGeom prst="rect">
            <a:avLst/>
          </a:prstGeom>
          <a:noFill/>
          <a:ln/>
        </p:spPr>
        <p:txBody>
          <a:bodyPr wrap="square" lIns="635" tIns="635" rIns="635" bIns="635" rtlCol="0" anchor="ctr">
            <a:normAutofit/>
          </a:bodyPr>
          <a:lstStyle/>
          <a:p>
            <a:pPr marL="0" indent="0" algn="l">
              <a:buNone/>
            </a:pPr>
            <a:r>
              <a:rPr lang="en-US" sz="1550">
                <a:solidFill>
                  <a:srgbClr val="1F2937"/>
                </a:solidFill>
                <a:latin typeface="Aptos" pitchFamily="34" charset="0"/>
                <a:ea typeface="Aptos" pitchFamily="34" charset="-122"/>
                <a:cs typeface="Aptos" pitchFamily="34" charset="-120"/>
              </a:rPr>
              <a:t>Create and run a C program</a:t>
            </a:r>
            <a:endParaRPr lang="en-US" sz="1550"/>
          </a:p>
        </p:txBody>
      </p:sp>
      <p:sp>
        <p:nvSpPr>
          <p:cNvPr id="9" name="Text 7"/>
          <p:cNvSpPr/>
          <p:nvPr/>
        </p:nvSpPr>
        <p:spPr>
          <a:xfrm>
            <a:off x="914400" y="2130552"/>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0" name="Text 8"/>
          <p:cNvSpPr/>
          <p:nvPr/>
        </p:nvSpPr>
        <p:spPr>
          <a:xfrm>
            <a:off x="1325880" y="2130552"/>
            <a:ext cx="3931920" cy="292608"/>
          </a:xfrm>
          <a:prstGeom prst="rect">
            <a:avLst/>
          </a:prstGeom>
          <a:noFill/>
          <a:ln/>
        </p:spPr>
        <p:txBody>
          <a:bodyPr wrap="square" lIns="635" tIns="635" rIns="635" bIns="635" rtlCol="0" anchor="ctr">
            <a:normAutofit/>
          </a:bodyPr>
          <a:lstStyle/>
          <a:p>
            <a:pPr marL="0" indent="0" algn="l">
              <a:buNone/>
            </a:pPr>
            <a:r>
              <a:rPr lang="en-US" sz="1550">
                <a:solidFill>
                  <a:srgbClr val="1F2937"/>
                </a:solidFill>
                <a:latin typeface="Aptos" pitchFamily="34" charset="0"/>
                <a:ea typeface="Aptos" pitchFamily="34" charset="-122"/>
                <a:cs typeface="Aptos" pitchFamily="34" charset="-120"/>
              </a:rPr>
              <a:t>Compile from the terminal</a:t>
            </a:r>
            <a:endParaRPr lang="en-US" sz="1550"/>
          </a:p>
        </p:txBody>
      </p:sp>
      <p:sp>
        <p:nvSpPr>
          <p:cNvPr id="11" name="Text 9"/>
          <p:cNvSpPr/>
          <p:nvPr/>
        </p:nvSpPr>
        <p:spPr>
          <a:xfrm>
            <a:off x="914400" y="2843784"/>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2" name="Text 10"/>
          <p:cNvSpPr/>
          <p:nvPr/>
        </p:nvSpPr>
        <p:spPr>
          <a:xfrm>
            <a:off x="1325880" y="2843784"/>
            <a:ext cx="3931920" cy="292608"/>
          </a:xfrm>
          <a:prstGeom prst="rect">
            <a:avLst/>
          </a:prstGeom>
          <a:noFill/>
          <a:ln/>
        </p:spPr>
        <p:txBody>
          <a:bodyPr wrap="square" lIns="635" tIns="635" rIns="635" bIns="635" rtlCol="0" anchor="ctr">
            <a:normAutofit/>
          </a:bodyPr>
          <a:lstStyle/>
          <a:p>
            <a:pPr marL="0" indent="0" algn="l">
              <a:buNone/>
            </a:pPr>
            <a:r>
              <a:rPr lang="en-US" sz="1550">
                <a:solidFill>
                  <a:srgbClr val="1F2937"/>
                </a:solidFill>
                <a:latin typeface="Aptos" pitchFamily="34" charset="0"/>
                <a:ea typeface="Aptos" pitchFamily="34" charset="-122"/>
                <a:cs typeface="Aptos" pitchFamily="34" charset="-120"/>
              </a:rPr>
              <a:t>Use variables and assignments</a:t>
            </a:r>
            <a:endParaRPr lang="en-US" sz="1550"/>
          </a:p>
        </p:txBody>
      </p:sp>
      <p:sp>
        <p:nvSpPr>
          <p:cNvPr id="13" name="Text 11"/>
          <p:cNvSpPr/>
          <p:nvPr/>
        </p:nvSpPr>
        <p:spPr>
          <a:xfrm>
            <a:off x="6309360" y="1417320"/>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4" name="Text 12"/>
          <p:cNvSpPr/>
          <p:nvPr/>
        </p:nvSpPr>
        <p:spPr>
          <a:xfrm>
            <a:off x="6720840" y="1417320"/>
            <a:ext cx="3931920" cy="292608"/>
          </a:xfrm>
          <a:prstGeom prst="rect">
            <a:avLst/>
          </a:prstGeom>
          <a:noFill/>
          <a:ln/>
        </p:spPr>
        <p:txBody>
          <a:bodyPr wrap="square" lIns="635" tIns="635" rIns="635" bIns="635" rtlCol="0" anchor="ctr">
            <a:normAutofit/>
          </a:bodyPr>
          <a:lstStyle/>
          <a:p>
            <a:pPr marL="0" indent="0" algn="l">
              <a:buNone/>
            </a:pPr>
            <a:r>
              <a:rPr lang="en-US" sz="1550">
                <a:solidFill>
                  <a:srgbClr val="1F2937"/>
                </a:solidFill>
                <a:latin typeface="Aptos" pitchFamily="34" charset="0"/>
                <a:ea typeface="Aptos" pitchFamily="34" charset="-122"/>
                <a:cs typeface="Aptos" pitchFamily="34" charset="-120"/>
              </a:rPr>
              <a:t>Print formatted output</a:t>
            </a:r>
            <a:endParaRPr lang="en-US" sz="1550"/>
          </a:p>
        </p:txBody>
      </p:sp>
      <p:sp>
        <p:nvSpPr>
          <p:cNvPr id="15" name="Text 13"/>
          <p:cNvSpPr/>
          <p:nvPr/>
        </p:nvSpPr>
        <p:spPr>
          <a:xfrm>
            <a:off x="6309360" y="2130552"/>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6" name="Text 14"/>
          <p:cNvSpPr/>
          <p:nvPr/>
        </p:nvSpPr>
        <p:spPr>
          <a:xfrm>
            <a:off x="6720840" y="2130552"/>
            <a:ext cx="3931920" cy="292608"/>
          </a:xfrm>
          <a:prstGeom prst="rect">
            <a:avLst/>
          </a:prstGeom>
          <a:noFill/>
          <a:ln/>
        </p:spPr>
        <p:txBody>
          <a:bodyPr wrap="square" lIns="635" tIns="635" rIns="635" bIns="635" rtlCol="0" anchor="ctr">
            <a:normAutofit/>
          </a:bodyPr>
          <a:lstStyle/>
          <a:p>
            <a:pPr marL="0" indent="0" algn="l">
              <a:buNone/>
            </a:pPr>
            <a:r>
              <a:rPr lang="en-US" sz="1550">
                <a:solidFill>
                  <a:srgbClr val="1F2937"/>
                </a:solidFill>
                <a:latin typeface="Aptos" pitchFamily="34" charset="0"/>
                <a:ea typeface="Aptos" pitchFamily="34" charset="-122"/>
                <a:cs typeface="Aptos" pitchFamily="34" charset="-120"/>
              </a:rPr>
              <a:t>Read basic input with scanf</a:t>
            </a:r>
            <a:endParaRPr lang="en-US" sz="1550"/>
          </a:p>
        </p:txBody>
      </p:sp>
      <p:sp>
        <p:nvSpPr>
          <p:cNvPr id="17" name="Text 15"/>
          <p:cNvSpPr/>
          <p:nvPr/>
        </p:nvSpPr>
        <p:spPr>
          <a:xfrm>
            <a:off x="6309360" y="2843784"/>
            <a:ext cx="292608" cy="292608"/>
          </a:xfrm>
          <a:prstGeom prst="rect">
            <a:avLst/>
          </a:prstGeom>
          <a:noFill/>
          <a:ln/>
        </p:spPr>
        <p:txBody>
          <a:bodyPr wrap="square" lIns="635" tIns="635" rIns="635" bIns="635" rtlCol="0" anchor="ctr">
            <a:normAutofit/>
          </a:bodyPr>
          <a:lstStyle/>
          <a:p>
            <a:pPr marL="0" indent="0" algn="ctr">
              <a:buNone/>
            </a:pPr>
            <a:r>
              <a:rPr lang="en-US" sz="1800" b="1">
                <a:solidFill>
                  <a:srgbClr val="27AE60"/>
                </a:solidFill>
                <a:latin typeface="Aptos" pitchFamily="34" charset="0"/>
                <a:ea typeface="Aptos" pitchFamily="34" charset="-122"/>
                <a:cs typeface="Aptos" pitchFamily="34" charset="-120"/>
              </a:rPr>
              <a:t>✓</a:t>
            </a:r>
            <a:endParaRPr lang="en-US" sz="1800"/>
          </a:p>
        </p:txBody>
      </p:sp>
      <p:sp>
        <p:nvSpPr>
          <p:cNvPr id="18" name="Text 16"/>
          <p:cNvSpPr/>
          <p:nvPr/>
        </p:nvSpPr>
        <p:spPr>
          <a:xfrm>
            <a:off x="6720840" y="2843784"/>
            <a:ext cx="3931920" cy="292608"/>
          </a:xfrm>
          <a:prstGeom prst="rect">
            <a:avLst/>
          </a:prstGeom>
          <a:noFill/>
          <a:ln/>
        </p:spPr>
        <p:txBody>
          <a:bodyPr wrap="square" lIns="635" tIns="635" rIns="635" bIns="635" rtlCol="0" anchor="ctr">
            <a:normAutofit/>
          </a:bodyPr>
          <a:lstStyle/>
          <a:p>
            <a:pPr marL="0" indent="0" algn="l">
              <a:buNone/>
            </a:pPr>
            <a:r>
              <a:rPr lang="en-US" sz="1550">
                <a:solidFill>
                  <a:srgbClr val="1F2937"/>
                </a:solidFill>
                <a:latin typeface="Aptos" pitchFamily="34" charset="0"/>
                <a:ea typeface="Aptos" pitchFamily="34" charset="-122"/>
                <a:cs typeface="Aptos" pitchFamily="34" charset="-120"/>
              </a:rPr>
              <a:t>Use arithmetic and math functions</a:t>
            </a:r>
            <a:endParaRPr lang="en-US" sz="1550"/>
          </a:p>
        </p:txBody>
      </p:sp>
      <p:sp>
        <p:nvSpPr>
          <p:cNvPr id="19" name="Text 17"/>
          <p:cNvSpPr/>
          <p:nvPr/>
        </p:nvSpPr>
        <p:spPr>
          <a:xfrm>
            <a:off x="914400" y="4069080"/>
            <a:ext cx="2743200" cy="320040"/>
          </a:xfrm>
          <a:prstGeom prst="rect">
            <a:avLst/>
          </a:prstGeom>
          <a:noFill/>
          <a:ln/>
        </p:spPr>
        <p:txBody>
          <a:bodyPr wrap="square" lIns="635" tIns="635" rIns="635" bIns="635" rtlCol="0" anchor="ctr">
            <a:normAutofit/>
          </a:bodyPr>
          <a:lstStyle/>
          <a:p>
            <a:pPr marL="0" indent="0" algn="l">
              <a:buNone/>
            </a:pPr>
            <a:r>
              <a:rPr lang="en-US" sz="2000" b="1">
                <a:solidFill>
                  <a:srgbClr val="1B365D"/>
                </a:solidFill>
                <a:latin typeface="Aptos" pitchFamily="34" charset="0"/>
                <a:ea typeface="Aptos" pitchFamily="34" charset="-122"/>
                <a:cs typeface="Aptos" pitchFamily="34" charset="-120"/>
              </a:rPr>
              <a:t>Before next class</a:t>
            </a:r>
            <a:endParaRPr lang="en-US" sz="2000"/>
          </a:p>
        </p:txBody>
      </p:sp>
      <p:sp>
        <p:nvSpPr>
          <p:cNvPr id="20" name="Text 18"/>
          <p:cNvSpPr/>
          <p:nvPr/>
        </p:nvSpPr>
        <p:spPr>
          <a:xfrm>
            <a:off x="914400" y="4553712"/>
            <a:ext cx="9875520" cy="73152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a:solidFill>
                  <a:srgbClr val="1F2937"/>
                </a:solidFill>
                <a:latin typeface="Aptos" pitchFamily="34" charset="0"/>
                <a:ea typeface="Aptos" pitchFamily="34" charset="-122"/>
                <a:cs typeface="Aptos" pitchFamily="34" charset="-120"/>
              </a:rPr>
              <a:t>Finish the three practice programs. Bring your laptop ready to code. Review data types and conditionals.</a:t>
            </a:r>
            <a:endParaRPr lang="en-US" sz="1350"/>
          </a:p>
        </p:txBody>
      </p:sp>
      <p:sp>
        <p:nvSpPr>
          <p:cNvPr id="21" name="Text 19"/>
          <p:cNvSpPr/>
          <p:nvPr/>
        </p:nvSpPr>
        <p:spPr>
          <a:xfrm>
            <a:off x="914400" y="5806440"/>
            <a:ext cx="7315200" cy="329184"/>
          </a:xfrm>
          <a:prstGeom prst="rect">
            <a:avLst/>
          </a:prstGeom>
          <a:noFill/>
          <a:ln/>
        </p:spPr>
        <p:txBody>
          <a:bodyPr wrap="square" lIns="635" tIns="635" rIns="635" bIns="635" rtlCol="0" anchor="ctr">
            <a:normAutofit/>
          </a:bodyPr>
          <a:lstStyle/>
          <a:p>
            <a:pPr marL="0" indent="0" algn="l">
              <a:buNone/>
            </a:pPr>
            <a:r>
              <a:rPr lang="en-US" sz="1800" b="1">
                <a:solidFill>
                  <a:srgbClr val="1B365D"/>
                </a:solidFill>
                <a:latin typeface="Aptos" pitchFamily="34" charset="0"/>
                <a:ea typeface="Aptos" pitchFamily="34" charset="-122"/>
                <a:cs typeface="Aptos" pitchFamily="34" charset="-120"/>
              </a:rPr>
              <a:t>Next week: data types and conditionals</a:t>
            </a:r>
            <a:endParaRPr lang="en-US" sz="1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E6C91384D4CF4A8C11771C71AF99FC" ma:contentTypeVersion="3" ma:contentTypeDescription="Create a new document." ma:contentTypeScope="" ma:versionID="9457c7892666d9df0301343fedda2daf">
  <xsd:schema xmlns:xsd="http://www.w3.org/2001/XMLSchema" xmlns:xs="http://www.w3.org/2001/XMLSchema" xmlns:p="http://schemas.microsoft.com/office/2006/metadata/properties" xmlns:ns2="76ba2307-afa1-4918-86e6-ffe4c7b76c67" targetNamespace="http://schemas.microsoft.com/office/2006/metadata/properties" ma:root="true" ma:fieldsID="01dbc32444af8b37558df168563705b5" ns2:_="">
    <xsd:import namespace="76ba2307-afa1-4918-86e6-ffe4c7b76c6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ba2307-afa1-4918-86e6-ffe4c7b76c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97DDF4-7A77-42FF-B0D2-E7F109BFD801}">
  <ds:schemaRefs>
    <ds:schemaRef ds:uri="76ba2307-afa1-4918-86e6-ffe4c7b76c6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3AD2C19-B1B9-4A19-9C49-9DF97DCC152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BC59043-51C7-4344-8E55-3D3E827E06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10679</Words>
  <Application>Microsoft Office PowerPoint</Application>
  <PresentationFormat>Widescreen</PresentationFormat>
  <Paragraphs>1084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ADA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1101 · Week 1 · Programming Principles I C</dc:title>
  <dc:subject>CSCI 1101 Programming Principles I - Week 1</dc:subject>
  <dc:creator>Abbas Aliyev and Azar Aliyev</dc:creator>
  <cp:lastModifiedBy>Abbas Aliyev and Azar Aliyev</cp:lastModifiedBy>
  <cp:revision>6</cp:revision>
  <dcterms:created xsi:type="dcterms:W3CDTF">2026-09-04T09:05:12Z</dcterms:created>
  <dcterms:modified xsi:type="dcterms:W3CDTF">2026-10-16T20:05:55Z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0x010100A9E6C91384D4CF4A8C11771C71AF99FC</vt:lpwstr>
  </property>
</Properties>
</file>