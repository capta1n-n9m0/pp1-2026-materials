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567C8-E31C-48A4-BAF3-3BE72AC8055A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z-Latn-A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D7361-9F18-4952-B367-8D94180FC5B7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99379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was on the screen during Quiz 2. Your marked paper comes back next week, on Blackboard.</a:t>
            </a:r>
          </a:p>
          <a:p>
            <a:endParaRPr lang="en-US"/>
          </a:p>
          <a:p>
            <a:r>
              <a:rPr lang="en-US"/>
              <a:t>Quiz 2 covered classes 3 to 6. Quiz 3 is on Friday 16 October and covers classes 7 to 10: functions, today's class, and arrays.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1587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4 module, Class 8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Today answers three questions about functions: where does a variable live, what does a function get, and can a function call itself?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3917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you need from Tuesday:</a:t>
            </a:r>
          </a:p>
          <a:p>
            <a:endParaRPr lang="en-US"/>
          </a:p>
          <a:p>
            <a:r>
              <a:rPr lang="en-US"/>
              <a:t>- A function has a name, parameters and a return type: int square(int x).</a:t>
            </a:r>
          </a:p>
          <a:p>
            <a:r>
              <a:rPr lang="en-US"/>
              <a:t>- return hands one value back to the caller.</a:t>
            </a:r>
          </a:p>
          <a:p>
            <a:r>
              <a:rPr lang="en-US"/>
              <a:t>- The call is replaced by that value: square(5) becomes 25.</a:t>
            </a:r>
          </a:p>
          <a:p>
            <a:r>
              <a:rPr lang="en-US"/>
              <a:t>- void means the function returns nothing.</a:t>
            </a:r>
          </a:p>
          <a:p>
            <a:r>
              <a:rPr lang="en-US"/>
              <a:t>- Write the function above main.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70068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3456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25. square(3) is replaced by 9 and square(4) by 16, so total is 9 + 16 = 25. The file is 01_recap_square.c.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75513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parts:</a:t>
            </a:r>
          </a:p>
          <a:p>
            <a:endParaRPr lang="en-US"/>
          </a:p>
          <a:p>
            <a:r>
              <a:rPr lang="en-US"/>
              <a:t>1. Scope: where does a variable live?</a:t>
            </a:r>
          </a:p>
          <a:p>
            <a:r>
              <a:rPr lang="en-US"/>
              <a:t>2. Call-by-value: what does a function get?</a:t>
            </a:r>
          </a:p>
          <a:p>
            <a:r>
              <a:rPr lang="en-US"/>
              <a:t>3. Recursion: a function that calls itself.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33735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1: where does a variable live?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0599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variable made inside a function lives only in that function. It is made when the function starts, and it is gone when the function ends. The part of the program where a name can be used is called its scope.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40239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02_bug_scope.c. It does not compile. gcc says:</a:t>
            </a:r>
          </a:p>
          <a:p>
            <a:endParaRPr lang="en-US"/>
          </a:p>
          <a:p>
            <a:r>
              <a:rPr lang="en-US"/>
              <a:t>error: 'result' undeclared (first use in this function)</a:t>
            </a:r>
          </a:p>
          <a:p>
            <a:endParaRPr lang="en-US"/>
          </a:p>
          <a:p>
            <a:r>
              <a:rPr lang="en-US"/>
              <a:t>and points at the printf in main. The box result was made inside square, so it lives only there. main has no box called result.</a:t>
            </a:r>
          </a:p>
          <a:p>
            <a:endParaRPr lang="en-US"/>
          </a:p>
          <a:p>
            <a:r>
              <a:rPr lang="en-US"/>
              <a:t>The fix: keep the value that comes back. In main, write int r = square(5); and print r. Only the value comes back from a function, never the box.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17812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main has an x. f has an x too.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09596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shows:</a:t>
            </a:r>
          </a:p>
          <a:p>
            <a:endParaRPr lang="en-US"/>
          </a:p>
          <a:p>
            <a:r>
              <a:rPr lang="en-US"/>
              <a:t>main: x = 5</a:t>
            </a:r>
          </a:p>
          <a:p>
            <a:r>
              <a:rPr lang="en-US"/>
              <a:t>in f: x = 100</a:t>
            </a:r>
          </a:p>
          <a:p>
            <a:r>
              <a:rPr lang="en-US"/>
              <a:t>main: x = 5</a:t>
            </a:r>
          </a:p>
          <a:p>
            <a:endParaRPr lang="en-US"/>
          </a:p>
          <a:p>
            <a:r>
              <a:rPr lang="en-US"/>
              <a:t>main's x and f's x are two different boxes. They have the same name, but each lives in its own function. What f does with its x cannot touch main's x. The file is 03_same_name.c.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076251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main's x lives in main. f's x lives in f, and it is made again every time f is called.</a:t>
            </a:r>
          </a:p>
          <a:p>
            <a:endParaRPr lang="en-US"/>
          </a:p>
          <a:p>
            <a:r>
              <a:rPr lang="en-US"/>
              <a:t>This is good news: inside a function you can choose names freely. They cannot clash with the names in other functions.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547615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04_bug_block_scope.c. It does not compile: error: 'i' undeclared. The i made in the brackets of the for lives only inside the loop. After the loop, it is gone.</a:t>
            </a:r>
          </a:p>
          <a:p>
            <a:endParaRPr lang="en-US"/>
          </a:p>
          <a:p>
            <a:r>
              <a:rPr lang="en-US"/>
              <a:t>You saw the same error in class 6, when int sum = 0; was written inside the loop. Same rule.</a:t>
            </a:r>
          </a:p>
          <a:p>
            <a:endParaRPr lang="en-US"/>
          </a:p>
          <a:p>
            <a:r>
              <a:rPr lang="en-US"/>
              <a:t>If you need i after the loop, make it before the loop: int i; and then for (i = 1; i &lt;= 3; i++).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494957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rule in one sentence: a name lives from the line that makes it to the } that closes its block.</a:t>
            </a:r>
          </a:p>
          <a:p>
            <a:endParaRPr lang="en-US"/>
          </a:p>
          <a:p>
            <a:r>
              <a:rPr lang="en-US"/>
              <a:t>- Made in a function: gone when the function ends.</a:t>
            </a:r>
          </a:p>
          <a:p>
            <a:r>
              <a:rPr lang="en-US"/>
              <a:t>- Made in a loop: gone when the loop ends.</a:t>
            </a:r>
          </a:p>
          <a:p>
            <a:r>
              <a:rPr lang="en-US"/>
              <a:t>- Parameters too: the x in square(int x) lives only in square.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924641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variable made outside every function, at the top of the file, is a global variable. Every function can see it and change it. In 05_global.c, tick adds one to count three times, and main prints count = 3.</a:t>
            </a:r>
          </a:p>
          <a:p>
            <a:endParaRPr lang="en-US"/>
          </a:p>
          <a:p>
            <a:r>
              <a:rPr lang="en-US"/>
              <a:t>You will see globals in other people's code. For now, do not use them in your own programs. When every function can change a box, it is hard to find which one changed it. Send values in with parameters, and send them back with return.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92223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2: what does a function really get?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72334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you call a function, the value of each argument is copied into the parameter. The parameter is a new box, inside the function. If the function changes it, it changes the copy. The original stays the same.</a:t>
            </a:r>
          </a:p>
          <a:p>
            <a:endParaRPr lang="en-US"/>
          </a:p>
          <a:p>
            <a:r>
              <a:rPr lang="en-US"/>
              <a:t>Think of giving a friend a photocopy of your notes. They can write all over the photocopy. Your notes stay clean.</a:t>
            </a:r>
          </a:p>
          <a:p>
            <a:endParaRPr lang="en-US"/>
          </a:p>
          <a:p>
            <a:r>
              <a:rPr lang="en-US"/>
              <a:t>This is called call-by-value: C always passes values, never the boxes themselves.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864295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x is 5. double_it doubles its parameter 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29258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shows:</a:t>
            </a:r>
          </a:p>
          <a:p>
            <a:endParaRPr lang="en-US"/>
          </a:p>
          <a:p>
            <a:r>
              <a:rPr lang="en-US"/>
              <a:t>inside: n = 10</a:t>
            </a:r>
          </a:p>
          <a:p>
            <a:r>
              <a:rPr lang="en-US"/>
              <a:t>after: x = 5</a:t>
            </a:r>
          </a:p>
          <a:p>
            <a:endParaRPr lang="en-US"/>
          </a:p>
          <a:p>
            <a:r>
              <a:rPr lang="en-US"/>
              <a:t>n became 10, but x is still 5: n was a copy. The file is 06_double_it.c.</a:t>
            </a:r>
          </a:p>
          <a:p>
            <a:endParaRPr lang="en-US"/>
          </a:p>
          <a:p>
            <a:r>
              <a:rPr lang="en-US"/>
              <a:t>The compiler does not warn you about this. No error, no warning, even with gcc -Wall -Wextra. You have to know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19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420680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trace, one step at a time. Step 1, the call: the value of x, 5, is copied into n. Now there are two boxes, both holding 5.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22979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Step 2, n = n * 2;: n becomes 10. x is in another box, in main. Nothing touches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0377743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Step 3, the function ends: n is gone. Back in main, x is 5. It was 5 the whole time.</a:t>
            </a:r>
          </a:p>
          <a:p>
            <a:endParaRPr lang="en-US"/>
          </a:p>
          <a:p>
            <a:r>
              <a:rPr lang="en-US"/>
              <a:t>step: main: x · double_it: n</a:t>
            </a:r>
          </a:p>
          <a:p>
            <a:r>
              <a:rPr lang="en-US"/>
              <a:t>the call: 5 · 5</a:t>
            </a:r>
          </a:p>
          <a:p>
            <a:r>
              <a:rPr lang="en-US"/>
              <a:t>n = n * 2;: 5 · 10</a:t>
            </a:r>
          </a:p>
          <a:p>
            <a:r>
              <a:rPr lang="en-US"/>
              <a:t>function ends: 5 · gone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161821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This time the parameter is called x, the same name as the variable in main.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5250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inside: x = 6, then after: x = 5. The same name does not make it the same box. The parameter x lives in add_one, and it is a copy. The file is 07_add_one_same_name.c.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5599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get a new value back, return it. In 08_double_return.c, double_it returns n * 2, and main keeps it:</a:t>
            </a:r>
          </a:p>
          <a:p>
            <a:endParaRPr lang="en-US"/>
          </a:p>
          <a:p>
            <a:r>
              <a:rPr lang="en-US"/>
              <a:t>x = double_it(x);</a:t>
            </a:r>
          </a:p>
          <a:p>
            <a:endParaRPr lang="en-US"/>
          </a:p>
          <a:p>
            <a:r>
              <a:rPr lang="en-US"/>
              <a:t>The screen shows after: x = 10. The function does not change x. main changes x, with the value that came back.</a:t>
            </a:r>
          </a:p>
          <a:p>
            <a:endParaRPr lang="en-US"/>
          </a:p>
          <a:p>
            <a:r>
              <a:rPr lang="en-US"/>
              <a:t>If you write only double_it(x);, the returned value is thrown away and x stays 5.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96670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swap swaps a and b with a third box, temp. Are x and y swapped after the call?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27464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shows:</a:t>
            </a:r>
          </a:p>
          <a:p>
            <a:endParaRPr lang="en-US"/>
          </a:p>
          <a:p>
            <a:r>
              <a:rPr lang="en-US"/>
              <a:t>in swap: 7 3</a:t>
            </a:r>
          </a:p>
          <a:p>
            <a:r>
              <a:rPr lang="en-US"/>
              <a:t>in main: 3 7</a:t>
            </a:r>
          </a:p>
          <a:p>
            <a:endParaRPr lang="en-US"/>
          </a:p>
          <a:p>
            <a:r>
              <a:rPr lang="en-US"/>
              <a:t>Inside swap, a and b were swapped. But they were copies. x and y in main were never touched. The file is 09_swap_fails.c.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1420475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return does not help here: it gives back one value, and a swap must change two. The real fix uses pointers, in class 18, after the midterm. Until then: a function gets copies, and return is the way back.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7293364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The call: the value is copied into the parameter.</a:t>
            </a:r>
          </a:p>
          <a:p>
            <a:r>
              <a:rPr lang="en-US"/>
              <a:t>- Inside: changes change the copy.</a:t>
            </a:r>
          </a:p>
          <a:p>
            <a:r>
              <a:rPr lang="en-US"/>
              <a:t>- The way back: return, one value.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29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46378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3: a function that calls itself.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750006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Some problems contain a smaller problem of the same kind. To count down from 3: say 3, then count down from 2. To count down from 2: say 2, then count down from 1. It must stop somewhere: at 0, say Go!</a:t>
            </a:r>
          </a:p>
          <a:p>
            <a:endParaRPr lang="en-US"/>
          </a:p>
          <a:p>
            <a:r>
              <a:rPr lang="en-US"/>
              <a:t>A function that calls itself is called recursive. Think of Russian dolls: inside each doll there is a smaller one, until the smallest, which does not open.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8689163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10_countdown.c. countdown(3) prints: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r>
              <a:rPr lang="en-US"/>
              <a:t>2</a:t>
            </a:r>
          </a:p>
          <a:p>
            <a:r>
              <a:rPr lang="en-US"/>
              <a:t>1</a:t>
            </a:r>
          </a:p>
          <a:p>
            <a:r>
              <a:rPr lang="en-US"/>
              <a:t>Go!</a:t>
            </a:r>
          </a:p>
          <a:p>
            <a:endParaRPr lang="en-US"/>
          </a:p>
          <a:p>
            <a:r>
              <a:rPr lang="en-US"/>
              <a:t>Inside countdown there is a call to countdown. That is recursion.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1370398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lit lines are the base case: when n is 0, print Go! and stop. No more calls. return; with nothing after it, in a void function, means "stop here and go back".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34239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lit line, countdown(n - 1), is the recursive call: the same job, one smaller. Each call is closer to the base case: 3, 2, 1, 0.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91565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countdown(3) prints 3 and calls countdown(2). countdown(2) prints 2 and calls countdown(1). Each call has its own n, like any parameter. The call with 3 is not finished when the call with 2 starts: it is waiting.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2428412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call: prints · then calls</a:t>
            </a:r>
          </a:p>
          <a:p>
            <a:r>
              <a:rPr lang="en-US"/>
              <a:t>countdown(3): 3 · countdown(2)</a:t>
            </a:r>
          </a:p>
          <a:p>
            <a:r>
              <a:rPr lang="en-US"/>
              <a:t>countdown(2): 2 · countdown(1)</a:t>
            </a:r>
          </a:p>
          <a:p>
            <a:r>
              <a:rPr lang="en-US"/>
              <a:t>countdown(1): 1 · countdown(0)</a:t>
            </a:r>
          </a:p>
          <a:p>
            <a:r>
              <a:rPr lang="en-US"/>
              <a:t>countdown(0): Go! · nothing: base case</a:t>
            </a:r>
          </a:p>
          <a:p>
            <a:endParaRPr lang="en-US"/>
          </a:p>
          <a:p>
            <a:r>
              <a:rPr lang="en-US"/>
              <a:t>Four calls of one function, each with its own 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631846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Base case: a small case you answer directly. No more calls.</a:t>
            </a:r>
          </a:p>
          <a:p>
            <a:r>
              <a:rPr lang="en-US"/>
              <a:t>- Step closer: call yourself with a smaller problem.</a:t>
            </a:r>
          </a:p>
          <a:p>
            <a:endParaRPr lang="en-US"/>
          </a:p>
          <a:p>
            <a:r>
              <a:rPr lang="en-US"/>
              <a:t>Without a base case, or with a step that does not get closer, the function never stops calling itself. Slide 50 shows what happens then.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8215695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Left: factorial with a loop, as in class 6, inside a function (12_factorial_loop.c). Right: factorial with recursion (11_factorial_rec.c). Both print 4! = 24 and 5! = 120.</a:t>
            </a:r>
          </a:p>
          <a:p>
            <a:endParaRPr lang="en-US"/>
          </a:p>
          <a:p>
            <a:r>
              <a:rPr lang="en-US"/>
              <a:t>The recursive one reads like the maths: 4! = 4 × 3!, and 1! = 1.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1968648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base case: if n is 1 or less, return 1. The &lt;= also covers 0, and 0! is 1 too.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39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109237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step closer: return n * factorial(n - 1);. The multiplication cannot happen yet: it must wait for the answer of the smaller call.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9832285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Going down: factorial(4) needs 4 * factorial(3). It cannot multiply yet, so it waits.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077000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factorial(3) waits for factorial(2), which waits for factorial(1). factorial(1) is the base case: it returns 1 at once.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262340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Coming back up: factorial(2) gets 1 and returns 2 × 1 = 2. factorial(3) gets 2 and returns 3 × 2 = 6.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851848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factorial(4) gets 6 and returns 4 × 6 = 24. Four calls down, four returns up. All the multiplications happen on the way back up.</a:t>
            </a:r>
          </a:p>
          <a:p>
            <a:endParaRPr lang="en-US"/>
          </a:p>
          <a:p>
            <a:r>
              <a:rPr lang="en-US"/>
              <a:t>call: waits for, or returns</a:t>
            </a:r>
          </a:p>
          <a:p>
            <a:r>
              <a:rPr lang="en-US"/>
              <a:t>factorial(4): 4 * factorial(3)</a:t>
            </a:r>
          </a:p>
          <a:p>
            <a:r>
              <a:rPr lang="en-US"/>
              <a:t>factorial(3): 3 * factorial(2)</a:t>
            </a:r>
          </a:p>
          <a:p>
            <a:r>
              <a:rPr lang="en-US"/>
              <a:t>factorial(2): 2 * factorial(1)</a:t>
            </a:r>
          </a:p>
          <a:p>
            <a:r>
              <a:rPr lang="en-US"/>
              <a:t>factorial(1): returns 1</a:t>
            </a:r>
          </a:p>
          <a:p>
            <a:r>
              <a:rPr lang="en-US"/>
              <a:t>factorial(2): 2 × 1: returns 2</a:t>
            </a:r>
          </a:p>
          <a:p>
            <a:r>
              <a:rPr lang="en-US"/>
              <a:t>factorial(3): 3 × 2: returns 6</a:t>
            </a:r>
          </a:p>
          <a:p>
            <a:r>
              <a:rPr lang="en-US"/>
              <a:t>factorial(4): 4 × 6: returns 24</a:t>
            </a:r>
          </a:p>
          <a:p>
            <a:endParaRPr lang="en-US"/>
          </a:p>
          <a:p>
            <a:r>
              <a:rPr lang="en-US"/>
              <a:t>Practise this table on paper. A question like this can come in Quiz 3.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968374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13_factorial_trace.c: the same factorial, with a printf when each call starts and another when it returns.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949867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shows:</a:t>
            </a:r>
          </a:p>
          <a:p>
            <a:endParaRPr lang="en-US"/>
          </a:p>
          <a:p>
            <a:r>
              <a:rPr lang="en-US"/>
              <a:t>factorial(4) starts</a:t>
            </a:r>
          </a:p>
          <a:p>
            <a:r>
              <a:rPr lang="en-US"/>
              <a:t>factorial(3) starts</a:t>
            </a:r>
          </a:p>
          <a:p>
            <a:r>
              <a:rPr lang="en-US"/>
              <a:t>factorial(2) starts</a:t>
            </a:r>
          </a:p>
          <a:p>
            <a:r>
              <a:rPr lang="en-US"/>
              <a:t>factorial(1) starts</a:t>
            </a:r>
          </a:p>
          <a:p>
            <a:r>
              <a:rPr lang="en-US"/>
              <a:t>factorial(1) returns 1</a:t>
            </a:r>
          </a:p>
          <a:p>
            <a:r>
              <a:rPr lang="en-US"/>
              <a:t>factorial(2) returns 2</a:t>
            </a:r>
          </a:p>
          <a:p>
            <a:r>
              <a:rPr lang="en-US"/>
              <a:t>factorial(3) returns 6</a:t>
            </a:r>
          </a:p>
          <a:p>
            <a:r>
              <a:rPr lang="en-US"/>
              <a:t>factorial(4) returns 24</a:t>
            </a:r>
          </a:p>
          <a:p>
            <a:r>
              <a:rPr lang="en-US"/>
              <a:t>Answer: 24</a:t>
            </a:r>
          </a:p>
          <a:p>
            <a:endParaRPr lang="en-US"/>
          </a:p>
          <a:p>
            <a:r>
              <a:rPr lang="en-US"/>
              <a:t>It is the table from slide 44.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239612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Like countdown, but the printf comes after the recursive call.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248133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1, 2, 3, one per line. On the way down, nothing is printed: each call first calls the smaller one. The numbers come out on the way back up, smallest first. The file is 14_count_up.c. Move the printf above the call and it prints 3, 2, 1.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36738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49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4753531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15_bug_no_base_case.c. gcc warns first:</a:t>
            </a:r>
          </a:p>
          <a:p>
            <a:endParaRPr lang="en-US"/>
          </a:p>
          <a:p>
            <a:r>
              <a:rPr lang="en-US"/>
              <a:t>warning: infinite recursion detected [-Winfinite-recursion]</a:t>
            </a:r>
          </a:p>
          <a:p>
            <a:endParaRPr lang="en-US"/>
          </a:p>
          <a:p>
            <a:r>
              <a:rPr lang="en-US"/>
              <a:t>It still builds a program. When you run it, the numbers fly past: 3, 2, 1, 0, -1, -2, ... Every call takes a little memory, and a waiting call does not give it back. After about 43,000 calls this memory runs out and Windows stops the program. There is no message: it just ends.</a:t>
            </a:r>
          </a:p>
          <a:p>
            <a:endParaRPr lang="en-US"/>
          </a:p>
          <a:p>
            <a:r>
              <a:rPr lang="en-US"/>
              <a:t>If you want proof, in PowerShell type $LASTEXITCODE and press Enter just after it stops. You see -1073741571: Windows' code for "stack overflow".</a:t>
            </a:r>
          </a:p>
          <a:p>
            <a:endParaRPr lang="en-US"/>
          </a:p>
          <a:p>
            <a:r>
              <a:rPr lang="en-US"/>
              <a:t>Read your warnings. gcc told you about this before you ran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1529730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sum_to(int n) with recursion. sum_to(4) is 4 + 3 + 2 + 1 = 10. First answer two questions: what is the base case, and what is the step closer? Then look at the next slide.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0501113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sum_to(int n) {</a:t>
            </a:r>
          </a:p>
          <a:p>
            <a:r>
              <a:rPr lang="en-US"/>
              <a:t>    if (n == 0) {</a:t>
            </a:r>
          </a:p>
          <a:p>
            <a:r>
              <a:rPr lang="en-US"/>
              <a:t>        return 0;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n + sum_to(n - 1);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Base case: the sum of nothing, sum_to(0), is 0. Step closer: n plus the sum of the smaller numbers. sum_to(4) is 10 and sum_to(100) is 5050. The file is 16_sum_to.c.</a:t>
            </a:r>
          </a:p>
          <a:p>
            <a:endParaRPr lang="en-US"/>
          </a:p>
          <a:p>
            <a:r>
              <a:rPr lang="en-US"/>
              <a:t>If you wrote if (n == 1) return 1; as the base case, it works for 1 and up. But then sum_to(0) never reaches the base case: 0, -1, -2, ... and it crashes like slide 50.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012089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power(base, exp) in 17_power_rec.c. Base case: anything to the power 0 is 1. Step closer: base * power(base, exp - 1). The screen shows 2 to the 10 = 1024 and 3 to the 4 = 81.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0225507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Fibonacci numbers: 0, 1, 1, 2, 3, 5, 8, 13, ... each is the sum of the two before it. The recursive version in 18_fib_calls.c is short, but every call makes two calls, and they ask the same questions again and again. fib(30) is 832040, and it took 2,692,537 calls. A loop needs about 30 steps. Try fib(40) and watch how long you wait.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8956035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Everything in this class can also be written with a loop. Recursion is short when a problem holds a smaller copy of itself; you will meet such problems later in the course. For now, the goal is to read a recursive function and trace it on paper.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2311854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variable lives inside its { }: that is its scope.</a:t>
            </a:r>
          </a:p>
          <a:p>
            <a:r>
              <a:rPr lang="en-US"/>
              <a:t>- The same name in two functions: two different boxes.</a:t>
            </a:r>
          </a:p>
          <a:p>
            <a:r>
              <a:rPr lang="en-US"/>
              <a:t>- A function gets a copy of each value.</a:t>
            </a:r>
          </a:p>
          <a:p>
            <a:r>
              <a:rPr lang="en-US"/>
              <a:t>- To send a new value back: return it.</a:t>
            </a:r>
          </a:p>
          <a:p>
            <a:r>
              <a:rPr lang="en-US"/>
              <a:t>- Recursion: a base case and a step closer.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8943471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8 on Blackboard covers this class. Three attempts, the best one is kept, and it does not count toward your grade.</a:t>
            </a:r>
          </a:p>
          <a:p>
            <a:r>
              <a:rPr lang="en-US"/>
              <a:t>- Project 1 (Blackjack) is due Sunday 11 October, 23:59, on Blackboard. It asks for functions. Start early: a program that draws one card and prints it is a good first step.</a:t>
            </a:r>
          </a:p>
          <a:p>
            <a:r>
              <a:rPr lang="en-US"/>
              <a:t>- Quiz 3 is on Friday 16 October, the first 25 minutes of the class, on paper. It covers classes 7 to 10: functions, scope, call-by-value, recursion, and arrays.</a:t>
            </a:r>
          </a:p>
          <a:p>
            <a:r>
              <a:rPr lang="en-US"/>
              <a:t>- Today's code is on Blackboard, Week 4 module, Class 8 code. Make the "Try" changes in each file.</a:t>
            </a:r>
          </a:p>
          <a:p>
            <a:endParaRPr lang="en-US"/>
          </a:p>
          <a:p>
            <a:r>
              <a:rPr lang="en-US"/>
              <a:t>Next class: arrays. Many values under one name.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D7361-9F18-4952-B367-8D94180FC5B7}" type="slidenum">
              <a:rPr lang="az-Latn-AZ" smtClean="0"/>
              <a:t>57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3969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4 · Class 8 · Quiz 2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Quiz 2: 25 minutes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Pen only. No laptop, no phone. Write your name and student ID first.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4 · Class 8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Scope, call-by-value and recursion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Where a variable lives · what a function gets · a function that calls itself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(n &lt;= 1)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Tuesday gave us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function has a </a:t>
            </a:r>
            <a:r>
              <a:rPr lang="en-US" sz="2800" b="1" dirty="0">
                <a:solidFill>
                  <a:srgbClr val="18324A"/>
                </a:solidFill>
              </a:rPr>
              <a:t>name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parameters</a:t>
            </a:r>
            <a:r>
              <a:rPr lang="en-US" sz="2800" dirty="0">
                <a:solidFill>
                  <a:srgbClr val="18324A"/>
                </a:solidFill>
              </a:rPr>
              <a:t> and a </a:t>
            </a:r>
            <a:r>
              <a:rPr lang="en-US" sz="2800" b="1" dirty="0">
                <a:solidFill>
                  <a:srgbClr val="18324A"/>
                </a:solidFill>
              </a:rPr>
              <a:t>return type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800" dirty="0">
                <a:solidFill>
                  <a:srgbClr val="18324A"/>
                </a:solidFill>
              </a:rPr>
              <a:t> hands </a:t>
            </a:r>
            <a:r>
              <a:rPr lang="en-US" sz="2800" b="1" dirty="0">
                <a:solidFill>
                  <a:srgbClr val="18324A"/>
                </a:solidFill>
              </a:rPr>
              <a:t>one</a:t>
            </a:r>
            <a:r>
              <a:rPr lang="en-US" sz="2800" dirty="0">
                <a:solidFill>
                  <a:srgbClr val="18324A"/>
                </a:solidFill>
              </a:rPr>
              <a:t> value back to the caller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call is replaced by that value: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square(5)</a:t>
            </a:r>
            <a:r>
              <a:rPr lang="en-US" sz="2800" dirty="0">
                <a:solidFill>
                  <a:srgbClr val="18324A"/>
                </a:solidFill>
              </a:rPr>
              <a:t> becomes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25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2800" dirty="0">
                <a:solidFill>
                  <a:srgbClr val="18324A"/>
                </a:solidFill>
              </a:rPr>
              <a:t>: a function that returns nothing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Write the function </a:t>
            </a:r>
            <a:r>
              <a:rPr lang="en-US" sz="2800" b="1" dirty="0">
                <a:solidFill>
                  <a:srgbClr val="18324A"/>
                </a:solidFill>
              </a:rPr>
              <a:t>above</a:t>
            </a:r>
            <a:r>
              <a:rPr lang="en-US" sz="2800" dirty="0">
                <a:solidFill>
                  <a:srgbClr val="18324A"/>
                </a:solidFill>
              </a:rPr>
              <a:t>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Two calls in one line.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total = square(3) + square(4);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printf("%d\n", total);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Two calls in one line.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3699002"/>
            <a:ext cx="588233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total = square(3) + square(4);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total);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25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square(3)</a:t>
            </a:r>
            <a:r>
              <a:rPr lang="en-US" sz="2600" dirty="0">
                <a:solidFill>
                  <a:srgbClr val="18324A"/>
                </a:solidFill>
              </a:rPr>
              <a:t> is 9,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square(4)</a:t>
            </a:r>
            <a:r>
              <a:rPr lang="en-US" sz="2600" dirty="0">
                <a:solidFill>
                  <a:srgbClr val="18324A"/>
                </a:solidFill>
              </a:rPr>
              <a:t> is 16.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Scope: </a:t>
            </a:r>
            <a:r>
              <a:rPr lang="en-US" sz="2800" b="1" dirty="0">
                <a:solidFill>
                  <a:srgbClr val="18324A"/>
                </a:solidFill>
              </a:rPr>
              <a:t>where</a:t>
            </a:r>
            <a:r>
              <a:rPr lang="en-US" sz="2800" dirty="0">
                <a:solidFill>
                  <a:srgbClr val="18324A"/>
                </a:solidFill>
              </a:rPr>
              <a:t> does a variable live?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Call-by-value: </a:t>
            </a:r>
            <a:r>
              <a:rPr lang="en-US" sz="2800" b="1" dirty="0">
                <a:solidFill>
                  <a:srgbClr val="18324A"/>
                </a:solidFill>
              </a:rPr>
              <a:t>what</a:t>
            </a:r>
            <a:r>
              <a:rPr lang="en-US" sz="2800" dirty="0">
                <a:solidFill>
                  <a:srgbClr val="18324A"/>
                </a:solidFill>
              </a:rPr>
              <a:t> does a function get?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Recursion: a function that </a:t>
            </a:r>
            <a:r>
              <a:rPr lang="en-US" sz="2800" b="1" dirty="0">
                <a:solidFill>
                  <a:srgbClr val="18324A"/>
                </a:solidFill>
              </a:rPr>
              <a:t>calls itself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Three short parts. Each one answers a question you may have asked on Tuesday.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Scope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Where does a variable live?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variable lives inside its braces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 variable made inside a function lives only in that function.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is made when the function starts.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is gone when the function ends.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part of the program where a name can be used is its </a:t>
            </a:r>
            <a:r>
              <a:rPr lang="en-US" sz="3000" b="1" dirty="0">
                <a:solidFill>
                  <a:srgbClr val="18324A"/>
                </a:solidFill>
              </a:rPr>
              <a:t>scope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main cannot see inside square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fix: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 r = square(5);</a:t>
            </a:r>
            <a:r>
              <a:rPr lang="en-US" sz="2400" dirty="0">
                <a:solidFill>
                  <a:srgbClr val="18324A"/>
                </a:solidFill>
              </a:rPr>
              <a:t> in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. Only the </a:t>
            </a:r>
            <a:r>
              <a:rPr lang="en-US" sz="2400" b="1" dirty="0">
                <a:solidFill>
                  <a:srgbClr val="18324A"/>
                </a:solidFill>
              </a:rPr>
              <a:t>value</a:t>
            </a:r>
            <a:r>
              <a:rPr lang="en-US" sz="2400" dirty="0">
                <a:solidFill>
                  <a:srgbClr val="18324A"/>
                </a:solidFill>
              </a:rPr>
              <a:t> comes back, never the box.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69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says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'result'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undeclared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2400" dirty="0">
                <a:solidFill>
                  <a:srgbClr val="18324A"/>
                </a:solidFill>
              </a:rPr>
              <a:t> was made inside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2400" dirty="0">
                <a:solidFill>
                  <a:srgbClr val="18324A"/>
                </a:solidFill>
              </a:rPr>
              <a:t>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has none.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boxes with the same name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3200" dirty="0">
                <a:solidFill>
                  <a:srgbClr val="18324A"/>
                </a:solidFill>
              </a:rPr>
              <a:t> has an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</a:t>
            </a:r>
            <a:r>
              <a:rPr lang="en-US" sz="3200" dirty="0">
                <a:solidFill>
                  <a:srgbClr val="18324A"/>
                </a:solidFill>
              </a:rPr>
              <a:t> has an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 too.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three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f(void)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100;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f: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f();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boxes with the same name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f(void)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100;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f: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f();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x =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x = 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in f: x = 100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x = 5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's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</a:t>
            </a:r>
            <a:r>
              <a:rPr lang="en-US" sz="2400" dirty="0">
                <a:solidFill>
                  <a:srgbClr val="18324A"/>
                </a:solidFill>
              </a:rPr>
              <a:t>'s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are </a:t>
            </a:r>
            <a:r>
              <a:rPr lang="en-US" sz="2400" b="1" dirty="0">
                <a:solidFill>
                  <a:srgbClr val="18324A"/>
                </a:solidFill>
              </a:rPr>
              <a:t>different boxes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4681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4681728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4681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Same name. Different scope.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name, two boxes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543290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main's x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x = 5;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lives in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6210148" y="1536192"/>
            <a:ext cx="543290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f's x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6210148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x = 100;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lives in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made again at every call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Inside a function you choose names freely. They cannot clash with the names in other functions.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same rule for loops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Class 6: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 sum = 0;</a:t>
            </a:r>
            <a:r>
              <a:rPr lang="en-US" sz="2400" dirty="0">
                <a:solidFill>
                  <a:srgbClr val="18324A"/>
                </a:solidFill>
              </a:rPr>
              <a:t> inside the loop gave the same error. Same rule.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006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006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1; i &lt;= 3; i++)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printf("%d\n", i);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printf("After the loop: %d\n", i);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says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'i'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undeclared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2400" dirty="0">
                <a:solidFill>
                  <a:srgbClr val="18324A"/>
                </a:solidFill>
              </a:rPr>
              <a:t> was made in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2400" dirty="0">
                <a:solidFill>
                  <a:srgbClr val="18324A"/>
                </a:solidFill>
              </a:rPr>
              <a:t> brackets.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589520" y="4300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589520" y="430072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allout"/>
          <p:cNvSpPr/>
          <p:nvPr/>
        </p:nvSpPr>
        <p:spPr>
          <a:xfrm>
            <a:off x="7699248" y="4300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After the loop, it is gone.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scope rule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 name lives from the line that makes it to the </a:t>
            </a:r>
            <a:r>
              <a:rPr lang="en-US" sz="4000" b="1" dirty="0">
                <a:solidFill>
                  <a:srgbClr val="31C48D"/>
                </a:solidFill>
                <a:latin typeface="Consolas"/>
                <a:ea typeface="Consolas"/>
                <a:cs typeface="Consolas"/>
              </a:rPr>
              <a:t>}</a:t>
            </a:r>
            <a:r>
              <a:rPr lang="en-US" sz="4000" b="1" dirty="0">
                <a:solidFill>
                  <a:srgbClr val="18324A"/>
                </a:solidFill>
              </a:rPr>
              <a:t> that closes its block.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Made in a function: gone when the function ends.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Made in a loop: gone when the loop ends.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Parameters too: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000" dirty="0">
                <a:solidFill>
                  <a:srgbClr val="18324A"/>
                </a:solidFill>
              </a:rPr>
              <a:t> in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square(int x)</a:t>
            </a:r>
            <a:r>
              <a:rPr lang="en-US" sz="3000" dirty="0">
                <a:solidFill>
                  <a:srgbClr val="18324A"/>
                </a:solidFill>
              </a:rPr>
              <a:t> lives in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Global variables: you will see them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count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tick(void)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count++;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tick();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tick();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tick();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printf("count = %d\n", count);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count = 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2667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2667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2667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Made </a:t>
            </a:r>
            <a:r>
              <a:rPr lang="en-US" sz="2400" b="1" dirty="0">
                <a:solidFill>
                  <a:srgbClr val="18324A"/>
                </a:solidFill>
              </a:rPr>
              <a:t>outside</a:t>
            </a:r>
            <a:r>
              <a:rPr lang="en-US" sz="2400" dirty="0">
                <a:solidFill>
                  <a:srgbClr val="18324A"/>
                </a:solidFill>
              </a:rPr>
              <a:t> every function.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3919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3919728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3919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Every function can see it and change it.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5172456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5172456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5172456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Avoid them for now. Use parameters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Call-by-value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What does a function really get?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function gets a copy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At a call, the value is copied into the parameter.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parameter is a new box, inside the function.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Change the copy: the original stays the same.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Like giving a friend a photocopy of your notes. They can write on it. Your notes stay clean.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does x change?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 is 5.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double_it</a:t>
            </a:r>
            <a:r>
              <a:rPr lang="en-US" sz="3200" dirty="0">
                <a:solidFill>
                  <a:srgbClr val="18324A"/>
                </a:solidFill>
              </a:rPr>
              <a:t> doubles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double_it(int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 = n * 2;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printf("inside: n = 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double_it(x);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Run it: x is still 5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double_it(int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 = n * 2;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printf("inside: n = 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double_it(x);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inside: n = 10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after: x = 5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3048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30480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3048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became 10.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393496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393496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393496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is still 5.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was a </a:t>
            </a:r>
            <a:r>
              <a:rPr lang="en-US" sz="2400" b="1" dirty="0">
                <a:solidFill>
                  <a:srgbClr val="18324A"/>
                </a:solidFill>
              </a:rPr>
              <a:t>copy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boxes, side by side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call copies 5 into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. Now there are two boxes, both 5.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924427"/>
            <a:ext cx="56692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924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double_it(int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n = n * 2;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printf("inside: n = 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double_it(x);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20603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552566" y="1261872"/>
            <a:ext cx="141647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969040" y="1261872"/>
            <a:ext cx="167401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double_it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6492240" y="1920240"/>
            <a:ext cx="2060326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the call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52566" y="1920240"/>
            <a:ext cx="1416474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969040" y="1920240"/>
            <a:ext cx="1674015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2578608"/>
            <a:ext cx="20603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552566" y="2578608"/>
            <a:ext cx="141647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9969040" y="2578608"/>
            <a:ext cx="16740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20603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8552566" y="3236976"/>
            <a:ext cx="141647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9969040" y="3236976"/>
            <a:ext cx="16740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boxes, side by side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doubles.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is not touched: it is in another box.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828927"/>
            <a:ext cx="56692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double_it(int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n * 2;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printf("inside: n = 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double_it(x);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20603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552566" y="1261872"/>
            <a:ext cx="141647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969040" y="1261872"/>
            <a:ext cx="167401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double_it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6492240" y="1920240"/>
            <a:ext cx="20603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the call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52566" y="1920240"/>
            <a:ext cx="141647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969040" y="1920240"/>
            <a:ext cx="16740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2578608"/>
            <a:ext cx="2060326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= n * 2;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552566" y="2578608"/>
            <a:ext cx="1416474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9969040" y="2578608"/>
            <a:ext cx="1674015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10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20603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8552566" y="3236976"/>
            <a:ext cx="141647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9969040" y="3236976"/>
            <a:ext cx="16740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boxes, side by side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function ends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is gone.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is still 5.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273677"/>
            <a:ext cx="56692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273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double_it(int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n = n * 2;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printf("inside: n = 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double_it(x);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20603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step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552566" y="1261872"/>
            <a:ext cx="141647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969040" y="1261872"/>
            <a:ext cx="167401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double_it</a:t>
            </a:r>
            <a:r>
              <a:rPr lang="en-US" sz="1800" b="1" dirty="0">
                <a:solidFill>
                  <a:srgbClr val="FFFFFF"/>
                </a:solidFill>
              </a:rPr>
              <a:t>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6492240" y="1920240"/>
            <a:ext cx="20603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the call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52566" y="1920240"/>
            <a:ext cx="141647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969040" y="1920240"/>
            <a:ext cx="16740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2578608"/>
            <a:ext cx="206032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= n * 2;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552566" y="2578608"/>
            <a:ext cx="1416474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9969040" y="2578608"/>
            <a:ext cx="1674015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10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2060326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function ends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8552566" y="3236976"/>
            <a:ext cx="1416474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5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9969040" y="3236976"/>
            <a:ext cx="1674015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gone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Even with the same name?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parameter is called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 too.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add_one(int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x = x + 1;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printf("inside: x = %d\n",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add_one(x);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Even with the same name?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parameter is called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 too.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add_one(int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x = x + 1;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printf("inside: x = %d\n",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add_one(x);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548640" y="4648200"/>
            <a:ext cx="4937760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4648200"/>
            <a:ext cx="4828032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inside: x = 6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after: x = 5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fix: return the new value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625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530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530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double_it(int n)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* 2;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x = 5;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 = double_it(x);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printf("after: x = %d\n", x);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after: x = 10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2667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2667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2667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function </a:t>
            </a:r>
            <a:r>
              <a:rPr lang="en-US" sz="2400" b="1" dirty="0">
                <a:solidFill>
                  <a:srgbClr val="18324A"/>
                </a:solidFill>
              </a:rPr>
              <a:t>returns</a:t>
            </a:r>
            <a:r>
              <a:rPr lang="en-US" sz="2400" dirty="0">
                <a:solidFill>
                  <a:srgbClr val="18324A"/>
                </a:solidFill>
              </a:rPr>
              <a:t> the doubled value.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7589520" y="3919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3919728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3919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keeps it: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 = double_it(x);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swap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swap</a:t>
            </a:r>
            <a:r>
              <a:rPr lang="en-US" sz="3200" dirty="0">
                <a:solidFill>
                  <a:srgbClr val="18324A"/>
                </a:solidFill>
              </a:rPr>
              <a:t> swaps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b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Does it swap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49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49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swap(int a, int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temp = a;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 = b;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 = temp;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swap: %d %d\n", a, b);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3, y = 7;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swap(x,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main: %d %d\n", x,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swap does not swap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swap(int a, int b)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temp = a;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 = b;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 = temp;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swap: %d %d\n", a, b);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x = 3, y = 7;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swap(x, y);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printf("in main: %d %d\n", x, y);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in swap: 7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in main: 3 7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copies were swapped.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430072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4300728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430072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2400" dirty="0">
                <a:solidFill>
                  <a:srgbClr val="18324A"/>
                </a:solidFill>
              </a:rPr>
              <a:t> were not.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Changing the caller's boxes needs pointers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4000" b="1" dirty="0">
                <a:solidFill>
                  <a:srgbClr val="18324A"/>
                </a:solidFill>
              </a:rPr>
              <a:t> gives back one value. </a:t>
            </a:r>
            <a:r>
              <a:rPr lang="en-US" sz="4000" b="1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swap</a:t>
            </a:r>
            <a:r>
              <a:rPr lang="en-US" sz="4000" b="1" dirty="0">
                <a:solidFill>
                  <a:srgbClr val="18324A"/>
                </a:solidFill>
              </a:rPr>
              <a:t> must change two.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real fix uses </a:t>
            </a:r>
            <a:r>
              <a:rPr lang="en-US" sz="3000" b="1" dirty="0">
                <a:solidFill>
                  <a:srgbClr val="18324A"/>
                </a:solidFill>
              </a:rPr>
              <a:t>pointers</a:t>
            </a:r>
            <a:r>
              <a:rPr lang="en-US" sz="3000" dirty="0">
                <a:solidFill>
                  <a:srgbClr val="18324A"/>
                </a:solidFill>
              </a:rPr>
              <a:t>: class 18, after the midterm.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Until then: a function gets copies, and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3000" dirty="0">
                <a:solidFill>
                  <a:srgbClr val="18324A"/>
                </a:solidFill>
              </a:rPr>
              <a:t> is the way back.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Call-by-value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354573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call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354573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b="1" dirty="0">
                <a:solidFill>
                  <a:srgbClr val="18324A"/>
                </a:solidFill>
              </a:rPr>
              <a:t>value</a:t>
            </a:r>
            <a:r>
              <a:rPr lang="en-US" sz="2400" dirty="0">
                <a:solidFill>
                  <a:srgbClr val="18324A"/>
                </a:solidFill>
              </a:rPr>
              <a:t> is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copied into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parameter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4322978" y="1536192"/>
            <a:ext cx="354573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Inside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4322978" y="2267712"/>
            <a:ext cx="354573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Changes change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b="1" dirty="0">
                <a:solidFill>
                  <a:srgbClr val="18324A"/>
                </a:solidFill>
              </a:rPr>
              <a:t>copy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8097317" y="1536192"/>
            <a:ext cx="3545738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way back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8097317" y="2267712"/>
            <a:ext cx="354573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400" dirty="0">
                <a:solidFill>
                  <a:srgbClr val="18324A"/>
                </a:solidFill>
              </a:rPr>
              <a:t>: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one value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Recursion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A function that calls itself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8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function may call itself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Solve a big problem by solving a smaller one of the same kind.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Count down from 3 = say 3, then count down from 2.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must stop somewhere: at 0, say </a:t>
            </a:r>
            <a:r>
              <a:rPr lang="en-US" sz="3000" b="1" dirty="0">
                <a:solidFill>
                  <a:srgbClr val="18324A"/>
                </a:solidFill>
              </a:rPr>
              <a:t>Go!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Like Russian dolls: inside each doll is a smaller one, until the smallest, which does not open.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countdown.c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countdown(int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printf("Go!\n");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countdown(n - 1);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countdown(3);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Go!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base case: when to stop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289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78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5274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8766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countdown(int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printf("Go!\n");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countdown(n - 1);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countdown(3);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6" name="Shape 16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</a:rPr>
              <a:t>Base case</a:t>
            </a:r>
            <a:r>
              <a:rPr lang="en-US" sz="2400" dirty="0">
                <a:solidFill>
                  <a:srgbClr val="18324A"/>
                </a:solidFill>
              </a:rPr>
              <a:t>: at 0, no more calls.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return;</a:t>
            </a:r>
            <a:r>
              <a:rPr lang="en-US" sz="2400" dirty="0">
                <a:solidFill>
                  <a:srgbClr val="18324A"/>
                </a:solidFill>
              </a:rPr>
              <a:t> in a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2400" dirty="0">
                <a:solidFill>
                  <a:srgbClr val="18324A"/>
                </a:solidFill>
              </a:rPr>
              <a:t> function: stop here.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step closer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575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575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countdown(int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printf("Go!\n");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countdown(n - 1);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countdown(3);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</a:rPr>
              <a:t>Recursive call</a:t>
            </a:r>
            <a:r>
              <a:rPr lang="en-US" sz="2400" dirty="0">
                <a:solidFill>
                  <a:srgbClr val="18324A"/>
                </a:solidFill>
              </a:rPr>
              <a:t>: the same job, one smaller.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- 1</a:t>
            </a:r>
            <a:r>
              <a:rPr lang="en-US" sz="2400" dirty="0">
                <a:solidFill>
                  <a:srgbClr val="18324A"/>
                </a:solidFill>
              </a:rPr>
              <a:t> moves toward the base case.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countdown(3), call by call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Each call has its </a:t>
            </a:r>
            <a:r>
              <a:rPr lang="en-US" sz="2400" b="1" dirty="0">
                <a:solidFill>
                  <a:srgbClr val="18324A"/>
                </a:solidFill>
              </a:rPr>
              <a:t>own</a:t>
            </a:r>
            <a:r>
              <a:rPr lang="en-US" sz="2400" dirty="0">
                <a:solidFill>
                  <a:srgbClr val="18324A"/>
                </a:solidFill>
              </a:rPr>
              <a:t>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. The call with 3 is not finished when the call with 2 starts.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00631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4554957" y="1261872"/>
            <a:ext cx="24654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prints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7020382" y="1261872"/>
            <a:ext cx="46226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then calls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400631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countdown(3)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4554957" y="1920240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7020382" y="1920240"/>
            <a:ext cx="46226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countdown(2)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4006317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countdown(2)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4554957" y="2578608"/>
            <a:ext cx="2465426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7020382" y="2578608"/>
            <a:ext cx="4622673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countdown(1)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400631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4554957" y="3236976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020382" y="3236976"/>
            <a:ext cx="46226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548640" y="3895344"/>
            <a:ext cx="400631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4554957" y="3895344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7020382" y="3895344"/>
            <a:ext cx="46226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countdown(3), call by call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Four calls of one function, each with its own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: 3, 2, 1, 0. The last one stops.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00631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4554957" y="1261872"/>
            <a:ext cx="246542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prints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7020382" y="1261872"/>
            <a:ext cx="462267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then calls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400631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countdown(3)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4554957" y="1920240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7020382" y="1920240"/>
            <a:ext cx="46226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countdown(2)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4006317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countdown(2)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4554957" y="2578608"/>
            <a:ext cx="246542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7020382" y="2578608"/>
            <a:ext cx="462267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countdown(1)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400631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countdown(1)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4554957" y="3236976"/>
            <a:ext cx="246542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7020382" y="3236976"/>
            <a:ext cx="46226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countdown(0)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3895344"/>
            <a:ext cx="4006317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countdown(0)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4554957" y="3895344"/>
            <a:ext cx="2465426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Go!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7020382" y="3895344"/>
            <a:ext cx="4622673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nothing: base case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Every recursive function has two parts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543290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 case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A small case you answer </a:t>
            </a:r>
            <a:r>
              <a:rPr lang="en-US" sz="2400" b="1" dirty="0">
                <a:solidFill>
                  <a:srgbClr val="18324A"/>
                </a:solidFill>
              </a:rPr>
              <a:t>directly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No more calls.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6210148" y="1536192"/>
            <a:ext cx="543290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closer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6210148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Call yourself with a </a:t>
            </a:r>
            <a:r>
              <a:rPr lang="en-US" sz="2400" b="1" dirty="0">
                <a:solidFill>
                  <a:srgbClr val="18324A"/>
                </a:solidFill>
              </a:rPr>
              <a:t>smaller</a:t>
            </a:r>
            <a:r>
              <a:rPr lang="en-US" sz="2400" dirty="0">
                <a:solidFill>
                  <a:srgbClr val="18324A"/>
                </a:solidFill>
              </a:rPr>
              <a:t> problem.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base case, or a step that does not get closer: it never stops.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 two ways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Both print the same. The right one reads like the maths: n! = n × (n-1)!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364328" cy="3840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with a loop (class 6)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548640" y="1645920"/>
            <a:ext cx="5364328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645920"/>
            <a:ext cx="5364328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fact =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1; i &lt;= n;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fact *= i;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fact;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6278728" y="1261872"/>
            <a:ext cx="536432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with recursion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278728" y="1645920"/>
            <a:ext cx="5364328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6278728" y="1645920"/>
            <a:ext cx="5364328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factorial: the base case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63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625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printf("4! = %d\n", factorial(4));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printf("5! = %d\n", factorial(5));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1261872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</a:rPr>
              <a:t>Base case</a:t>
            </a:r>
            <a:r>
              <a:rPr lang="en-US" sz="2400" dirty="0">
                <a:solidFill>
                  <a:srgbClr val="18324A"/>
                </a:solidFill>
              </a:rPr>
              <a:t>: 1! is 1.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214884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214884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214884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&lt;= 1</a:t>
            </a:r>
            <a:r>
              <a:rPr lang="en-US" sz="2400" dirty="0">
                <a:solidFill>
                  <a:srgbClr val="18324A"/>
                </a:solidFill>
              </a:rPr>
              <a:t> catches 0! too: also 1.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factorial: the step closer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006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006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printf("4! = %d\n", factorial(4));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printf("5! = %d\n", factorial(5));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4! = 24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5! = 120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n! = n × (n-1)!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93496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934968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93496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*</a:t>
            </a:r>
            <a:r>
              <a:rPr lang="en-US" sz="2400" dirty="0">
                <a:solidFill>
                  <a:srgbClr val="18324A"/>
                </a:solidFill>
              </a:rPr>
              <a:t> must </a:t>
            </a:r>
            <a:r>
              <a:rPr lang="en-US" sz="2400" b="1" dirty="0">
                <a:solidFill>
                  <a:srgbClr val="18324A"/>
                </a:solidFill>
              </a:rPr>
              <a:t>wait</a:t>
            </a:r>
            <a:r>
              <a:rPr lang="en-US" sz="2400" dirty="0">
                <a:solidFill>
                  <a:srgbClr val="18324A"/>
                </a:solidFill>
              </a:rPr>
              <a:t> for the smaller call.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factorial(4): down and back up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Going </a:t>
            </a:r>
            <a:r>
              <a:rPr lang="en-US" sz="2400" b="1" dirty="0">
                <a:solidFill>
                  <a:srgbClr val="18324A"/>
                </a:solidFill>
              </a:rPr>
              <a:t>down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r>
              <a:rPr lang="en-US" sz="2400" dirty="0">
                <a:solidFill>
                  <a:srgbClr val="18324A"/>
                </a:solidFill>
              </a:rPr>
              <a:t> needs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r>
              <a:rPr lang="en-US" sz="2400" dirty="0">
                <a:solidFill>
                  <a:srgbClr val="18324A"/>
                </a:solidFill>
              </a:rPr>
              <a:t> first. It waits.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4937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5760720" y="1261872"/>
            <a:ext cx="2262437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023157" y="1261872"/>
            <a:ext cx="3619899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waits for, or returns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5760720" y="1772793"/>
            <a:ext cx="2262437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023157" y="1772793"/>
            <a:ext cx="3619899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4 * factorial(3)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5760720" y="2283714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023157" y="2283714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760720" y="2794635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023157" y="2794635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5760720" y="3305556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8023157" y="3305556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5760720" y="3816477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8023157" y="3816477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5760720" y="4327398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8023157" y="4327398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5760720" y="4838319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8023157" y="4838319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factorial(4): down and back up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base case: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factorial(1)</a:t>
            </a:r>
            <a:r>
              <a:rPr lang="en-US" sz="2400" dirty="0">
                <a:solidFill>
                  <a:srgbClr val="18324A"/>
                </a:solidFill>
              </a:rPr>
              <a:t> returns 1 at once. Now the waiting calls can finish.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794002"/>
            <a:ext cx="4937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111502"/>
            <a:ext cx="4937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5760720" y="1261872"/>
            <a:ext cx="2262437" cy="46520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8023157" y="1261872"/>
            <a:ext cx="3619899" cy="46520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waits for, or returns</a:t>
            </a:r>
            <a:endParaRPr lang="en-US" sz="1800" dirty="0"/>
          </a:p>
        </p:txBody>
      </p:sp>
      <p:sp>
        <p:nvSpPr>
          <p:cNvPr id="17" name="Shape 17"/>
          <p:cNvSpPr/>
          <p:nvPr/>
        </p:nvSpPr>
        <p:spPr>
          <a:xfrm>
            <a:off x="5760720" y="1727073"/>
            <a:ext cx="2262437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023157" y="1727073"/>
            <a:ext cx="3619899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4 * factorial(3)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5760720" y="2192274"/>
            <a:ext cx="2262437" cy="46520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023157" y="2192274"/>
            <a:ext cx="3619899" cy="46520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 * factorial(2)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5760720" y="2657475"/>
            <a:ext cx="2262437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factorial(2)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8023157" y="2657475"/>
            <a:ext cx="3619899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 * factorial(1)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5760720" y="3122676"/>
            <a:ext cx="2262437" cy="46520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factorial(1)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8023157" y="3122676"/>
            <a:ext cx="3619899" cy="46520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returns 1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5760720" y="3587877"/>
            <a:ext cx="2262437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8023157" y="3587877"/>
            <a:ext cx="3619899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5760720" y="4053078"/>
            <a:ext cx="2262437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8023157" y="4053078"/>
            <a:ext cx="3619899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5760720" y="4518279"/>
            <a:ext cx="2262437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8023157" y="4518279"/>
            <a:ext cx="3619899" cy="465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factorial(4): down and back up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Coming back </a:t>
            </a:r>
            <a:r>
              <a:rPr lang="en-US" sz="2400" b="1" dirty="0">
                <a:solidFill>
                  <a:srgbClr val="18324A"/>
                </a:solidFill>
              </a:rPr>
              <a:t>up</a:t>
            </a:r>
            <a:r>
              <a:rPr lang="en-US" sz="2400" dirty="0">
                <a:solidFill>
                  <a:srgbClr val="18324A"/>
                </a:solidFill>
              </a:rPr>
              <a:t>: each waiting call gets its answer and multiplies.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4937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5760720" y="1261872"/>
            <a:ext cx="2262437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023157" y="1261872"/>
            <a:ext cx="3619899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waits for, or returns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5760720" y="1772793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023157" y="1772793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4 * factorial(3)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5760720" y="2283714"/>
            <a:ext cx="2262437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023157" y="2283714"/>
            <a:ext cx="3619899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 * factorial(2)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5760720" y="2794635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factorial(2)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023157" y="2794635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 * factorial(1)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5760720" y="3305556"/>
            <a:ext cx="2262437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factorial(1)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8023157" y="3305556"/>
            <a:ext cx="3619899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returns 1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5760720" y="3816477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factorial(2)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8023157" y="3816477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 × 1: returns 2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5760720" y="4327398"/>
            <a:ext cx="2262437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8023157" y="4327398"/>
            <a:ext cx="3619899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3 × 2: returns 6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5760720" y="4838319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8023157" y="4838319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factorial(4): down and back up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r>
              <a:rPr lang="en-US" sz="2400" dirty="0">
                <a:solidFill>
                  <a:srgbClr val="18324A"/>
                </a:solidFill>
              </a:rPr>
              <a:t> returns 24. Four calls down, four returns up.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4937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493776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* factorial(n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5760720" y="1261872"/>
            <a:ext cx="2262437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023157" y="1261872"/>
            <a:ext cx="3619899" cy="510921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waits for, or returns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5760720" y="1772793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023157" y="1772793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4 * factorial(3)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5760720" y="2283714"/>
            <a:ext cx="2262437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023157" y="2283714"/>
            <a:ext cx="3619899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 * factorial(2)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5760720" y="2794635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factorial(2)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023157" y="2794635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 * factorial(1)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5760720" y="3305556"/>
            <a:ext cx="2262437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factorial(1)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8023157" y="3305556"/>
            <a:ext cx="3619899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returns 1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5760720" y="3816477"/>
            <a:ext cx="2262437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factorial(2)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8023157" y="3816477"/>
            <a:ext cx="3619899" cy="510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 × 1: returns 2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5760720" y="4327398"/>
            <a:ext cx="2262437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factorial(3)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8023157" y="4327398"/>
            <a:ext cx="3619899" cy="510921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 × 2: returns 6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5760720" y="4838319"/>
            <a:ext cx="2262437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factorial(4)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8023157" y="4838319"/>
            <a:ext cx="3619899" cy="510921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4 × 6: returns 24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See it happen: the code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11094415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933702"/>
            <a:ext cx="1109441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933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822702"/>
            <a:ext cx="1109441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600702"/>
            <a:ext cx="1109441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4600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11094415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printf("factorial(%d) starts\n", n);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printf("factorial(%d) returns 1\n", n);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n * factorial(n - 1);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printf("factorial(%d) returns %d\n", n, result);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See it happen: the output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217920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217920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printf("Answer: %d\n", factorial(4));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040880" y="1261872"/>
            <a:ext cx="460217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040880" y="1645920"/>
            <a:ext cx="4602175" cy="3794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040880" y="1645920"/>
            <a:ext cx="4602175" cy="3794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factorial(4) starts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factorial(3) starts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factorial(2) starts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factorial(1) starts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factorial(1) returns 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factorial(2) returns 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factorial(3) returns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factorial(4) returns 24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Answer: 24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print after the call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621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Like countdown, but the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3200" dirty="0">
                <a:solidFill>
                  <a:srgbClr val="18324A"/>
                </a:solidFill>
              </a:rPr>
              <a:t> is </a:t>
            </a:r>
            <a:r>
              <a:rPr lang="en-US" sz="3200" b="1" dirty="0">
                <a:solidFill>
                  <a:srgbClr val="18324A"/>
                </a:solidFill>
              </a:rPr>
              <a:t>after</a:t>
            </a:r>
            <a:r>
              <a:rPr lang="en-US" sz="3200" dirty="0">
                <a:solidFill>
                  <a:srgbClr val="18324A"/>
                </a:solidFill>
              </a:rPr>
              <a:t> the call.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count_up(3)</a:t>
            </a:r>
            <a:r>
              <a:rPr lang="en-US" sz="3200" dirty="0">
                <a:solidFill>
                  <a:srgbClr val="18324A"/>
                </a:solidFill>
              </a:rPr>
              <a:t>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3711702"/>
            <a:ext cx="5882335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3711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count_up(int n)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count_up(n - 1);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count_up(3);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print after the call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621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Like countdown, but the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3200" dirty="0">
                <a:solidFill>
                  <a:srgbClr val="18324A"/>
                </a:solidFill>
              </a:rPr>
              <a:t> is </a:t>
            </a:r>
            <a:r>
              <a:rPr lang="en-US" sz="3200" b="1" dirty="0">
                <a:solidFill>
                  <a:srgbClr val="18324A"/>
                </a:solidFill>
              </a:rPr>
              <a:t>after</a:t>
            </a:r>
            <a:r>
              <a:rPr lang="en-US" sz="3200" dirty="0">
                <a:solidFill>
                  <a:srgbClr val="18324A"/>
                </a:solidFill>
              </a:rPr>
              <a:t> the call.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count_up(3)</a:t>
            </a:r>
            <a:r>
              <a:rPr lang="en-US" sz="3200" dirty="0">
                <a:solidFill>
                  <a:srgbClr val="18324A"/>
                </a:solidFill>
              </a:rPr>
              <a:t>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322592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3225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count_up(int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count_up(n - 1);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count_up(3);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2600" dirty="0">
                <a:solidFill>
                  <a:srgbClr val="18324A"/>
                </a:solidFill>
              </a:rPr>
              <a:t>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2600" dirty="0">
                <a:solidFill>
                  <a:srgbClr val="18324A"/>
                </a:solidFill>
              </a:rPr>
              <a:t>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2600" dirty="0">
                <a:solidFill>
                  <a:srgbClr val="18324A"/>
                </a:solidFill>
              </a:rPr>
              <a:t>, one per line.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Printed on the way back </a:t>
            </a:r>
            <a:r>
              <a:rPr lang="en-US" sz="2600" b="1" dirty="0">
                <a:solidFill>
                  <a:srgbClr val="18324A"/>
                </a:solidFill>
              </a:rPr>
              <a:t>up</a:t>
            </a:r>
            <a:r>
              <a:rPr lang="en-US" sz="2600" dirty="0">
                <a:solidFill>
                  <a:srgbClr val="18324A"/>
                </a:solidFill>
              </a:rPr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 base case: what happens?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base case is gone.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gcc say?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happens when it runs?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countdown(int n)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countdown(n - 1);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countdown(3);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 base case: it crashes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About 43,000 calls, then the memory runs out and the program stops, with </a:t>
            </a:r>
            <a:r>
              <a:rPr lang="en-US" sz="2400" b="1" dirty="0">
                <a:solidFill>
                  <a:srgbClr val="18324A"/>
                </a:solidFill>
              </a:rPr>
              <a:t>no message</a:t>
            </a:r>
            <a:r>
              <a:rPr lang="en-US" sz="2400" dirty="0">
                <a:solidFill>
                  <a:srgbClr val="18324A"/>
                </a:solidFill>
              </a:rPr>
              <a:t>. gcc -Wall warned first: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infinite recursion detected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78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countdown(int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n);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countdown(n - 1);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countdown(3);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3032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-1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...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-43130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sum_to(n)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sum_to(int n)</a:t>
            </a:r>
            <a:r>
              <a:rPr lang="en-US" sz="3200" dirty="0">
                <a:solidFill>
                  <a:srgbClr val="18324A"/>
                </a:solidFill>
              </a:rPr>
              <a:t> with recursion.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sum_to(4)</a:t>
            </a:r>
            <a:r>
              <a:rPr lang="en-US" sz="3200" dirty="0">
                <a:solidFill>
                  <a:srgbClr val="18324A"/>
                </a:solidFill>
              </a:rPr>
              <a:t> is 4 + 3 + 2 + 1 = 10.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the base case? What is the step closer?</a:t>
            </a:r>
            <a:endParaRPr 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sum_to: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7940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11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48640" y="1261872"/>
            <a:ext cx="694944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sum_to(int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(n == 0)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 + sum_to(n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printf("sum_to(4) = %d\n", sum_to(4));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printf("sum_to(100) = %d\n", sum_to(100));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6" name="Shape 16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7" name="Shape 17"/>
          <p:cNvSpPr/>
          <p:nvPr/>
        </p:nvSpPr>
        <p:spPr>
          <a:xfrm>
            <a:off x="7772400" y="1645920"/>
            <a:ext cx="387065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ode"/>
          <p:cNvSpPr/>
          <p:nvPr/>
        </p:nvSpPr>
        <p:spPr>
          <a:xfrm>
            <a:off x="7772400" y="1645920"/>
            <a:ext cx="387065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sum_to(4) = 10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sum_to(100) = 5050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772400" y="3048000"/>
            <a:ext cx="38706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77240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allout"/>
          <p:cNvSpPr/>
          <p:nvPr/>
        </p:nvSpPr>
        <p:spPr>
          <a:xfrm>
            <a:off x="7882128" y="3048000"/>
            <a:ext cx="37609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Base: the sum of nothing is 0.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7772400" y="4300728"/>
            <a:ext cx="38706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7772400" y="4300728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" name="Callout"/>
          <p:cNvSpPr/>
          <p:nvPr/>
        </p:nvSpPr>
        <p:spPr>
          <a:xfrm>
            <a:off x="7882128" y="4300728"/>
            <a:ext cx="37609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Step: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+ sum_to(n - 1)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more: power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04088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70408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04088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power(int base, int exp)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(exp == 0)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base * power(base, exp - 1);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printf("2 to the 10 = %d\n", power(2, 10));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printf("3 to the 4 = %d\n", power(3, 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863840" y="1261872"/>
            <a:ext cx="37792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863840" y="1645920"/>
            <a:ext cx="377921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863840" y="1645920"/>
            <a:ext cx="377921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 to the 10 = 1024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 to the 4 = 81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863840" y="3048000"/>
            <a:ext cx="37792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86384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973568" y="3048000"/>
            <a:ext cx="36694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Base: anything to the power 0 is 1.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recursion can be slow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255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5497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549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255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fib(int n)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calls++;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(n &lt;= 1)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n;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fib(n - 1) + fib(n - 2);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fib(30) = 832040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calls: 2692537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Two calls inside every call: the same questions, again and again.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66648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666488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66648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loop needs about 30 steps.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Loop or recursion?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Everything today can also be written with a loop.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Recursion is short when a problem holds a smaller copy of itself.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Today's goal: </a:t>
            </a:r>
            <a:r>
              <a:rPr lang="en-US" sz="3000" b="1" dirty="0">
                <a:solidFill>
                  <a:srgbClr val="18324A"/>
                </a:solidFill>
              </a:rPr>
              <a:t>read</a:t>
            </a:r>
            <a:r>
              <a:rPr lang="en-US" sz="3000" dirty="0">
                <a:solidFill>
                  <a:srgbClr val="18324A"/>
                </a:solidFill>
              </a:rPr>
              <a:t> it and </a:t>
            </a:r>
            <a:r>
              <a:rPr lang="en-US" sz="3000" b="1" dirty="0">
                <a:solidFill>
                  <a:srgbClr val="18324A"/>
                </a:solidFill>
              </a:rPr>
              <a:t>trace</a:t>
            </a:r>
            <a:r>
              <a:rPr lang="en-US" sz="3000" dirty="0">
                <a:solidFill>
                  <a:srgbClr val="18324A"/>
                </a:solidFill>
              </a:rPr>
              <a:t> it on paper.</a:t>
            </a:r>
            <a:endParaRPr lang="en-US" sz="3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variable lives inside its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{ }</a:t>
            </a:r>
            <a:r>
              <a:rPr lang="en-US" sz="2800" dirty="0">
                <a:solidFill>
                  <a:srgbClr val="18324A"/>
                </a:solidFill>
              </a:rPr>
              <a:t>: that is its </a:t>
            </a:r>
            <a:r>
              <a:rPr lang="en-US" sz="2800" b="1" dirty="0">
                <a:solidFill>
                  <a:srgbClr val="18324A"/>
                </a:solidFill>
              </a:rPr>
              <a:t>scope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Same name in two functions: two different boxes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function gets a </a:t>
            </a:r>
            <a:r>
              <a:rPr lang="en-US" sz="2800" b="1" dirty="0">
                <a:solidFill>
                  <a:srgbClr val="18324A"/>
                </a:solidFill>
              </a:rPr>
              <a:t>copy</a:t>
            </a:r>
            <a:r>
              <a:rPr lang="en-US" sz="2800" dirty="0">
                <a:solidFill>
                  <a:srgbClr val="18324A"/>
                </a:solidFill>
              </a:rPr>
              <a:t> of each value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 send a new value back: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800" dirty="0">
                <a:solidFill>
                  <a:srgbClr val="18324A"/>
                </a:solidFill>
              </a:rPr>
              <a:t> it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Recursion: a </a:t>
            </a:r>
            <a:r>
              <a:rPr lang="en-US" sz="2800" b="1" dirty="0">
                <a:solidFill>
                  <a:srgbClr val="18324A"/>
                </a:solidFill>
              </a:rPr>
              <a:t>base case</a:t>
            </a:r>
            <a:r>
              <a:rPr lang="en-US" sz="2800" dirty="0">
                <a:solidFill>
                  <a:srgbClr val="18324A"/>
                </a:solidFill>
              </a:rPr>
              <a:t> and a </a:t>
            </a:r>
            <a:r>
              <a:rPr lang="en-US" sz="2800" b="1" dirty="0">
                <a:solidFill>
                  <a:srgbClr val="18324A"/>
                </a:solidFill>
              </a:rPr>
              <a:t>step closer</a:t>
            </a:r>
            <a:endParaRPr 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Tuesday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8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8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Project 1</a:t>
            </a:r>
            <a:r>
              <a:rPr lang="en-US" sz="2800" dirty="0">
                <a:solidFill>
                  <a:srgbClr val="18324A"/>
                </a:solidFill>
              </a:rPr>
              <a:t> (Blackjack): due </a:t>
            </a:r>
            <a:r>
              <a:rPr lang="en-US" sz="2800" b="1" dirty="0">
                <a:solidFill>
                  <a:srgbClr val="18324A"/>
                </a:solidFill>
              </a:rPr>
              <a:t>Sun 11 October, 23:59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Quiz 3: Fri 16 October</a:t>
            </a:r>
            <a:r>
              <a:rPr lang="en-US" sz="2800" dirty="0">
                <a:solidFill>
                  <a:srgbClr val="18324A"/>
                </a:solidFill>
              </a:rPr>
              <a:t>, classes 7 to 10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4 module, </a:t>
            </a:r>
            <a:r>
              <a:rPr lang="en-US" sz="2800" b="1" dirty="0">
                <a:solidFill>
                  <a:srgbClr val="18324A"/>
                </a:solidFill>
              </a:rPr>
              <a:t>Class 8 code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Next class: arrays. Many values under one name.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8208</Words>
  <Application>Microsoft Office PowerPoint</Application>
  <PresentationFormat>Widescreen</PresentationFormat>
  <Paragraphs>1127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1101 · Class 8 · Scope call by value recursion</dc:title>
  <dc:subject>Programming Principles I - Week 3</dc:subject>
  <dc:creator>Abbas Aliyev and Azar Aliyev</dc:creator>
  <cp:lastModifiedBy>Abbas Aliyev and Azar Aliyev</cp:lastModifiedBy>
  <cp:revision>5</cp:revision>
  <dcterms:created xsi:type="dcterms:W3CDTF">2026-09-17T10:16:02Z</dcterms:created>
  <dcterms:modified xsi:type="dcterms:W3CDTF">2026-10-16T20:06:11Z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