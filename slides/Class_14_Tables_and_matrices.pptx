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087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FC2A3-E2F7-462E-8CF4-B58379B2B6E7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31D0D-E8E4-46BB-B50A-4137D49FF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949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was on the screen during Quiz 4. Quiz 4 covered classes 11 and 12: characters, strings, string functions, and text-number conversions. Your marked paper comes back on Blackboard.</a:t>
            </a:r>
          </a:p>
          <a:p>
            <a:endParaRPr lang="en-US"/>
          </a:p>
          <a:p>
            <a:r>
              <a:rPr lang="en-US"/>
              <a:t>The midterm is on Friday 30 October. It covers classes 1 to 14, so this class is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89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programs of this class are on Blackboard: Week 7 module, Class 14 code. It is a zip file. Unzip it and open the folder in Visual Studio Code. Every file has a comment at the top: what the program does, how to run it, and a list called Try with small changes to make. Make them.</a:t>
            </a:r>
          </a:p>
          <a:p>
            <a:endParaRPr lang="en-US"/>
          </a:p>
          <a:p>
            <a:r>
              <a:rPr lang="en-US"/>
              <a:t>How to run a program. Same as every week. In the terminal type gcc -Wall name.c -o name and press Enter, then ./name (or .\name in Windows PowerShell) and press Enter.</a:t>
            </a:r>
          </a:p>
          <a:p>
            <a:endParaRPr lang="en-US"/>
          </a:p>
          <a:p>
            <a:r>
              <a:rPr lang="en-US"/>
              <a:t>Today: grids sent to functions, matrices, tables, and the cells around a cell. The last part is what Project 2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871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you need from Tuesday:</a:t>
            </a:r>
          </a:p>
          <a:p>
            <a:endParaRPr lang="en-US"/>
          </a:p>
          <a:p>
            <a:r>
              <a:rPr lang="en-US"/>
              <a:t>- int t[2][3]; is a grid with 2 rows and 3 columns.</a:t>
            </a:r>
          </a:p>
          <a:p>
            <a:r>
              <a:rPr lang="en-US"/>
              <a:t>- t[r][c]: the row first, then the column. Both start at 0.</a:t>
            </a:r>
          </a:p>
          <a:p>
            <a:r>
              <a:rPr lang="en-US"/>
              <a:t>- int t[2][3] = {{4, 7, 1}, {9, 2, 6}}; has one pair of braces per row.</a:t>
            </a:r>
          </a:p>
          <a:p>
            <a:r>
              <a:rPr lang="en-US"/>
              <a:t>- Two loops visit every cell: the outer loop for the rows, the inner loop for the columns.</a:t>
            </a:r>
          </a:p>
          <a:p>
            <a:r>
              <a:rPr lang="en-US"/>
              <a:t>- #define ROWS 4 gives the size a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22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52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screen shows row 0: 12 and row 1: 17. 4 + 7 + 1 = 12 and 9 + 2 + 6 = 17. sum = 0 is inside the row loop, so every row starts a new sum. The file is 01_recap_rows.c.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5203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Five parts:</a:t>
            </a:r>
          </a:p>
          <a:p>
            <a:endParaRPr lang="en-US"/>
          </a:p>
          <a:p>
            <a:r>
              <a:rPr lang="en-US"/>
              <a:t>1. A grid goes to a function.</a:t>
            </a:r>
          </a:p>
          <a:p>
            <a:r>
              <a:rPr lang="en-US"/>
              <a:t>2. Matrices: add, transpose, the diagonals.</a:t>
            </a:r>
          </a:p>
          <a:p>
            <a:r>
              <a:rPr lang="en-US"/>
              <a:t>3. A table: one answer per row or per column.</a:t>
            </a:r>
          </a:p>
          <a:p>
            <a:r>
              <a:rPr lang="en-US"/>
              <a:t>4. The cells around a cell.</a:t>
            </a:r>
          </a:p>
          <a:p>
            <a:r>
              <a:rPr lang="en-US"/>
              <a:t>5. Your turn: one function on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05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1: a grid as a parameter.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69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the function header, write the grid like this:</a:t>
            </a:r>
          </a:p>
          <a:p>
            <a:endParaRPr lang="en-US"/>
          </a:p>
          <a:p>
            <a:r>
              <a:rPr lang="en-US"/>
              <a:t>void print_grid(int g[][COLS], int rows)</a:t>
            </a:r>
          </a:p>
          <a:p>
            <a:endParaRPr lang="en-US"/>
          </a:p>
          <a:p>
            <a:r>
              <a:rPr lang="en-US"/>
              <a:t>- The first brackets (the rows) can be empty.</a:t>
            </a:r>
          </a:p>
          <a:p>
            <a:r>
              <a:rPr lang="en-US"/>
              <a:t>- The second brackets (the columns) must have a number.</a:t>
            </a:r>
          </a:p>
          <a:p>
            <a:r>
              <a:rPr lang="en-US"/>
              <a:t>- The number of rows comes in as a normal parameter, int rows.</a:t>
            </a:r>
          </a:p>
          <a:p>
            <a:endParaRPr lang="en-US"/>
          </a:p>
          <a:p>
            <a:r>
              <a:rPr lang="en-US"/>
              <a:t>To call the function, write the name of the grid only, no brackets: print_grid(a, 3);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563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print_grid prints any grid with 4 columns. The loop for r goes up to rows (the parameter), and the loop for c goes up to COLS. %3d gives every number 3 places, so the columns line up. The file is 02_print_grid.c.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73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has 3 rows and b has 2 rows. Both have 4 columns, so the same function prints both:</a:t>
            </a:r>
          </a:p>
          <a:p>
            <a:endParaRPr lang="en-US"/>
          </a:p>
          <a:p>
            <a:r>
              <a:rPr lang="en-US"/>
              <a:t>  1  2  3  4</a:t>
            </a:r>
          </a:p>
          <a:p>
            <a:r>
              <a:rPr lang="en-US"/>
              <a:t>  5  6  7  8</a:t>
            </a:r>
          </a:p>
          <a:p>
            <a:r>
              <a:rPr lang="en-US"/>
              <a:t>  9 10 11 12</a:t>
            </a:r>
          </a:p>
          <a:p>
            <a:endParaRPr lang="en-US"/>
          </a:p>
          <a:p>
            <a:r>
              <a:rPr lang="en-US"/>
              <a:t>  0  0  0  0</a:t>
            </a:r>
          </a:p>
          <a:p>
            <a:r>
              <a:rPr lang="en-US"/>
              <a:t>  1  1  1  1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12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slide: does int g[][] compile?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64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It does not compile. gcc says:</a:t>
            </a:r>
          </a:p>
          <a:p>
            <a:endParaRPr lang="en-US"/>
          </a:p>
          <a:p>
            <a:r>
              <a:rPr lang="en-US"/>
              <a:t>error: array type has incomplete element type 'int[]'</a:t>
            </a:r>
          </a:p>
          <a:p>
            <a:endParaRPr lang="en-US"/>
          </a:p>
          <a:p>
            <a:r>
              <a:rPr lang="en-US"/>
              <a:t>The fix: write the number of columns, int g[][3]. The file is 03_bug_no_cols.c: it fails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916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memory, a grid is one long line of boxes: row 0, then row 1 right after it, then row 2. With 3 columns, row 1 starts at box 3. With 5 columns it would start at box 5. To find g[1][0], C must know how long one row is. That is the number of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55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times_table fills the grid it gets: each cell is (r + 1) * (c + 1). Then main prints it:</a:t>
            </a:r>
          </a:p>
          <a:p>
            <a:endParaRPr lang="en-US"/>
          </a:p>
          <a:p>
            <a:r>
              <a:rPr lang="en-US"/>
              <a:t>  1  2  3  4</a:t>
            </a:r>
          </a:p>
          <a:p>
            <a:r>
              <a:rPr lang="en-US"/>
              <a:t>  2  4  6  8</a:t>
            </a:r>
          </a:p>
          <a:p>
            <a:r>
              <a:rPr lang="en-US"/>
              <a:t>  3  6  9 12</a:t>
            </a:r>
          </a:p>
          <a:p>
            <a:endParaRPr lang="en-US"/>
          </a:p>
          <a:p>
            <a:r>
              <a:rPr lang="en-US"/>
              <a:t>main never filled t itself. The grid is not copied: the function writes straight into main's grid, the same as with a 1D array in class 10. The file is 04_times_table.c.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8415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total adds every cell and returns the sum. sum = 0 comes once, before both loops. For {{1, 2, 3}, {4, 5, 6}} it prints total: 21. The file is 05_total.c.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1020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2: matrices.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153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matrix is a grid of numbers, as in maths. We call the indexes i (row) and j (column): m[i][j]. Two loops visit every cell, i outside and j inside. A square matrix has as many rows as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50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Add the cells in the same place:</a:t>
            </a:r>
          </a:p>
          <a:p>
            <a:endParaRPr lang="en-US"/>
          </a:p>
          <a:p>
            <a:r>
              <a:rPr lang="en-US"/>
              <a:t>s[i][j] = a[i][j] + b[i][j];</a:t>
            </a:r>
          </a:p>
          <a:p>
            <a:endParaRPr lang="en-US"/>
          </a:p>
          <a:p>
            <a:r>
              <a:rPr lang="en-US"/>
              <a:t>{{1, 2, 3}, {4, 5, 6}} plus {{10, 20, 30}, {40, 50, 60}} gives 11 22 33 and 44 55 66. The file is 06_matrix_add.c.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4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transpose turns each row into a column. The indexes swap places:</a:t>
            </a:r>
          </a:p>
          <a:p>
            <a:endParaRPr lang="en-US"/>
          </a:p>
          <a:p>
            <a:r>
              <a:rPr lang="en-US"/>
              <a:t>t[j][i] = m[i][j];</a:t>
            </a:r>
          </a:p>
          <a:p>
            <a:endParaRPr lang="en-US"/>
          </a:p>
          <a:p>
            <a:r>
              <a:rPr lang="en-US"/>
              <a:t>m is 1 2 3 / 4 5 6 / 7 8 9. t is 1 4 7 / 2 5 8 / 3 6 9: the first row of m is the first column of t. The file is 07_transpose.c.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858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716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Main diagonal (top left to bottom right): the row and the column are equal, m[i][i]. Here 2 + 5 + 8 = 15.</a:t>
            </a:r>
          </a:p>
          <a:p>
            <a:r>
              <a:rPr lang="en-US"/>
              <a:t>- Other diagonal (top right to bottom left): the column is N - 1 - i, so m[i][N - 1 - i]. Here 1 + 5 + 6 = 12.</a:t>
            </a:r>
          </a:p>
          <a:p>
            <a:endParaRPr lang="en-US"/>
          </a:p>
          <a:p>
            <a:r>
              <a:rPr lang="en-US"/>
              <a:t>One loop is enough: on a diagonal the column follows from the row. The file is 08_diagonals.c.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0527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i = 0, 1, 2 the main diagonal uses m[0][0], m[1][1], m[2][2], and the other diagonal uses m[0][2], m[1][1], m[2][0]. The two diagonals share the middle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388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435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matrix is printed unchanged: 1 2 3 / 4 5 6 / 7 8 9. gcc gives no warning; the mistake is in the logic.</a:t>
            </a:r>
          </a:p>
          <a:p>
            <a:endParaRPr lang="en-US"/>
          </a:p>
          <a:p>
            <a:r>
              <a:rPr lang="en-US"/>
              <a:t>Why: when i is 0 and j is 1, the program swaps 2 and 4. Later, when i is 1 and j is 0, it swaps the same two cells again, back to where they were. Every pair is swapped twice. The file is 09_bug_transpose_twice.c.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8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Start the inner loop at j = i + 1:</a:t>
            </a:r>
          </a:p>
          <a:p>
            <a:endParaRPr lang="en-US"/>
          </a:p>
          <a:p>
            <a:r>
              <a:rPr lang="en-US"/>
              <a:t>for (int j = i + 1; j &lt; N; j++)</a:t>
            </a:r>
          </a:p>
          <a:p>
            <a:endParaRPr lang="en-US"/>
          </a:p>
          <a:p>
            <a:r>
              <a:rPr lang="en-US"/>
              <a:t>Now only the cells above the diagonal are visited, and each pair is swapped once. The output is the transpose, 1 4 7 / 2 5 8 / 3 6 9. The file is 10_transpose_in_place.c.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0775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3: a table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880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row is a player, each column is a round: int pts[PLAYERS][ROUNDS]. Player 1 scored 7, 9 and 4. There are two kinds of questions: one answer per player (a row), or one answer per round (a column).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185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answer per player, so the player loop is outside. For each player, sum starts at 0, the inner loop adds the rounds, and (double) sum / ROUNDS is the average. (double) makes the division exact: 20 / 3 alone would be 6.</a:t>
            </a:r>
          </a:p>
          <a:p>
            <a:endParaRPr lang="en-US"/>
          </a:p>
          <a:p>
            <a:r>
              <a:rPr lang="en-US"/>
              <a:t>player 1: 6.67</a:t>
            </a:r>
          </a:p>
          <a:p>
            <a:r>
              <a:rPr lang="en-US"/>
              <a:t>player 2: 6.33</a:t>
            </a:r>
          </a:p>
          <a:p>
            <a:r>
              <a:rPr lang="en-US"/>
              <a:t>player 3: 6.00</a:t>
            </a:r>
          </a:p>
          <a:p>
            <a:r>
              <a:rPr lang="en-US"/>
              <a:t>player 4: 7.33</a:t>
            </a:r>
          </a:p>
          <a:p>
            <a:endParaRPr lang="en-US"/>
          </a:p>
          <a:p>
            <a:r>
              <a:rPr lang="en-US"/>
              <a:t>The file is 11_points_table.c.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6978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One answer per round, so the round loop is outside. best starts at the first player, pts[0][r], and the inner loop goes down the players: the maximum from class 10, once for each column.</a:t>
            </a:r>
          </a:p>
          <a:p>
            <a:endParaRPr lang="en-US"/>
          </a:p>
          <a:p>
            <a:r>
              <a:rPr lang="en-US"/>
              <a:t>round 1 best: 9</a:t>
            </a:r>
          </a:p>
          <a:p>
            <a:r>
              <a:rPr lang="en-US"/>
              <a:t>round 2 best: 9</a:t>
            </a:r>
          </a:p>
          <a:p>
            <a:r>
              <a:rPr lang="en-US"/>
              <a:t>round 3 best: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0660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outside loop is the thing you want one answer for.</a:t>
            </a:r>
          </a:p>
          <a:p>
            <a:endParaRPr lang="en-US"/>
          </a:p>
          <a:p>
            <a:r>
              <a:rPr lang="en-US"/>
              <a:t>- One answer per row: the row loop outside.</a:t>
            </a:r>
          </a:p>
          <a:p>
            <a:r>
              <a:rPr lang="en-US"/>
              <a:t>- One answer per column: the column loop outside.</a:t>
            </a:r>
          </a:p>
          <a:p>
            <a:endParaRPr lang="en-US"/>
          </a:p>
          <a:p>
            <a:r>
              <a:rPr lang="en-US"/>
              <a:t>The index order never changes: pts[p][r], the row first,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407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4: the cells around a cell. Project 2 needs this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489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neighbours of a cell (r, c) are the cells that touch it: above, below, left, right, and the four diagonal ones. Their rows are r - 1, r, r + 1, and their columns are c - 1, c, c + 1. The cell itself is in the middle and is not its own neighbour.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2604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Two small loops give all the positions:</a:t>
            </a:r>
          </a:p>
          <a:p>
            <a:endParaRPr lang="en-US"/>
          </a:p>
          <a:p>
            <a:r>
              <a:rPr lang="en-US"/>
              <a:t>for (int dr = -1; dr &lt;= 1; dr++) {</a:t>
            </a:r>
          </a:p>
          <a:p>
            <a:r>
              <a:rPr lang="en-US"/>
              <a:t>    for (int dc = -1; dc &lt;= 1; dc++) {</a:t>
            </a:r>
          </a:p>
          <a:p>
            <a:r>
              <a:rPr lang="en-US"/>
              <a:t>        // the position (r + dr, c + dc)</a:t>
            </a:r>
          </a:p>
          <a:p>
            <a:r>
              <a:rPr lang="en-US"/>
              <a:t>  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That is 3 × 3 = 9 positions. When dr == 0 &amp;&amp; dc == 0 it is the cell itself: skip it, and 8 neighbours are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749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Draw the grid if it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121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 corner cell has 3 neighbours.</a:t>
            </a:r>
          </a:p>
          <a:p>
            <a:r>
              <a:rPr lang="en-US"/>
              <a:t>- An edge cell has 5.</a:t>
            </a:r>
          </a:p>
          <a:p>
            <a:r>
              <a:rPr lang="en-US"/>
              <a:t>- A middle cell has 8.</a:t>
            </a:r>
          </a:p>
          <a:p>
            <a:endParaRPr lang="en-US"/>
          </a:p>
          <a:p>
            <a:r>
              <a:rPr lang="en-US"/>
              <a:t>The other positions would be off the grid: row -1 or column -1 does not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334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answer before you look at the next slide. The grid has columns 0 to 3, and the program reads column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8651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program prints cell: 4 and right: 5. No error, and no warning, even with -Wall.</a:t>
            </a:r>
          </a:p>
          <a:p>
            <a:endParaRPr lang="en-US"/>
          </a:p>
          <a:p>
            <a:r>
              <a:rPr lang="en-US"/>
              <a:t>There is no column 4. In memory, the box after g[0][3] is the first box of row 1, g[1][0], which holds 5. C does not stop you: it reads the wrong cell. You must check that a position is on the grid before you read it. The file is 13_bug_right_edge.c.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2606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 is_inside(int r, int c) {</a:t>
            </a:r>
          </a:p>
          <a:p>
            <a:r>
              <a:rPr lang="en-US"/>
              <a:t>    return r &gt;= 0 &amp;&amp; r &lt; ROWS &amp;&amp; c &gt;= 0 &amp;&amp; c &lt; COLS;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It returns 1 when the row is from 0 to ROWS - 1 and the column from 0 to COLS - 1, and 0 otherwise. With 4 rows and 5 columns: is_inside(0, 0) is 1, is_inside(3, 4) is 1, is_inside(-1, 2) is 0, is_inside(2, 5) is 0. The file is 12_is_inside.c.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6600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count_neighbours(r, c) uses the two loops over dr and dc. If both are 0, continue skips the cell itself. Otherwise, if (r + dr, c + dc) is on the grid, it counts it. The file is 14_count_neighbours.c.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495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main prints the answer for every cell:</a:t>
            </a:r>
          </a:p>
          <a:p>
            <a:endParaRPr lang="en-US"/>
          </a:p>
          <a:p>
            <a:r>
              <a:rPr lang="en-US"/>
              <a:t> 3 5 5 5 3</a:t>
            </a:r>
          </a:p>
          <a:p>
            <a:r>
              <a:rPr lang="en-US"/>
              <a:t> 5 8 8 8 5</a:t>
            </a:r>
          </a:p>
          <a:p>
            <a:r>
              <a:rPr lang="en-US"/>
              <a:t> 5 8 8 8 5</a:t>
            </a:r>
          </a:p>
          <a:p>
            <a:r>
              <a:rPr lang="en-US"/>
              <a:t> 3 5 5 5 3</a:t>
            </a:r>
          </a:p>
          <a:p>
            <a:endParaRPr lang="en-US"/>
          </a:p>
          <a:p>
            <a:r>
              <a:rPr lang="en-US"/>
              <a:t>3 in the corners, 5 on the edges, 8 in the middle.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1023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small room with 4 rows of 5 seats. 1 means taken, 0 means free. seats[2][1] is 1: row 2, seat 1 is taken. The question: how many taken seats are around a seat?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9864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taken_around gets the chart s and a seat (r, c). The same two loops. nr and nc are the neighbour's row and column. The seat itself is skipped. Then:</a:t>
            </a:r>
          </a:p>
          <a:p>
            <a:endParaRPr lang="en-US"/>
          </a:p>
          <a:p>
            <a:r>
              <a:rPr lang="en-US"/>
              <a:t>if (is_inside(nr, nc) &amp;&amp; s[nr][nc] == 1) {</a:t>
            </a:r>
          </a:p>
          <a:p>
            <a:r>
              <a:rPr lang="en-US"/>
              <a:t>    count++;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A neighbour counts when it is on the chart and taken. The file is 15_taken_around.c.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011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Try to count on the chart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484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(0, 0): 1</a:t>
            </a:r>
          </a:p>
          <a:p>
            <a:r>
              <a:rPr lang="en-US"/>
              <a:t>(0, 2): 2</a:t>
            </a:r>
          </a:p>
          <a:p>
            <a:r>
              <a:rPr lang="en-US"/>
              <a:t>(2, 2): 4</a:t>
            </a:r>
          </a:p>
          <a:p>
            <a:r>
              <a:rPr lang="en-US"/>
              <a:t>(3, 4): 2</a:t>
            </a:r>
          </a:p>
          <a:p>
            <a:endParaRPr lang="en-US"/>
          </a:p>
          <a:p>
            <a:r>
              <a:rPr lang="en-US"/>
              <a:t>Around (2, 2) the taken seats are (1, 1), (2, 1), (2, 3) and (3, 3): 4. Around the corner (0, 0), only (1, 1) is taken: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067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order inside the condition matters:</a:t>
            </a:r>
          </a:p>
          <a:p>
            <a:endParaRPr lang="en-US"/>
          </a:p>
          <a:p>
            <a:r>
              <a:rPr lang="en-US"/>
              <a:t>is_inside(nr, nc) &amp;&amp; s[nr][nc] == 1</a:t>
            </a:r>
          </a:p>
          <a:p>
            <a:endParaRPr lang="en-US"/>
          </a:p>
          <a:p>
            <a:r>
              <a:rPr lang="en-US"/>
              <a:t>&amp;&amp; stops at the first part that is false. If the position is off the chart, is_inside is 0, so s[nr][nc] is never read. Written the other way round, C would read outside the chart first, as on slide 37. Always check first, then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320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grid can hold characters. Here each row of the map is a string:</a:t>
            </a:r>
          </a:p>
          <a:p>
            <a:endParaRPr lang="en-US"/>
          </a:p>
          <a:p>
            <a:r>
              <a:rPr lang="en-US"/>
              <a:t>char map[ROWS][COLS + 1] = {"X..XX", ".X..X", "XX.X.", "...XX"};</a:t>
            </a:r>
          </a:p>
          <a:p>
            <a:endParaRPr lang="en-US"/>
          </a:p>
          <a:p>
            <a:r>
              <a:rPr lang="en-US"/>
              <a:t>The rows have COLS + 1 boxes: 5 characters and the end mark '\0'. map[2][1] is one character, 'X'.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49097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cell is printed with %c. The row numbers are printed on the left, the column numbers on top. While printing, the program counts the 'X' cells:</a:t>
            </a:r>
          </a:p>
          <a:p>
            <a:endParaRPr lang="en-US"/>
          </a:p>
          <a:p>
            <a:r>
              <a:rPr lang="en-US"/>
              <a:t>  01234</a:t>
            </a:r>
          </a:p>
          <a:p>
            <a:r>
              <a:rPr lang="en-US"/>
              <a:t>0 X..XX</a:t>
            </a:r>
          </a:p>
          <a:p>
            <a:r>
              <a:rPr lang="en-US"/>
              <a:t>1 .X..X</a:t>
            </a:r>
          </a:p>
          <a:p>
            <a:r>
              <a:rPr lang="en-US"/>
              <a:t>2 XX.X.</a:t>
            </a:r>
          </a:p>
          <a:p>
            <a:r>
              <a:rPr lang="en-US"/>
              <a:t>3 ...XX</a:t>
            </a:r>
          </a:p>
          <a:p>
            <a:r>
              <a:rPr lang="en-US"/>
              <a:t>taken: 10</a:t>
            </a:r>
          </a:p>
          <a:p>
            <a:endParaRPr lang="en-US"/>
          </a:p>
          <a:p>
            <a:r>
              <a:rPr lang="en-US"/>
              <a:t>The file is 16_char_map.c.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8992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Part 5: one function on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73909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Write int count_value(int g[][COLS], int rows, int v). It returns how many cells of the grid are equal to v. For the grid on the slide, count_value(a, 3, 2) is 3. Try it before you look at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8822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 count_value(int g[][COLS], int rows, int v) {</a:t>
            </a:r>
          </a:p>
          <a:p>
            <a:r>
              <a:rPr lang="en-US"/>
              <a:t>    int count = 0;</a:t>
            </a:r>
          </a:p>
          <a:p>
            <a:r>
              <a:rPr lang="en-US"/>
              <a:t>    for (int r = 0; r &lt; rows; r++) {</a:t>
            </a:r>
          </a:p>
          <a:p>
            <a:r>
              <a:rPr lang="en-US"/>
              <a:t>        for (int c = 0; c &lt; COLS; c++) {</a:t>
            </a:r>
          </a:p>
          <a:p>
            <a:r>
              <a:rPr lang="en-US"/>
              <a:t>            if (g[r][c] == v) {</a:t>
            </a:r>
          </a:p>
          <a:p>
            <a:r>
              <a:rPr lang="en-US"/>
              <a:t>                count++;</a:t>
            </a:r>
          </a:p>
          <a:p>
            <a:r>
              <a:rPr lang="en-US"/>
              <a:t>            }</a:t>
            </a:r>
          </a:p>
          <a:p>
            <a:r>
              <a:rPr lang="en-US"/>
              <a:t>        }</a:t>
            </a:r>
          </a:p>
          <a:p>
            <a:r>
              <a:rPr lang="en-US"/>
              <a:t>    }</a:t>
            </a:r>
          </a:p>
          <a:p>
            <a:r>
              <a:rPr lang="en-US"/>
              <a:t>    return count;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count = 0 comes once, before the loops. For 2 it returns 3; for 10 it returns 0. The file is 17_task_count_value.c.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3115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A grid parameter is int g[][COLS], with the number of rows as a separate parameter.</a:t>
            </a:r>
          </a:p>
          <a:p>
            <a:r>
              <a:rPr lang="en-US"/>
              <a:t>- The function works on the caller's grid: it is not copied.</a:t>
            </a:r>
          </a:p>
          <a:p>
            <a:r>
              <a:rPr lang="en-US"/>
              <a:t>- Matrices: s[i][j] = a[i][j] + b[i][j]; transpose t[j][i] = m[i][j].</a:t>
            </a:r>
          </a:p>
          <a:p>
            <a:r>
              <a:rPr lang="en-US"/>
              <a:t>- One answer per row: rows outside. One answer per column: columns outside.</a:t>
            </a:r>
          </a:p>
          <a:p>
            <a:r>
              <a:rPr lang="en-US"/>
              <a:t>- Neighbours: dr and dc from -1 to 1, skip the cell itself, and is_inside before you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783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- Knowledge check 14 on Blackboard, about today's slides.</a:t>
            </a:r>
          </a:p>
          <a:p>
            <a:r>
              <a:rPr lang="en-US"/>
              <a:t>- Project 2 (Treasure Hunt) is due Monday 9 November, 23:59. Part 4 of today is what its clues need.</a:t>
            </a:r>
          </a:p>
          <a:p>
            <a:r>
              <a:rPr lang="en-US"/>
              <a:t>- Midterm: Friday 30 October, classes 1 to 14.</a:t>
            </a:r>
          </a:p>
          <a:p>
            <a:r>
              <a:rPr lang="en-US"/>
              <a:t>- The next class is on Tuesday 27 October.</a:t>
            </a:r>
          </a:p>
          <a:p>
            <a:r>
              <a:rPr lang="en-US"/>
              <a:t>- Today's code: Blackboard, Week 7 module, Class 14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31D0D-E8E4-46BB-B50A-4137D49FF08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05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C48D"/>
                </a:solidFill>
              </a:rPr>
              <a:t>Programming Principles I</a:t>
            </a:r>
            <a:endParaRPr lang="en-US" sz="1600" dirty="0"/>
          </a:p>
        </p:txBody>
      </p:sp>
      <p:sp>
        <p:nvSpPr>
          <p:cNvPr id="3" name="Shape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Week 7 · Class 14 · Quiz 4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731520" y="21945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Quiz 4: 25 minutes</a:t>
            </a:r>
            <a:endParaRPr lang="en-US" sz="4800" dirty="0"/>
          </a:p>
        </p:txBody>
      </p:sp>
      <p:sp>
        <p:nvSpPr>
          <p:cNvPr id="5" name="Shape 5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7E3F0"/>
                </a:solidFill>
              </a:rPr>
              <a:t>Pen only. No laptop, no phone. Write your name and student ID first.</a:t>
            </a:r>
            <a:endParaRPr lang="en-US" sz="2200" dirty="0"/>
          </a:p>
        </p:txBody>
      </p:sp>
      <p:sp>
        <p:nvSpPr>
          <p:cNvPr id="6" name="Shape 6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ADA University ·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C48D"/>
                </a:solidFill>
              </a:rPr>
              <a:t>Programming Principles I</a:t>
            </a:r>
            <a:endParaRPr lang="en-US" sz="1600" dirty="0"/>
          </a:p>
        </p:txBody>
      </p:sp>
      <p:sp>
        <p:nvSpPr>
          <p:cNvPr id="3" name="Shape 3"/>
          <p:cNvSpPr/>
          <p:nvPr/>
        </p:nvSpPr>
        <p:spPr>
          <a:xfrm>
            <a:off x="731520" y="15544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</a:rPr>
              <a:t>Week 7 · Class 14</a:t>
            </a:r>
            <a:endParaRPr lang="en-US" sz="2600" dirty="0"/>
          </a:p>
        </p:txBody>
      </p:sp>
      <p:sp>
        <p:nvSpPr>
          <p:cNvPr id="4" name="Shape 4"/>
          <p:cNvSpPr/>
          <p:nvPr/>
        </p:nvSpPr>
        <p:spPr>
          <a:xfrm>
            <a:off x="731520" y="21945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Tables and matrices</a:t>
            </a:r>
            <a:endParaRPr lang="en-US" sz="4800" dirty="0"/>
          </a:p>
        </p:txBody>
      </p:sp>
      <p:sp>
        <p:nvSpPr>
          <p:cNvPr id="5" name="Shape 5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rgbClr val="D7E3F0"/>
                </a:solidFill>
              </a:rPr>
              <a:t>Grids in functions · matrices · a table of points · the cells around a cell</a:t>
            </a:r>
            <a:endParaRPr lang="en-US" sz="2200" dirty="0"/>
          </a:p>
        </p:txBody>
      </p:sp>
      <p:sp>
        <p:nvSpPr>
          <p:cNvPr id="6" name="Shape 6"/>
          <p:cNvSpPr/>
          <p:nvPr/>
        </p:nvSpPr>
        <p:spPr>
          <a:xfrm>
            <a:off x="731520" y="4114800"/>
            <a:ext cx="7863840" cy="810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Code"/>
          <p:cNvSpPr/>
          <p:nvPr/>
        </p:nvSpPr>
        <p:spPr>
          <a:xfrm>
            <a:off x="731520" y="4114800"/>
            <a:ext cx="7863840" cy="810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total(int g[][COLS], int rows);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ADA University · Fall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What Tuesday gave us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t[2][3];</a:t>
            </a:r>
            <a:r>
              <a:rPr lang="en-US" sz="2800" dirty="0">
                <a:solidFill>
                  <a:srgbClr val="18324A"/>
                </a:solidFill>
              </a:rPr>
              <a:t> is a grid: 2 rows, 3 columns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t[r][c]</a:t>
            </a:r>
            <a:r>
              <a:rPr lang="en-US" sz="2800" dirty="0">
                <a:solidFill>
                  <a:srgbClr val="18324A"/>
                </a:solidFill>
              </a:rPr>
              <a:t>: row first, then column; both start at 0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{{4, 7, 1}, {9, 2, 6}}</a:t>
            </a:r>
            <a:r>
              <a:rPr lang="en-US" sz="2800" dirty="0">
                <a:solidFill>
                  <a:srgbClr val="18324A"/>
                </a:solidFill>
              </a:rPr>
              <a:t>: one pair of braces per row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Two loops: the outer one for the rows, the inner one for the columns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965192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9651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#define ROWS 4</a:t>
            </a:r>
            <a:r>
              <a:rPr lang="en-US" sz="2800" dirty="0">
                <a:solidFill>
                  <a:srgbClr val="18324A"/>
                </a:solidFill>
              </a:rPr>
              <a:t> gives the size a name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what is on the screen?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One sum for each row.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it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int t[2][3] = {{4, 7, 1},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{9, 2, 6}};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r = 0; r &lt; 2;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int sum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for (int c = 0; c &lt; 3;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sum += t[r][c];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printf("row %d: %d\n", r, sum);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Recap: what is on the screen?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158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One sum for each row.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does it print?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760720" y="2746502"/>
            <a:ext cx="588233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76072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760720" y="4016502"/>
            <a:ext cx="5882335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760720" y="401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t[2][3] = {{4, 7, 1},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   {9, 2, 6}};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r = 0; r &lt; 2;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sum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for (int c = 0; c &lt; 3;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sum += t[r][c];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printf("row %d: %d\n", r, sum);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14" name="Shape 14"/>
          <p:cNvSpPr/>
          <p:nvPr/>
        </p:nvSpPr>
        <p:spPr>
          <a:xfrm>
            <a:off x="548640" y="4251960"/>
            <a:ext cx="493776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548640" y="4251960"/>
            <a:ext cx="109728" cy="20116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658368" y="4251960"/>
            <a:ext cx="4828032" cy="20116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row 0: 12</a:t>
            </a:r>
            <a:r>
              <a:rPr lang="en-US" sz="2600" dirty="0">
                <a:solidFill>
                  <a:srgbClr val="18324A"/>
                </a:solidFill>
              </a:rPr>
              <a:t>  and  </a:t>
            </a: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row 1: 17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4 + 7 + 1 = 12.  9 + 2 + 6 = 17.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Today's roadmap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grid goes to a </a:t>
            </a:r>
            <a:r>
              <a:rPr lang="en-US" sz="2800" b="1" dirty="0">
                <a:solidFill>
                  <a:srgbClr val="18324A"/>
                </a:solidFill>
              </a:rPr>
              <a:t>function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125066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125066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Matrices</a:t>
            </a:r>
            <a:r>
              <a:rPr lang="en-US" sz="2800" dirty="0">
                <a:solidFill>
                  <a:srgbClr val="18324A"/>
                </a:solidFill>
              </a:rPr>
              <a:t>: add, transpose, diagonal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2942539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2942539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</a:t>
            </a:r>
            <a:r>
              <a:rPr lang="en-US" sz="2800" b="1" dirty="0">
                <a:solidFill>
                  <a:srgbClr val="18324A"/>
                </a:solidFill>
              </a:rPr>
              <a:t>table</a:t>
            </a:r>
            <a:r>
              <a:rPr lang="en-US" sz="2800" dirty="0">
                <a:solidFill>
                  <a:srgbClr val="18324A"/>
                </a:solidFill>
              </a:rPr>
              <a:t>: per row and per column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3760013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3760013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The cells </a:t>
            </a:r>
            <a:r>
              <a:rPr lang="en-US" sz="2800" b="1" dirty="0">
                <a:solidFill>
                  <a:srgbClr val="18324A"/>
                </a:solidFill>
              </a:rPr>
              <a:t>around</a:t>
            </a:r>
            <a:r>
              <a:rPr lang="en-US" sz="2800" dirty="0">
                <a:solidFill>
                  <a:srgbClr val="18324A"/>
                </a:solidFill>
              </a:rPr>
              <a:t> a cell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577486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577486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Your turn</a:t>
            </a:r>
            <a:endParaRPr lang="en-US" sz="2800" dirty="0"/>
          </a:p>
        </p:txBody>
      </p:sp>
      <p:sp>
        <p:nvSpPr>
          <p:cNvPr id="16" name="Shape 16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Part 4 is the heart of Project 2. Listen carefully there.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1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A grid goes to a function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The columns must be written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rule for a grid parameter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g[][COLS]</a:t>
            </a:r>
            <a:r>
              <a:rPr lang="en-US" sz="4000" b="1" dirty="0">
                <a:solidFill>
                  <a:srgbClr val="18324A"/>
                </a:solidFill>
              </a:rPr>
              <a:t>: the rows can be empty, the columns cannot.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number of </a:t>
            </a:r>
            <a:r>
              <a:rPr lang="en-US" sz="3000" b="1" dirty="0">
                <a:solidFill>
                  <a:srgbClr val="18324A"/>
                </a:solidFill>
              </a:rPr>
              <a:t>rows</a:t>
            </a:r>
            <a:r>
              <a:rPr lang="en-US" sz="3000" dirty="0">
                <a:solidFill>
                  <a:srgbClr val="18324A"/>
                </a:solidFill>
              </a:rPr>
              <a:t> comes in as a parameter: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rows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number of </a:t>
            </a:r>
            <a:r>
              <a:rPr lang="en-US" sz="3000" b="1" dirty="0">
                <a:solidFill>
                  <a:srgbClr val="18324A"/>
                </a:solidFill>
              </a:rPr>
              <a:t>columns</a:t>
            </a:r>
            <a:r>
              <a:rPr lang="en-US" sz="3000" dirty="0">
                <a:solidFill>
                  <a:srgbClr val="18324A"/>
                </a:solidFill>
              </a:rPr>
              <a:t> is written in the brackets.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Call it with the name only: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print_grid(a, 3);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function that prints a grid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863840" cy="417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244852"/>
            <a:ext cx="786384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863840" cy="4175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#define COLS 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print_grid(int g[][COLS], int rows)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r = 0; r &lt; rows; r++)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for (int c = 0; c &lt; COLS; c++)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printf("%3d", g[r][c]);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printf("\n");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8686800" y="1261872"/>
            <a:ext cx="295625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8686800" y="1261872"/>
            <a:ext cx="109728" cy="14173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8796528" y="1261872"/>
            <a:ext cx="284652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g[][COLS]</a:t>
            </a:r>
            <a:r>
              <a:rPr lang="en-US" sz="2400" dirty="0">
                <a:solidFill>
                  <a:srgbClr val="18324A"/>
                </a:solidFill>
              </a:rPr>
              <a:t>: 4 columns, any number of rows.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686800" y="2880360"/>
            <a:ext cx="295625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686800" y="2880360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796528" y="2880360"/>
            <a:ext cx="284652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rows</a:t>
            </a:r>
            <a:r>
              <a:rPr lang="en-US" sz="2400" dirty="0">
                <a:solidFill>
                  <a:srgbClr val="18324A"/>
                </a:solidFill>
              </a:rPr>
              <a:t>: how many rows this grid has.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One function, two grids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556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768852"/>
            <a:ext cx="731520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768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530852"/>
            <a:ext cx="731520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530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315200" cy="455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a[3][COLS] = {{1, 2, 3, 4},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      {5, 6, 7, 8},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      {9, 10, 11, 12}};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b[2][COLS] = {{0, 0, 0, 0},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      {1, 1, 1, 1}};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print_grid(a, 3);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print_grid(b, 2);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2" name="Shape 12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138160" y="1645920"/>
            <a:ext cx="3504895" cy="2651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138160" y="1645920"/>
            <a:ext cx="3504895" cy="265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1  2  3  4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5  6  7  8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9 10 11 12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0  0  0  0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1  1  1  1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138160" y="4572000"/>
            <a:ext cx="350489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138160" y="4572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247888" y="4572000"/>
            <a:ext cx="339516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3 rows, then 2 rows.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both brackets empty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67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Will this compile?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95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95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void print_first(int g[][], int rows)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r = 0; r &lt; rows;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printf("%d\n", g[r][0]);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No: gcc stops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6949440" cy="227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82852"/>
            <a:ext cx="694944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82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6949440" cy="227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void print_first(int g[][], int rows)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r = 0; r &lt; rows; r++)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printf("%d\n", g[r][0]);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0" name="Shape 10"/>
          <p:cNvSpPr/>
          <p:nvPr/>
        </p:nvSpPr>
        <p:spPr>
          <a:xfrm>
            <a:off x="7772400" y="1261872"/>
            <a:ext cx="38706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gcc says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7772400" y="1645920"/>
            <a:ext cx="387065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7772400" y="1645920"/>
            <a:ext cx="387065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error: array type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has incomplete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element type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'int[]'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7772400" y="3810000"/>
            <a:ext cx="38706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7772400" y="3810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7882128" y="3810000"/>
            <a:ext cx="37609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needs the columns: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g[][3]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Why C needs the columns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The rows sit one after another. Row 1 starts at box </a:t>
            </a:r>
            <a:r>
              <a:rPr lang="en-US" sz="2400" b="1" dirty="0">
                <a:solidFill>
                  <a:srgbClr val="18324A"/>
                </a:solidFill>
              </a:rPr>
              <a:t>3</a:t>
            </a:r>
            <a:r>
              <a:rPr lang="en-US" sz="2400" dirty="0">
                <a:solidFill>
                  <a:srgbClr val="18324A"/>
                </a:solidFill>
              </a:rPr>
              <a:t> because a row has </a:t>
            </a:r>
            <a:r>
              <a:rPr lang="en-US" sz="2400" b="1" dirty="0">
                <a:solidFill>
                  <a:srgbClr val="18324A"/>
                </a:solidFill>
              </a:rPr>
              <a:t>3</a:t>
            </a:r>
            <a:r>
              <a:rPr lang="en-US" sz="2400" dirty="0">
                <a:solidFill>
                  <a:srgbClr val="18324A"/>
                </a:solidFill>
              </a:rPr>
              <a:t> columns. Without that number C cannot find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g[1][0]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26223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box in memory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3170956" y="1261872"/>
            <a:ext cx="14120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4582973" y="1261872"/>
            <a:ext cx="14120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994989" y="1261872"/>
            <a:ext cx="14120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7407006" y="1261872"/>
            <a:ext cx="14120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8819022" y="1261872"/>
            <a:ext cx="14120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10231039" y="1261872"/>
            <a:ext cx="14120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548640" y="1920240"/>
            <a:ext cx="26223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cell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3170956" y="1920240"/>
            <a:ext cx="14120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[0][0]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4582973" y="1920240"/>
            <a:ext cx="14120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[0][1]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5994989" y="1920240"/>
            <a:ext cx="14120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[0][2]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7407006" y="1920240"/>
            <a:ext cx="14120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[1][0]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8819022" y="1920240"/>
            <a:ext cx="14120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[1][1]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10231039" y="1920240"/>
            <a:ext cx="14120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[1][2]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function fills main's grid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863840" cy="4556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625852"/>
            <a:ext cx="786384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625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911852"/>
            <a:ext cx="786384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911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5292852"/>
            <a:ext cx="786384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5292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7863840" cy="455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void times_table(int g[][COLS], int rows)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r = 0; r &lt; rows; r++)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for (int c = 0; c &lt; COLS; c++)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g[r][c] = (r + 1) * (c + 1);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t[ROWS][COLS];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times_table(t, ROWS);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8686800" y="1261872"/>
            <a:ext cx="29562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8686800" y="1645920"/>
            <a:ext cx="295625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8686800" y="1645920"/>
            <a:ext cx="295625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1  2  3  4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2  4  6  8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3  6  9 12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686800" y="3429000"/>
            <a:ext cx="295625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686800" y="3429000"/>
            <a:ext cx="109728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796528" y="3429000"/>
            <a:ext cx="284652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Not copied: the function writes into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function that returns the total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7465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3699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69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5604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560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7680960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total(int g[][COLS], int rows)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sum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r = 0; r &lt; rows;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for (int c = 0; c &lt; COLS;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sum += g[r][c];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sum;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a[2][COLS] = {{1, 2, 3},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      {4, 5, 6}};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printf("total: %d\n", total(a, 2));</a:t>
            </a:r>
            <a:endParaRPr lang="en-US" sz="2000" dirty="0"/>
          </a:p>
        </p:txBody>
      </p:sp>
      <p:sp>
        <p:nvSpPr>
          <p:cNvPr id="14" name="Shape 14"/>
          <p:cNvSpPr/>
          <p:nvPr/>
        </p:nvSpPr>
        <p:spPr>
          <a:xfrm>
            <a:off x="8503920" y="1261872"/>
            <a:ext cx="31391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8503920" y="1645920"/>
            <a:ext cx="3139135" cy="746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8503920" y="1645920"/>
            <a:ext cx="3139135" cy="746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total: 21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503920" y="266700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503920" y="2667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613648" y="266700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sum</a:t>
            </a:r>
            <a:r>
              <a:rPr lang="en-US" sz="2400" dirty="0">
                <a:solidFill>
                  <a:srgbClr val="18324A"/>
                </a:solidFill>
              </a:rPr>
              <a:t> starts at 0, once.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2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Matrices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A grid of numbers, cell by cell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matrix is a grid of numbers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Rows and columns, as in maths.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m[i][j]</a:t>
            </a:r>
            <a:r>
              <a:rPr lang="en-US" sz="3000" dirty="0">
                <a:solidFill>
                  <a:srgbClr val="18324A"/>
                </a:solidFill>
              </a:rPr>
              <a:t>: row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3000" dirty="0">
                <a:solidFill>
                  <a:srgbClr val="18324A"/>
                </a:solidFill>
              </a:rPr>
              <a:t>, column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j</a:t>
            </a:r>
            <a:r>
              <a:rPr lang="en-US" sz="3000" dirty="0">
                <a:solidFill>
                  <a:srgbClr val="18324A"/>
                </a:solidFill>
              </a:rPr>
              <a:t>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Two loops visit every cell: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3000" dirty="0">
                <a:solidFill>
                  <a:srgbClr val="18324A"/>
                </a:solidFill>
              </a:rPr>
              <a:t> outside,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j</a:t>
            </a:r>
            <a:r>
              <a:rPr lang="en-US" sz="3000" dirty="0">
                <a:solidFill>
                  <a:srgbClr val="18324A"/>
                </a:solidFill>
              </a:rPr>
              <a:t> inside.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A </a:t>
            </a:r>
            <a:r>
              <a:rPr lang="en-US" sz="3000" b="1" dirty="0">
                <a:solidFill>
                  <a:srgbClr val="18324A"/>
                </a:solidFill>
              </a:rPr>
              <a:t>square</a:t>
            </a:r>
            <a:r>
              <a:rPr lang="en-US" sz="3000" dirty="0">
                <a:solidFill>
                  <a:srgbClr val="18324A"/>
                </a:solidFill>
              </a:rPr>
              <a:t> matrix has as many rows as columns.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Add two matrices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8595360" cy="366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549777"/>
            <a:ext cx="85953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5497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8595360" cy="366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a[N][M] = {{1, 2, 3}, {4, 5, 6}};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b[N][M] = {{10, 20, 30}, {40, 50, 60}};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s[N][M];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i = 0; i &lt; N; i++)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j = 0; j &lt; M; j++)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s[i][j] = a[i][j] + b[i][j];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9418320" y="1261872"/>
            <a:ext cx="22247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9418320" y="1645920"/>
            <a:ext cx="2224735" cy="10642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9418320" y="1645920"/>
            <a:ext cx="2224735" cy="1064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11  22  33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44  55  66</a:t>
            </a:r>
            <a:endParaRPr lang="en-US" sz="2200" dirty="0"/>
          </a:p>
        </p:txBody>
      </p:sp>
      <p:sp>
        <p:nvSpPr>
          <p:cNvPr id="13" name="Shape 13"/>
          <p:cNvSpPr/>
          <p:nvPr/>
        </p:nvSpPr>
        <p:spPr>
          <a:xfrm>
            <a:off x="9418320" y="2984500"/>
            <a:ext cx="22247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9418320" y="2984500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9528048" y="2984500"/>
            <a:ext cx="21150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Same place in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a</a:t>
            </a:r>
            <a:r>
              <a:rPr lang="en-US" sz="2400" dirty="0">
                <a:solidFill>
                  <a:srgbClr val="18324A"/>
                </a:solidFill>
              </a:rPr>
              <a:t>,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b</a:t>
            </a:r>
            <a:r>
              <a:rPr lang="en-US" sz="2400" dirty="0">
                <a:solidFill>
                  <a:srgbClr val="18324A"/>
                </a:solidFill>
              </a:rPr>
              <a:t> and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Transpose: rows become columns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19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First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</a:t>
            </a:r>
            <a:r>
              <a:rPr lang="en-US" sz="2400" dirty="0">
                <a:solidFill>
                  <a:srgbClr val="18324A"/>
                </a:solidFill>
              </a:rPr>
              <a:t>, then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</a:t>
            </a:r>
            <a:r>
              <a:rPr lang="en-US" sz="2400" dirty="0">
                <a:solidFill>
                  <a:srgbClr val="18324A"/>
                </a:solidFill>
              </a:rPr>
              <a:t>. Row 0 of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</a:t>
            </a:r>
            <a:r>
              <a:rPr lang="en-US" sz="2400" dirty="0">
                <a:solidFill>
                  <a:srgbClr val="18324A"/>
                </a:solidFill>
              </a:rPr>
              <a:t> is column 0 of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t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6949440" cy="4080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962527"/>
            <a:ext cx="694944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9625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548640" y="1261872"/>
            <a:ext cx="6949440" cy="4080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m[N][N] = {{1, 2, 3},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{4, 5, 6},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{7, 8, 9}};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t[N][N];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i = 0; i &lt; N; i++)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j = 0; j &lt; N; j++)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t[j][i] = m[i][j];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7772400" y="1261872"/>
            <a:ext cx="38706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4" name="Shape 14"/>
          <p:cNvSpPr/>
          <p:nvPr/>
        </p:nvSpPr>
        <p:spPr>
          <a:xfrm>
            <a:off x="7772400" y="1645920"/>
            <a:ext cx="3870655" cy="3032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7772400" y="1645920"/>
            <a:ext cx="3870655" cy="303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1  2  3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4  5  6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7  8  9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1  4  7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2  5  8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3  6  9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two diagonals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Add the cells of each diagonal.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are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main_sum</a:t>
            </a:r>
            <a:r>
              <a:rPr lang="en-US" sz="3200" dirty="0">
                <a:solidFill>
                  <a:srgbClr val="18324A"/>
                </a:solidFill>
              </a:rPr>
              <a:t> and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other_sum</a:t>
            </a:r>
            <a:r>
              <a:rPr lang="en-US" sz="3200" dirty="0">
                <a:solidFill>
                  <a:srgbClr val="18324A"/>
                </a:solidFill>
              </a:rPr>
              <a:t>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509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509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m[N][N] = {{2, 0, 1},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{3, 5, 4},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{6, 7, 8}};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main_sum =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other_sum =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for (int i = 0; i &lt; N; i++)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main_sum += m[i][i];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other_sum += m[i][N - 1 - i];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Two diagonals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4366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4156202"/>
            <a:ext cx="76809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4156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600702"/>
            <a:ext cx="768096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46007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7680960" cy="4366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m[N][N] = {{2, 0, 1},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{3, 5, 4},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{6, 7, 8}};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main_sum =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other_sum = 0;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i = 0; i &lt; N; i++)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main_sum += m[i][i];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other_sum += m[i][N - 1 - i];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8503920" y="1261872"/>
            <a:ext cx="31391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503920" y="1645920"/>
            <a:ext cx="3139135" cy="10642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503920" y="1645920"/>
            <a:ext cx="3139135" cy="1064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main diagonal: 15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other diagonal: 12</a:t>
            </a:r>
            <a:endParaRPr lang="en-US" sz="2200" dirty="0"/>
          </a:p>
        </p:txBody>
      </p:sp>
      <p:sp>
        <p:nvSpPr>
          <p:cNvPr id="15" name="Shape 15"/>
          <p:cNvSpPr/>
          <p:nvPr/>
        </p:nvSpPr>
        <p:spPr>
          <a:xfrm>
            <a:off x="8503920" y="298450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503920" y="29845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613648" y="298450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m[i][i]</a:t>
            </a:r>
            <a:r>
              <a:rPr lang="en-US" sz="2400" dirty="0">
                <a:solidFill>
                  <a:srgbClr val="18324A"/>
                </a:solidFill>
              </a:rPr>
              <a:t>: 2 + 5 + 8.</a:t>
            </a:r>
            <a:endParaRPr lang="en-US" sz="2400" dirty="0"/>
          </a:p>
        </p:txBody>
      </p:sp>
      <p:sp>
        <p:nvSpPr>
          <p:cNvPr id="18" name="Shape 18"/>
          <p:cNvSpPr/>
          <p:nvPr/>
        </p:nvSpPr>
        <p:spPr>
          <a:xfrm>
            <a:off x="8503920" y="4237228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Shape 19"/>
          <p:cNvSpPr/>
          <p:nvPr/>
        </p:nvSpPr>
        <p:spPr>
          <a:xfrm>
            <a:off x="8503920" y="4237228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Callout"/>
          <p:cNvSpPr/>
          <p:nvPr/>
        </p:nvSpPr>
        <p:spPr>
          <a:xfrm>
            <a:off x="8613648" y="4237228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m[i][N - 1 - i]</a:t>
            </a:r>
            <a:r>
              <a:rPr lang="en-US" sz="2400" dirty="0">
                <a:solidFill>
                  <a:srgbClr val="18324A"/>
                </a:solidFill>
              </a:rPr>
              <a:t>: 1 + 5 + 6.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Which cells?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One loop is enough: on a diagonal the column follows from the row.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116783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</a:t>
            </a: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1716473" y="1261872"/>
            <a:ext cx="4476694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main: </a:t>
            </a: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m[i][i]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6193167" y="1261872"/>
            <a:ext cx="544988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other: </a:t>
            </a: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m[i][N - 1 - i]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548640" y="1920240"/>
            <a:ext cx="116783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13" name="Shape 13"/>
          <p:cNvSpPr/>
          <p:nvPr/>
        </p:nvSpPr>
        <p:spPr>
          <a:xfrm>
            <a:off x="1716473" y="1920240"/>
            <a:ext cx="447669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m[0][0]</a:t>
            </a:r>
            <a:r>
              <a:rPr lang="en-US" sz="2600" dirty="0">
                <a:solidFill>
                  <a:srgbClr val="18324A"/>
                </a:solidFill>
              </a:rPr>
              <a:t> = 2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6193167" y="1920240"/>
            <a:ext cx="54498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m[0][2]</a:t>
            </a:r>
            <a:r>
              <a:rPr lang="en-US" sz="2600" dirty="0">
                <a:solidFill>
                  <a:srgbClr val="18324A"/>
                </a:solidFill>
              </a:rPr>
              <a:t> = 1</a:t>
            </a:r>
            <a:endParaRPr lang="en-US" sz="2600" dirty="0"/>
          </a:p>
        </p:txBody>
      </p:sp>
      <p:sp>
        <p:nvSpPr>
          <p:cNvPr id="15" name="Shape 15"/>
          <p:cNvSpPr/>
          <p:nvPr/>
        </p:nvSpPr>
        <p:spPr>
          <a:xfrm>
            <a:off x="548640" y="2578608"/>
            <a:ext cx="116783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1716473" y="2578608"/>
            <a:ext cx="4476694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m[1][1]</a:t>
            </a:r>
            <a:r>
              <a:rPr lang="en-US" sz="2600" dirty="0">
                <a:solidFill>
                  <a:srgbClr val="18324A"/>
                </a:solidFill>
              </a:rPr>
              <a:t> = 5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6193167" y="2578608"/>
            <a:ext cx="5449888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m[1][1]</a:t>
            </a:r>
            <a:r>
              <a:rPr lang="en-US" sz="2600" dirty="0">
                <a:solidFill>
                  <a:srgbClr val="18324A"/>
                </a:solidFill>
              </a:rPr>
              <a:t> = 5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548640" y="3236976"/>
            <a:ext cx="116783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2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1716473" y="3236976"/>
            <a:ext cx="447669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m[2][2]</a:t>
            </a:r>
            <a:r>
              <a:rPr lang="en-US" sz="2600" dirty="0">
                <a:solidFill>
                  <a:srgbClr val="18324A"/>
                </a:solidFill>
              </a:rPr>
              <a:t> = 8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6193167" y="3236976"/>
            <a:ext cx="544988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m[2][0]</a:t>
            </a:r>
            <a:r>
              <a:rPr lang="en-US" sz="2600" dirty="0">
                <a:solidFill>
                  <a:srgbClr val="18324A"/>
                </a:solidFill>
              </a:rPr>
              <a:t> = 6</a:t>
            </a:r>
            <a:endParaRPr lang="en-US" sz="2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transpose in place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Swap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m[i][j]</a:t>
            </a:r>
            <a:r>
              <a:rPr lang="en-US" sz="3200" dirty="0">
                <a:solidFill>
                  <a:srgbClr val="18324A"/>
                </a:solidFill>
              </a:rPr>
              <a:t> and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m[j][i]</a:t>
            </a:r>
            <a:r>
              <a:rPr lang="en-US" sz="3200" dirty="0">
                <a:solidFill>
                  <a:srgbClr val="18324A"/>
                </a:solidFill>
              </a:rPr>
              <a:t> for every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</a:t>
            </a:r>
            <a:r>
              <a:rPr lang="en-US" sz="3200" dirty="0">
                <a:solidFill>
                  <a:srgbClr val="18324A"/>
                </a:solidFill>
              </a:rPr>
              <a:t> and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j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What is printed?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385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m[N][N] = {{1, 2, 3},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{4, 5, 6},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{7, 8, 9}};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for (int i = 0; i &lt; N; i++)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for (int j = 0; j &lt; N; j++)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int temp = m[i][j];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m[i][j] = m[j][i];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m[j][i] = temp;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Nothing changed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315200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267202"/>
            <a:ext cx="7315200" cy="444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267202"/>
            <a:ext cx="82296" cy="444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315200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m[N][N] = {{1, 2, 3},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{4, 5, 6},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{7, 8, 9}};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i = 0; i &lt; N; i++)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j = 0; j &lt; N; j++) {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int temp = m[i][j];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m[i][j] = m[j][i];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m[j][i] = temp;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8138160" y="1261872"/>
            <a:ext cx="35048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138160" y="1645920"/>
            <a:ext cx="350489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138160" y="1645920"/>
            <a:ext cx="350489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1  2  3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4  5  6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7  8  9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138160" y="3429000"/>
            <a:ext cx="350489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138160" y="3429000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247888" y="3429000"/>
            <a:ext cx="339516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(0, 1) swaps 2 and 4.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8138160" y="4681728"/>
            <a:ext cx="350489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138160" y="4681728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8247888" y="4681728"/>
            <a:ext cx="339516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(1, 0) swaps them back.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Swap each pair once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498080" cy="3255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898777"/>
            <a:ext cx="749808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89877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498080" cy="3255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i = 0; i &lt; N; i++)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j = i + 1; j &lt; N; j++) {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int temp = m[i][j];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m[i][j] = m[j][i];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m[j][i] = temp;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8321040" y="1261872"/>
            <a:ext cx="332201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321040" y="1645920"/>
            <a:ext cx="3322015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321040" y="1645920"/>
            <a:ext cx="332201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1  4  7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2  5  8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3  6  9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321040" y="3429000"/>
            <a:ext cx="33220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321040" y="3429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430768" y="3429000"/>
            <a:ext cx="32122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j = i + 1</a:t>
            </a:r>
            <a:r>
              <a:rPr lang="en-US" sz="2400" dirty="0">
                <a:solidFill>
                  <a:srgbClr val="18324A"/>
                </a:solidFill>
              </a:rPr>
              <a:t>: only above the diagonal.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3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A table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One answer per row, or per column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14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Points: 4 players, 3 rounds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int pts[PLAYERS][ROUNDS]</a:t>
            </a:r>
            <a:r>
              <a:rPr lang="en-US" sz="2400" dirty="0">
                <a:solidFill>
                  <a:srgbClr val="18324A"/>
                </a:solidFill>
              </a:rPr>
              <a:t>: a row per player, a column per round.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3135378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3684018" y="1261872"/>
            <a:ext cx="2653012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round 1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6337031" y="1261872"/>
            <a:ext cx="2653012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round 2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8990043" y="1261872"/>
            <a:ext cx="2653012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round 3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548640" y="1920240"/>
            <a:ext cx="313537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player 1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3684018" y="1920240"/>
            <a:ext cx="26530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7</a:t>
            </a:r>
            <a:endParaRPr lang="en-US" sz="2600" dirty="0"/>
          </a:p>
        </p:txBody>
      </p:sp>
      <p:sp>
        <p:nvSpPr>
          <p:cNvPr id="15" name="Shape 15"/>
          <p:cNvSpPr/>
          <p:nvPr/>
        </p:nvSpPr>
        <p:spPr>
          <a:xfrm>
            <a:off x="6337031" y="1920240"/>
            <a:ext cx="26530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9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8990043" y="1920240"/>
            <a:ext cx="26530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4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548640" y="2578608"/>
            <a:ext cx="3135378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player 2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3684018" y="2578608"/>
            <a:ext cx="265301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5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6337031" y="2578608"/>
            <a:ext cx="265301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6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8990043" y="2578608"/>
            <a:ext cx="265301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8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548640" y="3236976"/>
            <a:ext cx="313537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player 3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3684018" y="3236976"/>
            <a:ext cx="26530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9</a:t>
            </a:r>
            <a:endParaRPr lang="en-US" sz="2600" dirty="0"/>
          </a:p>
        </p:txBody>
      </p:sp>
      <p:sp>
        <p:nvSpPr>
          <p:cNvPr id="23" name="Shape 23"/>
          <p:cNvSpPr/>
          <p:nvPr/>
        </p:nvSpPr>
        <p:spPr>
          <a:xfrm>
            <a:off x="6337031" y="3236976"/>
            <a:ext cx="26530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3</a:t>
            </a:r>
            <a:endParaRPr lang="en-US" sz="2600" dirty="0"/>
          </a:p>
        </p:txBody>
      </p:sp>
      <p:sp>
        <p:nvSpPr>
          <p:cNvPr id="24" name="Shape 24"/>
          <p:cNvSpPr/>
          <p:nvPr/>
        </p:nvSpPr>
        <p:spPr>
          <a:xfrm>
            <a:off x="8990043" y="3236976"/>
            <a:ext cx="265301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6</a:t>
            </a:r>
            <a:endParaRPr lang="en-US" sz="2600" dirty="0"/>
          </a:p>
        </p:txBody>
      </p:sp>
      <p:sp>
        <p:nvSpPr>
          <p:cNvPr id="25" name="Shape 25"/>
          <p:cNvSpPr/>
          <p:nvPr/>
        </p:nvSpPr>
        <p:spPr>
          <a:xfrm>
            <a:off x="548640" y="3895344"/>
            <a:ext cx="3135378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player 4</a:t>
            </a:r>
            <a:endParaRPr lang="en-US" sz="2600" dirty="0"/>
          </a:p>
        </p:txBody>
      </p:sp>
      <p:sp>
        <p:nvSpPr>
          <p:cNvPr id="26" name="Shape 26"/>
          <p:cNvSpPr/>
          <p:nvPr/>
        </p:nvSpPr>
        <p:spPr>
          <a:xfrm>
            <a:off x="3684018" y="3895344"/>
            <a:ext cx="265301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4</a:t>
            </a:r>
            <a:endParaRPr lang="en-US" sz="2600" dirty="0"/>
          </a:p>
        </p:txBody>
      </p:sp>
      <p:sp>
        <p:nvSpPr>
          <p:cNvPr id="27" name="Shape 27"/>
          <p:cNvSpPr/>
          <p:nvPr/>
        </p:nvSpPr>
        <p:spPr>
          <a:xfrm>
            <a:off x="6337031" y="3895344"/>
            <a:ext cx="265301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8</a:t>
            </a:r>
            <a:endParaRPr lang="en-US" sz="2600" dirty="0"/>
          </a:p>
        </p:txBody>
      </p:sp>
      <p:sp>
        <p:nvSpPr>
          <p:cNvPr id="28" name="Shape 28"/>
          <p:cNvSpPr/>
          <p:nvPr/>
        </p:nvSpPr>
        <p:spPr>
          <a:xfrm>
            <a:off x="8990043" y="3895344"/>
            <a:ext cx="2653012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10</a:t>
            </a:r>
            <a:endParaRPr lang="en-US" sz="2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Per row: each player's average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8229600" cy="341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82852"/>
            <a:ext cx="822960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82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244852"/>
            <a:ext cx="822960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387852"/>
            <a:ext cx="822960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387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8229600" cy="341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p = 0; p &lt; PLAYERS; p++)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sum = 0;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r = 0; r &lt; ROUNDS; r++)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sum += pts[p][r];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double avg = (double) sum / ROUNDS;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printf("player %d: %.2f\n", p + 1, avg);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9052560" y="1261872"/>
            <a:ext cx="259049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9052560" y="1645920"/>
            <a:ext cx="2590495" cy="1762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9052560" y="1645920"/>
            <a:ext cx="2590495" cy="1762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player 1: 6.67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player 2: 6.33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player 3: 6.00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player 4: 7.33</a:t>
            </a:r>
            <a:endParaRPr lang="en-US" sz="2200" dirty="0"/>
          </a:p>
        </p:txBody>
      </p:sp>
      <p:sp>
        <p:nvSpPr>
          <p:cNvPr id="17" name="Shape 17"/>
          <p:cNvSpPr/>
          <p:nvPr/>
        </p:nvSpPr>
        <p:spPr>
          <a:xfrm>
            <a:off x="9052560" y="3683000"/>
            <a:ext cx="259049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9052560" y="368300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9162288" y="3683000"/>
            <a:ext cx="248076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Rows outside.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Per column: the best of each round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29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863840" cy="3509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79677"/>
            <a:ext cx="786384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79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1828927"/>
            <a:ext cx="786384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1828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178177"/>
            <a:ext cx="786384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1781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7863840" cy="3509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for (int r = 0; r &lt; ROUNDS; r++)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int best = pts[0][r];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p = 1; p &lt; PLAYERS; p++)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if (pts[p][r] &gt; best)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best = pts[p][r];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printf("round %d best: %d\n", r + 1, best);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4" name="Shape 14"/>
          <p:cNvSpPr/>
          <p:nvPr/>
        </p:nvSpPr>
        <p:spPr>
          <a:xfrm>
            <a:off x="8686800" y="1261872"/>
            <a:ext cx="29562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8686800" y="1645920"/>
            <a:ext cx="2956255" cy="14135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8686800" y="1645920"/>
            <a:ext cx="2956255" cy="1413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round 1 best: 9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round 2 best: 9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round 3 best: 10</a:t>
            </a:r>
            <a:endParaRPr lang="en-US" sz="2200" dirty="0"/>
          </a:p>
        </p:txBody>
      </p:sp>
      <p:sp>
        <p:nvSpPr>
          <p:cNvPr id="17" name="Shape 17"/>
          <p:cNvSpPr/>
          <p:nvPr/>
        </p:nvSpPr>
        <p:spPr>
          <a:xfrm>
            <a:off x="8686800" y="3333750"/>
            <a:ext cx="295625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686800" y="3333750"/>
            <a:ext cx="109728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796528" y="3333750"/>
            <a:ext cx="284652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Columns outside.</a:t>
            </a:r>
            <a:endParaRPr lang="en-US" sz="2400" dirty="0"/>
          </a:p>
        </p:txBody>
      </p:sp>
      <p:sp>
        <p:nvSpPr>
          <p:cNvPr id="20" name="Shape 20"/>
          <p:cNvSpPr/>
          <p:nvPr/>
        </p:nvSpPr>
        <p:spPr>
          <a:xfrm>
            <a:off x="8686800" y="4220718"/>
            <a:ext cx="295625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Shape 21"/>
          <p:cNvSpPr/>
          <p:nvPr/>
        </p:nvSpPr>
        <p:spPr>
          <a:xfrm>
            <a:off x="8686800" y="4220718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2" name="Callout"/>
          <p:cNvSpPr/>
          <p:nvPr/>
        </p:nvSpPr>
        <p:spPr>
          <a:xfrm>
            <a:off x="8796528" y="4220718"/>
            <a:ext cx="284652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Start at the first row: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pts[0][r]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Which loop goes outside?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1402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1402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8324A"/>
                </a:solidFill>
              </a:rPr>
              <a:t>The outside loop is what you want one answer for.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3212592"/>
            <a:ext cx="10728655" cy="20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One answer </a:t>
            </a:r>
            <a:r>
              <a:rPr lang="en-US" sz="3000" b="1" dirty="0">
                <a:solidFill>
                  <a:srgbClr val="18324A"/>
                </a:solidFill>
              </a:rPr>
              <a:t>per row</a:t>
            </a:r>
            <a:r>
              <a:rPr lang="en-US" sz="3000" dirty="0">
                <a:solidFill>
                  <a:srgbClr val="18324A"/>
                </a:solidFill>
              </a:rPr>
              <a:t>: the row loop outside.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One answer </a:t>
            </a:r>
            <a:r>
              <a:rPr lang="en-US" sz="3000" b="1" dirty="0">
                <a:solidFill>
                  <a:srgbClr val="18324A"/>
                </a:solidFill>
              </a:rPr>
              <a:t>per column</a:t>
            </a:r>
            <a:r>
              <a:rPr lang="en-US" sz="3000" dirty="0">
                <a:solidFill>
                  <a:srgbClr val="18324A"/>
                </a:solidFill>
              </a:rPr>
              <a:t>: the column loop outside.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index order never changes: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pts[p][r]</a:t>
            </a:r>
            <a:r>
              <a:rPr lang="en-US" sz="3000" dirty="0">
                <a:solidFill>
                  <a:srgbClr val="18324A"/>
                </a:solidFill>
              </a:rPr>
              <a:t>, row first.</a:t>
            </a:r>
            <a:endParaRPr lang="en-US" sz="3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4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The cells around a cell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Neighbours, and the edge of the grid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14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The 8 neighbours of (r, c)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Across and diagonally. The cell itself is not its own neighbour.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1584916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2133556" y="1261872"/>
            <a:ext cx="316983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 - 1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5303389" y="1261872"/>
            <a:ext cx="316983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8473222" y="1261872"/>
            <a:ext cx="3169833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 + 1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548640" y="1920240"/>
            <a:ext cx="15849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 - 1</a:t>
            </a:r>
            <a:endParaRPr lang="en-US" sz="2600" dirty="0"/>
          </a:p>
        </p:txBody>
      </p:sp>
      <p:sp>
        <p:nvSpPr>
          <p:cNvPr id="14" name="Shape 14"/>
          <p:cNvSpPr/>
          <p:nvPr/>
        </p:nvSpPr>
        <p:spPr>
          <a:xfrm>
            <a:off x="2133556" y="1920240"/>
            <a:ext cx="316983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(r-1, c-1)</a:t>
            </a:r>
            <a:endParaRPr lang="en-US" sz="2600" dirty="0"/>
          </a:p>
        </p:txBody>
      </p:sp>
      <p:sp>
        <p:nvSpPr>
          <p:cNvPr id="15" name="Shape 15"/>
          <p:cNvSpPr/>
          <p:nvPr/>
        </p:nvSpPr>
        <p:spPr>
          <a:xfrm>
            <a:off x="5303389" y="1920240"/>
            <a:ext cx="316983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(r-1, c)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8473222" y="1920240"/>
            <a:ext cx="316983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(r-1, c+1)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548640" y="2578608"/>
            <a:ext cx="1584916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2133556" y="2578608"/>
            <a:ext cx="316983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(r, c-1)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5303389" y="2578608"/>
            <a:ext cx="316983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8324A"/>
                </a:solidFill>
              </a:rPr>
              <a:t>the cell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8473222" y="2578608"/>
            <a:ext cx="3169833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(r, c+1)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548640" y="3236976"/>
            <a:ext cx="1584916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 + 1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2133556" y="3236976"/>
            <a:ext cx="316983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(r+1, c-1)</a:t>
            </a:r>
            <a:endParaRPr lang="en-US" sz="2600" dirty="0"/>
          </a:p>
        </p:txBody>
      </p:sp>
      <p:sp>
        <p:nvSpPr>
          <p:cNvPr id="23" name="Shape 23"/>
          <p:cNvSpPr/>
          <p:nvPr/>
        </p:nvSpPr>
        <p:spPr>
          <a:xfrm>
            <a:off x="5303389" y="3236976"/>
            <a:ext cx="316983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(r+1, c)</a:t>
            </a:r>
            <a:endParaRPr lang="en-US" sz="2600" dirty="0"/>
          </a:p>
        </p:txBody>
      </p:sp>
      <p:sp>
        <p:nvSpPr>
          <p:cNvPr id="24" name="Shape 24"/>
          <p:cNvSpPr/>
          <p:nvPr/>
        </p:nvSpPr>
        <p:spPr>
          <a:xfrm>
            <a:off x="8473222" y="3236976"/>
            <a:ext cx="316983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(r+1, c+1)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Two small loops do it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dr</a:t>
            </a:r>
            <a:r>
              <a:rPr lang="en-US" sz="4000" b="1" dirty="0">
                <a:solidFill>
                  <a:srgbClr val="18324A"/>
                </a:solidFill>
              </a:rPr>
              <a:t> and </a:t>
            </a:r>
            <a:r>
              <a:rPr lang="en-US" sz="4000" b="1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dc</a:t>
            </a:r>
            <a:r>
              <a:rPr lang="en-US" sz="4000" b="1" dirty="0">
                <a:solidFill>
                  <a:srgbClr val="18324A"/>
                </a:solidFill>
              </a:rPr>
              <a:t> go from -1 to 1.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51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r + dr</a:t>
            </a:r>
            <a:r>
              <a:rPr lang="en-US" sz="3000" dirty="0">
                <a:solidFill>
                  <a:srgbClr val="18324A"/>
                </a:solidFill>
              </a:rPr>
              <a:t>: the row above, this row, the row below.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 + dc</a:t>
            </a:r>
            <a:r>
              <a:rPr lang="en-US" sz="3000" dirty="0">
                <a:solidFill>
                  <a:srgbClr val="18324A"/>
                </a:solidFill>
              </a:rPr>
              <a:t>: the column left, this column, right.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3 x 3 = 9 positions. Skip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dr == 0 &amp;&amp; dc == 0</a:t>
            </a:r>
            <a:r>
              <a:rPr lang="en-US" sz="3000" dirty="0">
                <a:solidFill>
                  <a:srgbClr val="18324A"/>
                </a:solidFill>
              </a:rPr>
              <a:t>: 8 are left.</a:t>
            </a:r>
            <a:endParaRPr lang="en-US" sz="3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Question: how many neighbours?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QUESTION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In a 4 by 5 grid, how many neighbours does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corner cell (0, 0) have?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And a cell on the top edge, like (0, 2)?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Question: how many neighbours?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QUESTION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11094415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In a 4 by 5 grid, how many neighbours does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 corner cell (0, 0) have?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And a cell on the top edge, like (0, 2)?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48640" y="4648200"/>
            <a:ext cx="11094415" cy="161544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4648200"/>
            <a:ext cx="109728" cy="161544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allout"/>
          <p:cNvSpPr/>
          <p:nvPr/>
        </p:nvSpPr>
        <p:spPr>
          <a:xfrm>
            <a:off x="658368" y="4648200"/>
            <a:ext cx="10984687" cy="16154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31C48D"/>
                </a:solidFill>
              </a:rPr>
              <a:t>ANSWER</a:t>
            </a:r>
            <a:endParaRPr lang="en-US" sz="14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Corner: </a:t>
            </a:r>
            <a:r>
              <a:rPr lang="en-US" sz="2600" b="1" dirty="0">
                <a:solidFill>
                  <a:srgbClr val="18324A"/>
                </a:solidFill>
              </a:rPr>
              <a:t>3</a:t>
            </a:r>
            <a:r>
              <a:rPr lang="en-US" sz="2600" dirty="0">
                <a:solidFill>
                  <a:srgbClr val="18324A"/>
                </a:solidFill>
              </a:rPr>
              <a:t>.  Edge: </a:t>
            </a:r>
            <a:r>
              <a:rPr lang="en-US" sz="2600" b="1" dirty="0">
                <a:solidFill>
                  <a:srgbClr val="18324A"/>
                </a:solidFill>
              </a:rPr>
              <a:t>5</a:t>
            </a:r>
            <a:r>
              <a:rPr lang="en-US" sz="2600" dirty="0">
                <a:solidFill>
                  <a:srgbClr val="18324A"/>
                </a:solidFill>
              </a:rPr>
              <a:t>.  Middle: </a:t>
            </a:r>
            <a:r>
              <a:rPr lang="en-US" sz="2600" b="1" dirty="0">
                <a:solidFill>
                  <a:srgbClr val="18324A"/>
                </a:solidFill>
              </a:rPr>
              <a:t>8</a:t>
            </a:r>
            <a:r>
              <a:rPr lang="en-US" sz="2600" dirty="0">
                <a:solidFill>
                  <a:srgbClr val="18324A"/>
                </a:solidFill>
              </a:rPr>
              <a:t>.</a:t>
            </a:r>
            <a:endParaRPr lang="en-US" sz="2600" dirty="0"/>
          </a:p>
          <a:p>
            <a:pPr marL="0" indent="0" algn="l">
              <a:buNone/>
            </a:pPr>
            <a:r>
              <a:rPr lang="en-US" sz="2600" dirty="0">
                <a:solidFill>
                  <a:srgbClr val="18324A"/>
                </a:solidFill>
              </a:rPr>
              <a:t>The rest would be off the grid.</a:t>
            </a:r>
            <a:endParaRPr lang="en-US" sz="2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Careful: past the right edge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CAREFUL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213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(0, 3)</a:t>
            </a:r>
            <a:r>
              <a:rPr lang="en-US" sz="3200" dirty="0">
                <a:solidFill>
                  <a:srgbClr val="18324A"/>
                </a:solidFill>
              </a:rPr>
              <a:t> is on the right edge.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There is no column 4. What is printed?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258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258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g[ROWS][COLS] = {{1, 2, 3, 4},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{5, 6, 7, 8},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   {9, 10, 11, 12}};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r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c = 3;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printf("cell: %d\n", g[r][c]);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printf("right: %d\n", g[r][c + 1]);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wrong neighbour, and no error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32550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3962527"/>
            <a:ext cx="7680960" cy="4127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3962527"/>
            <a:ext cx="82296" cy="4127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680960" cy="32550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g[ROWS][COLS] = {{1, 2, 3, 4},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     {5, 6, 7, 8},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     {9, 10, 11, 12}};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r = 0;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c = 3;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printf("cell: %d\n", g[r][c]);</a:t>
            </a:r>
            <a:endParaRPr lang="en-US" sz="2600" dirty="0"/>
          </a:p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printf("right: %d\n", g[r][c + 1]);</a:t>
            </a:r>
            <a:endParaRPr lang="en-US" sz="2600" dirty="0"/>
          </a:p>
        </p:txBody>
      </p:sp>
      <p:sp>
        <p:nvSpPr>
          <p:cNvPr id="10" name="Shape 10"/>
          <p:cNvSpPr/>
          <p:nvPr/>
        </p:nvSpPr>
        <p:spPr>
          <a:xfrm>
            <a:off x="8503920" y="1261872"/>
            <a:ext cx="31391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503920" y="1645920"/>
            <a:ext cx="313913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503920" y="1645920"/>
            <a:ext cx="313913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cell: 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right: 5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503920" y="304800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503920" y="3048000"/>
            <a:ext cx="109728" cy="10515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613648" y="304800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g[0][4]</a:t>
            </a:r>
            <a:r>
              <a:rPr lang="en-US" sz="2400" dirty="0">
                <a:solidFill>
                  <a:srgbClr val="18324A"/>
                </a:solidFill>
              </a:rPr>
              <a:t> is the next box: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g[1][0]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6" name="Shape 16"/>
          <p:cNvSpPr/>
          <p:nvPr/>
        </p:nvSpPr>
        <p:spPr>
          <a:xfrm>
            <a:off x="8503920" y="4300728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503920" y="4300728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8613648" y="4300728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No warning, even with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-Wall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is_inside: on the grid or not?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38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8046720" cy="449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746502"/>
            <a:ext cx="804672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3064002"/>
            <a:ext cx="804672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064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8046720" cy="449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#define ROWS 4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#define COLS 5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is_inside(int r, int c)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return r &gt;= 0 &amp;&amp; r &lt; ROWS &amp;&amp; c &gt;= 0 &amp;&amp; c &lt; COLS;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is_inside(0, 0));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is_inside(3, 4));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is_inside(-1, 2));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printf("%d\n", is_inside(2, 5));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</p:txBody>
      </p:sp>
      <p:sp>
        <p:nvSpPr>
          <p:cNvPr id="12" name="Shape 12"/>
          <p:cNvSpPr/>
          <p:nvPr/>
        </p:nvSpPr>
        <p:spPr>
          <a:xfrm>
            <a:off x="8869680" y="1261872"/>
            <a:ext cx="277337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869680" y="1645920"/>
            <a:ext cx="277337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869680" y="1645920"/>
            <a:ext cx="277337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869680" y="3810000"/>
            <a:ext cx="277337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869680" y="3810000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979408" y="3810000"/>
            <a:ext cx="266364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Rows 0 to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ROWS - 1</a:t>
            </a:r>
            <a:r>
              <a:rPr lang="en-US" sz="2400" dirty="0">
                <a:solidFill>
                  <a:srgbClr val="18324A"/>
                </a:solidFill>
              </a:rPr>
              <a:t>, columns 0 to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COLS - 1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Count the neighbours of a cell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39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4810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115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429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27465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2746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548640" y="3699002"/>
            <a:ext cx="768096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548640" y="369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ode"/>
          <p:cNvSpPr/>
          <p:nvPr/>
        </p:nvSpPr>
        <p:spPr>
          <a:xfrm>
            <a:off x="548640" y="1261872"/>
            <a:ext cx="7680960" cy="4810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count_neighbours(int r, int c)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count =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for (int dr = -1; dr &lt;= 1; dr++)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for (int dc = -1; dc &lt;= 1; dc++)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(dr == 0 &amp;&amp; dc == 0)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continue;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(is_inside(r + dr, c + dc))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count++;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count;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6" name="Shape 16"/>
          <p:cNvSpPr/>
          <p:nvPr/>
        </p:nvSpPr>
        <p:spPr>
          <a:xfrm>
            <a:off x="8503920" y="1261872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8503920" y="1261872"/>
            <a:ext cx="10972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8613648" y="1261872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continue</a:t>
            </a:r>
            <a:r>
              <a:rPr lang="en-US" sz="2400" dirty="0">
                <a:solidFill>
                  <a:srgbClr val="18324A"/>
                </a:solidFill>
              </a:rPr>
              <a:t>: skip the cell itself.</a:t>
            </a:r>
            <a:endParaRPr lang="en-US" sz="2400" dirty="0"/>
          </a:p>
        </p:txBody>
      </p:sp>
      <p:sp>
        <p:nvSpPr>
          <p:cNvPr id="19" name="Shape 19"/>
          <p:cNvSpPr/>
          <p:nvPr/>
        </p:nvSpPr>
        <p:spPr>
          <a:xfrm>
            <a:off x="8503920" y="2514600"/>
            <a:ext cx="313913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8503920" y="2514600"/>
            <a:ext cx="109728" cy="141732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21" name="Callout"/>
          <p:cNvSpPr/>
          <p:nvPr/>
        </p:nvSpPr>
        <p:spPr>
          <a:xfrm>
            <a:off x="8613648" y="2514600"/>
            <a:ext cx="302940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is_inside</a:t>
            </a:r>
            <a:r>
              <a:rPr lang="en-US" sz="2400" dirty="0">
                <a:solidFill>
                  <a:srgbClr val="18324A"/>
                </a:solidFill>
              </a:rPr>
              <a:t>: drop positions off the grid.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Every cell of a 4 by 5 grid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863840" cy="3223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429002"/>
            <a:ext cx="78638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7863840" cy="3223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main(void)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r = 0; r &lt; ROWS; 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for (int c = 0; c &lt; COLS; 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printf("%2d", count_neighbours(r, c));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printf("\n");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0;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000" dirty="0"/>
          </a:p>
        </p:txBody>
      </p:sp>
      <p:sp>
        <p:nvSpPr>
          <p:cNvPr id="10" name="Shape 10"/>
          <p:cNvSpPr/>
          <p:nvPr/>
        </p:nvSpPr>
        <p:spPr>
          <a:xfrm>
            <a:off x="8686800" y="1261872"/>
            <a:ext cx="295625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1" name="Shape 11"/>
          <p:cNvSpPr/>
          <p:nvPr/>
        </p:nvSpPr>
        <p:spPr>
          <a:xfrm>
            <a:off x="8686800" y="1645920"/>
            <a:ext cx="2956255" cy="1889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ode"/>
          <p:cNvSpPr/>
          <p:nvPr/>
        </p:nvSpPr>
        <p:spPr>
          <a:xfrm>
            <a:off x="8686800" y="1645920"/>
            <a:ext cx="2956255" cy="1889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3 5 5 5 3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5 8 8 8 5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5 8 8 8 5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3 5 5 5 3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8686800" y="3810000"/>
            <a:ext cx="29562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8686800" y="3810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8796528" y="3810000"/>
            <a:ext cx="28465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Corners 3, edges 5, middle 8.</a:t>
            </a:r>
            <a:endParaRPr lang="en-US" sz="2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seating chart: 1 is taken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seats[2][1]</a:t>
            </a:r>
            <a:r>
              <a:rPr lang="en-US" sz="2400" dirty="0">
                <a:solidFill>
                  <a:srgbClr val="18324A"/>
                </a:solidFill>
              </a:rPr>
              <a:t> is 1: row 2, column 1 is taken.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2397709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4246778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6095848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7944917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9793986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548640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2397709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4246778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6095848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7944917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9793986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548640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2397709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23" name="Shape 23"/>
          <p:cNvSpPr/>
          <p:nvPr/>
        </p:nvSpPr>
        <p:spPr>
          <a:xfrm>
            <a:off x="4246778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4" name="Shape 24"/>
          <p:cNvSpPr/>
          <p:nvPr/>
        </p:nvSpPr>
        <p:spPr>
          <a:xfrm>
            <a:off x="6095848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25" name="Shape 25"/>
          <p:cNvSpPr/>
          <p:nvPr/>
        </p:nvSpPr>
        <p:spPr>
          <a:xfrm>
            <a:off x="7944917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26" name="Shape 26"/>
          <p:cNvSpPr/>
          <p:nvPr/>
        </p:nvSpPr>
        <p:spPr>
          <a:xfrm>
            <a:off x="9793986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7" name="Shape 27"/>
          <p:cNvSpPr/>
          <p:nvPr/>
        </p:nvSpPr>
        <p:spPr>
          <a:xfrm>
            <a:off x="548640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2</a:t>
            </a:r>
            <a:endParaRPr lang="en-US" sz="2600" dirty="0"/>
          </a:p>
        </p:txBody>
      </p:sp>
      <p:sp>
        <p:nvSpPr>
          <p:cNvPr id="28" name="Shape 28"/>
          <p:cNvSpPr/>
          <p:nvPr/>
        </p:nvSpPr>
        <p:spPr>
          <a:xfrm>
            <a:off x="2397709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9" name="Shape 29"/>
          <p:cNvSpPr/>
          <p:nvPr/>
        </p:nvSpPr>
        <p:spPr>
          <a:xfrm>
            <a:off x="4246778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30" name="Shape 30"/>
          <p:cNvSpPr/>
          <p:nvPr/>
        </p:nvSpPr>
        <p:spPr>
          <a:xfrm>
            <a:off x="6095848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31" name="Shape 31"/>
          <p:cNvSpPr/>
          <p:nvPr/>
        </p:nvSpPr>
        <p:spPr>
          <a:xfrm>
            <a:off x="7944917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32" name="Shape 32"/>
          <p:cNvSpPr/>
          <p:nvPr/>
        </p:nvSpPr>
        <p:spPr>
          <a:xfrm>
            <a:off x="9793986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33" name="Shape 33"/>
          <p:cNvSpPr/>
          <p:nvPr/>
        </p:nvSpPr>
        <p:spPr>
          <a:xfrm>
            <a:off x="548640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3</a:t>
            </a:r>
            <a:endParaRPr lang="en-US" sz="2600" dirty="0"/>
          </a:p>
        </p:txBody>
      </p:sp>
      <p:sp>
        <p:nvSpPr>
          <p:cNvPr id="34" name="Shape 34"/>
          <p:cNvSpPr/>
          <p:nvPr/>
        </p:nvSpPr>
        <p:spPr>
          <a:xfrm>
            <a:off x="2397709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35" name="Shape 35"/>
          <p:cNvSpPr/>
          <p:nvPr/>
        </p:nvSpPr>
        <p:spPr>
          <a:xfrm>
            <a:off x="4246778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36" name="Shape 36"/>
          <p:cNvSpPr/>
          <p:nvPr/>
        </p:nvSpPr>
        <p:spPr>
          <a:xfrm>
            <a:off x="6095848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37" name="Shape 37"/>
          <p:cNvSpPr/>
          <p:nvPr/>
        </p:nvSpPr>
        <p:spPr>
          <a:xfrm>
            <a:off x="7944917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38" name="Shape 38"/>
          <p:cNvSpPr/>
          <p:nvPr/>
        </p:nvSpPr>
        <p:spPr>
          <a:xfrm>
            <a:off x="9793986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Inside taken_around(s, r, c)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863840" cy="38582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111502"/>
            <a:ext cx="78638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1115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2429002"/>
            <a:ext cx="78638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242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699002"/>
            <a:ext cx="7863840" cy="3175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699002"/>
            <a:ext cx="82296" cy="317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7863840" cy="38582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dr = -1; dr &lt;= 1; dr++)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dc = -1; dc &lt;= 1; dc++)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nr = r + dr;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int nc = c + dc;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if (dr == 0 &amp;&amp; dc == 0)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continue;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(is_inside(nr, nc) &amp;&amp; s[nr][nc] == 1) {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count++;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00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000" dirty="0"/>
          </a:p>
        </p:txBody>
      </p:sp>
      <p:sp>
        <p:nvSpPr>
          <p:cNvPr id="14" name="Shape 14"/>
          <p:cNvSpPr/>
          <p:nvPr/>
        </p:nvSpPr>
        <p:spPr>
          <a:xfrm>
            <a:off x="8686800" y="1261872"/>
            <a:ext cx="29562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Shape 15"/>
          <p:cNvSpPr/>
          <p:nvPr/>
        </p:nvSpPr>
        <p:spPr>
          <a:xfrm>
            <a:off x="8686800" y="1261872"/>
            <a:ext cx="109728" cy="105156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allout"/>
          <p:cNvSpPr/>
          <p:nvPr/>
        </p:nvSpPr>
        <p:spPr>
          <a:xfrm>
            <a:off x="8796528" y="1261872"/>
            <a:ext cx="28465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nr</a:t>
            </a:r>
            <a:r>
              <a:rPr lang="en-US" sz="2400" dirty="0">
                <a:solidFill>
                  <a:srgbClr val="18324A"/>
                </a:solidFill>
              </a:rPr>
              <a:t>,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nc</a:t>
            </a:r>
            <a:r>
              <a:rPr lang="en-US" sz="2400" dirty="0">
                <a:solidFill>
                  <a:srgbClr val="18324A"/>
                </a:solidFill>
              </a:rPr>
              <a:t>: the neighbour.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686800" y="2514600"/>
            <a:ext cx="295625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686800" y="25146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796528" y="2514600"/>
            <a:ext cx="284652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is_inside</a:t>
            </a:r>
            <a:r>
              <a:rPr lang="en-US" sz="2400" dirty="0">
                <a:solidFill>
                  <a:srgbClr val="18324A"/>
                </a:solidFill>
              </a:rPr>
              <a:t> first, then read.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Predict: count by hand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43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577840"/>
            <a:ext cx="11094415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577840"/>
            <a:ext cx="109728" cy="6858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577840"/>
            <a:ext cx="10984687" cy="68580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How many taken seats are around </a:t>
            </a:r>
            <a:r>
              <a:rPr lang="en-US" sz="2400" b="1" dirty="0">
                <a:solidFill>
                  <a:srgbClr val="18324A"/>
                </a:solidFill>
              </a:rPr>
              <a:t>(2, 2)</a:t>
            </a:r>
            <a:r>
              <a:rPr lang="en-US" sz="2400" dirty="0">
                <a:solidFill>
                  <a:srgbClr val="18324A"/>
                </a:solidFill>
              </a:rPr>
              <a:t>? Around the corner </a:t>
            </a:r>
            <a:r>
              <a:rPr lang="en-US" sz="2400" b="1" dirty="0">
                <a:solidFill>
                  <a:srgbClr val="18324A"/>
                </a:solidFill>
              </a:rPr>
              <a:t>(0, 0)</a:t>
            </a:r>
            <a:r>
              <a:rPr lang="en-US" sz="2400" dirty="0">
                <a:solidFill>
                  <a:srgbClr val="18324A"/>
                </a:solidFill>
              </a:rPr>
              <a:t>?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Shape 10"/>
          <p:cNvSpPr/>
          <p:nvPr/>
        </p:nvSpPr>
        <p:spPr>
          <a:xfrm>
            <a:off x="2397709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</a:t>
            </a:r>
            <a:endParaRPr lang="en-US" sz="1800" dirty="0"/>
          </a:p>
        </p:txBody>
      </p:sp>
      <p:sp>
        <p:nvSpPr>
          <p:cNvPr id="11" name="Shape 11"/>
          <p:cNvSpPr/>
          <p:nvPr/>
        </p:nvSpPr>
        <p:spPr>
          <a:xfrm>
            <a:off x="4246778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Shape 12"/>
          <p:cNvSpPr/>
          <p:nvPr/>
        </p:nvSpPr>
        <p:spPr>
          <a:xfrm>
            <a:off x="6095848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Shape 13"/>
          <p:cNvSpPr/>
          <p:nvPr/>
        </p:nvSpPr>
        <p:spPr>
          <a:xfrm>
            <a:off x="7944917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hape 14"/>
          <p:cNvSpPr/>
          <p:nvPr/>
        </p:nvSpPr>
        <p:spPr>
          <a:xfrm>
            <a:off x="9793986" y="1261872"/>
            <a:ext cx="1849069" cy="658368"/>
          </a:xfrm>
          <a:prstGeom prst="rect">
            <a:avLst/>
          </a:prstGeom>
          <a:solidFill>
            <a:srgbClr val="18324A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548640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16" name="Shape 16"/>
          <p:cNvSpPr/>
          <p:nvPr/>
        </p:nvSpPr>
        <p:spPr>
          <a:xfrm>
            <a:off x="2397709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17" name="Shape 17"/>
          <p:cNvSpPr/>
          <p:nvPr/>
        </p:nvSpPr>
        <p:spPr>
          <a:xfrm>
            <a:off x="4246778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18" name="Shape 18"/>
          <p:cNvSpPr/>
          <p:nvPr/>
        </p:nvSpPr>
        <p:spPr>
          <a:xfrm>
            <a:off x="6095848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19" name="Shape 19"/>
          <p:cNvSpPr/>
          <p:nvPr/>
        </p:nvSpPr>
        <p:spPr>
          <a:xfrm>
            <a:off x="7944917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0" name="Shape 20"/>
          <p:cNvSpPr/>
          <p:nvPr/>
        </p:nvSpPr>
        <p:spPr>
          <a:xfrm>
            <a:off x="9793986" y="1920240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1" name="Shape 21"/>
          <p:cNvSpPr/>
          <p:nvPr/>
        </p:nvSpPr>
        <p:spPr>
          <a:xfrm>
            <a:off x="548640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2" name="Shape 22"/>
          <p:cNvSpPr/>
          <p:nvPr/>
        </p:nvSpPr>
        <p:spPr>
          <a:xfrm>
            <a:off x="2397709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23" name="Shape 23"/>
          <p:cNvSpPr/>
          <p:nvPr/>
        </p:nvSpPr>
        <p:spPr>
          <a:xfrm>
            <a:off x="4246778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4" name="Shape 24"/>
          <p:cNvSpPr/>
          <p:nvPr/>
        </p:nvSpPr>
        <p:spPr>
          <a:xfrm>
            <a:off x="6095848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25" name="Shape 25"/>
          <p:cNvSpPr/>
          <p:nvPr/>
        </p:nvSpPr>
        <p:spPr>
          <a:xfrm>
            <a:off x="7944917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26" name="Shape 26"/>
          <p:cNvSpPr/>
          <p:nvPr/>
        </p:nvSpPr>
        <p:spPr>
          <a:xfrm>
            <a:off x="9793986" y="2578608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7" name="Shape 27"/>
          <p:cNvSpPr/>
          <p:nvPr/>
        </p:nvSpPr>
        <p:spPr>
          <a:xfrm>
            <a:off x="548640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2</a:t>
            </a:r>
            <a:endParaRPr lang="en-US" sz="2600" dirty="0"/>
          </a:p>
        </p:txBody>
      </p:sp>
      <p:sp>
        <p:nvSpPr>
          <p:cNvPr id="28" name="Shape 28"/>
          <p:cNvSpPr/>
          <p:nvPr/>
        </p:nvSpPr>
        <p:spPr>
          <a:xfrm>
            <a:off x="2397709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29" name="Shape 29"/>
          <p:cNvSpPr/>
          <p:nvPr/>
        </p:nvSpPr>
        <p:spPr>
          <a:xfrm>
            <a:off x="4246778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30" name="Shape 30"/>
          <p:cNvSpPr/>
          <p:nvPr/>
        </p:nvSpPr>
        <p:spPr>
          <a:xfrm>
            <a:off x="6095848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31" name="Shape 31"/>
          <p:cNvSpPr/>
          <p:nvPr/>
        </p:nvSpPr>
        <p:spPr>
          <a:xfrm>
            <a:off x="7944917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32" name="Shape 32"/>
          <p:cNvSpPr/>
          <p:nvPr/>
        </p:nvSpPr>
        <p:spPr>
          <a:xfrm>
            <a:off x="9793986" y="3236976"/>
            <a:ext cx="1849069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33" name="Shape 33"/>
          <p:cNvSpPr/>
          <p:nvPr/>
        </p:nvSpPr>
        <p:spPr>
          <a:xfrm>
            <a:off x="548640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3</a:t>
            </a:r>
            <a:endParaRPr lang="en-US" sz="2600" dirty="0"/>
          </a:p>
        </p:txBody>
      </p:sp>
      <p:sp>
        <p:nvSpPr>
          <p:cNvPr id="34" name="Shape 34"/>
          <p:cNvSpPr/>
          <p:nvPr/>
        </p:nvSpPr>
        <p:spPr>
          <a:xfrm>
            <a:off x="2397709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35" name="Shape 35"/>
          <p:cNvSpPr/>
          <p:nvPr/>
        </p:nvSpPr>
        <p:spPr>
          <a:xfrm>
            <a:off x="4246778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36" name="Shape 36"/>
          <p:cNvSpPr/>
          <p:nvPr/>
        </p:nvSpPr>
        <p:spPr>
          <a:xfrm>
            <a:off x="6095848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0</a:t>
            </a:r>
            <a:endParaRPr lang="en-US" sz="2600" dirty="0"/>
          </a:p>
        </p:txBody>
      </p:sp>
      <p:sp>
        <p:nvSpPr>
          <p:cNvPr id="37" name="Shape 37"/>
          <p:cNvSpPr/>
          <p:nvPr/>
        </p:nvSpPr>
        <p:spPr>
          <a:xfrm>
            <a:off x="7944917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  <p:sp>
        <p:nvSpPr>
          <p:cNvPr id="38" name="Shape 38"/>
          <p:cNvSpPr/>
          <p:nvPr/>
        </p:nvSpPr>
        <p:spPr>
          <a:xfrm>
            <a:off x="9793986" y="3895344"/>
            <a:ext cx="1849069" cy="658368"/>
          </a:xfrm>
          <a:prstGeom prst="rect">
            <a:avLst/>
          </a:prstGeom>
          <a:solidFill>
            <a:srgbClr val="F4F7FB"/>
          </a:solidFill>
          <a:ln w="12700">
            <a:solidFill>
              <a:srgbClr val="D8E0E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8324A"/>
                </a:solidFill>
              </a:rPr>
              <a:t>1</a:t>
            </a:r>
            <a:endParaRPr lang="en-US" sz="2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All four answers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44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5212080"/>
            <a:ext cx="1109441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521208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Callout"/>
          <p:cNvSpPr/>
          <p:nvPr/>
        </p:nvSpPr>
        <p:spPr>
          <a:xfrm>
            <a:off x="658368" y="5212080"/>
            <a:ext cx="1098468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It prints 1, 2, 4, 2. Around (2, 2): (1, 1), (2, 1), (2, 3), (3, 3) are taken. Around (0, 0): only (1, 1).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548640" y="1261872"/>
            <a:ext cx="11094415" cy="2143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Code"/>
          <p:cNvSpPr/>
          <p:nvPr/>
        </p:nvSpPr>
        <p:spPr>
          <a:xfrm>
            <a:off x="548640" y="1261872"/>
            <a:ext cx="11094415" cy="2143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printf("(0, 0): %d\n", taken_around(seats, 0, 0));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printf("(0, 2): %d\n", taken_around(seats, 0, 2));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printf("(2, 2): %d\n", taken_around(seats, 2, 2));</a:t>
            </a:r>
            <a:endParaRPr lang="en-US" sz="2800" dirty="0"/>
          </a:p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printf("(3, 4): %d\n", taken_around(seats, 3, 4));</a:t>
            </a:r>
            <a:endParaRPr lang="en-US" sz="2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Check first, then read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45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399032"/>
            <a:ext cx="109728" cy="792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914400" y="1399032"/>
            <a:ext cx="10728655" cy="792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6B6B"/>
                </a:solidFill>
                <a:latin typeface="Consolas"/>
                <a:ea typeface="Consolas"/>
                <a:cs typeface="Consolas"/>
              </a:rPr>
              <a:t>is_inside(nr, nc) &amp;&amp; s[nr][nc] == 1</a:t>
            </a:r>
            <a:endParaRPr lang="en-US" sz="4000" dirty="0"/>
          </a:p>
        </p:txBody>
      </p:sp>
      <p:sp>
        <p:nvSpPr>
          <p:cNvPr id="8" name="Shape 8"/>
          <p:cNvSpPr/>
          <p:nvPr/>
        </p:nvSpPr>
        <p:spPr>
          <a:xfrm>
            <a:off x="914400" y="2602992"/>
            <a:ext cx="10728655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&amp;&amp;</a:t>
            </a:r>
            <a:r>
              <a:rPr lang="en-US" sz="3000" dirty="0">
                <a:solidFill>
                  <a:srgbClr val="18324A"/>
                </a:solidFill>
              </a:rPr>
              <a:t> stops at the first false part.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Off the grid: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is_inside</a:t>
            </a:r>
            <a:r>
              <a:rPr lang="en-US" sz="3000" dirty="0">
                <a:solidFill>
                  <a:srgbClr val="18324A"/>
                </a:solidFill>
              </a:rPr>
              <a:t> is 0, so </a:t>
            </a:r>
            <a:r>
              <a:rPr lang="en-US" sz="30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s[nr][nc]</a:t>
            </a:r>
            <a:r>
              <a:rPr lang="en-US" sz="3000" dirty="0">
                <a:solidFill>
                  <a:srgbClr val="18324A"/>
                </a:solidFill>
              </a:rPr>
              <a:t> is never read.</a:t>
            </a:r>
            <a:endParaRPr lang="en-US" sz="3000" dirty="0"/>
          </a:p>
          <a:p>
            <a:pPr marL="0" indent="0" algn="l">
              <a:spcAft>
                <a:spcPts val="1600"/>
              </a:spcAft>
              <a:buNone/>
            </a:pPr>
            <a:r>
              <a:rPr lang="en-US" sz="3000" dirty="0">
                <a:solidFill>
                  <a:srgbClr val="18324A"/>
                </a:solidFill>
              </a:rPr>
              <a:t>The other order reads outside the grid first. Never do that.</a:t>
            </a:r>
            <a:endParaRPr lang="en-US" sz="3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A grid of char: each row is a string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46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8778240" cy="239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1495552"/>
            <a:ext cx="8778240" cy="508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1495552"/>
            <a:ext cx="82296" cy="50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48640" y="1261872"/>
            <a:ext cx="8778240" cy="239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char map[ROWS][COLS + 1] = {"X..XX",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            ".X..X",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            "XX.X.",</a:t>
            </a:r>
            <a:endParaRPr lang="en-US" sz="3200" dirty="0"/>
          </a:p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                "...XX"};</a:t>
            </a:r>
            <a:endParaRPr lang="en-US" sz="3200" dirty="0"/>
          </a:p>
        </p:txBody>
      </p:sp>
      <p:sp>
        <p:nvSpPr>
          <p:cNvPr id="10" name="Shape 10"/>
          <p:cNvSpPr/>
          <p:nvPr/>
        </p:nvSpPr>
        <p:spPr>
          <a:xfrm>
            <a:off x="9601200" y="1261872"/>
            <a:ext cx="2041855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9601200" y="1261872"/>
            <a:ext cx="109728" cy="1417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Callout"/>
          <p:cNvSpPr/>
          <p:nvPr/>
        </p:nvSpPr>
        <p:spPr>
          <a:xfrm>
            <a:off x="9710928" y="1261872"/>
            <a:ext cx="1932127" cy="141732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COLS + 1</a:t>
            </a:r>
            <a:r>
              <a:rPr lang="en-US" sz="2400" dirty="0">
                <a:solidFill>
                  <a:srgbClr val="18324A"/>
                </a:solidFill>
              </a:rPr>
              <a:t>: 5 letters and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'\0'</a:t>
            </a:r>
            <a:r>
              <a:rPr lang="en-US" sz="2400" dirty="0">
                <a:solidFill>
                  <a:srgbClr val="18324A"/>
                </a:solidFill>
              </a:rPr>
              <a:t>.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9601200" y="2880360"/>
            <a:ext cx="2041855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Shape 14"/>
          <p:cNvSpPr/>
          <p:nvPr/>
        </p:nvSpPr>
        <p:spPr>
          <a:xfrm>
            <a:off x="9601200" y="2880360"/>
            <a:ext cx="109728" cy="1783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5" name="Callout"/>
          <p:cNvSpPr/>
          <p:nvPr/>
        </p:nvSpPr>
        <p:spPr>
          <a:xfrm>
            <a:off x="9710928" y="2880360"/>
            <a:ext cx="1932127" cy="178308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map[2][1]</a:t>
            </a:r>
            <a:r>
              <a:rPr lang="en-US" sz="2400" dirty="0">
                <a:solidFill>
                  <a:srgbClr val="18324A"/>
                </a:solidFill>
              </a:rPr>
              <a:t> is </a:t>
            </a: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'X'</a:t>
            </a:r>
            <a:r>
              <a:rPr lang="en-US" sz="2400" dirty="0">
                <a:solidFill>
                  <a:srgbClr val="18324A"/>
                </a:solidFill>
              </a:rPr>
              <a:t>: one character.</a:t>
            </a:r>
            <a:endParaRPr lang="en-US" sz="2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Print the map, count the X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47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7680960" cy="4937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244852"/>
            <a:ext cx="76809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244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3006852"/>
            <a:ext cx="76809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006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Shape 11"/>
          <p:cNvSpPr/>
          <p:nvPr/>
        </p:nvSpPr>
        <p:spPr>
          <a:xfrm>
            <a:off x="548640" y="3387852"/>
            <a:ext cx="7680960" cy="38100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548640" y="3387852"/>
            <a:ext cx="82296" cy="381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3" name="Code"/>
          <p:cNvSpPr/>
          <p:nvPr/>
        </p:nvSpPr>
        <p:spPr>
          <a:xfrm>
            <a:off x="548640" y="1261872"/>
            <a:ext cx="7680960" cy="493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  01234\n");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for (int r = 0; r &lt; ROWS; r++)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printf("%d ", r);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c = 0; c &lt; COLS; c++)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printf("%c", map[r][c]);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if (map[r][c] == 'X') {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taken++;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printf("\n");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printf("taken: %d\n", taken);</a:t>
            </a:r>
            <a:endParaRPr lang="en-US" sz="2400" dirty="0"/>
          </a:p>
        </p:txBody>
      </p:sp>
      <p:sp>
        <p:nvSpPr>
          <p:cNvPr id="14" name="Shape 14"/>
          <p:cNvSpPr/>
          <p:nvPr/>
        </p:nvSpPr>
        <p:spPr>
          <a:xfrm>
            <a:off x="8503920" y="1261872"/>
            <a:ext cx="313913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8503920" y="1645920"/>
            <a:ext cx="3139135" cy="2651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Code"/>
          <p:cNvSpPr/>
          <p:nvPr/>
        </p:nvSpPr>
        <p:spPr>
          <a:xfrm>
            <a:off x="8503920" y="1645920"/>
            <a:ext cx="3139135" cy="2651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  01234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 X..XX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1 .X..X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2 XX.X.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 ...XX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taken: 10</a:t>
            </a:r>
            <a:endParaRPr lang="en-US" sz="2400" dirty="0"/>
          </a:p>
        </p:txBody>
      </p:sp>
      <p:sp>
        <p:nvSpPr>
          <p:cNvPr id="17" name="Shape 17"/>
          <p:cNvSpPr/>
          <p:nvPr/>
        </p:nvSpPr>
        <p:spPr>
          <a:xfrm>
            <a:off x="8503920" y="4572000"/>
            <a:ext cx="313913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Shape 18"/>
          <p:cNvSpPr/>
          <p:nvPr/>
        </p:nvSpPr>
        <p:spPr>
          <a:xfrm>
            <a:off x="8503920" y="4572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9" name="Callout"/>
          <p:cNvSpPr/>
          <p:nvPr/>
        </p:nvSpPr>
        <p:spPr>
          <a:xfrm>
            <a:off x="8613648" y="4572000"/>
            <a:ext cx="302940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%c</a:t>
            </a:r>
            <a:r>
              <a:rPr lang="en-US" sz="2400" dirty="0">
                <a:solidFill>
                  <a:srgbClr val="18324A"/>
                </a:solidFill>
              </a:rPr>
              <a:t>: one character.</a:t>
            </a:r>
            <a:endParaRPr 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31520" y="2011680"/>
            <a:ext cx="1188720" cy="1188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5</a:t>
            </a:r>
            <a:endParaRPr lang="en-US" sz="5400" dirty="0"/>
          </a:p>
        </p:txBody>
      </p:sp>
      <p:sp>
        <p:nvSpPr>
          <p:cNvPr id="3" name="Shape 3"/>
          <p:cNvSpPr/>
          <p:nvPr/>
        </p:nvSpPr>
        <p:spPr>
          <a:xfrm>
            <a:off x="2286000" y="1920240"/>
            <a:ext cx="932688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</a:rPr>
              <a:t>Your turn</a:t>
            </a:r>
            <a:endParaRPr lang="en-US" sz="4800" dirty="0"/>
          </a:p>
        </p:txBody>
      </p:sp>
      <p:sp>
        <p:nvSpPr>
          <p:cNvPr id="4" name="Shape 4"/>
          <p:cNvSpPr/>
          <p:nvPr/>
        </p:nvSpPr>
        <p:spPr>
          <a:xfrm>
            <a:off x="2286000" y="3474720"/>
            <a:ext cx="932688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rgbClr val="D7E3F0"/>
                </a:solidFill>
              </a:rPr>
              <a:t>One function on paper</a:t>
            </a:r>
            <a:endParaRPr lang="en-US" sz="2600" dirty="0"/>
          </a:p>
        </p:txBody>
      </p:sp>
      <p:sp>
        <p:nvSpPr>
          <p:cNvPr id="5" name="Shape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D7E3F0"/>
                </a:solidFill>
              </a:rPr>
              <a:t>CSCI 1101 · Programming Principles I · Class 14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Your turn: count_value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49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2377440" cy="45720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TURN</a:t>
            </a:r>
            <a:endParaRPr lang="en-US" sz="1800" dirty="0"/>
          </a:p>
        </p:txBody>
      </p:sp>
      <p:sp>
        <p:nvSpPr>
          <p:cNvPr id="7" name="Shape 7"/>
          <p:cNvSpPr/>
          <p:nvPr/>
        </p:nvSpPr>
        <p:spPr>
          <a:xfrm>
            <a:off x="548640" y="1947672"/>
            <a:ext cx="4937760" cy="408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Write a function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count_value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It gets a grid, its rows and a value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v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It returns how many cells are equal to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v</a:t>
            </a:r>
            <a:r>
              <a:rPr lang="en-US" sz="3200" dirty="0">
                <a:solidFill>
                  <a:srgbClr val="18324A"/>
                </a:solidFill>
              </a:rPr>
              <a:t>.</a:t>
            </a:r>
            <a:endParaRPr lang="en-US" sz="3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200" dirty="0">
                <a:solidFill>
                  <a:srgbClr val="18324A"/>
                </a:solidFill>
              </a:rPr>
              <a:t>For </a:t>
            </a:r>
            <a:r>
              <a:rPr lang="en-US" sz="32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v</a:t>
            </a:r>
            <a:r>
              <a:rPr lang="en-US" sz="3200" dirty="0">
                <a:solidFill>
                  <a:srgbClr val="18324A"/>
                </a:solidFill>
              </a:rPr>
              <a:t> = 2 the answer is 3.</a:t>
            </a:r>
            <a:endParaRPr lang="en-US" sz="3200" dirty="0"/>
          </a:p>
        </p:txBody>
      </p:sp>
      <p:sp>
        <p:nvSpPr>
          <p:cNvPr id="8" name="Shape 8"/>
          <p:cNvSpPr/>
          <p:nvPr/>
        </p:nvSpPr>
        <p:spPr>
          <a:xfrm>
            <a:off x="5760720" y="1261872"/>
            <a:ext cx="5882335" cy="1508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Code"/>
          <p:cNvSpPr/>
          <p:nvPr/>
        </p:nvSpPr>
        <p:spPr>
          <a:xfrm>
            <a:off x="5760720" y="1261872"/>
            <a:ext cx="5882335" cy="1508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int a[3][COLS] = {{2, 7, 2, 0},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{5, 2, 9, 1},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                  {3, 4, 6, 8}};</a:t>
            </a:r>
            <a:endParaRPr lang="en-US" sz="24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count_value: one answer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50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548640" y="1261872"/>
            <a:ext cx="8046720" cy="420751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548640" y="2876677"/>
            <a:ext cx="804672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8" name="Shape 8"/>
          <p:cNvSpPr/>
          <p:nvPr/>
        </p:nvSpPr>
        <p:spPr>
          <a:xfrm>
            <a:off x="548640" y="287667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9" name="Shape 9"/>
          <p:cNvSpPr/>
          <p:nvPr/>
        </p:nvSpPr>
        <p:spPr>
          <a:xfrm>
            <a:off x="548640" y="3225927"/>
            <a:ext cx="8046720" cy="349250"/>
          </a:xfrm>
          <a:prstGeom prst="rect">
            <a:avLst/>
          </a:prstGeom>
          <a:solidFill>
            <a:srgbClr val="25406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0" name="Shape 10"/>
          <p:cNvSpPr/>
          <p:nvPr/>
        </p:nvSpPr>
        <p:spPr>
          <a:xfrm>
            <a:off x="548640" y="3225927"/>
            <a:ext cx="82296" cy="3492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1" name="Code"/>
          <p:cNvSpPr/>
          <p:nvPr/>
        </p:nvSpPr>
        <p:spPr>
          <a:xfrm>
            <a:off x="548640" y="1261872"/>
            <a:ext cx="8046720" cy="420751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int count_value(int g[][COLS], int rows, int v)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int count = 0;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for (int r = 0; r &lt; rows; r++)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for (int c = 0; c &lt; COLS; c++)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if (g[r][c] == v) {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            count++;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}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    return count;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}</a:t>
            </a:r>
            <a:endParaRPr lang="en-US" sz="2200" dirty="0"/>
          </a:p>
        </p:txBody>
      </p:sp>
      <p:sp>
        <p:nvSpPr>
          <p:cNvPr id="12" name="Shape 12"/>
          <p:cNvSpPr/>
          <p:nvPr/>
        </p:nvSpPr>
        <p:spPr>
          <a:xfrm>
            <a:off x="8869680" y="1261872"/>
            <a:ext cx="2773375" cy="38404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Output</a:t>
            </a:r>
            <a:endParaRPr lang="en-US" sz="1600" dirty="0"/>
          </a:p>
        </p:txBody>
      </p:sp>
      <p:sp>
        <p:nvSpPr>
          <p:cNvPr id="13" name="Shape 13"/>
          <p:cNvSpPr/>
          <p:nvPr/>
        </p:nvSpPr>
        <p:spPr>
          <a:xfrm>
            <a:off x="8869680" y="1645920"/>
            <a:ext cx="2773375" cy="112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4" name="Code"/>
          <p:cNvSpPr/>
          <p:nvPr/>
        </p:nvSpPr>
        <p:spPr>
          <a:xfrm>
            <a:off x="8869680" y="1645920"/>
            <a:ext cx="2773375" cy="1127760"/>
          </a:xfrm>
          <a:prstGeom prst="rect">
            <a:avLst/>
          </a:prstGeom>
          <a:noFill/>
          <a:ln>
            <a:noFill/>
          </a:ln>
        </p:spPr>
        <p:txBody>
          <a:bodyPr wrap="square" lIns="182880" tIns="182880" rIns="182880" bIns="18288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3</a:t>
            </a:r>
            <a:endParaRPr lang="en-US" sz="24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D1FAE5"/>
                </a:solidFill>
                <a:latin typeface="Consolas"/>
                <a:ea typeface="Consolas"/>
                <a:cs typeface="Consolas"/>
              </a:rPr>
              <a:t>0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8869680" y="3048000"/>
            <a:ext cx="2773375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31C48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6" name="Shape 16"/>
          <p:cNvSpPr/>
          <p:nvPr/>
        </p:nvSpPr>
        <p:spPr>
          <a:xfrm>
            <a:off x="8869680" y="3048000"/>
            <a:ext cx="109728" cy="105156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Callout"/>
          <p:cNvSpPr/>
          <p:nvPr/>
        </p:nvSpPr>
        <p:spPr>
          <a:xfrm>
            <a:off x="8979408" y="3048000"/>
            <a:ext cx="2663647" cy="105156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  <a:latin typeface="Consolas"/>
                <a:ea typeface="Consolas"/>
                <a:cs typeface="Consolas"/>
              </a:rPr>
              <a:t>count</a:t>
            </a:r>
            <a:r>
              <a:rPr lang="en-US" sz="2400" dirty="0">
                <a:solidFill>
                  <a:srgbClr val="18324A"/>
                </a:solidFill>
              </a:rPr>
              <a:t> starts at 0, once.</a:t>
            </a:r>
            <a:endParaRPr lang="en-US" sz="24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Today in one slide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51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A grid parameter: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g[][COLS]</a:t>
            </a:r>
            <a:r>
              <a:rPr lang="en-US" sz="2800" dirty="0">
                <a:solidFill>
                  <a:srgbClr val="18324A"/>
                </a:solidFill>
              </a:rPr>
              <a:t>, and the rows as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int rows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221992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2219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The function works on the caller's grid: it is not copied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3136392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31363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Matrices: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s[i][j] = a[i][j] + b[i][j]</a:t>
            </a:r>
            <a:r>
              <a:rPr lang="en-US" sz="2800" dirty="0">
                <a:solidFill>
                  <a:srgbClr val="18324A"/>
                </a:solidFill>
              </a:rPr>
              <a:t>; transpose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t[j][i] = m[i][j]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4050792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40507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Per row: rows outside. Per column: columns outside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965192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9651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Neighbours: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dr</a:t>
            </a:r>
            <a:r>
              <a:rPr lang="en-US" sz="2800" dirty="0">
                <a:solidFill>
                  <a:srgbClr val="18324A"/>
                </a:solidFill>
              </a:rPr>
              <a:t>,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dc</a:t>
            </a:r>
            <a:r>
              <a:rPr lang="en-US" sz="2800" dirty="0">
                <a:solidFill>
                  <a:srgbClr val="18324A"/>
                </a:solidFill>
              </a:rPr>
              <a:t> from -1 to 1; </a:t>
            </a:r>
            <a:r>
              <a:rPr lang="en-US" sz="2800" dirty="0">
                <a:solidFill>
                  <a:srgbClr val="2F80ED"/>
                </a:solidFill>
                <a:latin typeface="Consolas"/>
                <a:ea typeface="Consolas"/>
                <a:cs typeface="Consolas"/>
              </a:rPr>
              <a:t>is_inside</a:t>
            </a:r>
            <a:r>
              <a:rPr lang="en-US" sz="2800" dirty="0">
                <a:solidFill>
                  <a:srgbClr val="18324A"/>
                </a:solidFill>
              </a:rPr>
              <a:t> before you read</a:t>
            </a:r>
            <a:endParaRPr lang="en-US" sz="2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8324A"/>
                </a:solidFill>
              </a:rPr>
              <a:t>Before next week</a:t>
            </a:r>
            <a:endParaRPr lang="en-US" sz="3400" dirty="0"/>
          </a:p>
        </p:txBody>
      </p:sp>
      <p:sp>
        <p:nvSpPr>
          <p:cNvPr id="3" name="Shape 3"/>
          <p:cNvSpPr/>
          <p:nvPr/>
        </p:nvSpPr>
        <p:spPr>
          <a:xfrm>
            <a:off x="548640" y="1078992"/>
            <a:ext cx="11094415" cy="0"/>
          </a:xfrm>
          <a:prstGeom prst="line">
            <a:avLst/>
          </a:prstGeom>
          <a:noFill/>
          <a:ln w="12700">
            <a:solidFill>
              <a:srgbClr val="D8E0EA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4" name="Footer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7A6"/>
                </a:solidFill>
              </a:rPr>
              <a:t>CSCI 1101 · Programming Principles I · Class 14</a:t>
            </a:r>
            <a:endParaRPr lang="en-US" sz="1100" dirty="0"/>
          </a:p>
        </p:txBody>
      </p:sp>
      <p:sp>
        <p:nvSpPr>
          <p:cNvPr id="5" name="Page"/>
          <p:cNvSpPr/>
          <p:nvPr/>
        </p:nvSpPr>
        <p:spPr>
          <a:xfrm>
            <a:off x="10820095" y="635508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B97A6"/>
                </a:solidFill>
              </a:rPr>
              <a:t>52</a:t>
            </a:r>
            <a:endParaRPr lang="en-US" sz="1400" dirty="0"/>
          </a:p>
        </p:txBody>
      </p:sp>
      <p:sp>
        <p:nvSpPr>
          <p:cNvPr id="6" name="Shape 6"/>
          <p:cNvSpPr/>
          <p:nvPr/>
        </p:nvSpPr>
        <p:spPr>
          <a:xfrm>
            <a:off x="731520" y="1307592"/>
            <a:ext cx="640080" cy="640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hape 7"/>
          <p:cNvSpPr/>
          <p:nvPr/>
        </p:nvSpPr>
        <p:spPr>
          <a:xfrm>
            <a:off x="1691640" y="1307592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Knowledge check 14</a:t>
            </a:r>
            <a:r>
              <a:rPr lang="en-US" sz="2800" dirty="0">
                <a:solidFill>
                  <a:srgbClr val="18324A"/>
                </a:solidFill>
              </a:rPr>
              <a:t> on Blackboard: today's slides</a:t>
            </a:r>
            <a:endParaRPr lang="en-US" sz="2800" dirty="0"/>
          </a:p>
        </p:txBody>
      </p:sp>
      <p:sp>
        <p:nvSpPr>
          <p:cNvPr id="8" name="Shape 8"/>
          <p:cNvSpPr/>
          <p:nvPr/>
        </p:nvSpPr>
        <p:spPr>
          <a:xfrm>
            <a:off x="731520" y="2125066"/>
            <a:ext cx="640080" cy="640080"/>
          </a:xfrm>
          <a:prstGeom prst="rect">
            <a:avLst/>
          </a:prstGeom>
          <a:solidFill>
            <a:srgbClr val="31C48D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Shape 9"/>
          <p:cNvSpPr/>
          <p:nvPr/>
        </p:nvSpPr>
        <p:spPr>
          <a:xfrm>
            <a:off x="1691640" y="2125066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Project 2</a:t>
            </a:r>
            <a:r>
              <a:rPr lang="en-US" sz="2800" dirty="0">
                <a:solidFill>
                  <a:srgbClr val="18324A"/>
                </a:solidFill>
              </a:rPr>
              <a:t> (Treasure Hunt): due </a:t>
            </a:r>
            <a:r>
              <a:rPr lang="en-US" sz="2800" b="1" dirty="0">
                <a:solidFill>
                  <a:srgbClr val="18324A"/>
                </a:solidFill>
              </a:rPr>
              <a:t>Mon 9 November, 23:59</a:t>
            </a:r>
            <a:endParaRPr lang="en-US" sz="2800" dirty="0"/>
          </a:p>
        </p:txBody>
      </p:sp>
      <p:sp>
        <p:nvSpPr>
          <p:cNvPr id="10" name="Shape 10"/>
          <p:cNvSpPr/>
          <p:nvPr/>
        </p:nvSpPr>
        <p:spPr>
          <a:xfrm>
            <a:off x="731520" y="2942539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Shape 11"/>
          <p:cNvSpPr/>
          <p:nvPr/>
        </p:nvSpPr>
        <p:spPr>
          <a:xfrm>
            <a:off x="1691640" y="2942539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8324A"/>
                </a:solidFill>
              </a:rPr>
              <a:t>Midterm: Friday 30 October</a:t>
            </a:r>
            <a:r>
              <a:rPr lang="en-US" sz="2800" dirty="0">
                <a:solidFill>
                  <a:srgbClr val="18324A"/>
                </a:solidFill>
              </a:rPr>
              <a:t>, classes 1 to 14</a:t>
            </a:r>
            <a:endParaRPr lang="en-US" sz="2800" dirty="0"/>
          </a:p>
        </p:txBody>
      </p:sp>
      <p:sp>
        <p:nvSpPr>
          <p:cNvPr id="12" name="Shape 12"/>
          <p:cNvSpPr/>
          <p:nvPr/>
        </p:nvSpPr>
        <p:spPr>
          <a:xfrm>
            <a:off x="731520" y="3760013"/>
            <a:ext cx="640080" cy="6400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3" name="Shape 13"/>
          <p:cNvSpPr/>
          <p:nvPr/>
        </p:nvSpPr>
        <p:spPr>
          <a:xfrm>
            <a:off x="1691640" y="3760013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Next class: </a:t>
            </a:r>
            <a:r>
              <a:rPr lang="en-US" sz="2800" b="1" dirty="0">
                <a:solidFill>
                  <a:srgbClr val="18324A"/>
                </a:solidFill>
              </a:rPr>
              <a:t>Tue 27 October</a:t>
            </a:r>
            <a:endParaRPr lang="en-US" sz="2800" dirty="0"/>
          </a:p>
        </p:txBody>
      </p:sp>
      <p:sp>
        <p:nvSpPr>
          <p:cNvPr id="14" name="Shape 14"/>
          <p:cNvSpPr/>
          <p:nvPr/>
        </p:nvSpPr>
        <p:spPr>
          <a:xfrm>
            <a:off x="731520" y="4577486"/>
            <a:ext cx="640080" cy="6400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5" name="Shape 15"/>
          <p:cNvSpPr/>
          <p:nvPr/>
        </p:nvSpPr>
        <p:spPr>
          <a:xfrm>
            <a:off x="1691640" y="4577486"/>
            <a:ext cx="990569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18324A"/>
                </a:solidFill>
              </a:rPr>
              <a:t>Today's code: Blackboard, Week 7 module, </a:t>
            </a:r>
            <a:r>
              <a:rPr lang="en-US" sz="2800" b="1" dirty="0">
                <a:solidFill>
                  <a:srgbClr val="18324A"/>
                </a:solidFill>
              </a:rPr>
              <a:t>Class 14 code</a:t>
            </a:r>
            <a:endParaRPr lang="en-US" sz="2800" dirty="0"/>
          </a:p>
        </p:txBody>
      </p:sp>
      <p:sp>
        <p:nvSpPr>
          <p:cNvPr id="16" name="Shape 16"/>
          <p:cNvSpPr/>
          <p:nvPr/>
        </p:nvSpPr>
        <p:spPr>
          <a:xfrm>
            <a:off x="548640" y="5486400"/>
            <a:ext cx="11094415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F80ED"/>
            </a:solidFill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548640" y="5486400"/>
            <a:ext cx="109728" cy="77724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txBody>
          <a:bodyPr wrap="square" lIns="0" tIns="0" rIns="0" bIns="0" rtlCol="0" anchor="t"/>
          <a:lstStyle/>
          <a:p>
            <a:endParaRPr lang="en-US"/>
          </a:p>
        </p:txBody>
      </p:sp>
      <p:sp>
        <p:nvSpPr>
          <p:cNvPr id="18" name="Callout"/>
          <p:cNvSpPr/>
          <p:nvPr/>
        </p:nvSpPr>
        <p:spPr>
          <a:xfrm>
            <a:off x="658368" y="5486400"/>
            <a:ext cx="10984687" cy="777240"/>
          </a:xfrm>
          <a:prstGeom prst="rect">
            <a:avLst/>
          </a:prstGeom>
          <a:noFill/>
          <a:ln>
            <a:noFill/>
          </a:ln>
        </p:spPr>
        <p:txBody>
          <a:bodyPr wrap="square" lIns="201168" tIns="73152" rIns="182880" bIns="73152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8324A"/>
                </a:solidFill>
              </a:rPr>
              <a:t>Part 4 today is exactly what Project 2's clues need. Start the project this weekend.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E6C91384D4CF4A8C11771C71AF99FC" ma:contentTypeVersion="3" ma:contentTypeDescription="Create a new document." ma:contentTypeScope="" ma:versionID="9457c7892666d9df0301343fedda2daf">
  <xsd:schema xmlns:xsd="http://www.w3.org/2001/XMLSchema" xmlns:xs="http://www.w3.org/2001/XMLSchema" xmlns:p="http://schemas.microsoft.com/office/2006/metadata/properties" xmlns:ns2="76ba2307-afa1-4918-86e6-ffe4c7b76c67" targetNamespace="http://schemas.microsoft.com/office/2006/metadata/properties" ma:root="true" ma:fieldsID="01dbc32444af8b37558df168563705b5" ns2:_="">
    <xsd:import namespace="76ba2307-afa1-4918-86e6-ffe4c7b76c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a2307-afa1-4918-86e6-ffe4c7b76c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59415D-7EF4-4728-B780-B028948F84C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C07D86D-9D44-4F53-9B6F-B55C63480B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ba2307-afa1-4918-86e6-ffe4c7b76c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A66058B-8C7C-44C5-988D-122F37B2CD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8060</Words>
  <Application>Microsoft Office PowerPoint</Application>
  <PresentationFormat>Widescreen</PresentationFormat>
  <Paragraphs>994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3 - Loops in C</dc:title>
  <dc:subject>Programming Principles I - Week 3</dc:subject>
  <dc:creator>Azar Aliyev</dc:creator>
  <cp:lastModifiedBy>Abbas Aliyev</cp:lastModifiedBy>
  <cp:revision>5</cp:revision>
  <dcterms:created xsi:type="dcterms:W3CDTF">2026-09-17T10:16:02Z</dcterms:created>
  <dcterms:modified xsi:type="dcterms:W3CDTF">2026-10-16T20:06:02Z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0x010100A9E6C91384D4CF4A8C11771C71AF99FC</vt:lpwstr>
  </property>
</Properties>
</file>