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087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5" Type="http://schemas.openxmlformats.org/officeDocument/2006/relationships/slide" Target="slides/slide1.xml"/><Relationship Id="rId61" Type="http://schemas.openxmlformats.org/officeDocument/2006/relationships/presProps" Target="pres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9D8290-0B15-4D8A-AFDC-CA2E856CCC08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4E4E2E-4390-4081-A7BB-F44220184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061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slide was on the screen during Quiz 3. Your marked paper comes back next week, on Blackboard.</a:t>
            </a:r>
          </a:p>
          <a:p>
            <a:endParaRPr lang="en-US"/>
          </a:p>
          <a:p>
            <a:r>
              <a:rPr lang="en-US"/>
              <a:t>Quiz 3 covered classes 7 to 10. Quiz 4 is on Friday 23 October and covers classes 11 and 12: characters and strings, and today's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268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programs of this class are on Blackboard: Week 6 module, Class 12 code. It is a zip file. Unzip it and open the folder in Visual Studio Code. Every file has a comment at the top: what the program does, how to run it, and a list called Try with small changes to make. Make them.</a:t>
            </a:r>
          </a:p>
          <a:p>
            <a:endParaRPr lang="en-US"/>
          </a:p>
          <a:p>
            <a:r>
              <a:rPr lang="en-US"/>
              <a:t>How to run a program. Same as every week. In the terminal type gcc -Wall name.c -o name and press Enter, then ./name (or .\name in Windows PowerShell) and press Enter.</a:t>
            </a:r>
          </a:p>
          <a:p>
            <a:endParaRPr lang="en-US"/>
          </a:p>
          <a:p>
            <a:r>
              <a:rPr lang="en-US"/>
              <a:t>Today: the string functions of &lt;string.h&gt;, two things written by hand, and how to turn text into numbers and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3075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What you need from Tuesday:</a:t>
            </a:r>
          </a:p>
          <a:p>
            <a:endParaRPr lang="en-US"/>
          </a:p>
          <a:p>
            <a:r>
              <a:rPr lang="en-US"/>
              <a:t>- A string is an array of char that ends with the end mark '\0'.</a:t>
            </a:r>
          </a:p>
          <a:p>
            <a:r>
              <a:rPr lang="en-US"/>
              <a:t>- char city[20] = "Baku"; keeps room for 19 letters and the end mark.</a:t>
            </a:r>
          </a:p>
          <a:p>
            <a:r>
              <a:rPr lang="en-US"/>
              <a:t>- %s prints a string. scanf("%19s", city) reads one word. No &amp; for a string.</a:t>
            </a:r>
          </a:p>
          <a:p>
            <a:r>
              <a:rPr lang="en-US"/>
              <a:t>- A loop can walk along a string until it meets '\0'.</a:t>
            </a:r>
          </a:p>
          <a:p>
            <a:r>
              <a:rPr lang="en-US"/>
              <a:t>- '7' - '0' is the number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2475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Try to answer before you look at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3715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screen shows length = 4. The loop looks at B, a, k, u and stops at '\0'. The end mark is not counted. The file is 01_recap_length.c.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2611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Five parts:</a:t>
            </a:r>
          </a:p>
          <a:p>
            <a:endParaRPr lang="en-US"/>
          </a:p>
          <a:p>
            <a:r>
              <a:rPr lang="en-US"/>
              <a:t>1. Length and copy: strlen, strcpy.</a:t>
            </a:r>
          </a:p>
          <a:p>
            <a:r>
              <a:rPr lang="en-US"/>
              <a:t>2. Join: strcat.</a:t>
            </a:r>
          </a:p>
          <a:p>
            <a:r>
              <a:rPr lang="en-US"/>
              <a:t>3. Compare: strcmp.</a:t>
            </a:r>
          </a:p>
          <a:p>
            <a:r>
              <a:rPr lang="en-US"/>
              <a:t>4. By hand: reverse a word, test a palindrome.</a:t>
            </a:r>
          </a:p>
          <a:p>
            <a:r>
              <a:rPr lang="en-US"/>
              <a:t>5. Text and numbers: "2026" into 2026, and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322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 1: the string toolbox.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5588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Put this line at the top of your program:</a:t>
            </a:r>
          </a:p>
          <a:p>
            <a:endParaRPr lang="en-US"/>
          </a:p>
          <a:p>
            <a:r>
              <a:rPr lang="en-US"/>
              <a:t>#include &lt;string.h&gt;</a:t>
            </a:r>
          </a:p>
          <a:p>
            <a:endParaRPr lang="en-US"/>
          </a:p>
          <a:p>
            <a:r>
              <a:rPr lang="en-US"/>
              <a:t>It gives you four functions:</a:t>
            </a:r>
          </a:p>
          <a:p>
            <a:endParaRPr lang="en-US"/>
          </a:p>
          <a:p>
            <a:r>
              <a:rPr lang="en-US"/>
              <a:t>- strlen(s): how many characters s has.</a:t>
            </a:r>
          </a:p>
          <a:p>
            <a:r>
              <a:rPr lang="en-US"/>
              <a:t>- strcpy(to, from): copy a string into an array.</a:t>
            </a:r>
          </a:p>
          <a:p>
            <a:r>
              <a:rPr lang="en-US"/>
              <a:t>- strcat(to, more): add a string to the end of another.</a:t>
            </a:r>
          </a:p>
          <a:p>
            <a:r>
              <a:rPr lang="en-US"/>
              <a:t>- strcmp(a, b): compare two strings.</a:t>
            </a:r>
          </a:p>
          <a:p>
            <a:endParaRPr lang="en-US"/>
          </a:p>
          <a:p>
            <a:r>
              <a:rPr lang="en-US"/>
              <a:t>Each of them is a loop to '\0', like the loops you wrote on Tuesday.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8018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file 02_strlen.c. It prints:</a:t>
            </a:r>
          </a:p>
          <a:p>
            <a:endParaRPr lang="en-US"/>
          </a:p>
          <a:p>
            <a:r>
              <a:rPr lang="en-US"/>
              <a:t>strlen: 4</a:t>
            </a:r>
          </a:p>
          <a:p>
            <a:r>
              <a:rPr lang="en-US"/>
              <a:t>sizeof: 20</a:t>
            </a:r>
          </a:p>
          <a:p>
            <a:endParaRPr lang="en-US"/>
          </a:p>
          <a:p>
            <a:r>
              <a:rPr lang="en-US"/>
              <a:t>strlen(city) counts the characters before '\0': B, a, k, u, so 4. sizeof(city) counts all the boxes of the array, used or not: 20.</a:t>
            </a:r>
          </a:p>
          <a:p>
            <a:endParaRPr lang="en-US"/>
          </a:p>
          <a:p>
            <a:r>
              <a:rPr lang="en-US"/>
              <a:t>strlen gives a number of a special size type. (int) turns it into an int, so %d can print it. Write it that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871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array city box by box:</a:t>
            </a:r>
          </a:p>
          <a:p>
            <a:endParaRPr lang="en-US"/>
          </a:p>
          <a:p>
            <a:r>
              <a:rPr lang="en-US"/>
              <a:t>box: 0 · 1 · 2 · 3 · 4 · 5 to 19</a:t>
            </a:r>
          </a:p>
          <a:p>
            <a:r>
              <a:rPr lang="en-US"/>
              <a:t>city: B · a · k · u · \0 · empty</a:t>
            </a:r>
          </a:p>
          <a:p>
            <a:endParaRPr lang="en-US"/>
          </a:p>
          <a:p>
            <a:r>
              <a:rPr lang="en-US"/>
              <a:t>strlen(city) is 4. sizeof(city) is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8502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file 03_strlen_loop.c. n = strlen(word) is 4, so the loop runs for i = 0, 1, 2, 3 and prints each letter with a space:</a:t>
            </a:r>
          </a:p>
          <a:p>
            <a:endParaRPr lang="en-US"/>
          </a:p>
          <a:p>
            <a:r>
              <a:rPr lang="en-US"/>
              <a:t>B a k 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8363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Try to answer before you look at the next slide: can you write name = "Leyla";?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216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file 04_bug_assign.c. It does not compile. gcc says:</a:t>
            </a:r>
          </a:p>
          <a:p>
            <a:endParaRPr lang="en-US"/>
          </a:p>
          <a:p>
            <a:r>
              <a:rPr lang="en-US"/>
              <a:t>error: assignment to expression with array type</a:t>
            </a:r>
          </a:p>
          <a:p>
            <a:endParaRPr lang="en-US"/>
          </a:p>
          <a:p>
            <a:r>
              <a:rPr lang="en-US"/>
              <a:t>You cannot give a whole array a new value with =. You may write = "Leyla" only in the line that makes the array:</a:t>
            </a:r>
          </a:p>
          <a:p>
            <a:endParaRPr lang="en-US"/>
          </a:p>
          <a:p>
            <a:r>
              <a:rPr lang="en-US"/>
              <a:t>char name[20] = "Leyla";   // allowed: this line makes the array</a:t>
            </a:r>
          </a:p>
          <a:p>
            <a:r>
              <a:rPr lang="en-US"/>
              <a:t>name = "Leyla";            // not allowed: error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6052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file 05_strcpy.c. To put a new string into an array, use strcpy:</a:t>
            </a:r>
          </a:p>
          <a:p>
            <a:endParaRPr lang="en-US"/>
          </a:p>
          <a:p>
            <a:r>
              <a:rPr lang="en-US"/>
              <a:t>strcpy(name, "Leyla");</a:t>
            </a:r>
          </a:p>
          <a:p>
            <a:endParaRPr lang="en-US"/>
          </a:p>
          <a:p>
            <a:r>
              <a:rPr lang="en-US"/>
              <a:t>It copies L, e, y, l, a and the '\0' into name. A second strcpy(name, "Murad"); writes over it. The program prints Leyla and then Murad.</a:t>
            </a:r>
          </a:p>
          <a:p>
            <a:endParaRPr lang="en-US"/>
          </a:p>
          <a:p>
            <a:r>
              <a:rPr lang="en-US"/>
              <a:t>The order is strcpy(to, from), the same order as to =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1740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 2: join two strings.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1239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file 06_strcat.c. strcat(to, more) adds more to the end of to:</a:t>
            </a:r>
          </a:p>
          <a:p>
            <a:endParaRPr lang="en-US"/>
          </a:p>
          <a:p>
            <a:r>
              <a:rPr lang="en-US"/>
              <a:t>char full[30] = "Ada";</a:t>
            </a:r>
          </a:p>
          <a:p>
            <a:r>
              <a:rPr lang="en-US"/>
              <a:t>strcat(full, " ");</a:t>
            </a:r>
          </a:p>
          <a:p>
            <a:r>
              <a:rPr lang="en-US"/>
              <a:t>strcat(full, "Lovelace");</a:t>
            </a:r>
          </a:p>
          <a:p>
            <a:endParaRPr lang="en-US"/>
          </a:p>
          <a:p>
            <a:r>
              <a:rPr lang="en-US"/>
              <a:t>It prints Ada Lovelace and 12 characters. full has 30 boxes, so there is room for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0880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after the line: full · strlen</a:t>
            </a:r>
          </a:p>
          <a:p>
            <a:r>
              <a:rPr lang="en-US"/>
              <a:t>char full[30] = "Ada";: Ada · 3</a:t>
            </a:r>
          </a:p>
          <a:p>
            <a:r>
              <a:rPr lang="en-US"/>
              <a:t>strcat(full, " ");: Ada  · 4</a:t>
            </a:r>
          </a:p>
          <a:p>
            <a:r>
              <a:rPr lang="en-US"/>
              <a:t>strcat(full, "Lovelace");: Ada Lovelace · 12</a:t>
            </a:r>
          </a:p>
          <a:p>
            <a:endParaRPr lang="en-US"/>
          </a:p>
          <a:p>
            <a:r>
              <a:rPr lang="en-US"/>
              <a:t>Each strcat writes over the old '\0' and puts a new one after the last letter.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1142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Try to answer before you look at the next slide. small has 6 boxes. What happens when you add " there!"?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7242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file 07_bug_strcat_room.c. gcc compiles it, but warns:</a:t>
            </a:r>
          </a:p>
          <a:p>
            <a:endParaRPr lang="en-US"/>
          </a:p>
          <a:p>
            <a:r>
              <a:rPr lang="en-US"/>
              <a:t>warning: '__builtin_memcpy' writing 8 bytes into a region of size 6 overflows the destination</a:t>
            </a:r>
          </a:p>
          <a:p>
            <a:endParaRPr lang="en-US"/>
          </a:p>
          <a:p>
            <a:r>
              <a:rPr lang="en-US"/>
              <a:t>The result, "Hi there!", has 9 characters. With '\0' it needs 10 boxes. small has only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0989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When you run it, it prints Hi there!. That does not mean it is right. strcat wrote past the end of small, into memory that belongs to something else. In a bigger program that breaks other variables, and the bug is very hard to find. A wrong program can look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2521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array must have room for the result plus one box for '\0'.</a:t>
            </a:r>
          </a:p>
          <a:p>
            <a:endParaRPr lang="en-US"/>
          </a:p>
          <a:p>
            <a:r>
              <a:rPr lang="en-US"/>
              <a:t>- "Hi there!": 9 characters + 1 = 10 boxes.</a:t>
            </a:r>
          </a:p>
          <a:p>
            <a:r>
              <a:rPr lang="en-US"/>
              <a:t>- C does not check this for you. You count.</a:t>
            </a:r>
          </a:p>
          <a:p>
            <a:r>
              <a:rPr lang="en-US"/>
              <a:t>- When in doubt, make the array bigger: char full[100];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7394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 3: compare two strings.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1439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Try to answer before you look at the next slide. You type yes. What does the program print?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3754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file 08_bug_compare_eq.c. You type yes and it prints:</a:t>
            </a:r>
          </a:p>
          <a:p>
            <a:endParaRPr lang="en-US"/>
          </a:p>
          <a:p>
            <a:r>
              <a:rPr lang="en-US"/>
              <a:t>Continue? yes</a:t>
            </a:r>
          </a:p>
          <a:p>
            <a:r>
              <a:rPr lang="en-US"/>
              <a:t>Stopping</a:t>
            </a:r>
          </a:p>
          <a:p>
            <a:endParaRPr lang="en-US"/>
          </a:p>
          <a:p>
            <a:r>
              <a:rPr lang="en-US"/>
              <a:t>The if (answer == "yes") was false, even though you typed exactly yes.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7893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When you compile with -Wall, gcc warns:</a:t>
            </a:r>
          </a:p>
          <a:p>
            <a:endParaRPr lang="en-US"/>
          </a:p>
          <a:p>
            <a:r>
              <a:rPr lang="en-US"/>
              <a:t>warning: comparison with string literal results in unspecified behavior</a:t>
            </a:r>
          </a:p>
          <a:p>
            <a:endParaRPr lang="en-US"/>
          </a:p>
          <a:p>
            <a:r>
              <a:rPr lang="en-US"/>
              <a:t>Read your warnings. This one says the program is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586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strings, == does not compare the letters. It asks whether the two are the same array. answer is one array and "yes" is another, so == is always false.</a:t>
            </a:r>
          </a:p>
          <a:p>
            <a:endParaRPr lang="en-US"/>
          </a:p>
          <a:p>
            <a:r>
              <a:rPr lang="en-US"/>
              <a:t>To compare the letters, write:</a:t>
            </a:r>
          </a:p>
          <a:p>
            <a:endParaRPr lang="en-US"/>
          </a:p>
          <a:p>
            <a:r>
              <a:rPr lang="en-US"/>
              <a:t>if (strcmp(answer, "yes") == 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2699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file 09_strcmp.c prints, on the course's gcc:</a:t>
            </a:r>
          </a:p>
          <a:p>
            <a:endParaRPr lang="en-US"/>
          </a:p>
          <a:p>
            <a:r>
              <a:rPr lang="en-US"/>
              <a:t>-1</a:t>
            </a:r>
          </a:p>
          <a:p>
            <a:r>
              <a:rPr lang="en-US"/>
              <a:t>1</a:t>
            </a:r>
          </a:p>
          <a:p>
            <a:r>
              <a:rPr lang="en-US"/>
              <a:t>0</a:t>
            </a:r>
          </a:p>
          <a:p>
            <a:r>
              <a:rPr lang="en-US"/>
              <a:t>-1</a:t>
            </a:r>
          </a:p>
          <a:p>
            <a:endParaRPr lang="en-US"/>
          </a:p>
          <a:p>
            <a:r>
              <a:rPr lang="en-US"/>
              <a:t>for strcmp("apple", "banana"), strcmp("banana", "apple"), strcmp("apple", "apple") and strcmp("Zoo", "apple"). Another computer may print other numbers. Only the sign is the same everywhere.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2917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result: meaning · example</a:t>
            </a:r>
          </a:p>
          <a:p>
            <a:r>
              <a:rPr lang="en-US"/>
              <a:t>negative: a comes first · strcmp("apple", "banana")</a:t>
            </a:r>
          </a:p>
          <a:p>
            <a:r>
              <a:rPr lang="en-US"/>
              <a:t>0: equal · strcmp("apple", "apple")</a:t>
            </a:r>
          </a:p>
          <a:p>
            <a:r>
              <a:rPr lang="en-US"/>
              <a:t>positive: a comes later · strcmp("banana", "apple")</a:t>
            </a:r>
          </a:p>
          <a:p>
            <a:endParaRPr lang="en-US"/>
          </a:p>
          <a:p>
            <a:r>
              <a:rPr lang="en-US"/>
              <a:t>Capital letters come before small letters, because their ASCII codes are smaller: 'Z' is 90 and 'a' is 97. So "Zoo" comes before "apple".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01967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file 10_password.c. The test for "equal" is strcmp(...) == 0:</a:t>
            </a:r>
          </a:p>
          <a:p>
            <a:endParaRPr lang="en-US"/>
          </a:p>
          <a:p>
            <a:r>
              <a:rPr lang="en-US"/>
              <a:t>Password: ada2026</a:t>
            </a:r>
          </a:p>
          <a:p>
            <a:r>
              <a:rPr lang="en-US"/>
              <a:t>Welcome</a:t>
            </a:r>
          </a:p>
          <a:p>
            <a:endParaRPr lang="en-US"/>
          </a:p>
          <a:p>
            <a:r>
              <a:rPr lang="en-US"/>
              <a:t>Password: ADA2026</a:t>
            </a:r>
          </a:p>
          <a:p>
            <a:r>
              <a:rPr lang="en-US"/>
              <a:t>Wrong password</a:t>
            </a:r>
          </a:p>
          <a:p>
            <a:endParaRPr lang="en-US"/>
          </a:p>
          <a:p>
            <a:r>
              <a:rPr lang="en-US"/>
              <a:t>ADA2026 is wrong because capital letters are different characters. Careful: if (strcmp(a, b)) without == 0 is true when the strings are different.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8270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file 11_first_name.c. It reads two names and uses the sign of strcmp: strcmp(a, b) &lt; 0 means a comes first.</a:t>
            </a:r>
          </a:p>
          <a:p>
            <a:endParaRPr lang="en-US"/>
          </a:p>
          <a:p>
            <a:r>
              <a:rPr lang="en-US"/>
              <a:t>Two names: Murad Aysel</a:t>
            </a:r>
          </a:p>
          <a:p>
            <a:r>
              <a:rPr lang="en-US"/>
              <a:t>First: Aysel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96111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 4: two jobs that string.h does not do. You write them yourself.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68269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file 12_reverse.c. The function reverse:</a:t>
            </a:r>
          </a:p>
          <a:p>
            <a:endParaRPr lang="en-US"/>
          </a:p>
          <a:p>
            <a:r>
              <a:rPr lang="en-US"/>
              <a:t>- i starts at the first letter, j = strlen(s) - 1 at the last.</a:t>
            </a:r>
          </a:p>
          <a:p>
            <a:r>
              <a:rPr lang="en-US"/>
              <a:t>- Swap s[i] and s[j] with temp, the swap from class 10.</a:t>
            </a:r>
          </a:p>
          <a:p>
            <a:r>
              <a:rPr lang="en-US"/>
              <a:t>- i++ and j--: one step inward. Stop when i &lt; j is false.</a:t>
            </a:r>
          </a:p>
          <a:p>
            <a:endParaRPr lang="en-US"/>
          </a:p>
          <a:p>
            <a:r>
              <a:rPr lang="en-US"/>
              <a:t>There is no size parameter: a string has its own end mark, so strlen finds the length. The array is not copied, so main's word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5230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i: j · swap · word</a:t>
            </a:r>
          </a:p>
          <a:p>
            <a:r>
              <a:rPr lang="en-US"/>
              <a:t>-: - ·  · hello</a:t>
            </a:r>
          </a:p>
          <a:p>
            <a:r>
              <a:rPr lang="en-US"/>
              <a:t>0: 4 · h, o · oellh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30469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i: j · swap · word</a:t>
            </a:r>
          </a:p>
          <a:p>
            <a:r>
              <a:rPr lang="en-US"/>
              <a:t>1: 3 · e, l · olleh</a:t>
            </a:r>
          </a:p>
          <a:p>
            <a:r>
              <a:rPr lang="en-US"/>
              <a:t>2: 2 · stop · olleh</a:t>
            </a:r>
          </a:p>
          <a:p>
            <a:endParaRPr lang="en-US"/>
          </a:p>
          <a:p>
            <a:r>
              <a:rPr lang="en-US"/>
              <a:t>The middle letter stays where it is. The program prints olleh.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8719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file 13_palindrome.c. A palindrome reads the same from both ends, like level. The function compares s[i] with its partner from the end, s[n - 1 - i], for the first half of the word. As soon as one pair differs it returns 0. If every pair matched, it returns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0788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level: yes</a:t>
            </a:r>
          </a:p>
          <a:p>
            <a:r>
              <a:rPr lang="en-US"/>
              <a:t>kayak: yes</a:t>
            </a:r>
          </a:p>
          <a:p>
            <a:r>
              <a:rPr lang="en-US"/>
              <a:t>hello: no</a:t>
            </a:r>
          </a:p>
          <a:p>
            <a:r>
              <a:rPr lang="en-US"/>
              <a:t>abba: yes</a:t>
            </a:r>
          </a:p>
          <a:p>
            <a:endParaRPr lang="en-US"/>
          </a:p>
          <a:p>
            <a:r>
              <a:rPr lang="en-US"/>
              <a:t>check("level") sends a string in quotes straight to a function. Note that "Level" with a capital L is not a palindrome for this function: 'L' and 'l' are different characters.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43992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 5: text and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90909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"2026" is a string: the characters '2', '0', '2', '6', then '\0'.</a:t>
            </a:r>
          </a:p>
          <a:p>
            <a:r>
              <a:rPr lang="en-US"/>
              <a:t>- 2026 is one int. You can add to it, compare it, multiply it.</a:t>
            </a:r>
          </a:p>
          <a:p>
            <a:endParaRPr lang="en-US"/>
          </a:p>
          <a:p>
            <a:r>
              <a:rPr lang="en-US"/>
              <a:t>Input often arrives as text, so you need to convert.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44208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file 14_digits_to_int.c:</a:t>
            </a:r>
          </a:p>
          <a:p>
            <a:endParaRPr lang="en-US"/>
          </a:p>
          <a:p>
            <a:r>
              <a:rPr lang="en-US"/>
              <a:t>n = n * 10 + (s[i] - '0');</a:t>
            </a:r>
          </a:p>
          <a:p>
            <a:endParaRPr lang="en-US"/>
          </a:p>
          <a:p>
            <a:r>
              <a:rPr lang="en-US"/>
              <a:t>s[i] - '0' turns a digit character into its number ('6' - '0' is 6). n * 10 moves what you have one place to the left, and the new digit goes into the ones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21324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i: s[i] · digit · n</a:t>
            </a:r>
          </a:p>
          <a:p>
            <a:r>
              <a:rPr lang="pt-BR"/>
              <a:t>0: '2' · 2 · 0 * 10 + 2 = 2</a:t>
            </a:r>
          </a:p>
          <a:p>
            <a:r>
              <a:rPr lang="pt-BR"/>
              <a:t>1: '0' · 0 · 2 * 10 + 0 = 20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7905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i: s[i] · digit · n</a:t>
            </a:r>
          </a:p>
          <a:p>
            <a:r>
              <a:rPr lang="en-US"/>
              <a:t>2: '2' · 2 · 20 * 10 + 2 = 202</a:t>
            </a:r>
          </a:p>
          <a:p>
            <a:r>
              <a:rPr lang="en-US"/>
              <a:t>3: '6' · 6 · 202 * 10 + 6 = 2026</a:t>
            </a:r>
          </a:p>
          <a:p>
            <a:endParaRPr lang="en-US"/>
          </a:p>
          <a:p>
            <a:r>
              <a:rPr lang="en-US"/>
              <a:t>Then s[4] is '\0' and the loop stops.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08953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program prints:</a:t>
            </a:r>
          </a:p>
          <a:p>
            <a:endParaRPr lang="en-US"/>
          </a:p>
          <a:p>
            <a:r>
              <a:rPr lang="en-US"/>
              <a:t>n = 2026</a:t>
            </a:r>
          </a:p>
          <a:p>
            <a:r>
              <a:rPr lang="en-US"/>
              <a:t>n + 1 = 2027</a:t>
            </a:r>
          </a:p>
          <a:p>
            <a:endParaRPr lang="en-US"/>
          </a:p>
          <a:p>
            <a:r>
              <a:rPr lang="en-US"/>
              <a:t>You can add 1 to it, so it is a real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97810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file 15_atoi.c. atoi turns text into an int. It is in &lt;stdlib.h&gt;, not in &lt;string.h&gt;.</a:t>
            </a:r>
          </a:p>
          <a:p>
            <a:endParaRPr lang="en-US"/>
          </a:p>
          <a:p>
            <a:r>
              <a:rPr lang="en-US"/>
              <a:t>atoi("2026") + 1    gives 2027</a:t>
            </a:r>
          </a:p>
          <a:p>
            <a:r>
              <a:rPr lang="en-US"/>
              <a:t>atoi("-45")         gives -45</a:t>
            </a:r>
          </a:p>
          <a:p>
            <a:r>
              <a:rPr lang="en-US"/>
              <a:t>atoi("12abc")       gives 12   (it stops at 'a')</a:t>
            </a:r>
          </a:p>
          <a:p>
            <a:r>
              <a:rPr lang="en-US"/>
              <a:t>atoi("abc")         gives 0    (no number at the start)</a:t>
            </a:r>
          </a:p>
          <a:p>
            <a:endParaRPr lang="en-US"/>
          </a:p>
          <a:p>
            <a:r>
              <a:rPr lang="en-US"/>
              <a:t>Careful: atoi also gives 0 for text that is not a number, so 0 can mean "zero" or "not a number".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56941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file 16_int_to_string.c. The other way:</a:t>
            </a:r>
          </a:p>
          <a:p>
            <a:endParaRPr lang="en-US"/>
          </a:p>
          <a:p>
            <a:r>
              <a:rPr lang="en-US"/>
              <a:t>- n % 10 is the last digit: 472 gives 2.</a:t>
            </a:r>
          </a:p>
          <a:p>
            <a:r>
              <a:rPr lang="en-US"/>
              <a:t>- '0' + 2 is the character '2'.</a:t>
            </a:r>
          </a:p>
          <a:p>
            <a:r>
              <a:rPr lang="en-US"/>
              <a:t>- n / 10 drops the last digit: 472 becomes 47.</a:t>
            </a:r>
          </a:p>
          <a:p>
            <a:endParaRPr lang="en-US"/>
          </a:p>
          <a:p>
            <a:r>
              <a:rPr lang="en-US"/>
              <a:t>Repeat while n &gt; 0, then put '\0' at the end. It prints backwards: 274.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0370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n: n % 10 · s · n / 10</a:t>
            </a:r>
          </a:p>
          <a:p>
            <a:r>
              <a:rPr lang="en-US"/>
              <a:t>472: 2 · "2" · 47</a:t>
            </a:r>
          </a:p>
          <a:p>
            <a:r>
              <a:rPr lang="en-US"/>
              <a:t>47: 7 · "27" · 4</a:t>
            </a:r>
          </a:p>
          <a:p>
            <a:r>
              <a:rPr lang="en-US"/>
              <a:t>4: 4 · "274" · 0</a:t>
            </a:r>
          </a:p>
          <a:p>
            <a:endParaRPr lang="en-US"/>
          </a:p>
          <a:p>
            <a:r>
              <a:rPr lang="en-US"/>
              <a:t>The last digit comes out first, so the string is backwards.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57545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same swap as in reverse turns "274" into "472". The program prints text: 472. (Try: what does the program do with n = 0? The loop never runs. Fix it.)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8068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file 17_sprintf.c. sprintf works like printf, but it writes into an array instead of onto the screen:</a:t>
            </a:r>
          </a:p>
          <a:p>
            <a:endParaRPr lang="en-US"/>
          </a:p>
          <a:p>
            <a:r>
              <a:rPr lang="en-US"/>
              <a:t>sprintf(s, "%d", 472);                                  // s is "472"</a:t>
            </a:r>
          </a:p>
          <a:p>
            <a:r>
              <a:rPr lang="en-US"/>
              <a:t>snprintf(msg, sizeof(msg), "%s scored %d", "Aysel", 95); // msg is "Aysel scored 95"</a:t>
            </a:r>
          </a:p>
          <a:p>
            <a:endParaRPr lang="en-US"/>
          </a:p>
          <a:p>
            <a:r>
              <a:rPr lang="en-US"/>
              <a:t>snprintf gets the size of the array as its second argument and never writes past it. Prefer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5907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job: by hand · with a function</a:t>
            </a:r>
          </a:p>
          <a:p>
            <a:r>
              <a:rPr lang="en-US"/>
              <a:t>text to int: n = n * 10 + (s[i] - '0') · atoi(s) (&lt;stdlib.h&gt;)</a:t>
            </a:r>
          </a:p>
          <a:p>
            <a:r>
              <a:rPr lang="en-US"/>
              <a:t>int to text: n % 10, n / 10, reverse · sprintf(s, "%d", n)</a:t>
            </a:r>
          </a:p>
          <a:p>
            <a:endParaRPr lang="en-US"/>
          </a:p>
          <a:p>
            <a:r>
              <a:rPr lang="en-US"/>
              <a:t>Know both. A quiz can ask you to do it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4062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 6: two short tasks. Write them on paper first, then run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142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Write int digit_sum(char s[]). It adds up the digits of a string: digit_sum("2026") is 2 + 0 + 2 + 6 = 10. Try before you look at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6474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file 18_task_digit_sum.c:</a:t>
            </a:r>
          </a:p>
          <a:p>
            <a:endParaRPr lang="en-US"/>
          </a:p>
          <a:p>
            <a:r>
              <a:rPr lang="en-US"/>
              <a:t>int digit_sum(char s[]) {</a:t>
            </a:r>
          </a:p>
          <a:p>
            <a:r>
              <a:rPr lang="en-US"/>
              <a:t>    int sum = 0;</a:t>
            </a:r>
          </a:p>
          <a:p>
            <a:r>
              <a:rPr lang="en-US"/>
              <a:t>    for (int i = 0; s[i] != '\0'; i++) {</a:t>
            </a:r>
          </a:p>
          <a:p>
            <a:r>
              <a:rPr lang="en-US"/>
              <a:t>        sum += s[i] - '0';</a:t>
            </a:r>
          </a:p>
          <a:p>
            <a:r>
              <a:rPr lang="en-US"/>
              <a:t>    }</a:t>
            </a:r>
          </a:p>
          <a:p>
            <a:r>
              <a:rPr lang="en-US"/>
              <a:t>    return sum;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digit_sum("2026") is 10 and digit_sum("999") is 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30016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Read a user name, like aysel, and print aysel@ada.edu.az. Use strcpy and strcat. How big must the array be? Try before you look at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60916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file 19_task_email.c:</a:t>
            </a:r>
          </a:p>
          <a:p>
            <a:endParaRPr lang="en-US"/>
          </a:p>
          <a:p>
            <a:r>
              <a:rPr lang="en-US"/>
              <a:t>strcpy(email, user);</a:t>
            </a:r>
          </a:p>
          <a:p>
            <a:r>
              <a:rPr lang="en-US"/>
              <a:t>strcat(email, "@ada.edu.az");</a:t>
            </a:r>
          </a:p>
          <a:p>
            <a:endParaRPr lang="en-US"/>
          </a:p>
          <a:p>
            <a:r>
              <a:rPr lang="en-US"/>
              <a:t>User name: aysel</a:t>
            </a:r>
          </a:p>
          <a:p>
            <a:r>
              <a:rPr lang="en-US"/>
              <a:t>aysel@ada.edu.az</a:t>
            </a:r>
          </a:p>
          <a:p>
            <a:endParaRPr lang="en-US"/>
          </a:p>
          <a:p>
            <a:r>
              <a:rPr lang="en-US"/>
              <a:t>email has 40 boxes: the name (up to 19 letters), the 11 characters of @ada.edu.az, and one for '\0'.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28501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strlen counts the characters before '\0'. It is not sizeof.</a:t>
            </a:r>
          </a:p>
          <a:p>
            <a:r>
              <a:rPr lang="en-US"/>
              <a:t>- Put a string into an array with strcpy, never with =.</a:t>
            </a:r>
          </a:p>
          <a:p>
            <a:r>
              <a:rPr lang="en-US"/>
              <a:t>- strcat adds to the end. Count the room: the result plus one.</a:t>
            </a:r>
          </a:p>
          <a:p>
            <a:r>
              <a:rPr lang="en-US"/>
              <a:t>- Two strings are equal when strcmp(a, b) == 0. Never use ==.</a:t>
            </a:r>
          </a:p>
          <a:p>
            <a:r>
              <a:rPr lang="en-US"/>
              <a:t>- Text to number: n * 10 + digit or atoi. Number to text: % 10 and / 10, or sprintf.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21304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Knowledge check 12 is on Blackboard. It is about today's slides.</a:t>
            </a:r>
          </a:p>
          <a:p>
            <a:r>
              <a:rPr lang="en-US"/>
              <a:t>- Quiz 4 is on Friday 23 October. It covers classes 11 and 12: characters and strings.</a:t>
            </a:r>
          </a:p>
          <a:p>
            <a:r>
              <a:rPr lang="en-US"/>
              <a:t>- Project 2 is announced this week, on Blackboard.</a:t>
            </a:r>
          </a:p>
          <a:p>
            <a:r>
              <a:rPr lang="en-US"/>
              <a:t>- Midterm: in the week of 26 October. It covers classes 1 to 14. The date and the room will be announced.</a:t>
            </a:r>
          </a:p>
          <a:p>
            <a:r>
              <a:rPr lang="en-US"/>
              <a:t>- Today's code is in the Week 6 module: Class 12 code.</a:t>
            </a:r>
          </a:p>
          <a:p>
            <a:endParaRPr lang="en-US"/>
          </a:p>
          <a:p>
            <a:r>
              <a:rPr lang="en-US"/>
              <a:t>Next class: two-dimensional arrays, tables of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E4E2E-4390-4081-A7BB-F44220184AB1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08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1C48D"/>
                </a:solidFill>
              </a:rPr>
              <a:t>Programming Principles I</a:t>
            </a:r>
            <a:endParaRPr lang="en-US" sz="1600" dirty="0"/>
          </a:p>
        </p:txBody>
      </p:sp>
      <p:sp>
        <p:nvSpPr>
          <p:cNvPr id="3" name="Shape 3"/>
          <p:cNvSpPr/>
          <p:nvPr/>
        </p:nvSpPr>
        <p:spPr>
          <a:xfrm>
            <a:off x="731520" y="15544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Week 6 · Class 12 · Quiz 3</a:t>
            </a:r>
            <a:endParaRPr lang="en-US" sz="2600" dirty="0"/>
          </a:p>
        </p:txBody>
      </p:sp>
      <p:sp>
        <p:nvSpPr>
          <p:cNvPr id="4" name="Shape 4"/>
          <p:cNvSpPr/>
          <p:nvPr/>
        </p:nvSpPr>
        <p:spPr>
          <a:xfrm>
            <a:off x="731520" y="219456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Quiz 3: 25 minutes</a:t>
            </a:r>
            <a:endParaRPr lang="en-US" sz="4800" dirty="0"/>
          </a:p>
        </p:txBody>
      </p:sp>
      <p:sp>
        <p:nvSpPr>
          <p:cNvPr id="5" name="Shape 5"/>
          <p:cNvSpPr/>
          <p:nvPr/>
        </p:nvSpPr>
        <p:spPr>
          <a:xfrm>
            <a:off x="731520" y="32918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D7E3F0"/>
                </a:solidFill>
              </a:rPr>
              <a:t>Pen only. No laptop, no phone. Write your name and student ID first.</a:t>
            </a:r>
            <a:endParaRPr lang="en-US" sz="2200" dirty="0"/>
          </a:p>
        </p:txBody>
      </p:sp>
      <p:sp>
        <p:nvSpPr>
          <p:cNvPr id="6" name="Shape 6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ADA University · Fall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1C48D"/>
                </a:solidFill>
              </a:rPr>
              <a:t>Programming Principles I</a:t>
            </a:r>
            <a:endParaRPr lang="en-US" sz="1600" dirty="0"/>
          </a:p>
        </p:txBody>
      </p:sp>
      <p:sp>
        <p:nvSpPr>
          <p:cNvPr id="3" name="Shape 3"/>
          <p:cNvSpPr/>
          <p:nvPr/>
        </p:nvSpPr>
        <p:spPr>
          <a:xfrm>
            <a:off x="731520" y="15544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Week 6 · Class 12</a:t>
            </a:r>
            <a:endParaRPr lang="en-US" sz="2600" dirty="0"/>
          </a:p>
        </p:txBody>
      </p:sp>
      <p:sp>
        <p:nvSpPr>
          <p:cNvPr id="4" name="Shape 4"/>
          <p:cNvSpPr/>
          <p:nvPr/>
        </p:nvSpPr>
        <p:spPr>
          <a:xfrm>
            <a:off x="731520" y="219456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String manipulation and conversions</a:t>
            </a:r>
            <a:endParaRPr lang="en-US" sz="4800" dirty="0"/>
          </a:p>
        </p:txBody>
      </p:sp>
      <p:sp>
        <p:nvSpPr>
          <p:cNvPr id="5" name="Shape 5"/>
          <p:cNvSpPr/>
          <p:nvPr/>
        </p:nvSpPr>
        <p:spPr>
          <a:xfrm>
            <a:off x="731520" y="32918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D7E3F0"/>
                </a:solidFill>
              </a:rPr>
              <a:t>Length, copy, join, compare · reverse a word · text to numbers and back</a:t>
            </a:r>
            <a:endParaRPr lang="en-US" sz="2200" dirty="0"/>
          </a:p>
        </p:txBody>
      </p:sp>
      <p:sp>
        <p:nvSpPr>
          <p:cNvPr id="6" name="Shape 6"/>
          <p:cNvSpPr/>
          <p:nvPr/>
        </p:nvSpPr>
        <p:spPr>
          <a:xfrm>
            <a:off x="731520" y="4114800"/>
            <a:ext cx="7863840" cy="1381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Code"/>
          <p:cNvSpPr/>
          <p:nvPr/>
        </p:nvSpPr>
        <p:spPr>
          <a:xfrm>
            <a:off x="731520" y="4114800"/>
            <a:ext cx="7863840" cy="1381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strcpy(email, user);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strcat(email, "@ada.edu.az");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ADA University · Fall 2026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What Tuesday gave us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731520" y="1307592"/>
            <a:ext cx="640080" cy="640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Shape 7"/>
          <p:cNvSpPr/>
          <p:nvPr/>
        </p:nvSpPr>
        <p:spPr>
          <a:xfrm>
            <a:off x="1691640" y="13075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A string is an array of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char</a:t>
            </a:r>
            <a:r>
              <a:rPr lang="en-US" sz="2800" dirty="0">
                <a:solidFill>
                  <a:srgbClr val="18324A"/>
                </a:solidFill>
              </a:rPr>
              <a:t> that ends with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'\0'</a:t>
            </a:r>
            <a:endParaRPr lang="en-US" sz="2800" dirty="0"/>
          </a:p>
        </p:txBody>
      </p:sp>
      <p:sp>
        <p:nvSpPr>
          <p:cNvPr id="8" name="Shape 8"/>
          <p:cNvSpPr/>
          <p:nvPr/>
        </p:nvSpPr>
        <p:spPr>
          <a:xfrm>
            <a:off x="731520" y="2221992"/>
            <a:ext cx="640080" cy="6400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1691640" y="22219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char city[20] = "Baku";</a:t>
            </a:r>
            <a:r>
              <a:rPr lang="en-US" sz="2800" dirty="0">
                <a:solidFill>
                  <a:srgbClr val="18324A"/>
                </a:solidFill>
              </a:rPr>
              <a:t> keeps room for 19 letters</a:t>
            </a:r>
            <a:endParaRPr lang="en-US" sz="2800" dirty="0"/>
          </a:p>
        </p:txBody>
      </p:sp>
      <p:sp>
        <p:nvSpPr>
          <p:cNvPr id="10" name="Shape 10"/>
          <p:cNvSpPr/>
          <p:nvPr/>
        </p:nvSpPr>
        <p:spPr>
          <a:xfrm>
            <a:off x="731520" y="3136392"/>
            <a:ext cx="6400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1691640" y="31363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%s</a:t>
            </a:r>
            <a:r>
              <a:rPr lang="en-US" sz="2800" dirty="0">
                <a:solidFill>
                  <a:srgbClr val="18324A"/>
                </a:solidFill>
              </a:rPr>
              <a:t> prints a string;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scanf("%19s", city)</a:t>
            </a:r>
            <a:r>
              <a:rPr lang="en-US" sz="2800" dirty="0">
                <a:solidFill>
                  <a:srgbClr val="18324A"/>
                </a:solidFill>
              </a:rPr>
              <a:t> reads one word</a:t>
            </a:r>
            <a:endParaRPr lang="en-US" sz="2800" dirty="0"/>
          </a:p>
        </p:txBody>
      </p:sp>
      <p:sp>
        <p:nvSpPr>
          <p:cNvPr id="12" name="Shape 12"/>
          <p:cNvSpPr/>
          <p:nvPr/>
        </p:nvSpPr>
        <p:spPr>
          <a:xfrm>
            <a:off x="731520" y="4050792"/>
            <a:ext cx="64008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1691640" y="40507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A loop can walk along a string until it meets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'\0'</a:t>
            </a:r>
            <a:endParaRPr lang="en-US" sz="2800" dirty="0"/>
          </a:p>
        </p:txBody>
      </p:sp>
      <p:sp>
        <p:nvSpPr>
          <p:cNvPr id="14" name="Shape 14"/>
          <p:cNvSpPr/>
          <p:nvPr/>
        </p:nvSpPr>
        <p:spPr>
          <a:xfrm>
            <a:off x="731520" y="4965192"/>
            <a:ext cx="640080" cy="6400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1691640" y="49651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'7' - '0'</a:t>
            </a:r>
            <a:r>
              <a:rPr lang="en-US" sz="2800" dirty="0">
                <a:solidFill>
                  <a:srgbClr val="18324A"/>
                </a:solidFill>
              </a:rPr>
              <a:t> is the number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7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Recap: what is on the screen?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A loop walks along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"Baku"</a:t>
            </a:r>
            <a:r>
              <a:rPr lang="en-US" sz="3200" dirty="0">
                <a:solidFill>
                  <a:srgbClr val="18324A"/>
                </a:solidFill>
              </a:rPr>
              <a:t>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does it print?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3794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3794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char city[20] = "Baku";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i = 0;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while (city[i] != '\0')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i++;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printf("length = %d\n", i);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Recap: what is on the screen?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A loop walks along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"Baku"</a:t>
            </a:r>
            <a:r>
              <a:rPr lang="en-US" sz="3200" dirty="0">
                <a:solidFill>
                  <a:srgbClr val="18324A"/>
                </a:solidFill>
              </a:rPr>
              <a:t>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does it print?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3794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760720" y="2625852"/>
            <a:ext cx="5882335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760720" y="2625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760720" y="3768852"/>
            <a:ext cx="5882335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760720" y="3768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ode"/>
          <p:cNvSpPr/>
          <p:nvPr/>
        </p:nvSpPr>
        <p:spPr>
          <a:xfrm>
            <a:off x="5760720" y="1261872"/>
            <a:ext cx="5882335" cy="3794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char city[20] = "Baku";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i = 0;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while (city[i] != '\0')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i++;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printf("length = %d\n", i);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400" dirty="0"/>
          </a:p>
        </p:txBody>
      </p:sp>
      <p:sp>
        <p:nvSpPr>
          <p:cNvPr id="14" name="Shape 14"/>
          <p:cNvSpPr/>
          <p:nvPr/>
        </p:nvSpPr>
        <p:spPr>
          <a:xfrm>
            <a:off x="548640" y="4251960"/>
            <a:ext cx="49377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548640" y="4251960"/>
            <a:ext cx="109728" cy="20116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allout"/>
          <p:cNvSpPr/>
          <p:nvPr/>
        </p:nvSpPr>
        <p:spPr>
          <a:xfrm>
            <a:off x="658368" y="4251960"/>
            <a:ext cx="4828032" cy="201168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1C48D"/>
                </a:solidFill>
              </a:rPr>
              <a:t>ANSWER</a:t>
            </a:r>
            <a:endParaRPr lang="en-US" sz="14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length = 4</a:t>
            </a:r>
            <a:endParaRPr lang="en-US" sz="26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18324A"/>
                </a:solidFill>
              </a:rPr>
              <a:t>The loop stops at </a:t>
            </a: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'\0'</a:t>
            </a:r>
            <a:r>
              <a:rPr lang="en-US" sz="2600" dirty="0">
                <a:solidFill>
                  <a:srgbClr val="18324A"/>
                </a:solidFill>
              </a:rPr>
              <a:t>, after B, a, k, u.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Today's roadmap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6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731520" y="1307592"/>
            <a:ext cx="640080" cy="640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Shape 7"/>
          <p:cNvSpPr/>
          <p:nvPr/>
        </p:nvSpPr>
        <p:spPr>
          <a:xfrm>
            <a:off x="1691640" y="13075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&lt;string.h&gt;</a:t>
            </a:r>
            <a:r>
              <a:rPr lang="en-US" sz="2800" dirty="0">
                <a:solidFill>
                  <a:srgbClr val="18324A"/>
                </a:solidFill>
              </a:rPr>
              <a:t>: </a:t>
            </a:r>
            <a:r>
              <a:rPr lang="en-US" sz="2800" b="1" dirty="0">
                <a:solidFill>
                  <a:srgbClr val="18324A"/>
                </a:solidFill>
              </a:rPr>
              <a:t>length</a:t>
            </a:r>
            <a:r>
              <a:rPr lang="en-US" sz="2800" dirty="0">
                <a:solidFill>
                  <a:srgbClr val="18324A"/>
                </a:solidFill>
              </a:rPr>
              <a:t> and </a:t>
            </a:r>
            <a:r>
              <a:rPr lang="en-US" sz="2800" b="1" dirty="0">
                <a:solidFill>
                  <a:srgbClr val="18324A"/>
                </a:solidFill>
              </a:rPr>
              <a:t>copy</a:t>
            </a:r>
            <a:endParaRPr lang="en-US" sz="2800" dirty="0"/>
          </a:p>
        </p:txBody>
      </p:sp>
      <p:sp>
        <p:nvSpPr>
          <p:cNvPr id="8" name="Shape 8"/>
          <p:cNvSpPr/>
          <p:nvPr/>
        </p:nvSpPr>
        <p:spPr>
          <a:xfrm>
            <a:off x="731520" y="2125066"/>
            <a:ext cx="640080" cy="6400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1691640" y="2125066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8324A"/>
                </a:solidFill>
              </a:rPr>
              <a:t>Join</a:t>
            </a:r>
            <a:r>
              <a:rPr lang="en-US" sz="2800" dirty="0">
                <a:solidFill>
                  <a:srgbClr val="18324A"/>
                </a:solidFill>
              </a:rPr>
              <a:t> two strings</a:t>
            </a:r>
            <a:endParaRPr lang="en-US" sz="2800" dirty="0"/>
          </a:p>
        </p:txBody>
      </p:sp>
      <p:sp>
        <p:nvSpPr>
          <p:cNvPr id="10" name="Shape 10"/>
          <p:cNvSpPr/>
          <p:nvPr/>
        </p:nvSpPr>
        <p:spPr>
          <a:xfrm>
            <a:off x="731520" y="2942539"/>
            <a:ext cx="6400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1691640" y="2942539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8324A"/>
                </a:solidFill>
              </a:rPr>
              <a:t>Compare</a:t>
            </a:r>
            <a:r>
              <a:rPr lang="en-US" sz="2800" dirty="0">
                <a:solidFill>
                  <a:srgbClr val="18324A"/>
                </a:solidFill>
              </a:rPr>
              <a:t> two strings</a:t>
            </a:r>
            <a:endParaRPr lang="en-US" sz="2800" dirty="0"/>
          </a:p>
        </p:txBody>
      </p:sp>
      <p:sp>
        <p:nvSpPr>
          <p:cNvPr id="12" name="Shape 12"/>
          <p:cNvSpPr/>
          <p:nvPr/>
        </p:nvSpPr>
        <p:spPr>
          <a:xfrm>
            <a:off x="731520" y="3760013"/>
            <a:ext cx="64008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1691640" y="3760013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By hand: </a:t>
            </a:r>
            <a:r>
              <a:rPr lang="en-US" sz="2800" b="1" dirty="0">
                <a:solidFill>
                  <a:srgbClr val="18324A"/>
                </a:solidFill>
              </a:rPr>
              <a:t>reverse</a:t>
            </a:r>
            <a:r>
              <a:rPr lang="en-US" sz="2800" dirty="0">
                <a:solidFill>
                  <a:srgbClr val="18324A"/>
                </a:solidFill>
              </a:rPr>
              <a:t> and </a:t>
            </a:r>
            <a:r>
              <a:rPr lang="en-US" sz="2800" b="1" dirty="0">
                <a:solidFill>
                  <a:srgbClr val="18324A"/>
                </a:solidFill>
              </a:rPr>
              <a:t>palindrome</a:t>
            </a:r>
            <a:endParaRPr lang="en-US" sz="2800" dirty="0"/>
          </a:p>
        </p:txBody>
      </p:sp>
      <p:sp>
        <p:nvSpPr>
          <p:cNvPr id="14" name="Shape 14"/>
          <p:cNvSpPr/>
          <p:nvPr/>
        </p:nvSpPr>
        <p:spPr>
          <a:xfrm>
            <a:off x="731520" y="4577486"/>
            <a:ext cx="640080" cy="6400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1691640" y="4577486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8324A"/>
                </a:solidFill>
              </a:rPr>
              <a:t>Text to numbers</a:t>
            </a:r>
            <a:r>
              <a:rPr lang="en-US" sz="2800" dirty="0">
                <a:solidFill>
                  <a:srgbClr val="18324A"/>
                </a:solidFill>
              </a:rPr>
              <a:t>, and back</a:t>
            </a:r>
            <a:endParaRPr lang="en-US" sz="2800" dirty="0"/>
          </a:p>
        </p:txBody>
      </p:sp>
      <p:sp>
        <p:nvSpPr>
          <p:cNvPr id="16" name="Shape 16"/>
          <p:cNvSpPr/>
          <p:nvPr/>
        </p:nvSpPr>
        <p:spPr>
          <a:xfrm>
            <a:off x="548640" y="5486400"/>
            <a:ext cx="11094415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548640" y="5486400"/>
            <a:ext cx="109728" cy="77724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Callout"/>
          <p:cNvSpPr/>
          <p:nvPr/>
        </p:nvSpPr>
        <p:spPr>
          <a:xfrm>
            <a:off x="658368" y="5486400"/>
            <a:ext cx="10984687" cy="77724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Tuesday you wrote the loops yourself. Today C does most of them for you.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2011680"/>
            <a:ext cx="1188720" cy="1188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1</a:t>
            </a:r>
            <a:endParaRPr lang="en-US" sz="5400" dirty="0"/>
          </a:p>
        </p:txBody>
      </p:sp>
      <p:sp>
        <p:nvSpPr>
          <p:cNvPr id="3" name="Shape 3"/>
          <p:cNvSpPr/>
          <p:nvPr/>
        </p:nvSpPr>
        <p:spPr>
          <a:xfrm>
            <a:off x="2286000" y="1920240"/>
            <a:ext cx="93268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Length and copy</a:t>
            </a:r>
            <a:endParaRPr lang="en-US" sz="4800" dirty="0"/>
          </a:p>
        </p:txBody>
      </p:sp>
      <p:sp>
        <p:nvSpPr>
          <p:cNvPr id="4" name="Shape 4"/>
          <p:cNvSpPr/>
          <p:nvPr/>
        </p:nvSpPr>
        <p:spPr>
          <a:xfrm>
            <a:off x="2286000" y="3474720"/>
            <a:ext cx="9326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D7E3F0"/>
                </a:solidFill>
              </a:rPr>
              <a:t>The string toolbox: #include &lt;string.h&gt;</a:t>
            </a:r>
            <a:endParaRPr lang="en-US" sz="2600" dirty="0"/>
          </a:p>
        </p:txBody>
      </p:sp>
      <p:sp>
        <p:nvSpPr>
          <p:cNvPr id="5" name="Shape 5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CSCI 1101 · Programming Principles I · Class 12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A toolbox for strings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8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1402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1402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8324A"/>
                </a:solidFill>
              </a:rPr>
              <a:t>Add one line at the top: </a:t>
            </a:r>
            <a:r>
              <a:rPr lang="en-US" sz="4000" b="1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#include &lt;string.h&gt;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3212592"/>
            <a:ext cx="10728655" cy="274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strlen(s)</a:t>
            </a:r>
            <a:r>
              <a:rPr lang="en-US" sz="3000" dirty="0">
                <a:solidFill>
                  <a:srgbClr val="18324A"/>
                </a:solidFill>
              </a:rPr>
              <a:t>: how many characters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strcpy(to, from)</a:t>
            </a:r>
            <a:r>
              <a:rPr lang="en-US" sz="3000" dirty="0">
                <a:solidFill>
                  <a:srgbClr val="18324A"/>
                </a:solidFill>
              </a:rPr>
              <a:t>: copy a string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strcat(to, more)</a:t>
            </a:r>
            <a:r>
              <a:rPr lang="en-US" sz="3000" dirty="0">
                <a:solidFill>
                  <a:srgbClr val="18324A"/>
                </a:solidFill>
              </a:rPr>
              <a:t>: add to the end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strcmp(a, b)</a:t>
            </a:r>
            <a:r>
              <a:rPr lang="en-US" sz="3000" dirty="0">
                <a:solidFill>
                  <a:srgbClr val="18324A"/>
                </a:solidFill>
              </a:rPr>
              <a:t>: compare two strings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strlen: the length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9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863840" cy="2461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178177"/>
            <a:ext cx="786384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17817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7863840" cy="2461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char city[20] = "Baku";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printf("strlen: %d\n", (int) strlen(city));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printf("sizeof: %d\n", (int) sizeof(city));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</p:txBody>
      </p:sp>
      <p:sp>
        <p:nvSpPr>
          <p:cNvPr id="10" name="Shape 10"/>
          <p:cNvSpPr/>
          <p:nvPr/>
        </p:nvSpPr>
        <p:spPr>
          <a:xfrm>
            <a:off x="8686800" y="1261872"/>
            <a:ext cx="295625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8686800" y="1645920"/>
            <a:ext cx="2956255" cy="112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8686800" y="1645920"/>
            <a:ext cx="2956255" cy="112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strlen: 4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sizeof: 20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8686800" y="3048000"/>
            <a:ext cx="295625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8686800" y="304800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8796528" y="3048000"/>
            <a:ext cx="284652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strlen</a:t>
            </a:r>
            <a:r>
              <a:rPr lang="en-US" sz="2400" dirty="0">
                <a:solidFill>
                  <a:srgbClr val="18324A"/>
                </a:solidFill>
              </a:rPr>
              <a:t>: letters before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'\0'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  <p:sp>
        <p:nvSpPr>
          <p:cNvPr id="16" name="Shape 16"/>
          <p:cNvSpPr/>
          <p:nvPr/>
        </p:nvSpPr>
        <p:spPr>
          <a:xfrm>
            <a:off x="8686800" y="4300728"/>
            <a:ext cx="295625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8686800" y="4300728"/>
            <a:ext cx="109728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Callout"/>
          <p:cNvSpPr/>
          <p:nvPr/>
        </p:nvSpPr>
        <p:spPr>
          <a:xfrm>
            <a:off x="8796528" y="4300728"/>
            <a:ext cx="284652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sizeof</a:t>
            </a:r>
            <a:r>
              <a:rPr lang="en-US" sz="2400" dirty="0">
                <a:solidFill>
                  <a:srgbClr val="18324A"/>
                </a:solidFill>
              </a:rPr>
              <a:t>: all 20 boxes.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strlen is not sizeof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10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577840"/>
            <a:ext cx="109728" cy="6858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577840"/>
            <a:ext cx="1098468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strlen(city)</a:t>
            </a:r>
            <a:r>
              <a:rPr lang="en-US" sz="2400" dirty="0">
                <a:solidFill>
                  <a:srgbClr val="18324A"/>
                </a:solidFill>
              </a:rPr>
              <a:t> counts B, a, k, u: </a:t>
            </a:r>
            <a:r>
              <a:rPr lang="en-US" sz="2400" b="1" dirty="0">
                <a:solidFill>
                  <a:srgbClr val="18324A"/>
                </a:solidFill>
              </a:rPr>
              <a:t>4</a:t>
            </a:r>
            <a:r>
              <a:rPr lang="en-US" sz="2400" dirty="0">
                <a:solidFill>
                  <a:srgbClr val="18324A"/>
                </a:solidFill>
              </a:rPr>
              <a:t>.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sizeof(city)</a:t>
            </a:r>
            <a:r>
              <a:rPr lang="en-US" sz="2400" dirty="0">
                <a:solidFill>
                  <a:srgbClr val="18324A"/>
                </a:solidFill>
              </a:rPr>
              <a:t> counts every box: </a:t>
            </a:r>
            <a:r>
              <a:rPr lang="en-US" sz="2400" b="1" dirty="0">
                <a:solidFill>
                  <a:srgbClr val="18324A"/>
                </a:solidFill>
              </a:rPr>
              <a:t>20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1806068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box</a:t>
            </a:r>
            <a:endParaRPr lang="en-US" sz="1800" dirty="0"/>
          </a:p>
        </p:txBody>
      </p:sp>
      <p:sp>
        <p:nvSpPr>
          <p:cNvPr id="10" name="Shape 10"/>
          <p:cNvSpPr/>
          <p:nvPr/>
        </p:nvSpPr>
        <p:spPr>
          <a:xfrm>
            <a:off x="2354708" y="1261872"/>
            <a:ext cx="1290048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</a:t>
            </a:r>
            <a:endParaRPr lang="en-US" sz="1800" dirty="0"/>
          </a:p>
        </p:txBody>
      </p:sp>
      <p:sp>
        <p:nvSpPr>
          <p:cNvPr id="11" name="Shape 11"/>
          <p:cNvSpPr/>
          <p:nvPr/>
        </p:nvSpPr>
        <p:spPr>
          <a:xfrm>
            <a:off x="3644756" y="1261872"/>
            <a:ext cx="1290048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2" name="Shape 12"/>
          <p:cNvSpPr/>
          <p:nvPr/>
        </p:nvSpPr>
        <p:spPr>
          <a:xfrm>
            <a:off x="4934804" y="1261872"/>
            <a:ext cx="1290048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hape 13"/>
          <p:cNvSpPr/>
          <p:nvPr/>
        </p:nvSpPr>
        <p:spPr>
          <a:xfrm>
            <a:off x="6224852" y="1261872"/>
            <a:ext cx="1290048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Shape 14"/>
          <p:cNvSpPr/>
          <p:nvPr/>
        </p:nvSpPr>
        <p:spPr>
          <a:xfrm>
            <a:off x="7514901" y="1261872"/>
            <a:ext cx="1548058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Shape 15"/>
          <p:cNvSpPr/>
          <p:nvPr/>
        </p:nvSpPr>
        <p:spPr>
          <a:xfrm>
            <a:off x="9062959" y="1261872"/>
            <a:ext cx="2580097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 to 19</a:t>
            </a:r>
            <a:endParaRPr lang="en-US" sz="1800" dirty="0"/>
          </a:p>
        </p:txBody>
      </p:sp>
      <p:sp>
        <p:nvSpPr>
          <p:cNvPr id="16" name="Shape 16"/>
          <p:cNvSpPr/>
          <p:nvPr/>
        </p:nvSpPr>
        <p:spPr>
          <a:xfrm>
            <a:off x="548640" y="1920240"/>
            <a:ext cx="18060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city</a:t>
            </a:r>
            <a:endParaRPr lang="en-US" sz="2600" dirty="0"/>
          </a:p>
        </p:txBody>
      </p:sp>
      <p:sp>
        <p:nvSpPr>
          <p:cNvPr id="17" name="Shape 17"/>
          <p:cNvSpPr/>
          <p:nvPr/>
        </p:nvSpPr>
        <p:spPr>
          <a:xfrm>
            <a:off x="2354708" y="1920240"/>
            <a:ext cx="12900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B</a:t>
            </a:r>
            <a:endParaRPr lang="en-US" sz="2600" dirty="0"/>
          </a:p>
        </p:txBody>
      </p:sp>
      <p:sp>
        <p:nvSpPr>
          <p:cNvPr id="18" name="Shape 18"/>
          <p:cNvSpPr/>
          <p:nvPr/>
        </p:nvSpPr>
        <p:spPr>
          <a:xfrm>
            <a:off x="3644756" y="1920240"/>
            <a:ext cx="12900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a</a:t>
            </a:r>
            <a:endParaRPr lang="en-US" sz="2600" dirty="0"/>
          </a:p>
        </p:txBody>
      </p:sp>
      <p:sp>
        <p:nvSpPr>
          <p:cNvPr id="19" name="Shape 19"/>
          <p:cNvSpPr/>
          <p:nvPr/>
        </p:nvSpPr>
        <p:spPr>
          <a:xfrm>
            <a:off x="4934804" y="1920240"/>
            <a:ext cx="12900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k</a:t>
            </a:r>
            <a:endParaRPr lang="en-US" sz="2600" dirty="0"/>
          </a:p>
        </p:txBody>
      </p:sp>
      <p:sp>
        <p:nvSpPr>
          <p:cNvPr id="20" name="Shape 20"/>
          <p:cNvSpPr/>
          <p:nvPr/>
        </p:nvSpPr>
        <p:spPr>
          <a:xfrm>
            <a:off x="6224852" y="1920240"/>
            <a:ext cx="12900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u</a:t>
            </a:r>
            <a:endParaRPr lang="en-US" sz="2600" dirty="0"/>
          </a:p>
        </p:txBody>
      </p:sp>
      <p:sp>
        <p:nvSpPr>
          <p:cNvPr id="21" name="Shape 21"/>
          <p:cNvSpPr/>
          <p:nvPr/>
        </p:nvSpPr>
        <p:spPr>
          <a:xfrm>
            <a:off x="7514901" y="1920240"/>
            <a:ext cx="154805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\0</a:t>
            </a:r>
            <a:endParaRPr lang="en-US" sz="2600" dirty="0"/>
          </a:p>
        </p:txBody>
      </p:sp>
      <p:sp>
        <p:nvSpPr>
          <p:cNvPr id="22" name="Shape 22"/>
          <p:cNvSpPr/>
          <p:nvPr/>
        </p:nvSpPr>
        <p:spPr>
          <a:xfrm>
            <a:off x="9062959" y="1920240"/>
            <a:ext cx="2580097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empty</a:t>
            </a:r>
            <a:endParaRPr lang="en-US"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A loop up to strlen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11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40805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311527"/>
            <a:ext cx="6766560" cy="4127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311527"/>
            <a:ext cx="82296" cy="412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2724277"/>
            <a:ext cx="6766560" cy="4127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724277"/>
            <a:ext cx="82296" cy="412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548640" y="1261872"/>
            <a:ext cx="6766560" cy="40805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char word[20] = "Baku";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int n = strlen(word);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i = 0; i &lt; n; i++) {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printf("%c ", word[i]);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printf("\n");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600" dirty="0"/>
          </a:p>
        </p:txBody>
      </p:sp>
      <p:sp>
        <p:nvSpPr>
          <p:cNvPr id="12" name="Shape 12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3" name="Shape 13"/>
          <p:cNvSpPr/>
          <p:nvPr/>
        </p:nvSpPr>
        <p:spPr>
          <a:xfrm>
            <a:off x="7589520" y="1645920"/>
            <a:ext cx="4053535" cy="746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ode"/>
          <p:cNvSpPr/>
          <p:nvPr/>
        </p:nvSpPr>
        <p:spPr>
          <a:xfrm>
            <a:off x="7589520" y="1645920"/>
            <a:ext cx="4053535" cy="746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B a k u 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7589520" y="2667000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7589520" y="2667000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Callout"/>
          <p:cNvSpPr/>
          <p:nvPr/>
        </p:nvSpPr>
        <p:spPr>
          <a:xfrm>
            <a:off x="7699248" y="2667000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n</a:t>
            </a:r>
            <a:r>
              <a:rPr lang="en-US" sz="2400" dirty="0">
                <a:solidFill>
                  <a:srgbClr val="18324A"/>
                </a:solidFill>
              </a:rPr>
              <a:t> is 4: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i</a:t>
            </a:r>
            <a:r>
              <a:rPr lang="en-US" sz="2400" dirty="0">
                <a:solidFill>
                  <a:srgbClr val="18324A"/>
                </a:solidFill>
              </a:rPr>
              <a:t> goes 0, 1, 2, 3.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Careful: give the array a new name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12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CAREFUL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1158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Can we put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"Leyla"</a:t>
            </a:r>
            <a:r>
              <a:rPr lang="en-US" sz="3200" dirty="0">
                <a:solidFill>
                  <a:srgbClr val="18324A"/>
                </a:solidFill>
              </a:rPr>
              <a:t> into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lang="en-US" sz="3200" dirty="0">
                <a:solidFill>
                  <a:srgbClr val="18324A"/>
                </a:solidFill>
              </a:rPr>
              <a:t> with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=</a:t>
            </a:r>
            <a:r>
              <a:rPr lang="en-US" sz="3200" dirty="0">
                <a:solidFill>
                  <a:srgbClr val="18324A"/>
                </a:solidFill>
              </a:rPr>
              <a:t>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3032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3032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char name[20];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name = "Leyla";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printf("%s\n", name);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No: = does not work for arrays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13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3413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511552"/>
            <a:ext cx="6766560" cy="508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511552"/>
            <a:ext cx="82296" cy="50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6766560" cy="3413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char name[20];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name = "Leyla";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printf("%s\n", name);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3200" dirty="0"/>
          </a:p>
        </p:txBody>
      </p:sp>
      <p:sp>
        <p:nvSpPr>
          <p:cNvPr id="10" name="Shape 10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gcc says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7589520" y="1645920"/>
            <a:ext cx="4053535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7589520" y="1645920"/>
            <a:ext cx="4053535" cy="1508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error: assignment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to expression with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array type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7589520" y="3429000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7589520" y="3429000"/>
            <a:ext cx="109728" cy="10515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7699248" y="3429000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=</a:t>
            </a:r>
            <a:r>
              <a:rPr lang="en-US" sz="2400" dirty="0">
                <a:solidFill>
                  <a:srgbClr val="18324A"/>
                </a:solidFill>
              </a:rPr>
              <a:t> works at the declaration only.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strcpy: copy into the array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14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577840"/>
            <a:ext cx="109728" cy="6858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577840"/>
            <a:ext cx="1098468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strcpy(to, from)</a:t>
            </a:r>
            <a:r>
              <a:rPr lang="en-US" sz="2400" dirty="0">
                <a:solidFill>
                  <a:srgbClr val="18324A"/>
                </a:solidFill>
              </a:rPr>
              <a:t>: the same order as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to = from</a:t>
            </a:r>
            <a:r>
              <a:rPr lang="en-US" sz="2400" dirty="0">
                <a:solidFill>
                  <a:srgbClr val="18324A"/>
                </a:solidFill>
              </a:rPr>
              <a:t>. The old name is gone.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6766560" cy="3921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378202"/>
            <a:ext cx="6766560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23782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3267202"/>
            <a:ext cx="6766560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548640" y="32672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ode"/>
          <p:cNvSpPr/>
          <p:nvPr/>
        </p:nvSpPr>
        <p:spPr>
          <a:xfrm>
            <a:off x="548640" y="1261872"/>
            <a:ext cx="6766560" cy="3921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char name[20];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strcpy(name, "Leyla");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printf("%s\n", name);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strcpy(name, "Murad");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printf("%s\n", name);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800" dirty="0"/>
          </a:p>
        </p:txBody>
      </p:sp>
      <p:sp>
        <p:nvSpPr>
          <p:cNvPr id="15" name="Shape 15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6" name="Shape 16"/>
          <p:cNvSpPr/>
          <p:nvPr/>
        </p:nvSpPr>
        <p:spPr>
          <a:xfrm>
            <a:off x="7589520" y="1645920"/>
            <a:ext cx="4053535" cy="112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Code"/>
          <p:cNvSpPr/>
          <p:nvPr/>
        </p:nvSpPr>
        <p:spPr>
          <a:xfrm>
            <a:off x="7589520" y="1645920"/>
            <a:ext cx="4053535" cy="112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Leyla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Murad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2011680"/>
            <a:ext cx="1188720" cy="118872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2</a:t>
            </a:r>
            <a:endParaRPr lang="en-US" sz="5400" dirty="0"/>
          </a:p>
        </p:txBody>
      </p:sp>
      <p:sp>
        <p:nvSpPr>
          <p:cNvPr id="3" name="Shape 3"/>
          <p:cNvSpPr/>
          <p:nvPr/>
        </p:nvSpPr>
        <p:spPr>
          <a:xfrm>
            <a:off x="2286000" y="1920240"/>
            <a:ext cx="93268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Join</a:t>
            </a:r>
            <a:endParaRPr lang="en-US" sz="4800" dirty="0"/>
          </a:p>
        </p:txBody>
      </p:sp>
      <p:sp>
        <p:nvSpPr>
          <p:cNvPr id="4" name="Shape 4"/>
          <p:cNvSpPr/>
          <p:nvPr/>
        </p:nvSpPr>
        <p:spPr>
          <a:xfrm>
            <a:off x="2286000" y="3474720"/>
            <a:ext cx="9326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D7E3F0"/>
                </a:solidFill>
              </a:rPr>
              <a:t>strcat adds to the end</a:t>
            </a:r>
            <a:endParaRPr lang="en-US" sz="2600" dirty="0"/>
          </a:p>
        </p:txBody>
      </p:sp>
      <p:sp>
        <p:nvSpPr>
          <p:cNvPr id="5" name="Shape 5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CSCI 1101 · Programming Principles I · Class 12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strcat: add to the end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16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680960" cy="290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111502"/>
            <a:ext cx="76809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111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2429002"/>
            <a:ext cx="76809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429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548640" y="1261872"/>
            <a:ext cx="7680960" cy="2905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char full[30] = "Ada";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strcat(full, " ");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strcat(full, "Lovelace");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printf("%s\n", full);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printf("%d characters\n", (int) strlen(full));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  <p:sp>
        <p:nvSpPr>
          <p:cNvPr id="12" name="Shape 12"/>
          <p:cNvSpPr/>
          <p:nvPr/>
        </p:nvSpPr>
        <p:spPr>
          <a:xfrm>
            <a:off x="8503920" y="1261872"/>
            <a:ext cx="31391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3" name="Shape 13"/>
          <p:cNvSpPr/>
          <p:nvPr/>
        </p:nvSpPr>
        <p:spPr>
          <a:xfrm>
            <a:off x="8503920" y="1645920"/>
            <a:ext cx="3139135" cy="112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ode"/>
          <p:cNvSpPr/>
          <p:nvPr/>
        </p:nvSpPr>
        <p:spPr>
          <a:xfrm>
            <a:off x="8503920" y="1645920"/>
            <a:ext cx="3139135" cy="112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Ada Lovelace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12 characters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8503920" y="3048000"/>
            <a:ext cx="31391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8503920" y="304800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Callout"/>
          <p:cNvSpPr/>
          <p:nvPr/>
        </p:nvSpPr>
        <p:spPr>
          <a:xfrm>
            <a:off x="8613648" y="3048000"/>
            <a:ext cx="30294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full</a:t>
            </a:r>
            <a:r>
              <a:rPr lang="en-US" sz="2400" dirty="0">
                <a:solidFill>
                  <a:srgbClr val="18324A"/>
                </a:solidFill>
              </a:rPr>
              <a:t> has 30 boxes: room for all.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full, line by line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17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577840"/>
            <a:ext cx="109728" cy="6858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577840"/>
            <a:ext cx="1098468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strcat</a:t>
            </a:r>
            <a:r>
              <a:rPr lang="en-US" sz="2400" dirty="0">
                <a:solidFill>
                  <a:srgbClr val="18324A"/>
                </a:solidFill>
              </a:rPr>
              <a:t> writes over the old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'\0'</a:t>
            </a:r>
            <a:r>
              <a:rPr lang="en-US" sz="2400" dirty="0">
                <a:solidFill>
                  <a:srgbClr val="18324A"/>
                </a:solidFill>
              </a:rPr>
              <a:t> and puts a new one at the end.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5648066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after the line</a:t>
            </a:r>
            <a:endParaRPr lang="en-US" sz="1800" dirty="0"/>
          </a:p>
        </p:txBody>
      </p:sp>
      <p:sp>
        <p:nvSpPr>
          <p:cNvPr id="10" name="Shape 10"/>
          <p:cNvSpPr/>
          <p:nvPr/>
        </p:nvSpPr>
        <p:spPr>
          <a:xfrm>
            <a:off x="6196706" y="1261872"/>
            <a:ext cx="3630900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full</a:t>
            </a:r>
            <a:endParaRPr lang="en-US" sz="1800" dirty="0"/>
          </a:p>
        </p:txBody>
      </p:sp>
      <p:sp>
        <p:nvSpPr>
          <p:cNvPr id="11" name="Shape 11"/>
          <p:cNvSpPr/>
          <p:nvPr/>
        </p:nvSpPr>
        <p:spPr>
          <a:xfrm>
            <a:off x="9827605" y="1261872"/>
            <a:ext cx="1815450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strlen</a:t>
            </a:r>
            <a:endParaRPr lang="en-US" sz="1800" dirty="0"/>
          </a:p>
        </p:txBody>
      </p:sp>
      <p:sp>
        <p:nvSpPr>
          <p:cNvPr id="12" name="Shape 12"/>
          <p:cNvSpPr/>
          <p:nvPr/>
        </p:nvSpPr>
        <p:spPr>
          <a:xfrm>
            <a:off x="548640" y="1920240"/>
            <a:ext cx="564806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char full[30] = "Ada";</a:t>
            </a:r>
            <a:endParaRPr lang="en-US" sz="2600" dirty="0"/>
          </a:p>
        </p:txBody>
      </p:sp>
      <p:sp>
        <p:nvSpPr>
          <p:cNvPr id="13" name="Shape 13"/>
          <p:cNvSpPr/>
          <p:nvPr/>
        </p:nvSpPr>
        <p:spPr>
          <a:xfrm>
            <a:off x="6196706" y="1920240"/>
            <a:ext cx="36309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Ada</a:t>
            </a:r>
            <a:endParaRPr lang="en-US" sz="2600" dirty="0"/>
          </a:p>
        </p:txBody>
      </p:sp>
      <p:sp>
        <p:nvSpPr>
          <p:cNvPr id="14" name="Shape 14"/>
          <p:cNvSpPr/>
          <p:nvPr/>
        </p:nvSpPr>
        <p:spPr>
          <a:xfrm>
            <a:off x="9827605" y="1920240"/>
            <a:ext cx="181545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3</a:t>
            </a:r>
            <a:endParaRPr lang="en-US" sz="2600" dirty="0"/>
          </a:p>
        </p:txBody>
      </p:sp>
      <p:sp>
        <p:nvSpPr>
          <p:cNvPr id="15" name="Shape 15"/>
          <p:cNvSpPr/>
          <p:nvPr/>
        </p:nvSpPr>
        <p:spPr>
          <a:xfrm>
            <a:off x="548640" y="2578608"/>
            <a:ext cx="5648066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strcat(full, " ");</a:t>
            </a:r>
            <a:endParaRPr lang="en-US" sz="2600" dirty="0"/>
          </a:p>
        </p:txBody>
      </p:sp>
      <p:sp>
        <p:nvSpPr>
          <p:cNvPr id="16" name="Shape 16"/>
          <p:cNvSpPr/>
          <p:nvPr/>
        </p:nvSpPr>
        <p:spPr>
          <a:xfrm>
            <a:off x="6196706" y="2578608"/>
            <a:ext cx="3630900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Ada </a:t>
            </a:r>
            <a:endParaRPr lang="en-US" sz="2600" dirty="0"/>
          </a:p>
        </p:txBody>
      </p:sp>
      <p:sp>
        <p:nvSpPr>
          <p:cNvPr id="17" name="Shape 17"/>
          <p:cNvSpPr/>
          <p:nvPr/>
        </p:nvSpPr>
        <p:spPr>
          <a:xfrm>
            <a:off x="9827605" y="2578608"/>
            <a:ext cx="1815450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4</a:t>
            </a:r>
            <a:endParaRPr lang="en-US" sz="2600" dirty="0"/>
          </a:p>
        </p:txBody>
      </p:sp>
      <p:sp>
        <p:nvSpPr>
          <p:cNvPr id="18" name="Shape 18"/>
          <p:cNvSpPr/>
          <p:nvPr/>
        </p:nvSpPr>
        <p:spPr>
          <a:xfrm>
            <a:off x="548640" y="3236976"/>
            <a:ext cx="564806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strcat(full, "Lovelace");</a:t>
            </a:r>
            <a:endParaRPr lang="en-US" sz="2600" dirty="0"/>
          </a:p>
        </p:txBody>
      </p:sp>
      <p:sp>
        <p:nvSpPr>
          <p:cNvPr id="19" name="Shape 19"/>
          <p:cNvSpPr/>
          <p:nvPr/>
        </p:nvSpPr>
        <p:spPr>
          <a:xfrm>
            <a:off x="6196706" y="3236976"/>
            <a:ext cx="36309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Ada Lovelace</a:t>
            </a:r>
            <a:endParaRPr lang="en-US" sz="2600" dirty="0"/>
          </a:p>
        </p:txBody>
      </p:sp>
      <p:sp>
        <p:nvSpPr>
          <p:cNvPr id="20" name="Shape 20"/>
          <p:cNvSpPr/>
          <p:nvPr/>
        </p:nvSpPr>
        <p:spPr>
          <a:xfrm>
            <a:off x="9827605" y="3236976"/>
            <a:ext cx="181545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12</a:t>
            </a:r>
            <a:endParaRPr lang="en-US" sz="2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Careful: is there room?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18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CAREFUL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small</a:t>
            </a:r>
            <a:r>
              <a:rPr lang="en-US" sz="3200" dirty="0">
                <a:solidFill>
                  <a:srgbClr val="18324A"/>
                </a:solidFill>
              </a:rPr>
              <a:t> has 6 boxes.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We add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" there!"</a:t>
            </a:r>
            <a:r>
              <a:rPr lang="en-US" sz="3200" dirty="0">
                <a:solidFill>
                  <a:srgbClr val="18324A"/>
                </a:solidFill>
              </a:rPr>
              <a:t>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happens?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2842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2842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char small[6] = "Hi";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strcat(small, " there!");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printf("%s\n", small);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gcc warns: it overflows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19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3032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378202"/>
            <a:ext cx="6766560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3782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6766560" cy="3032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char small[6] = "Hi";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strcat(small, " there!");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printf("%s\n", small);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800" dirty="0"/>
          </a:p>
        </p:txBody>
      </p:sp>
      <p:sp>
        <p:nvSpPr>
          <p:cNvPr id="10" name="Shape 10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gcc -Wall says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7589520" y="1645920"/>
            <a:ext cx="4053535" cy="2270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7589520" y="1645920"/>
            <a:ext cx="4053535" cy="2270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warning: writing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8 bytes into a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region of size 6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overflows the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destination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7589520" y="4191000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7589520" y="4191000"/>
            <a:ext cx="109728" cy="10515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7699248" y="4191000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"Hi there!"</a:t>
            </a:r>
            <a:r>
              <a:rPr lang="en-US" sz="2400" dirty="0">
                <a:solidFill>
                  <a:srgbClr val="18324A"/>
                </a:solidFill>
              </a:rPr>
              <a:t> needs 10 boxes.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And yet it prints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20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3032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822702"/>
            <a:ext cx="6766560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8227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6766560" cy="3032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char small[6] = "Hi";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strcat(small, " there!");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printf("%s\n", small);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800" dirty="0"/>
          </a:p>
        </p:txBody>
      </p:sp>
      <p:sp>
        <p:nvSpPr>
          <p:cNvPr id="10" name="Shape 10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7589520" y="1645920"/>
            <a:ext cx="4053535" cy="746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7589520" y="1645920"/>
            <a:ext cx="4053535" cy="746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Hi there!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7589520" y="2667000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7589520" y="2667000"/>
            <a:ext cx="109728" cy="10515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7699248" y="2667000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It wrote past the end of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small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  <p:sp>
        <p:nvSpPr>
          <p:cNvPr id="16" name="Shape 16"/>
          <p:cNvSpPr/>
          <p:nvPr/>
        </p:nvSpPr>
        <p:spPr>
          <a:xfrm>
            <a:off x="7589520" y="3919728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7589520" y="3919728"/>
            <a:ext cx="109728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Callout"/>
          <p:cNvSpPr/>
          <p:nvPr/>
        </p:nvSpPr>
        <p:spPr>
          <a:xfrm>
            <a:off x="7699248" y="3919728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A wrong program can look right.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The rule for strcpy and strcat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21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1402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1402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8324A"/>
                </a:solidFill>
              </a:rPr>
              <a:t>The array must have room for the result, plus one.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3212592"/>
            <a:ext cx="10728655" cy="20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"Hi there!"</a:t>
            </a:r>
            <a:r>
              <a:rPr lang="en-US" sz="3000" dirty="0">
                <a:solidFill>
                  <a:srgbClr val="18324A"/>
                </a:solidFill>
              </a:rPr>
              <a:t>: 9 characters +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'\0'</a:t>
            </a:r>
            <a:r>
              <a:rPr lang="en-US" sz="3000" dirty="0">
                <a:solidFill>
                  <a:srgbClr val="18324A"/>
                </a:solidFill>
              </a:rPr>
              <a:t> = 10 boxes.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C does not check. You count.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Make the array bigger than you need: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char full[100];</a:t>
            </a:r>
            <a:endParaRPr lang="en-US" sz="3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2011680"/>
            <a:ext cx="1188720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3</a:t>
            </a:r>
            <a:endParaRPr lang="en-US" sz="5400" dirty="0"/>
          </a:p>
        </p:txBody>
      </p:sp>
      <p:sp>
        <p:nvSpPr>
          <p:cNvPr id="3" name="Shape 3"/>
          <p:cNvSpPr/>
          <p:nvPr/>
        </p:nvSpPr>
        <p:spPr>
          <a:xfrm>
            <a:off x="2286000" y="1920240"/>
            <a:ext cx="93268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Compare</a:t>
            </a:r>
            <a:endParaRPr lang="en-US" sz="4800" dirty="0"/>
          </a:p>
        </p:txBody>
      </p:sp>
      <p:sp>
        <p:nvSpPr>
          <p:cNvPr id="4" name="Shape 4"/>
          <p:cNvSpPr/>
          <p:nvPr/>
        </p:nvSpPr>
        <p:spPr>
          <a:xfrm>
            <a:off x="2286000" y="3474720"/>
            <a:ext cx="9326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D7E3F0"/>
                </a:solidFill>
              </a:rPr>
              <a:t>Never ==, always strcmp</a:t>
            </a:r>
            <a:endParaRPr lang="en-US" sz="2600" dirty="0"/>
          </a:p>
        </p:txBody>
      </p:sp>
      <p:sp>
        <p:nvSpPr>
          <p:cNvPr id="5" name="Shape 5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CSCI 1101 · Programming Principles I · Class 12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Predict: you type yes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23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213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The program asks "Continue?".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You type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yes</a:t>
            </a:r>
            <a:r>
              <a:rPr lang="en-US" sz="3200" dirty="0">
                <a:solidFill>
                  <a:srgbClr val="18324A"/>
                </a:solidFill>
              </a:rPr>
              <a:t>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does it print?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42075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42075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char answer[10];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printf("Continue? ");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scanf("%9s", answer);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if (answer == "yes")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printf("OK, going on\n");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 else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printf("Stopping\n");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It says Stopping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24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498080" cy="49060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3137027"/>
            <a:ext cx="7498080" cy="4127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3137027"/>
            <a:ext cx="82296" cy="412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7498080" cy="49060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char answer[10];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printf("Continue? ");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scanf("%9s", answer);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(answer == "yes") {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printf("OK, going on\n");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 else {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printf("Stopping\n");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600" dirty="0"/>
          </a:p>
        </p:txBody>
      </p:sp>
      <p:sp>
        <p:nvSpPr>
          <p:cNvPr id="10" name="Shape 10"/>
          <p:cNvSpPr/>
          <p:nvPr/>
        </p:nvSpPr>
        <p:spPr>
          <a:xfrm>
            <a:off x="8321040" y="1261872"/>
            <a:ext cx="332201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8321040" y="1645920"/>
            <a:ext cx="3322015" cy="112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8321040" y="1645920"/>
            <a:ext cx="3322015" cy="112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Continue? yes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Stopping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8321040" y="3048000"/>
            <a:ext cx="33220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8321040" y="3048000"/>
            <a:ext cx="109728" cy="10515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8430768" y="3048000"/>
            <a:ext cx="32122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The letters were never compared.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gcc saw it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25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49060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3137027"/>
            <a:ext cx="6766560" cy="4127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3137027"/>
            <a:ext cx="82296" cy="412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6766560" cy="49060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char answer[10];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printf("Continue? ");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scanf("%9s", answer);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(answer == "yes") {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printf("OK, going on\n");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 else {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printf("Stopping\n");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600" dirty="0"/>
          </a:p>
        </p:txBody>
      </p:sp>
      <p:sp>
        <p:nvSpPr>
          <p:cNvPr id="10" name="Shape 10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gcc -Wall says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7589520" y="1645920"/>
            <a:ext cx="4053535" cy="1889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7589520" y="1645920"/>
            <a:ext cx="4053535" cy="1889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warning: comparison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with string literal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results in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unspecified behavior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== does not compare letters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26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7924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8324A"/>
                </a:solidFill>
              </a:rPr>
              <a:t>For strings, </a:t>
            </a:r>
            <a:r>
              <a:rPr lang="en-US" sz="4000" b="1" dirty="0">
                <a:solidFill>
                  <a:srgbClr val="FF6B6B"/>
                </a:solidFill>
                <a:latin typeface="Consolas"/>
                <a:ea typeface="Consolas"/>
                <a:cs typeface="Consolas"/>
              </a:rPr>
              <a:t>==</a:t>
            </a:r>
            <a:r>
              <a:rPr lang="en-US" sz="4000" b="1" dirty="0">
                <a:solidFill>
                  <a:srgbClr val="18324A"/>
                </a:solidFill>
              </a:rPr>
              <a:t> asks: "the same array?"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2602992"/>
            <a:ext cx="10728655" cy="20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answer</a:t>
            </a:r>
            <a:r>
              <a:rPr lang="en-US" sz="3000" dirty="0">
                <a:solidFill>
                  <a:srgbClr val="18324A"/>
                </a:solidFill>
              </a:rPr>
              <a:t> and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"yes"</a:t>
            </a:r>
            <a:r>
              <a:rPr lang="en-US" sz="3000" dirty="0">
                <a:solidFill>
                  <a:srgbClr val="18324A"/>
                </a:solidFill>
              </a:rPr>
              <a:t> are two different arrays.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So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==</a:t>
            </a:r>
            <a:r>
              <a:rPr lang="en-US" sz="3000" dirty="0">
                <a:solidFill>
                  <a:srgbClr val="18324A"/>
                </a:solidFill>
              </a:rPr>
              <a:t> is false, whatever you typed.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To compare the letters: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strcmp(answer, "yes") == 0</a:t>
            </a:r>
            <a:endParaRPr lang="en-US" sz="3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strcmp: three answers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27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8046720" cy="28105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1828927"/>
            <a:ext cx="804672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182892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2178177"/>
            <a:ext cx="804672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17817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2527427"/>
            <a:ext cx="804672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252742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ode"/>
          <p:cNvSpPr/>
          <p:nvPr/>
        </p:nvSpPr>
        <p:spPr>
          <a:xfrm>
            <a:off x="548640" y="1261872"/>
            <a:ext cx="8046720" cy="28105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printf("%d\n", strcmp("apple", "banana"));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printf("%d\n", strcmp("banana", "apple"));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printf("%d\n", strcmp("apple", "apple"));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printf("%d\n", strcmp("Zoo", "apple"));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</p:txBody>
      </p:sp>
      <p:sp>
        <p:nvSpPr>
          <p:cNvPr id="14" name="Shape 14"/>
          <p:cNvSpPr/>
          <p:nvPr/>
        </p:nvSpPr>
        <p:spPr>
          <a:xfrm>
            <a:off x="8869680" y="1261872"/>
            <a:ext cx="277337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5" name="Shape 15"/>
          <p:cNvSpPr/>
          <p:nvPr/>
        </p:nvSpPr>
        <p:spPr>
          <a:xfrm>
            <a:off x="8869680" y="1645920"/>
            <a:ext cx="2773375" cy="1889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ode"/>
          <p:cNvSpPr/>
          <p:nvPr/>
        </p:nvSpPr>
        <p:spPr>
          <a:xfrm>
            <a:off x="8869680" y="1645920"/>
            <a:ext cx="2773375" cy="1889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-1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1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0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-1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What strcmp(a, b) says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28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212080"/>
            <a:ext cx="110944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212080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212080"/>
            <a:ext cx="109846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Only the sign matters. Capitals come before small letters: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"Zoo"</a:t>
            </a:r>
            <a:r>
              <a:rPr lang="en-US" sz="2400" dirty="0">
                <a:solidFill>
                  <a:srgbClr val="18324A"/>
                </a:solidFill>
              </a:rPr>
              <a:t> is before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"apple"</a:t>
            </a:r>
            <a:r>
              <a:rPr lang="en-US" sz="2400" dirty="0">
                <a:solidFill>
                  <a:srgbClr val="18324A"/>
                </a:solidFill>
              </a:rPr>
              <a:t> (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'Z'</a:t>
            </a:r>
            <a:r>
              <a:rPr lang="en-US" sz="2400" dirty="0">
                <a:solidFill>
                  <a:srgbClr val="18324A"/>
                </a:solidFill>
              </a:rPr>
              <a:t> is 90,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'a'</a:t>
            </a:r>
            <a:r>
              <a:rPr lang="en-US" sz="2400" dirty="0">
                <a:solidFill>
                  <a:srgbClr val="18324A"/>
                </a:solidFill>
              </a:rPr>
              <a:t> is 97).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1946389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result</a:t>
            </a:r>
            <a:endParaRPr lang="en-US" sz="1800" dirty="0"/>
          </a:p>
        </p:txBody>
      </p:sp>
      <p:sp>
        <p:nvSpPr>
          <p:cNvPr id="10" name="Shape 10"/>
          <p:cNvSpPr/>
          <p:nvPr/>
        </p:nvSpPr>
        <p:spPr>
          <a:xfrm>
            <a:off x="2495029" y="1261872"/>
            <a:ext cx="3114222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meaning</a:t>
            </a:r>
            <a:endParaRPr lang="en-US" sz="1800" dirty="0"/>
          </a:p>
        </p:txBody>
      </p:sp>
      <p:sp>
        <p:nvSpPr>
          <p:cNvPr id="11" name="Shape 11"/>
          <p:cNvSpPr/>
          <p:nvPr/>
        </p:nvSpPr>
        <p:spPr>
          <a:xfrm>
            <a:off x="5609250" y="1261872"/>
            <a:ext cx="6033805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example</a:t>
            </a:r>
            <a:endParaRPr lang="en-US" sz="1800" dirty="0"/>
          </a:p>
        </p:txBody>
      </p:sp>
      <p:sp>
        <p:nvSpPr>
          <p:cNvPr id="12" name="Shape 12"/>
          <p:cNvSpPr/>
          <p:nvPr/>
        </p:nvSpPr>
        <p:spPr>
          <a:xfrm>
            <a:off x="548640" y="1920240"/>
            <a:ext cx="194638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negative</a:t>
            </a:r>
            <a:endParaRPr lang="en-US" sz="2600" dirty="0"/>
          </a:p>
        </p:txBody>
      </p:sp>
      <p:sp>
        <p:nvSpPr>
          <p:cNvPr id="13" name="Shape 13"/>
          <p:cNvSpPr/>
          <p:nvPr/>
        </p:nvSpPr>
        <p:spPr>
          <a:xfrm>
            <a:off x="2495029" y="1920240"/>
            <a:ext cx="311422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a</a:t>
            </a:r>
            <a:r>
              <a:rPr lang="en-US" sz="2600" dirty="0">
                <a:solidFill>
                  <a:srgbClr val="18324A"/>
                </a:solidFill>
              </a:rPr>
              <a:t> comes first</a:t>
            </a:r>
            <a:endParaRPr lang="en-US" sz="2600" dirty="0"/>
          </a:p>
        </p:txBody>
      </p:sp>
      <p:sp>
        <p:nvSpPr>
          <p:cNvPr id="14" name="Shape 14"/>
          <p:cNvSpPr/>
          <p:nvPr/>
        </p:nvSpPr>
        <p:spPr>
          <a:xfrm>
            <a:off x="5609250" y="1920240"/>
            <a:ext cx="603380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strcmp("apple", "banana")</a:t>
            </a:r>
            <a:endParaRPr lang="en-US" sz="2600" dirty="0"/>
          </a:p>
        </p:txBody>
      </p:sp>
      <p:sp>
        <p:nvSpPr>
          <p:cNvPr id="15" name="Shape 15"/>
          <p:cNvSpPr/>
          <p:nvPr/>
        </p:nvSpPr>
        <p:spPr>
          <a:xfrm>
            <a:off x="548640" y="2578608"/>
            <a:ext cx="1946389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0</a:t>
            </a:r>
            <a:endParaRPr lang="en-US" sz="2600" dirty="0"/>
          </a:p>
        </p:txBody>
      </p:sp>
      <p:sp>
        <p:nvSpPr>
          <p:cNvPr id="16" name="Shape 16"/>
          <p:cNvSpPr/>
          <p:nvPr/>
        </p:nvSpPr>
        <p:spPr>
          <a:xfrm>
            <a:off x="2495029" y="2578608"/>
            <a:ext cx="3114222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equal</a:t>
            </a:r>
            <a:endParaRPr lang="en-US" sz="2600" dirty="0"/>
          </a:p>
        </p:txBody>
      </p:sp>
      <p:sp>
        <p:nvSpPr>
          <p:cNvPr id="17" name="Shape 17"/>
          <p:cNvSpPr/>
          <p:nvPr/>
        </p:nvSpPr>
        <p:spPr>
          <a:xfrm>
            <a:off x="5609250" y="2578608"/>
            <a:ext cx="6033805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strcmp("apple", "apple")</a:t>
            </a:r>
            <a:endParaRPr lang="en-US" sz="2600" dirty="0"/>
          </a:p>
        </p:txBody>
      </p:sp>
      <p:sp>
        <p:nvSpPr>
          <p:cNvPr id="18" name="Shape 18"/>
          <p:cNvSpPr/>
          <p:nvPr/>
        </p:nvSpPr>
        <p:spPr>
          <a:xfrm>
            <a:off x="548640" y="3236976"/>
            <a:ext cx="194638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positive</a:t>
            </a:r>
            <a:endParaRPr lang="en-US" sz="2600" dirty="0"/>
          </a:p>
        </p:txBody>
      </p:sp>
      <p:sp>
        <p:nvSpPr>
          <p:cNvPr id="19" name="Shape 19"/>
          <p:cNvSpPr/>
          <p:nvPr/>
        </p:nvSpPr>
        <p:spPr>
          <a:xfrm>
            <a:off x="2495029" y="3236976"/>
            <a:ext cx="311422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a</a:t>
            </a:r>
            <a:r>
              <a:rPr lang="en-US" sz="2600" dirty="0">
                <a:solidFill>
                  <a:srgbClr val="18324A"/>
                </a:solidFill>
              </a:rPr>
              <a:t> comes later</a:t>
            </a:r>
            <a:endParaRPr lang="en-US" sz="2600" dirty="0"/>
          </a:p>
        </p:txBody>
      </p:sp>
      <p:sp>
        <p:nvSpPr>
          <p:cNvPr id="20" name="Shape 20"/>
          <p:cNvSpPr/>
          <p:nvPr/>
        </p:nvSpPr>
        <p:spPr>
          <a:xfrm>
            <a:off x="5609250" y="3236976"/>
            <a:ext cx="603380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strcmp("banana", "apple")</a:t>
            </a:r>
            <a:endParaRPr lang="en-US" sz="2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A password check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29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315200" cy="4556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3006852"/>
            <a:ext cx="731520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3006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7315200" cy="4556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char word[20];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printf("Password: ");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scanf("%19s", word);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(strcmp(word, "ada2026") == 0)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printf("Welcome\n");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 else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printf("Wrong password\n");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400" dirty="0"/>
          </a:p>
        </p:txBody>
      </p:sp>
      <p:sp>
        <p:nvSpPr>
          <p:cNvPr id="10" name="Shape 10"/>
          <p:cNvSpPr/>
          <p:nvPr/>
        </p:nvSpPr>
        <p:spPr>
          <a:xfrm>
            <a:off x="8138160" y="1261872"/>
            <a:ext cx="350489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Two runs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8138160" y="1645920"/>
            <a:ext cx="3504895" cy="2270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8138160" y="1645920"/>
            <a:ext cx="3504895" cy="2270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Password: ada2026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Welcome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Password: ADA2026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Wrong password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8138160" y="4191000"/>
            <a:ext cx="350489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8138160" y="4191000"/>
            <a:ext cx="109728" cy="6858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8247888" y="4191000"/>
            <a:ext cx="339516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Equal means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== 0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Which name comes first?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30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315200" cy="49060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3137027"/>
            <a:ext cx="7315200" cy="4127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3137027"/>
            <a:ext cx="82296" cy="412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7315200" cy="49060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char a[20], b[20];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printf("Two names: ");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scanf("%19s %19s", a, b);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(strcmp(a, b) &lt; 0) {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printf("First: %s\n", a);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 else {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printf("First: %s\n", b);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600" dirty="0"/>
          </a:p>
        </p:txBody>
      </p:sp>
      <p:sp>
        <p:nvSpPr>
          <p:cNvPr id="10" name="Shape 10"/>
          <p:cNvSpPr/>
          <p:nvPr/>
        </p:nvSpPr>
        <p:spPr>
          <a:xfrm>
            <a:off x="8138160" y="1261872"/>
            <a:ext cx="350489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8138160" y="1645920"/>
            <a:ext cx="3504895" cy="1000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8138160" y="1645920"/>
            <a:ext cx="3504895" cy="1000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Two names: Murad Aysel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First: Aysel</a:t>
            </a:r>
            <a:endParaRPr lang="en-US" sz="2000" dirty="0"/>
          </a:p>
        </p:txBody>
      </p:sp>
      <p:sp>
        <p:nvSpPr>
          <p:cNvPr id="13" name="Shape 13"/>
          <p:cNvSpPr/>
          <p:nvPr/>
        </p:nvSpPr>
        <p:spPr>
          <a:xfrm>
            <a:off x="8138160" y="2921000"/>
            <a:ext cx="350489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8138160" y="2921000"/>
            <a:ext cx="109728" cy="6858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8247888" y="2921000"/>
            <a:ext cx="339516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&lt; 0</a:t>
            </a:r>
            <a:r>
              <a:rPr lang="en-US" sz="2400" dirty="0">
                <a:solidFill>
                  <a:srgbClr val="18324A"/>
                </a:solidFill>
              </a:rPr>
              <a:t>: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a</a:t>
            </a:r>
            <a:r>
              <a:rPr lang="en-US" sz="2400" dirty="0">
                <a:solidFill>
                  <a:srgbClr val="18324A"/>
                </a:solidFill>
              </a:rPr>
              <a:t> comes first.</a:t>
            </a:r>
            <a:endParaRPr lang="en-US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2011680"/>
            <a:ext cx="1188720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4</a:t>
            </a:r>
            <a:endParaRPr lang="en-US" sz="5400" dirty="0"/>
          </a:p>
        </p:txBody>
      </p:sp>
      <p:sp>
        <p:nvSpPr>
          <p:cNvPr id="3" name="Shape 3"/>
          <p:cNvSpPr/>
          <p:nvPr/>
        </p:nvSpPr>
        <p:spPr>
          <a:xfrm>
            <a:off x="2286000" y="1920240"/>
            <a:ext cx="93268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By hand</a:t>
            </a:r>
            <a:endParaRPr lang="en-US" sz="4800" dirty="0"/>
          </a:p>
        </p:txBody>
      </p:sp>
      <p:sp>
        <p:nvSpPr>
          <p:cNvPr id="4" name="Shape 4"/>
          <p:cNvSpPr/>
          <p:nvPr/>
        </p:nvSpPr>
        <p:spPr>
          <a:xfrm>
            <a:off x="2286000" y="3474720"/>
            <a:ext cx="9326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D7E3F0"/>
                </a:solidFill>
              </a:rPr>
              <a:t>Reverse a word, test a palindrome</a:t>
            </a:r>
            <a:endParaRPr lang="en-US" sz="2600" dirty="0"/>
          </a:p>
        </p:txBody>
      </p:sp>
      <p:sp>
        <p:nvSpPr>
          <p:cNvPr id="5" name="Shape 5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CSCI 1101 · Programming Principles I · Class 12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Reverse: swap from both ends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32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49060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1898777"/>
            <a:ext cx="6766560" cy="4127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1898777"/>
            <a:ext cx="82296" cy="412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2311527"/>
            <a:ext cx="6766560" cy="4127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311527"/>
            <a:ext cx="82296" cy="412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3137027"/>
            <a:ext cx="6766560" cy="4127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3137027"/>
            <a:ext cx="82296" cy="412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548640" y="3549777"/>
            <a:ext cx="6766560" cy="4127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548640" y="3549777"/>
            <a:ext cx="82296" cy="412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548640" y="3962527"/>
            <a:ext cx="6766560" cy="4127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548640" y="3962527"/>
            <a:ext cx="82296" cy="412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Code"/>
          <p:cNvSpPr/>
          <p:nvPr/>
        </p:nvSpPr>
        <p:spPr>
          <a:xfrm>
            <a:off x="548640" y="1261872"/>
            <a:ext cx="6766560" cy="49060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void reverse(char s[]) {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int i = 0;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int j = strlen(s) - 1;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while (i &lt; j) {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char temp = s[i];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s[i] = s[j];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s[j] = temp;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i++;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j--;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600" dirty="0"/>
          </a:p>
        </p:txBody>
      </p:sp>
      <p:sp>
        <p:nvSpPr>
          <p:cNvPr id="18" name="Shape 18"/>
          <p:cNvSpPr/>
          <p:nvPr/>
        </p:nvSpPr>
        <p:spPr>
          <a:xfrm>
            <a:off x="7589520" y="1261872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7589520" y="1261872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" name="Callout"/>
          <p:cNvSpPr/>
          <p:nvPr/>
        </p:nvSpPr>
        <p:spPr>
          <a:xfrm>
            <a:off x="7699248" y="1261872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i</a:t>
            </a:r>
            <a:r>
              <a:rPr lang="en-US" sz="2400" dirty="0">
                <a:solidFill>
                  <a:srgbClr val="18324A"/>
                </a:solidFill>
              </a:rPr>
              <a:t> from the left,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j</a:t>
            </a:r>
            <a:r>
              <a:rPr lang="en-US" sz="2400" dirty="0">
                <a:solidFill>
                  <a:srgbClr val="18324A"/>
                </a:solidFill>
              </a:rPr>
              <a:t> from the right.</a:t>
            </a:r>
            <a:endParaRPr lang="en-US" sz="2400" dirty="0"/>
          </a:p>
        </p:txBody>
      </p:sp>
      <p:sp>
        <p:nvSpPr>
          <p:cNvPr id="21" name="Shape 21"/>
          <p:cNvSpPr/>
          <p:nvPr/>
        </p:nvSpPr>
        <p:spPr>
          <a:xfrm>
            <a:off x="7589520" y="2514600"/>
            <a:ext cx="405353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2" name="Shape 22"/>
          <p:cNvSpPr/>
          <p:nvPr/>
        </p:nvSpPr>
        <p:spPr>
          <a:xfrm>
            <a:off x="7589520" y="2514600"/>
            <a:ext cx="109728" cy="685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3" name="Callout"/>
          <p:cNvSpPr/>
          <p:nvPr/>
        </p:nvSpPr>
        <p:spPr>
          <a:xfrm>
            <a:off x="7699248" y="2514600"/>
            <a:ext cx="394380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The swap from class 10.</a:t>
            </a:r>
            <a:endParaRPr lang="en-US" sz="2400" dirty="0"/>
          </a:p>
        </p:txBody>
      </p:sp>
      <p:sp>
        <p:nvSpPr>
          <p:cNvPr id="24" name="Shape 24"/>
          <p:cNvSpPr/>
          <p:nvPr/>
        </p:nvSpPr>
        <p:spPr>
          <a:xfrm>
            <a:off x="7589520" y="3401568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5" name="Shape 25"/>
          <p:cNvSpPr/>
          <p:nvPr/>
        </p:nvSpPr>
        <p:spPr>
          <a:xfrm>
            <a:off x="7589520" y="3401568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6" name="Callout"/>
          <p:cNvSpPr/>
          <p:nvPr/>
        </p:nvSpPr>
        <p:spPr>
          <a:xfrm>
            <a:off x="7699248" y="3401568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No size parameter: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'\0'</a:t>
            </a:r>
            <a:r>
              <a:rPr lang="en-US" sz="2400" dirty="0">
                <a:solidFill>
                  <a:srgbClr val="18324A"/>
                </a:solidFill>
              </a:rPr>
              <a:t> marks the end.</a:t>
            </a:r>
            <a:endParaRPr lang="en-US" sz="2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Reverse "hello", step by step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33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577840"/>
            <a:ext cx="109728" cy="6858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577840"/>
            <a:ext cx="1098468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j</a:t>
            </a:r>
            <a:r>
              <a:rPr lang="en-US" sz="2400" dirty="0">
                <a:solidFill>
                  <a:srgbClr val="18324A"/>
                </a:solidFill>
              </a:rPr>
              <a:t> starts at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strlen - 1</a:t>
            </a:r>
            <a:r>
              <a:rPr lang="en-US" sz="2400" dirty="0">
                <a:solidFill>
                  <a:srgbClr val="18324A"/>
                </a:solidFill>
              </a:rPr>
              <a:t> = 4: the last letter.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5669280" cy="3858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746502"/>
            <a:ext cx="566928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2746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3064002"/>
            <a:ext cx="566928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548640" y="3064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548640" y="3381502"/>
            <a:ext cx="566928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548640" y="3381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ode"/>
          <p:cNvSpPr/>
          <p:nvPr/>
        </p:nvSpPr>
        <p:spPr>
          <a:xfrm>
            <a:off x="548640" y="1261872"/>
            <a:ext cx="5669280" cy="3858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void reverse(char s[])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i = 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j = strlen(s) - 1;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while (i &lt; j)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char temp = s[i];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s[i] = s[j];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s[j] = temp;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i++;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j--;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  <p:sp>
        <p:nvSpPr>
          <p:cNvPr id="17" name="Shape 17"/>
          <p:cNvSpPr/>
          <p:nvPr/>
        </p:nvSpPr>
        <p:spPr>
          <a:xfrm>
            <a:off x="6492240" y="1261872"/>
            <a:ext cx="618098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</a:t>
            </a:r>
            <a:endParaRPr lang="en-US" sz="1800" dirty="0"/>
          </a:p>
        </p:txBody>
      </p:sp>
      <p:sp>
        <p:nvSpPr>
          <p:cNvPr id="18" name="Shape 18"/>
          <p:cNvSpPr/>
          <p:nvPr/>
        </p:nvSpPr>
        <p:spPr>
          <a:xfrm>
            <a:off x="7110338" y="1261872"/>
            <a:ext cx="618098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j</a:t>
            </a:r>
            <a:endParaRPr lang="en-US" sz="1800" dirty="0"/>
          </a:p>
        </p:txBody>
      </p:sp>
      <p:sp>
        <p:nvSpPr>
          <p:cNvPr id="19" name="Shape 19"/>
          <p:cNvSpPr/>
          <p:nvPr/>
        </p:nvSpPr>
        <p:spPr>
          <a:xfrm>
            <a:off x="7728436" y="1261872"/>
            <a:ext cx="2472391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swap</a:t>
            </a:r>
            <a:endParaRPr lang="en-US" sz="1800" dirty="0"/>
          </a:p>
        </p:txBody>
      </p:sp>
      <p:sp>
        <p:nvSpPr>
          <p:cNvPr id="20" name="Shape 20"/>
          <p:cNvSpPr/>
          <p:nvPr/>
        </p:nvSpPr>
        <p:spPr>
          <a:xfrm>
            <a:off x="10200827" y="1261872"/>
            <a:ext cx="1442228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word</a:t>
            </a:r>
            <a:endParaRPr lang="en-US" sz="1800" dirty="0"/>
          </a:p>
        </p:txBody>
      </p:sp>
      <p:sp>
        <p:nvSpPr>
          <p:cNvPr id="21" name="Shape 21"/>
          <p:cNvSpPr/>
          <p:nvPr/>
        </p:nvSpPr>
        <p:spPr>
          <a:xfrm>
            <a:off x="6492240" y="1920240"/>
            <a:ext cx="61809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-</a:t>
            </a:r>
            <a:endParaRPr lang="en-US" sz="2400" dirty="0"/>
          </a:p>
        </p:txBody>
      </p:sp>
      <p:sp>
        <p:nvSpPr>
          <p:cNvPr id="22" name="Shape 22"/>
          <p:cNvSpPr/>
          <p:nvPr/>
        </p:nvSpPr>
        <p:spPr>
          <a:xfrm>
            <a:off x="7110338" y="1920240"/>
            <a:ext cx="61809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-</a:t>
            </a:r>
            <a:endParaRPr lang="en-US" sz="2400" dirty="0"/>
          </a:p>
        </p:txBody>
      </p:sp>
      <p:sp>
        <p:nvSpPr>
          <p:cNvPr id="23" name="Shape 23"/>
          <p:cNvSpPr/>
          <p:nvPr/>
        </p:nvSpPr>
        <p:spPr>
          <a:xfrm>
            <a:off x="7728436" y="1920240"/>
            <a:ext cx="2472391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24" name="Shape 24"/>
          <p:cNvSpPr/>
          <p:nvPr/>
        </p:nvSpPr>
        <p:spPr>
          <a:xfrm>
            <a:off x="10200827" y="1920240"/>
            <a:ext cx="144222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hello</a:t>
            </a:r>
            <a:endParaRPr lang="en-US" sz="2400" dirty="0"/>
          </a:p>
        </p:txBody>
      </p:sp>
      <p:sp>
        <p:nvSpPr>
          <p:cNvPr id="25" name="Shape 25"/>
          <p:cNvSpPr/>
          <p:nvPr/>
        </p:nvSpPr>
        <p:spPr>
          <a:xfrm>
            <a:off x="6492240" y="2578608"/>
            <a:ext cx="618098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</a:rPr>
              <a:t>0</a:t>
            </a:r>
            <a:endParaRPr lang="en-US" sz="2400" dirty="0"/>
          </a:p>
        </p:txBody>
      </p:sp>
      <p:sp>
        <p:nvSpPr>
          <p:cNvPr id="26" name="Shape 26"/>
          <p:cNvSpPr/>
          <p:nvPr/>
        </p:nvSpPr>
        <p:spPr>
          <a:xfrm>
            <a:off x="7110338" y="2578608"/>
            <a:ext cx="618098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</a:rPr>
              <a:t>4</a:t>
            </a:r>
            <a:endParaRPr lang="en-US" sz="2400" dirty="0"/>
          </a:p>
        </p:txBody>
      </p:sp>
      <p:sp>
        <p:nvSpPr>
          <p:cNvPr id="27" name="Shape 27"/>
          <p:cNvSpPr/>
          <p:nvPr/>
        </p:nvSpPr>
        <p:spPr>
          <a:xfrm>
            <a:off x="7728436" y="2578608"/>
            <a:ext cx="2472391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</a:rPr>
              <a:t>h, o</a:t>
            </a:r>
            <a:endParaRPr lang="en-US" sz="2400" dirty="0"/>
          </a:p>
        </p:txBody>
      </p:sp>
      <p:sp>
        <p:nvSpPr>
          <p:cNvPr id="28" name="Shape 28"/>
          <p:cNvSpPr/>
          <p:nvPr/>
        </p:nvSpPr>
        <p:spPr>
          <a:xfrm>
            <a:off x="10200827" y="2578608"/>
            <a:ext cx="1442228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oellh</a:t>
            </a:r>
            <a:endParaRPr lang="en-US" sz="2400" dirty="0"/>
          </a:p>
        </p:txBody>
      </p:sp>
      <p:sp>
        <p:nvSpPr>
          <p:cNvPr id="29" name="Shape 29"/>
          <p:cNvSpPr/>
          <p:nvPr/>
        </p:nvSpPr>
        <p:spPr>
          <a:xfrm>
            <a:off x="6492240" y="3236976"/>
            <a:ext cx="61809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30" name="Shape 30"/>
          <p:cNvSpPr/>
          <p:nvPr/>
        </p:nvSpPr>
        <p:spPr>
          <a:xfrm>
            <a:off x="7110338" y="3236976"/>
            <a:ext cx="61809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31" name="Shape 31"/>
          <p:cNvSpPr/>
          <p:nvPr/>
        </p:nvSpPr>
        <p:spPr>
          <a:xfrm>
            <a:off x="7728436" y="3236976"/>
            <a:ext cx="2472391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32" name="Shape 32"/>
          <p:cNvSpPr/>
          <p:nvPr/>
        </p:nvSpPr>
        <p:spPr>
          <a:xfrm>
            <a:off x="10200827" y="3236976"/>
            <a:ext cx="144222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33" name="Shape 33"/>
          <p:cNvSpPr/>
          <p:nvPr/>
        </p:nvSpPr>
        <p:spPr>
          <a:xfrm>
            <a:off x="6492240" y="3895344"/>
            <a:ext cx="61809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34" name="Shape 34"/>
          <p:cNvSpPr/>
          <p:nvPr/>
        </p:nvSpPr>
        <p:spPr>
          <a:xfrm>
            <a:off x="7110338" y="3895344"/>
            <a:ext cx="61809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35" name="Shape 35"/>
          <p:cNvSpPr/>
          <p:nvPr/>
        </p:nvSpPr>
        <p:spPr>
          <a:xfrm>
            <a:off x="7728436" y="3895344"/>
            <a:ext cx="2472391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36" name="Shape 36"/>
          <p:cNvSpPr/>
          <p:nvPr/>
        </p:nvSpPr>
        <p:spPr>
          <a:xfrm>
            <a:off x="10200827" y="3895344"/>
            <a:ext cx="144222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Reverse "hello", step by step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34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577840"/>
            <a:ext cx="109728" cy="6858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577840"/>
            <a:ext cx="1098468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The middle letter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l</a:t>
            </a:r>
            <a:r>
              <a:rPr lang="en-US" sz="2400" dirty="0">
                <a:solidFill>
                  <a:srgbClr val="18324A"/>
                </a:solidFill>
              </a:rPr>
              <a:t> stays where it is. Output: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olleh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5669280" cy="3858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429002"/>
            <a:ext cx="566928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2429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548640" y="1261872"/>
            <a:ext cx="5669280" cy="3858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void reverse(char s[])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i = 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j = strlen(s) - 1;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while (i &lt; j)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char temp = s[i];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s[i] = s[j];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s[j] = temp;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i++;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j--;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  <p:sp>
        <p:nvSpPr>
          <p:cNvPr id="13" name="Shape 13"/>
          <p:cNvSpPr/>
          <p:nvPr/>
        </p:nvSpPr>
        <p:spPr>
          <a:xfrm>
            <a:off x="6492240" y="1261872"/>
            <a:ext cx="618098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</a:t>
            </a:r>
            <a:endParaRPr lang="en-US" sz="1800" dirty="0"/>
          </a:p>
        </p:txBody>
      </p:sp>
      <p:sp>
        <p:nvSpPr>
          <p:cNvPr id="14" name="Shape 14"/>
          <p:cNvSpPr/>
          <p:nvPr/>
        </p:nvSpPr>
        <p:spPr>
          <a:xfrm>
            <a:off x="7110338" y="1261872"/>
            <a:ext cx="618098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j</a:t>
            </a:r>
            <a:endParaRPr lang="en-US" sz="1800" dirty="0"/>
          </a:p>
        </p:txBody>
      </p:sp>
      <p:sp>
        <p:nvSpPr>
          <p:cNvPr id="15" name="Shape 15"/>
          <p:cNvSpPr/>
          <p:nvPr/>
        </p:nvSpPr>
        <p:spPr>
          <a:xfrm>
            <a:off x="7728436" y="1261872"/>
            <a:ext cx="2472391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swap</a:t>
            </a:r>
            <a:endParaRPr lang="en-US" sz="1800" dirty="0"/>
          </a:p>
        </p:txBody>
      </p:sp>
      <p:sp>
        <p:nvSpPr>
          <p:cNvPr id="16" name="Shape 16"/>
          <p:cNvSpPr/>
          <p:nvPr/>
        </p:nvSpPr>
        <p:spPr>
          <a:xfrm>
            <a:off x="10200827" y="1261872"/>
            <a:ext cx="1442228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word</a:t>
            </a:r>
            <a:endParaRPr lang="en-US" sz="1800" dirty="0"/>
          </a:p>
        </p:txBody>
      </p:sp>
      <p:sp>
        <p:nvSpPr>
          <p:cNvPr id="17" name="Shape 17"/>
          <p:cNvSpPr/>
          <p:nvPr/>
        </p:nvSpPr>
        <p:spPr>
          <a:xfrm>
            <a:off x="6492240" y="1920240"/>
            <a:ext cx="61809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-</a:t>
            </a:r>
            <a:endParaRPr lang="en-US" sz="2400" dirty="0"/>
          </a:p>
        </p:txBody>
      </p:sp>
      <p:sp>
        <p:nvSpPr>
          <p:cNvPr id="18" name="Shape 18"/>
          <p:cNvSpPr/>
          <p:nvPr/>
        </p:nvSpPr>
        <p:spPr>
          <a:xfrm>
            <a:off x="7110338" y="1920240"/>
            <a:ext cx="61809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-</a:t>
            </a:r>
            <a:endParaRPr lang="en-US" sz="2400" dirty="0"/>
          </a:p>
        </p:txBody>
      </p:sp>
      <p:sp>
        <p:nvSpPr>
          <p:cNvPr id="19" name="Shape 19"/>
          <p:cNvSpPr/>
          <p:nvPr/>
        </p:nvSpPr>
        <p:spPr>
          <a:xfrm>
            <a:off x="7728436" y="1920240"/>
            <a:ext cx="2472391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20" name="Shape 20"/>
          <p:cNvSpPr/>
          <p:nvPr/>
        </p:nvSpPr>
        <p:spPr>
          <a:xfrm>
            <a:off x="10200827" y="1920240"/>
            <a:ext cx="144222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hello</a:t>
            </a:r>
            <a:endParaRPr lang="en-US" sz="2400" dirty="0"/>
          </a:p>
        </p:txBody>
      </p:sp>
      <p:sp>
        <p:nvSpPr>
          <p:cNvPr id="21" name="Shape 21"/>
          <p:cNvSpPr/>
          <p:nvPr/>
        </p:nvSpPr>
        <p:spPr>
          <a:xfrm>
            <a:off x="6492240" y="2578608"/>
            <a:ext cx="618098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0</a:t>
            </a:r>
            <a:endParaRPr lang="en-US" sz="2400" dirty="0"/>
          </a:p>
        </p:txBody>
      </p:sp>
      <p:sp>
        <p:nvSpPr>
          <p:cNvPr id="22" name="Shape 22"/>
          <p:cNvSpPr/>
          <p:nvPr/>
        </p:nvSpPr>
        <p:spPr>
          <a:xfrm>
            <a:off x="7110338" y="2578608"/>
            <a:ext cx="618098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4</a:t>
            </a:r>
            <a:endParaRPr lang="en-US" sz="2400" dirty="0"/>
          </a:p>
        </p:txBody>
      </p:sp>
      <p:sp>
        <p:nvSpPr>
          <p:cNvPr id="23" name="Shape 23"/>
          <p:cNvSpPr/>
          <p:nvPr/>
        </p:nvSpPr>
        <p:spPr>
          <a:xfrm>
            <a:off x="7728436" y="2578608"/>
            <a:ext cx="2472391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h, o</a:t>
            </a:r>
            <a:endParaRPr lang="en-US" sz="2400" dirty="0"/>
          </a:p>
        </p:txBody>
      </p:sp>
      <p:sp>
        <p:nvSpPr>
          <p:cNvPr id="24" name="Shape 24"/>
          <p:cNvSpPr/>
          <p:nvPr/>
        </p:nvSpPr>
        <p:spPr>
          <a:xfrm>
            <a:off x="10200827" y="2578608"/>
            <a:ext cx="1442228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oellh</a:t>
            </a:r>
            <a:endParaRPr lang="en-US" sz="2400" dirty="0"/>
          </a:p>
        </p:txBody>
      </p:sp>
      <p:sp>
        <p:nvSpPr>
          <p:cNvPr id="25" name="Shape 25"/>
          <p:cNvSpPr/>
          <p:nvPr/>
        </p:nvSpPr>
        <p:spPr>
          <a:xfrm>
            <a:off x="6492240" y="3236976"/>
            <a:ext cx="61809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1</a:t>
            </a:r>
            <a:endParaRPr lang="en-US" sz="2400" dirty="0"/>
          </a:p>
        </p:txBody>
      </p:sp>
      <p:sp>
        <p:nvSpPr>
          <p:cNvPr id="26" name="Shape 26"/>
          <p:cNvSpPr/>
          <p:nvPr/>
        </p:nvSpPr>
        <p:spPr>
          <a:xfrm>
            <a:off x="7110338" y="3236976"/>
            <a:ext cx="61809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3</a:t>
            </a:r>
            <a:endParaRPr lang="en-US" sz="2400" dirty="0"/>
          </a:p>
        </p:txBody>
      </p:sp>
      <p:sp>
        <p:nvSpPr>
          <p:cNvPr id="27" name="Shape 27"/>
          <p:cNvSpPr/>
          <p:nvPr/>
        </p:nvSpPr>
        <p:spPr>
          <a:xfrm>
            <a:off x="7728436" y="3236976"/>
            <a:ext cx="2472391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e, l</a:t>
            </a:r>
            <a:endParaRPr lang="en-US" sz="2400" dirty="0"/>
          </a:p>
        </p:txBody>
      </p:sp>
      <p:sp>
        <p:nvSpPr>
          <p:cNvPr id="28" name="Shape 28"/>
          <p:cNvSpPr/>
          <p:nvPr/>
        </p:nvSpPr>
        <p:spPr>
          <a:xfrm>
            <a:off x="10200827" y="3236976"/>
            <a:ext cx="144222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olleh</a:t>
            </a:r>
            <a:endParaRPr lang="en-US" sz="2400" dirty="0"/>
          </a:p>
        </p:txBody>
      </p:sp>
      <p:sp>
        <p:nvSpPr>
          <p:cNvPr id="29" name="Shape 29"/>
          <p:cNvSpPr/>
          <p:nvPr/>
        </p:nvSpPr>
        <p:spPr>
          <a:xfrm>
            <a:off x="6492240" y="3895344"/>
            <a:ext cx="618098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</a:rPr>
              <a:t>2</a:t>
            </a:r>
            <a:endParaRPr lang="en-US" sz="2400" dirty="0"/>
          </a:p>
        </p:txBody>
      </p:sp>
      <p:sp>
        <p:nvSpPr>
          <p:cNvPr id="30" name="Shape 30"/>
          <p:cNvSpPr/>
          <p:nvPr/>
        </p:nvSpPr>
        <p:spPr>
          <a:xfrm>
            <a:off x="7110338" y="3895344"/>
            <a:ext cx="618098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</a:rPr>
              <a:t>2</a:t>
            </a:r>
            <a:endParaRPr lang="en-US" sz="2400" dirty="0"/>
          </a:p>
        </p:txBody>
      </p:sp>
      <p:sp>
        <p:nvSpPr>
          <p:cNvPr id="31" name="Shape 31"/>
          <p:cNvSpPr/>
          <p:nvPr/>
        </p:nvSpPr>
        <p:spPr>
          <a:xfrm>
            <a:off x="7728436" y="3895344"/>
            <a:ext cx="2472391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</a:rPr>
              <a:t>stop: </a:t>
            </a:r>
            <a:r>
              <a:rPr lang="en-US" sz="2400" b="1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i &lt; j</a:t>
            </a:r>
            <a:r>
              <a:rPr lang="en-US" sz="2400" b="1" dirty="0">
                <a:solidFill>
                  <a:srgbClr val="18324A"/>
                </a:solidFill>
              </a:rPr>
              <a:t> is false</a:t>
            </a:r>
            <a:endParaRPr lang="en-US" sz="2400" dirty="0"/>
          </a:p>
        </p:txBody>
      </p:sp>
      <p:sp>
        <p:nvSpPr>
          <p:cNvPr id="32" name="Shape 32"/>
          <p:cNvSpPr/>
          <p:nvPr/>
        </p:nvSpPr>
        <p:spPr>
          <a:xfrm>
            <a:off x="10200827" y="3895344"/>
            <a:ext cx="1442228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olleh</a:t>
            </a:r>
            <a:endParaRPr lang="en-US" sz="2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A palindrome reads the same both ways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35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680960" cy="4366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378202"/>
            <a:ext cx="7680960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3782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2822702"/>
            <a:ext cx="7680960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8227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3267202"/>
            <a:ext cx="7680960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32672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ode"/>
          <p:cNvSpPr/>
          <p:nvPr/>
        </p:nvSpPr>
        <p:spPr>
          <a:xfrm>
            <a:off x="548640" y="1261872"/>
            <a:ext cx="7680960" cy="4366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is_palindrome(char s[]) {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n = strlen(s);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i = 0; i &lt; n / 2; i++) {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if (s[i] != s[n - 1 - i]) {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return 0;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}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1;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800" dirty="0"/>
          </a:p>
        </p:txBody>
      </p:sp>
      <p:sp>
        <p:nvSpPr>
          <p:cNvPr id="14" name="Shape 14"/>
          <p:cNvSpPr/>
          <p:nvPr/>
        </p:nvSpPr>
        <p:spPr>
          <a:xfrm>
            <a:off x="8503920" y="1261872"/>
            <a:ext cx="31391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8503920" y="1261872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allout"/>
          <p:cNvSpPr/>
          <p:nvPr/>
        </p:nvSpPr>
        <p:spPr>
          <a:xfrm>
            <a:off x="8613648" y="1261872"/>
            <a:ext cx="30294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s[i]</a:t>
            </a:r>
            <a:r>
              <a:rPr lang="en-US" sz="2400" dirty="0">
                <a:solidFill>
                  <a:srgbClr val="18324A"/>
                </a:solidFill>
              </a:rPr>
              <a:t> and its partner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s[n - 1 - i]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  <p:sp>
        <p:nvSpPr>
          <p:cNvPr id="17" name="Shape 17"/>
          <p:cNvSpPr/>
          <p:nvPr/>
        </p:nvSpPr>
        <p:spPr>
          <a:xfrm>
            <a:off x="8503920" y="2514600"/>
            <a:ext cx="31391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Shape 18"/>
          <p:cNvSpPr/>
          <p:nvPr/>
        </p:nvSpPr>
        <p:spPr>
          <a:xfrm>
            <a:off x="8503920" y="2514600"/>
            <a:ext cx="109728" cy="10515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Callout"/>
          <p:cNvSpPr/>
          <p:nvPr/>
        </p:nvSpPr>
        <p:spPr>
          <a:xfrm>
            <a:off x="8613648" y="2514600"/>
            <a:ext cx="30294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One pair differs: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return 0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level, kayak, hello, abba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36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3921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Code"/>
          <p:cNvSpPr/>
          <p:nvPr/>
        </p:nvSpPr>
        <p:spPr>
          <a:xfrm>
            <a:off x="548640" y="1261872"/>
            <a:ext cx="6766560" cy="3921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check("level");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check("kayak");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check("hello");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check("abba");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9" name="Shape 9"/>
          <p:cNvSpPr/>
          <p:nvPr/>
        </p:nvSpPr>
        <p:spPr>
          <a:xfrm>
            <a:off x="7589520" y="1645920"/>
            <a:ext cx="4053535" cy="1889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Code"/>
          <p:cNvSpPr/>
          <p:nvPr/>
        </p:nvSpPr>
        <p:spPr>
          <a:xfrm>
            <a:off x="7589520" y="1645920"/>
            <a:ext cx="4053535" cy="1889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level: yes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kayak: yes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hello: no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abba: yes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7589520" y="3810000"/>
            <a:ext cx="4053535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7589520" y="3810000"/>
            <a:ext cx="109728" cy="141732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allout"/>
          <p:cNvSpPr/>
          <p:nvPr/>
        </p:nvSpPr>
        <p:spPr>
          <a:xfrm>
            <a:off x="7699248" y="3810000"/>
            <a:ext cx="3943807" cy="141732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A string in quotes can go straight to a function.</a:t>
            </a:r>
            <a:endParaRPr lang="en-US" sz="2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2011680"/>
            <a:ext cx="1188720" cy="1188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5</a:t>
            </a:r>
            <a:endParaRPr lang="en-US" sz="5400" dirty="0"/>
          </a:p>
        </p:txBody>
      </p:sp>
      <p:sp>
        <p:nvSpPr>
          <p:cNvPr id="3" name="Shape 3"/>
          <p:cNvSpPr/>
          <p:nvPr/>
        </p:nvSpPr>
        <p:spPr>
          <a:xfrm>
            <a:off x="2286000" y="1920240"/>
            <a:ext cx="93268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Text and numbers</a:t>
            </a:r>
            <a:endParaRPr lang="en-US" sz="4800" dirty="0"/>
          </a:p>
        </p:txBody>
      </p:sp>
      <p:sp>
        <p:nvSpPr>
          <p:cNvPr id="4" name="Shape 4"/>
          <p:cNvSpPr/>
          <p:nvPr/>
        </p:nvSpPr>
        <p:spPr>
          <a:xfrm>
            <a:off x="2286000" y="3474720"/>
            <a:ext cx="9326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D7E3F0"/>
                </a:solidFill>
              </a:rPr>
              <a:t>"2026" is not 2026</a:t>
            </a:r>
            <a:endParaRPr lang="en-US" sz="2600" dirty="0"/>
          </a:p>
        </p:txBody>
      </p:sp>
      <p:sp>
        <p:nvSpPr>
          <p:cNvPr id="5" name="Shape 5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CSCI 1101 · Programming Principles I · Class 12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"2026" is not 2026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38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792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8324A"/>
                </a:solidFill>
              </a:rPr>
              <a:t>Four characters are not one number.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2602992"/>
            <a:ext cx="10728655" cy="20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"2026"</a:t>
            </a:r>
            <a:r>
              <a:rPr lang="en-US" sz="3000" dirty="0">
                <a:solidFill>
                  <a:srgbClr val="18324A"/>
                </a:solidFill>
              </a:rPr>
              <a:t>: the characters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'2'</a:t>
            </a:r>
            <a:r>
              <a:rPr lang="en-US" sz="3000" dirty="0">
                <a:solidFill>
                  <a:srgbClr val="18324A"/>
                </a:solidFill>
              </a:rPr>
              <a:t>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'0'</a:t>
            </a:r>
            <a:r>
              <a:rPr lang="en-US" sz="3000" dirty="0">
                <a:solidFill>
                  <a:srgbClr val="18324A"/>
                </a:solidFill>
              </a:rPr>
              <a:t>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'2'</a:t>
            </a:r>
            <a:r>
              <a:rPr lang="en-US" sz="3000" dirty="0">
                <a:solidFill>
                  <a:srgbClr val="18324A"/>
                </a:solidFill>
              </a:rPr>
              <a:t>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'6'</a:t>
            </a:r>
            <a:r>
              <a:rPr lang="en-US" sz="3000" dirty="0">
                <a:solidFill>
                  <a:srgbClr val="18324A"/>
                </a:solidFill>
              </a:rPr>
              <a:t>, then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'\0'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2026</a:t>
            </a:r>
            <a:r>
              <a:rPr lang="en-US" sz="3000" dirty="0">
                <a:solidFill>
                  <a:srgbClr val="18324A"/>
                </a:solidFill>
              </a:rPr>
              <a:t>: one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lang="en-US" sz="3000" dirty="0">
                <a:solidFill>
                  <a:srgbClr val="18324A"/>
                </a:solidFill>
              </a:rPr>
              <a:t> you can add to, compare, multiply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Input from a file or a form often arrives as text.</a:t>
            </a:r>
            <a:endParaRPr lang="en-US" sz="3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Text to number, by hand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39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680960" cy="4493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3137027"/>
            <a:ext cx="7680960" cy="4127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3137027"/>
            <a:ext cx="82296" cy="412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7680960" cy="4493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char s[10] = "2026";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n = 0;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for (int i = 0; s[i] != '\0'; i++) {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n = n * 10 + (s[i] - '0');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printf("n = %d\n", n);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printf("n + 1 = %d\n", n + 1);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600" dirty="0"/>
          </a:p>
        </p:txBody>
      </p:sp>
      <p:sp>
        <p:nvSpPr>
          <p:cNvPr id="10" name="Shape 10"/>
          <p:cNvSpPr/>
          <p:nvPr/>
        </p:nvSpPr>
        <p:spPr>
          <a:xfrm>
            <a:off x="8503920" y="1261872"/>
            <a:ext cx="3139135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8503920" y="1261872"/>
            <a:ext cx="109728" cy="14173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allout"/>
          <p:cNvSpPr/>
          <p:nvPr/>
        </p:nvSpPr>
        <p:spPr>
          <a:xfrm>
            <a:off x="8613648" y="1261872"/>
            <a:ext cx="3029407" cy="141732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s[i] - '0'</a:t>
            </a:r>
            <a:r>
              <a:rPr lang="en-US" sz="2400" dirty="0">
                <a:solidFill>
                  <a:srgbClr val="18324A"/>
                </a:solidFill>
              </a:rPr>
              <a:t>: the digit, as on Tuesday.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8503920" y="2880360"/>
            <a:ext cx="31391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8503920" y="288036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8613648" y="2880360"/>
            <a:ext cx="30294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n * 10</a:t>
            </a:r>
            <a:r>
              <a:rPr lang="en-US" sz="2400" dirty="0">
                <a:solidFill>
                  <a:srgbClr val="18324A"/>
                </a:solidFill>
              </a:rPr>
              <a:t>: one place to the left.</a:t>
            </a:r>
            <a:endParaRPr lang="en-US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"2026" becomes 2026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40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5669280" cy="1953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429002"/>
            <a:ext cx="566928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429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5669280" cy="1953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char s[10] = "2026";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n = 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for (int i = 0; s[i] != '\0'; i++)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n = n * 10 + (s[i] - '0');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  <p:sp>
        <p:nvSpPr>
          <p:cNvPr id="10" name="Shape 10"/>
          <p:cNvSpPr/>
          <p:nvPr/>
        </p:nvSpPr>
        <p:spPr>
          <a:xfrm>
            <a:off x="6492240" y="1261872"/>
            <a:ext cx="504982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</a:t>
            </a:r>
            <a:endParaRPr lang="en-US" sz="1800" dirty="0"/>
          </a:p>
        </p:txBody>
      </p:sp>
      <p:sp>
        <p:nvSpPr>
          <p:cNvPr id="11" name="Shape 11"/>
          <p:cNvSpPr/>
          <p:nvPr/>
        </p:nvSpPr>
        <p:spPr>
          <a:xfrm>
            <a:off x="6997222" y="1261872"/>
            <a:ext cx="807971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s[i]</a:t>
            </a:r>
            <a:endParaRPr lang="en-US" sz="1800" dirty="0"/>
          </a:p>
        </p:txBody>
      </p:sp>
      <p:sp>
        <p:nvSpPr>
          <p:cNvPr id="12" name="Shape 12"/>
          <p:cNvSpPr/>
          <p:nvPr/>
        </p:nvSpPr>
        <p:spPr>
          <a:xfrm>
            <a:off x="7805193" y="1261872"/>
            <a:ext cx="807971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digit</a:t>
            </a:r>
            <a:endParaRPr lang="en-US" sz="1800" dirty="0"/>
          </a:p>
        </p:txBody>
      </p:sp>
      <p:sp>
        <p:nvSpPr>
          <p:cNvPr id="13" name="Shape 13"/>
          <p:cNvSpPr/>
          <p:nvPr/>
        </p:nvSpPr>
        <p:spPr>
          <a:xfrm>
            <a:off x="8613164" y="1261872"/>
            <a:ext cx="3029891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</a:t>
            </a:r>
            <a:endParaRPr lang="en-US" sz="1800" dirty="0"/>
          </a:p>
        </p:txBody>
      </p:sp>
      <p:sp>
        <p:nvSpPr>
          <p:cNvPr id="14" name="Shape 14"/>
          <p:cNvSpPr/>
          <p:nvPr/>
        </p:nvSpPr>
        <p:spPr>
          <a:xfrm>
            <a:off x="6492240" y="1920240"/>
            <a:ext cx="50498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0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6997222" y="1920240"/>
            <a:ext cx="807971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'2'</a:t>
            </a:r>
            <a:endParaRPr lang="en-US" sz="2400" dirty="0"/>
          </a:p>
        </p:txBody>
      </p:sp>
      <p:sp>
        <p:nvSpPr>
          <p:cNvPr id="16" name="Shape 16"/>
          <p:cNvSpPr/>
          <p:nvPr/>
        </p:nvSpPr>
        <p:spPr>
          <a:xfrm>
            <a:off x="7805193" y="1920240"/>
            <a:ext cx="807971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2</a:t>
            </a:r>
            <a:endParaRPr lang="en-US" sz="2400" dirty="0"/>
          </a:p>
        </p:txBody>
      </p:sp>
      <p:sp>
        <p:nvSpPr>
          <p:cNvPr id="17" name="Shape 17"/>
          <p:cNvSpPr/>
          <p:nvPr/>
        </p:nvSpPr>
        <p:spPr>
          <a:xfrm>
            <a:off x="8613164" y="1920240"/>
            <a:ext cx="3029891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0 * 10 + 2 = </a:t>
            </a:r>
            <a:r>
              <a:rPr lang="en-US" sz="2400" b="1" dirty="0">
                <a:solidFill>
                  <a:srgbClr val="18324A"/>
                </a:solidFill>
              </a:rPr>
              <a:t>2</a:t>
            </a:r>
            <a:endParaRPr lang="en-US" sz="2400" dirty="0"/>
          </a:p>
        </p:txBody>
      </p:sp>
      <p:sp>
        <p:nvSpPr>
          <p:cNvPr id="18" name="Shape 18"/>
          <p:cNvSpPr/>
          <p:nvPr/>
        </p:nvSpPr>
        <p:spPr>
          <a:xfrm>
            <a:off x="6492240" y="2578608"/>
            <a:ext cx="504982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</a:rPr>
              <a:t>1</a:t>
            </a:r>
            <a:endParaRPr lang="en-US" sz="2400" dirty="0"/>
          </a:p>
        </p:txBody>
      </p:sp>
      <p:sp>
        <p:nvSpPr>
          <p:cNvPr id="19" name="Shape 19"/>
          <p:cNvSpPr/>
          <p:nvPr/>
        </p:nvSpPr>
        <p:spPr>
          <a:xfrm>
            <a:off x="6997222" y="2578608"/>
            <a:ext cx="807971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'0'</a:t>
            </a:r>
            <a:endParaRPr lang="en-US" sz="2400" dirty="0"/>
          </a:p>
        </p:txBody>
      </p:sp>
      <p:sp>
        <p:nvSpPr>
          <p:cNvPr id="20" name="Shape 20"/>
          <p:cNvSpPr/>
          <p:nvPr/>
        </p:nvSpPr>
        <p:spPr>
          <a:xfrm>
            <a:off x="7805193" y="2578608"/>
            <a:ext cx="807971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</a:rPr>
              <a:t>0</a:t>
            </a:r>
            <a:endParaRPr lang="en-US" sz="2400" dirty="0"/>
          </a:p>
        </p:txBody>
      </p:sp>
      <p:sp>
        <p:nvSpPr>
          <p:cNvPr id="21" name="Shape 21"/>
          <p:cNvSpPr/>
          <p:nvPr/>
        </p:nvSpPr>
        <p:spPr>
          <a:xfrm>
            <a:off x="8613164" y="2578608"/>
            <a:ext cx="3029891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</a:rPr>
              <a:t>2 * 10 + 0 = 20</a:t>
            </a:r>
            <a:endParaRPr lang="en-US" sz="2400" dirty="0"/>
          </a:p>
        </p:txBody>
      </p:sp>
      <p:sp>
        <p:nvSpPr>
          <p:cNvPr id="22" name="Shape 22"/>
          <p:cNvSpPr/>
          <p:nvPr/>
        </p:nvSpPr>
        <p:spPr>
          <a:xfrm>
            <a:off x="6492240" y="3236976"/>
            <a:ext cx="50498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3" name="Shape 23"/>
          <p:cNvSpPr/>
          <p:nvPr/>
        </p:nvSpPr>
        <p:spPr>
          <a:xfrm>
            <a:off x="6997222" y="3236976"/>
            <a:ext cx="807971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4" name="Shape 24"/>
          <p:cNvSpPr/>
          <p:nvPr/>
        </p:nvSpPr>
        <p:spPr>
          <a:xfrm>
            <a:off x="7805193" y="3236976"/>
            <a:ext cx="807971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5" name="Shape 25"/>
          <p:cNvSpPr/>
          <p:nvPr/>
        </p:nvSpPr>
        <p:spPr>
          <a:xfrm>
            <a:off x="8613164" y="3236976"/>
            <a:ext cx="3029891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6" name="Shape 26"/>
          <p:cNvSpPr/>
          <p:nvPr/>
        </p:nvSpPr>
        <p:spPr>
          <a:xfrm>
            <a:off x="6492240" y="3895344"/>
            <a:ext cx="50498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7" name="Shape 27"/>
          <p:cNvSpPr/>
          <p:nvPr/>
        </p:nvSpPr>
        <p:spPr>
          <a:xfrm>
            <a:off x="6997222" y="3895344"/>
            <a:ext cx="807971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8" name="Shape 28"/>
          <p:cNvSpPr/>
          <p:nvPr/>
        </p:nvSpPr>
        <p:spPr>
          <a:xfrm>
            <a:off x="7805193" y="3895344"/>
            <a:ext cx="807971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9" name="Shape 29"/>
          <p:cNvSpPr/>
          <p:nvPr/>
        </p:nvSpPr>
        <p:spPr>
          <a:xfrm>
            <a:off x="8613164" y="3895344"/>
            <a:ext cx="3029891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"2026" becomes 2026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41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577840"/>
            <a:ext cx="109728" cy="6858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577840"/>
            <a:ext cx="1098468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Then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s[4]</a:t>
            </a:r>
            <a:r>
              <a:rPr lang="en-US" sz="2400" dirty="0">
                <a:solidFill>
                  <a:srgbClr val="18324A"/>
                </a:solidFill>
              </a:rPr>
              <a:t> is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'\0'</a:t>
            </a:r>
            <a:r>
              <a:rPr lang="en-US" sz="2400" dirty="0">
                <a:solidFill>
                  <a:srgbClr val="18324A"/>
                </a:solidFill>
              </a:rPr>
              <a:t>: the loop stops.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5669280" cy="1953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429002"/>
            <a:ext cx="566928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2429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548640" y="1261872"/>
            <a:ext cx="5669280" cy="1953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char s[10] = "2026";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n = 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for (int i = 0; s[i] != '\0'; i++)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n = n * 10 + (s[i] - '0');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  <p:sp>
        <p:nvSpPr>
          <p:cNvPr id="13" name="Shape 13"/>
          <p:cNvSpPr/>
          <p:nvPr/>
        </p:nvSpPr>
        <p:spPr>
          <a:xfrm>
            <a:off x="6492240" y="1261872"/>
            <a:ext cx="504982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</a:t>
            </a:r>
            <a:endParaRPr lang="en-US" sz="1800" dirty="0"/>
          </a:p>
        </p:txBody>
      </p:sp>
      <p:sp>
        <p:nvSpPr>
          <p:cNvPr id="14" name="Shape 14"/>
          <p:cNvSpPr/>
          <p:nvPr/>
        </p:nvSpPr>
        <p:spPr>
          <a:xfrm>
            <a:off x="6997222" y="1261872"/>
            <a:ext cx="807971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s[i]</a:t>
            </a:r>
            <a:endParaRPr lang="en-US" sz="1800" dirty="0"/>
          </a:p>
        </p:txBody>
      </p:sp>
      <p:sp>
        <p:nvSpPr>
          <p:cNvPr id="15" name="Shape 15"/>
          <p:cNvSpPr/>
          <p:nvPr/>
        </p:nvSpPr>
        <p:spPr>
          <a:xfrm>
            <a:off x="7805193" y="1261872"/>
            <a:ext cx="807971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digit</a:t>
            </a:r>
            <a:endParaRPr lang="en-US" sz="1800" dirty="0"/>
          </a:p>
        </p:txBody>
      </p:sp>
      <p:sp>
        <p:nvSpPr>
          <p:cNvPr id="16" name="Shape 16"/>
          <p:cNvSpPr/>
          <p:nvPr/>
        </p:nvSpPr>
        <p:spPr>
          <a:xfrm>
            <a:off x="8613164" y="1261872"/>
            <a:ext cx="3029891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</a:t>
            </a:r>
            <a:endParaRPr lang="en-US" sz="1800" dirty="0"/>
          </a:p>
        </p:txBody>
      </p:sp>
      <p:sp>
        <p:nvSpPr>
          <p:cNvPr id="17" name="Shape 17"/>
          <p:cNvSpPr/>
          <p:nvPr/>
        </p:nvSpPr>
        <p:spPr>
          <a:xfrm>
            <a:off x="6492240" y="1920240"/>
            <a:ext cx="50498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0</a:t>
            </a:r>
            <a:endParaRPr lang="en-US" sz="2400" dirty="0"/>
          </a:p>
        </p:txBody>
      </p:sp>
      <p:sp>
        <p:nvSpPr>
          <p:cNvPr id="18" name="Shape 18"/>
          <p:cNvSpPr/>
          <p:nvPr/>
        </p:nvSpPr>
        <p:spPr>
          <a:xfrm>
            <a:off x="6997222" y="1920240"/>
            <a:ext cx="807971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'2'</a:t>
            </a:r>
            <a:endParaRPr lang="en-US" sz="2400" dirty="0"/>
          </a:p>
        </p:txBody>
      </p:sp>
      <p:sp>
        <p:nvSpPr>
          <p:cNvPr id="19" name="Shape 19"/>
          <p:cNvSpPr/>
          <p:nvPr/>
        </p:nvSpPr>
        <p:spPr>
          <a:xfrm>
            <a:off x="7805193" y="1920240"/>
            <a:ext cx="807971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2</a:t>
            </a:r>
            <a:endParaRPr lang="en-US" sz="2400" dirty="0"/>
          </a:p>
        </p:txBody>
      </p:sp>
      <p:sp>
        <p:nvSpPr>
          <p:cNvPr id="20" name="Shape 20"/>
          <p:cNvSpPr/>
          <p:nvPr/>
        </p:nvSpPr>
        <p:spPr>
          <a:xfrm>
            <a:off x="8613164" y="1920240"/>
            <a:ext cx="3029891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0 * 10 + 2 = </a:t>
            </a:r>
            <a:r>
              <a:rPr lang="en-US" sz="2400" b="1" dirty="0">
                <a:solidFill>
                  <a:srgbClr val="18324A"/>
                </a:solidFill>
              </a:rPr>
              <a:t>2</a:t>
            </a:r>
            <a:endParaRPr lang="en-US" sz="2400" dirty="0"/>
          </a:p>
        </p:txBody>
      </p:sp>
      <p:sp>
        <p:nvSpPr>
          <p:cNvPr id="21" name="Shape 21"/>
          <p:cNvSpPr/>
          <p:nvPr/>
        </p:nvSpPr>
        <p:spPr>
          <a:xfrm>
            <a:off x="6492240" y="2578608"/>
            <a:ext cx="504982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1</a:t>
            </a:r>
            <a:endParaRPr lang="en-US" sz="2400" dirty="0"/>
          </a:p>
        </p:txBody>
      </p:sp>
      <p:sp>
        <p:nvSpPr>
          <p:cNvPr id="22" name="Shape 22"/>
          <p:cNvSpPr/>
          <p:nvPr/>
        </p:nvSpPr>
        <p:spPr>
          <a:xfrm>
            <a:off x="6997222" y="2578608"/>
            <a:ext cx="807971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'0'</a:t>
            </a:r>
            <a:endParaRPr lang="en-US" sz="2400" dirty="0"/>
          </a:p>
        </p:txBody>
      </p:sp>
      <p:sp>
        <p:nvSpPr>
          <p:cNvPr id="23" name="Shape 23"/>
          <p:cNvSpPr/>
          <p:nvPr/>
        </p:nvSpPr>
        <p:spPr>
          <a:xfrm>
            <a:off x="7805193" y="2578608"/>
            <a:ext cx="807971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0</a:t>
            </a:r>
            <a:endParaRPr lang="en-US" sz="2400" dirty="0"/>
          </a:p>
        </p:txBody>
      </p:sp>
      <p:sp>
        <p:nvSpPr>
          <p:cNvPr id="24" name="Shape 24"/>
          <p:cNvSpPr/>
          <p:nvPr/>
        </p:nvSpPr>
        <p:spPr>
          <a:xfrm>
            <a:off x="8613164" y="2578608"/>
            <a:ext cx="3029891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2 * 10 + 0 = </a:t>
            </a:r>
            <a:r>
              <a:rPr lang="en-US" sz="2400" b="1" dirty="0">
                <a:solidFill>
                  <a:srgbClr val="18324A"/>
                </a:solidFill>
              </a:rPr>
              <a:t>20</a:t>
            </a:r>
            <a:endParaRPr lang="en-US" sz="2400" dirty="0"/>
          </a:p>
        </p:txBody>
      </p:sp>
      <p:sp>
        <p:nvSpPr>
          <p:cNvPr id="25" name="Shape 25"/>
          <p:cNvSpPr/>
          <p:nvPr/>
        </p:nvSpPr>
        <p:spPr>
          <a:xfrm>
            <a:off x="6492240" y="3236976"/>
            <a:ext cx="50498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2</a:t>
            </a:r>
            <a:endParaRPr lang="en-US" sz="2400" dirty="0"/>
          </a:p>
        </p:txBody>
      </p:sp>
      <p:sp>
        <p:nvSpPr>
          <p:cNvPr id="26" name="Shape 26"/>
          <p:cNvSpPr/>
          <p:nvPr/>
        </p:nvSpPr>
        <p:spPr>
          <a:xfrm>
            <a:off x="6997222" y="3236976"/>
            <a:ext cx="807971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'2'</a:t>
            </a:r>
            <a:endParaRPr lang="en-US" sz="2400" dirty="0"/>
          </a:p>
        </p:txBody>
      </p:sp>
      <p:sp>
        <p:nvSpPr>
          <p:cNvPr id="27" name="Shape 27"/>
          <p:cNvSpPr/>
          <p:nvPr/>
        </p:nvSpPr>
        <p:spPr>
          <a:xfrm>
            <a:off x="7805193" y="3236976"/>
            <a:ext cx="807971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2</a:t>
            </a:r>
            <a:endParaRPr lang="en-US" sz="2400" dirty="0"/>
          </a:p>
        </p:txBody>
      </p:sp>
      <p:sp>
        <p:nvSpPr>
          <p:cNvPr id="28" name="Shape 28"/>
          <p:cNvSpPr/>
          <p:nvPr/>
        </p:nvSpPr>
        <p:spPr>
          <a:xfrm>
            <a:off x="8613164" y="3236976"/>
            <a:ext cx="3029891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20 * 10 + 2 = </a:t>
            </a:r>
            <a:r>
              <a:rPr lang="en-US" sz="2400" b="1" dirty="0">
                <a:solidFill>
                  <a:srgbClr val="18324A"/>
                </a:solidFill>
              </a:rPr>
              <a:t>202</a:t>
            </a:r>
            <a:endParaRPr lang="en-US" sz="2400" dirty="0"/>
          </a:p>
        </p:txBody>
      </p:sp>
      <p:sp>
        <p:nvSpPr>
          <p:cNvPr id="29" name="Shape 29"/>
          <p:cNvSpPr/>
          <p:nvPr/>
        </p:nvSpPr>
        <p:spPr>
          <a:xfrm>
            <a:off x="6492240" y="3895344"/>
            <a:ext cx="504982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</a:rPr>
              <a:t>3</a:t>
            </a:r>
            <a:endParaRPr lang="en-US" sz="2400" dirty="0"/>
          </a:p>
        </p:txBody>
      </p:sp>
      <p:sp>
        <p:nvSpPr>
          <p:cNvPr id="30" name="Shape 30"/>
          <p:cNvSpPr/>
          <p:nvPr/>
        </p:nvSpPr>
        <p:spPr>
          <a:xfrm>
            <a:off x="6997222" y="3895344"/>
            <a:ext cx="807971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'6'</a:t>
            </a:r>
            <a:endParaRPr lang="en-US" sz="2400" dirty="0"/>
          </a:p>
        </p:txBody>
      </p:sp>
      <p:sp>
        <p:nvSpPr>
          <p:cNvPr id="31" name="Shape 31"/>
          <p:cNvSpPr/>
          <p:nvPr/>
        </p:nvSpPr>
        <p:spPr>
          <a:xfrm>
            <a:off x="7805193" y="3895344"/>
            <a:ext cx="807971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</a:rPr>
              <a:t>6</a:t>
            </a:r>
            <a:endParaRPr lang="en-US" sz="2400" dirty="0"/>
          </a:p>
        </p:txBody>
      </p:sp>
      <p:sp>
        <p:nvSpPr>
          <p:cNvPr id="32" name="Shape 32"/>
          <p:cNvSpPr/>
          <p:nvPr/>
        </p:nvSpPr>
        <p:spPr>
          <a:xfrm>
            <a:off x="8613164" y="3895344"/>
            <a:ext cx="3029891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</a:rPr>
              <a:t>202 * 10 + 6 = 2026</a:t>
            </a:r>
            <a:endParaRPr lang="en-US" sz="2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It is a real number now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42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680960" cy="4493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3962527"/>
            <a:ext cx="7680960" cy="4127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3962527"/>
            <a:ext cx="82296" cy="412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4375277"/>
            <a:ext cx="7680960" cy="4127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4375277"/>
            <a:ext cx="82296" cy="412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548640" y="1261872"/>
            <a:ext cx="7680960" cy="4493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char s[10] = "2026";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n = 0;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for (int i = 0; s[i] != '\0'; i++) {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n = n * 10 + (s[i] - '0');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printf("n = %d\n", n);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printf("n + 1 = %d\n", n + 1);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600" dirty="0"/>
          </a:p>
        </p:txBody>
      </p:sp>
      <p:sp>
        <p:nvSpPr>
          <p:cNvPr id="12" name="Shape 12"/>
          <p:cNvSpPr/>
          <p:nvPr/>
        </p:nvSpPr>
        <p:spPr>
          <a:xfrm>
            <a:off x="8503920" y="1261872"/>
            <a:ext cx="31391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3" name="Shape 13"/>
          <p:cNvSpPr/>
          <p:nvPr/>
        </p:nvSpPr>
        <p:spPr>
          <a:xfrm>
            <a:off x="8503920" y="1645920"/>
            <a:ext cx="3139135" cy="112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ode"/>
          <p:cNvSpPr/>
          <p:nvPr/>
        </p:nvSpPr>
        <p:spPr>
          <a:xfrm>
            <a:off x="8503920" y="1645920"/>
            <a:ext cx="3139135" cy="112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n = 2026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n + 1 = 2027</a:t>
            </a:r>
            <a:endParaRPr lang="en-US" sz="2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atoi does the same job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43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212080"/>
            <a:ext cx="110944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21208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212080"/>
            <a:ext cx="109846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atoi</a:t>
            </a:r>
            <a:r>
              <a:rPr lang="en-US" sz="2400" dirty="0">
                <a:solidFill>
                  <a:srgbClr val="18324A"/>
                </a:solidFill>
              </a:rPr>
              <a:t> reads a sign and the digits, and stops at the first other character. No number at the start: </a:t>
            </a:r>
            <a:r>
              <a:rPr lang="en-US" sz="2400" b="1" dirty="0">
                <a:solidFill>
                  <a:srgbClr val="18324A"/>
                </a:solidFill>
              </a:rPr>
              <a:t>0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7863840" cy="3540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1794002"/>
            <a:ext cx="786384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1794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2746502"/>
            <a:ext cx="786384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548640" y="2746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ode"/>
          <p:cNvSpPr/>
          <p:nvPr/>
        </p:nvSpPr>
        <p:spPr>
          <a:xfrm>
            <a:off x="548640" y="1261872"/>
            <a:ext cx="7863840" cy="3540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#include &lt;stdio.h&gt;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#include &lt;stdlib.h&gt;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printf("%d\n", atoi("2026") + 1);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printf("%d\n", atoi("-45"));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printf("%d\n", atoi("12abc"));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printf("%d\n", atoi("abc"));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  <p:sp>
        <p:nvSpPr>
          <p:cNvPr id="15" name="Shape 15"/>
          <p:cNvSpPr/>
          <p:nvPr/>
        </p:nvSpPr>
        <p:spPr>
          <a:xfrm>
            <a:off x="8686800" y="1261872"/>
            <a:ext cx="295625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6" name="Shape 16"/>
          <p:cNvSpPr/>
          <p:nvPr/>
        </p:nvSpPr>
        <p:spPr>
          <a:xfrm>
            <a:off x="8686800" y="1645920"/>
            <a:ext cx="2956255" cy="1889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Code"/>
          <p:cNvSpPr/>
          <p:nvPr/>
        </p:nvSpPr>
        <p:spPr>
          <a:xfrm>
            <a:off x="8686800" y="1645920"/>
            <a:ext cx="2956255" cy="1889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2027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-45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12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0</a:t>
            </a:r>
            <a:endParaRPr lang="en-US" sz="2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Number to text, by hand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44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4810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3267202"/>
            <a:ext cx="6766560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32672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4156202"/>
            <a:ext cx="6766560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41562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548640" y="1261872"/>
            <a:ext cx="6766560" cy="4810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n = 472;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char s[12];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len = 0;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while (n &gt; 0) {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s[len] = '0' + n % 10;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len++;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n = n / 10;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s[len] = '\0';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printf("backwards: %s\n", s);</a:t>
            </a:r>
            <a:endParaRPr lang="en-US" sz="2800" dirty="0"/>
          </a:p>
        </p:txBody>
      </p:sp>
      <p:sp>
        <p:nvSpPr>
          <p:cNvPr id="12" name="Shape 12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3" name="Shape 13"/>
          <p:cNvSpPr/>
          <p:nvPr/>
        </p:nvSpPr>
        <p:spPr>
          <a:xfrm>
            <a:off x="7589520" y="1645920"/>
            <a:ext cx="4053535" cy="746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ode"/>
          <p:cNvSpPr/>
          <p:nvPr/>
        </p:nvSpPr>
        <p:spPr>
          <a:xfrm>
            <a:off x="7589520" y="1645920"/>
            <a:ext cx="4053535" cy="746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backwards: 274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7589520" y="2667000"/>
            <a:ext cx="405353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7589520" y="2667000"/>
            <a:ext cx="109728" cy="6858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Callout"/>
          <p:cNvSpPr/>
          <p:nvPr/>
        </p:nvSpPr>
        <p:spPr>
          <a:xfrm>
            <a:off x="7699248" y="2667000"/>
            <a:ext cx="394380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n % 10</a:t>
            </a:r>
            <a:r>
              <a:rPr lang="en-US" sz="2400" dirty="0">
                <a:solidFill>
                  <a:srgbClr val="18324A"/>
                </a:solidFill>
              </a:rPr>
              <a:t>: the last digit.</a:t>
            </a:r>
            <a:endParaRPr lang="en-US" sz="2400" dirty="0"/>
          </a:p>
        </p:txBody>
      </p:sp>
      <p:sp>
        <p:nvSpPr>
          <p:cNvPr id="18" name="Shape 18"/>
          <p:cNvSpPr/>
          <p:nvPr/>
        </p:nvSpPr>
        <p:spPr>
          <a:xfrm>
            <a:off x="7589520" y="3553968"/>
            <a:ext cx="405353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7589520" y="3553968"/>
            <a:ext cx="109728" cy="6858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" name="Callout"/>
          <p:cNvSpPr/>
          <p:nvPr/>
        </p:nvSpPr>
        <p:spPr>
          <a:xfrm>
            <a:off x="7699248" y="3553968"/>
            <a:ext cx="394380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n / 10</a:t>
            </a:r>
            <a:r>
              <a:rPr lang="en-US" sz="2400" dirty="0">
                <a:solidFill>
                  <a:srgbClr val="18324A"/>
                </a:solidFill>
              </a:rPr>
              <a:t>: drop it.</a:t>
            </a:r>
            <a:endParaRPr lang="en-US" sz="2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472, digit by digit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45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212080"/>
            <a:ext cx="110944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21208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212080"/>
            <a:ext cx="109846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The last digit comes out first. So the string is backwards: reverse it.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5669280" cy="2588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1933702"/>
            <a:ext cx="5669280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19337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2378202"/>
            <a:ext cx="5669280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548640" y="23782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548640" y="2822702"/>
            <a:ext cx="5669280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548640" y="28227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ode"/>
          <p:cNvSpPr/>
          <p:nvPr/>
        </p:nvSpPr>
        <p:spPr>
          <a:xfrm>
            <a:off x="548640" y="1261872"/>
            <a:ext cx="5669280" cy="2588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while (n &gt; 0) {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s[len] = '0' + n % 10;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len++;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n = n / 10;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800" dirty="0"/>
          </a:p>
        </p:txBody>
      </p:sp>
      <p:sp>
        <p:nvSpPr>
          <p:cNvPr id="17" name="Shape 17"/>
          <p:cNvSpPr/>
          <p:nvPr/>
        </p:nvSpPr>
        <p:spPr>
          <a:xfrm>
            <a:off x="6492240" y="1261872"/>
            <a:ext cx="981108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</a:t>
            </a:r>
            <a:endParaRPr lang="en-US" sz="1800" dirty="0"/>
          </a:p>
        </p:txBody>
      </p:sp>
      <p:sp>
        <p:nvSpPr>
          <p:cNvPr id="18" name="Shape 18"/>
          <p:cNvSpPr/>
          <p:nvPr/>
        </p:nvSpPr>
        <p:spPr>
          <a:xfrm>
            <a:off x="7473348" y="1261872"/>
            <a:ext cx="1471661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 % 10</a:t>
            </a:r>
            <a:endParaRPr lang="en-US" sz="1800" dirty="0"/>
          </a:p>
        </p:txBody>
      </p:sp>
      <p:sp>
        <p:nvSpPr>
          <p:cNvPr id="19" name="Shape 19"/>
          <p:cNvSpPr/>
          <p:nvPr/>
        </p:nvSpPr>
        <p:spPr>
          <a:xfrm>
            <a:off x="8945009" y="1261872"/>
            <a:ext cx="1349023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</a:t>
            </a:r>
            <a:endParaRPr lang="en-US" sz="1800" dirty="0"/>
          </a:p>
        </p:txBody>
      </p:sp>
      <p:sp>
        <p:nvSpPr>
          <p:cNvPr id="20" name="Shape 20"/>
          <p:cNvSpPr/>
          <p:nvPr/>
        </p:nvSpPr>
        <p:spPr>
          <a:xfrm>
            <a:off x="10294032" y="1261872"/>
            <a:ext cx="1349023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 / 10</a:t>
            </a:r>
            <a:endParaRPr lang="en-US" sz="1800" dirty="0"/>
          </a:p>
        </p:txBody>
      </p:sp>
      <p:sp>
        <p:nvSpPr>
          <p:cNvPr id="21" name="Shape 21"/>
          <p:cNvSpPr/>
          <p:nvPr/>
        </p:nvSpPr>
        <p:spPr>
          <a:xfrm>
            <a:off x="6492240" y="1920240"/>
            <a:ext cx="98110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472</a:t>
            </a:r>
            <a:endParaRPr lang="en-US" sz="2400" dirty="0"/>
          </a:p>
        </p:txBody>
      </p:sp>
      <p:sp>
        <p:nvSpPr>
          <p:cNvPr id="22" name="Shape 22"/>
          <p:cNvSpPr/>
          <p:nvPr/>
        </p:nvSpPr>
        <p:spPr>
          <a:xfrm>
            <a:off x="7473348" y="1920240"/>
            <a:ext cx="1471661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2</a:t>
            </a:r>
            <a:endParaRPr lang="en-US" sz="2400" dirty="0"/>
          </a:p>
        </p:txBody>
      </p:sp>
      <p:sp>
        <p:nvSpPr>
          <p:cNvPr id="23" name="Shape 23"/>
          <p:cNvSpPr/>
          <p:nvPr/>
        </p:nvSpPr>
        <p:spPr>
          <a:xfrm>
            <a:off x="8945009" y="1920240"/>
            <a:ext cx="134902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"2"</a:t>
            </a:r>
            <a:endParaRPr lang="en-US" sz="2400" dirty="0"/>
          </a:p>
        </p:txBody>
      </p:sp>
      <p:sp>
        <p:nvSpPr>
          <p:cNvPr id="24" name="Shape 24"/>
          <p:cNvSpPr/>
          <p:nvPr/>
        </p:nvSpPr>
        <p:spPr>
          <a:xfrm>
            <a:off x="10294032" y="1920240"/>
            <a:ext cx="134902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47</a:t>
            </a:r>
            <a:endParaRPr lang="en-US" sz="2400" dirty="0"/>
          </a:p>
        </p:txBody>
      </p:sp>
      <p:sp>
        <p:nvSpPr>
          <p:cNvPr id="25" name="Shape 25"/>
          <p:cNvSpPr/>
          <p:nvPr/>
        </p:nvSpPr>
        <p:spPr>
          <a:xfrm>
            <a:off x="6492240" y="2578608"/>
            <a:ext cx="981108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47</a:t>
            </a:r>
            <a:endParaRPr lang="en-US" sz="2400" dirty="0"/>
          </a:p>
        </p:txBody>
      </p:sp>
      <p:sp>
        <p:nvSpPr>
          <p:cNvPr id="26" name="Shape 26"/>
          <p:cNvSpPr/>
          <p:nvPr/>
        </p:nvSpPr>
        <p:spPr>
          <a:xfrm>
            <a:off x="7473348" y="2578608"/>
            <a:ext cx="1471661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7</a:t>
            </a:r>
            <a:endParaRPr lang="en-US" sz="2400" dirty="0"/>
          </a:p>
        </p:txBody>
      </p:sp>
      <p:sp>
        <p:nvSpPr>
          <p:cNvPr id="27" name="Shape 27"/>
          <p:cNvSpPr/>
          <p:nvPr/>
        </p:nvSpPr>
        <p:spPr>
          <a:xfrm>
            <a:off x="8945009" y="2578608"/>
            <a:ext cx="1349023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"27"</a:t>
            </a:r>
            <a:endParaRPr lang="en-US" sz="2400" dirty="0"/>
          </a:p>
        </p:txBody>
      </p:sp>
      <p:sp>
        <p:nvSpPr>
          <p:cNvPr id="28" name="Shape 28"/>
          <p:cNvSpPr/>
          <p:nvPr/>
        </p:nvSpPr>
        <p:spPr>
          <a:xfrm>
            <a:off x="10294032" y="2578608"/>
            <a:ext cx="1349023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4</a:t>
            </a:r>
            <a:endParaRPr lang="en-US" sz="2400" dirty="0"/>
          </a:p>
        </p:txBody>
      </p:sp>
      <p:sp>
        <p:nvSpPr>
          <p:cNvPr id="29" name="Shape 29"/>
          <p:cNvSpPr/>
          <p:nvPr/>
        </p:nvSpPr>
        <p:spPr>
          <a:xfrm>
            <a:off x="6492240" y="3236976"/>
            <a:ext cx="981108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</a:rPr>
              <a:t>4</a:t>
            </a:r>
            <a:endParaRPr lang="en-US" sz="2400" dirty="0"/>
          </a:p>
        </p:txBody>
      </p:sp>
      <p:sp>
        <p:nvSpPr>
          <p:cNvPr id="30" name="Shape 30"/>
          <p:cNvSpPr/>
          <p:nvPr/>
        </p:nvSpPr>
        <p:spPr>
          <a:xfrm>
            <a:off x="7473348" y="3236976"/>
            <a:ext cx="1471661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</a:rPr>
              <a:t>4</a:t>
            </a:r>
            <a:endParaRPr lang="en-US" sz="2400" dirty="0"/>
          </a:p>
        </p:txBody>
      </p:sp>
      <p:sp>
        <p:nvSpPr>
          <p:cNvPr id="31" name="Shape 31"/>
          <p:cNvSpPr/>
          <p:nvPr/>
        </p:nvSpPr>
        <p:spPr>
          <a:xfrm>
            <a:off x="8945009" y="3236976"/>
            <a:ext cx="1349023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"274"</a:t>
            </a:r>
            <a:endParaRPr lang="en-US" sz="2400" dirty="0"/>
          </a:p>
        </p:txBody>
      </p:sp>
      <p:sp>
        <p:nvSpPr>
          <p:cNvPr id="32" name="Shape 32"/>
          <p:cNvSpPr/>
          <p:nvPr/>
        </p:nvSpPr>
        <p:spPr>
          <a:xfrm>
            <a:off x="10294032" y="3236976"/>
            <a:ext cx="1349023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</a:rPr>
              <a:t>0</a:t>
            </a:r>
            <a:endParaRPr lang="en-US" sz="2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Then reverse it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46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863840" cy="3032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1489202"/>
            <a:ext cx="7863840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14892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1933702"/>
            <a:ext cx="7863840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19337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2378202"/>
            <a:ext cx="7863840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23782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548640" y="2822702"/>
            <a:ext cx="7863840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548640" y="28227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ode"/>
          <p:cNvSpPr/>
          <p:nvPr/>
        </p:nvSpPr>
        <p:spPr>
          <a:xfrm>
            <a:off x="548640" y="1261872"/>
            <a:ext cx="7863840" cy="3032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for (int i = 0; i &lt; len / 2; i++) {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char temp = s[i];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s[i] = s[len - 1 - i];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s[len - 1 - i] = temp;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printf("text: %s\n", s);</a:t>
            </a:r>
            <a:endParaRPr lang="en-US" sz="2800" dirty="0"/>
          </a:p>
        </p:txBody>
      </p:sp>
      <p:sp>
        <p:nvSpPr>
          <p:cNvPr id="16" name="Shape 16"/>
          <p:cNvSpPr/>
          <p:nvPr/>
        </p:nvSpPr>
        <p:spPr>
          <a:xfrm>
            <a:off x="8686800" y="1261872"/>
            <a:ext cx="295625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7" name="Shape 17"/>
          <p:cNvSpPr/>
          <p:nvPr/>
        </p:nvSpPr>
        <p:spPr>
          <a:xfrm>
            <a:off x="8686800" y="1645920"/>
            <a:ext cx="2956255" cy="746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Code"/>
          <p:cNvSpPr/>
          <p:nvPr/>
        </p:nvSpPr>
        <p:spPr>
          <a:xfrm>
            <a:off x="8686800" y="1645920"/>
            <a:ext cx="2956255" cy="746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text: 472</a:t>
            </a:r>
            <a:endParaRPr lang="en-US" sz="2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sprintf: printf into a string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47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680960" cy="4556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178177"/>
            <a:ext cx="768096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17817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3924427"/>
            <a:ext cx="768096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392442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4273677"/>
            <a:ext cx="768096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427367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ode"/>
          <p:cNvSpPr/>
          <p:nvPr/>
        </p:nvSpPr>
        <p:spPr>
          <a:xfrm>
            <a:off x="548640" y="1261872"/>
            <a:ext cx="7680960" cy="4556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char s[20];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sprintf(s, "%d", 472);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printf("text: %s\n", s);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printf("length: %d\n", (int) strlen(s));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char msg[40];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snprintf(msg, sizeof(msg),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"%s scored %d", "Aysel", 95);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printf("%s\n", msg);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</p:txBody>
      </p:sp>
      <p:sp>
        <p:nvSpPr>
          <p:cNvPr id="14" name="Shape 14"/>
          <p:cNvSpPr/>
          <p:nvPr/>
        </p:nvSpPr>
        <p:spPr>
          <a:xfrm>
            <a:off x="8503920" y="1261872"/>
            <a:ext cx="31391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5" name="Shape 15"/>
          <p:cNvSpPr/>
          <p:nvPr/>
        </p:nvSpPr>
        <p:spPr>
          <a:xfrm>
            <a:off x="8503920" y="1645920"/>
            <a:ext cx="3139135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ode"/>
          <p:cNvSpPr/>
          <p:nvPr/>
        </p:nvSpPr>
        <p:spPr>
          <a:xfrm>
            <a:off x="8503920" y="1645920"/>
            <a:ext cx="3139135" cy="1508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text: 472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length: 3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Aysel scored 95</a:t>
            </a:r>
            <a:endParaRPr lang="en-US" sz="2400" dirty="0"/>
          </a:p>
        </p:txBody>
      </p:sp>
      <p:sp>
        <p:nvSpPr>
          <p:cNvPr id="17" name="Shape 17"/>
          <p:cNvSpPr/>
          <p:nvPr/>
        </p:nvSpPr>
        <p:spPr>
          <a:xfrm>
            <a:off x="8503920" y="3429000"/>
            <a:ext cx="3139135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Shape 18"/>
          <p:cNvSpPr/>
          <p:nvPr/>
        </p:nvSpPr>
        <p:spPr>
          <a:xfrm>
            <a:off x="8503920" y="3429000"/>
            <a:ext cx="109728" cy="141732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Callout"/>
          <p:cNvSpPr/>
          <p:nvPr/>
        </p:nvSpPr>
        <p:spPr>
          <a:xfrm>
            <a:off x="8613648" y="3429000"/>
            <a:ext cx="3029407" cy="141732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snprintf</a:t>
            </a:r>
            <a:r>
              <a:rPr lang="en-US" sz="2400" dirty="0">
                <a:solidFill>
                  <a:srgbClr val="18324A"/>
                </a:solidFill>
              </a:rPr>
              <a:t> never writes past the size.</a:t>
            </a:r>
            <a:endParaRPr lang="en-US" sz="2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Text and numbers: two ways each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48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256491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job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2805131" y="1261872"/>
            <a:ext cx="4701023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by hand</a:t>
            </a:r>
            <a:endParaRPr lang="en-US" sz="1800" dirty="0"/>
          </a:p>
        </p:txBody>
      </p:sp>
      <p:sp>
        <p:nvSpPr>
          <p:cNvPr id="8" name="Shape 8"/>
          <p:cNvSpPr/>
          <p:nvPr/>
        </p:nvSpPr>
        <p:spPr>
          <a:xfrm>
            <a:off x="7506155" y="1261872"/>
            <a:ext cx="4136901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with a function</a:t>
            </a:r>
            <a:endParaRPr lang="en-US" sz="1800" dirty="0"/>
          </a:p>
        </p:txBody>
      </p:sp>
      <p:sp>
        <p:nvSpPr>
          <p:cNvPr id="9" name="Shape 9"/>
          <p:cNvSpPr/>
          <p:nvPr/>
        </p:nvSpPr>
        <p:spPr>
          <a:xfrm>
            <a:off x="548640" y="1920240"/>
            <a:ext cx="2256491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text to </a:t>
            </a: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int</a:t>
            </a:r>
            <a:endParaRPr lang="en-US" sz="2600" dirty="0"/>
          </a:p>
        </p:txBody>
      </p:sp>
      <p:sp>
        <p:nvSpPr>
          <p:cNvPr id="10" name="Shape 10"/>
          <p:cNvSpPr/>
          <p:nvPr/>
        </p:nvSpPr>
        <p:spPr>
          <a:xfrm>
            <a:off x="2805131" y="1920240"/>
            <a:ext cx="470102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n = n * 10 + (s[i] - '0')</a:t>
            </a:r>
            <a:endParaRPr lang="en-US" sz="2600" dirty="0"/>
          </a:p>
        </p:txBody>
      </p:sp>
      <p:sp>
        <p:nvSpPr>
          <p:cNvPr id="11" name="Shape 11"/>
          <p:cNvSpPr/>
          <p:nvPr/>
        </p:nvSpPr>
        <p:spPr>
          <a:xfrm>
            <a:off x="7506155" y="1920240"/>
            <a:ext cx="4136901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atoi(s)</a:t>
            </a:r>
            <a:r>
              <a:rPr lang="en-US" sz="2600" dirty="0">
                <a:solidFill>
                  <a:srgbClr val="18324A"/>
                </a:solidFill>
              </a:rPr>
              <a:t>  (</a:t>
            </a: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&lt;stdlib.h&gt;</a:t>
            </a:r>
            <a:r>
              <a:rPr lang="en-US" sz="2600" dirty="0">
                <a:solidFill>
                  <a:srgbClr val="18324A"/>
                </a:solidFill>
              </a:rPr>
              <a:t>)</a:t>
            </a:r>
            <a:endParaRPr lang="en-US" sz="2600" dirty="0"/>
          </a:p>
        </p:txBody>
      </p:sp>
      <p:sp>
        <p:nvSpPr>
          <p:cNvPr id="12" name="Shape 12"/>
          <p:cNvSpPr/>
          <p:nvPr/>
        </p:nvSpPr>
        <p:spPr>
          <a:xfrm>
            <a:off x="548640" y="2578608"/>
            <a:ext cx="2256491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lang="en-US" sz="2600" dirty="0">
                <a:solidFill>
                  <a:srgbClr val="18324A"/>
                </a:solidFill>
              </a:rPr>
              <a:t> to text</a:t>
            </a:r>
            <a:endParaRPr lang="en-US" sz="2600" dirty="0"/>
          </a:p>
        </p:txBody>
      </p:sp>
      <p:sp>
        <p:nvSpPr>
          <p:cNvPr id="13" name="Shape 13"/>
          <p:cNvSpPr/>
          <p:nvPr/>
        </p:nvSpPr>
        <p:spPr>
          <a:xfrm>
            <a:off x="2805131" y="2578608"/>
            <a:ext cx="4701023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n % 10</a:t>
            </a:r>
            <a:r>
              <a:rPr lang="en-US" sz="2600" dirty="0">
                <a:solidFill>
                  <a:srgbClr val="18324A"/>
                </a:solidFill>
              </a:rPr>
              <a:t>, </a:t>
            </a: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n / 10</a:t>
            </a:r>
            <a:r>
              <a:rPr lang="en-US" sz="2600" dirty="0">
                <a:solidFill>
                  <a:srgbClr val="18324A"/>
                </a:solidFill>
              </a:rPr>
              <a:t>, reverse</a:t>
            </a:r>
            <a:endParaRPr lang="en-US" sz="2600" dirty="0"/>
          </a:p>
        </p:txBody>
      </p:sp>
      <p:sp>
        <p:nvSpPr>
          <p:cNvPr id="14" name="Shape 14"/>
          <p:cNvSpPr/>
          <p:nvPr/>
        </p:nvSpPr>
        <p:spPr>
          <a:xfrm>
            <a:off x="7506155" y="2578608"/>
            <a:ext cx="4136901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sprintf(s, "%d", n)</a:t>
            </a:r>
            <a:endParaRPr lang="en-US" sz="2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2011680"/>
            <a:ext cx="1188720" cy="1188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6</a:t>
            </a:r>
            <a:endParaRPr lang="en-US" sz="5400" dirty="0"/>
          </a:p>
        </p:txBody>
      </p:sp>
      <p:sp>
        <p:nvSpPr>
          <p:cNvPr id="3" name="Shape 3"/>
          <p:cNvSpPr/>
          <p:nvPr/>
        </p:nvSpPr>
        <p:spPr>
          <a:xfrm>
            <a:off x="2286000" y="1920240"/>
            <a:ext cx="93268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Your turn</a:t>
            </a:r>
            <a:endParaRPr lang="en-US" sz="4800" dirty="0"/>
          </a:p>
        </p:txBody>
      </p:sp>
      <p:sp>
        <p:nvSpPr>
          <p:cNvPr id="4" name="Shape 4"/>
          <p:cNvSpPr/>
          <p:nvPr/>
        </p:nvSpPr>
        <p:spPr>
          <a:xfrm>
            <a:off x="2286000" y="3474720"/>
            <a:ext cx="9326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D7E3F0"/>
                </a:solidFill>
              </a:rPr>
              <a:t>Two short tasks on paper</a:t>
            </a:r>
            <a:endParaRPr lang="en-US" sz="2600" dirty="0"/>
          </a:p>
        </p:txBody>
      </p:sp>
      <p:sp>
        <p:nvSpPr>
          <p:cNvPr id="5" name="Shape 5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CSCI 1101 · Programming Principles I · Class 12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Your turn: digit_sum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50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YOUR TURN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11094415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Write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int digit_sum(char s[])</a:t>
            </a:r>
            <a:r>
              <a:rPr lang="en-US" sz="3200" dirty="0">
                <a:solidFill>
                  <a:srgbClr val="18324A"/>
                </a:solidFill>
              </a:rPr>
              <a:t>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It adds the digits of a string.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digit_sum("2026")</a:t>
            </a:r>
            <a:r>
              <a:rPr lang="en-US" sz="3200" dirty="0">
                <a:solidFill>
                  <a:srgbClr val="18324A"/>
                </a:solidFill>
              </a:rPr>
              <a:t> is 2 + 0 + 2 + 6 = 10.</a:t>
            </a:r>
            <a:endParaRPr lang="en-US" sz="3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digit_sum: one answer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51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315200" cy="49060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178177"/>
            <a:ext cx="731520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17817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2527427"/>
            <a:ext cx="731520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52742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548640" y="1261872"/>
            <a:ext cx="7315200" cy="49060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digit_sum(char s[])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sum = 0;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i = 0; s[i] != '\0'; i++)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sum += s[i] - '0';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sum;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printf("%d\n", digit_sum("2026"));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printf("%d\n", digit_sum("999"));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</p:txBody>
      </p:sp>
      <p:sp>
        <p:nvSpPr>
          <p:cNvPr id="12" name="Shape 12"/>
          <p:cNvSpPr/>
          <p:nvPr/>
        </p:nvSpPr>
        <p:spPr>
          <a:xfrm>
            <a:off x="8138160" y="1261872"/>
            <a:ext cx="350489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3" name="Shape 13"/>
          <p:cNvSpPr/>
          <p:nvPr/>
        </p:nvSpPr>
        <p:spPr>
          <a:xfrm>
            <a:off x="8138160" y="1645920"/>
            <a:ext cx="3504895" cy="112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ode"/>
          <p:cNvSpPr/>
          <p:nvPr/>
        </p:nvSpPr>
        <p:spPr>
          <a:xfrm>
            <a:off x="8138160" y="1645920"/>
            <a:ext cx="3504895" cy="112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10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27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8138160" y="3048000"/>
            <a:ext cx="350489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8138160" y="3048000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Callout"/>
          <p:cNvSpPr/>
          <p:nvPr/>
        </p:nvSpPr>
        <p:spPr>
          <a:xfrm>
            <a:off x="8247888" y="3048000"/>
            <a:ext cx="339516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Tuesday's loop to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'\0'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Your turn: an e-mail address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52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YOUR TURN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11094415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Read a user name, like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aysel</a:t>
            </a:r>
            <a:r>
              <a:rPr lang="en-US" sz="3200" dirty="0">
                <a:solidFill>
                  <a:srgbClr val="18324A"/>
                </a:solidFill>
              </a:rPr>
              <a:t>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Print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aysel@ada.edu.az</a:t>
            </a:r>
            <a:r>
              <a:rPr lang="en-US" sz="3200" dirty="0">
                <a:solidFill>
                  <a:srgbClr val="18324A"/>
                </a:solidFill>
              </a:rPr>
              <a:t>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Use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strcpy</a:t>
            </a:r>
            <a:r>
              <a:rPr lang="en-US" sz="3200" dirty="0">
                <a:solidFill>
                  <a:srgbClr val="18324A"/>
                </a:solidFill>
              </a:rPr>
              <a:t> and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strcat</a:t>
            </a:r>
            <a:r>
              <a:rPr lang="en-US" sz="3200" dirty="0">
                <a:solidFill>
                  <a:srgbClr val="18324A"/>
                </a:solidFill>
              </a:rPr>
              <a:t>. How big must the array be?</a:t>
            </a:r>
            <a:endParaRPr lang="en-US" sz="3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E-mail: one answer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53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498080" cy="4810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3711702"/>
            <a:ext cx="7498080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37117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4156202"/>
            <a:ext cx="7498080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41562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548640" y="1261872"/>
            <a:ext cx="7498080" cy="4810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char user[20];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char email[40];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printf("User name: ");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scanf("%19s", user);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strcpy(email, user);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strcat(email, "@ada.edu.az");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printf("%s\n", email);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800" dirty="0"/>
          </a:p>
        </p:txBody>
      </p:sp>
      <p:sp>
        <p:nvSpPr>
          <p:cNvPr id="12" name="Shape 12"/>
          <p:cNvSpPr/>
          <p:nvPr/>
        </p:nvSpPr>
        <p:spPr>
          <a:xfrm>
            <a:off x="8321040" y="1261872"/>
            <a:ext cx="332201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3" name="Shape 13"/>
          <p:cNvSpPr/>
          <p:nvPr/>
        </p:nvSpPr>
        <p:spPr>
          <a:xfrm>
            <a:off x="8321040" y="1645920"/>
            <a:ext cx="3322015" cy="112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ode"/>
          <p:cNvSpPr/>
          <p:nvPr/>
        </p:nvSpPr>
        <p:spPr>
          <a:xfrm>
            <a:off x="8321040" y="1645920"/>
            <a:ext cx="3322015" cy="112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User name: aysel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aysel@ada.edu.az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8321040" y="3048000"/>
            <a:ext cx="33220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8321040" y="304800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Callout"/>
          <p:cNvSpPr/>
          <p:nvPr/>
        </p:nvSpPr>
        <p:spPr>
          <a:xfrm>
            <a:off x="8430768" y="3048000"/>
            <a:ext cx="32122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email</a:t>
            </a:r>
            <a:r>
              <a:rPr lang="en-US" sz="2400" dirty="0">
                <a:solidFill>
                  <a:srgbClr val="18324A"/>
                </a:solidFill>
              </a:rPr>
              <a:t> has 40 boxes: name + 11 + 1.</a:t>
            </a:r>
            <a:endParaRPr lang="en-US" sz="2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Today in one slide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54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731520" y="1307592"/>
            <a:ext cx="640080" cy="640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Shape 7"/>
          <p:cNvSpPr/>
          <p:nvPr/>
        </p:nvSpPr>
        <p:spPr>
          <a:xfrm>
            <a:off x="1691640" y="13075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strlen</a:t>
            </a:r>
            <a:r>
              <a:rPr lang="en-US" sz="2800" dirty="0">
                <a:solidFill>
                  <a:srgbClr val="18324A"/>
                </a:solidFill>
              </a:rPr>
              <a:t>: the letters before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'\0'</a:t>
            </a:r>
            <a:r>
              <a:rPr lang="en-US" sz="2800" dirty="0">
                <a:solidFill>
                  <a:srgbClr val="18324A"/>
                </a:solidFill>
              </a:rPr>
              <a:t>; not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sizeof</a:t>
            </a:r>
            <a:endParaRPr lang="en-US" sz="2800" dirty="0"/>
          </a:p>
        </p:txBody>
      </p:sp>
      <p:sp>
        <p:nvSpPr>
          <p:cNvPr id="8" name="Shape 8"/>
          <p:cNvSpPr/>
          <p:nvPr/>
        </p:nvSpPr>
        <p:spPr>
          <a:xfrm>
            <a:off x="731520" y="2221992"/>
            <a:ext cx="640080" cy="6400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1691640" y="22219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strcpy</a:t>
            </a:r>
            <a:r>
              <a:rPr lang="en-US" sz="2800" dirty="0">
                <a:solidFill>
                  <a:srgbClr val="18324A"/>
                </a:solidFill>
              </a:rPr>
              <a:t> to put a string in an array; never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=</a:t>
            </a:r>
            <a:endParaRPr lang="en-US" sz="2800" dirty="0"/>
          </a:p>
        </p:txBody>
      </p:sp>
      <p:sp>
        <p:nvSpPr>
          <p:cNvPr id="10" name="Shape 10"/>
          <p:cNvSpPr/>
          <p:nvPr/>
        </p:nvSpPr>
        <p:spPr>
          <a:xfrm>
            <a:off x="731520" y="3136392"/>
            <a:ext cx="6400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1691640" y="31363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strcat</a:t>
            </a:r>
            <a:r>
              <a:rPr lang="en-US" sz="2800" dirty="0">
                <a:solidFill>
                  <a:srgbClr val="18324A"/>
                </a:solidFill>
              </a:rPr>
              <a:t> adds to the end: count the room</a:t>
            </a:r>
            <a:endParaRPr lang="en-US" sz="2800" dirty="0"/>
          </a:p>
        </p:txBody>
      </p:sp>
      <p:sp>
        <p:nvSpPr>
          <p:cNvPr id="12" name="Shape 12"/>
          <p:cNvSpPr/>
          <p:nvPr/>
        </p:nvSpPr>
        <p:spPr>
          <a:xfrm>
            <a:off x="731520" y="4050792"/>
            <a:ext cx="64008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1691640" y="40507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Equal strings: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strcmp(a, b) == 0</a:t>
            </a:r>
            <a:r>
              <a:rPr lang="en-US" sz="2800" dirty="0">
                <a:solidFill>
                  <a:srgbClr val="18324A"/>
                </a:solidFill>
              </a:rPr>
              <a:t>; never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==</a:t>
            </a:r>
            <a:endParaRPr lang="en-US" sz="2800" dirty="0"/>
          </a:p>
        </p:txBody>
      </p:sp>
      <p:sp>
        <p:nvSpPr>
          <p:cNvPr id="14" name="Shape 14"/>
          <p:cNvSpPr/>
          <p:nvPr/>
        </p:nvSpPr>
        <p:spPr>
          <a:xfrm>
            <a:off x="731520" y="4965192"/>
            <a:ext cx="640080" cy="6400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1691640" y="49651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Text to number: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n * 10 + digit</a:t>
            </a:r>
            <a:r>
              <a:rPr lang="en-US" sz="2800" dirty="0">
                <a:solidFill>
                  <a:srgbClr val="18324A"/>
                </a:solidFill>
              </a:rPr>
              <a:t> or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atoi</a:t>
            </a:r>
            <a:r>
              <a:rPr lang="en-US" sz="2800" dirty="0">
                <a:solidFill>
                  <a:srgbClr val="18324A"/>
                </a:solidFill>
              </a:rPr>
              <a:t>; back: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sprintf</a:t>
            </a:r>
            <a:endParaRPr lang="en-US" sz="2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Before Tuesday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12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55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731520" y="1307592"/>
            <a:ext cx="640080" cy="640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Shape 7"/>
          <p:cNvSpPr/>
          <p:nvPr/>
        </p:nvSpPr>
        <p:spPr>
          <a:xfrm>
            <a:off x="1691640" y="13075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8324A"/>
                </a:solidFill>
              </a:rPr>
              <a:t>Knowledge check 12</a:t>
            </a:r>
            <a:r>
              <a:rPr lang="en-US" sz="2800" dirty="0">
                <a:solidFill>
                  <a:srgbClr val="18324A"/>
                </a:solidFill>
              </a:rPr>
              <a:t> on Blackboard: today's slides</a:t>
            </a:r>
            <a:endParaRPr lang="en-US" sz="2800" dirty="0"/>
          </a:p>
        </p:txBody>
      </p:sp>
      <p:sp>
        <p:nvSpPr>
          <p:cNvPr id="8" name="Shape 8"/>
          <p:cNvSpPr/>
          <p:nvPr/>
        </p:nvSpPr>
        <p:spPr>
          <a:xfrm>
            <a:off x="731520" y="2125066"/>
            <a:ext cx="640080" cy="6400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1691640" y="2125066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8324A"/>
                </a:solidFill>
              </a:rPr>
              <a:t>Quiz 4: Fri 23 October</a:t>
            </a:r>
            <a:r>
              <a:rPr lang="en-US" sz="2800" dirty="0">
                <a:solidFill>
                  <a:srgbClr val="18324A"/>
                </a:solidFill>
              </a:rPr>
              <a:t>, classes 11-12: strings</a:t>
            </a:r>
            <a:endParaRPr lang="en-US" sz="2800" dirty="0"/>
          </a:p>
        </p:txBody>
      </p:sp>
      <p:sp>
        <p:nvSpPr>
          <p:cNvPr id="10" name="Shape 10"/>
          <p:cNvSpPr/>
          <p:nvPr/>
        </p:nvSpPr>
        <p:spPr>
          <a:xfrm>
            <a:off x="731520" y="2942539"/>
            <a:ext cx="6400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1691640" y="2942539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8324A"/>
                </a:solidFill>
              </a:rPr>
              <a:t>Project 2</a:t>
            </a:r>
            <a:r>
              <a:rPr lang="en-US" sz="2800" dirty="0">
                <a:solidFill>
                  <a:srgbClr val="18324A"/>
                </a:solidFill>
              </a:rPr>
              <a:t>: announced this week, on Blackboard</a:t>
            </a:r>
            <a:endParaRPr lang="en-US" sz="2800" dirty="0"/>
          </a:p>
        </p:txBody>
      </p:sp>
      <p:sp>
        <p:nvSpPr>
          <p:cNvPr id="12" name="Shape 12"/>
          <p:cNvSpPr/>
          <p:nvPr/>
        </p:nvSpPr>
        <p:spPr>
          <a:xfrm>
            <a:off x="731520" y="3760013"/>
            <a:ext cx="64008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1691640" y="3760013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8324A"/>
                </a:solidFill>
              </a:rPr>
              <a:t>Midterm</a:t>
            </a:r>
            <a:r>
              <a:rPr lang="en-US" sz="2800" dirty="0">
                <a:solidFill>
                  <a:srgbClr val="18324A"/>
                </a:solidFill>
              </a:rPr>
              <a:t>: week of 26 October, classes 1 to 14</a:t>
            </a:r>
            <a:endParaRPr lang="en-US" sz="2800" dirty="0"/>
          </a:p>
        </p:txBody>
      </p:sp>
      <p:sp>
        <p:nvSpPr>
          <p:cNvPr id="14" name="Shape 14"/>
          <p:cNvSpPr/>
          <p:nvPr/>
        </p:nvSpPr>
        <p:spPr>
          <a:xfrm>
            <a:off x="731520" y="4577486"/>
            <a:ext cx="640080" cy="6400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1691640" y="4577486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Today's code: Blackboard, Week 6 module, </a:t>
            </a:r>
            <a:r>
              <a:rPr lang="en-US" sz="2800" b="1" dirty="0">
                <a:solidFill>
                  <a:srgbClr val="18324A"/>
                </a:solidFill>
              </a:rPr>
              <a:t>Class 12 code</a:t>
            </a:r>
            <a:endParaRPr lang="en-US" sz="2800" dirty="0"/>
          </a:p>
        </p:txBody>
      </p:sp>
      <p:sp>
        <p:nvSpPr>
          <p:cNvPr id="16" name="Shape 16"/>
          <p:cNvSpPr/>
          <p:nvPr/>
        </p:nvSpPr>
        <p:spPr>
          <a:xfrm>
            <a:off x="548640" y="5486400"/>
            <a:ext cx="11094415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548640" y="5486400"/>
            <a:ext cx="109728" cy="77724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Callout"/>
          <p:cNvSpPr/>
          <p:nvPr/>
        </p:nvSpPr>
        <p:spPr>
          <a:xfrm>
            <a:off x="658368" y="5486400"/>
            <a:ext cx="10984687" cy="77724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Next class: two-dimensional arrays. Tables of numbers.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E6C91384D4CF4A8C11771C71AF99FC" ma:contentTypeVersion="3" ma:contentTypeDescription="Create a new document." ma:contentTypeScope="" ma:versionID="9457c7892666d9df0301343fedda2daf">
  <xsd:schema xmlns:xsd="http://www.w3.org/2001/XMLSchema" xmlns:xs="http://www.w3.org/2001/XMLSchema" xmlns:p="http://schemas.microsoft.com/office/2006/metadata/properties" xmlns:ns2="76ba2307-afa1-4918-86e6-ffe4c7b76c67" targetNamespace="http://schemas.microsoft.com/office/2006/metadata/properties" ma:root="true" ma:fieldsID="01dbc32444af8b37558df168563705b5" ns2:_="">
    <xsd:import namespace="76ba2307-afa1-4918-86e6-ffe4c7b76c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ba2307-afa1-4918-86e6-ffe4c7b76c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A66058B-8C7C-44C5-988D-122F37B2CD1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59415D-7EF4-4728-B780-B028948F84C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C07D86D-9D44-4F53-9B6F-B55C63480B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ba2307-afa1-4918-86e6-ffe4c7b76c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7333</Words>
  <Application>Microsoft Office PowerPoint</Application>
  <PresentationFormat>Widescreen</PresentationFormat>
  <Paragraphs>1090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9" baseType="lpstr">
      <vt:lpstr>Aptos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3 - Loops in C</dc:title>
  <dc:subject>Programming Principles I - Week 3</dc:subject>
  <dc:creator>Azar Aliyev</dc:creator>
  <cp:lastModifiedBy>Abbas Aliyev</cp:lastModifiedBy>
  <cp:revision>5</cp:revision>
  <dcterms:created xsi:type="dcterms:W3CDTF">2026-09-17T10:16:02Z</dcterms:created>
  <dcterms:modified xsi:type="dcterms:W3CDTF">2026-10-16T20:06:00Z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0x010100A9E6C91384D4CF4A8C11771C71AF99FC</vt:lpwstr>
  </property>
</Properties>
</file>