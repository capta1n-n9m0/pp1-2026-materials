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087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86889-3689-4BBD-94D2-B7455F04A33F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EAB14-D13F-4981-B53D-D95A0236A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37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was on the screen during Quiz 3. Quiz 3 covered classes 7 to 10. Your marked paper comes on Blackboard: Grades, Quiz 3, the feedback.</a:t>
            </a:r>
          </a:p>
          <a:p>
            <a:endParaRPr lang="en-US"/>
          </a:p>
          <a:p>
            <a:r>
              <a:rPr lang="en-US"/>
              <a:t>Quiz 4 is on Friday 23 October and covers classes 11 and 12: characters and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7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programs of this class are on Blackboard: Week 7 module, Class 13 code. It is a zip file. Unzip it and open the folder in Visual Studio Code. Every file has a comment at the top: what the program does, how to run it, and a list called Try with small changes to make. Make them.</a:t>
            </a:r>
          </a:p>
          <a:p>
            <a:endParaRPr lang="en-US"/>
          </a:p>
          <a:p>
            <a:r>
              <a:rPr lang="en-US"/>
              <a:t>How to run a program. Same as every week. In the terminal type gcc -Wall name.c -o name and press Enter, then ./name (or .\name in Windows PowerShell) and press Enter.</a:t>
            </a:r>
          </a:p>
          <a:p>
            <a:endParaRPr lang="en-US"/>
          </a:p>
          <a:p>
            <a:r>
              <a:rPr lang="en-US"/>
              <a:t>Today: tables of numbers. A table has rows and columns. In C it is a two-dimensional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50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you need from classes 9 and 10:</a:t>
            </a:r>
          </a:p>
          <a:p>
            <a:endParaRPr lang="en-US"/>
          </a:p>
          <a:p>
            <a:r>
              <a:rPr lang="en-US"/>
              <a:t>- int day[4]; makes 4 boxes: day[0], day[1], day[2], day[3].</a:t>
            </a:r>
          </a:p>
          <a:p>
            <a:r>
              <a:rPr lang="en-US"/>
              <a:t>- int day[4] = {3, 5, 8, 4}; fills them.</a:t>
            </a:r>
          </a:p>
          <a:p>
            <a:r>
              <a:rPr lang="en-US"/>
              <a:t>- A for loop visits every box: c &lt; 4, never c &lt;= 4.</a:t>
            </a:r>
          </a:p>
          <a:p>
            <a:r>
              <a:rPr lang="en-US"/>
              <a:t>- C does not check the index. You must.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50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91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screen shows 3 5 8 4. c goes 0, 1, 2, 3, and the loop stops when c is 4. The file is 01_recap_row.c.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7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 you have three days, and four temperatures each day: 12 numbers.</a:t>
            </a:r>
          </a:p>
          <a:p>
            <a:endParaRPr lang="en-US"/>
          </a:p>
          <a:p>
            <a:r>
              <a:rPr lang="en-US"/>
              <a:t>- Twelve variables are too many.</a:t>
            </a:r>
          </a:p>
          <a:p>
            <a:r>
              <a:rPr lang="en-US"/>
              <a:t>- Three arrays day0, day1, day2 are better, but a loop cannot go through the names.</a:t>
            </a:r>
          </a:p>
          <a:p>
            <a:r>
              <a:rPr lang="en-US"/>
              <a:t>- One table with 3 rows and 4 columns is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98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Five parts:</a:t>
            </a:r>
          </a:p>
          <a:p>
            <a:endParaRPr lang="en-US"/>
          </a:p>
          <a:p>
            <a:r>
              <a:rPr lang="en-US"/>
              <a:t>1. A table: int t[3][4];</a:t>
            </a:r>
          </a:p>
          <a:p>
            <a:r>
              <a:rPr lang="en-US"/>
              <a:t>2. Two loops, one inside the other.</a:t>
            </a:r>
          </a:p>
          <a:p>
            <a:r>
              <a:rPr lang="en-US"/>
              <a:t>3. Row sums and column sums.</a:t>
            </a:r>
          </a:p>
          <a:p>
            <a:r>
              <a:rPr lang="en-US"/>
              <a:t>4. Read a table, and two careful cases.</a:t>
            </a:r>
          </a:p>
          <a:p>
            <a:r>
              <a:rPr lang="en-US"/>
              <a:t>5. Your turn, and Project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37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1: a table. The rule of the day: rows first, then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17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 t[3][4];</a:t>
            </a:r>
          </a:p>
          <a:p>
            <a:endParaRPr lang="en-US"/>
          </a:p>
          <a:p>
            <a:r>
              <a:rPr lang="en-US"/>
              <a:t>- The first number is the number of rows: 3.</a:t>
            </a:r>
          </a:p>
          <a:p>
            <a:r>
              <a:rPr lang="en-US"/>
              <a:t>- The second number is the number of columns: 4.</a:t>
            </a:r>
          </a:p>
          <a:p>
            <a:r>
              <a:rPr lang="en-US"/>
              <a:t>- 3 × 4 = 12 boxes, all int.</a:t>
            </a:r>
          </a:p>
          <a:p>
            <a:endParaRPr lang="en-US"/>
          </a:p>
          <a:p>
            <a:r>
              <a:rPr lang="en-US"/>
              <a:t>One box is t[row][column]. Both numbers start at 0. So the rows are 0, 1, 2 and the columns are 0, 1, 2,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18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table as a picture:</a:t>
            </a:r>
          </a:p>
          <a:p>
            <a:endParaRPr lang="en-US"/>
          </a:p>
          <a:p>
            <a:r>
              <a:rPr lang="en-US"/>
              <a:t>: column 0 · column 1 · column 2 · column 3</a:t>
            </a:r>
          </a:p>
          <a:p>
            <a:r>
              <a:rPr lang="en-US"/>
              <a:t>row 0: 3 · 5 · 8 · 4</a:t>
            </a:r>
          </a:p>
          <a:p>
            <a:r>
              <a:rPr lang="en-US"/>
              <a:t>row 1: 2 · 6 · 9 · 1</a:t>
            </a:r>
          </a:p>
          <a:p>
            <a:r>
              <a:rPr lang="en-US"/>
              <a:t>row 2: -1 · 0 · 4 · 2</a:t>
            </a:r>
          </a:p>
          <a:p>
            <a:endParaRPr lang="en-US"/>
          </a:p>
          <a:p>
            <a:r>
              <a:rPr lang="en-US"/>
              <a:t>t[1][2] means: go to row 1, then to column 2. It is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70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 t[3][4] = {</a:t>
            </a:r>
          </a:p>
          <a:p>
            <a:r>
              <a:rPr lang="en-US"/>
              <a:t>    {3, 5, 8, 4},</a:t>
            </a:r>
          </a:p>
          <a:p>
            <a:r>
              <a:rPr lang="en-US"/>
              <a:t>    {2, 6, 9, 1},</a:t>
            </a:r>
          </a:p>
          <a:p>
            <a:r>
              <a:rPr lang="en-US"/>
              <a:t>    {-1, 0, 4, 2}</a:t>
            </a:r>
          </a:p>
          <a:p>
            <a:r>
              <a:rPr lang="en-US"/>
              <a:t>};</a:t>
            </a:r>
          </a:p>
          <a:p>
            <a:endParaRPr lang="en-US"/>
          </a:p>
          <a:p>
            <a:r>
              <a:rPr lang="en-US"/>
              <a:t>- One pair of braces { } for each row.</a:t>
            </a:r>
          </a:p>
          <a:p>
            <a:r>
              <a:rPr lang="en-US"/>
              <a:t>- A comma between the rows.</a:t>
            </a:r>
          </a:p>
          <a:p>
            <a:r>
              <a:rPr lang="en-US"/>
              <a:t>- A semicolon after the last brace.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81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 Use the picture of slide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 prints: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r>
              <a:rPr lang="en-US"/>
              <a:t>9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t[0][0] is the first box: 3. t[1][2] is row 1, column 2: 9. t[2][3] is the last box: 2. The file is 02_table.c.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310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63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No, they are different boxes.</a:t>
            </a:r>
          </a:p>
          <a:p>
            <a:endParaRPr lang="en-US"/>
          </a:p>
          <a:p>
            <a:r>
              <a:rPr lang="en-US"/>
              <a:t>- t[1][2] is row 1, column 2: 9.</a:t>
            </a:r>
          </a:p>
          <a:p>
            <a:r>
              <a:rPr lang="en-US"/>
              <a:t>- t[2][1] is row 2, column 1: 0.</a:t>
            </a:r>
          </a:p>
          <a:p>
            <a:endParaRPr lang="en-US"/>
          </a:p>
          <a:p>
            <a:r>
              <a:rPr lang="en-US"/>
              <a:t>The first index is always the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59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 t[2][3] = {</a:t>
            </a:r>
          </a:p>
          <a:p>
            <a:r>
              <a:rPr lang="en-US"/>
              <a:t>    {1},</a:t>
            </a:r>
          </a:p>
          <a:p>
            <a:r>
              <a:rPr lang="en-US"/>
              <a:t>    {4, 5}</a:t>
            </a:r>
          </a:p>
          <a:p>
            <a:r>
              <a:rPr lang="en-US"/>
              <a:t>};</a:t>
            </a:r>
          </a:p>
          <a:p>
            <a:endParaRPr lang="en-US"/>
          </a:p>
          <a:p>
            <a:r>
              <a:rPr lang="en-US"/>
              <a:t>Every box you do not give a value becomes 0. Printed row by row:</a:t>
            </a:r>
          </a:p>
          <a:p>
            <a:endParaRPr lang="en-US"/>
          </a:p>
          <a:p>
            <a:r>
              <a:rPr lang="en-US"/>
              <a:t>1 0 0</a:t>
            </a:r>
          </a:p>
          <a:p>
            <a:r>
              <a:rPr lang="en-US"/>
              <a:t>4 5 0</a:t>
            </a:r>
          </a:p>
          <a:p>
            <a:endParaRPr lang="en-US"/>
          </a:p>
          <a:p>
            <a:r>
              <a:rPr lang="en-US"/>
              <a:t>So int t[2][3] = {0}; makes every box 0. Without any list, the boxes hold garbage. The file is 03_missing_zero.c.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14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2: to visit every box of a table, you need two loops, one inside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64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(int r = 0; r &lt; 3; r++) {</a:t>
            </a:r>
          </a:p>
          <a:p>
            <a:r>
              <a:rPr lang="en-US"/>
              <a:t>    for (int c = 0; c &lt; 4; c++) {</a:t>
            </a:r>
          </a:p>
          <a:p>
            <a:r>
              <a:rPr lang="en-US"/>
              <a:t>        printf("(%d,%d) ", r, c);</a:t>
            </a:r>
          </a:p>
          <a:p>
            <a:r>
              <a:rPr lang="en-US"/>
              <a:t>    }</a:t>
            </a:r>
          </a:p>
          <a:p>
            <a:r>
              <a:rPr lang="en-US"/>
              <a:t>    printf("\n");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- The outer loop picks the row: r is 0, 1, 2.</a:t>
            </a:r>
          </a:p>
          <a:p>
            <a:r>
              <a:rPr lang="en-US"/>
              <a:t>- The inner loop walks along every column of that row: c is 0, 1, 2, 3.</a:t>
            </a:r>
          </a:p>
          <a:p>
            <a:endParaRPr lang="en-US"/>
          </a:p>
          <a:p>
            <a:r>
              <a:rPr lang="en-US"/>
              <a:t>The output shows the boxes in the order the loops visit them:</a:t>
            </a:r>
          </a:p>
          <a:p>
            <a:endParaRPr lang="en-US"/>
          </a:p>
          <a:p>
            <a:r>
              <a:rPr lang="en-US"/>
              <a:t>(0,0) (0,1) (0,2) (0,3)</a:t>
            </a:r>
          </a:p>
          <a:p>
            <a:r>
              <a:rPr lang="en-US"/>
              <a:t>(1,0) (1,1) (1,2) (1,3)</a:t>
            </a:r>
          </a:p>
          <a:p>
            <a:r>
              <a:rPr lang="en-US"/>
              <a:t>(2,0) (2,1) (2,2) (2,3)</a:t>
            </a:r>
          </a:p>
          <a:p>
            <a:endParaRPr lang="en-US"/>
          </a:p>
          <a:p>
            <a:r>
              <a:rPr lang="en-US"/>
              <a:t>The file is 04_order.c.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84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every row, the inner loop runs all the way: c is 0, 1, 2, 3. Only then does r go up by one, and c starts again at 0. So after (0,3) comes (1,0).</a:t>
            </a:r>
          </a:p>
          <a:p>
            <a:endParaRPr lang="en-US"/>
          </a:p>
          <a:p>
            <a:r>
              <a:rPr lang="en-US"/>
              <a:t>3 rows × 4 columns: the line inside both loops runs 12 times, once for each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38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(int r = 0; r &lt; 3; r++) {</a:t>
            </a:r>
          </a:p>
          <a:p>
            <a:r>
              <a:rPr lang="en-US"/>
              <a:t>    for (int c = 0; c &lt; 4; c++) {</a:t>
            </a:r>
          </a:p>
          <a:p>
            <a:r>
              <a:rPr lang="en-US"/>
              <a:t>        printf("%4d", t[r][c]);</a:t>
            </a:r>
          </a:p>
          <a:p>
            <a:r>
              <a:rPr lang="en-US"/>
              <a:t>    }</a:t>
            </a:r>
          </a:p>
          <a:p>
            <a:r>
              <a:rPr lang="en-US"/>
              <a:t>    printf("\n");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%4d prints every number in 4 places, so the columns line up. After each row, printf("\n") starts a new line.</a:t>
            </a:r>
          </a:p>
          <a:p>
            <a:endParaRPr lang="en-US"/>
          </a:p>
          <a:p>
            <a:r>
              <a:rPr lang="en-US"/>
              <a:t>   3   5   8   4</a:t>
            </a:r>
          </a:p>
          <a:p>
            <a:r>
              <a:rPr lang="en-US"/>
              <a:t>   2   6   9   1</a:t>
            </a:r>
          </a:p>
          <a:p>
            <a:r>
              <a:rPr lang="en-US"/>
              <a:t>  -1   0   4   2</a:t>
            </a:r>
          </a:p>
          <a:p>
            <a:endParaRPr lang="en-US"/>
          </a:p>
          <a:p>
            <a:r>
              <a:rPr lang="en-US"/>
              <a:t>The file is 05_print_grid.c.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01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#define ROWS 3</a:t>
            </a:r>
          </a:p>
          <a:p>
            <a:r>
              <a:rPr lang="en-US"/>
              <a:t>#define COLS 4</a:t>
            </a:r>
          </a:p>
          <a:p>
            <a:endParaRPr lang="en-US"/>
          </a:p>
          <a:p>
            <a:r>
              <a:rPr lang="en-US"/>
              <a:t>ROWS and COLS are names for 3 and 4. Write them at the top, and use the names everywhere: int t[ROWS][COLS];, r &lt; ROWS, c &lt; COLS. To change the size, you change one line, and every loop follows. There is no semicolon after a #define.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822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 one loop prints the column numbers on top. Then every row starts with its row number and a bar:</a:t>
            </a:r>
          </a:p>
          <a:p>
            <a:endParaRPr lang="en-US"/>
          </a:p>
          <a:p>
            <a:r>
              <a:rPr lang="en-US"/>
              <a:t>       0   1   2   3</a:t>
            </a:r>
          </a:p>
          <a:p>
            <a:r>
              <a:rPr lang="en-US"/>
              <a:t>0 |    3   5   8   4</a:t>
            </a:r>
          </a:p>
          <a:p>
            <a:r>
              <a:rPr lang="en-US"/>
              <a:t>1 |    2   6   9   1</a:t>
            </a:r>
          </a:p>
          <a:p>
            <a:r>
              <a:rPr lang="en-US"/>
              <a:t>2 |   -1   0   4   2</a:t>
            </a:r>
          </a:p>
          <a:p>
            <a:endParaRPr lang="en-US"/>
          </a:p>
          <a:p>
            <a:r>
              <a:rPr lang="en-US"/>
              <a:t>With labels, the player can say "row 2, column 3" without counting. You need this in Project 2. The file is 06_define_labels.c.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655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fill a table with loops instead of a list:</a:t>
            </a:r>
          </a:p>
          <a:p>
            <a:endParaRPr lang="en-US"/>
          </a:p>
          <a:p>
            <a:r>
              <a:rPr lang="en-US"/>
              <a:t>int m[ROWS][COLS];</a:t>
            </a:r>
          </a:p>
          <a:p>
            <a:r>
              <a:rPr lang="en-US"/>
              <a:t>for (int r = 0; r &lt; ROWS; r++) {</a:t>
            </a:r>
          </a:p>
          <a:p>
            <a:r>
              <a:rPr lang="en-US"/>
              <a:t>    for (int c = 0; c &lt; COLS; c++) {</a:t>
            </a:r>
          </a:p>
          <a:p>
            <a:r>
              <a:rPr lang="en-US"/>
              <a:t>        m[r][c] = (r + 1) * (c + 1);</a:t>
            </a:r>
          </a:p>
          <a:p>
            <a:r>
              <a:rPr lang="en-US"/>
              <a:t>  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With ROWS 4 and COLS 5, this makes a small multiplication table:</a:t>
            </a:r>
          </a:p>
          <a:p>
            <a:endParaRPr lang="en-US"/>
          </a:p>
          <a:p>
            <a:r>
              <a:rPr lang="en-US"/>
              <a:t>   1   2   3   4   5</a:t>
            </a:r>
          </a:p>
          <a:p>
            <a:r>
              <a:rPr lang="en-US"/>
              <a:t>   2   4   6   8  10</a:t>
            </a:r>
          </a:p>
          <a:p>
            <a:r>
              <a:rPr lang="en-US"/>
              <a:t>   3   6   9  12  15</a:t>
            </a:r>
          </a:p>
          <a:p>
            <a:r>
              <a:rPr lang="en-US"/>
              <a:t>   4   8  12  16  20</a:t>
            </a:r>
          </a:p>
          <a:p>
            <a:endParaRPr lang="en-US"/>
          </a:p>
          <a:p>
            <a:r>
              <a:rPr lang="en-US"/>
              <a:t>The file is 07_fill.c.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205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021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m[2][3] is 12: (2 + 1) × (3 + 1) = 3 × 4. You can find it in the output: row 2, column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034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3: sums. Where the sum starts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440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(int r = 0; r &lt; ROWS; r++) {</a:t>
            </a:r>
          </a:p>
          <a:p>
            <a:r>
              <a:rPr lang="en-US"/>
              <a:t>    int sum = 0;</a:t>
            </a:r>
          </a:p>
          <a:p>
            <a:r>
              <a:rPr lang="en-US"/>
              <a:t>    for (int c = 0; c &lt; COLS; c++) {</a:t>
            </a:r>
          </a:p>
          <a:p>
            <a:r>
              <a:rPr lang="en-US"/>
              <a:t>        sum += t[r][c];</a:t>
            </a:r>
          </a:p>
          <a:p>
            <a:r>
              <a:rPr lang="en-US"/>
              <a:t>    }</a:t>
            </a:r>
          </a:p>
          <a:p>
            <a:r>
              <a:rPr lang="en-US"/>
              <a:t>    printf("row %d: %d\n", r, sum);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int sum = 0; is inside the outer loop. So every row starts with a fresh sum. After the inner loop, the sum of that row is printed:</a:t>
            </a:r>
          </a:p>
          <a:p>
            <a:endParaRPr lang="en-US"/>
          </a:p>
          <a:p>
            <a:r>
              <a:rPr lang="en-US"/>
              <a:t>row 0: 20</a:t>
            </a:r>
          </a:p>
          <a:p>
            <a:r>
              <a:rPr lang="en-US"/>
              <a:t>row 1: 18</a:t>
            </a:r>
          </a:p>
          <a:p>
            <a:r>
              <a:rPr lang="en-US"/>
              <a:t>row 2: 5</a:t>
            </a:r>
          </a:p>
          <a:p>
            <a:endParaRPr lang="en-US"/>
          </a:p>
          <a:p>
            <a:r>
              <a:rPr lang="en-US"/>
              <a:t>The file is 08_row_sums.c.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902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Row 0 is 3, 5, 8, 4. The sum starts at 0.</a:t>
            </a:r>
          </a:p>
          <a:p>
            <a:endParaRPr lang="en-US"/>
          </a:p>
          <a:p>
            <a:r>
              <a:rPr lang="en-US"/>
              <a:t>c: t[0][c] · sum</a:t>
            </a:r>
          </a:p>
          <a:p>
            <a:r>
              <a:rPr lang="en-US"/>
              <a:t>-: - · 0</a:t>
            </a:r>
          </a:p>
          <a:p>
            <a:r>
              <a:rPr lang="en-US"/>
              <a:t>0: 3 · 3</a:t>
            </a:r>
          </a:p>
          <a:p>
            <a:r>
              <a:rPr lang="en-US"/>
              <a:t>1: 5 ·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435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c: t[0][c] · sum</a:t>
            </a:r>
          </a:p>
          <a:p>
            <a:r>
              <a:rPr lang="en-US"/>
              <a:t>-: - · 0</a:t>
            </a:r>
          </a:p>
          <a:p>
            <a:r>
              <a:rPr lang="en-US"/>
              <a:t>0: 3 · 3</a:t>
            </a:r>
          </a:p>
          <a:p>
            <a:r>
              <a:rPr lang="en-US"/>
              <a:t>1: 5 · 8</a:t>
            </a:r>
          </a:p>
          <a:p>
            <a:r>
              <a:rPr lang="en-US"/>
              <a:t>2: 8 · 16</a:t>
            </a:r>
          </a:p>
          <a:p>
            <a:r>
              <a:rPr lang="en-US"/>
              <a:t>3: 4 · 20</a:t>
            </a:r>
          </a:p>
          <a:p>
            <a:endParaRPr lang="en-US"/>
          </a:p>
          <a:p>
            <a:r>
              <a:rPr lang="en-US"/>
              <a:t>Then printf prints row 0: 20. For row 1, sum starts again at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788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241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int sum = 0; is above the outer loop, the sum never starts again:</a:t>
            </a:r>
          </a:p>
          <a:p>
            <a:endParaRPr lang="en-US"/>
          </a:p>
          <a:p>
            <a:r>
              <a:rPr lang="en-US"/>
              <a:t>row 0: 20</a:t>
            </a:r>
          </a:p>
          <a:p>
            <a:r>
              <a:rPr lang="en-US"/>
              <a:t>row 1: 38</a:t>
            </a:r>
          </a:p>
          <a:p>
            <a:r>
              <a:rPr lang="en-US"/>
              <a:t>row 2: 43</a:t>
            </a:r>
          </a:p>
          <a:p>
            <a:endParaRPr lang="en-US"/>
          </a:p>
          <a:p>
            <a:r>
              <a:rPr lang="en-US"/>
              <a:t>Row 1 adds its 18 to the 20 of row 0. Row 2 adds 5 more. Row 0 is still right, so this bug is easy to miss. Try it: it is Try 3 in 08_row_sums.c.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17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(int c = 0; c &lt; COLS; c++) {</a:t>
            </a:r>
          </a:p>
          <a:p>
            <a:r>
              <a:rPr lang="en-US"/>
              <a:t>    int sum = 0;</a:t>
            </a:r>
          </a:p>
          <a:p>
            <a:r>
              <a:rPr lang="en-US"/>
              <a:t>    for (int r = 0; r &lt; ROWS; r++) {</a:t>
            </a:r>
          </a:p>
          <a:p>
            <a:r>
              <a:rPr lang="en-US"/>
              <a:t>        sum += t[r][c];</a:t>
            </a:r>
          </a:p>
          <a:p>
            <a:r>
              <a:rPr lang="en-US"/>
              <a:t>    }</a:t>
            </a:r>
          </a:p>
          <a:p>
            <a:r>
              <a:rPr lang="en-US"/>
              <a:t>    printf("column %d: %d\n", c, sum);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Now the outer loop is the column, and the inner loop goes down the rows. The box is still t[r][c]: row first.</a:t>
            </a:r>
          </a:p>
          <a:p>
            <a:endParaRPr lang="en-US"/>
          </a:p>
          <a:p>
            <a:r>
              <a:rPr lang="en-US"/>
              <a:t>column 0: 4</a:t>
            </a:r>
          </a:p>
          <a:p>
            <a:r>
              <a:rPr lang="en-US"/>
              <a:t>column 1: 11</a:t>
            </a:r>
          </a:p>
          <a:p>
            <a:r>
              <a:rPr lang="en-US"/>
              <a:t>column 2: 21</a:t>
            </a:r>
          </a:p>
          <a:p>
            <a:r>
              <a:rPr lang="en-US"/>
              <a:t>column 3: 7</a:t>
            </a:r>
          </a:p>
          <a:p>
            <a:endParaRPr lang="en-US"/>
          </a:p>
          <a:p>
            <a:r>
              <a:rPr lang="en-US"/>
              <a:t>The file is 09_col_sums.c.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657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 of every: outer loop · inner loop · the box</a:t>
            </a:r>
          </a:p>
          <a:p>
            <a:r>
              <a:rPr lang="en-US"/>
              <a:t>row: r &lt; ROWS · c &lt; COLS · t[r][c]</a:t>
            </a:r>
          </a:p>
          <a:p>
            <a:r>
              <a:rPr lang="en-US"/>
              <a:t>column: c &lt; COLS · r &lt; ROWS · t[r][c]</a:t>
            </a:r>
          </a:p>
          <a:p>
            <a:endParaRPr lang="en-US"/>
          </a:p>
          <a:p>
            <a:r>
              <a:rPr lang="en-US"/>
              <a:t>Only the order of the loops changes. The box is always t[r][c].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887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4: reading a table from the keyboard, and two mistakes C does not catch.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148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(int r = 0; r &lt; ROWS; r++) {</a:t>
            </a:r>
          </a:p>
          <a:p>
            <a:r>
              <a:rPr lang="en-US"/>
              <a:t>    for (int c = 0; c &lt; COLS; c++) {</a:t>
            </a:r>
          </a:p>
          <a:p>
            <a:r>
              <a:rPr lang="en-US"/>
              <a:t>        scanf("%d", &amp;t[r][c]);</a:t>
            </a:r>
          </a:p>
          <a:p>
            <a:r>
              <a:rPr lang="en-US"/>
              <a:t>  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One box is one int, so scanf needs the &amp;. Row 0 is filled first, then row 1. Here ROWS is 2 and COLS is 3:</a:t>
            </a:r>
          </a:p>
          <a:p>
            <a:endParaRPr lang="en-US"/>
          </a:p>
          <a:p>
            <a:r>
              <a:rPr lang="en-US"/>
              <a:t>Type 6 numbers:</a:t>
            </a:r>
          </a:p>
          <a:p>
            <a:r>
              <a:rPr lang="en-US"/>
              <a:t>1 2 3</a:t>
            </a:r>
          </a:p>
          <a:p>
            <a:r>
              <a:rPr lang="en-US"/>
              <a:t>4 5 6</a:t>
            </a:r>
          </a:p>
          <a:p>
            <a:r>
              <a:rPr lang="en-US"/>
              <a:t>   1   2   3</a:t>
            </a:r>
          </a:p>
          <a:p>
            <a:r>
              <a:rPr lang="en-US"/>
              <a:t>   4   5   6</a:t>
            </a:r>
          </a:p>
          <a:p>
            <a:endParaRPr lang="en-US"/>
          </a:p>
          <a:p>
            <a:r>
              <a:rPr lang="en-US"/>
              <a:t>You can also type all six numbers on one line. The file is 10_read_grid.c.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899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138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columns are 0 to 3, so t[0][4] does not exist. But the program compiles with no error and no warning, and prints 2.</a:t>
            </a:r>
          </a:p>
          <a:p>
            <a:endParaRPr lang="en-US"/>
          </a:p>
          <a:p>
            <a:r>
              <a:rPr lang="en-US"/>
              <a:t>That 2 is t[1][0], the first box of row 1. The file is 11_past_the_row.c.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619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memory, the table is one long line of boxes: row 0, then row 1, then row 2.</a:t>
            </a:r>
          </a:p>
          <a:p>
            <a:endParaRPr lang="en-US"/>
          </a:p>
          <a:p>
            <a:r>
              <a:rPr lang="en-US"/>
              <a:t>[0][0]: [0][1] · [0][2] · [0][3] · [1][0] · [1][1] · ...</a:t>
            </a:r>
          </a:p>
          <a:p>
            <a:r>
              <a:rPr lang="en-US"/>
              <a:t>3: 5 · 8 · 4 · 2 · 6 · ...</a:t>
            </a:r>
          </a:p>
          <a:p>
            <a:endParaRPr lang="en-US"/>
          </a:p>
          <a:p>
            <a:r>
              <a:rPr lang="en-US"/>
              <a:t>One box past the end of row 0 is the first box of row 1. It is still a bug: never use an index outside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55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(int r = 0; r &lt;= ROWS; r++) {</a:t>
            </a:r>
          </a:p>
          <a:p>
            <a:r>
              <a:rPr lang="en-US"/>
              <a:t>    printf("%d ", t[r][0]);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With &lt;=, r takes 0, 1, 2 and 3. There is no row 3. The first three numbers are right; the last one is garbage, a different number on every run. Two runs:</a:t>
            </a:r>
          </a:p>
          <a:p>
            <a:endParaRPr lang="en-US"/>
          </a:p>
          <a:p>
            <a:r>
              <a:rPr lang="en-US"/>
              <a:t>3 2 -1 943716464</a:t>
            </a:r>
          </a:p>
          <a:p>
            <a:endParaRPr lang="en-US"/>
          </a:p>
          <a:p>
            <a:r>
              <a:rPr lang="en-US"/>
              <a:t>3 2 -1 -136316352</a:t>
            </a:r>
          </a:p>
          <a:p>
            <a:endParaRPr lang="en-US"/>
          </a:p>
          <a:p>
            <a:r>
              <a:rPr lang="en-US"/>
              <a:t>gcc gives no warning. The file is 12_bug_le_rows.c.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112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Rows go from 0 to ROWS - 1. Columns go from 0 to COLS - 1.</a:t>
            </a:r>
          </a:p>
          <a:p>
            <a:r>
              <a:rPr lang="en-US"/>
              <a:t>- The loops say r &lt; ROWS and c &lt; COLS. Never &lt;=.</a:t>
            </a:r>
          </a:p>
          <a:p>
            <a:r>
              <a:rPr lang="en-US"/>
              <a:t>- C does not check. A wrong index reads some other box, or garbage.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994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table can hold characters too:</a:t>
            </a:r>
          </a:p>
          <a:p>
            <a:endParaRPr lang="en-US"/>
          </a:p>
          <a:p>
            <a:r>
              <a:rPr lang="en-US"/>
              <a:t>char g[ROWS][COLS];</a:t>
            </a:r>
          </a:p>
          <a:p>
            <a:endParaRPr lang="en-US"/>
          </a:p>
          <a:p>
            <a:r>
              <a:rPr lang="en-US"/>
              <a:t>Two loops put '.' in every box. Then g[1][3] = '*'; puts a star in row 1, column 3. Two more loops print it with %c. Here ROWS is 3 and COLS is 5:</a:t>
            </a:r>
          </a:p>
          <a:p>
            <a:endParaRPr lang="en-US"/>
          </a:p>
          <a:p>
            <a:r>
              <a:rPr lang="en-US"/>
              <a:t>. . . . .</a:t>
            </a:r>
          </a:p>
          <a:p>
            <a:r>
              <a:rPr lang="en-US"/>
              <a:t>. . . * .</a:t>
            </a:r>
          </a:p>
          <a:p>
            <a:r>
              <a:rPr lang="en-US"/>
              <a:t>. . . . .</a:t>
            </a:r>
          </a:p>
          <a:p>
            <a:endParaRPr lang="en-US"/>
          </a:p>
          <a:p>
            <a:r>
              <a:rPr lang="en-US"/>
              <a:t>The file is 13_char_grid.c.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785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5: two short tasks. Write them on paper or in VS Code before you look at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475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the table t of today. Count the boxes below 0. Print the row and column of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056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 count = 0;</a:t>
            </a:r>
          </a:p>
          <a:p>
            <a:r>
              <a:rPr lang="en-US"/>
              <a:t>for (int r = 0; r &lt; ROWS; r++) {</a:t>
            </a:r>
          </a:p>
          <a:p>
            <a:r>
              <a:rPr lang="en-US"/>
              <a:t>    for (int c = 0; c &lt; COLS; c++) {</a:t>
            </a:r>
          </a:p>
          <a:p>
            <a:r>
              <a:rPr lang="en-US"/>
              <a:t>        if (t[r][c] &lt; 0) {</a:t>
            </a:r>
          </a:p>
          <a:p>
            <a:r>
              <a:rPr lang="en-US"/>
              <a:t>            printf("below zero at (%d,%d)\n", r, c);</a:t>
            </a:r>
          </a:p>
          <a:p>
            <a:r>
              <a:rPr lang="en-US"/>
              <a:t>            count++;</a:t>
            </a:r>
          </a:p>
          <a:p>
            <a:r>
              <a:rPr lang="en-US"/>
              <a:t>        }</a:t>
            </a:r>
          </a:p>
          <a:p>
            <a:r>
              <a:rPr lang="en-US"/>
              <a:t>    }</a:t>
            </a:r>
          </a:p>
          <a:p>
            <a:r>
              <a:rPr lang="en-US"/>
              <a:t>}</a:t>
            </a:r>
          </a:p>
          <a:p>
            <a:r>
              <a:rPr lang="en-US"/>
              <a:t>printf("%d below zero\n", count);</a:t>
            </a:r>
          </a:p>
          <a:p>
            <a:endParaRPr lang="en-US"/>
          </a:p>
          <a:p>
            <a:r>
              <a:rPr lang="en-US"/>
              <a:t>The count starts once, before both loops, and is printed after both. Output:</a:t>
            </a:r>
          </a:p>
          <a:p>
            <a:endParaRPr lang="en-US"/>
          </a:p>
          <a:p>
            <a:r>
              <a:rPr lang="en-US"/>
              <a:t>below zero at (2,0)</a:t>
            </a:r>
          </a:p>
          <a:p>
            <a:r>
              <a:rPr lang="en-US"/>
              <a:t>1 below zero</a:t>
            </a:r>
          </a:p>
          <a:p>
            <a:endParaRPr lang="en-US"/>
          </a:p>
          <a:p>
            <a:r>
              <a:rPr lang="en-US"/>
              <a:t>The file is 14_task_below_zero.c.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140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 the largest value of every row of t. Use the pattern of class 10: the largest so far starts at the first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016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(int r = 0; r &lt; ROWS; r++) {</a:t>
            </a:r>
          </a:p>
          <a:p>
            <a:r>
              <a:rPr lang="en-US"/>
              <a:t>    int max = t[r][0];</a:t>
            </a:r>
          </a:p>
          <a:p>
            <a:r>
              <a:rPr lang="en-US"/>
              <a:t>    for (int c = 1; c &lt; COLS; c++) {</a:t>
            </a:r>
          </a:p>
          <a:p>
            <a:r>
              <a:rPr lang="en-US"/>
              <a:t>        if (t[r][c] &gt; max) {</a:t>
            </a:r>
          </a:p>
          <a:p>
            <a:r>
              <a:rPr lang="en-US"/>
              <a:t>            max = t[r][c];</a:t>
            </a:r>
          </a:p>
          <a:p>
            <a:r>
              <a:rPr lang="en-US"/>
              <a:t>        }</a:t>
            </a:r>
          </a:p>
          <a:p>
            <a:r>
              <a:rPr lang="en-US"/>
              <a:t>    }</a:t>
            </a:r>
          </a:p>
          <a:p>
            <a:r>
              <a:rPr lang="en-US"/>
              <a:t>    printf("row %d: max %d\n", r, max);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max starts at t[r][0], the first box of the row, inside the outer loop: a fresh start for every row. Output:</a:t>
            </a:r>
          </a:p>
          <a:p>
            <a:endParaRPr lang="en-US"/>
          </a:p>
          <a:p>
            <a:r>
              <a:rPr lang="en-US"/>
              <a:t>row 0: max 8</a:t>
            </a:r>
          </a:p>
          <a:p>
            <a:r>
              <a:rPr lang="en-US"/>
              <a:t>row 1: max 9</a:t>
            </a:r>
          </a:p>
          <a:p>
            <a:r>
              <a:rPr lang="en-US"/>
              <a:t>row 2: max 4</a:t>
            </a:r>
          </a:p>
          <a:p>
            <a:endParaRPr lang="en-US"/>
          </a:p>
          <a:p>
            <a:r>
              <a:rPr lang="en-US"/>
              <a:t>Why not max = 0? A row of only negative temperatures would then print 0, a number that is not in the row. The file is 15_task_row_max.c.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221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int t[3][4]; is a table: 3 rows, 4 columns, 12 boxes.</a:t>
            </a:r>
          </a:p>
          <a:p>
            <a:r>
              <a:rPr lang="en-US"/>
              <a:t>- t[r][c]: row first, then column. Both start at 0.</a:t>
            </a:r>
          </a:p>
          <a:p>
            <a:r>
              <a:rPr lang="en-US"/>
              <a:t>- Two loops visit every box. The outer loop picks the row.</a:t>
            </a:r>
          </a:p>
          <a:p>
            <a:r>
              <a:rPr lang="en-US"/>
              <a:t>- For row sums, sum = 0 goes inside the outer loop.</a:t>
            </a:r>
          </a:p>
          <a:p>
            <a:r>
              <a:rPr lang="en-US"/>
              <a:t>- Use r &lt; ROWS and c &lt; COLS. C does not check the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342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Project 2 is a game, Treasure Hunt:</a:t>
            </a:r>
          </a:p>
          <a:p>
            <a:endParaRPr lang="en-US"/>
          </a:p>
          <a:p>
            <a:r>
              <a:rPr lang="en-US"/>
              <a:t>- A hidden board of 8 × 8 cells. 5 treasures and 3 traps are hidden on it.</a:t>
            </a:r>
          </a:p>
          <a:p>
            <a:r>
              <a:rPr lang="en-US"/>
              <a:t>- You pick a row and a column to look at one cell. You win when you find all 5 treasures. You have 3 lives, and every trap takes one.</a:t>
            </a:r>
          </a:p>
          <a:p>
            <a:r>
              <a:rPr lang="en-US"/>
              <a:t>- Your program uses two tables: one for what is in each cell, one for what the player has already seen.</a:t>
            </a:r>
          </a:p>
          <a:p>
            <a:endParaRPr lang="en-US"/>
          </a:p>
          <a:p>
            <a:r>
              <a:rPr lang="en-US"/>
              <a:t>Today's loops print the board with labels. On Friday you learn how to look at the cells around a cell, which the game needs for its clues.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866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The brief is on Blackboard, in the Projects folder. Read all of it this week.</a:t>
            </a:r>
          </a:p>
          <a:p>
            <a:r>
              <a:rPr lang="en-US"/>
              <a:t>- You hand in one file: treasure_hunt.c.</a:t>
            </a:r>
          </a:p>
          <a:p>
            <a:r>
              <a:rPr lang="en-US"/>
              <a:t>- It is due Monday 9 November, 23:59.</a:t>
            </a:r>
          </a:p>
          <a:p>
            <a:r>
              <a:rPr lang="en-US"/>
              <a:t>- 50 points for the program, 50 points for a live talk with a TA about your own code. A program you cannot explain does not get the talk's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9226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Knowledge check 13 is on Blackboard. It is about today's slides.</a:t>
            </a:r>
          </a:p>
          <a:p>
            <a:r>
              <a:rPr lang="en-US"/>
              <a:t>- Quiz 4 is on Friday 23 October. It covers classes 11 and 12: characters and strings. A TA runs Friday's class.</a:t>
            </a:r>
          </a:p>
          <a:p>
            <a:r>
              <a:rPr lang="en-US"/>
              <a:t>- Midterm: Friday 30 October. It covers classes 1 to 14.</a:t>
            </a:r>
          </a:p>
          <a:p>
            <a:r>
              <a:rPr lang="en-US"/>
              <a:t>- Today's code is in the Week 7 module: Class 13 code.</a:t>
            </a:r>
          </a:p>
          <a:p>
            <a:endParaRPr lang="en-US"/>
          </a:p>
          <a:p>
            <a:r>
              <a:rPr lang="en-US"/>
              <a:t>Next class: tables sent to functions, matrices, and the cells around a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EAB14-D13F-4981-B53D-D95A0236A22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7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C48D"/>
                </a:solidFill>
              </a:rPr>
              <a:t>Programming Principles I</a:t>
            </a:r>
            <a:endParaRPr lang="en-US" sz="1600" dirty="0"/>
          </a:p>
        </p:txBody>
      </p:sp>
      <p:sp>
        <p:nvSpPr>
          <p:cNvPr id="3" name="Shape 3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Week 7 · Class 13 · Quiz 3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731520" y="219456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Quiz 3: 25 minutes</a:t>
            </a:r>
            <a:endParaRPr lang="en-US" sz="4800" dirty="0"/>
          </a:p>
        </p:txBody>
      </p:sp>
      <p:sp>
        <p:nvSpPr>
          <p:cNvPr id="5" name="Shape 5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7E3F0"/>
                </a:solidFill>
              </a:rPr>
              <a:t>Pen only. No laptop, no phone. Write your name and student ID first.</a:t>
            </a:r>
            <a:endParaRPr lang="en-US" sz="2200" dirty="0"/>
          </a:p>
        </p:txBody>
      </p:sp>
      <p:sp>
        <p:nvSpPr>
          <p:cNvPr id="6" name="Shape 6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ADA University · Fall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C48D"/>
                </a:solidFill>
              </a:rPr>
              <a:t>Programming Principles I</a:t>
            </a:r>
            <a:endParaRPr lang="en-US" sz="1600" dirty="0"/>
          </a:p>
        </p:txBody>
      </p:sp>
      <p:sp>
        <p:nvSpPr>
          <p:cNvPr id="3" name="Shape 3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Week 7 · Class 13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731520" y="219456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Two-dimensional arrays</a:t>
            </a:r>
            <a:endParaRPr lang="en-US" sz="4800" dirty="0"/>
          </a:p>
        </p:txBody>
      </p:sp>
      <p:sp>
        <p:nvSpPr>
          <p:cNvPr id="5" name="Shape 5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7E3F0"/>
                </a:solidFill>
              </a:rPr>
              <a:t>Tables of numbers · rows and columns · two loops, one inside the other</a:t>
            </a:r>
            <a:endParaRPr lang="en-US" sz="2200" dirty="0"/>
          </a:p>
        </p:txBody>
      </p:sp>
      <p:sp>
        <p:nvSpPr>
          <p:cNvPr id="6" name="Shape 6"/>
          <p:cNvSpPr/>
          <p:nvPr/>
        </p:nvSpPr>
        <p:spPr>
          <a:xfrm>
            <a:off x="731520" y="4114800"/>
            <a:ext cx="7863840" cy="138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731520" y="4114800"/>
            <a:ext cx="7863840" cy="138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t[3][4];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t[1][2] = 9;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ADA University · Fall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What you know about arrays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day[4];</a:t>
            </a:r>
            <a:r>
              <a:rPr lang="en-US" sz="2800" dirty="0">
                <a:solidFill>
                  <a:srgbClr val="18324A"/>
                </a:solidFill>
              </a:rPr>
              <a:t> makes 4 boxes: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day[0]</a:t>
            </a:r>
            <a:r>
              <a:rPr lang="en-US" sz="2800" dirty="0">
                <a:solidFill>
                  <a:srgbClr val="18324A"/>
                </a:solidFill>
              </a:rPr>
              <a:t> to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day[3]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day[4] = {3, 5, 8, 4};</a:t>
            </a:r>
            <a:r>
              <a:rPr lang="en-US" sz="2800" dirty="0">
                <a:solidFill>
                  <a:srgbClr val="18324A"/>
                </a:solidFill>
              </a:rPr>
              <a:t> fills them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lang="en-US" sz="2800" dirty="0">
                <a:solidFill>
                  <a:srgbClr val="18324A"/>
                </a:solidFill>
              </a:rPr>
              <a:t> loop visits every box: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 &lt; 4</a:t>
            </a:r>
            <a:r>
              <a:rPr lang="en-US" sz="2800" dirty="0">
                <a:solidFill>
                  <a:srgbClr val="18324A"/>
                </a:solidFill>
              </a:rPr>
              <a:t>, never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 &lt;= 4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C does not check the index: you do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Recap: what is on the screen?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One day, four temperatures.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it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159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315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day[4] = {3, 5, 8, 4};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(int c = 0; c &lt; 4; c++)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printf("%d ", day[c]);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Recap: what is on the screen?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One day, four temperatures.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it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159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2178177"/>
            <a:ext cx="5882335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760720" y="2527427"/>
            <a:ext cx="5882335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760720" y="25274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760720" y="1261872"/>
            <a:ext cx="5882335" cy="315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day[4] = {3, 5, 8, 4};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c = 0; c &lt; 4; c++)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printf("%d ", day[c]);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548640" y="4648200"/>
            <a:ext cx="4937760" cy="1615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4648200"/>
            <a:ext cx="109728" cy="161544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4648200"/>
            <a:ext cx="4828032" cy="16154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3 5 8 4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</a:t>
            </a:r>
            <a:r>
              <a:rPr lang="en-US" sz="2600" dirty="0">
                <a:solidFill>
                  <a:srgbClr val="18324A"/>
                </a:solidFill>
              </a:rPr>
              <a:t> goes 0, 1, 2, 3.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One row is not enough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Three days, four times a day: 12 numbers.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Twelve variables? No.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Three arrays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day0</a:t>
            </a:r>
            <a:r>
              <a:rPr lang="en-US" sz="3000" dirty="0">
                <a:solidFill>
                  <a:srgbClr val="18324A"/>
                </a:solidFill>
              </a:rPr>
              <a:t>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day1</a:t>
            </a:r>
            <a:r>
              <a:rPr lang="en-US" sz="3000" dirty="0">
                <a:solidFill>
                  <a:srgbClr val="18324A"/>
                </a:solidFill>
              </a:rPr>
              <a:t>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day2</a:t>
            </a:r>
            <a:r>
              <a:rPr lang="en-US" sz="3000" dirty="0">
                <a:solidFill>
                  <a:srgbClr val="18324A"/>
                </a:solidFill>
              </a:rPr>
              <a:t>? Better, but no.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One </a:t>
            </a:r>
            <a:r>
              <a:rPr lang="en-US" sz="3000" b="1" dirty="0">
                <a:solidFill>
                  <a:srgbClr val="18324A"/>
                </a:solidFill>
              </a:rPr>
              <a:t>table</a:t>
            </a:r>
            <a:r>
              <a:rPr lang="en-US" sz="3000" dirty="0">
                <a:solidFill>
                  <a:srgbClr val="18324A"/>
                </a:solidFill>
              </a:rPr>
              <a:t>: 3 rows, 4 columns.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Today's roadmap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</a:t>
            </a:r>
            <a:r>
              <a:rPr lang="en-US" sz="2800" b="1" dirty="0">
                <a:solidFill>
                  <a:srgbClr val="18324A"/>
                </a:solidFill>
              </a:rPr>
              <a:t>table</a:t>
            </a:r>
            <a:r>
              <a:rPr lang="en-US" sz="2800" dirty="0">
                <a:solidFill>
                  <a:srgbClr val="18324A"/>
                </a:solidFill>
              </a:rPr>
              <a:t>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t[3][4];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Two loops</a:t>
            </a:r>
            <a:r>
              <a:rPr lang="en-US" sz="2800" dirty="0">
                <a:solidFill>
                  <a:srgbClr val="18324A"/>
                </a:solidFill>
              </a:rPr>
              <a:t>, one inside the other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Row sums</a:t>
            </a:r>
            <a:r>
              <a:rPr lang="en-US" sz="2800" dirty="0">
                <a:solidFill>
                  <a:srgbClr val="18324A"/>
                </a:solidFill>
              </a:rPr>
              <a:t> and </a:t>
            </a:r>
            <a:r>
              <a:rPr lang="en-US" sz="2800" b="1" dirty="0">
                <a:solidFill>
                  <a:srgbClr val="18324A"/>
                </a:solidFill>
              </a:rPr>
              <a:t>column sums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Read</a:t>
            </a:r>
            <a:r>
              <a:rPr lang="en-US" sz="2800" dirty="0">
                <a:solidFill>
                  <a:srgbClr val="18324A"/>
                </a:solidFill>
              </a:rPr>
              <a:t> a table, and two </a:t>
            </a:r>
            <a:r>
              <a:rPr lang="en-US" sz="2800" b="1" dirty="0">
                <a:solidFill>
                  <a:srgbClr val="18324A"/>
                </a:solidFill>
              </a:rPr>
              <a:t>careful</a:t>
            </a:r>
            <a:r>
              <a:rPr lang="en-US" sz="2800" dirty="0">
                <a:solidFill>
                  <a:srgbClr val="18324A"/>
                </a:solidFill>
              </a:rPr>
              <a:t> cases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965192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9651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Your turn</a:t>
            </a:r>
            <a:r>
              <a:rPr lang="en-US" sz="2800" dirty="0">
                <a:solidFill>
                  <a:srgbClr val="18324A"/>
                </a:solidFill>
              </a:rPr>
              <a:t>, and </a:t>
            </a:r>
            <a:r>
              <a:rPr lang="en-US" sz="2800" b="1" dirty="0">
                <a:solidFill>
                  <a:srgbClr val="18324A"/>
                </a:solidFill>
              </a:rPr>
              <a:t>Project 2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1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A table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Rows first, then columns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int t[3][4];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3 rows, 4 columns: 12 </a:t>
            </a:r>
            <a:r>
              <a:rPr lang="en-US" sz="4000" b="1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lang="en-US" sz="4000" b="1" dirty="0">
                <a:solidFill>
                  <a:srgbClr val="18324A"/>
                </a:solidFill>
              </a:rPr>
              <a:t> boxes.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first number: how many </a:t>
            </a:r>
            <a:r>
              <a:rPr lang="en-US" sz="3000" b="1" dirty="0">
                <a:solidFill>
                  <a:srgbClr val="18324A"/>
                </a:solidFill>
              </a:rPr>
              <a:t>rows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second number: how many </a:t>
            </a:r>
            <a:r>
              <a:rPr lang="en-US" sz="3000" b="1" dirty="0">
                <a:solidFill>
                  <a:srgbClr val="18324A"/>
                </a:solidFill>
              </a:rPr>
              <a:t>columns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One box: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t[row][column]</a:t>
            </a:r>
            <a:r>
              <a:rPr lang="en-US" sz="3000" dirty="0">
                <a:solidFill>
                  <a:srgbClr val="18324A"/>
                </a:solidFill>
              </a:rPr>
              <a:t>. Both start at 0.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table 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t[1][2]</a:t>
            </a:r>
            <a:r>
              <a:rPr lang="en-US" sz="2400" dirty="0">
                <a:solidFill>
                  <a:srgbClr val="18324A"/>
                </a:solidFill>
              </a:rPr>
              <a:t> is row 1, column 2: </a:t>
            </a:r>
            <a:r>
              <a:rPr lang="en-US" sz="2400" b="1" dirty="0">
                <a:solidFill>
                  <a:srgbClr val="18324A"/>
                </a:solidFill>
              </a:rPr>
              <a:t>9</a:t>
            </a:r>
            <a:r>
              <a:rPr lang="en-US" sz="2400" dirty="0">
                <a:solidFill>
                  <a:srgbClr val="18324A"/>
                </a:solidFill>
              </a:rPr>
              <a:t>. Rows go 0 to 2, columns 0 to 3.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2054521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2603161" y="1261872"/>
            <a:ext cx="225997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column 0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4863135" y="1261872"/>
            <a:ext cx="225997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column 1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7123108" y="1261872"/>
            <a:ext cx="225997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column 2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9383082" y="1261872"/>
            <a:ext cx="225997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column 3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548640" y="1920240"/>
            <a:ext cx="205452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324A"/>
                </a:solidFill>
              </a:rPr>
              <a:t>row 0</a:t>
            </a:r>
            <a:endParaRPr lang="en-US" sz="2600" dirty="0"/>
          </a:p>
        </p:txBody>
      </p:sp>
      <p:sp>
        <p:nvSpPr>
          <p:cNvPr id="15" name="Shape 15"/>
          <p:cNvSpPr/>
          <p:nvPr/>
        </p:nvSpPr>
        <p:spPr>
          <a:xfrm>
            <a:off x="2603161" y="1920240"/>
            <a:ext cx="22599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Shape 16"/>
          <p:cNvSpPr/>
          <p:nvPr/>
        </p:nvSpPr>
        <p:spPr>
          <a:xfrm>
            <a:off x="4863135" y="1920240"/>
            <a:ext cx="22599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5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7123108" y="1920240"/>
            <a:ext cx="22599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8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9383082" y="1920240"/>
            <a:ext cx="22599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4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548640" y="2578608"/>
            <a:ext cx="2054521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324A"/>
                </a:solidFill>
              </a:rPr>
              <a:t>row 1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2603161" y="2578608"/>
            <a:ext cx="225997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2</a:t>
            </a:r>
            <a:endParaRPr lang="en-US" sz="2600" dirty="0"/>
          </a:p>
        </p:txBody>
      </p:sp>
      <p:sp>
        <p:nvSpPr>
          <p:cNvPr id="21" name="Shape 21"/>
          <p:cNvSpPr/>
          <p:nvPr/>
        </p:nvSpPr>
        <p:spPr>
          <a:xfrm>
            <a:off x="4863135" y="2578608"/>
            <a:ext cx="225997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6</a:t>
            </a:r>
            <a:endParaRPr lang="en-US" sz="2600" dirty="0"/>
          </a:p>
        </p:txBody>
      </p:sp>
      <p:sp>
        <p:nvSpPr>
          <p:cNvPr id="22" name="Shape 22"/>
          <p:cNvSpPr/>
          <p:nvPr/>
        </p:nvSpPr>
        <p:spPr>
          <a:xfrm>
            <a:off x="7123108" y="2578608"/>
            <a:ext cx="225997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324A"/>
                </a:solidFill>
              </a:rPr>
              <a:t>9</a:t>
            </a:r>
            <a:endParaRPr lang="en-US" sz="2600" dirty="0"/>
          </a:p>
        </p:txBody>
      </p:sp>
      <p:sp>
        <p:nvSpPr>
          <p:cNvPr id="23" name="Shape 23"/>
          <p:cNvSpPr/>
          <p:nvPr/>
        </p:nvSpPr>
        <p:spPr>
          <a:xfrm>
            <a:off x="9383082" y="2578608"/>
            <a:ext cx="225997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4" name="Shape 24"/>
          <p:cNvSpPr/>
          <p:nvPr/>
        </p:nvSpPr>
        <p:spPr>
          <a:xfrm>
            <a:off x="548640" y="3236976"/>
            <a:ext cx="205452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324A"/>
                </a:solidFill>
              </a:rPr>
              <a:t>row 2</a:t>
            </a:r>
            <a:endParaRPr lang="en-US" sz="2600" dirty="0"/>
          </a:p>
        </p:txBody>
      </p:sp>
      <p:sp>
        <p:nvSpPr>
          <p:cNvPr id="25" name="Shape 25"/>
          <p:cNvSpPr/>
          <p:nvPr/>
        </p:nvSpPr>
        <p:spPr>
          <a:xfrm>
            <a:off x="2603161" y="3236976"/>
            <a:ext cx="22599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-1</a:t>
            </a:r>
            <a:endParaRPr lang="en-US" sz="2600" dirty="0"/>
          </a:p>
        </p:txBody>
      </p:sp>
      <p:sp>
        <p:nvSpPr>
          <p:cNvPr id="26" name="Shape 26"/>
          <p:cNvSpPr/>
          <p:nvPr/>
        </p:nvSpPr>
        <p:spPr>
          <a:xfrm>
            <a:off x="4863135" y="3236976"/>
            <a:ext cx="22599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27" name="Shape 27"/>
          <p:cNvSpPr/>
          <p:nvPr/>
        </p:nvSpPr>
        <p:spPr>
          <a:xfrm>
            <a:off x="7123108" y="3236976"/>
            <a:ext cx="22599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4</a:t>
            </a:r>
            <a:endParaRPr lang="en-US" sz="2600" dirty="0"/>
          </a:p>
        </p:txBody>
      </p:sp>
      <p:sp>
        <p:nvSpPr>
          <p:cNvPr id="28" name="Shape 28"/>
          <p:cNvSpPr/>
          <p:nvPr/>
        </p:nvSpPr>
        <p:spPr>
          <a:xfrm>
            <a:off x="9383082" y="3236976"/>
            <a:ext cx="22599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2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Fill it with a list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429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95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95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003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003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511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511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3019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3019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3527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548640" y="3527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ode"/>
          <p:cNvSpPr/>
          <p:nvPr/>
        </p:nvSpPr>
        <p:spPr>
          <a:xfrm>
            <a:off x="548640" y="1261872"/>
            <a:ext cx="6766560" cy="442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t[3][4] =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{3, 5, 8, 4},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{2, 6, 9, 1},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{-1, 0, 4, 2}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printf("%d\n", t[0][0]);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printf("%d\n", t[1][2]);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printf("%d\n", t[2][3]);</a:t>
            </a:r>
            <a:endParaRPr lang="en-US" sz="3200" dirty="0"/>
          </a:p>
        </p:txBody>
      </p:sp>
      <p:sp>
        <p:nvSpPr>
          <p:cNvPr id="18" name="Shape 18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One pair of braces per row.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7589520" y="25146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7589520" y="25146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" name="Callout"/>
          <p:cNvSpPr/>
          <p:nvPr/>
        </p:nvSpPr>
        <p:spPr>
          <a:xfrm>
            <a:off x="7699248" y="25146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Rows are separated by commas.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three boxes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 the three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lang="en-US" sz="3200" dirty="0">
                <a:solidFill>
                  <a:srgbClr val="18324A"/>
                </a:solidFill>
              </a:rPr>
              <a:t> lines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4429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4035552"/>
            <a:ext cx="5882335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4035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760720" y="4543552"/>
            <a:ext cx="5882335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760720" y="4543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760720" y="5051552"/>
            <a:ext cx="5882335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760720" y="5051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5760720" y="1261872"/>
            <a:ext cx="5882335" cy="442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t[3][4] =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{3, 5, 8, 4},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{2, 6, 9, 1},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{-1, 0, 4, 2}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printf("%d\n", t[0][0]);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printf("%d\n", t[1][2]);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printf("%d\n", t[2][3]);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three boxes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 the three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lang="en-US" sz="3200" dirty="0">
                <a:solidFill>
                  <a:srgbClr val="18324A"/>
                </a:solidFill>
              </a:rPr>
              <a:t> lines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92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3711702"/>
            <a:ext cx="5882335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3711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760720" y="4156202"/>
            <a:ext cx="5882335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760720" y="4156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760720" y="4600702"/>
            <a:ext cx="5882335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760720" y="4600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5760720" y="1261872"/>
            <a:ext cx="5882335" cy="392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t[3][4] =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{3, 5, 8, 4},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{2, 6, 9, 1},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{-1, 0, 4, 2}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printf("%d\n", t[0][0]);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printf("%d\n", t[1][2]);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printf("%d\n", t[2][3]);</a:t>
            </a:r>
            <a:endParaRPr lang="en-US" sz="2800" dirty="0"/>
          </a:p>
        </p:txBody>
      </p:sp>
      <p:sp>
        <p:nvSpPr>
          <p:cNvPr id="16" name="Shape 16"/>
          <p:cNvSpPr/>
          <p:nvPr/>
        </p:nvSpPr>
        <p:spPr>
          <a:xfrm>
            <a:off x="548640" y="4251960"/>
            <a:ext cx="4937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548640" y="4251960"/>
            <a:ext cx="109728" cy="20116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658368" y="4251960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3</a:t>
            </a:r>
            <a:r>
              <a:rPr lang="en-US" sz="2600" dirty="0">
                <a:solidFill>
                  <a:srgbClr val="18324A"/>
                </a:solidFill>
              </a:rPr>
              <a:t>,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9</a:t>
            </a:r>
            <a:r>
              <a:rPr lang="en-US" sz="2600" dirty="0">
                <a:solidFill>
                  <a:srgbClr val="18324A"/>
                </a:solidFill>
              </a:rPr>
              <a:t>,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2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The first box, row 1 column 2, and the last box.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the order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Is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t[1][2]</a:t>
            </a:r>
            <a:r>
              <a:rPr lang="en-US" sz="3200" dirty="0">
                <a:solidFill>
                  <a:srgbClr val="18324A"/>
                </a:solidFill>
              </a:rPr>
              <a:t> the same box as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t[2][1]</a:t>
            </a:r>
            <a:r>
              <a:rPr lang="en-US" sz="3200" dirty="0">
                <a:solidFill>
                  <a:srgbClr val="18324A"/>
                </a:solidFill>
              </a:rPr>
              <a:t>?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the order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Is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t[1][2]</a:t>
            </a:r>
            <a:r>
              <a:rPr lang="en-US" sz="3200" dirty="0">
                <a:solidFill>
                  <a:srgbClr val="18324A"/>
                </a:solidFill>
              </a:rPr>
              <a:t> the same box as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t[2][1]</a:t>
            </a:r>
            <a:r>
              <a:rPr lang="en-US" sz="3200" dirty="0">
                <a:solidFill>
                  <a:srgbClr val="18324A"/>
                </a:solidFill>
              </a:rPr>
              <a:t>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48640" y="4648200"/>
            <a:ext cx="11094415" cy="1615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648200"/>
            <a:ext cx="109728" cy="161544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allout"/>
          <p:cNvSpPr/>
          <p:nvPr/>
        </p:nvSpPr>
        <p:spPr>
          <a:xfrm>
            <a:off x="658368" y="4648200"/>
            <a:ext cx="10984687" cy="16154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No.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t[1][2]</a:t>
            </a:r>
            <a:r>
              <a:rPr lang="en-US" sz="2600" dirty="0">
                <a:solidFill>
                  <a:srgbClr val="18324A"/>
                </a:solidFill>
              </a:rPr>
              <a:t> is row 1, column 2: </a:t>
            </a:r>
            <a:r>
              <a:rPr lang="en-US" sz="2600" b="1" dirty="0">
                <a:solidFill>
                  <a:srgbClr val="18324A"/>
                </a:solidFill>
              </a:rPr>
              <a:t>9</a:t>
            </a:r>
            <a:r>
              <a:rPr lang="en-US" sz="2600" dirty="0">
                <a:solidFill>
                  <a:srgbClr val="18324A"/>
                </a:solidFill>
              </a:rPr>
              <a:t>.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t[2][1]</a:t>
            </a:r>
            <a:r>
              <a:rPr lang="en-US" sz="2600" dirty="0">
                <a:solidFill>
                  <a:srgbClr val="18324A"/>
                </a:solidFill>
              </a:rPr>
              <a:t> is row 2, column 1: </a:t>
            </a:r>
            <a:r>
              <a:rPr lang="en-US" sz="2600" b="1" dirty="0">
                <a:solidFill>
                  <a:srgbClr val="18324A"/>
                </a:solidFill>
              </a:rPr>
              <a:t>0</a:t>
            </a:r>
            <a:r>
              <a:rPr lang="en-US" sz="2600" dirty="0">
                <a:solidFill>
                  <a:srgbClr val="18324A"/>
                </a:solidFill>
              </a:rPr>
              <a:t>. Row first, always.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Missing values become 0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227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7940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79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1115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11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680960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t[2][3] =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{1},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{4, 5}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printf("%d %d %d\n", t[0][0], t[0][1], t[0][2]);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printf("%d %d %d\n", t[1][0], t[1][1], t[1][2]);</a:t>
            </a:r>
            <a:endParaRPr lang="en-US" sz="2000" dirty="0"/>
          </a:p>
        </p:txBody>
      </p:sp>
      <p:sp>
        <p:nvSpPr>
          <p:cNvPr id="12" name="Shape 12"/>
          <p:cNvSpPr/>
          <p:nvPr/>
        </p:nvSpPr>
        <p:spPr>
          <a:xfrm>
            <a:off x="8503920" y="1261872"/>
            <a:ext cx="31391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503920" y="1645920"/>
            <a:ext cx="31391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503920" y="1645920"/>
            <a:ext cx="31391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1 0 0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4 5 0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8503920" y="3048000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503920" y="3048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613648" y="3048000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= {0}</a:t>
            </a:r>
            <a:r>
              <a:rPr lang="en-US" sz="2400" dirty="0">
                <a:solidFill>
                  <a:srgbClr val="18324A"/>
                </a:solidFill>
              </a:rPr>
              <a:t> makes every box 0.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2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Two loops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One loop inside the other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Visit every box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035040" cy="322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794002"/>
            <a:ext cx="60350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79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111502"/>
            <a:ext cx="60350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11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6035040" cy="322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r = 0; r &lt; 3; 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c = 0; c &lt; 4; 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printf("(%d,%d) ", r, c);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printf("\n");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2" name="Shape 12"/>
          <p:cNvSpPr/>
          <p:nvPr/>
        </p:nvSpPr>
        <p:spPr>
          <a:xfrm>
            <a:off x="6858000" y="1261872"/>
            <a:ext cx="47850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6858000" y="1645920"/>
            <a:ext cx="478505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6858000" y="1645920"/>
            <a:ext cx="478505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(0,0) (0,1) (0,2) (0,3)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(1,0) (1,1) (1,2) (1,3)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(2,0) (2,1) (2,2) (2,3)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6858000" y="3429000"/>
            <a:ext cx="478505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6858000" y="342900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6967728" y="3429000"/>
            <a:ext cx="467532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Outer loop: the row.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6858000" y="4315968"/>
            <a:ext cx="478505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6858000" y="4315968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6967728" y="4315968"/>
            <a:ext cx="467532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Inner loop: every column.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inner loop runs to the end first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For every row, all 4 columns.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</a:t>
            </a:r>
            <a:r>
              <a:rPr lang="en-US" sz="3000" dirty="0">
                <a:solidFill>
                  <a:srgbClr val="18324A"/>
                </a:solidFill>
              </a:rPr>
              <a:t> is 0: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</a:t>
            </a:r>
            <a:r>
              <a:rPr lang="en-US" sz="3000" dirty="0">
                <a:solidFill>
                  <a:srgbClr val="18324A"/>
                </a:solidFill>
              </a:rPr>
              <a:t> goes 0, 1, 2, 3. Then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</a:t>
            </a:r>
            <a:r>
              <a:rPr lang="en-US" sz="3000" dirty="0">
                <a:solidFill>
                  <a:srgbClr val="18324A"/>
                </a:solidFill>
              </a:rPr>
              <a:t> is 1: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</a:t>
            </a:r>
            <a:r>
              <a:rPr lang="en-US" sz="3000" dirty="0">
                <a:solidFill>
                  <a:srgbClr val="18324A"/>
                </a:solidFill>
              </a:rPr>
              <a:t> starts again at 0.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3 rows times 4 columns: the inner line runs </a:t>
            </a:r>
            <a:r>
              <a:rPr lang="en-US" sz="3000" b="1" dirty="0">
                <a:solidFill>
                  <a:srgbClr val="18324A"/>
                </a:solidFill>
              </a:rPr>
              <a:t>12</a:t>
            </a:r>
            <a:r>
              <a:rPr lang="en-US" sz="3000" dirty="0">
                <a:solidFill>
                  <a:srgbClr val="18324A"/>
                </a:solidFill>
              </a:rPr>
              <a:t> times.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After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(0,3)</a:t>
            </a:r>
            <a:r>
              <a:rPr lang="en-US" sz="3000" dirty="0">
                <a:solidFill>
                  <a:srgbClr val="18324A"/>
                </a:solidFill>
              </a:rPr>
              <a:t> comes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(1,0)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Print the whole table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2842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311527"/>
            <a:ext cx="67665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3115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2842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3; r++)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4; c++)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printf("%4d", t[r][c]);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printf("\n");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 3   5   8   4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 2   6   9   1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-1   0   4   2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429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4290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429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%4d</a:t>
            </a:r>
            <a:r>
              <a:rPr lang="en-US" sz="2400" dirty="0">
                <a:solidFill>
                  <a:srgbClr val="18324A"/>
                </a:solidFill>
              </a:rPr>
              <a:t>: 4 places, the columns line up.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4681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4681728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4681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 new line after each row.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Write the sizes once: #define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95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95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003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003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527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527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#define ROWS 3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#define COLS 4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t[ROWS][COLS] =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{3, 5, 8, 4},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{2, 6, 9, 1},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{-1, 0, 4, 2}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};</a:t>
            </a:r>
            <a:endParaRPr lang="en-US" sz="3200" dirty="0"/>
          </a:p>
        </p:txBody>
      </p:sp>
      <p:sp>
        <p:nvSpPr>
          <p:cNvPr id="14" name="Shape 14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ROWS</a:t>
            </a:r>
            <a:r>
              <a:rPr lang="en-US" sz="2400" dirty="0">
                <a:solidFill>
                  <a:srgbClr val="18324A"/>
                </a:solidFill>
              </a:rPr>
              <a:t> and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COLS</a:t>
            </a:r>
            <a:r>
              <a:rPr lang="en-US" sz="2400" dirty="0">
                <a:solidFill>
                  <a:srgbClr val="18324A"/>
                </a:solidFill>
              </a:rPr>
              <a:t> are names for 3 and 4.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589520" y="25146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589520" y="25146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7699248" y="25146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Change one line, every loop follows.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Labels on the board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217920" cy="4556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828927"/>
            <a:ext cx="621792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828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178177"/>
            <a:ext cx="621792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575177"/>
            <a:ext cx="621792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575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6217920" cy="455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    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(int c = 0; c &lt; COLS; c++)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printf("%4d", c);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printf("%d | ", r);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COLS; c++)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printf("%4d", t[r][c]);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7040880" y="1261872"/>
            <a:ext cx="460217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7040880" y="1645920"/>
            <a:ext cx="460217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7040880" y="1645920"/>
            <a:ext cx="460217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     0   1   2   3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 |    3   5   8   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 |    2   6   9   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2 |   -1   0   4   2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040880" y="3810000"/>
            <a:ext cx="460217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040880" y="381000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7150608" y="3810000"/>
            <a:ext cx="449244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Column numbers on top, the row number in front.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Fill it with a loop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400800" cy="2461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527427"/>
            <a:ext cx="640080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5274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400800" cy="2461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m[ROWS][COLS];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COLS; c++)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m[r][c] = (r + 1) * (c + 1);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0" name="Shape 10"/>
          <p:cNvSpPr/>
          <p:nvPr/>
        </p:nvSpPr>
        <p:spPr>
          <a:xfrm>
            <a:off x="7223760" y="1261872"/>
            <a:ext cx="44192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223760" y="1645920"/>
            <a:ext cx="441929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223760" y="1645920"/>
            <a:ext cx="441929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 1   2   3   4   5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 2   4   6   8  10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 3   6   9  12  15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 4   8  12  16  20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223760" y="3810000"/>
            <a:ext cx="441929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223760" y="381000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333488" y="3810000"/>
            <a:ext cx="430956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ROWS</a:t>
            </a:r>
            <a:r>
              <a:rPr lang="en-US" sz="2400" dirty="0">
                <a:solidFill>
                  <a:srgbClr val="18324A"/>
                </a:solidFill>
              </a:rPr>
              <a:t> 4,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COLS</a:t>
            </a:r>
            <a:r>
              <a:rPr lang="en-US" sz="2400" dirty="0">
                <a:solidFill>
                  <a:srgbClr val="18324A"/>
                </a:solidFill>
              </a:rPr>
              <a:t> 5.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one box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 highlighted line fills every box.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is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m[2][3]</a:t>
            </a:r>
            <a:r>
              <a:rPr lang="en-US" sz="3200" dirty="0">
                <a:solidFill>
                  <a:srgbClr val="18324A"/>
                </a:solidFill>
              </a:rPr>
              <a:t>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227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2429002"/>
            <a:ext cx="5882335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760720" y="1261872"/>
            <a:ext cx="5882335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m[ROWS][COLS];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COLS; 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m[r][c] = (r + 1) * (c + 1);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one box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 highlighted line fills every box.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is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m[2][3]</a:t>
            </a:r>
            <a:r>
              <a:rPr lang="en-US" sz="3200" dirty="0">
                <a:solidFill>
                  <a:srgbClr val="18324A"/>
                </a:solidFill>
              </a:rPr>
              <a:t>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227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2429002"/>
            <a:ext cx="5882335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760720" y="1261872"/>
            <a:ext cx="5882335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m[ROWS][COLS];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COLS; 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m[r][c] = (r + 1) * (c + 1);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2" name="Shape 12"/>
          <p:cNvSpPr/>
          <p:nvPr/>
        </p:nvSpPr>
        <p:spPr>
          <a:xfrm>
            <a:off x="548640" y="4251960"/>
            <a:ext cx="4937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4251960"/>
            <a:ext cx="109728" cy="20116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allout"/>
          <p:cNvSpPr/>
          <p:nvPr/>
        </p:nvSpPr>
        <p:spPr>
          <a:xfrm>
            <a:off x="658368" y="4251960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12</a:t>
            </a:r>
            <a:r>
              <a:rPr lang="en-US" sz="2600" dirty="0">
                <a:solidFill>
                  <a:srgbClr val="18324A"/>
                </a:solidFill>
              </a:rPr>
              <a:t>: (2 + 1) * (3 + 1).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Row 2, column 3 of the output.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3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Row and column sums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Where the sum starts matters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13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sum of every row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03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863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863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625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625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387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387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6766560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sum =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COLS; c++)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sum += t[r][c];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printf("row %d: %d\n", r, sum);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row 0: 20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row 1: 18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row 2: 5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589520" y="34290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589520" y="342900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7699248" y="34290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sum = 0</a:t>
            </a:r>
            <a:r>
              <a:rPr lang="en-US" sz="2400" dirty="0">
                <a:solidFill>
                  <a:srgbClr val="18324A"/>
                </a:solidFill>
              </a:rPr>
              <a:t> for every row.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Row 0, step by step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5669280" cy="258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429002"/>
            <a:ext cx="56692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5669280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sum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COLS; 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sum += t[r][c];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printf("row %d: %d\n", r, sum);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6492240" y="1261872"/>
            <a:ext cx="117732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7669569" y="1261872"/>
            <a:ext cx="2207492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t[0][c]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9877061" y="1261872"/>
            <a:ext cx="1765994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sum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6492240" y="1920240"/>
            <a:ext cx="117732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-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7669569" y="1920240"/>
            <a:ext cx="22074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-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9877061" y="1920240"/>
            <a:ext cx="176599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6492240" y="2578608"/>
            <a:ext cx="117732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669569" y="2578608"/>
            <a:ext cx="220749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9877061" y="2578608"/>
            <a:ext cx="1765994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6492240" y="3236976"/>
            <a:ext cx="1177329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1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7669569" y="3236976"/>
            <a:ext cx="2207492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5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9877061" y="3236976"/>
            <a:ext cx="1765994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8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6492240" y="3895344"/>
            <a:ext cx="117732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7669569" y="3895344"/>
            <a:ext cx="22074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9877061" y="3895344"/>
            <a:ext cx="176599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5" name="Shape 25"/>
          <p:cNvSpPr/>
          <p:nvPr/>
        </p:nvSpPr>
        <p:spPr>
          <a:xfrm>
            <a:off x="6492240" y="4553712"/>
            <a:ext cx="117732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7669569" y="4553712"/>
            <a:ext cx="22074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7" name="Shape 27"/>
          <p:cNvSpPr/>
          <p:nvPr/>
        </p:nvSpPr>
        <p:spPr>
          <a:xfrm>
            <a:off x="9877061" y="4553712"/>
            <a:ext cx="176599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Row 0, step by step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lang="en-US" sz="2400" dirty="0">
                <a:solidFill>
                  <a:srgbClr val="18324A"/>
                </a:solidFill>
              </a:rPr>
              <a:t>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row 0: 20</a:t>
            </a:r>
            <a:r>
              <a:rPr lang="en-US" sz="2400" dirty="0">
                <a:solidFill>
                  <a:srgbClr val="18324A"/>
                </a:solidFill>
              </a:rPr>
              <a:t>. Row 1 starts again at 0.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669280" cy="258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3064002"/>
            <a:ext cx="56692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06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5669280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sum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COLS; 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sum += t[r][c];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printf("row %d: %d\n", r, sum);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6492240" y="1261872"/>
            <a:ext cx="117732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7669569" y="1261872"/>
            <a:ext cx="2207492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t[0][c]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9877061" y="1261872"/>
            <a:ext cx="1765994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sum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6492240" y="1920240"/>
            <a:ext cx="117732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-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669569" y="1920240"/>
            <a:ext cx="22074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-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9877061" y="1920240"/>
            <a:ext cx="176599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6492240" y="2578608"/>
            <a:ext cx="117732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7669569" y="2578608"/>
            <a:ext cx="220749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9877061" y="2578608"/>
            <a:ext cx="1765994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3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6492240" y="3236976"/>
            <a:ext cx="117732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1</a:t>
            </a:r>
            <a:endParaRPr lang="en-US" sz="2400" dirty="0"/>
          </a:p>
        </p:txBody>
      </p:sp>
      <p:sp>
        <p:nvSpPr>
          <p:cNvPr id="23" name="Shape 23"/>
          <p:cNvSpPr/>
          <p:nvPr/>
        </p:nvSpPr>
        <p:spPr>
          <a:xfrm>
            <a:off x="7669569" y="3236976"/>
            <a:ext cx="22074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5</a:t>
            </a: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9877061" y="3236976"/>
            <a:ext cx="176599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8</a:t>
            </a:r>
            <a:endParaRPr lang="en-US" sz="2400" dirty="0"/>
          </a:p>
        </p:txBody>
      </p:sp>
      <p:sp>
        <p:nvSpPr>
          <p:cNvPr id="25" name="Shape 25"/>
          <p:cNvSpPr/>
          <p:nvPr/>
        </p:nvSpPr>
        <p:spPr>
          <a:xfrm>
            <a:off x="6492240" y="3895344"/>
            <a:ext cx="117732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2</a:t>
            </a:r>
            <a:endParaRPr lang="en-US" sz="2400" dirty="0"/>
          </a:p>
        </p:txBody>
      </p:sp>
      <p:sp>
        <p:nvSpPr>
          <p:cNvPr id="26" name="Shape 26"/>
          <p:cNvSpPr/>
          <p:nvPr/>
        </p:nvSpPr>
        <p:spPr>
          <a:xfrm>
            <a:off x="7669569" y="3895344"/>
            <a:ext cx="220749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8</a:t>
            </a:r>
            <a:endParaRPr lang="en-US" sz="2400" dirty="0"/>
          </a:p>
        </p:txBody>
      </p:sp>
      <p:sp>
        <p:nvSpPr>
          <p:cNvPr id="27" name="Shape 27"/>
          <p:cNvSpPr/>
          <p:nvPr/>
        </p:nvSpPr>
        <p:spPr>
          <a:xfrm>
            <a:off x="9877061" y="3895344"/>
            <a:ext cx="1765994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16</a:t>
            </a:r>
            <a:endParaRPr lang="en-US" sz="2400" dirty="0"/>
          </a:p>
        </p:txBody>
      </p:sp>
      <p:sp>
        <p:nvSpPr>
          <p:cNvPr id="28" name="Shape 28"/>
          <p:cNvSpPr/>
          <p:nvPr/>
        </p:nvSpPr>
        <p:spPr>
          <a:xfrm>
            <a:off x="6492240" y="4553712"/>
            <a:ext cx="1177329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3</a:t>
            </a:r>
            <a:endParaRPr lang="en-US" sz="2400" dirty="0"/>
          </a:p>
        </p:txBody>
      </p:sp>
      <p:sp>
        <p:nvSpPr>
          <p:cNvPr id="29" name="Shape 29"/>
          <p:cNvSpPr/>
          <p:nvPr/>
        </p:nvSpPr>
        <p:spPr>
          <a:xfrm>
            <a:off x="7669569" y="4553712"/>
            <a:ext cx="2207492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4</a:t>
            </a:r>
            <a:endParaRPr lang="en-US" sz="2400" dirty="0"/>
          </a:p>
        </p:txBody>
      </p:sp>
      <p:sp>
        <p:nvSpPr>
          <p:cNvPr id="30" name="Shape 30"/>
          <p:cNvSpPr/>
          <p:nvPr/>
        </p:nvSpPr>
        <p:spPr>
          <a:xfrm>
            <a:off x="9877061" y="4553712"/>
            <a:ext cx="1765994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20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where does sum start?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Move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sum = 0;</a:t>
            </a:r>
            <a:r>
              <a:rPr lang="en-US" sz="3200" dirty="0">
                <a:solidFill>
                  <a:srgbClr val="18324A"/>
                </a:solidFill>
              </a:rPr>
              <a:t> above the outer loop.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 rows 1 and 2 print now?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where does sum start?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Move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sum = 0;</a:t>
            </a:r>
            <a:r>
              <a:rPr lang="en-US" sz="3200" dirty="0">
                <a:solidFill>
                  <a:srgbClr val="18324A"/>
                </a:solidFill>
              </a:rPr>
              <a:t> above the outer loop.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 rows 1 and 2 print now?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48640" y="4648200"/>
            <a:ext cx="11094415" cy="1615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648200"/>
            <a:ext cx="109728" cy="161544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allout"/>
          <p:cNvSpPr/>
          <p:nvPr/>
        </p:nvSpPr>
        <p:spPr>
          <a:xfrm>
            <a:off x="658368" y="4648200"/>
            <a:ext cx="10984687" cy="16154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row 1: 38</a:t>
            </a:r>
            <a:r>
              <a:rPr lang="en-US" sz="2600" dirty="0">
                <a:solidFill>
                  <a:srgbClr val="18324A"/>
                </a:solidFill>
              </a:rPr>
              <a:t> and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row 2: 43</a:t>
            </a:r>
            <a:r>
              <a:rPr lang="en-US" sz="2600" dirty="0">
                <a:solidFill>
                  <a:srgbClr val="18324A"/>
                </a:solidFill>
              </a:rPr>
              <a:t>.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The sum never starts again: 20 + 18, then 38 + 5.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sum of every column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03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82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82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244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244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625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625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6766560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(int c = 0; c &lt; COLS; c++)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sum =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r = 0; r &lt; ROWS; r++)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sum += t[r][c];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printf("column %d: %d\n", c, sum);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7589520" y="1645920"/>
            <a:ext cx="405353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7589520" y="1645920"/>
            <a:ext cx="405353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column 0: 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column 1: 11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column 2: 21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column 3: 7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589520" y="38100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589520" y="3810000"/>
            <a:ext cx="10972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7699248" y="38100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Outer loop: the column.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Rows or columns: swap the loops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box is still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t[r][c]</a:t>
            </a:r>
            <a:r>
              <a:rPr lang="en-US" sz="2400" dirty="0">
                <a:solidFill>
                  <a:srgbClr val="18324A"/>
                </a:solidFill>
              </a:rPr>
              <a:t>: row first. Only the order of the loops changes.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246542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sum of every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3014066" y="1261872"/>
            <a:ext cx="3081782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outer loop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6095848" y="1261872"/>
            <a:ext cx="3081782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inner loop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9177630" y="1261872"/>
            <a:ext cx="246542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box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548640" y="1920240"/>
            <a:ext cx="246542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row</a:t>
            </a:r>
            <a:endParaRPr lang="en-US" sz="2600" dirty="0"/>
          </a:p>
        </p:txBody>
      </p:sp>
      <p:sp>
        <p:nvSpPr>
          <p:cNvPr id="14" name="Shape 14"/>
          <p:cNvSpPr/>
          <p:nvPr/>
        </p:nvSpPr>
        <p:spPr>
          <a:xfrm>
            <a:off x="3014066" y="1920240"/>
            <a:ext cx="308178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 &lt; ROWS</a:t>
            </a:r>
            <a:endParaRPr lang="en-US" sz="2600" dirty="0"/>
          </a:p>
        </p:txBody>
      </p:sp>
      <p:sp>
        <p:nvSpPr>
          <p:cNvPr id="15" name="Shape 15"/>
          <p:cNvSpPr/>
          <p:nvPr/>
        </p:nvSpPr>
        <p:spPr>
          <a:xfrm>
            <a:off x="6095848" y="1920240"/>
            <a:ext cx="308178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 &lt; COLS</a:t>
            </a:r>
            <a:endParaRPr lang="en-US" sz="2600" dirty="0"/>
          </a:p>
        </p:txBody>
      </p:sp>
      <p:sp>
        <p:nvSpPr>
          <p:cNvPr id="16" name="Shape 16"/>
          <p:cNvSpPr/>
          <p:nvPr/>
        </p:nvSpPr>
        <p:spPr>
          <a:xfrm>
            <a:off x="9177630" y="1920240"/>
            <a:ext cx="246542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t[r][c]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548640" y="2578608"/>
            <a:ext cx="2465426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column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3014066" y="2578608"/>
            <a:ext cx="308178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 &lt; COLS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6095848" y="2578608"/>
            <a:ext cx="308178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 &lt; ROWS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9177630" y="2578608"/>
            <a:ext cx="2465426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t[r][c]</a:t>
            </a:r>
            <a:endParaRPr lang="en-US" sz="2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4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Read, and be careful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scanf into a table · indexes C does not check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13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Read a table with scanf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583680" cy="258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746502"/>
            <a:ext cx="65836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583680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t[ROWS][COLS];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printf("Type %d numbers:\n", ROWS * COLS);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COLS; 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scanf("%d", &amp;t[r][c]);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7406640" y="1261872"/>
            <a:ext cx="423641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406640" y="1645920"/>
            <a:ext cx="4236415" cy="2270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406640" y="1645920"/>
            <a:ext cx="4236415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Type 6 numbers: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1 2 3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4 5 6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 1   2   3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 4   5   6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406640" y="4191000"/>
            <a:ext cx="4236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406640" y="4191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516368" y="4191000"/>
            <a:ext cx="4126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&amp;t[r][c]</a:t>
            </a:r>
            <a:r>
              <a:rPr lang="en-US" sz="2400" dirty="0">
                <a:solidFill>
                  <a:srgbClr val="18324A"/>
                </a:solidFill>
              </a:rPr>
              <a:t>: the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lang="en-US" sz="2400" dirty="0">
                <a:solidFill>
                  <a:srgbClr val="18324A"/>
                </a:solidFill>
              </a:rPr>
              <a:t>, as for any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column 4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Columns go 0 to 3.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t[0][4]</a:t>
            </a:r>
            <a:r>
              <a:rPr lang="en-US" sz="3200" dirty="0">
                <a:solidFill>
                  <a:srgbClr val="18324A"/>
                </a:solidFill>
              </a:rPr>
              <a:t> do?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41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4035552"/>
            <a:ext cx="5882335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4035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760720" y="1261872"/>
            <a:ext cx="5882335" cy="341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t[3][4] =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{3, 5, 8, 4},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{2, 6, 9, 1},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{-1, 0, 4, 2}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printf("%d\n", t[0][4]);</a:t>
            </a:r>
            <a:endParaRPr lang="en-US" sz="3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It prints 2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41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4035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4035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341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t[3][4] =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{3, 5, 8, 4},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{2, 6, 9, 1},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{-1, 0, 4, 2}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printf("%d\n", t[0][4]);</a:t>
            </a:r>
            <a:endParaRPr lang="en-US" sz="32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746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74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2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26670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2667000"/>
            <a:ext cx="109728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26670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No error. No warning.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3553968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3553968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3553968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2</a:t>
            </a:r>
            <a:r>
              <a:rPr lang="en-US" sz="2400" dirty="0">
                <a:solidFill>
                  <a:srgbClr val="18324A"/>
                </a:solidFill>
              </a:rPr>
              <a:t> is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t[1][0]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rows sit one after another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In memory, row 1 comes right after row 0. One box past the end of row 0 is the first box of row 1.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15849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[0][0]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2133556" y="1261872"/>
            <a:ext cx="15849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[0][1]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3718473" y="1261872"/>
            <a:ext cx="15849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[0][2]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5303389" y="1261872"/>
            <a:ext cx="15849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[0][3]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6888306" y="1261872"/>
            <a:ext cx="15849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[1][0]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8473222" y="1261872"/>
            <a:ext cx="15849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[1][1]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10058139" y="1261872"/>
            <a:ext cx="15849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...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548640" y="1920240"/>
            <a:ext cx="15849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2133556" y="1920240"/>
            <a:ext cx="15849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5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3718473" y="1920240"/>
            <a:ext cx="15849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8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5303389" y="1920240"/>
            <a:ext cx="15849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4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6888306" y="1920240"/>
            <a:ext cx="15849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324A"/>
                </a:solidFill>
              </a:rPr>
              <a:t>2</a:t>
            </a:r>
            <a:endParaRPr lang="en-US" sz="2600" dirty="0"/>
          </a:p>
        </p:txBody>
      </p:sp>
      <p:sp>
        <p:nvSpPr>
          <p:cNvPr id="21" name="Shape 21"/>
          <p:cNvSpPr/>
          <p:nvPr/>
        </p:nvSpPr>
        <p:spPr>
          <a:xfrm>
            <a:off x="8473222" y="1920240"/>
            <a:ext cx="15849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6</a:t>
            </a:r>
            <a:endParaRPr lang="en-US" sz="2600" dirty="0"/>
          </a:p>
        </p:txBody>
      </p:sp>
      <p:sp>
        <p:nvSpPr>
          <p:cNvPr id="22" name="Shape 22"/>
          <p:cNvSpPr/>
          <p:nvPr/>
        </p:nvSpPr>
        <p:spPr>
          <a:xfrm>
            <a:off x="10058139" y="1920240"/>
            <a:ext cx="15849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...</a:t>
            </a:r>
            <a:endParaRPr lang="en-US" sz="2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One row too far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035040" cy="1889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82852"/>
            <a:ext cx="603504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82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035040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(int r = 0; r &lt;= ROWS; r++)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 ", t[r][0]);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printf("\n");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6858000" y="1261872"/>
            <a:ext cx="47850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Two runs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6858000" y="1645920"/>
            <a:ext cx="478505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6858000" y="1645920"/>
            <a:ext cx="478505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3 2 -1 943716464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3 2 -1 -136316352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6858000" y="3429000"/>
            <a:ext cx="478505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6858000" y="3429000"/>
            <a:ext cx="109728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6967728" y="3429000"/>
            <a:ext cx="467532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There is no row 3.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6858000" y="4315968"/>
            <a:ext cx="478505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6858000" y="4315968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6967728" y="4315968"/>
            <a:ext cx="467532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gcc says nothing.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rule for indexes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Rows </a:t>
            </a:r>
            <a:r>
              <a:rPr lang="en-US" sz="4000" b="1" dirty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4000" b="1" dirty="0">
                <a:solidFill>
                  <a:srgbClr val="18324A"/>
                </a:solidFill>
              </a:rPr>
              <a:t> to </a:t>
            </a:r>
            <a:r>
              <a:rPr lang="en-US" sz="4000" b="1" dirty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ROWS - 1</a:t>
            </a:r>
            <a:r>
              <a:rPr lang="en-US" sz="4000" b="1" dirty="0">
                <a:solidFill>
                  <a:srgbClr val="18324A"/>
                </a:solidFill>
              </a:rPr>
              <a:t>. Columns </a:t>
            </a:r>
            <a:r>
              <a:rPr lang="en-US" sz="4000" b="1" dirty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4000" b="1" dirty="0">
                <a:solidFill>
                  <a:srgbClr val="18324A"/>
                </a:solidFill>
              </a:rPr>
              <a:t> to </a:t>
            </a:r>
            <a:r>
              <a:rPr lang="en-US" sz="4000" b="1" dirty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COLS - 1</a:t>
            </a:r>
            <a:r>
              <a:rPr lang="en-US" sz="4000" b="1" dirty="0">
                <a:solidFill>
                  <a:srgbClr val="18324A"/>
                </a:solidFill>
              </a:rPr>
              <a:t>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Loops: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 &lt; ROWS</a:t>
            </a:r>
            <a:r>
              <a:rPr lang="en-US" sz="3000" dirty="0">
                <a:solidFill>
                  <a:srgbClr val="18324A"/>
                </a:solidFill>
              </a:rPr>
              <a:t> and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 &lt; COLS</a:t>
            </a:r>
            <a:r>
              <a:rPr lang="en-US" sz="3000" dirty="0">
                <a:solidFill>
                  <a:srgbClr val="18324A"/>
                </a:solidFill>
              </a:rPr>
              <a:t>. Never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&lt;=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C does not check. A wrong index reads some other box, or garbage.</a:t>
            </a:r>
            <a:endParaRPr lang="en-US" sz="3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table of char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94944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527427"/>
            <a:ext cx="694944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5274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3575177"/>
            <a:ext cx="694944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3575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4622927"/>
            <a:ext cx="694944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4622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694944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g[ROWS][COLS];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COLS; c++)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g[r][c] = '.';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g[1][3] = '*';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COLS; c++)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printf("%c ", g[r][c]);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7772400" y="1261872"/>
            <a:ext cx="38706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7772400" y="1645920"/>
            <a:ext cx="387065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7772400" y="1645920"/>
            <a:ext cx="387065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. . . . .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. . . * .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. . . . . 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772400" y="3429000"/>
            <a:ext cx="38706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772400" y="34290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7882128" y="3429000"/>
            <a:ext cx="37609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g[1][3]</a:t>
            </a:r>
            <a:r>
              <a:rPr lang="en-US" sz="2400" dirty="0">
                <a:solidFill>
                  <a:srgbClr val="18324A"/>
                </a:solidFill>
              </a:rPr>
              <a:t>: row 1, column 3.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7772400" y="4681728"/>
            <a:ext cx="387065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7772400" y="4681728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" name="Callout"/>
          <p:cNvSpPr/>
          <p:nvPr/>
        </p:nvSpPr>
        <p:spPr>
          <a:xfrm>
            <a:off x="7882128" y="4681728"/>
            <a:ext cx="376092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%c</a:t>
            </a:r>
            <a:r>
              <a:rPr lang="en-US" sz="2400" dirty="0">
                <a:solidFill>
                  <a:srgbClr val="18324A"/>
                </a:solidFill>
              </a:rPr>
              <a:t> for one character.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5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Your turn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Two short tasks on paper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13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Your turn: below zero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TURN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Use the table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</a:t>
            </a:r>
            <a:r>
              <a:rPr lang="en-US" sz="3200" dirty="0">
                <a:solidFill>
                  <a:srgbClr val="18324A"/>
                </a:solidFill>
              </a:rPr>
              <a:t> of today.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Count the boxes below 0.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Print the row and column of each one.</a:t>
            </a:r>
            <a:endParaRPr lang="en-US" sz="3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Below zero: one answer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Output: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below zero at (2,0)</a:t>
            </a:r>
            <a:r>
              <a:rPr lang="en-US" sz="2400" dirty="0">
                <a:solidFill>
                  <a:srgbClr val="18324A"/>
                </a:solidFill>
              </a:rPr>
              <a:t>, then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1 below zero</a:t>
            </a:r>
            <a:r>
              <a:rPr lang="en-US" sz="2400" dirty="0">
                <a:solidFill>
                  <a:srgbClr val="18324A"/>
                </a:solidFill>
              </a:rPr>
              <a:t>. The count starts once, before both loops.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11094415" cy="354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429002"/>
            <a:ext cx="11094415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746502"/>
            <a:ext cx="11094415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3064002"/>
            <a:ext cx="11094415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306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548640" y="1261872"/>
            <a:ext cx="11094415" cy="354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count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COLS; 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(t[r][c] &lt; 0)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printf("below zero at (%d,%d)\n", r, c);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count++;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printf("%d below zero\n", count);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Your turn: the largest of each row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TURN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Print the largest value of every row of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Use the pattern of class 10.</a:t>
            </a:r>
            <a:endParaRPr lang="en-US" sz="3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Largest of each row: one answer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949440" cy="3794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863852"/>
            <a:ext cx="694944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863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244852"/>
            <a:ext cx="694944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244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6949440" cy="3794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max = t[r][0];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c = 1; c &lt; COLS; c++)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if (t[r][c] &gt; max)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max = t[r][c];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printf("row %d: max %d\n", r, max);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2" name="Shape 12"/>
          <p:cNvSpPr/>
          <p:nvPr/>
        </p:nvSpPr>
        <p:spPr>
          <a:xfrm>
            <a:off x="7772400" y="1261872"/>
            <a:ext cx="38706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7772400" y="1645920"/>
            <a:ext cx="387065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7772400" y="1645920"/>
            <a:ext cx="387065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row 0: max 8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row 1: max 9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row 2: max 4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7772400" y="3429000"/>
            <a:ext cx="38706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7772400" y="34290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7882128" y="3429000"/>
            <a:ext cx="37609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max</a:t>
            </a:r>
            <a:r>
              <a:rPr lang="en-US" sz="2400" dirty="0">
                <a:solidFill>
                  <a:srgbClr val="18324A"/>
                </a:solidFill>
              </a:rPr>
              <a:t> starts at the first box of the row.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Today in one slide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t[3][4];</a:t>
            </a:r>
            <a:r>
              <a:rPr lang="en-US" sz="2800" dirty="0">
                <a:solidFill>
                  <a:srgbClr val="18324A"/>
                </a:solidFill>
              </a:rPr>
              <a:t>: 3 rows, 4 columns, 12 boxes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t[r][c]</a:t>
            </a:r>
            <a:r>
              <a:rPr lang="en-US" sz="2800" dirty="0">
                <a:solidFill>
                  <a:srgbClr val="18324A"/>
                </a:solidFill>
              </a:rPr>
              <a:t>: row first, then column; both from 0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Two loops: the outer one picks the row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Row sums: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sum = 0</a:t>
            </a:r>
            <a:r>
              <a:rPr lang="en-US" sz="2800" dirty="0">
                <a:solidFill>
                  <a:srgbClr val="18324A"/>
                </a:solidFill>
              </a:rPr>
              <a:t> inside the outer loop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965192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9651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 &lt; ROWS</a:t>
            </a:r>
            <a:r>
              <a:rPr lang="en-US" sz="2800" dirty="0">
                <a:solidFill>
                  <a:srgbClr val="18324A"/>
                </a:solidFill>
              </a:rPr>
              <a:t>,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 &lt; COLS</a:t>
            </a:r>
            <a:r>
              <a:rPr lang="en-US" sz="2800" dirty="0">
                <a:solidFill>
                  <a:srgbClr val="18324A"/>
                </a:solidFill>
              </a:rPr>
              <a:t>: C does not check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Project 2: Treasure Hunt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A hidden 8 × 8 board: find 5 treasures, avoid 3 traps.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Two tables: what is in each cell, and what the player has seen.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Today's loops print the board. Friday: the cells around a cell.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Your own program, then a live talk with a TA about it.</a:t>
            </a:r>
            <a:endParaRPr lang="en-US" sz="3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Project 2: what and when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The brief: Blackboard, </a:t>
            </a:r>
            <a:r>
              <a:rPr lang="en-US" sz="2800" b="1" dirty="0">
                <a:solidFill>
                  <a:srgbClr val="18324A"/>
                </a:solidFill>
              </a:rPr>
              <a:t>Projects</a:t>
            </a:r>
            <a:r>
              <a:rPr lang="en-US" sz="2800" dirty="0">
                <a:solidFill>
                  <a:srgbClr val="18324A"/>
                </a:solidFill>
              </a:rPr>
              <a:t> folder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One file: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treasure_hunt.c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Due </a:t>
            </a:r>
            <a:r>
              <a:rPr lang="en-US" sz="2800" b="1" dirty="0">
                <a:solidFill>
                  <a:srgbClr val="18324A"/>
                </a:solidFill>
              </a:rPr>
              <a:t>Monday 9 November, 23:59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50 points: the program · 50 points: the live talk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Start early. Read the whole brief this week.</a:t>
            </a:r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Before Friday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13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Knowledge check 13</a:t>
            </a:r>
            <a:r>
              <a:rPr lang="en-US" sz="2800" dirty="0">
                <a:solidFill>
                  <a:srgbClr val="18324A"/>
                </a:solidFill>
              </a:rPr>
              <a:t> on Blackboard: today's slides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Quiz 4: Fri 23 October</a:t>
            </a:r>
            <a:r>
              <a:rPr lang="en-US" sz="2800" dirty="0">
                <a:solidFill>
                  <a:srgbClr val="18324A"/>
                </a:solidFill>
              </a:rPr>
              <a:t>, classes 11-12: strings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Midterm: Fri 30 October</a:t>
            </a:r>
            <a:r>
              <a:rPr lang="en-US" sz="2800" dirty="0">
                <a:solidFill>
                  <a:srgbClr val="18324A"/>
                </a:solidFill>
              </a:rPr>
              <a:t>, classes 1 to 14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Today's code: Blackboard, Week 7 module, </a:t>
            </a:r>
            <a:r>
              <a:rPr lang="en-US" sz="2800" b="1" dirty="0">
                <a:solidFill>
                  <a:srgbClr val="18324A"/>
                </a:solidFill>
              </a:rPr>
              <a:t>Class 13 code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Friday a TA teaches: tables in functions, matrices, the cells around a cell.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E6C91384D4CF4A8C11771C71AF99FC" ma:contentTypeVersion="3" ma:contentTypeDescription="Create a new document." ma:contentTypeScope="" ma:versionID="9457c7892666d9df0301343fedda2daf">
  <xsd:schema xmlns:xsd="http://www.w3.org/2001/XMLSchema" xmlns:xs="http://www.w3.org/2001/XMLSchema" xmlns:p="http://schemas.microsoft.com/office/2006/metadata/properties" xmlns:ns2="76ba2307-afa1-4918-86e6-ffe4c7b76c67" targetNamespace="http://schemas.microsoft.com/office/2006/metadata/properties" ma:root="true" ma:fieldsID="01dbc32444af8b37558df168563705b5" ns2:_="">
    <xsd:import namespace="76ba2307-afa1-4918-86e6-ffe4c7b76c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a2307-afa1-4918-86e6-ffe4c7b76c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66058B-8C7C-44C5-988D-122F37B2CD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59415D-7EF4-4728-B780-B028948F84C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C07D86D-9D44-4F53-9B6F-B55C63480B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ba2307-afa1-4918-86e6-ffe4c7b76c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7183</Words>
  <Application>Microsoft Office PowerPoint</Application>
  <PresentationFormat>Widescreen</PresentationFormat>
  <Paragraphs>975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1101 · Class 13 · Multidimensional arrays</dc:title>
  <dc:subject>Programming Principles I - Week 3</dc:subject>
  <dc:creator>Abbas Aliyev and Azar Aliyev</dc:creator>
  <cp:lastModifiedBy>Abbas Aliyev and Azar Aliyev</cp:lastModifiedBy>
  <cp:revision>5</cp:revision>
  <dcterms:created xsi:type="dcterms:W3CDTF">2026-09-17T10:16:02Z</dcterms:created>
  <dcterms:modified xsi:type="dcterms:W3CDTF">2026-10-16T20:06:01Z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0x010100A9E6C91384D4CF4A8C11771C71AF99FC</vt:lpwstr>
  </property>
</Properties>
</file>