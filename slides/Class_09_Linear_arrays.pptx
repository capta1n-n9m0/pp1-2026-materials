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087"/>
  </p:normalViewPr>
  <p:slideViewPr>
    <p:cSldViewPr snapToGrid="0" snapToObjects="1">
      <p:cViewPr varScale="1">
        <p:scale>
          <a:sx n="120" d="100"/>
          <a:sy n="120" d="100"/>
        </p:scale>
        <p:origin x="4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notesMaster" Target="notesMasters/notesMaster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AAE3314-AF84-4247-BCFC-E5D4522C2F4D}" type="datetimeFigureOut">
              <a:rPr lang="en-US" smtClean="0"/>
              <a:t>10/17/2026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D25481AE-EEA2-4FDB-A6E4-93EFECF1087A}" type="slidenum">
              <a:rPr lang="en-US" smtClean="0"/>
              <a:t>‹#›</a:t>
            </a:fld>
            <a:endParaRPr lang="en-US"/>
          </a:p>
        </p:txBody>
      </p:sp>
    </p:spTree>
    <p:extLst>
      <p:ext uri="{BB962C8B-B14F-4D97-AF65-F5344CB8AC3E}">
        <p14:creationId xmlns:p14="http://schemas.microsoft.com/office/powerpoint/2010/main" val="33925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programs of this class are on Blackboard: Week 5 module, Class 9 code. It is a zip file. Unzip it and open the folder in Visual Studio Code. Every file has a comment at the top: what the program does, how to run it, and a list called Try with small changes to make. Make them.</a:t>
            </a:r>
          </a:p>
          <a:p>
            <a:endParaRPr lang="en-US"/>
          </a:p>
          <a:p>
            <a:r>
              <a:rPr lang="en-US"/>
              <a:t>How to run a program. Same as every week. In the terminal type gcc -Wall name.c -o name and press Enter, then ./name (or .\name in Windows PowerShell) and press Enter.</a:t>
            </a:r>
          </a:p>
          <a:p>
            <a:endParaRPr lang="en-US"/>
          </a:p>
          <a:p>
            <a:r>
              <a:rPr lang="en-US"/>
              <a:t>Until now one variable held one value. Today one name holds many values: an array.</a:t>
            </a:r>
          </a:p>
        </p:txBody>
      </p:sp>
      <p:sp>
        <p:nvSpPr>
          <p:cNvPr id="4" name="Slide Number Placeholder 3"/>
          <p:cNvSpPr>
            <a:spLocks noGrp="1"/>
          </p:cNvSpPr>
          <p:nvPr>
            <p:ph type="sldNum" sz="quarter" idx="5"/>
          </p:nvPr>
        </p:nvSpPr>
        <p:spPr/>
        <p:txBody>
          <a:bodyPr/>
          <a:lstStyle/>
          <a:p>
            <a:fld id="{D25481AE-EEA2-4FDB-A6E4-93EFECF1087A}" type="slidenum">
              <a:rPr lang="en-US" smtClean="0"/>
              <a:t>1</a:t>
            </a:fld>
            <a:endParaRPr lang="en-US"/>
          </a:p>
        </p:txBody>
      </p:sp>
    </p:spTree>
    <p:extLst>
      <p:ext uri="{BB962C8B-B14F-4D97-AF65-F5344CB8AC3E}">
        <p14:creationId xmlns:p14="http://schemas.microsoft.com/office/powerpoint/2010/main" val="3121236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Your mark is on your paper and in Blackboard. Open the course, click Gradebook, then Quiz 2. You see your mark, every comment from your paper, and your marked paper as a PDF file.</a:t>
            </a:r>
          </a:p>
          <a:p>
            <a:endParaRPr lang="en-US"/>
          </a:p>
          <a:p>
            <a:r>
              <a:rPr lang="en-US"/>
              <a:t>Three ideas cost most of the marks in the class. Slides 3 to 11 show them, one at a time. All three come back in today's array loops.</a:t>
            </a:r>
          </a:p>
        </p:txBody>
      </p:sp>
      <p:sp>
        <p:nvSpPr>
          <p:cNvPr id="4" name="Slide Number Placeholder 3"/>
          <p:cNvSpPr>
            <a:spLocks noGrp="1"/>
          </p:cNvSpPr>
          <p:nvPr>
            <p:ph type="sldNum" sz="quarter" idx="5"/>
          </p:nvPr>
        </p:nvSpPr>
        <p:spPr/>
        <p:txBody>
          <a:bodyPr/>
          <a:lstStyle/>
          <a:p>
            <a:fld id="{D25481AE-EEA2-4FDB-A6E4-93EFECF1087A}" type="slidenum">
              <a:rPr lang="en-US" smtClean="0"/>
              <a:t>2</a:t>
            </a:fld>
            <a:endParaRPr lang="en-US"/>
          </a:p>
        </p:txBody>
      </p:sp>
    </p:spTree>
    <p:extLst>
      <p:ext uri="{BB962C8B-B14F-4D97-AF65-F5344CB8AC3E}">
        <p14:creationId xmlns:p14="http://schemas.microsoft.com/office/powerpoint/2010/main" val="55983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guess what a loop prints. Make a table with one row per round: the value of x, the test, what is printed, and count.</a:t>
            </a:r>
          </a:p>
          <a:p>
            <a:endParaRPr lang="en-US"/>
          </a:p>
          <a:p>
            <a:r>
              <a:rPr lang="en-US"/>
              <a:t>This is Question 1(a) of variant A:</a:t>
            </a:r>
          </a:p>
          <a:p>
            <a:endParaRPr lang="en-US"/>
          </a:p>
          <a:p>
            <a:r>
              <a:rPr lang="en-US"/>
              <a:t>int x = 1;</a:t>
            </a:r>
          </a:p>
          <a:p>
            <a:r>
              <a:rPr lang="en-US"/>
              <a:t>int count = 0;</a:t>
            </a:r>
          </a:p>
          <a:p>
            <a:r>
              <a:rPr lang="en-US"/>
              <a:t>while (x &lt; 20) {</a:t>
            </a:r>
          </a:p>
          <a:p>
            <a:r>
              <a:rPr lang="en-US"/>
              <a:t>    printf("%d ", x);</a:t>
            </a:r>
          </a:p>
          <a:p>
            <a:r>
              <a:rPr lang="en-US"/>
              <a:t>    if (x % 3 == 0) {</a:t>
            </a:r>
          </a:p>
          <a:p>
            <a:r>
              <a:rPr lang="en-US"/>
              <a:t>        count++;</a:t>
            </a:r>
          </a:p>
          <a:p>
            <a:r>
              <a:rPr lang="en-US"/>
              <a:t>    }</a:t>
            </a:r>
          </a:p>
          <a:p>
            <a:r>
              <a:rPr lang="en-US"/>
              <a:t>    x = x * 2 + 1;</a:t>
            </a:r>
          </a:p>
          <a:p>
            <a:r>
              <a:rPr lang="en-US"/>
              <a:t>}</a:t>
            </a:r>
          </a:p>
          <a:p>
            <a:r>
              <a:rPr lang="en-US"/>
              <a:t>printf("\nx = %d, count = %d\n", x, count);</a:t>
            </a:r>
          </a:p>
          <a:p>
            <a:endParaRPr lang="en-US"/>
          </a:p>
          <a:p>
            <a:r>
              <a:rPr lang="en-US"/>
              <a:t>x: x &lt; 20? · prints · count</a:t>
            </a:r>
          </a:p>
          <a:p>
            <a:r>
              <a:rPr lang="en-US"/>
              <a:t>1: yes · 1 · 0</a:t>
            </a:r>
          </a:p>
          <a:p>
            <a:r>
              <a:rPr lang="en-US"/>
              <a:t>3: yes · 3 · 1</a:t>
            </a:r>
          </a:p>
          <a:p>
            <a:r>
              <a:rPr lang="en-US"/>
              <a:t>7: yes · 7 · 1</a:t>
            </a:r>
          </a:p>
          <a:p>
            <a:r>
              <a:rPr lang="en-US"/>
              <a:t>15: yes · 15 · 2</a:t>
            </a:r>
          </a:p>
          <a:p>
            <a:r>
              <a:rPr lang="en-US"/>
              <a:t>31: no · nothing · 2</a:t>
            </a:r>
          </a:p>
          <a:p>
            <a:endParaRPr lang="en-US"/>
          </a:p>
          <a:p>
            <a:r>
              <a:rPr lang="en-US"/>
              <a:t>Every x that passes the test is printed: 1 3 7 15.</a:t>
            </a:r>
          </a:p>
        </p:txBody>
      </p:sp>
      <p:sp>
        <p:nvSpPr>
          <p:cNvPr id="4" name="Slide Number Placeholder 3"/>
          <p:cNvSpPr>
            <a:spLocks noGrp="1"/>
          </p:cNvSpPr>
          <p:nvPr>
            <p:ph type="sldNum" sz="quarter" idx="5"/>
          </p:nvPr>
        </p:nvSpPr>
        <p:spPr/>
        <p:txBody>
          <a:bodyPr/>
          <a:lstStyle/>
          <a:p>
            <a:fld id="{D25481AE-EEA2-4FDB-A6E4-93EFECF1087A}" type="slidenum">
              <a:rPr lang="en-US" smtClean="0"/>
              <a:t>3</a:t>
            </a:fld>
            <a:endParaRPr lang="en-US"/>
          </a:p>
        </p:txBody>
      </p:sp>
    </p:spTree>
    <p:extLst>
      <p:ext uri="{BB962C8B-B14F-4D97-AF65-F5344CB8AC3E}">
        <p14:creationId xmlns:p14="http://schemas.microsoft.com/office/powerpoint/2010/main" val="24932762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After 15, x = x * 2 + 1 makes x 31. The test 31 &lt; 20 is false, so the loop stops. 31 is never printed. But x still holds 31: the loop does not undo its last step.</a:t>
            </a:r>
          </a:p>
        </p:txBody>
      </p:sp>
      <p:sp>
        <p:nvSpPr>
          <p:cNvPr id="4" name="Slide Number Placeholder 3"/>
          <p:cNvSpPr>
            <a:spLocks noGrp="1"/>
          </p:cNvSpPr>
          <p:nvPr>
            <p:ph type="sldNum" sz="quarter" idx="5"/>
          </p:nvPr>
        </p:nvSpPr>
        <p:spPr/>
        <p:txBody>
          <a:bodyPr/>
          <a:lstStyle/>
          <a:p>
            <a:fld id="{D25481AE-EEA2-4FDB-A6E4-93EFECF1087A}" type="slidenum">
              <a:rPr lang="en-US" smtClean="0"/>
              <a:t>4</a:t>
            </a:fld>
            <a:endParaRPr lang="en-US"/>
          </a:p>
        </p:txBody>
      </p:sp>
    </p:spTree>
    <p:extLst>
      <p:ext uri="{BB962C8B-B14F-4D97-AF65-F5344CB8AC3E}">
        <p14:creationId xmlns:p14="http://schemas.microsoft.com/office/powerpoint/2010/main" val="3930706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program prints exactly this:</a:t>
            </a:r>
          </a:p>
          <a:p>
            <a:endParaRPr lang="en-US"/>
          </a:p>
          <a:p>
            <a:r>
              <a:rPr lang="en-US"/>
              <a:t>1 3 7 15</a:t>
            </a:r>
          </a:p>
          <a:p>
            <a:r>
              <a:rPr lang="en-US"/>
              <a:t>x = 31, count = 2</a:t>
            </a:r>
          </a:p>
          <a:p>
            <a:endParaRPr lang="en-US"/>
          </a:p>
          <a:p>
            <a:r>
              <a:rPr lang="en-US"/>
              <a:t>Two mistakes were common:</a:t>
            </a:r>
          </a:p>
          <a:p>
            <a:endParaRPr lang="en-US"/>
          </a:p>
          <a:p>
            <a:r>
              <a:rPr lang="en-US"/>
              <a:t>- Writing x = 15. After the loop, x holds the value that failed the test, 31.</a:t>
            </a:r>
          </a:p>
          <a:p>
            <a:r>
              <a:rPr lang="en-US"/>
              <a:t>- Writing only 2. printf prints the words in its format too: x = , the comma, count = . Write the whole line.</a:t>
            </a:r>
          </a:p>
          <a:p>
            <a:endParaRPr lang="en-US"/>
          </a:p>
          <a:p>
            <a:r>
              <a:rPr lang="en-US"/>
              <a:t>Variant B was the same loop with x = x * 2 + 2, the test x &lt; 50, and multiples of 5. It prints 2 6 14 30, then x = 62, count = 1.</a:t>
            </a:r>
          </a:p>
        </p:txBody>
      </p:sp>
      <p:sp>
        <p:nvSpPr>
          <p:cNvPr id="4" name="Slide Number Placeholder 3"/>
          <p:cNvSpPr>
            <a:spLocks noGrp="1"/>
          </p:cNvSpPr>
          <p:nvPr>
            <p:ph type="sldNum" sz="quarter" idx="5"/>
          </p:nvPr>
        </p:nvSpPr>
        <p:spPr/>
        <p:txBody>
          <a:bodyPr/>
          <a:lstStyle/>
          <a:p>
            <a:fld id="{D25481AE-EEA2-4FDB-A6E4-93EFECF1087A}" type="slidenum">
              <a:rPr lang="en-US" smtClean="0"/>
              <a:t>5</a:t>
            </a:fld>
            <a:endParaRPr lang="en-US"/>
          </a:p>
        </p:txBody>
      </p:sp>
    </p:spTree>
    <p:extLst>
      <p:ext uri="{BB962C8B-B14F-4D97-AF65-F5344CB8AC3E}">
        <p14:creationId xmlns:p14="http://schemas.microsoft.com/office/powerpoint/2010/main" val="14507274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Question 2 of variant A: read how many numbers the user will type, read them one by one, and print how many are even. Here is one complete answer:</a:t>
            </a:r>
          </a:p>
          <a:p>
            <a:endParaRPr lang="en-US"/>
          </a:p>
          <a:p>
            <a:r>
              <a:rPr lang="en-US"/>
              <a:t>#include &lt;stdio.h&gt;</a:t>
            </a:r>
          </a:p>
          <a:p>
            <a:endParaRPr lang="en-US"/>
          </a:p>
          <a:p>
            <a:r>
              <a:rPr lang="en-US"/>
              <a:t>int main(void) {</a:t>
            </a:r>
          </a:p>
          <a:p>
            <a:r>
              <a:rPr lang="en-US"/>
              <a:t>    int n, value;</a:t>
            </a:r>
          </a:p>
          <a:p>
            <a:r>
              <a:rPr lang="en-US"/>
              <a:t>    int count = 0;</a:t>
            </a:r>
          </a:p>
          <a:p>
            <a:r>
              <a:rPr lang="en-US"/>
              <a:t>    printf("How many numbers? ");</a:t>
            </a:r>
          </a:p>
          <a:p>
            <a:r>
              <a:rPr lang="en-US"/>
              <a:t>    scanf("%d", &amp;n);</a:t>
            </a:r>
          </a:p>
          <a:p>
            <a:r>
              <a:rPr lang="en-US"/>
              <a:t>    for (int i = 1; i &lt;= n; i++) {</a:t>
            </a:r>
          </a:p>
          <a:p>
            <a:r>
              <a:rPr lang="en-US"/>
              <a:t>        printf("Number: ");</a:t>
            </a:r>
          </a:p>
          <a:p>
            <a:r>
              <a:rPr lang="en-US"/>
              <a:t>        scanf("%d", &amp;value);</a:t>
            </a:r>
          </a:p>
          <a:p>
            <a:r>
              <a:rPr lang="en-US"/>
              <a:t>        if (value % 2 == 0) {</a:t>
            </a:r>
          </a:p>
          <a:p>
            <a:r>
              <a:rPr lang="en-US"/>
              <a:t>            count++;</a:t>
            </a:r>
          </a:p>
          <a:p>
            <a:r>
              <a:rPr lang="en-US"/>
              <a:t>        }</a:t>
            </a:r>
          </a:p>
          <a:p>
            <a:r>
              <a:rPr lang="en-US"/>
              <a:t>    }</a:t>
            </a:r>
          </a:p>
          <a:p>
            <a:r>
              <a:rPr lang="en-US"/>
              <a:t>    printf("Even numbers: %d\n", count);</a:t>
            </a:r>
          </a:p>
          <a:p>
            <a:r>
              <a:rPr lang="en-US"/>
              <a:t>    return 0;</a:t>
            </a:r>
          </a:p>
          <a:p>
            <a:r>
              <a:rPr lang="en-US"/>
              <a:t>}</a:t>
            </a:r>
          </a:p>
          <a:p>
            <a:endParaRPr lang="en-US"/>
          </a:p>
          <a:p>
            <a:r>
              <a:rPr lang="en-US"/>
              <a:t>When you type 5, then 4 7 10 3 8, the screen shows:</a:t>
            </a:r>
          </a:p>
          <a:p>
            <a:endParaRPr lang="en-US"/>
          </a:p>
          <a:p>
            <a:r>
              <a:rPr lang="en-US"/>
              <a:t>How many numbers? 5</a:t>
            </a:r>
          </a:p>
          <a:p>
            <a:r>
              <a:rPr lang="en-US"/>
              <a:t>Number: 4</a:t>
            </a:r>
          </a:p>
          <a:p>
            <a:r>
              <a:rPr lang="en-US"/>
              <a:t>Number: 7</a:t>
            </a:r>
          </a:p>
          <a:p>
            <a:r>
              <a:rPr lang="en-US"/>
              <a:t>Number: 10</a:t>
            </a:r>
          </a:p>
          <a:p>
            <a:r>
              <a:rPr lang="en-US"/>
              <a:t>Number: 3</a:t>
            </a:r>
          </a:p>
          <a:p>
            <a:r>
              <a:rPr lang="en-US"/>
              <a:t>Number: 8</a:t>
            </a:r>
          </a:p>
          <a:p>
            <a:r>
              <a:rPr lang="en-US"/>
              <a:t>Even numbers: 3</a:t>
            </a:r>
          </a:p>
          <a:p>
            <a:endParaRPr lang="en-US"/>
          </a:p>
          <a:p>
            <a:r>
              <a:rPr lang="en-US"/>
              <a:t>Variant B counted the scores of 50 or more. It is the same program with if (score &gt;= 50).</a:t>
            </a:r>
          </a:p>
        </p:txBody>
      </p:sp>
      <p:sp>
        <p:nvSpPr>
          <p:cNvPr id="4" name="Slide Number Placeholder 3"/>
          <p:cNvSpPr>
            <a:spLocks noGrp="1"/>
          </p:cNvSpPr>
          <p:nvPr>
            <p:ph type="sldNum" sz="quarter" idx="5"/>
          </p:nvPr>
        </p:nvSpPr>
        <p:spPr/>
        <p:txBody>
          <a:bodyPr/>
          <a:lstStyle/>
          <a:p>
            <a:fld id="{D25481AE-EEA2-4FDB-A6E4-93EFECF1087A}" type="slidenum">
              <a:rPr lang="en-US" smtClean="0"/>
              <a:t>6</a:t>
            </a:fld>
            <a:endParaRPr lang="en-US"/>
          </a:p>
        </p:txBody>
      </p:sp>
    </p:spTree>
    <p:extLst>
      <p:ext uri="{BB962C8B-B14F-4D97-AF65-F5344CB8AC3E}">
        <p14:creationId xmlns:p14="http://schemas.microsoft.com/office/powerpoint/2010/main" val="3731614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counting program has the same four places:</a:t>
            </a:r>
          </a:p>
          <a:p>
            <a:endParaRPr lang="en-US"/>
          </a:p>
          <a:p>
            <a:r>
              <a:rPr lang="en-US"/>
              <a:t>1. Before the loop: start the counter at 0: int count = 0;. Without = 0 the counter starts with an unknown number.</a:t>
            </a:r>
          </a:p>
          <a:p>
            <a:r>
              <a:rPr lang="en-US"/>
              <a:t>2. The loop: it runs exactly n times: for (int i = 1; i &lt;= n; i++). Do not write i &lt;= 5: the user chooses n.</a:t>
            </a:r>
          </a:p>
          <a:p>
            <a:r>
              <a:rPr lang="en-US"/>
              <a:t>3. Inside the loop: read one number, test it, and count++; when the test is true.</a:t>
            </a:r>
          </a:p>
          <a:p>
            <a:r>
              <a:rPr lang="en-US"/>
              <a:t>4. After the loop: print the result once.</a:t>
            </a:r>
          </a:p>
        </p:txBody>
      </p:sp>
      <p:sp>
        <p:nvSpPr>
          <p:cNvPr id="4" name="Slide Number Placeholder 3"/>
          <p:cNvSpPr>
            <a:spLocks noGrp="1"/>
          </p:cNvSpPr>
          <p:nvPr>
            <p:ph type="sldNum" sz="quarter" idx="5"/>
          </p:nvPr>
        </p:nvSpPr>
        <p:spPr/>
        <p:txBody>
          <a:bodyPr/>
          <a:lstStyle/>
          <a:p>
            <a:fld id="{D25481AE-EEA2-4FDB-A6E4-93EFECF1087A}" type="slidenum">
              <a:rPr lang="en-US" smtClean="0"/>
              <a:t>7</a:t>
            </a:fld>
            <a:endParaRPr lang="en-US"/>
          </a:p>
        </p:txBody>
      </p:sp>
    </p:spTree>
    <p:extLst>
      <p:ext uri="{BB962C8B-B14F-4D97-AF65-F5344CB8AC3E}">
        <p14:creationId xmlns:p14="http://schemas.microsoft.com/office/powerpoint/2010/main" val="1898210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the last printf is above the } that closes the loop, so it is inside the loop:</a:t>
            </a:r>
          </a:p>
          <a:p>
            <a:endParaRPr lang="en-US"/>
          </a:p>
          <a:p>
            <a:r>
              <a:rPr lang="en-US"/>
              <a:t>for (int i = 1; i &lt;= n; i++) {</a:t>
            </a:r>
          </a:p>
          <a:p>
            <a:r>
              <a:rPr lang="en-US"/>
              <a:t>    printf("Number: ");</a:t>
            </a:r>
          </a:p>
          <a:p>
            <a:r>
              <a:rPr lang="en-US"/>
              <a:t>    scanf("%d", &amp;value);</a:t>
            </a:r>
          </a:p>
          <a:p>
            <a:r>
              <a:rPr lang="en-US"/>
              <a:t>    if (value % 2 == 0) {</a:t>
            </a:r>
          </a:p>
          <a:p>
            <a:r>
              <a:rPr lang="en-US"/>
              <a:t>        count++;</a:t>
            </a:r>
          </a:p>
          <a:p>
            <a:r>
              <a:rPr lang="en-US"/>
              <a:t>    }</a:t>
            </a:r>
          </a:p>
          <a:p>
            <a:r>
              <a:rPr lang="en-US"/>
              <a:t>    printf("Even numbers: %d\n", count);</a:t>
            </a:r>
          </a:p>
          <a:p>
            <a:r>
              <a:rPr lang="en-US"/>
              <a:t>}</a:t>
            </a:r>
          </a:p>
          <a:p>
            <a:endParaRPr lang="en-US"/>
          </a:p>
          <a:p>
            <a:r>
              <a:rPr lang="en-US"/>
              <a:t>C does not look at the indent. It follows the braces. Move the printf below the } of the loop.</a:t>
            </a:r>
          </a:p>
        </p:txBody>
      </p:sp>
      <p:sp>
        <p:nvSpPr>
          <p:cNvPr id="4" name="Slide Number Placeholder 3"/>
          <p:cNvSpPr>
            <a:spLocks noGrp="1"/>
          </p:cNvSpPr>
          <p:nvPr>
            <p:ph type="sldNum" sz="quarter" idx="5"/>
          </p:nvPr>
        </p:nvSpPr>
        <p:spPr/>
        <p:txBody>
          <a:bodyPr/>
          <a:lstStyle/>
          <a:p>
            <a:fld id="{D25481AE-EEA2-4FDB-A6E4-93EFECF1087A}" type="slidenum">
              <a:rPr lang="en-US" smtClean="0"/>
              <a:t>8</a:t>
            </a:fld>
            <a:endParaRPr lang="en-US"/>
          </a:p>
        </p:txBody>
      </p:sp>
    </p:spTree>
    <p:extLst>
      <p:ext uri="{BB962C8B-B14F-4D97-AF65-F5344CB8AC3E}">
        <p14:creationId xmlns:p14="http://schemas.microsoft.com/office/powerpoint/2010/main" val="2301866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 the printf inside the loop, and 3, then 4 7 10 typed, the screen shows:</a:t>
            </a:r>
          </a:p>
          <a:p>
            <a:endParaRPr lang="en-US"/>
          </a:p>
          <a:p>
            <a:r>
              <a:rPr lang="en-US"/>
              <a:t>How many numbers? 3</a:t>
            </a:r>
          </a:p>
          <a:p>
            <a:r>
              <a:rPr lang="en-US"/>
              <a:t>Number: 4</a:t>
            </a:r>
          </a:p>
          <a:p>
            <a:r>
              <a:rPr lang="en-US"/>
              <a:t>Even numbers: 1</a:t>
            </a:r>
          </a:p>
          <a:p>
            <a:r>
              <a:rPr lang="en-US"/>
              <a:t>Number: 7</a:t>
            </a:r>
          </a:p>
          <a:p>
            <a:r>
              <a:rPr lang="en-US"/>
              <a:t>Even numbers: 1</a:t>
            </a:r>
          </a:p>
          <a:p>
            <a:r>
              <a:rPr lang="en-US"/>
              <a:t>Number: 10</a:t>
            </a:r>
          </a:p>
          <a:p>
            <a:r>
              <a:rPr lang="en-US"/>
              <a:t>Even numbers: 2</a:t>
            </a:r>
          </a:p>
          <a:p>
            <a:endParaRPr lang="en-US"/>
          </a:p>
          <a:p>
            <a:r>
              <a:rPr lang="en-US"/>
              <a:t>It prints a line after every number. The question wanted one line, at the end.</a:t>
            </a:r>
          </a:p>
        </p:txBody>
      </p:sp>
      <p:sp>
        <p:nvSpPr>
          <p:cNvPr id="4" name="Slide Number Placeholder 3"/>
          <p:cNvSpPr>
            <a:spLocks noGrp="1"/>
          </p:cNvSpPr>
          <p:nvPr>
            <p:ph type="sldNum" sz="quarter" idx="5"/>
          </p:nvPr>
        </p:nvSpPr>
        <p:spPr/>
        <p:txBody>
          <a:bodyPr/>
          <a:lstStyle/>
          <a:p>
            <a:fld id="{D25481AE-EEA2-4FDB-A6E4-93EFECF1087A}" type="slidenum">
              <a:rPr lang="en-US" smtClean="0"/>
              <a:t>9</a:t>
            </a:fld>
            <a:endParaRPr lang="en-US"/>
          </a:p>
        </p:txBody>
      </p:sp>
    </p:spTree>
    <p:extLst>
      <p:ext uri="{BB962C8B-B14F-4D97-AF65-F5344CB8AC3E}">
        <p14:creationId xmlns:p14="http://schemas.microsoft.com/office/powerpoint/2010/main" val="813290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code has four small slips:</a:t>
            </a:r>
          </a:p>
          <a:p>
            <a:endParaRPr lang="en-US"/>
          </a:p>
          <a:p>
            <a:r>
              <a:rPr lang="en-US"/>
              <a:t>int n, value;</a:t>
            </a:r>
          </a:p>
          <a:p>
            <a:r>
              <a:rPr lang="en-US"/>
              <a:t>int count = 0;</a:t>
            </a:r>
          </a:p>
          <a:p>
            <a:r>
              <a:rPr lang="en-US"/>
              <a:t>scanf("%d", &amp;n);</a:t>
            </a:r>
          </a:p>
          <a:p>
            <a:r>
              <a:rPr lang="en-US"/>
              <a:t>for (i = 1; i =&lt; n; i++) {</a:t>
            </a:r>
          </a:p>
          <a:p>
            <a:r>
              <a:rPr lang="en-US"/>
              <a:t>    scanf("%d"; &amp;value);</a:t>
            </a:r>
          </a:p>
          <a:p>
            <a:r>
              <a:rPr lang="en-US"/>
              <a:t>    if (value % 2 == 0) {</a:t>
            </a:r>
          </a:p>
          <a:p>
            <a:r>
              <a:rPr lang="en-US"/>
              <a:t>        count++</a:t>
            </a:r>
          </a:p>
          <a:p>
            <a:r>
              <a:rPr lang="en-US"/>
              <a:t>    }</a:t>
            </a:r>
          </a:p>
          <a:p>
            <a:r>
              <a:rPr lang="en-US"/>
              <a:t>}</a:t>
            </a:r>
          </a:p>
          <a:p>
            <a:endParaRPr lang="en-US"/>
          </a:p>
          <a:p>
            <a:r>
              <a:rPr lang="en-US"/>
              <a:t>- i is never declared. Write for (int i = 1; ....</a:t>
            </a:r>
          </a:p>
          <a:p>
            <a:r>
              <a:rPr lang="en-US"/>
              <a:t>- =&lt; is not a C operator. Write &lt;=.</a:t>
            </a:r>
          </a:p>
          <a:p>
            <a:r>
              <a:rPr lang="en-US"/>
              <a:t>- scanf needs a comma between the format and &amp;value, not ;.</a:t>
            </a:r>
          </a:p>
          <a:p>
            <a:r>
              <a:rPr lang="en-US"/>
              <a:t>- count++ needs a ; after it.</a:t>
            </a:r>
          </a:p>
          <a:p>
            <a:endParaRPr lang="en-US"/>
          </a:p>
          <a:p>
            <a:r>
              <a:rPr lang="en-US"/>
              <a:t>gcc -Wall stops at each one and names the line. These are its messages (shortened):</a:t>
            </a:r>
          </a:p>
          <a:p>
            <a:endParaRPr lang="en-US"/>
          </a:p>
          <a:p>
            <a:r>
              <a:rPr lang="en-US"/>
              <a:t>error: 'i' undeclared</a:t>
            </a:r>
          </a:p>
          <a:p>
            <a:r>
              <a:rPr lang="en-US"/>
              <a:t>error: expected expression before '&lt;' token</a:t>
            </a:r>
          </a:p>
          <a:p>
            <a:r>
              <a:rPr lang="en-US"/>
              <a:t>error: expected ')' before ';' token</a:t>
            </a:r>
          </a:p>
          <a:p>
            <a:r>
              <a:rPr lang="en-US"/>
              <a:t>error: expected ';' before '}' token</a:t>
            </a:r>
          </a:p>
          <a:p>
            <a:endParaRPr lang="en-US"/>
          </a:p>
          <a:p>
            <a:r>
              <a:rPr lang="en-US"/>
              <a:t>Read the first error, fix it, and compile again. Often the next errors go away with it.</a:t>
            </a:r>
          </a:p>
        </p:txBody>
      </p:sp>
      <p:sp>
        <p:nvSpPr>
          <p:cNvPr id="4" name="Slide Number Placeholder 3"/>
          <p:cNvSpPr>
            <a:spLocks noGrp="1"/>
          </p:cNvSpPr>
          <p:nvPr>
            <p:ph type="sldNum" sz="quarter" idx="5"/>
          </p:nvPr>
        </p:nvSpPr>
        <p:spPr/>
        <p:txBody>
          <a:bodyPr/>
          <a:lstStyle/>
          <a:p>
            <a:fld id="{D25481AE-EEA2-4FDB-A6E4-93EFECF1087A}" type="slidenum">
              <a:rPr lang="en-US" smtClean="0"/>
              <a:t>10</a:t>
            </a:fld>
            <a:endParaRPr lang="en-US"/>
          </a:p>
        </p:txBody>
      </p:sp>
    </p:spTree>
    <p:extLst>
      <p:ext uri="{BB962C8B-B14F-4D97-AF65-F5344CB8AC3E}">
        <p14:creationId xmlns:p14="http://schemas.microsoft.com/office/powerpoint/2010/main" val="1652523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array loop today runs exactly N times. You trace i and the box row by row, as on slide 3. You count with the four places of slide 7.</a:t>
            </a:r>
          </a:p>
          <a:p>
            <a:endParaRPr lang="en-US"/>
          </a:p>
          <a:p>
            <a:r>
              <a:rPr lang="en-US"/>
              <a:t>At home: type Question 2 into VS Code, compile it with gcc -Wall, run it with the example input, and compare it with your paper.</a:t>
            </a:r>
          </a:p>
        </p:txBody>
      </p:sp>
      <p:sp>
        <p:nvSpPr>
          <p:cNvPr id="4" name="Slide Number Placeholder 3"/>
          <p:cNvSpPr>
            <a:spLocks noGrp="1"/>
          </p:cNvSpPr>
          <p:nvPr>
            <p:ph type="sldNum" sz="quarter" idx="5"/>
          </p:nvPr>
        </p:nvSpPr>
        <p:spPr/>
        <p:txBody>
          <a:bodyPr/>
          <a:lstStyle/>
          <a:p>
            <a:fld id="{D25481AE-EEA2-4FDB-A6E4-93EFECF1087A}" type="slidenum">
              <a:rPr lang="en-US" smtClean="0"/>
              <a:t>11</a:t>
            </a:fld>
            <a:endParaRPr lang="en-US"/>
          </a:p>
        </p:txBody>
      </p:sp>
    </p:spTree>
    <p:extLst>
      <p:ext uri="{BB962C8B-B14F-4D97-AF65-F5344CB8AC3E}">
        <p14:creationId xmlns:p14="http://schemas.microsoft.com/office/powerpoint/2010/main" val="946699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you need from Friday:</a:t>
            </a:r>
          </a:p>
          <a:p>
            <a:endParaRPr lang="en-US"/>
          </a:p>
          <a:p>
            <a:r>
              <a:rPr lang="en-US"/>
              <a:t>- A variable lives inside its { }: that is its scope.</a:t>
            </a:r>
          </a:p>
          <a:p>
            <a:r>
              <a:rPr lang="en-US"/>
              <a:t>- A function gets a copy of each value.</a:t>
            </a:r>
          </a:p>
          <a:p>
            <a:r>
              <a:rPr lang="en-US"/>
              <a:t>- A new value goes back with return.</a:t>
            </a:r>
          </a:p>
          <a:p>
            <a:r>
              <a:rPr lang="en-US"/>
              <a:t>- Recursion: a base case and a step closer.</a:t>
            </a:r>
          </a:p>
        </p:txBody>
      </p:sp>
      <p:sp>
        <p:nvSpPr>
          <p:cNvPr id="4" name="Slide Number Placeholder 3"/>
          <p:cNvSpPr>
            <a:spLocks noGrp="1"/>
          </p:cNvSpPr>
          <p:nvPr>
            <p:ph type="sldNum" sz="quarter" idx="5"/>
          </p:nvPr>
        </p:nvSpPr>
        <p:spPr/>
        <p:txBody>
          <a:bodyPr/>
          <a:lstStyle/>
          <a:p>
            <a:fld id="{D25481AE-EEA2-4FDB-A6E4-93EFECF1087A}" type="slidenum">
              <a:rPr lang="en-US" smtClean="0"/>
              <a:t>12</a:t>
            </a:fld>
            <a:endParaRPr lang="en-US"/>
          </a:p>
        </p:txBody>
      </p:sp>
    </p:spTree>
    <p:extLst>
      <p:ext uri="{BB962C8B-B14F-4D97-AF65-F5344CB8AC3E}">
        <p14:creationId xmlns:p14="http://schemas.microsoft.com/office/powerpoint/2010/main" val="16494076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to answer before you look at the next slide.</a:t>
            </a:r>
          </a:p>
        </p:txBody>
      </p:sp>
      <p:sp>
        <p:nvSpPr>
          <p:cNvPr id="4" name="Slide Number Placeholder 3"/>
          <p:cNvSpPr>
            <a:spLocks noGrp="1"/>
          </p:cNvSpPr>
          <p:nvPr>
            <p:ph type="sldNum" sz="quarter" idx="5"/>
          </p:nvPr>
        </p:nvSpPr>
        <p:spPr/>
        <p:txBody>
          <a:bodyPr/>
          <a:lstStyle/>
          <a:p>
            <a:fld id="{D25481AE-EEA2-4FDB-A6E4-93EFECF1087A}" type="slidenum">
              <a:rPr lang="en-US" smtClean="0"/>
              <a:t>13</a:t>
            </a:fld>
            <a:endParaRPr lang="en-US"/>
          </a:p>
        </p:txBody>
      </p:sp>
    </p:spTree>
    <p:extLst>
      <p:ext uri="{BB962C8B-B14F-4D97-AF65-F5344CB8AC3E}">
        <p14:creationId xmlns:p14="http://schemas.microsoft.com/office/powerpoint/2010/main" val="7098129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 shows 5. add_ten gets a copy of x in its own box n. It adds 10 to the copy. x in main stays 5. The file is 01_recap_add_ten.c.</a:t>
            </a:r>
          </a:p>
        </p:txBody>
      </p:sp>
      <p:sp>
        <p:nvSpPr>
          <p:cNvPr id="4" name="Slide Number Placeholder 3"/>
          <p:cNvSpPr>
            <a:spLocks noGrp="1"/>
          </p:cNvSpPr>
          <p:nvPr>
            <p:ph type="sldNum" sz="quarter" idx="5"/>
          </p:nvPr>
        </p:nvSpPr>
        <p:spPr/>
        <p:txBody>
          <a:bodyPr/>
          <a:lstStyle/>
          <a:p>
            <a:fld id="{D25481AE-EEA2-4FDB-A6E4-93EFECF1087A}" type="slidenum">
              <a:rPr lang="en-US" smtClean="0"/>
              <a:t>14</a:t>
            </a:fld>
            <a:endParaRPr lang="en-US"/>
          </a:p>
        </p:txBody>
      </p:sp>
    </p:spTree>
    <p:extLst>
      <p:ext uri="{BB962C8B-B14F-4D97-AF65-F5344CB8AC3E}">
        <p14:creationId xmlns:p14="http://schemas.microsoft.com/office/powerpoint/2010/main" val="28522757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Five parts:</a:t>
            </a:r>
          </a:p>
          <a:p>
            <a:endParaRPr lang="en-US"/>
          </a:p>
          <a:p>
            <a:r>
              <a:rPr lang="en-US"/>
              <a:t>1. What an array is: many boxes, one name.</a:t>
            </a:r>
          </a:p>
          <a:p>
            <a:r>
              <a:rPr lang="en-US"/>
              <a:t>2. A loop that visits every box.</a:t>
            </a:r>
          </a:p>
          <a:p>
            <a:r>
              <a:rPr lang="en-US"/>
              <a:t>3. Read values into an array, add them up, print them backwards.</a:t>
            </a:r>
          </a:p>
          <a:p>
            <a:r>
              <a:rPr lang="en-US"/>
              <a:t>4. The mistakes C does not stop.</a:t>
            </a:r>
          </a:p>
          <a:p>
            <a:r>
              <a:rPr lang="en-US"/>
              <a:t>5. Three small tasks for you.</a:t>
            </a:r>
          </a:p>
        </p:txBody>
      </p:sp>
      <p:sp>
        <p:nvSpPr>
          <p:cNvPr id="4" name="Slide Number Placeholder 3"/>
          <p:cNvSpPr>
            <a:spLocks noGrp="1"/>
          </p:cNvSpPr>
          <p:nvPr>
            <p:ph type="sldNum" sz="quarter" idx="5"/>
          </p:nvPr>
        </p:nvSpPr>
        <p:spPr/>
        <p:txBody>
          <a:bodyPr/>
          <a:lstStyle/>
          <a:p>
            <a:fld id="{D25481AE-EEA2-4FDB-A6E4-93EFECF1087A}" type="slidenum">
              <a:rPr lang="en-US" smtClean="0"/>
              <a:t>15</a:t>
            </a:fld>
            <a:endParaRPr lang="en-US"/>
          </a:p>
        </p:txBody>
      </p:sp>
    </p:spTree>
    <p:extLst>
      <p:ext uri="{BB962C8B-B14F-4D97-AF65-F5344CB8AC3E}">
        <p14:creationId xmlns:p14="http://schemas.microsoft.com/office/powerpoint/2010/main" val="1368539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1: many values under one name.</a:t>
            </a:r>
          </a:p>
        </p:txBody>
      </p:sp>
      <p:sp>
        <p:nvSpPr>
          <p:cNvPr id="4" name="Slide Number Placeholder 3"/>
          <p:cNvSpPr>
            <a:spLocks noGrp="1"/>
          </p:cNvSpPr>
          <p:nvPr>
            <p:ph type="sldNum" sz="quarter" idx="5"/>
          </p:nvPr>
        </p:nvSpPr>
        <p:spPr/>
        <p:txBody>
          <a:bodyPr/>
          <a:lstStyle/>
          <a:p>
            <a:fld id="{D25481AE-EEA2-4FDB-A6E4-93EFECF1087A}" type="slidenum">
              <a:rPr lang="en-US" smtClean="0"/>
              <a:t>16</a:t>
            </a:fld>
            <a:endParaRPr lang="en-US"/>
          </a:p>
        </p:txBody>
      </p:sp>
    </p:spTree>
    <p:extLst>
      <p:ext uri="{BB962C8B-B14F-4D97-AF65-F5344CB8AC3E}">
        <p14:creationId xmlns:p14="http://schemas.microsoft.com/office/powerpoint/2010/main" val="37762676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Five quiz scores in five variables, s0 to s4. The program prints them and their average:</a:t>
            </a:r>
          </a:p>
          <a:p>
            <a:endParaRPr lang="en-US"/>
          </a:p>
          <a:p>
            <a:r>
              <a:rPr lang="en-US"/>
              <a:t>7 9 6 10 8</a:t>
            </a:r>
          </a:p>
          <a:p>
            <a:r>
              <a:rPr lang="en-US"/>
              <a:t>average: 8.0</a:t>
            </a:r>
          </a:p>
          <a:p>
            <a:endParaRPr lang="en-US"/>
          </a:p>
          <a:p>
            <a:r>
              <a:rPr lang="en-US"/>
              <a:t>It works, but every new score needs a new name, and the printf line and the sum line both change. The file is 02_five_variables.c.</a:t>
            </a:r>
          </a:p>
        </p:txBody>
      </p:sp>
      <p:sp>
        <p:nvSpPr>
          <p:cNvPr id="4" name="Slide Number Placeholder 3"/>
          <p:cNvSpPr>
            <a:spLocks noGrp="1"/>
          </p:cNvSpPr>
          <p:nvPr>
            <p:ph type="sldNum" sz="quarter" idx="5"/>
          </p:nvPr>
        </p:nvSpPr>
        <p:spPr/>
        <p:txBody>
          <a:bodyPr/>
          <a:lstStyle/>
          <a:p>
            <a:fld id="{D25481AE-EEA2-4FDB-A6E4-93EFECF1087A}" type="slidenum">
              <a:rPr lang="en-US" smtClean="0"/>
              <a:t>17</a:t>
            </a:fld>
            <a:endParaRPr lang="en-US"/>
          </a:p>
        </p:txBody>
      </p:sp>
    </p:spTree>
    <p:extLst>
      <p:ext uri="{BB962C8B-B14F-4D97-AF65-F5344CB8AC3E}">
        <p14:creationId xmlns:p14="http://schemas.microsoft.com/office/powerpoint/2010/main" val="2871155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With 35 students you would need 35 variables, 35 names in the printf and 35 names in the sum. A loop cannot help: a loop can change a number, but it cannot change a name.</a:t>
            </a:r>
          </a:p>
        </p:txBody>
      </p:sp>
      <p:sp>
        <p:nvSpPr>
          <p:cNvPr id="4" name="Slide Number Placeholder 3"/>
          <p:cNvSpPr>
            <a:spLocks noGrp="1"/>
          </p:cNvSpPr>
          <p:nvPr>
            <p:ph type="sldNum" sz="quarter" idx="5"/>
          </p:nvPr>
        </p:nvSpPr>
        <p:spPr/>
        <p:txBody>
          <a:bodyPr/>
          <a:lstStyle/>
          <a:p>
            <a:fld id="{D25481AE-EEA2-4FDB-A6E4-93EFECF1087A}" type="slidenum">
              <a:rPr lang="en-US" smtClean="0"/>
              <a:t>18</a:t>
            </a:fld>
            <a:endParaRPr lang="en-US"/>
          </a:p>
        </p:txBody>
      </p:sp>
    </p:spTree>
    <p:extLst>
      <p:ext uri="{BB962C8B-B14F-4D97-AF65-F5344CB8AC3E}">
        <p14:creationId xmlns:p14="http://schemas.microsoft.com/office/powerpoint/2010/main" val="3606114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same program with an array:</a:t>
            </a:r>
          </a:p>
          <a:p>
            <a:endParaRPr lang="en-US"/>
          </a:p>
          <a:p>
            <a:r>
              <a:rPr lang="en-US"/>
              <a:t>int scores[5] = {7, 9, 6, 10, 8};</a:t>
            </a:r>
          </a:p>
          <a:p>
            <a:endParaRPr lang="en-US"/>
          </a:p>
          <a:p>
            <a:r>
              <a:rPr lang="en-US"/>
              <a:t>One name, scores, with room for 5 int values. The values in the braces go into the boxes in order. The output is the same as before. The file is 03_five_array.c.</a:t>
            </a:r>
          </a:p>
        </p:txBody>
      </p:sp>
      <p:sp>
        <p:nvSpPr>
          <p:cNvPr id="4" name="Slide Number Placeholder 3"/>
          <p:cNvSpPr>
            <a:spLocks noGrp="1"/>
          </p:cNvSpPr>
          <p:nvPr>
            <p:ph type="sldNum" sz="quarter" idx="5"/>
          </p:nvPr>
        </p:nvSpPr>
        <p:spPr/>
        <p:txBody>
          <a:bodyPr/>
          <a:lstStyle/>
          <a:p>
            <a:fld id="{D25481AE-EEA2-4FDB-A6E4-93EFECF1087A}" type="slidenum">
              <a:rPr lang="en-US" smtClean="0"/>
              <a:t>19</a:t>
            </a:fld>
            <a:endParaRPr lang="en-US"/>
          </a:p>
        </p:txBody>
      </p:sp>
    </p:spTree>
    <p:extLst>
      <p:ext uri="{BB962C8B-B14F-4D97-AF65-F5344CB8AC3E}">
        <p14:creationId xmlns:p14="http://schemas.microsoft.com/office/powerpoint/2010/main" val="14793883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loop makes i go 0, 1, 2, 3, 4. scores[i] is the value in box number i. So one printf line and one sum line reach all five boxes. For 35 students you change the 5; the loop stays the same.</a:t>
            </a:r>
          </a:p>
        </p:txBody>
      </p:sp>
      <p:sp>
        <p:nvSpPr>
          <p:cNvPr id="4" name="Slide Number Placeholder 3"/>
          <p:cNvSpPr>
            <a:spLocks noGrp="1"/>
          </p:cNvSpPr>
          <p:nvPr>
            <p:ph type="sldNum" sz="quarter" idx="5"/>
          </p:nvPr>
        </p:nvSpPr>
        <p:spPr/>
        <p:txBody>
          <a:bodyPr/>
          <a:lstStyle/>
          <a:p>
            <a:fld id="{D25481AE-EEA2-4FDB-A6E4-93EFECF1087A}" type="slidenum">
              <a:rPr lang="en-US" smtClean="0"/>
              <a:t>20</a:t>
            </a:fld>
            <a:endParaRPr lang="en-US"/>
          </a:p>
        </p:txBody>
      </p:sp>
    </p:spTree>
    <p:extLst>
      <p:ext uri="{BB962C8B-B14F-4D97-AF65-F5344CB8AC3E}">
        <p14:creationId xmlns:p14="http://schemas.microsoft.com/office/powerpoint/2010/main" val="1224800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array is a row of boxes:</a:t>
            </a:r>
          </a:p>
          <a:p>
            <a:endParaRPr lang="en-US"/>
          </a:p>
          <a:p>
            <a:r>
              <a:rPr lang="en-US"/>
              <a:t>- all boxes have the same type;</a:t>
            </a:r>
          </a:p>
          <a:p>
            <a:r>
              <a:rPr lang="en-US"/>
              <a:t>- the row has one name;</a:t>
            </a:r>
          </a:p>
          <a:p>
            <a:r>
              <a:rPr lang="en-US"/>
              <a:t>- each box has a number, its index.</a:t>
            </a:r>
          </a:p>
          <a:p>
            <a:endParaRPr lang="en-US"/>
          </a:p>
          <a:p>
            <a:r>
              <a:rPr lang="en-US"/>
              <a:t>You reach a box with the name and the index in square brackets: scores[2]. Think of lockers in a corridor: one row, a number on each door.</a:t>
            </a:r>
          </a:p>
        </p:txBody>
      </p:sp>
      <p:sp>
        <p:nvSpPr>
          <p:cNvPr id="4" name="Slide Number Placeholder 3"/>
          <p:cNvSpPr>
            <a:spLocks noGrp="1"/>
          </p:cNvSpPr>
          <p:nvPr>
            <p:ph type="sldNum" sz="quarter" idx="5"/>
          </p:nvPr>
        </p:nvSpPr>
        <p:spPr/>
        <p:txBody>
          <a:bodyPr/>
          <a:lstStyle/>
          <a:p>
            <a:fld id="{D25481AE-EEA2-4FDB-A6E4-93EFECF1087A}" type="slidenum">
              <a:rPr lang="en-US" smtClean="0"/>
              <a:t>21</a:t>
            </a:fld>
            <a:endParaRPr lang="en-US"/>
          </a:p>
        </p:txBody>
      </p:sp>
    </p:spTree>
    <p:extLst>
      <p:ext uri="{BB962C8B-B14F-4D97-AF65-F5344CB8AC3E}">
        <p14:creationId xmlns:p14="http://schemas.microsoft.com/office/powerpoint/2010/main" val="1149573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index: 0 · 1 · 2 · 3 · 4</a:t>
            </a:r>
          </a:p>
          <a:p>
            <a:r>
              <a:rPr lang="en-US"/>
              <a:t>value: 7 · 9 · 6 · 10 · 8</a:t>
            </a:r>
          </a:p>
          <a:p>
            <a:endParaRPr lang="en-US"/>
          </a:p>
          <a:p>
            <a:r>
              <a:rPr lang="en-US"/>
              <a:t>Five boxes. The index goes from 0 to 4, not 1 to 5.</a:t>
            </a:r>
          </a:p>
        </p:txBody>
      </p:sp>
      <p:sp>
        <p:nvSpPr>
          <p:cNvPr id="4" name="Slide Number Placeholder 3"/>
          <p:cNvSpPr>
            <a:spLocks noGrp="1"/>
          </p:cNvSpPr>
          <p:nvPr>
            <p:ph type="sldNum" sz="quarter" idx="5"/>
          </p:nvPr>
        </p:nvSpPr>
        <p:spPr/>
        <p:txBody>
          <a:bodyPr/>
          <a:lstStyle/>
          <a:p>
            <a:fld id="{D25481AE-EEA2-4FDB-A6E4-93EFECF1087A}" type="slidenum">
              <a:rPr lang="en-US" smtClean="0"/>
              <a:t>22</a:t>
            </a:fld>
            <a:endParaRPr lang="en-US"/>
          </a:p>
        </p:txBody>
      </p:sp>
    </p:spTree>
    <p:extLst>
      <p:ext uri="{BB962C8B-B14F-4D97-AF65-F5344CB8AC3E}">
        <p14:creationId xmlns:p14="http://schemas.microsoft.com/office/powerpoint/2010/main" val="3750133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to answer before you look at the next slide. Use the table on slide 22.</a:t>
            </a:r>
          </a:p>
        </p:txBody>
      </p:sp>
      <p:sp>
        <p:nvSpPr>
          <p:cNvPr id="4" name="Slide Number Placeholder 3"/>
          <p:cNvSpPr>
            <a:spLocks noGrp="1"/>
          </p:cNvSpPr>
          <p:nvPr>
            <p:ph type="sldNum" sz="quarter" idx="5"/>
          </p:nvPr>
        </p:nvSpPr>
        <p:spPr/>
        <p:txBody>
          <a:bodyPr/>
          <a:lstStyle/>
          <a:p>
            <a:fld id="{D25481AE-EEA2-4FDB-A6E4-93EFECF1087A}" type="slidenum">
              <a:rPr lang="en-US" smtClean="0"/>
              <a:t>23</a:t>
            </a:fld>
            <a:endParaRPr lang="en-US"/>
          </a:p>
        </p:txBody>
      </p:sp>
    </p:spTree>
    <p:extLst>
      <p:ext uri="{BB962C8B-B14F-4D97-AF65-F5344CB8AC3E}">
        <p14:creationId xmlns:p14="http://schemas.microsoft.com/office/powerpoint/2010/main" val="3260354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scores[3] is 10. Count from 0: box 0 is 7, box 1 is 9, box 2 is 6, box 3 is 10.</a:t>
            </a:r>
          </a:p>
          <a:p>
            <a:r>
              <a:rPr lang="en-US"/>
              <a:t>- scores[0] + scores[4] is 7 + 8 = 15.</a:t>
            </a:r>
          </a:p>
          <a:p>
            <a:endParaRPr lang="en-US"/>
          </a:p>
          <a:p>
            <a:r>
              <a:rPr lang="en-US"/>
              <a:t>If you said 6 for scores[3], you counted from 1. Everybody does at first.</a:t>
            </a:r>
          </a:p>
        </p:txBody>
      </p:sp>
      <p:sp>
        <p:nvSpPr>
          <p:cNvPr id="4" name="Slide Number Placeholder 3"/>
          <p:cNvSpPr>
            <a:spLocks noGrp="1"/>
          </p:cNvSpPr>
          <p:nvPr>
            <p:ph type="sldNum" sz="quarter" idx="5"/>
          </p:nvPr>
        </p:nvSpPr>
        <p:spPr/>
        <p:txBody>
          <a:bodyPr/>
          <a:lstStyle/>
          <a:p>
            <a:fld id="{D25481AE-EEA2-4FDB-A6E4-93EFECF1087A}" type="slidenum">
              <a:rPr lang="en-US" smtClean="0"/>
              <a:t>24</a:t>
            </a:fld>
            <a:endParaRPr lang="en-US"/>
          </a:p>
        </p:txBody>
      </p:sp>
    </p:spTree>
    <p:extLst>
      <p:ext uri="{BB962C8B-B14F-4D97-AF65-F5344CB8AC3E}">
        <p14:creationId xmlns:p14="http://schemas.microsoft.com/office/powerpoint/2010/main" val="20034730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array of 5 has the indexes 0, 1, 2, 3, 4.</a:t>
            </a:r>
          </a:p>
          <a:p>
            <a:endParaRPr lang="en-US"/>
          </a:p>
          <a:p>
            <a:r>
              <a:rPr lang="en-US"/>
              <a:t>- The first box: scores[0].</a:t>
            </a:r>
          </a:p>
          <a:p>
            <a:r>
              <a:rPr lang="en-US"/>
              <a:t>- The last box: scores[4], not scores[5].</a:t>
            </a:r>
          </a:p>
          <a:p>
            <a:r>
              <a:rPr lang="en-US"/>
              <a:t>- An array of N boxes: indexes 0 to N-1.</a:t>
            </a:r>
          </a:p>
        </p:txBody>
      </p:sp>
      <p:sp>
        <p:nvSpPr>
          <p:cNvPr id="4" name="Slide Number Placeholder 3"/>
          <p:cNvSpPr>
            <a:spLocks noGrp="1"/>
          </p:cNvSpPr>
          <p:nvPr>
            <p:ph type="sldNum" sz="quarter" idx="5"/>
          </p:nvPr>
        </p:nvSpPr>
        <p:spPr/>
        <p:txBody>
          <a:bodyPr/>
          <a:lstStyle/>
          <a:p>
            <a:fld id="{D25481AE-EEA2-4FDB-A6E4-93EFECF1087A}" type="slidenum">
              <a:rPr lang="en-US" smtClean="0"/>
              <a:t>25</a:t>
            </a:fld>
            <a:endParaRPr lang="en-US"/>
          </a:p>
        </p:txBody>
      </p:sp>
    </p:spTree>
    <p:extLst>
      <p:ext uri="{BB962C8B-B14F-4D97-AF65-F5344CB8AC3E}">
        <p14:creationId xmlns:p14="http://schemas.microsoft.com/office/powerpoint/2010/main" val="15821391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 a[5];</a:t>
            </a:r>
          </a:p>
          <a:p>
            <a:endParaRPr lang="en-US"/>
          </a:p>
          <a:p>
            <a:r>
              <a:rPr lang="en-US"/>
              <a:t>- int: the type of every box.</a:t>
            </a:r>
          </a:p>
          <a:p>
            <a:r>
              <a:rPr lang="en-US"/>
              <a:t>- a: the name.</a:t>
            </a:r>
          </a:p>
          <a:p>
            <a:r>
              <a:rPr lang="en-US"/>
              <a:t>- [5]: how many boxes.</a:t>
            </a:r>
          </a:p>
          <a:p>
            <a:endParaRPr lang="en-US"/>
          </a:p>
          <a:p>
            <a:r>
              <a:rPr lang="en-US"/>
              <a:t>This array has no values yet. The file is 04_declare.c.</a:t>
            </a:r>
          </a:p>
        </p:txBody>
      </p:sp>
      <p:sp>
        <p:nvSpPr>
          <p:cNvPr id="4" name="Slide Number Placeholder 3"/>
          <p:cNvSpPr>
            <a:spLocks noGrp="1"/>
          </p:cNvSpPr>
          <p:nvPr>
            <p:ph type="sldNum" sz="quarter" idx="5"/>
          </p:nvPr>
        </p:nvSpPr>
        <p:spPr/>
        <p:txBody>
          <a:bodyPr/>
          <a:lstStyle/>
          <a:p>
            <a:fld id="{D25481AE-EEA2-4FDB-A6E4-93EFECF1087A}" type="slidenum">
              <a:rPr lang="en-US" smtClean="0"/>
              <a:t>26</a:t>
            </a:fld>
            <a:endParaRPr lang="en-US"/>
          </a:p>
        </p:txBody>
      </p:sp>
    </p:spTree>
    <p:extLst>
      <p:ext uri="{BB962C8B-B14F-4D97-AF65-F5344CB8AC3E}">
        <p14:creationId xmlns:p14="http://schemas.microsoft.com/office/powerpoint/2010/main" val="25249551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a[0] = 10; puts 10 into box 0. It works like x = 10;.</a:t>
            </a:r>
          </a:p>
          <a:p>
            <a:endParaRPr lang="en-US"/>
          </a:p>
          <a:p>
            <a:r>
              <a:rPr lang="en-US"/>
              <a:t>a[0] = 10;</a:t>
            </a:r>
          </a:p>
          <a:p>
            <a:r>
              <a:rPr lang="en-US"/>
              <a:t>a[1] = 20;</a:t>
            </a:r>
          </a:p>
          <a:p>
            <a:r>
              <a:rPr lang="en-US"/>
              <a:t>a[4] = 50;</a:t>
            </a:r>
          </a:p>
          <a:p>
            <a:endParaRPr lang="en-US"/>
          </a:p>
          <a:p>
            <a:r>
              <a:rPr lang="en-US"/>
              <a:t>a[2] and a[3] got no value. Do not print them: they hold unknown numbers, whatever was in memory before.</a:t>
            </a:r>
          </a:p>
        </p:txBody>
      </p:sp>
      <p:sp>
        <p:nvSpPr>
          <p:cNvPr id="4" name="Slide Number Placeholder 3"/>
          <p:cNvSpPr>
            <a:spLocks noGrp="1"/>
          </p:cNvSpPr>
          <p:nvPr>
            <p:ph type="sldNum" sz="quarter" idx="5"/>
          </p:nvPr>
        </p:nvSpPr>
        <p:spPr/>
        <p:txBody>
          <a:bodyPr/>
          <a:lstStyle/>
          <a:p>
            <a:fld id="{D25481AE-EEA2-4FDB-A6E4-93EFECF1087A}" type="slidenum">
              <a:rPr lang="en-US" smtClean="0"/>
              <a:t>27</a:t>
            </a:fld>
            <a:endParaRPr lang="en-US"/>
          </a:p>
        </p:txBody>
      </p:sp>
    </p:spTree>
    <p:extLst>
      <p:ext uri="{BB962C8B-B14F-4D97-AF65-F5344CB8AC3E}">
        <p14:creationId xmlns:p14="http://schemas.microsoft.com/office/powerpoint/2010/main" val="27009036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10</a:t>
            </a:r>
          </a:p>
          <a:p>
            <a:r>
              <a:rPr lang="en-US"/>
              <a:t>second: 20</a:t>
            </a:r>
          </a:p>
          <a:p>
            <a:r>
              <a:rPr lang="en-US"/>
              <a:t>last: 50</a:t>
            </a:r>
          </a:p>
          <a:p>
            <a:endParaRPr lang="en-US"/>
          </a:p>
          <a:p>
            <a:r>
              <a:rPr lang="en-US"/>
              <a:t>a[4] is a value like any int variable: you can print it, add it, compare it.</a:t>
            </a:r>
          </a:p>
        </p:txBody>
      </p:sp>
      <p:sp>
        <p:nvSpPr>
          <p:cNvPr id="4" name="Slide Number Placeholder 3"/>
          <p:cNvSpPr>
            <a:spLocks noGrp="1"/>
          </p:cNvSpPr>
          <p:nvPr>
            <p:ph type="sldNum" sz="quarter" idx="5"/>
          </p:nvPr>
        </p:nvSpPr>
        <p:spPr/>
        <p:txBody>
          <a:bodyPr/>
          <a:lstStyle/>
          <a:p>
            <a:fld id="{D25481AE-EEA2-4FDB-A6E4-93EFECF1087A}" type="slidenum">
              <a:rPr lang="en-US" smtClean="0"/>
              <a:t>28</a:t>
            </a:fld>
            <a:endParaRPr lang="en-US"/>
          </a:p>
        </p:txBody>
      </p:sp>
    </p:spTree>
    <p:extLst>
      <p:ext uri="{BB962C8B-B14F-4D97-AF65-F5344CB8AC3E}">
        <p14:creationId xmlns:p14="http://schemas.microsoft.com/office/powerpoint/2010/main" val="28082774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you did with x, you can do with a[1]:</a:t>
            </a:r>
          </a:p>
          <a:p>
            <a:endParaRPr lang="en-US"/>
          </a:p>
          <a:p>
            <a:r>
              <a:rPr lang="en-US"/>
              <a:t>- store: a[1] = 20;</a:t>
            </a:r>
          </a:p>
          <a:p>
            <a:r>
              <a:rPr lang="en-US"/>
              <a:t>- read: printf("%d", a[1]);</a:t>
            </a:r>
          </a:p>
          <a:p>
            <a:r>
              <a:rPr lang="en-US"/>
              <a:t>- change: a[1] = a[1] + 5; or a[1]++;</a:t>
            </a:r>
          </a:p>
        </p:txBody>
      </p:sp>
      <p:sp>
        <p:nvSpPr>
          <p:cNvPr id="4" name="Slide Number Placeholder 3"/>
          <p:cNvSpPr>
            <a:spLocks noGrp="1"/>
          </p:cNvSpPr>
          <p:nvPr>
            <p:ph type="sldNum" sz="quarter" idx="5"/>
          </p:nvPr>
        </p:nvSpPr>
        <p:spPr/>
        <p:txBody>
          <a:bodyPr/>
          <a:lstStyle/>
          <a:p>
            <a:fld id="{D25481AE-EEA2-4FDB-A6E4-93EFECF1087A}" type="slidenum">
              <a:rPr lang="en-US" smtClean="0"/>
              <a:t>29</a:t>
            </a:fld>
            <a:endParaRPr lang="en-US"/>
          </a:p>
        </p:txBody>
      </p:sp>
    </p:spTree>
    <p:extLst>
      <p:ext uri="{BB962C8B-B14F-4D97-AF65-F5344CB8AC3E}">
        <p14:creationId xmlns:p14="http://schemas.microsoft.com/office/powerpoint/2010/main" val="22155185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to answer before you look at the next slide. January is the first month.</a:t>
            </a:r>
          </a:p>
        </p:txBody>
      </p:sp>
      <p:sp>
        <p:nvSpPr>
          <p:cNvPr id="4" name="Slide Number Placeholder 3"/>
          <p:cNvSpPr>
            <a:spLocks noGrp="1"/>
          </p:cNvSpPr>
          <p:nvPr>
            <p:ph type="sldNum" sz="quarter" idx="5"/>
          </p:nvPr>
        </p:nvSpPr>
        <p:spPr/>
        <p:txBody>
          <a:bodyPr/>
          <a:lstStyle/>
          <a:p>
            <a:fld id="{D25481AE-EEA2-4FDB-A6E4-93EFECF1087A}" type="slidenum">
              <a:rPr lang="en-US" smtClean="0"/>
              <a:t>30</a:t>
            </a:fld>
            <a:endParaRPr lang="en-US"/>
          </a:p>
        </p:txBody>
      </p:sp>
    </p:spTree>
    <p:extLst>
      <p:ext uri="{BB962C8B-B14F-4D97-AF65-F5344CB8AC3E}">
        <p14:creationId xmlns:p14="http://schemas.microsoft.com/office/powerpoint/2010/main" val="19790749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February is month 2, so index 1. December is month 12, so index 11. The program prints:</a:t>
            </a:r>
          </a:p>
          <a:p>
            <a:endParaRPr lang="en-US"/>
          </a:p>
          <a:p>
            <a:r>
              <a:rPr lang="en-US"/>
              <a:t>Feb: 28</a:t>
            </a:r>
          </a:p>
          <a:p>
            <a:r>
              <a:rPr lang="en-US"/>
              <a:t>Dec: 31</a:t>
            </a:r>
          </a:p>
          <a:p>
            <a:endParaRPr lang="en-US"/>
          </a:p>
          <a:p>
            <a:r>
              <a:rPr lang="en-US"/>
              <a:t>Month number = index + 1. To get the days of a month the user typed, write days[month - 1]. The file is 05_days_in_month.c.</a:t>
            </a:r>
          </a:p>
        </p:txBody>
      </p:sp>
      <p:sp>
        <p:nvSpPr>
          <p:cNvPr id="4" name="Slide Number Placeholder 3"/>
          <p:cNvSpPr>
            <a:spLocks noGrp="1"/>
          </p:cNvSpPr>
          <p:nvPr>
            <p:ph type="sldNum" sz="quarter" idx="5"/>
          </p:nvPr>
        </p:nvSpPr>
        <p:spPr/>
        <p:txBody>
          <a:bodyPr/>
          <a:lstStyle/>
          <a:p>
            <a:fld id="{D25481AE-EEA2-4FDB-A6E4-93EFECF1087A}" type="slidenum">
              <a:rPr lang="en-US" smtClean="0"/>
              <a:t>31</a:t>
            </a:fld>
            <a:endParaRPr lang="en-US"/>
          </a:p>
        </p:txBody>
      </p:sp>
    </p:spTree>
    <p:extLst>
      <p:ext uri="{BB962C8B-B14F-4D97-AF65-F5344CB8AC3E}">
        <p14:creationId xmlns:p14="http://schemas.microsoft.com/office/powerpoint/2010/main" val="25292890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to answer before you look at the next slide. a has 5 boxes but only 2 values in its list.</a:t>
            </a:r>
          </a:p>
        </p:txBody>
      </p:sp>
      <p:sp>
        <p:nvSpPr>
          <p:cNvPr id="4" name="Slide Number Placeholder 3"/>
          <p:cNvSpPr>
            <a:spLocks noGrp="1"/>
          </p:cNvSpPr>
          <p:nvPr>
            <p:ph type="sldNum" sz="quarter" idx="5"/>
          </p:nvPr>
        </p:nvSpPr>
        <p:spPr/>
        <p:txBody>
          <a:bodyPr/>
          <a:lstStyle/>
          <a:p>
            <a:fld id="{D25481AE-EEA2-4FDB-A6E4-93EFECF1087A}" type="slidenum">
              <a:rPr lang="en-US" smtClean="0"/>
              <a:t>32</a:t>
            </a:fld>
            <a:endParaRPr lang="en-US"/>
          </a:p>
        </p:txBody>
      </p:sp>
    </p:spTree>
    <p:extLst>
      <p:ext uri="{BB962C8B-B14F-4D97-AF65-F5344CB8AC3E}">
        <p14:creationId xmlns:p14="http://schemas.microsoft.com/office/powerpoint/2010/main" val="32577717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1 2 0 0 0</a:t>
            </a:r>
          </a:p>
          <a:p>
            <a:r>
              <a:rPr lang="en-US"/>
              <a:t>0 0 0 0 0</a:t>
            </a:r>
          </a:p>
          <a:p>
            <a:endParaRPr lang="en-US"/>
          </a:p>
          <a:p>
            <a:r>
              <a:rPr lang="en-US"/>
              <a:t>When you give a list in braces, the boxes with no value in the list get 0. So int b[5] = {0}; makes every box 0.</a:t>
            </a:r>
          </a:p>
          <a:p>
            <a:endParaRPr lang="en-US"/>
          </a:p>
          <a:p>
            <a:r>
              <a:rPr lang="en-US"/>
              <a:t>Careful: this works only with a list. int a[5]; with no list does not give zeros. The file is 06_partial_list.c.</a:t>
            </a:r>
          </a:p>
        </p:txBody>
      </p:sp>
      <p:sp>
        <p:nvSpPr>
          <p:cNvPr id="4" name="Slide Number Placeholder 3"/>
          <p:cNvSpPr>
            <a:spLocks noGrp="1"/>
          </p:cNvSpPr>
          <p:nvPr>
            <p:ph type="sldNum" sz="quarter" idx="5"/>
          </p:nvPr>
        </p:nvSpPr>
        <p:spPr/>
        <p:txBody>
          <a:bodyPr/>
          <a:lstStyle/>
          <a:p>
            <a:fld id="{D25481AE-EEA2-4FDB-A6E4-93EFECF1087A}" type="slidenum">
              <a:rPr lang="en-US" smtClean="0"/>
              <a:t>33</a:t>
            </a:fld>
            <a:endParaRPr lang="en-US"/>
          </a:p>
        </p:txBody>
      </p:sp>
    </p:spTree>
    <p:extLst>
      <p:ext uri="{BB962C8B-B14F-4D97-AF65-F5344CB8AC3E}">
        <p14:creationId xmlns:p14="http://schemas.microsoft.com/office/powerpoint/2010/main" val="14308959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double prices[3] = {2.50, 1.20, 4.00}; is an array of three double values. The program changes prices[1] and prints all three:</a:t>
            </a:r>
          </a:p>
          <a:p>
            <a:endParaRPr lang="en-US"/>
          </a:p>
          <a:p>
            <a:r>
              <a:rPr lang="en-US"/>
              <a:t>item 0: 2.50 AZN</a:t>
            </a:r>
          </a:p>
          <a:p>
            <a:r>
              <a:rPr lang="en-US"/>
              <a:t>item 1: 1.35 AZN</a:t>
            </a:r>
          </a:p>
          <a:p>
            <a:r>
              <a:rPr lang="en-US"/>
              <a:t>item 2: 4.00 AZN</a:t>
            </a:r>
          </a:p>
          <a:p>
            <a:endParaRPr lang="en-US"/>
          </a:p>
          <a:p>
            <a:r>
              <a:rPr lang="en-US"/>
              <a:t>The file is 07_prices.c.</a:t>
            </a:r>
          </a:p>
        </p:txBody>
      </p:sp>
      <p:sp>
        <p:nvSpPr>
          <p:cNvPr id="4" name="Slide Number Placeholder 3"/>
          <p:cNvSpPr>
            <a:spLocks noGrp="1"/>
          </p:cNvSpPr>
          <p:nvPr>
            <p:ph type="sldNum" sz="quarter" idx="5"/>
          </p:nvPr>
        </p:nvSpPr>
        <p:spPr/>
        <p:txBody>
          <a:bodyPr/>
          <a:lstStyle/>
          <a:p>
            <a:fld id="{D25481AE-EEA2-4FDB-A6E4-93EFECF1087A}" type="slidenum">
              <a:rPr lang="en-US" smtClean="0"/>
              <a:t>34</a:t>
            </a:fld>
            <a:endParaRPr lang="en-US"/>
          </a:p>
        </p:txBody>
      </p:sp>
    </p:spTree>
    <p:extLst>
      <p:ext uri="{BB962C8B-B14F-4D97-AF65-F5344CB8AC3E}">
        <p14:creationId xmlns:p14="http://schemas.microsoft.com/office/powerpoint/2010/main" val="31015165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int a[5]; five boxes, no values yet.</a:t>
            </a:r>
          </a:p>
          <a:p>
            <a:r>
              <a:rPr lang="en-US"/>
              <a:t>- int a[5] = {1, 2, 3, 4, 5}; five boxes, five values.</a:t>
            </a:r>
          </a:p>
          <a:p>
            <a:r>
              <a:rPr lang="en-US"/>
              <a:t>- int a[5] = {0}; five boxes, all 0.</a:t>
            </a:r>
          </a:p>
          <a:p>
            <a:r>
              <a:rPr lang="en-US"/>
              <a:t>- The size is fixed: the array cannot grow later.</a:t>
            </a:r>
          </a:p>
          <a:p>
            <a:r>
              <a:rPr lang="en-US"/>
              <a:t>- The indexes go from 0 to N-1.</a:t>
            </a:r>
          </a:p>
        </p:txBody>
      </p:sp>
      <p:sp>
        <p:nvSpPr>
          <p:cNvPr id="4" name="Slide Number Placeholder 3"/>
          <p:cNvSpPr>
            <a:spLocks noGrp="1"/>
          </p:cNvSpPr>
          <p:nvPr>
            <p:ph type="sldNum" sz="quarter" idx="5"/>
          </p:nvPr>
        </p:nvSpPr>
        <p:spPr/>
        <p:txBody>
          <a:bodyPr/>
          <a:lstStyle/>
          <a:p>
            <a:fld id="{D25481AE-EEA2-4FDB-A6E4-93EFECF1087A}" type="slidenum">
              <a:rPr lang="en-US" smtClean="0"/>
              <a:t>35</a:t>
            </a:fld>
            <a:endParaRPr lang="en-US"/>
          </a:p>
        </p:txBody>
      </p:sp>
    </p:spTree>
    <p:extLst>
      <p:ext uri="{BB962C8B-B14F-4D97-AF65-F5344CB8AC3E}">
        <p14:creationId xmlns:p14="http://schemas.microsoft.com/office/powerpoint/2010/main" val="10954950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2: the loop you will write in almost every program with an array.</a:t>
            </a:r>
          </a:p>
        </p:txBody>
      </p:sp>
      <p:sp>
        <p:nvSpPr>
          <p:cNvPr id="4" name="Slide Number Placeholder 3"/>
          <p:cNvSpPr>
            <a:spLocks noGrp="1"/>
          </p:cNvSpPr>
          <p:nvPr>
            <p:ph type="sldNum" sz="quarter" idx="5"/>
          </p:nvPr>
        </p:nvSpPr>
        <p:spPr/>
        <p:txBody>
          <a:bodyPr/>
          <a:lstStyle/>
          <a:p>
            <a:fld id="{D25481AE-EEA2-4FDB-A6E4-93EFECF1087A}" type="slidenum">
              <a:rPr lang="en-US" smtClean="0"/>
              <a:t>36</a:t>
            </a:fld>
            <a:endParaRPr lang="en-US"/>
          </a:p>
        </p:txBody>
      </p:sp>
    </p:spTree>
    <p:extLst>
      <p:ext uri="{BB962C8B-B14F-4D97-AF65-F5344CB8AC3E}">
        <p14:creationId xmlns:p14="http://schemas.microsoft.com/office/powerpoint/2010/main" val="4905510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index can be a variable. a[i] means the box whose number is in i:</a:t>
            </a:r>
          </a:p>
          <a:p>
            <a:endParaRPr lang="en-US"/>
          </a:p>
          <a:p>
            <a:r>
              <a:rPr lang="en-US"/>
              <a:t>- when i is 0, a[i] is a[0];</a:t>
            </a:r>
          </a:p>
          <a:p>
            <a:r>
              <a:rPr lang="en-US"/>
              <a:t>- when i is 3, a[i] is a[3].</a:t>
            </a:r>
          </a:p>
          <a:p>
            <a:endParaRPr lang="en-US"/>
          </a:p>
          <a:p>
            <a:r>
              <a:rPr lang="en-US"/>
              <a:t>A for loop makes i go 0, 1, 2, ..., N-1. So one line inside the loop reaches every box.</a:t>
            </a:r>
          </a:p>
        </p:txBody>
      </p:sp>
      <p:sp>
        <p:nvSpPr>
          <p:cNvPr id="4" name="Slide Number Placeholder 3"/>
          <p:cNvSpPr>
            <a:spLocks noGrp="1"/>
          </p:cNvSpPr>
          <p:nvPr>
            <p:ph type="sldNum" sz="quarter" idx="5"/>
          </p:nvPr>
        </p:nvSpPr>
        <p:spPr/>
        <p:txBody>
          <a:bodyPr/>
          <a:lstStyle/>
          <a:p>
            <a:fld id="{D25481AE-EEA2-4FDB-A6E4-93EFECF1087A}" type="slidenum">
              <a:rPr lang="en-US" smtClean="0"/>
              <a:t>37</a:t>
            </a:fld>
            <a:endParaRPr lang="en-US"/>
          </a:p>
        </p:txBody>
      </p:sp>
    </p:spTree>
    <p:extLst>
      <p:ext uri="{BB962C8B-B14F-4D97-AF65-F5344CB8AC3E}">
        <p14:creationId xmlns:p14="http://schemas.microsoft.com/office/powerpoint/2010/main" val="12488682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(int i = 0; i &lt; 5; i++) {</a:t>
            </a:r>
          </a:p>
          <a:p>
            <a:r>
              <a:rPr lang="en-US"/>
              <a:t>    printf("a[%d] = %d\n", i, a[i]);</a:t>
            </a:r>
          </a:p>
          <a:p>
            <a:r>
              <a:rPr lang="en-US"/>
              <a:t>}</a:t>
            </a:r>
          </a:p>
          <a:p>
            <a:endParaRPr lang="en-US"/>
          </a:p>
          <a:p>
            <a:r>
              <a:rPr lang="en-US"/>
              <a:t>prints:</a:t>
            </a:r>
          </a:p>
          <a:p>
            <a:endParaRPr lang="en-US"/>
          </a:p>
          <a:p>
            <a:r>
              <a:rPr lang="en-US"/>
              <a:t>a[0] = 12</a:t>
            </a:r>
          </a:p>
          <a:p>
            <a:r>
              <a:rPr lang="en-US"/>
              <a:t>a[1] = 7</a:t>
            </a:r>
          </a:p>
          <a:p>
            <a:r>
              <a:rPr lang="en-US"/>
              <a:t>a[2] = 30</a:t>
            </a:r>
          </a:p>
          <a:p>
            <a:r>
              <a:rPr lang="en-US"/>
              <a:t>a[3] = 5</a:t>
            </a:r>
          </a:p>
          <a:p>
            <a:r>
              <a:rPr lang="en-US"/>
              <a:t>a[4] = 18</a:t>
            </a:r>
          </a:p>
          <a:p>
            <a:endParaRPr lang="en-US"/>
          </a:p>
          <a:p>
            <a:r>
              <a:rPr lang="en-US"/>
              <a:t>The first %d is the index i. The second is the value a[i]. The file is 08_index_and_value.c.</a:t>
            </a:r>
          </a:p>
        </p:txBody>
      </p:sp>
      <p:sp>
        <p:nvSpPr>
          <p:cNvPr id="4" name="Slide Number Placeholder 3"/>
          <p:cNvSpPr>
            <a:spLocks noGrp="1"/>
          </p:cNvSpPr>
          <p:nvPr>
            <p:ph type="sldNum" sz="quarter" idx="5"/>
          </p:nvPr>
        </p:nvSpPr>
        <p:spPr/>
        <p:txBody>
          <a:bodyPr/>
          <a:lstStyle/>
          <a:p>
            <a:fld id="{D25481AE-EEA2-4FDB-A6E4-93EFECF1087A}" type="slidenum">
              <a:rPr lang="en-US" smtClean="0"/>
              <a:t>38</a:t>
            </a:fld>
            <a:endParaRPr lang="en-US"/>
          </a:p>
        </p:txBody>
      </p:sp>
    </p:spTree>
    <p:extLst>
      <p:ext uri="{BB962C8B-B14F-4D97-AF65-F5344CB8AC3E}">
        <p14:creationId xmlns:p14="http://schemas.microsoft.com/office/powerpoint/2010/main" val="21249491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 time round, i is 0, so a[i] is a[0], which is 12. The program prints a[0] = 12.</a:t>
            </a:r>
          </a:p>
        </p:txBody>
      </p:sp>
      <p:sp>
        <p:nvSpPr>
          <p:cNvPr id="4" name="Slide Number Placeholder 3"/>
          <p:cNvSpPr>
            <a:spLocks noGrp="1"/>
          </p:cNvSpPr>
          <p:nvPr>
            <p:ph type="sldNum" sz="quarter" idx="5"/>
          </p:nvPr>
        </p:nvSpPr>
        <p:spPr/>
        <p:txBody>
          <a:bodyPr/>
          <a:lstStyle/>
          <a:p>
            <a:fld id="{D25481AE-EEA2-4FDB-A6E4-93EFECF1087A}" type="slidenum">
              <a:rPr lang="en-US" smtClean="0"/>
              <a:t>39</a:t>
            </a:fld>
            <a:endParaRPr lang="en-US"/>
          </a:p>
        </p:txBody>
      </p:sp>
    </p:spTree>
    <p:extLst>
      <p:ext uri="{BB962C8B-B14F-4D97-AF65-F5344CB8AC3E}">
        <p14:creationId xmlns:p14="http://schemas.microsoft.com/office/powerpoint/2010/main" val="22235291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Then i is 1 (a[1] is 7), then 2 (a[2] is 30). The same line runs every time; only i changes, so it reaches a new box.</a:t>
            </a:r>
          </a:p>
        </p:txBody>
      </p:sp>
      <p:sp>
        <p:nvSpPr>
          <p:cNvPr id="4" name="Slide Number Placeholder 3"/>
          <p:cNvSpPr>
            <a:spLocks noGrp="1"/>
          </p:cNvSpPr>
          <p:nvPr>
            <p:ph type="sldNum" sz="quarter" idx="5"/>
          </p:nvPr>
        </p:nvSpPr>
        <p:spPr/>
        <p:txBody>
          <a:bodyPr/>
          <a:lstStyle/>
          <a:p>
            <a:fld id="{D25481AE-EEA2-4FDB-A6E4-93EFECF1087A}" type="slidenum">
              <a:rPr lang="en-US" smtClean="0"/>
              <a:t>40</a:t>
            </a:fld>
            <a:endParaRPr lang="en-US"/>
          </a:p>
        </p:txBody>
      </p:sp>
    </p:spTree>
    <p:extLst>
      <p:ext uri="{BB962C8B-B14F-4D97-AF65-F5344CB8AC3E}">
        <p14:creationId xmlns:p14="http://schemas.microsoft.com/office/powerpoint/2010/main" val="1200660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a[i] · prints</a:t>
            </a:r>
          </a:p>
          <a:p>
            <a:r>
              <a:rPr lang="en-US"/>
              <a:t>0: 12 · a[0] = 12</a:t>
            </a:r>
          </a:p>
          <a:p>
            <a:r>
              <a:rPr lang="en-US"/>
              <a:t>1: 7 · a[1] = 7</a:t>
            </a:r>
          </a:p>
          <a:p>
            <a:r>
              <a:rPr lang="en-US"/>
              <a:t>2: 30 · a[2] = 30</a:t>
            </a:r>
          </a:p>
          <a:p>
            <a:r>
              <a:rPr lang="en-US"/>
              <a:t>3: 5 · a[3] = 5</a:t>
            </a:r>
          </a:p>
          <a:p>
            <a:r>
              <a:rPr lang="en-US"/>
              <a:t>4: 18 · a[4] = 18</a:t>
            </a:r>
          </a:p>
          <a:p>
            <a:r>
              <a:rPr lang="en-US"/>
              <a:t>5:  · stop: 5 &lt; 5 is false</a:t>
            </a:r>
          </a:p>
          <a:p>
            <a:endParaRPr lang="en-US"/>
          </a:p>
          <a:p>
            <a:r>
              <a:rPr lang="en-US"/>
              <a:t>Five boxes, five lines, no box missed.</a:t>
            </a:r>
          </a:p>
        </p:txBody>
      </p:sp>
      <p:sp>
        <p:nvSpPr>
          <p:cNvPr id="4" name="Slide Number Placeholder 3"/>
          <p:cNvSpPr>
            <a:spLocks noGrp="1"/>
          </p:cNvSpPr>
          <p:nvPr>
            <p:ph type="sldNum" sz="quarter" idx="5"/>
          </p:nvPr>
        </p:nvSpPr>
        <p:spPr/>
        <p:txBody>
          <a:bodyPr/>
          <a:lstStyle/>
          <a:p>
            <a:fld id="{D25481AE-EEA2-4FDB-A6E4-93EFECF1087A}" type="slidenum">
              <a:rPr lang="en-US" smtClean="0"/>
              <a:t>41</a:t>
            </a:fld>
            <a:endParaRPr lang="en-US"/>
          </a:p>
        </p:txBody>
      </p:sp>
    </p:spTree>
    <p:extLst>
      <p:ext uri="{BB962C8B-B14F-4D97-AF65-F5344CB8AC3E}">
        <p14:creationId xmlns:p14="http://schemas.microsoft.com/office/powerpoint/2010/main" val="27880953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(int i = 0; i &lt; 5; i++)</a:t>
            </a:r>
          </a:p>
          <a:p>
            <a:endParaRPr lang="en-US"/>
          </a:p>
          <a:p>
            <a:r>
              <a:rPr lang="en-US"/>
              <a:t>- It starts at 0: the first box.</a:t>
            </a:r>
          </a:p>
          <a:p>
            <a:r>
              <a:rPr lang="en-US"/>
              <a:t>- It stops before 5: the last box is 4.</a:t>
            </a:r>
          </a:p>
          <a:p>
            <a:r>
              <a:rPr lang="en-US"/>
              <a:t>- For an array of N boxes, write i &lt; N.</a:t>
            </a:r>
          </a:p>
        </p:txBody>
      </p:sp>
      <p:sp>
        <p:nvSpPr>
          <p:cNvPr id="4" name="Slide Number Placeholder 3"/>
          <p:cNvSpPr>
            <a:spLocks noGrp="1"/>
          </p:cNvSpPr>
          <p:nvPr>
            <p:ph type="sldNum" sz="quarter" idx="5"/>
          </p:nvPr>
        </p:nvSpPr>
        <p:spPr/>
        <p:txBody>
          <a:bodyPr/>
          <a:lstStyle/>
          <a:p>
            <a:fld id="{D25481AE-EEA2-4FDB-A6E4-93EFECF1087A}" type="slidenum">
              <a:rPr lang="en-US" smtClean="0"/>
              <a:t>42</a:t>
            </a:fld>
            <a:endParaRPr lang="en-US"/>
          </a:p>
        </p:txBody>
      </p:sp>
    </p:spTree>
    <p:extLst>
      <p:ext uri="{BB962C8B-B14F-4D97-AF65-F5344CB8AC3E}">
        <p14:creationId xmlns:p14="http://schemas.microsoft.com/office/powerpoint/2010/main" val="14719282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loop can also put values into an array:</a:t>
            </a:r>
          </a:p>
          <a:p>
            <a:endParaRPr lang="en-US"/>
          </a:p>
          <a:p>
            <a:r>
              <a:rPr lang="en-US"/>
              <a:t>for (int i = 0; i &lt; 10; i++) {</a:t>
            </a:r>
          </a:p>
          <a:p>
            <a:r>
              <a:rPr lang="en-US"/>
              <a:t>    sq[i] = i * i;</a:t>
            </a:r>
          </a:p>
          <a:p>
            <a:r>
              <a:rPr lang="en-US"/>
              <a:t>}</a:t>
            </a:r>
          </a:p>
          <a:p>
            <a:endParaRPr lang="en-US"/>
          </a:p>
          <a:p>
            <a:r>
              <a:rPr lang="en-US"/>
              <a:t>Box 0 gets 0, box 1 gets 1, box 2 gets 4, box 3 gets 9, and so on. The file is 09_fill_squares.c.</a:t>
            </a:r>
          </a:p>
        </p:txBody>
      </p:sp>
      <p:sp>
        <p:nvSpPr>
          <p:cNvPr id="4" name="Slide Number Placeholder 3"/>
          <p:cNvSpPr>
            <a:spLocks noGrp="1"/>
          </p:cNvSpPr>
          <p:nvPr>
            <p:ph type="sldNum" sz="quarter" idx="5"/>
          </p:nvPr>
        </p:nvSpPr>
        <p:spPr/>
        <p:txBody>
          <a:bodyPr/>
          <a:lstStyle/>
          <a:p>
            <a:fld id="{D25481AE-EEA2-4FDB-A6E4-93EFECF1087A}" type="slidenum">
              <a:rPr lang="en-US" smtClean="0"/>
              <a:t>43</a:t>
            </a:fld>
            <a:endParaRPr lang="en-US"/>
          </a:p>
        </p:txBody>
      </p:sp>
    </p:spTree>
    <p:extLst>
      <p:ext uri="{BB962C8B-B14F-4D97-AF65-F5344CB8AC3E}">
        <p14:creationId xmlns:p14="http://schemas.microsoft.com/office/powerpoint/2010/main" val="7268606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second loop prints the array:</a:t>
            </a:r>
          </a:p>
          <a:p>
            <a:endParaRPr lang="en-US"/>
          </a:p>
          <a:p>
            <a:r>
              <a:rPr lang="en-US"/>
              <a:t>0 1 4 9 16 25 36 49 64 81</a:t>
            </a:r>
          </a:p>
          <a:p>
            <a:endParaRPr lang="en-US"/>
          </a:p>
          <a:p>
            <a:r>
              <a:rPr lang="en-US"/>
              <a:t>One loop fills, one loop prints. You will see this often.</a:t>
            </a:r>
          </a:p>
        </p:txBody>
      </p:sp>
      <p:sp>
        <p:nvSpPr>
          <p:cNvPr id="4" name="Slide Number Placeholder 3"/>
          <p:cNvSpPr>
            <a:spLocks noGrp="1"/>
          </p:cNvSpPr>
          <p:nvPr>
            <p:ph type="sldNum" sz="quarter" idx="5"/>
          </p:nvPr>
        </p:nvSpPr>
        <p:spPr/>
        <p:txBody>
          <a:bodyPr/>
          <a:lstStyle/>
          <a:p>
            <a:fld id="{D25481AE-EEA2-4FDB-A6E4-93EFECF1087A}" type="slidenum">
              <a:rPr lang="en-US" smtClean="0"/>
              <a:t>44</a:t>
            </a:fld>
            <a:endParaRPr lang="en-US"/>
          </a:p>
        </p:txBody>
      </p:sp>
    </p:spTree>
    <p:extLst>
      <p:ext uri="{BB962C8B-B14F-4D97-AF65-F5344CB8AC3E}">
        <p14:creationId xmlns:p14="http://schemas.microsoft.com/office/powerpoint/2010/main" val="6910473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to answer before you look at the next slide.</a:t>
            </a:r>
          </a:p>
        </p:txBody>
      </p:sp>
      <p:sp>
        <p:nvSpPr>
          <p:cNvPr id="4" name="Slide Number Placeholder 3"/>
          <p:cNvSpPr>
            <a:spLocks noGrp="1"/>
          </p:cNvSpPr>
          <p:nvPr>
            <p:ph type="sldNum" sz="quarter" idx="5"/>
          </p:nvPr>
        </p:nvSpPr>
        <p:spPr/>
        <p:txBody>
          <a:bodyPr/>
          <a:lstStyle/>
          <a:p>
            <a:fld id="{D25481AE-EEA2-4FDB-A6E4-93EFECF1087A}" type="slidenum">
              <a:rPr lang="en-US" smtClean="0"/>
              <a:t>45</a:t>
            </a:fld>
            <a:endParaRPr lang="en-US"/>
          </a:p>
        </p:txBody>
      </p:sp>
    </p:spTree>
    <p:extLst>
      <p:ext uri="{BB962C8B-B14F-4D97-AF65-F5344CB8AC3E}">
        <p14:creationId xmlns:p14="http://schemas.microsoft.com/office/powerpoint/2010/main" val="11833694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sq[i] = i + 1;</a:t>
            </a:r>
          </a:p>
          <a:p>
            <a:endParaRPr lang="en-US"/>
          </a:p>
          <a:p>
            <a:r>
              <a:rPr lang="en-US"/>
              <a:t>i goes from 0 to 9, so i + 1 goes from 1 to 10. With sq[i] = i; you would get 0 to 9.</a:t>
            </a:r>
          </a:p>
        </p:txBody>
      </p:sp>
      <p:sp>
        <p:nvSpPr>
          <p:cNvPr id="4" name="Slide Number Placeholder 3"/>
          <p:cNvSpPr>
            <a:spLocks noGrp="1"/>
          </p:cNvSpPr>
          <p:nvPr>
            <p:ph type="sldNum" sz="quarter" idx="5"/>
          </p:nvPr>
        </p:nvSpPr>
        <p:spPr/>
        <p:txBody>
          <a:bodyPr/>
          <a:lstStyle/>
          <a:p>
            <a:fld id="{D25481AE-EEA2-4FDB-A6E4-93EFECF1087A}" type="slidenum">
              <a:rPr lang="en-US" smtClean="0"/>
              <a:t>46</a:t>
            </a:fld>
            <a:endParaRPr lang="en-US"/>
          </a:p>
        </p:txBody>
      </p:sp>
    </p:spTree>
    <p:extLst>
      <p:ext uri="{BB962C8B-B14F-4D97-AF65-F5344CB8AC3E}">
        <p14:creationId xmlns:p14="http://schemas.microsoft.com/office/powerpoint/2010/main" val="16997713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3: values from the keyboard.</a:t>
            </a:r>
          </a:p>
        </p:txBody>
      </p:sp>
      <p:sp>
        <p:nvSpPr>
          <p:cNvPr id="4" name="Slide Number Placeholder 3"/>
          <p:cNvSpPr>
            <a:spLocks noGrp="1"/>
          </p:cNvSpPr>
          <p:nvPr>
            <p:ph type="sldNum" sz="quarter" idx="5"/>
          </p:nvPr>
        </p:nvSpPr>
        <p:spPr/>
        <p:txBody>
          <a:bodyPr/>
          <a:lstStyle/>
          <a:p>
            <a:fld id="{D25481AE-EEA2-4FDB-A6E4-93EFECF1087A}" type="slidenum">
              <a:rPr lang="en-US" smtClean="0"/>
              <a:t>47</a:t>
            </a:fld>
            <a:endParaRPr lang="en-US"/>
          </a:p>
        </p:txBody>
      </p:sp>
    </p:spTree>
    <p:extLst>
      <p:ext uri="{BB962C8B-B14F-4D97-AF65-F5344CB8AC3E}">
        <p14:creationId xmlns:p14="http://schemas.microsoft.com/office/powerpoint/2010/main" val="16202612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(int i = 0; i &lt; 5; i++) {</a:t>
            </a:r>
          </a:p>
          <a:p>
            <a:r>
              <a:rPr lang="en-US"/>
              <a:t>    scanf("%d", &amp;a[i]);</a:t>
            </a:r>
          </a:p>
          <a:p>
            <a:r>
              <a:rPr lang="en-US"/>
              <a:t>}</a:t>
            </a:r>
          </a:p>
          <a:p>
            <a:endParaRPr lang="en-US"/>
          </a:p>
          <a:p>
            <a:r>
              <a:rPr lang="en-US"/>
              <a:t>&amp;a[i] means: put the number into box i. The &amp; is needed, like in scanf("%d", &amp;x);. The file is 10_read_five.c.</a:t>
            </a:r>
          </a:p>
        </p:txBody>
      </p:sp>
      <p:sp>
        <p:nvSpPr>
          <p:cNvPr id="4" name="Slide Number Placeholder 3"/>
          <p:cNvSpPr>
            <a:spLocks noGrp="1"/>
          </p:cNvSpPr>
          <p:nvPr>
            <p:ph type="sldNum" sz="quarter" idx="5"/>
          </p:nvPr>
        </p:nvSpPr>
        <p:spPr/>
        <p:txBody>
          <a:bodyPr/>
          <a:lstStyle/>
          <a:p>
            <a:fld id="{D25481AE-EEA2-4FDB-A6E4-93EFECF1087A}" type="slidenum">
              <a:rPr lang="en-US" smtClean="0"/>
              <a:t>48</a:t>
            </a:fld>
            <a:endParaRPr lang="en-US"/>
          </a:p>
        </p:txBody>
      </p:sp>
    </p:spTree>
    <p:extLst>
      <p:ext uri="{BB962C8B-B14F-4D97-AF65-F5344CB8AC3E}">
        <p14:creationId xmlns:p14="http://schemas.microsoft.com/office/powerpoint/2010/main" val="268200454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 type 4 8 15 16 23 and press Enter, the program prints:</a:t>
            </a:r>
          </a:p>
          <a:p>
            <a:endParaRPr lang="en-US"/>
          </a:p>
          <a:p>
            <a:r>
              <a:rPr lang="en-US"/>
              <a:t>Enter 5 numbers: 4 8 15 16 23</a:t>
            </a:r>
          </a:p>
          <a:p>
            <a:r>
              <a:rPr lang="en-US"/>
              <a:t>a[0] = 4</a:t>
            </a:r>
          </a:p>
          <a:p>
            <a:r>
              <a:rPr lang="en-US"/>
              <a:t>a[1] = 8</a:t>
            </a:r>
          </a:p>
          <a:p>
            <a:r>
              <a:rPr lang="en-US"/>
              <a:t>a[2] = 15</a:t>
            </a:r>
          </a:p>
          <a:p>
            <a:r>
              <a:rPr lang="en-US"/>
              <a:t>a[3] = 16</a:t>
            </a:r>
          </a:p>
          <a:p>
            <a:r>
              <a:rPr lang="en-US"/>
              <a:t>a[4] = 23</a:t>
            </a:r>
          </a:p>
          <a:p>
            <a:endParaRPr lang="en-US"/>
          </a:p>
          <a:p>
            <a:r>
              <a:rPr lang="en-US"/>
              <a:t>You can also type the numbers on five lines, pressing Enter after each one. scanf accepts both.</a:t>
            </a:r>
          </a:p>
        </p:txBody>
      </p:sp>
      <p:sp>
        <p:nvSpPr>
          <p:cNvPr id="4" name="Slide Number Placeholder 3"/>
          <p:cNvSpPr>
            <a:spLocks noGrp="1"/>
          </p:cNvSpPr>
          <p:nvPr>
            <p:ph type="sldNum" sz="quarter" idx="5"/>
          </p:nvPr>
        </p:nvSpPr>
        <p:spPr/>
        <p:txBody>
          <a:bodyPr/>
          <a:lstStyle/>
          <a:p>
            <a:fld id="{D25481AE-EEA2-4FDB-A6E4-93EFECF1087A}" type="slidenum">
              <a:rPr lang="en-US" smtClean="0"/>
              <a:t>49</a:t>
            </a:fld>
            <a:endParaRPr lang="en-US"/>
          </a:p>
        </p:txBody>
      </p:sp>
    </p:spTree>
    <p:extLst>
      <p:ext uri="{BB962C8B-B14F-4D97-AF65-F5344CB8AC3E}">
        <p14:creationId xmlns:p14="http://schemas.microsoft.com/office/powerpoint/2010/main" val="30523327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 sum = 0;</a:t>
            </a:r>
          </a:p>
          <a:p>
            <a:r>
              <a:rPr lang="en-US"/>
              <a:t>for (int i = 0; i &lt; 5; i++) {</a:t>
            </a:r>
          </a:p>
          <a:p>
            <a:r>
              <a:rPr lang="en-US"/>
              <a:t>    sum += scores[i];</a:t>
            </a:r>
          </a:p>
          <a:p>
            <a:r>
              <a:rPr lang="en-US"/>
              <a:t>}</a:t>
            </a:r>
          </a:p>
          <a:p>
            <a:endParaRPr lang="en-US"/>
          </a:p>
          <a:p>
            <a:r>
              <a:rPr lang="en-US"/>
              <a:t>The total starts at 0, before the loop. With the input 7 9 6 10 8 the program prints:</a:t>
            </a:r>
          </a:p>
          <a:p>
            <a:endParaRPr lang="en-US"/>
          </a:p>
          <a:p>
            <a:r>
              <a:rPr lang="en-US"/>
              <a:t>sum: 40</a:t>
            </a:r>
          </a:p>
          <a:p>
            <a:r>
              <a:rPr lang="en-US"/>
              <a:t>average: 8.0</a:t>
            </a:r>
          </a:p>
          <a:p>
            <a:endParaRPr lang="en-US"/>
          </a:p>
          <a:p>
            <a:r>
              <a:rPr lang="en-US"/>
              <a:t>This is the running total from class 6, with scores[i] in place of i. The file is 11_sum_average.c.</a:t>
            </a:r>
          </a:p>
        </p:txBody>
      </p:sp>
      <p:sp>
        <p:nvSpPr>
          <p:cNvPr id="4" name="Slide Number Placeholder 3"/>
          <p:cNvSpPr>
            <a:spLocks noGrp="1"/>
          </p:cNvSpPr>
          <p:nvPr>
            <p:ph type="sldNum" sz="quarter" idx="5"/>
          </p:nvPr>
        </p:nvSpPr>
        <p:spPr/>
        <p:txBody>
          <a:bodyPr/>
          <a:lstStyle/>
          <a:p>
            <a:fld id="{D25481AE-EEA2-4FDB-A6E4-93EFECF1087A}" type="slidenum">
              <a:rPr lang="en-US" smtClean="0"/>
              <a:t>50</a:t>
            </a:fld>
            <a:endParaRPr lang="en-US"/>
          </a:p>
        </p:txBody>
      </p:sp>
    </p:spTree>
    <p:extLst>
      <p:ext uri="{BB962C8B-B14F-4D97-AF65-F5344CB8AC3E}">
        <p14:creationId xmlns:p14="http://schemas.microsoft.com/office/powerpoint/2010/main" val="26834117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 starts at 0. When i is 0, scores[0] is 7, so sum becomes 7.</a:t>
            </a:r>
          </a:p>
        </p:txBody>
      </p:sp>
      <p:sp>
        <p:nvSpPr>
          <p:cNvPr id="4" name="Slide Number Placeholder 3"/>
          <p:cNvSpPr>
            <a:spLocks noGrp="1"/>
          </p:cNvSpPr>
          <p:nvPr>
            <p:ph type="sldNum" sz="quarter" idx="5"/>
          </p:nvPr>
        </p:nvSpPr>
        <p:spPr/>
        <p:txBody>
          <a:bodyPr/>
          <a:lstStyle/>
          <a:p>
            <a:fld id="{D25481AE-EEA2-4FDB-A6E4-93EFECF1087A}" type="slidenum">
              <a:rPr lang="en-US" smtClean="0"/>
              <a:t>51</a:t>
            </a:fld>
            <a:endParaRPr lang="en-US"/>
          </a:p>
        </p:txBody>
      </p:sp>
    </p:spTree>
    <p:extLst>
      <p:ext uri="{BB962C8B-B14F-4D97-AF65-F5344CB8AC3E}">
        <p14:creationId xmlns:p14="http://schemas.microsoft.com/office/powerpoint/2010/main" val="7152937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scores[i] · sum</a:t>
            </a:r>
          </a:p>
          <a:p>
            <a:r>
              <a:rPr lang="en-US"/>
              <a:t>start:  · 0</a:t>
            </a:r>
          </a:p>
          <a:p>
            <a:r>
              <a:rPr lang="en-US"/>
              <a:t>0: 7 · 7</a:t>
            </a:r>
          </a:p>
          <a:p>
            <a:r>
              <a:rPr lang="en-US"/>
              <a:t>1: 9 · 16</a:t>
            </a:r>
          </a:p>
          <a:p>
            <a:r>
              <a:rPr lang="en-US"/>
              <a:t>2: 6 · 22</a:t>
            </a:r>
          </a:p>
          <a:p>
            <a:r>
              <a:rPr lang="en-US"/>
              <a:t>3: 10 · 32</a:t>
            </a:r>
          </a:p>
          <a:p>
            <a:r>
              <a:rPr lang="en-US"/>
              <a:t>4: 8 · 40</a:t>
            </a:r>
          </a:p>
          <a:p>
            <a:endParaRPr lang="en-US"/>
          </a:p>
          <a:p>
            <a:r>
              <a:rPr lang="en-US"/>
              <a:t>After the loop sum is 40. The average is 40 / 5.0, which is 8.0. Divide by 5.0, not 5: 41 / 5 would give 8, but 41 / 5.0 gives 8.2.</a:t>
            </a:r>
          </a:p>
        </p:txBody>
      </p:sp>
      <p:sp>
        <p:nvSpPr>
          <p:cNvPr id="4" name="Slide Number Placeholder 3"/>
          <p:cNvSpPr>
            <a:spLocks noGrp="1"/>
          </p:cNvSpPr>
          <p:nvPr>
            <p:ph type="sldNum" sz="quarter" idx="5"/>
          </p:nvPr>
        </p:nvSpPr>
        <p:spPr/>
        <p:txBody>
          <a:bodyPr/>
          <a:lstStyle/>
          <a:p>
            <a:fld id="{D25481AE-EEA2-4FDB-A6E4-93EFECF1087A}" type="slidenum">
              <a:rPr lang="en-US" smtClean="0"/>
              <a:t>52</a:t>
            </a:fld>
            <a:endParaRPr lang="en-US"/>
          </a:p>
        </p:txBody>
      </p:sp>
    </p:spTree>
    <p:extLst>
      <p:ext uri="{BB962C8B-B14F-4D97-AF65-F5344CB8AC3E}">
        <p14:creationId xmlns:p14="http://schemas.microsoft.com/office/powerpoint/2010/main" val="35546558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to answer before you look at the next slide. The input is 1 2 3 4 5, and you want 5 4 3 2 1.</a:t>
            </a:r>
          </a:p>
        </p:txBody>
      </p:sp>
      <p:sp>
        <p:nvSpPr>
          <p:cNvPr id="4" name="Slide Number Placeholder 3"/>
          <p:cNvSpPr>
            <a:spLocks noGrp="1"/>
          </p:cNvSpPr>
          <p:nvPr>
            <p:ph type="sldNum" sz="quarter" idx="5"/>
          </p:nvPr>
        </p:nvSpPr>
        <p:spPr/>
        <p:txBody>
          <a:bodyPr/>
          <a:lstStyle/>
          <a:p>
            <a:fld id="{D25481AE-EEA2-4FDB-A6E4-93EFECF1087A}" type="slidenum">
              <a:rPr lang="en-US" smtClean="0"/>
              <a:t>53</a:t>
            </a:fld>
            <a:endParaRPr lang="en-US"/>
          </a:p>
        </p:txBody>
      </p:sp>
    </p:spTree>
    <p:extLst>
      <p:ext uri="{BB962C8B-B14F-4D97-AF65-F5344CB8AC3E}">
        <p14:creationId xmlns:p14="http://schemas.microsoft.com/office/powerpoint/2010/main" val="11861200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(int i = 4; i &gt;= 0; i--) {</a:t>
            </a:r>
          </a:p>
          <a:p>
            <a:r>
              <a:rPr lang="en-US"/>
              <a:t>    printf(" %d", a[i]);</a:t>
            </a:r>
          </a:p>
          <a:p>
            <a:r>
              <a:rPr lang="en-US"/>
              <a:t>}</a:t>
            </a:r>
          </a:p>
          <a:p>
            <a:endParaRPr lang="en-US"/>
          </a:p>
          <a:p>
            <a:r>
              <a:rPr lang="en-US"/>
              <a:t>- Start at the last index: 4.</a:t>
            </a:r>
          </a:p>
          <a:p>
            <a:r>
              <a:rPr lang="en-US"/>
              <a:t>- Go down: i--.</a:t>
            </a:r>
          </a:p>
          <a:p>
            <a:r>
              <a:rPr lang="en-US"/>
              <a:t>- Keep going while i &gt;= 0.</a:t>
            </a:r>
          </a:p>
          <a:p>
            <a:endParaRPr lang="en-US"/>
          </a:p>
          <a:p>
            <a:r>
              <a:rPr lang="en-US"/>
              <a:t>The output is Backwards: 5 4 3 2 1. The file is 12_reverse.c.</a:t>
            </a:r>
          </a:p>
        </p:txBody>
      </p:sp>
      <p:sp>
        <p:nvSpPr>
          <p:cNvPr id="4" name="Slide Number Placeholder 3"/>
          <p:cNvSpPr>
            <a:spLocks noGrp="1"/>
          </p:cNvSpPr>
          <p:nvPr>
            <p:ph type="sldNum" sz="quarter" idx="5"/>
          </p:nvPr>
        </p:nvSpPr>
        <p:spPr/>
        <p:txBody>
          <a:bodyPr/>
          <a:lstStyle/>
          <a:p>
            <a:fld id="{D25481AE-EEA2-4FDB-A6E4-93EFECF1087A}" type="slidenum">
              <a:rPr lang="en-US" smtClean="0"/>
              <a:t>54</a:t>
            </a:fld>
            <a:endParaRPr lang="en-US"/>
          </a:p>
        </p:txBody>
      </p:sp>
    </p:spTree>
    <p:extLst>
      <p:ext uri="{BB962C8B-B14F-4D97-AF65-F5344CB8AC3E}">
        <p14:creationId xmlns:p14="http://schemas.microsoft.com/office/powerpoint/2010/main" val="17745272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starts at 4, so the first number printed is a[4], which is 5. Then i is 3 and it prints 4.</a:t>
            </a:r>
          </a:p>
        </p:txBody>
      </p:sp>
      <p:sp>
        <p:nvSpPr>
          <p:cNvPr id="4" name="Slide Number Placeholder 3"/>
          <p:cNvSpPr>
            <a:spLocks noGrp="1"/>
          </p:cNvSpPr>
          <p:nvPr>
            <p:ph type="sldNum" sz="quarter" idx="5"/>
          </p:nvPr>
        </p:nvSpPr>
        <p:spPr/>
        <p:txBody>
          <a:bodyPr/>
          <a:lstStyle/>
          <a:p>
            <a:fld id="{D25481AE-EEA2-4FDB-A6E4-93EFECF1087A}" type="slidenum">
              <a:rPr lang="en-US" smtClean="0"/>
              <a:t>55</a:t>
            </a:fld>
            <a:endParaRPr lang="en-US"/>
          </a:p>
        </p:txBody>
      </p:sp>
    </p:spTree>
    <p:extLst>
      <p:ext uri="{BB962C8B-B14F-4D97-AF65-F5344CB8AC3E}">
        <p14:creationId xmlns:p14="http://schemas.microsoft.com/office/powerpoint/2010/main" val="329181702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i &gt;= 0? · prints</a:t>
            </a:r>
          </a:p>
          <a:p>
            <a:r>
              <a:rPr lang="en-US"/>
              <a:t>4: true · 5</a:t>
            </a:r>
          </a:p>
          <a:p>
            <a:r>
              <a:rPr lang="en-US"/>
              <a:t>3: true · 4</a:t>
            </a:r>
          </a:p>
          <a:p>
            <a:r>
              <a:rPr lang="en-US"/>
              <a:t>2: true · 3</a:t>
            </a:r>
          </a:p>
          <a:p>
            <a:r>
              <a:rPr lang="en-US"/>
              <a:t>1: true · 2</a:t>
            </a:r>
          </a:p>
          <a:p>
            <a:r>
              <a:rPr lang="en-US"/>
              <a:t>0: true · 1</a:t>
            </a:r>
          </a:p>
          <a:p>
            <a:r>
              <a:rPr lang="en-US"/>
              <a:t>-1: false · stop</a:t>
            </a:r>
          </a:p>
          <a:p>
            <a:endParaRPr lang="en-US"/>
          </a:p>
          <a:p>
            <a:r>
              <a:rPr lang="en-US"/>
              <a:t>Box 0 is printed because the test is &gt;=. With i &gt; 0 the loop would stop at 1, and the first number would be missing.</a:t>
            </a:r>
          </a:p>
        </p:txBody>
      </p:sp>
      <p:sp>
        <p:nvSpPr>
          <p:cNvPr id="4" name="Slide Number Placeholder 3"/>
          <p:cNvSpPr>
            <a:spLocks noGrp="1"/>
          </p:cNvSpPr>
          <p:nvPr>
            <p:ph type="sldNum" sz="quarter" idx="5"/>
          </p:nvPr>
        </p:nvSpPr>
        <p:spPr/>
        <p:txBody>
          <a:bodyPr/>
          <a:lstStyle/>
          <a:p>
            <a:fld id="{D25481AE-EEA2-4FDB-A6E4-93EFECF1087A}" type="slidenum">
              <a:rPr lang="en-US" smtClean="0"/>
              <a:t>56</a:t>
            </a:fld>
            <a:endParaRPr lang="en-US"/>
          </a:p>
        </p:txBody>
      </p:sp>
    </p:spTree>
    <p:extLst>
      <p:ext uri="{BB962C8B-B14F-4D97-AF65-F5344CB8AC3E}">
        <p14:creationId xmlns:p14="http://schemas.microsoft.com/office/powerpoint/2010/main" val="299392028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programs so far, the number 5 is written in three places. If you change one and forget another, you get a bug. Write the size once, at the top:</a:t>
            </a:r>
          </a:p>
          <a:p>
            <a:endParaRPr lang="en-US"/>
          </a:p>
          <a:p>
            <a:r>
              <a:rPr lang="en-US"/>
              <a:t>#define N 5</a:t>
            </a:r>
          </a:p>
          <a:p>
            <a:endParaRPr lang="en-US"/>
          </a:p>
          <a:p>
            <a:r>
              <a:rPr lang="en-US"/>
              <a:t>Everywhere below that line, gcc reads N as 5. There is no = and no ; on this line. The name is in capital letters: everyone does it that way.</a:t>
            </a:r>
          </a:p>
        </p:txBody>
      </p:sp>
      <p:sp>
        <p:nvSpPr>
          <p:cNvPr id="4" name="Slide Number Placeholder 3"/>
          <p:cNvSpPr>
            <a:spLocks noGrp="1"/>
          </p:cNvSpPr>
          <p:nvPr>
            <p:ph type="sldNum" sz="quarter" idx="5"/>
          </p:nvPr>
        </p:nvSpPr>
        <p:spPr/>
        <p:txBody>
          <a:bodyPr/>
          <a:lstStyle/>
          <a:p>
            <a:fld id="{D25481AE-EEA2-4FDB-A6E4-93EFECF1087A}" type="slidenum">
              <a:rPr lang="en-US" smtClean="0"/>
              <a:t>57</a:t>
            </a:fld>
            <a:endParaRPr lang="en-US"/>
          </a:p>
        </p:txBody>
      </p:sp>
    </p:spTree>
    <p:extLst>
      <p:ext uri="{BB962C8B-B14F-4D97-AF65-F5344CB8AC3E}">
        <p14:creationId xmlns:p14="http://schemas.microsoft.com/office/powerpoint/2010/main" val="19647228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#define N 5</a:t>
            </a:r>
          </a:p>
          <a:p>
            <a:endParaRPr lang="en-US"/>
          </a:p>
          <a:p>
            <a:r>
              <a:rPr lang="en-US"/>
              <a:t>int scores[N];</a:t>
            </a:r>
          </a:p>
          <a:p>
            <a:r>
              <a:rPr lang="en-US"/>
              <a:t>for (int i = 0; i &lt; N; i++) {</a:t>
            </a:r>
          </a:p>
          <a:p>
            <a:endParaRPr lang="en-US"/>
          </a:p>
          <a:p>
            <a:r>
              <a:rPr lang="en-US"/>
              <a:t>To change the size, change one line. With the input 7 9 6 10 8 the program prints average: 8.0. The average is (double) sum / N: sum and N are both whole numbers, so (double) makes the division a real one. The file is 13_define_n.c.</a:t>
            </a:r>
          </a:p>
        </p:txBody>
      </p:sp>
      <p:sp>
        <p:nvSpPr>
          <p:cNvPr id="4" name="Slide Number Placeholder 3"/>
          <p:cNvSpPr>
            <a:spLocks noGrp="1"/>
          </p:cNvSpPr>
          <p:nvPr>
            <p:ph type="sldNum" sz="quarter" idx="5"/>
          </p:nvPr>
        </p:nvSpPr>
        <p:spPr/>
        <p:txBody>
          <a:bodyPr/>
          <a:lstStyle/>
          <a:p>
            <a:fld id="{D25481AE-EEA2-4FDB-A6E4-93EFECF1087A}" type="slidenum">
              <a:rPr lang="en-US" smtClean="0"/>
              <a:t>58</a:t>
            </a:fld>
            <a:endParaRPr lang="en-US"/>
          </a:p>
        </p:txBody>
      </p:sp>
    </p:spTree>
    <p:extLst>
      <p:ext uri="{BB962C8B-B14F-4D97-AF65-F5344CB8AC3E}">
        <p14:creationId xmlns:p14="http://schemas.microsoft.com/office/powerpoint/2010/main" val="5209244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Think about it before you look at the next slide: can you count the scores above the average without an array?</a:t>
            </a:r>
          </a:p>
        </p:txBody>
      </p:sp>
      <p:sp>
        <p:nvSpPr>
          <p:cNvPr id="4" name="Slide Number Placeholder 3"/>
          <p:cNvSpPr>
            <a:spLocks noGrp="1"/>
          </p:cNvSpPr>
          <p:nvPr>
            <p:ph type="sldNum" sz="quarter" idx="5"/>
          </p:nvPr>
        </p:nvSpPr>
        <p:spPr/>
        <p:txBody>
          <a:bodyPr/>
          <a:lstStyle/>
          <a:p>
            <a:fld id="{D25481AE-EEA2-4FDB-A6E4-93EFECF1087A}" type="slidenum">
              <a:rPr lang="en-US" smtClean="0"/>
              <a:t>59</a:t>
            </a:fld>
            <a:endParaRPr lang="en-US"/>
          </a:p>
        </p:txBody>
      </p:sp>
    </p:spTree>
    <p:extLst>
      <p:ext uri="{BB962C8B-B14F-4D97-AF65-F5344CB8AC3E}">
        <p14:creationId xmlns:p14="http://schemas.microsoft.com/office/powerpoint/2010/main" val="10858538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 You know the average only after the last score. Then you need every score again, to compare it with the average. The array kept them all.</a:t>
            </a:r>
          </a:p>
          <a:p>
            <a:endParaRPr lang="en-US"/>
          </a:p>
          <a:p>
            <a:r>
              <a:rPr lang="en-US"/>
              <a:t>With the input 7 9 6 10 8:</a:t>
            </a:r>
          </a:p>
          <a:p>
            <a:endParaRPr lang="en-US"/>
          </a:p>
          <a:p>
            <a:r>
              <a:rPr lang="en-US"/>
              <a:t>average: 8.0</a:t>
            </a:r>
          </a:p>
          <a:p>
            <a:r>
              <a:rPr lang="en-US"/>
              <a:t>above average: 2</a:t>
            </a:r>
          </a:p>
          <a:p>
            <a:endParaRPr lang="en-US"/>
          </a:p>
          <a:p>
            <a:r>
              <a:rPr lang="en-US"/>
              <a:t>The two scores above 8.0 are 9 and 10. The file is 14_above_average.c.</a:t>
            </a:r>
          </a:p>
        </p:txBody>
      </p:sp>
      <p:sp>
        <p:nvSpPr>
          <p:cNvPr id="4" name="Slide Number Placeholder 3"/>
          <p:cNvSpPr>
            <a:spLocks noGrp="1"/>
          </p:cNvSpPr>
          <p:nvPr>
            <p:ph type="sldNum" sz="quarter" idx="5"/>
          </p:nvPr>
        </p:nvSpPr>
        <p:spPr/>
        <p:txBody>
          <a:bodyPr/>
          <a:lstStyle/>
          <a:p>
            <a:fld id="{D25481AE-EEA2-4FDB-A6E4-93EFECF1087A}" type="slidenum">
              <a:rPr lang="en-US" smtClean="0"/>
              <a:t>60</a:t>
            </a:fld>
            <a:endParaRPr lang="en-US"/>
          </a:p>
        </p:txBody>
      </p:sp>
    </p:spTree>
    <p:extLst>
      <p:ext uri="{BB962C8B-B14F-4D97-AF65-F5344CB8AC3E}">
        <p14:creationId xmlns:p14="http://schemas.microsoft.com/office/powerpoint/2010/main" val="24728135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4: two mistakes that C does not stop for you, and one it does.</a:t>
            </a:r>
          </a:p>
        </p:txBody>
      </p:sp>
      <p:sp>
        <p:nvSpPr>
          <p:cNvPr id="4" name="Slide Number Placeholder 3"/>
          <p:cNvSpPr>
            <a:spLocks noGrp="1"/>
          </p:cNvSpPr>
          <p:nvPr>
            <p:ph type="sldNum" sz="quarter" idx="5"/>
          </p:nvPr>
        </p:nvSpPr>
        <p:spPr/>
        <p:txBody>
          <a:bodyPr/>
          <a:lstStyle/>
          <a:p>
            <a:fld id="{D25481AE-EEA2-4FDB-A6E4-93EFECF1087A}" type="slidenum">
              <a:rPr lang="en-US" smtClean="0"/>
              <a:t>61</a:t>
            </a:fld>
            <a:endParaRPr lang="en-US"/>
          </a:p>
        </p:txBody>
      </p:sp>
    </p:spTree>
    <p:extLst>
      <p:ext uri="{BB962C8B-B14F-4D97-AF65-F5344CB8AC3E}">
        <p14:creationId xmlns:p14="http://schemas.microsoft.com/office/powerpoint/2010/main" val="13926269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to answer before you look at the next slide. The array has five values. Look at the loop's test.</a:t>
            </a:r>
          </a:p>
        </p:txBody>
      </p:sp>
      <p:sp>
        <p:nvSpPr>
          <p:cNvPr id="4" name="Slide Number Placeholder 3"/>
          <p:cNvSpPr>
            <a:spLocks noGrp="1"/>
          </p:cNvSpPr>
          <p:nvPr>
            <p:ph type="sldNum" sz="quarter" idx="5"/>
          </p:nvPr>
        </p:nvSpPr>
        <p:spPr/>
        <p:txBody>
          <a:bodyPr/>
          <a:lstStyle/>
          <a:p>
            <a:fld id="{D25481AE-EEA2-4FDB-A6E4-93EFECF1087A}" type="slidenum">
              <a:rPr lang="en-US" smtClean="0"/>
              <a:t>62</a:t>
            </a:fld>
            <a:endParaRPr lang="en-US"/>
          </a:p>
        </p:txBody>
      </p:sp>
    </p:spTree>
    <p:extLst>
      <p:ext uri="{BB962C8B-B14F-4D97-AF65-F5344CB8AC3E}">
        <p14:creationId xmlns:p14="http://schemas.microsoft.com/office/powerpoint/2010/main" val="13429566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(int i = 0; i &lt;= 5; i++) {</a:t>
            </a:r>
          </a:p>
          <a:p>
            <a:r>
              <a:rPr lang="en-US"/>
              <a:t>    printf("%d\n", a[i]);</a:t>
            </a:r>
          </a:p>
          <a:p>
            <a:r>
              <a:rPr lang="en-US"/>
              <a:t>}</a:t>
            </a:r>
          </a:p>
          <a:p>
            <a:endParaRPr lang="en-US"/>
          </a:p>
          <a:p>
            <a:r>
              <a:rPr lang="en-US"/>
              <a:t>i &lt;= 5 makes i go up to 5, so the loop also reads a[5]. There is no a[5]: the last box is a[4]. The program still compiles with no warning, and it prints six lines: 10, 20, 30, 40, 50, and then a sixth number that is not in the array (a different number each time you run it: 88, then 4, then 234). The file is 15_bug_le.c.</a:t>
            </a:r>
          </a:p>
          <a:p>
            <a:endParaRPr lang="en-US"/>
          </a:p>
          <a:p>
            <a:r>
              <a:rPr lang="en-US"/>
              <a:t>The fix: i &lt; 5.</a:t>
            </a:r>
          </a:p>
        </p:txBody>
      </p:sp>
      <p:sp>
        <p:nvSpPr>
          <p:cNvPr id="4" name="Slide Number Placeholder 3"/>
          <p:cNvSpPr>
            <a:spLocks noGrp="1"/>
          </p:cNvSpPr>
          <p:nvPr>
            <p:ph type="sldNum" sz="quarter" idx="5"/>
          </p:nvPr>
        </p:nvSpPr>
        <p:spPr/>
        <p:txBody>
          <a:bodyPr/>
          <a:lstStyle/>
          <a:p>
            <a:fld id="{D25481AE-EEA2-4FDB-A6E4-93EFECF1087A}" type="slidenum">
              <a:rPr lang="en-US" smtClean="0"/>
              <a:t>63</a:t>
            </a:fld>
            <a:endParaRPr lang="en-US"/>
          </a:p>
        </p:txBody>
      </p:sp>
    </p:spTree>
    <p:extLst>
      <p:ext uri="{BB962C8B-B14F-4D97-AF65-F5344CB8AC3E}">
        <p14:creationId xmlns:p14="http://schemas.microsoft.com/office/powerpoint/2010/main" val="22072218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printf("last: %d\n", a[5]);</a:t>
            </a:r>
          </a:p>
          <a:p>
            <a:endParaRPr lang="en-US"/>
          </a:p>
          <a:p>
            <a:r>
              <a:rPr lang="en-US"/>
              <a:t>This compiles with no warning, runs, and prints a number that is not in the array, a different one on every run (last: 136, then last: 183). A wrong answer and no error message: this is why the mistake is dangerous. The file is 16_bug_index_5.c. The fix: the last box is a[4].</a:t>
            </a:r>
          </a:p>
        </p:txBody>
      </p:sp>
      <p:sp>
        <p:nvSpPr>
          <p:cNvPr id="4" name="Slide Number Placeholder 3"/>
          <p:cNvSpPr>
            <a:spLocks noGrp="1"/>
          </p:cNvSpPr>
          <p:nvPr>
            <p:ph type="sldNum" sz="quarter" idx="5"/>
          </p:nvPr>
        </p:nvSpPr>
        <p:spPr/>
        <p:txBody>
          <a:bodyPr/>
          <a:lstStyle/>
          <a:p>
            <a:fld id="{D25481AE-EEA2-4FDB-A6E4-93EFECF1087A}" type="slidenum">
              <a:rPr lang="en-US" smtClean="0"/>
              <a:t>64</a:t>
            </a:fld>
            <a:endParaRPr lang="en-US"/>
          </a:p>
        </p:txBody>
      </p:sp>
    </p:spTree>
    <p:extLst>
      <p:ext uri="{BB962C8B-B14F-4D97-AF65-F5344CB8AC3E}">
        <p14:creationId xmlns:p14="http://schemas.microsoft.com/office/powerpoint/2010/main" val="225749740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 compile with gcc -Wall -O2 16_bug_index_5.c -o bug_index_5 (a capital letter O and the number 2), gcc looks harder and warns:</a:t>
            </a:r>
          </a:p>
          <a:p>
            <a:endParaRPr lang="en-US"/>
          </a:p>
          <a:p>
            <a:r>
              <a:rPr lang="en-US"/>
              <a:t>warning: array subscript 5 is above array bounds of 'int[5]'</a:t>
            </a:r>
          </a:p>
          <a:p>
            <a:endParaRPr lang="en-US"/>
          </a:p>
          <a:p>
            <a:r>
              <a:rPr lang="en-US"/>
              <a:t>But it does not catch every case. Never count on the compiler to find this bug.</a:t>
            </a:r>
          </a:p>
        </p:txBody>
      </p:sp>
      <p:sp>
        <p:nvSpPr>
          <p:cNvPr id="4" name="Slide Number Placeholder 3"/>
          <p:cNvSpPr>
            <a:spLocks noGrp="1"/>
          </p:cNvSpPr>
          <p:nvPr>
            <p:ph type="sldNum" sz="quarter" idx="5"/>
          </p:nvPr>
        </p:nvSpPr>
        <p:spPr/>
        <p:txBody>
          <a:bodyPr/>
          <a:lstStyle/>
          <a:p>
            <a:fld id="{D25481AE-EEA2-4FDB-A6E4-93EFECF1087A}" type="slidenum">
              <a:rPr lang="en-US" smtClean="0"/>
              <a:t>65</a:t>
            </a:fld>
            <a:endParaRPr lang="en-US"/>
          </a:p>
        </p:txBody>
      </p:sp>
    </p:spTree>
    <p:extLst>
      <p:ext uri="{BB962C8B-B14F-4D97-AF65-F5344CB8AC3E}">
        <p14:creationId xmlns:p14="http://schemas.microsoft.com/office/powerpoint/2010/main" val="265904925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 does not check that an index is between 0 and N-1.</a:t>
            </a:r>
          </a:p>
          <a:p>
            <a:endParaRPr lang="en-US"/>
          </a:p>
          <a:p>
            <a:r>
              <a:rPr lang="en-US"/>
              <a:t>- Reading outside the array: you get some number, maybe 0, maybe not.</a:t>
            </a:r>
          </a:p>
          <a:p>
            <a:r>
              <a:rPr lang="en-US"/>
              <a:t>- Writing outside the array: you may change another variable, or the program may crash.</a:t>
            </a:r>
          </a:p>
          <a:p>
            <a:endParaRPr lang="en-US"/>
          </a:p>
          <a:p>
            <a:r>
              <a:rPr lang="en-US"/>
              <a:t>So check it yourself: every array loop starts at i = 0 and tests i &lt; N.</a:t>
            </a:r>
          </a:p>
        </p:txBody>
      </p:sp>
      <p:sp>
        <p:nvSpPr>
          <p:cNvPr id="4" name="Slide Number Placeholder 3"/>
          <p:cNvSpPr>
            <a:spLocks noGrp="1"/>
          </p:cNvSpPr>
          <p:nvPr>
            <p:ph type="sldNum" sz="quarter" idx="5"/>
          </p:nvPr>
        </p:nvSpPr>
        <p:spPr/>
        <p:txBody>
          <a:bodyPr/>
          <a:lstStyle/>
          <a:p>
            <a:fld id="{D25481AE-EEA2-4FDB-A6E4-93EFECF1087A}" type="slidenum">
              <a:rPr lang="en-US" smtClean="0"/>
              <a:t>66</a:t>
            </a:fld>
            <a:endParaRPr lang="en-US"/>
          </a:p>
        </p:txBody>
      </p:sp>
    </p:spTree>
    <p:extLst>
      <p:ext uri="{BB962C8B-B14F-4D97-AF65-F5344CB8AC3E}">
        <p14:creationId xmlns:p14="http://schemas.microsoft.com/office/powerpoint/2010/main" val="404697120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Try to answer before you look at the next slide. Does b = a; compile?</a:t>
            </a:r>
          </a:p>
        </p:txBody>
      </p:sp>
      <p:sp>
        <p:nvSpPr>
          <p:cNvPr id="4" name="Slide Number Placeholder 3"/>
          <p:cNvSpPr>
            <a:spLocks noGrp="1"/>
          </p:cNvSpPr>
          <p:nvPr>
            <p:ph type="sldNum" sz="quarter" idx="5"/>
          </p:nvPr>
        </p:nvSpPr>
        <p:spPr/>
        <p:txBody>
          <a:bodyPr/>
          <a:lstStyle/>
          <a:p>
            <a:fld id="{D25481AE-EEA2-4FDB-A6E4-93EFECF1087A}" type="slidenum">
              <a:rPr lang="en-US" smtClean="0"/>
              <a:t>67</a:t>
            </a:fld>
            <a:endParaRPr lang="en-US"/>
          </a:p>
        </p:txBody>
      </p:sp>
    </p:spTree>
    <p:extLst>
      <p:ext uri="{BB962C8B-B14F-4D97-AF65-F5344CB8AC3E}">
        <p14:creationId xmlns:p14="http://schemas.microsoft.com/office/powerpoint/2010/main" val="373401048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 gcc says:</a:t>
            </a:r>
          </a:p>
          <a:p>
            <a:endParaRPr lang="en-US"/>
          </a:p>
          <a:p>
            <a:r>
              <a:rPr lang="en-US"/>
              <a:t>error: assignment to expression with array type</a:t>
            </a:r>
          </a:p>
          <a:p>
            <a:endParaRPr lang="en-US"/>
          </a:p>
          <a:p>
            <a:r>
              <a:rPr lang="en-US"/>
              <a:t>You cannot copy a whole array with =. The file is 17_bug_assign.c.</a:t>
            </a:r>
          </a:p>
        </p:txBody>
      </p:sp>
      <p:sp>
        <p:nvSpPr>
          <p:cNvPr id="4" name="Slide Number Placeholder 3"/>
          <p:cNvSpPr>
            <a:spLocks noGrp="1"/>
          </p:cNvSpPr>
          <p:nvPr>
            <p:ph type="sldNum" sz="quarter" idx="5"/>
          </p:nvPr>
        </p:nvSpPr>
        <p:spPr/>
        <p:txBody>
          <a:bodyPr/>
          <a:lstStyle/>
          <a:p>
            <a:fld id="{D25481AE-EEA2-4FDB-A6E4-93EFECF1087A}" type="slidenum">
              <a:rPr lang="en-US" smtClean="0"/>
              <a:t>68</a:t>
            </a:fld>
            <a:endParaRPr lang="en-US"/>
          </a:p>
        </p:txBody>
      </p:sp>
    </p:spTree>
    <p:extLst>
      <p:ext uri="{BB962C8B-B14F-4D97-AF65-F5344CB8AC3E}">
        <p14:creationId xmlns:p14="http://schemas.microsoft.com/office/powerpoint/2010/main" val="155034980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Copy one box at a time, in a loop:</a:t>
            </a:r>
          </a:p>
          <a:p>
            <a:endParaRPr lang="en-US"/>
          </a:p>
          <a:p>
            <a:r>
              <a:rPr lang="en-US"/>
              <a:t>for (int i = 0; i &lt; 3; i++) {</a:t>
            </a:r>
          </a:p>
          <a:p>
            <a:r>
              <a:rPr lang="en-US"/>
              <a:t>    b[i] = a[i];</a:t>
            </a:r>
          </a:p>
          <a:p>
            <a:r>
              <a:rPr lang="en-US"/>
              <a:t>}</a:t>
            </a:r>
          </a:p>
          <a:p>
            <a:endParaRPr lang="en-US"/>
          </a:p>
          <a:p>
            <a:r>
              <a:rPr lang="en-US"/>
              <a:t>Then the program changes b[0] to 100 and prints:</a:t>
            </a:r>
          </a:p>
          <a:p>
            <a:endParaRPr lang="en-US"/>
          </a:p>
          <a:p>
            <a:r>
              <a:rPr lang="en-US"/>
              <a:t>a: 1 2 3</a:t>
            </a:r>
          </a:p>
          <a:p>
            <a:r>
              <a:rPr lang="en-US"/>
              <a:t>b: 100 2 3</a:t>
            </a:r>
          </a:p>
          <a:p>
            <a:endParaRPr lang="en-US"/>
          </a:p>
          <a:p>
            <a:r>
              <a:rPr lang="en-US"/>
              <a:t>b is a real copy: changing it does not change a. The file is 18_copy_loop.c.</a:t>
            </a:r>
          </a:p>
        </p:txBody>
      </p:sp>
      <p:sp>
        <p:nvSpPr>
          <p:cNvPr id="4" name="Slide Number Placeholder 3"/>
          <p:cNvSpPr>
            <a:spLocks noGrp="1"/>
          </p:cNvSpPr>
          <p:nvPr>
            <p:ph type="sldNum" sz="quarter" idx="5"/>
          </p:nvPr>
        </p:nvSpPr>
        <p:spPr/>
        <p:txBody>
          <a:bodyPr/>
          <a:lstStyle/>
          <a:p>
            <a:fld id="{D25481AE-EEA2-4FDB-A6E4-93EFECF1087A}" type="slidenum">
              <a:rPr lang="en-US" smtClean="0"/>
              <a:t>69</a:t>
            </a:fld>
            <a:endParaRPr lang="en-US"/>
          </a:p>
        </p:txBody>
      </p:sp>
    </p:spTree>
    <p:extLst>
      <p:ext uri="{BB962C8B-B14F-4D97-AF65-F5344CB8AC3E}">
        <p14:creationId xmlns:p14="http://schemas.microsoft.com/office/powerpoint/2010/main" val="344425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mistake: what happens · fix</a:t>
            </a:r>
          </a:p>
          <a:p>
            <a:r>
              <a:rPr lang="en-US"/>
              <a:t>i &lt;= 5 for 5 boxes: reads a[5]: a wrong number · i &lt; 5</a:t>
            </a:r>
          </a:p>
          <a:p>
            <a:r>
              <a:rPr lang="en-US"/>
              <a:t>a[5] as the last box: a wrong number, no error · a[4]</a:t>
            </a:r>
          </a:p>
          <a:p>
            <a:r>
              <a:rPr lang="en-US"/>
              <a:t>b = a;: does not compile · a loop: b[i] = a[i];</a:t>
            </a:r>
          </a:p>
        </p:txBody>
      </p:sp>
      <p:sp>
        <p:nvSpPr>
          <p:cNvPr id="4" name="Slide Number Placeholder 3"/>
          <p:cNvSpPr>
            <a:spLocks noGrp="1"/>
          </p:cNvSpPr>
          <p:nvPr>
            <p:ph type="sldNum" sz="quarter" idx="5"/>
          </p:nvPr>
        </p:nvSpPr>
        <p:spPr/>
        <p:txBody>
          <a:bodyPr/>
          <a:lstStyle/>
          <a:p>
            <a:fld id="{D25481AE-EEA2-4FDB-A6E4-93EFECF1087A}" type="slidenum">
              <a:rPr lang="en-US" smtClean="0"/>
              <a:t>70</a:t>
            </a:fld>
            <a:endParaRPr lang="en-US"/>
          </a:p>
        </p:txBody>
      </p:sp>
    </p:spTree>
    <p:extLst>
      <p:ext uri="{BB962C8B-B14F-4D97-AF65-F5344CB8AC3E}">
        <p14:creationId xmlns:p14="http://schemas.microsoft.com/office/powerpoint/2010/main" val="384674248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Part 5: three small programs. Write each one in VS Code, compile it and run it before you look at the answer.</a:t>
            </a:r>
          </a:p>
        </p:txBody>
      </p:sp>
      <p:sp>
        <p:nvSpPr>
          <p:cNvPr id="4" name="Slide Number Placeholder 3"/>
          <p:cNvSpPr>
            <a:spLocks noGrp="1"/>
          </p:cNvSpPr>
          <p:nvPr>
            <p:ph type="sldNum" sz="quarter" idx="5"/>
          </p:nvPr>
        </p:nvSpPr>
        <p:spPr/>
        <p:txBody>
          <a:bodyPr/>
          <a:lstStyle/>
          <a:p>
            <a:fld id="{D25481AE-EEA2-4FDB-A6E4-93EFECF1087A}" type="slidenum">
              <a:rPr lang="en-US" smtClean="0"/>
              <a:t>71</a:t>
            </a:fld>
            <a:endParaRPr lang="en-US"/>
          </a:p>
        </p:txBody>
      </p:sp>
    </p:spTree>
    <p:extLst>
      <p:ext uri="{BB962C8B-B14F-4D97-AF65-F5344CB8AC3E}">
        <p14:creationId xmlns:p14="http://schemas.microsoft.com/office/powerpoint/2010/main" val="388383086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the temperatures of the 7 days of a week into a double array. Print them in one line, then print their average. Test it with 18 21 19 23 25 22 20.</a:t>
            </a:r>
          </a:p>
          <a:p>
            <a:endParaRPr lang="en-US"/>
          </a:p>
          <a:p>
            <a:r>
              <a:rPr lang="en-US"/>
              <a:t>Hint: #define DAYS 7, double t[DAYS];, and %lf in the scanf.</a:t>
            </a:r>
          </a:p>
        </p:txBody>
      </p:sp>
      <p:sp>
        <p:nvSpPr>
          <p:cNvPr id="4" name="Slide Number Placeholder 3"/>
          <p:cNvSpPr>
            <a:spLocks noGrp="1"/>
          </p:cNvSpPr>
          <p:nvPr>
            <p:ph type="sldNum" sz="quarter" idx="5"/>
          </p:nvPr>
        </p:nvSpPr>
        <p:spPr/>
        <p:txBody>
          <a:bodyPr/>
          <a:lstStyle/>
          <a:p>
            <a:fld id="{D25481AE-EEA2-4FDB-A6E4-93EFECF1087A}" type="slidenum">
              <a:rPr lang="en-US" smtClean="0"/>
              <a:t>72</a:t>
            </a:fld>
            <a:endParaRPr lang="en-US"/>
          </a:p>
        </p:txBody>
      </p:sp>
    </p:spTree>
    <p:extLst>
      <p:ext uri="{BB962C8B-B14F-4D97-AF65-F5344CB8AC3E}">
        <p14:creationId xmlns:p14="http://schemas.microsoft.com/office/powerpoint/2010/main" val="319176444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file 19_task_temps.c. It asks Day 1: to Day 7: (it prints i + 1, so the days are 1 to 7 while the index goes 0 to 6), then prints:</a:t>
            </a:r>
          </a:p>
          <a:p>
            <a:endParaRPr lang="en-US"/>
          </a:p>
          <a:p>
            <a:r>
              <a:rPr lang="en-US"/>
              <a:t>18.0 21.0 19.0 23.0 25.0 22.0 20.0</a:t>
            </a:r>
          </a:p>
          <a:p>
            <a:r>
              <a:rPr lang="en-US"/>
              <a:t>average: 21.1</a:t>
            </a:r>
          </a:p>
          <a:p>
            <a:endParaRPr lang="en-US"/>
          </a:p>
          <a:p>
            <a:r>
              <a:rPr lang="en-US"/>
              <a:t>The sum is 148, and 148 / 7 is 21.14. A double is read with %lf, not %d or %f.</a:t>
            </a:r>
          </a:p>
        </p:txBody>
      </p:sp>
      <p:sp>
        <p:nvSpPr>
          <p:cNvPr id="4" name="Slide Number Placeholder 3"/>
          <p:cNvSpPr>
            <a:spLocks noGrp="1"/>
          </p:cNvSpPr>
          <p:nvPr>
            <p:ph type="sldNum" sz="quarter" idx="5"/>
          </p:nvPr>
        </p:nvSpPr>
        <p:spPr/>
        <p:txBody>
          <a:bodyPr/>
          <a:lstStyle/>
          <a:p>
            <a:fld id="{D25481AE-EEA2-4FDB-A6E4-93EFECF1087A}" type="slidenum">
              <a:rPr lang="en-US" smtClean="0"/>
              <a:t>73</a:t>
            </a:fld>
            <a:endParaRPr lang="en-US"/>
          </a:p>
        </p:txBody>
      </p:sp>
    </p:spTree>
    <p:extLst>
      <p:ext uri="{BB962C8B-B14F-4D97-AF65-F5344CB8AC3E}">
        <p14:creationId xmlns:p14="http://schemas.microsoft.com/office/powerpoint/2010/main" val="169047765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from int a[6] = {3, 8, 1, 5, 9, 2};. Double every value in the array (change the boxes, not just what you print), then print the array.</a:t>
            </a:r>
          </a:p>
        </p:txBody>
      </p:sp>
      <p:sp>
        <p:nvSpPr>
          <p:cNvPr id="4" name="Slide Number Placeholder 3"/>
          <p:cNvSpPr>
            <a:spLocks noGrp="1"/>
          </p:cNvSpPr>
          <p:nvPr>
            <p:ph type="sldNum" sz="quarter" idx="5"/>
          </p:nvPr>
        </p:nvSpPr>
        <p:spPr/>
        <p:txBody>
          <a:bodyPr/>
          <a:lstStyle/>
          <a:p>
            <a:fld id="{D25481AE-EEA2-4FDB-A6E4-93EFECF1087A}" type="slidenum">
              <a:rPr lang="en-US" smtClean="0"/>
              <a:t>74</a:t>
            </a:fld>
            <a:endParaRPr lang="en-US"/>
          </a:p>
        </p:txBody>
      </p:sp>
    </p:spTree>
    <p:extLst>
      <p:ext uri="{BB962C8B-B14F-4D97-AF65-F5344CB8AC3E}">
        <p14:creationId xmlns:p14="http://schemas.microsoft.com/office/powerpoint/2010/main" val="133365110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(int i = 0; i &lt; 6; i++) {</a:t>
            </a:r>
          </a:p>
          <a:p>
            <a:r>
              <a:rPr lang="en-US"/>
              <a:t>    a[i] = a[i] * 2;</a:t>
            </a:r>
          </a:p>
          <a:p>
            <a:r>
              <a:rPr lang="en-US"/>
              <a:t>}</a:t>
            </a:r>
          </a:p>
          <a:p>
            <a:endParaRPr lang="en-US"/>
          </a:p>
          <a:p>
            <a:r>
              <a:rPr lang="en-US"/>
              <a:t>a[i] *= 2; does the same. A second loop prints 6 16 2 10 18 4. The file is 20_task_double_all.c.</a:t>
            </a:r>
          </a:p>
        </p:txBody>
      </p:sp>
      <p:sp>
        <p:nvSpPr>
          <p:cNvPr id="4" name="Slide Number Placeholder 3"/>
          <p:cNvSpPr>
            <a:spLocks noGrp="1"/>
          </p:cNvSpPr>
          <p:nvPr>
            <p:ph type="sldNum" sz="quarter" idx="5"/>
          </p:nvPr>
        </p:nvSpPr>
        <p:spPr/>
        <p:txBody>
          <a:bodyPr/>
          <a:lstStyle/>
          <a:p>
            <a:fld id="{D25481AE-EEA2-4FDB-A6E4-93EFECF1087A}" type="slidenum">
              <a:rPr lang="en-US" smtClean="0"/>
              <a:t>75</a:t>
            </a:fld>
            <a:endParaRPr lang="en-US"/>
          </a:p>
        </p:txBody>
      </p:sp>
    </p:spTree>
    <p:extLst>
      <p:ext uri="{BB962C8B-B14F-4D97-AF65-F5344CB8AC3E}">
        <p14:creationId xmlns:p14="http://schemas.microsoft.com/office/powerpoint/2010/main" val="267581536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from int a[8] = {4, 7, 10, 3, 6, 6, 1, 12};. Count how many values are even. Hint: the counter inside an if from class 6.</a:t>
            </a:r>
          </a:p>
        </p:txBody>
      </p:sp>
      <p:sp>
        <p:nvSpPr>
          <p:cNvPr id="4" name="Slide Number Placeholder 3"/>
          <p:cNvSpPr>
            <a:spLocks noGrp="1"/>
          </p:cNvSpPr>
          <p:nvPr>
            <p:ph type="sldNum" sz="quarter" idx="5"/>
          </p:nvPr>
        </p:nvSpPr>
        <p:spPr/>
        <p:txBody>
          <a:bodyPr/>
          <a:lstStyle/>
          <a:p>
            <a:fld id="{D25481AE-EEA2-4FDB-A6E4-93EFECF1087A}" type="slidenum">
              <a:rPr lang="en-US" smtClean="0"/>
              <a:t>76</a:t>
            </a:fld>
            <a:endParaRPr lang="en-US"/>
          </a:p>
        </p:txBody>
      </p:sp>
    </p:spTree>
    <p:extLst>
      <p:ext uri="{BB962C8B-B14F-4D97-AF65-F5344CB8AC3E}">
        <p14:creationId xmlns:p14="http://schemas.microsoft.com/office/powerpoint/2010/main" val="387090254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 even = 0;</a:t>
            </a:r>
          </a:p>
          <a:p>
            <a:r>
              <a:rPr lang="en-US"/>
              <a:t>for (int i = 0; i &lt; 8; i++) {</a:t>
            </a:r>
          </a:p>
          <a:p>
            <a:r>
              <a:rPr lang="en-US"/>
              <a:t>    if (a[i] % 2 == 0) {</a:t>
            </a:r>
          </a:p>
          <a:p>
            <a:r>
              <a:rPr lang="en-US"/>
              <a:t>        even++;</a:t>
            </a:r>
          </a:p>
          <a:p>
            <a:r>
              <a:rPr lang="en-US"/>
              <a:t>    }</a:t>
            </a:r>
          </a:p>
          <a:p>
            <a:r>
              <a:rPr lang="en-US"/>
              <a:t>}</a:t>
            </a:r>
          </a:p>
          <a:p>
            <a:endParaRPr lang="en-US"/>
          </a:p>
          <a:p>
            <a:r>
              <a:rPr lang="en-US"/>
              <a:t>It prints even values: 5: the values 4, 10, 6, 6 and 12. The file is 21_task_even_count.c.</a:t>
            </a:r>
          </a:p>
        </p:txBody>
      </p:sp>
      <p:sp>
        <p:nvSpPr>
          <p:cNvPr id="4" name="Slide Number Placeholder 3"/>
          <p:cNvSpPr>
            <a:spLocks noGrp="1"/>
          </p:cNvSpPr>
          <p:nvPr>
            <p:ph type="sldNum" sz="quarter" idx="5"/>
          </p:nvPr>
        </p:nvSpPr>
        <p:spPr/>
        <p:txBody>
          <a:bodyPr/>
          <a:lstStyle/>
          <a:p>
            <a:fld id="{D25481AE-EEA2-4FDB-A6E4-93EFECF1087A}" type="slidenum">
              <a:rPr lang="en-US" smtClean="0"/>
              <a:t>77</a:t>
            </a:fld>
            <a:endParaRPr lang="en-US"/>
          </a:p>
        </p:txBody>
      </p:sp>
    </p:spTree>
    <p:extLst>
      <p:ext uri="{BB962C8B-B14F-4D97-AF65-F5344CB8AC3E}">
        <p14:creationId xmlns:p14="http://schemas.microsoft.com/office/powerpoint/2010/main" val="55072443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int a[5]; five boxes, one name, one type.</a:t>
            </a:r>
          </a:p>
          <a:p>
            <a:r>
              <a:rPr lang="en-US"/>
              <a:t>- The index goes from 0 to N-1: a[0] to a[4].</a:t>
            </a:r>
          </a:p>
          <a:p>
            <a:r>
              <a:rPr lang="en-US"/>
              <a:t>- The loop: for (int i = 0; i &lt; N; i++).</a:t>
            </a:r>
          </a:p>
          <a:p>
            <a:r>
              <a:rPr lang="en-US"/>
              <a:t>- scanf("%d", &amp;a[i]); reads into a box.</a:t>
            </a:r>
          </a:p>
          <a:p>
            <a:r>
              <a:rPr lang="en-US"/>
              <a:t>- C does not check the index. b = a; does not compile.</a:t>
            </a:r>
          </a:p>
        </p:txBody>
      </p:sp>
      <p:sp>
        <p:nvSpPr>
          <p:cNvPr id="4" name="Slide Number Placeholder 3"/>
          <p:cNvSpPr>
            <a:spLocks noGrp="1"/>
          </p:cNvSpPr>
          <p:nvPr>
            <p:ph type="sldNum" sz="quarter" idx="5"/>
          </p:nvPr>
        </p:nvSpPr>
        <p:spPr/>
        <p:txBody>
          <a:bodyPr/>
          <a:lstStyle/>
          <a:p>
            <a:fld id="{D25481AE-EEA2-4FDB-A6E4-93EFECF1087A}" type="slidenum">
              <a:rPr lang="en-US" smtClean="0"/>
              <a:t>78</a:t>
            </a:fld>
            <a:endParaRPr lang="en-US"/>
          </a:p>
        </p:txBody>
      </p:sp>
    </p:spTree>
    <p:extLst>
      <p:ext uri="{BB962C8B-B14F-4D97-AF65-F5344CB8AC3E}">
        <p14:creationId xmlns:p14="http://schemas.microsoft.com/office/powerpoint/2010/main" val="201581544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Knowledge check 9 on Blackboard covers this class. Three attempts, the best one is kept, and it does not count toward your grade.</a:t>
            </a:r>
          </a:p>
          <a:p>
            <a:r>
              <a:rPr lang="en-US"/>
              <a:t>- Project 1 (Blackjack) is due Sunday 11 October, 23:59, on Blackboard. Upload early.</a:t>
            </a:r>
          </a:p>
          <a:p>
            <a:r>
              <a:rPr lang="en-US"/>
              <a:t>- Quiz 3 is on Friday 16 October, the first 25 minutes of the class, on paper. It covers classes 7 to 10: functions, scope, call-by-value, recursion, arrays, and Friday's class.</a:t>
            </a:r>
          </a:p>
          <a:p>
            <a:r>
              <a:rPr lang="en-US"/>
              <a:t>- Today's code is on Blackboard, Week 5 module, Class 9 code. Make the "Try" changes in each file.</a:t>
            </a:r>
          </a:p>
          <a:p>
            <a:endParaRPr lang="en-US"/>
          </a:p>
          <a:p>
            <a:r>
              <a:rPr lang="en-US"/>
              <a:t>Next class: search an array, find the smallest and the largest value, and sort it.</a:t>
            </a:r>
          </a:p>
        </p:txBody>
      </p:sp>
      <p:sp>
        <p:nvSpPr>
          <p:cNvPr id="4" name="Slide Number Placeholder 3"/>
          <p:cNvSpPr>
            <a:spLocks noGrp="1"/>
          </p:cNvSpPr>
          <p:nvPr>
            <p:ph type="sldNum" sz="quarter" idx="5"/>
          </p:nvPr>
        </p:nvSpPr>
        <p:spPr/>
        <p:txBody>
          <a:bodyPr/>
          <a:lstStyle/>
          <a:p>
            <a:fld id="{D25481AE-EEA2-4FDB-A6E4-93EFECF1087A}" type="slidenum">
              <a:rPr lang="en-US" smtClean="0"/>
              <a:t>79</a:t>
            </a:fld>
            <a:endParaRPr lang="en-US"/>
          </a:p>
        </p:txBody>
      </p:sp>
    </p:spTree>
    <p:extLst>
      <p:ext uri="{BB962C8B-B14F-4D97-AF65-F5344CB8AC3E}">
        <p14:creationId xmlns:p14="http://schemas.microsoft.com/office/powerpoint/2010/main" val="2582502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822960"/>
            <a:ext cx="10058400" cy="365760"/>
          </a:xfrm>
          <a:prstGeom prst="rect">
            <a:avLst/>
          </a:prstGeom>
          <a:noFill/>
          <a:ln>
            <a:noFill/>
          </a:ln>
        </p:spPr>
        <p:txBody>
          <a:bodyPr wrap="square" lIns="0" tIns="0" rIns="0" bIns="0" rtlCol="0" anchor="t"/>
          <a:lstStyle/>
          <a:p>
            <a:pPr marL="0" indent="0" algn="l">
              <a:buNone/>
            </a:pPr>
            <a:r>
              <a:rPr lang="en-US" sz="1600" b="1" dirty="0">
                <a:solidFill>
                  <a:srgbClr val="31C48D"/>
                </a:solidFill>
              </a:rPr>
              <a:t>Programming Principles I</a:t>
            </a:r>
            <a:endParaRPr lang="en-US" sz="1600" dirty="0"/>
          </a:p>
        </p:txBody>
      </p:sp>
      <p:sp>
        <p:nvSpPr>
          <p:cNvPr id="3" name="Shape 3"/>
          <p:cNvSpPr/>
          <p:nvPr/>
        </p:nvSpPr>
        <p:spPr>
          <a:xfrm>
            <a:off x="731520" y="1554480"/>
            <a:ext cx="10515600" cy="548640"/>
          </a:xfrm>
          <a:prstGeom prst="rect">
            <a:avLst/>
          </a:prstGeom>
          <a:noFill/>
          <a:ln>
            <a:noFill/>
          </a:ln>
        </p:spPr>
        <p:txBody>
          <a:bodyPr wrap="square" lIns="0" tIns="0" rIns="0" bIns="0" rtlCol="0" anchor="t"/>
          <a:lstStyle/>
          <a:p>
            <a:pPr marL="0" indent="0" algn="l">
              <a:buNone/>
            </a:pPr>
            <a:r>
              <a:rPr lang="en-US" sz="2600" b="1" dirty="0">
                <a:solidFill>
                  <a:srgbClr val="FFFFFF"/>
                </a:solidFill>
              </a:rPr>
              <a:t>Week 5 · Class 9</a:t>
            </a:r>
            <a:endParaRPr lang="en-US" sz="2600" dirty="0"/>
          </a:p>
        </p:txBody>
      </p:sp>
      <p:sp>
        <p:nvSpPr>
          <p:cNvPr id="4" name="Shape 4"/>
          <p:cNvSpPr/>
          <p:nvPr/>
        </p:nvSpPr>
        <p:spPr>
          <a:xfrm>
            <a:off x="731520" y="2194560"/>
            <a:ext cx="10789920" cy="1005840"/>
          </a:xfrm>
          <a:prstGeom prst="rect">
            <a:avLst/>
          </a:prstGeom>
          <a:noFill/>
          <a:ln>
            <a:noFill/>
          </a:ln>
        </p:spPr>
        <p:txBody>
          <a:bodyPr wrap="square" lIns="0" tIns="0" rIns="0" bIns="0" rtlCol="0" anchor="ctr"/>
          <a:lstStyle/>
          <a:p>
            <a:pPr marL="0" indent="0" algn="l">
              <a:buNone/>
            </a:pPr>
            <a:r>
              <a:rPr lang="en-US" sz="4800" b="1" dirty="0">
                <a:solidFill>
                  <a:srgbClr val="FFFFFF"/>
                </a:solidFill>
              </a:rPr>
              <a:t>Linear arrays</a:t>
            </a:r>
            <a:endParaRPr lang="en-US" sz="4800" dirty="0"/>
          </a:p>
        </p:txBody>
      </p:sp>
      <p:sp>
        <p:nvSpPr>
          <p:cNvPr id="5" name="Shape 5"/>
          <p:cNvSpPr/>
          <p:nvPr/>
        </p:nvSpPr>
        <p:spPr>
          <a:xfrm>
            <a:off x="731520" y="3291840"/>
            <a:ext cx="10515600" cy="548640"/>
          </a:xfrm>
          <a:prstGeom prst="rect">
            <a:avLst/>
          </a:prstGeom>
          <a:noFill/>
          <a:ln>
            <a:noFill/>
          </a:ln>
        </p:spPr>
        <p:txBody>
          <a:bodyPr wrap="square" lIns="0" tIns="0" rIns="0" bIns="0" rtlCol="0" anchor="t"/>
          <a:lstStyle/>
          <a:p>
            <a:pPr marL="0" indent="0" algn="l">
              <a:buNone/>
            </a:pPr>
            <a:r>
              <a:rPr lang="en-US" sz="2200" dirty="0">
                <a:solidFill>
                  <a:srgbClr val="D7E3F0"/>
                </a:solidFill>
              </a:rPr>
              <a:t>Many values under one name · index 0 to N-1 · a loop over every box</a:t>
            </a:r>
            <a:endParaRPr lang="en-US" sz="2200" dirty="0"/>
          </a:p>
        </p:txBody>
      </p:sp>
      <p:sp>
        <p:nvSpPr>
          <p:cNvPr id="6" name="Shape 6"/>
          <p:cNvSpPr/>
          <p:nvPr/>
        </p:nvSpPr>
        <p:spPr>
          <a:xfrm>
            <a:off x="731520" y="4114800"/>
            <a:ext cx="7863840" cy="16357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731520" y="4114800"/>
            <a:ext cx="7863840" cy="163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int scores[5] = {7, 9, 6, 10, 8};</a:t>
            </a:r>
            <a:endParaRPr lang="en-US" sz="2000" dirty="0"/>
          </a:p>
          <a:p>
            <a:pPr marL="0" indent="0" algn="l">
              <a:lnSpc>
                <a:spcPts val="2500"/>
              </a:lnSpc>
              <a:buNone/>
            </a:pPr>
            <a:r>
              <a:rPr lang="en-US" sz="2000" dirty="0">
                <a:solidFill>
                  <a:srgbClr val="E5E7EB"/>
                </a:solidFill>
                <a:latin typeface="Consolas"/>
                <a:ea typeface="Consolas"/>
                <a:cs typeface="Consolas"/>
              </a:rPr>
              <a:t>for (int i = 0; i &lt; 5; i++) {</a:t>
            </a:r>
            <a:endParaRPr lang="en-US" sz="2000" dirty="0"/>
          </a:p>
          <a:p>
            <a:pPr marL="0" indent="0" algn="l">
              <a:lnSpc>
                <a:spcPts val="2500"/>
              </a:lnSpc>
              <a:buNone/>
            </a:pPr>
            <a:r>
              <a:rPr lang="en-US" sz="2000" dirty="0">
                <a:solidFill>
                  <a:srgbClr val="E5E7EB"/>
                </a:solidFill>
                <a:latin typeface="Consolas"/>
                <a:ea typeface="Consolas"/>
                <a:cs typeface="Consolas"/>
              </a:rPr>
              <a:t>    printf("%d ", scores[i]);</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p:txBody>
      </p:sp>
      <p:sp>
        <p:nvSpPr>
          <p:cNvPr id="8" name="Shape 8"/>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ADA University · Fall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Quiz 2 is back</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a:t>
            </a:r>
            <a:endParaRPr lang="en-US" sz="1400" dirty="0"/>
          </a:p>
        </p:txBody>
      </p:sp>
      <p:sp>
        <p:nvSpPr>
          <p:cNvPr id="6" name="Shape 6"/>
          <p:cNvSpPr/>
          <p:nvPr/>
        </p:nvSpPr>
        <p:spPr>
          <a:xfrm>
            <a:off x="548640" y="1399032"/>
            <a:ext cx="109728" cy="14020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Three ideas cost most of the marks in this room.</a:t>
            </a:r>
            <a:endParaRPr lang="en-US" sz="4000" dirty="0"/>
          </a:p>
        </p:txBody>
      </p:sp>
      <p:sp>
        <p:nvSpPr>
          <p:cNvPr id="8" name="Shape 8"/>
          <p:cNvSpPr/>
          <p:nvPr/>
        </p:nvSpPr>
        <p:spPr>
          <a:xfrm>
            <a:off x="914400" y="32125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Tracing a loop. The counting program. The small things.</a:t>
            </a:r>
            <a:endParaRPr lang="en-US" sz="3000" dirty="0"/>
          </a:p>
          <a:p>
            <a:pPr marL="0" indent="0" algn="l">
              <a:spcAft>
                <a:spcPts val="1600"/>
              </a:spcAft>
              <a:buNone/>
            </a:pPr>
            <a:r>
              <a:rPr lang="en-US" sz="3000" dirty="0">
                <a:solidFill>
                  <a:srgbClr val="18324A"/>
                </a:solidFill>
              </a:rPr>
              <a:t>All three come back today, inside every array loop.</a:t>
            </a:r>
            <a:endParaRPr lang="en-US" sz="3000" dirty="0"/>
          </a:p>
        </p:txBody>
      </p:sp>
      <p:sp>
        <p:nvSpPr>
          <p:cNvPr id="9" name="Shape 9"/>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0" name="Shape 10"/>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11"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Your mark and your marked paper are in Blackboard. Read my comments at home, not now.</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Mistake 1: trace the loop, round by round</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Every </a:t>
            </a:r>
            <a:r>
              <a:rPr lang="en-US" sz="2400" dirty="0">
                <a:solidFill>
                  <a:srgbClr val="18324A"/>
                </a:solidFill>
                <a:latin typeface="Consolas"/>
                <a:ea typeface="Consolas"/>
                <a:cs typeface="Consolas"/>
              </a:rPr>
              <a:t>x</a:t>
            </a:r>
            <a:r>
              <a:rPr lang="en-US" sz="2400" dirty="0">
                <a:solidFill>
                  <a:srgbClr val="18324A"/>
                </a:solidFill>
              </a:rPr>
              <a:t> that passes the test is printed: </a:t>
            </a:r>
            <a:r>
              <a:rPr lang="en-US" sz="2400" dirty="0">
                <a:solidFill>
                  <a:srgbClr val="18324A"/>
                </a:solidFill>
                <a:latin typeface="Consolas"/>
                <a:ea typeface="Consolas"/>
                <a:cs typeface="Consolas"/>
              </a:rPr>
              <a:t>1 3 7 15</a:t>
            </a:r>
            <a:r>
              <a:rPr lang="en-US" sz="2400" dirty="0">
                <a:solidFill>
                  <a:srgbClr val="18324A"/>
                </a:solidFill>
              </a:rPr>
              <a:t>.</a:t>
            </a:r>
            <a:endParaRPr lang="en-US" sz="2400" dirty="0"/>
          </a:p>
        </p:txBody>
      </p:sp>
      <p:sp>
        <p:nvSpPr>
          <p:cNvPr id="9" name="Shape 9"/>
          <p:cNvSpPr/>
          <p:nvPr/>
        </p:nvSpPr>
        <p:spPr>
          <a:xfrm>
            <a:off x="548640" y="1261872"/>
            <a:ext cx="6400800" cy="3540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429002"/>
            <a:ext cx="6400800" cy="317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429002"/>
            <a:ext cx="82296" cy="3175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400800" cy="3540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x = 1;</a:t>
            </a:r>
            <a:endParaRPr lang="en-US" sz="2000" dirty="0"/>
          </a:p>
          <a:p>
            <a:pPr marL="0" indent="0" algn="l">
              <a:lnSpc>
                <a:spcPts val="2500"/>
              </a:lnSpc>
              <a:buNone/>
            </a:pPr>
            <a:r>
              <a:rPr lang="en-US" sz="2000" dirty="0">
                <a:solidFill>
                  <a:srgbClr val="64748B"/>
                </a:solidFill>
                <a:latin typeface="Consolas"/>
                <a:ea typeface="Consolas"/>
                <a:cs typeface="Consolas"/>
              </a:rPr>
              <a:t>int count = 0;</a:t>
            </a:r>
            <a:endParaRPr lang="en-US" sz="2000" dirty="0"/>
          </a:p>
          <a:p>
            <a:pPr marL="0" indent="0" algn="l">
              <a:lnSpc>
                <a:spcPts val="2500"/>
              </a:lnSpc>
              <a:buNone/>
            </a:pPr>
            <a:r>
              <a:rPr lang="en-US" sz="2000" dirty="0">
                <a:solidFill>
                  <a:srgbClr val="64748B"/>
                </a:solidFill>
                <a:latin typeface="Consolas"/>
                <a:ea typeface="Consolas"/>
                <a:cs typeface="Consolas"/>
              </a:rPr>
              <a:t>while (x &lt; 20) {</a:t>
            </a:r>
            <a:endParaRPr lang="en-US" sz="2000" dirty="0"/>
          </a:p>
          <a:p>
            <a:pPr marL="0" indent="0" algn="l">
              <a:lnSpc>
                <a:spcPts val="2500"/>
              </a:lnSpc>
              <a:buNone/>
            </a:pPr>
            <a:r>
              <a:rPr lang="en-US" sz="2000" dirty="0">
                <a:solidFill>
                  <a:srgbClr val="FFFFFF"/>
                </a:solidFill>
                <a:latin typeface="Consolas"/>
                <a:ea typeface="Consolas"/>
                <a:cs typeface="Consolas"/>
              </a:rPr>
              <a:t>    printf("%d ", x);</a:t>
            </a:r>
            <a:endParaRPr lang="en-US" sz="2000" dirty="0"/>
          </a:p>
          <a:p>
            <a:pPr marL="0" indent="0" algn="l">
              <a:lnSpc>
                <a:spcPts val="2500"/>
              </a:lnSpc>
              <a:buNone/>
            </a:pPr>
            <a:r>
              <a:rPr lang="en-US" sz="2000" dirty="0">
                <a:solidFill>
                  <a:srgbClr val="64748B"/>
                </a:solidFill>
                <a:latin typeface="Consolas"/>
                <a:ea typeface="Consolas"/>
                <a:cs typeface="Consolas"/>
              </a:rPr>
              <a:t>    if (x % 3 == 0) {</a:t>
            </a:r>
            <a:endParaRPr lang="en-US" sz="2000" dirty="0"/>
          </a:p>
          <a:p>
            <a:pPr marL="0" indent="0" algn="l">
              <a:lnSpc>
                <a:spcPts val="2500"/>
              </a:lnSpc>
              <a:buNone/>
            </a:pPr>
            <a:r>
              <a:rPr lang="en-US" sz="2000" dirty="0">
                <a:solidFill>
                  <a:srgbClr val="64748B"/>
                </a:solidFill>
                <a:latin typeface="Consolas"/>
                <a:ea typeface="Consolas"/>
                <a:cs typeface="Consolas"/>
              </a:rPr>
              <a:t>        count++;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    x = x * 2 + 1;</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printf("\nx = %d, count = %d\n", x, count);</a:t>
            </a:r>
            <a:endParaRPr lang="en-US" sz="2000" dirty="0"/>
          </a:p>
        </p:txBody>
      </p:sp>
      <p:sp>
        <p:nvSpPr>
          <p:cNvPr id="13" name="Shape 13"/>
          <p:cNvSpPr/>
          <p:nvPr/>
        </p:nvSpPr>
        <p:spPr>
          <a:xfrm>
            <a:off x="7223760" y="1261872"/>
            <a:ext cx="75451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endParaRPr lang="en-US" sz="1800" dirty="0"/>
          </a:p>
        </p:txBody>
      </p:sp>
      <p:sp>
        <p:nvSpPr>
          <p:cNvPr id="14" name="Shape 14"/>
          <p:cNvSpPr/>
          <p:nvPr/>
        </p:nvSpPr>
        <p:spPr>
          <a:xfrm>
            <a:off x="7978274" y="1261872"/>
            <a:ext cx="1401240"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 &lt; 20</a:t>
            </a:r>
            <a:r>
              <a:rPr lang="en-US" sz="1800" b="1" dirty="0">
                <a:solidFill>
                  <a:srgbClr val="FFFFFF"/>
                </a:solidFill>
              </a:rPr>
              <a:t>?</a:t>
            </a:r>
            <a:endParaRPr lang="en-US" sz="1800" dirty="0"/>
          </a:p>
        </p:txBody>
      </p:sp>
      <p:sp>
        <p:nvSpPr>
          <p:cNvPr id="15" name="Shape 15"/>
          <p:cNvSpPr/>
          <p:nvPr/>
        </p:nvSpPr>
        <p:spPr>
          <a:xfrm>
            <a:off x="9379514" y="1261872"/>
            <a:ext cx="1185665"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6" name="Shape 16"/>
          <p:cNvSpPr/>
          <p:nvPr/>
        </p:nvSpPr>
        <p:spPr>
          <a:xfrm>
            <a:off x="10565178" y="1261872"/>
            <a:ext cx="1077877"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count</a:t>
            </a:r>
            <a:endParaRPr lang="en-US" sz="1800" dirty="0"/>
          </a:p>
        </p:txBody>
      </p:sp>
      <p:sp>
        <p:nvSpPr>
          <p:cNvPr id="17" name="Shape 17"/>
          <p:cNvSpPr/>
          <p:nvPr/>
        </p:nvSpPr>
        <p:spPr>
          <a:xfrm>
            <a:off x="7223760" y="1920240"/>
            <a:ext cx="75451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7978274" y="1920240"/>
            <a:ext cx="1401240"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19" name="Shape 19"/>
          <p:cNvSpPr/>
          <p:nvPr/>
        </p:nvSpPr>
        <p:spPr>
          <a:xfrm>
            <a:off x="9379514" y="1920240"/>
            <a:ext cx="118566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1</a:t>
            </a:r>
            <a:endParaRPr lang="en-US" sz="2400" dirty="0"/>
          </a:p>
        </p:txBody>
      </p:sp>
      <p:sp>
        <p:nvSpPr>
          <p:cNvPr id="20" name="Shape 20"/>
          <p:cNvSpPr/>
          <p:nvPr/>
        </p:nvSpPr>
        <p:spPr>
          <a:xfrm>
            <a:off x="10565178" y="1920240"/>
            <a:ext cx="1077877"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21" name="Shape 21"/>
          <p:cNvSpPr/>
          <p:nvPr/>
        </p:nvSpPr>
        <p:spPr>
          <a:xfrm>
            <a:off x="7223760" y="2578608"/>
            <a:ext cx="75451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2" name="Shape 22"/>
          <p:cNvSpPr/>
          <p:nvPr/>
        </p:nvSpPr>
        <p:spPr>
          <a:xfrm>
            <a:off x="7978274" y="2578608"/>
            <a:ext cx="1401240"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23" name="Shape 23"/>
          <p:cNvSpPr/>
          <p:nvPr/>
        </p:nvSpPr>
        <p:spPr>
          <a:xfrm>
            <a:off x="9379514" y="2578608"/>
            <a:ext cx="1185665"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3</a:t>
            </a:r>
            <a:endParaRPr lang="en-US" sz="2400" dirty="0"/>
          </a:p>
        </p:txBody>
      </p:sp>
      <p:sp>
        <p:nvSpPr>
          <p:cNvPr id="24" name="Shape 24"/>
          <p:cNvSpPr/>
          <p:nvPr/>
        </p:nvSpPr>
        <p:spPr>
          <a:xfrm>
            <a:off x="10565178" y="2578608"/>
            <a:ext cx="1077877"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5" name="Shape 25"/>
          <p:cNvSpPr/>
          <p:nvPr/>
        </p:nvSpPr>
        <p:spPr>
          <a:xfrm>
            <a:off x="7223760" y="3236976"/>
            <a:ext cx="75451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7</a:t>
            </a:r>
            <a:endParaRPr lang="en-US" sz="2400" dirty="0"/>
          </a:p>
        </p:txBody>
      </p:sp>
      <p:sp>
        <p:nvSpPr>
          <p:cNvPr id="26" name="Shape 26"/>
          <p:cNvSpPr/>
          <p:nvPr/>
        </p:nvSpPr>
        <p:spPr>
          <a:xfrm>
            <a:off x="7978274" y="3236976"/>
            <a:ext cx="1401240"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27" name="Shape 27"/>
          <p:cNvSpPr/>
          <p:nvPr/>
        </p:nvSpPr>
        <p:spPr>
          <a:xfrm>
            <a:off x="9379514" y="3236976"/>
            <a:ext cx="118566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7</a:t>
            </a:r>
            <a:endParaRPr lang="en-US" sz="2400" dirty="0"/>
          </a:p>
        </p:txBody>
      </p:sp>
      <p:sp>
        <p:nvSpPr>
          <p:cNvPr id="28" name="Shape 28"/>
          <p:cNvSpPr/>
          <p:nvPr/>
        </p:nvSpPr>
        <p:spPr>
          <a:xfrm>
            <a:off x="10565178" y="3236976"/>
            <a:ext cx="1077877"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9" name="Shape 29"/>
          <p:cNvSpPr/>
          <p:nvPr/>
        </p:nvSpPr>
        <p:spPr>
          <a:xfrm>
            <a:off x="7223760" y="3895344"/>
            <a:ext cx="754514"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15</a:t>
            </a:r>
            <a:endParaRPr lang="en-US" sz="2400" dirty="0"/>
          </a:p>
        </p:txBody>
      </p:sp>
      <p:sp>
        <p:nvSpPr>
          <p:cNvPr id="30" name="Shape 30"/>
          <p:cNvSpPr/>
          <p:nvPr/>
        </p:nvSpPr>
        <p:spPr>
          <a:xfrm>
            <a:off x="7978274" y="3895344"/>
            <a:ext cx="1401240"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yes</a:t>
            </a:r>
            <a:endParaRPr lang="en-US" sz="2400" dirty="0"/>
          </a:p>
        </p:txBody>
      </p:sp>
      <p:sp>
        <p:nvSpPr>
          <p:cNvPr id="31" name="Shape 31"/>
          <p:cNvSpPr/>
          <p:nvPr/>
        </p:nvSpPr>
        <p:spPr>
          <a:xfrm>
            <a:off x="9379514" y="3895344"/>
            <a:ext cx="1185665"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latin typeface="Consolas"/>
                <a:ea typeface="Consolas"/>
                <a:cs typeface="Consolas"/>
              </a:rPr>
              <a:t>15</a:t>
            </a:r>
            <a:endParaRPr lang="en-US" sz="2400" dirty="0"/>
          </a:p>
        </p:txBody>
      </p:sp>
      <p:sp>
        <p:nvSpPr>
          <p:cNvPr id="32" name="Shape 32"/>
          <p:cNvSpPr/>
          <p:nvPr/>
        </p:nvSpPr>
        <p:spPr>
          <a:xfrm>
            <a:off x="10565178" y="3895344"/>
            <a:ext cx="1077877" cy="6583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33" name="Shape 33"/>
          <p:cNvSpPr/>
          <p:nvPr/>
        </p:nvSpPr>
        <p:spPr>
          <a:xfrm>
            <a:off x="7223760" y="4553712"/>
            <a:ext cx="754514"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4" name="Shape 34"/>
          <p:cNvSpPr/>
          <p:nvPr/>
        </p:nvSpPr>
        <p:spPr>
          <a:xfrm>
            <a:off x="7978274" y="4553712"/>
            <a:ext cx="1401240"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5" name="Shape 35"/>
          <p:cNvSpPr/>
          <p:nvPr/>
        </p:nvSpPr>
        <p:spPr>
          <a:xfrm>
            <a:off x="9379514" y="4553712"/>
            <a:ext cx="1185665" cy="658368"/>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6" name="Shape 36"/>
          <p:cNvSpPr/>
          <p:nvPr/>
        </p:nvSpPr>
        <p:spPr>
          <a:xfrm>
            <a:off x="10565178" y="4553712"/>
            <a:ext cx="1077877" cy="658368"/>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loop stops on the first no</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x</a:t>
            </a:r>
            <a:r>
              <a:rPr lang="en-US" sz="2400" dirty="0">
                <a:solidFill>
                  <a:srgbClr val="18324A"/>
                </a:solidFill>
              </a:rPr>
              <a:t> is now 31. </a:t>
            </a:r>
            <a:r>
              <a:rPr lang="en-US" sz="2400" dirty="0">
                <a:solidFill>
                  <a:srgbClr val="18324A"/>
                </a:solidFill>
                <a:latin typeface="Consolas"/>
                <a:ea typeface="Consolas"/>
                <a:cs typeface="Consolas"/>
              </a:rPr>
              <a:t>31 &lt; 20</a:t>
            </a:r>
            <a:r>
              <a:rPr lang="en-US" sz="2400" dirty="0">
                <a:solidFill>
                  <a:srgbClr val="18324A"/>
                </a:solidFill>
              </a:rPr>
              <a:t> is false, so 31 is </a:t>
            </a:r>
            <a:r>
              <a:rPr lang="en-US" sz="2400" b="1" dirty="0">
                <a:solidFill>
                  <a:srgbClr val="18324A"/>
                </a:solidFill>
              </a:rPr>
              <a:t>never printed</a:t>
            </a:r>
            <a:r>
              <a:rPr lang="en-US" sz="2400" dirty="0">
                <a:solidFill>
                  <a:srgbClr val="18324A"/>
                </a:solidFill>
              </a:rPr>
              <a:t>. But </a:t>
            </a:r>
            <a:r>
              <a:rPr lang="en-US" sz="2400" dirty="0">
                <a:solidFill>
                  <a:srgbClr val="18324A"/>
                </a:solidFill>
                <a:latin typeface="Consolas"/>
                <a:ea typeface="Consolas"/>
                <a:cs typeface="Consolas"/>
              </a:rPr>
              <a:t>x</a:t>
            </a:r>
            <a:r>
              <a:rPr lang="en-US" sz="2400" dirty="0">
                <a:solidFill>
                  <a:srgbClr val="18324A"/>
                </a:solidFill>
              </a:rPr>
              <a:t> keeps it.</a:t>
            </a:r>
            <a:endParaRPr lang="en-US" sz="2400" dirty="0"/>
          </a:p>
        </p:txBody>
      </p:sp>
      <p:sp>
        <p:nvSpPr>
          <p:cNvPr id="9" name="Shape 9"/>
          <p:cNvSpPr/>
          <p:nvPr/>
        </p:nvSpPr>
        <p:spPr>
          <a:xfrm>
            <a:off x="548640" y="1261872"/>
            <a:ext cx="6400800" cy="3540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111502"/>
            <a:ext cx="6400800" cy="317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111502"/>
            <a:ext cx="82296" cy="3175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400800" cy="3540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x = 1;</a:t>
            </a:r>
            <a:endParaRPr lang="en-US" sz="2000" dirty="0"/>
          </a:p>
          <a:p>
            <a:pPr marL="0" indent="0" algn="l">
              <a:lnSpc>
                <a:spcPts val="2500"/>
              </a:lnSpc>
              <a:buNone/>
            </a:pPr>
            <a:r>
              <a:rPr lang="en-US" sz="2000" dirty="0">
                <a:solidFill>
                  <a:srgbClr val="64748B"/>
                </a:solidFill>
                <a:latin typeface="Consolas"/>
                <a:ea typeface="Consolas"/>
                <a:cs typeface="Consolas"/>
              </a:rPr>
              <a:t>int count = 0;</a:t>
            </a:r>
            <a:endParaRPr lang="en-US" sz="2000" dirty="0"/>
          </a:p>
          <a:p>
            <a:pPr marL="0" indent="0" algn="l">
              <a:lnSpc>
                <a:spcPts val="2500"/>
              </a:lnSpc>
              <a:buNone/>
            </a:pPr>
            <a:r>
              <a:rPr lang="en-US" sz="2000" dirty="0">
                <a:solidFill>
                  <a:srgbClr val="FFFFFF"/>
                </a:solidFill>
                <a:latin typeface="Consolas"/>
                <a:ea typeface="Consolas"/>
                <a:cs typeface="Consolas"/>
              </a:rPr>
              <a:t>while (x &lt; 20) {</a:t>
            </a:r>
            <a:endParaRPr lang="en-US" sz="2000" dirty="0"/>
          </a:p>
          <a:p>
            <a:pPr marL="0" indent="0" algn="l">
              <a:lnSpc>
                <a:spcPts val="2500"/>
              </a:lnSpc>
              <a:buNone/>
            </a:pPr>
            <a:r>
              <a:rPr lang="en-US" sz="2000" dirty="0">
                <a:solidFill>
                  <a:srgbClr val="64748B"/>
                </a:solidFill>
                <a:latin typeface="Consolas"/>
                <a:ea typeface="Consolas"/>
                <a:cs typeface="Consolas"/>
              </a:rPr>
              <a:t>    printf("%d ", x);</a:t>
            </a:r>
            <a:endParaRPr lang="en-US" sz="2000" dirty="0"/>
          </a:p>
          <a:p>
            <a:pPr marL="0" indent="0" algn="l">
              <a:lnSpc>
                <a:spcPts val="2500"/>
              </a:lnSpc>
              <a:buNone/>
            </a:pPr>
            <a:r>
              <a:rPr lang="en-US" sz="2000" dirty="0">
                <a:solidFill>
                  <a:srgbClr val="64748B"/>
                </a:solidFill>
                <a:latin typeface="Consolas"/>
                <a:ea typeface="Consolas"/>
                <a:cs typeface="Consolas"/>
              </a:rPr>
              <a:t>    if (x % 3 == 0) {</a:t>
            </a:r>
            <a:endParaRPr lang="en-US" sz="2000" dirty="0"/>
          </a:p>
          <a:p>
            <a:pPr marL="0" indent="0" algn="l">
              <a:lnSpc>
                <a:spcPts val="2500"/>
              </a:lnSpc>
              <a:buNone/>
            </a:pPr>
            <a:r>
              <a:rPr lang="en-US" sz="2000" dirty="0">
                <a:solidFill>
                  <a:srgbClr val="64748B"/>
                </a:solidFill>
                <a:latin typeface="Consolas"/>
                <a:ea typeface="Consolas"/>
                <a:cs typeface="Consolas"/>
              </a:rPr>
              <a:t>        count++;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    x = x * 2 + 1;</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printf("\nx = %d, count = %d\n", x, count);</a:t>
            </a:r>
            <a:endParaRPr lang="en-US" sz="2000" dirty="0"/>
          </a:p>
        </p:txBody>
      </p:sp>
      <p:sp>
        <p:nvSpPr>
          <p:cNvPr id="13" name="Shape 13"/>
          <p:cNvSpPr/>
          <p:nvPr/>
        </p:nvSpPr>
        <p:spPr>
          <a:xfrm>
            <a:off x="7223760" y="1261872"/>
            <a:ext cx="754514"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a:t>
            </a:r>
            <a:endParaRPr lang="en-US" sz="1800" dirty="0"/>
          </a:p>
        </p:txBody>
      </p:sp>
      <p:sp>
        <p:nvSpPr>
          <p:cNvPr id="14" name="Shape 14"/>
          <p:cNvSpPr/>
          <p:nvPr/>
        </p:nvSpPr>
        <p:spPr>
          <a:xfrm>
            <a:off x="7978274" y="1261872"/>
            <a:ext cx="1401240"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x &lt; 20</a:t>
            </a:r>
            <a:r>
              <a:rPr lang="en-US" sz="1800" b="1" dirty="0">
                <a:solidFill>
                  <a:srgbClr val="FFFFFF"/>
                </a:solidFill>
              </a:rPr>
              <a:t>?</a:t>
            </a:r>
            <a:endParaRPr lang="en-US" sz="1800" dirty="0"/>
          </a:p>
        </p:txBody>
      </p:sp>
      <p:sp>
        <p:nvSpPr>
          <p:cNvPr id="15" name="Shape 15"/>
          <p:cNvSpPr/>
          <p:nvPr/>
        </p:nvSpPr>
        <p:spPr>
          <a:xfrm>
            <a:off x="9379514" y="1261872"/>
            <a:ext cx="1185665"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6" name="Shape 16"/>
          <p:cNvSpPr/>
          <p:nvPr/>
        </p:nvSpPr>
        <p:spPr>
          <a:xfrm>
            <a:off x="10565178" y="1261872"/>
            <a:ext cx="1077877" cy="6202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count</a:t>
            </a:r>
            <a:endParaRPr lang="en-US" sz="1800" dirty="0"/>
          </a:p>
        </p:txBody>
      </p:sp>
      <p:sp>
        <p:nvSpPr>
          <p:cNvPr id="17" name="Shape 17"/>
          <p:cNvSpPr/>
          <p:nvPr/>
        </p:nvSpPr>
        <p:spPr>
          <a:xfrm>
            <a:off x="7223760" y="1882140"/>
            <a:ext cx="754514"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18" name="Shape 18"/>
          <p:cNvSpPr/>
          <p:nvPr/>
        </p:nvSpPr>
        <p:spPr>
          <a:xfrm>
            <a:off x="7978274" y="1882140"/>
            <a:ext cx="1401240"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19" name="Shape 19"/>
          <p:cNvSpPr/>
          <p:nvPr/>
        </p:nvSpPr>
        <p:spPr>
          <a:xfrm>
            <a:off x="9379514" y="1882140"/>
            <a:ext cx="1185665"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1</a:t>
            </a:r>
            <a:endParaRPr lang="en-US" sz="2400" dirty="0"/>
          </a:p>
        </p:txBody>
      </p:sp>
      <p:sp>
        <p:nvSpPr>
          <p:cNvPr id="20" name="Shape 20"/>
          <p:cNvSpPr/>
          <p:nvPr/>
        </p:nvSpPr>
        <p:spPr>
          <a:xfrm>
            <a:off x="10565178" y="1882140"/>
            <a:ext cx="1077877"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21" name="Shape 21"/>
          <p:cNvSpPr/>
          <p:nvPr/>
        </p:nvSpPr>
        <p:spPr>
          <a:xfrm>
            <a:off x="7223760" y="2502408"/>
            <a:ext cx="754514"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2" name="Shape 22"/>
          <p:cNvSpPr/>
          <p:nvPr/>
        </p:nvSpPr>
        <p:spPr>
          <a:xfrm>
            <a:off x="7978274" y="2502408"/>
            <a:ext cx="1401240"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23" name="Shape 23"/>
          <p:cNvSpPr/>
          <p:nvPr/>
        </p:nvSpPr>
        <p:spPr>
          <a:xfrm>
            <a:off x="9379514" y="2502408"/>
            <a:ext cx="1185665"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3</a:t>
            </a:r>
            <a:endParaRPr lang="en-US" sz="2400" dirty="0"/>
          </a:p>
        </p:txBody>
      </p:sp>
      <p:sp>
        <p:nvSpPr>
          <p:cNvPr id="24" name="Shape 24"/>
          <p:cNvSpPr/>
          <p:nvPr/>
        </p:nvSpPr>
        <p:spPr>
          <a:xfrm>
            <a:off x="10565178" y="2502408"/>
            <a:ext cx="1077877"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5" name="Shape 25"/>
          <p:cNvSpPr/>
          <p:nvPr/>
        </p:nvSpPr>
        <p:spPr>
          <a:xfrm>
            <a:off x="7223760" y="3122676"/>
            <a:ext cx="754514"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7</a:t>
            </a:r>
            <a:endParaRPr lang="en-US" sz="2400" dirty="0"/>
          </a:p>
        </p:txBody>
      </p:sp>
      <p:sp>
        <p:nvSpPr>
          <p:cNvPr id="26" name="Shape 26"/>
          <p:cNvSpPr/>
          <p:nvPr/>
        </p:nvSpPr>
        <p:spPr>
          <a:xfrm>
            <a:off x="7978274" y="3122676"/>
            <a:ext cx="1401240"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27" name="Shape 27"/>
          <p:cNvSpPr/>
          <p:nvPr/>
        </p:nvSpPr>
        <p:spPr>
          <a:xfrm>
            <a:off x="9379514" y="3122676"/>
            <a:ext cx="1185665"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7</a:t>
            </a:r>
            <a:endParaRPr lang="en-US" sz="2400" dirty="0"/>
          </a:p>
        </p:txBody>
      </p:sp>
      <p:sp>
        <p:nvSpPr>
          <p:cNvPr id="28" name="Shape 28"/>
          <p:cNvSpPr/>
          <p:nvPr/>
        </p:nvSpPr>
        <p:spPr>
          <a:xfrm>
            <a:off x="10565178" y="3122676"/>
            <a:ext cx="1077877" cy="6202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9" name="Shape 29"/>
          <p:cNvSpPr/>
          <p:nvPr/>
        </p:nvSpPr>
        <p:spPr>
          <a:xfrm>
            <a:off x="7223760" y="3742944"/>
            <a:ext cx="754514"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15</a:t>
            </a:r>
            <a:endParaRPr lang="en-US" sz="2400" dirty="0"/>
          </a:p>
        </p:txBody>
      </p:sp>
      <p:sp>
        <p:nvSpPr>
          <p:cNvPr id="30" name="Shape 30"/>
          <p:cNvSpPr/>
          <p:nvPr/>
        </p:nvSpPr>
        <p:spPr>
          <a:xfrm>
            <a:off x="7978274" y="3742944"/>
            <a:ext cx="1401240"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yes</a:t>
            </a:r>
            <a:endParaRPr lang="en-US" sz="2400" dirty="0"/>
          </a:p>
        </p:txBody>
      </p:sp>
      <p:sp>
        <p:nvSpPr>
          <p:cNvPr id="31" name="Shape 31"/>
          <p:cNvSpPr/>
          <p:nvPr/>
        </p:nvSpPr>
        <p:spPr>
          <a:xfrm>
            <a:off x="9379514" y="3742944"/>
            <a:ext cx="1185665"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15</a:t>
            </a:r>
            <a:endParaRPr lang="en-US" sz="2400" dirty="0"/>
          </a:p>
        </p:txBody>
      </p:sp>
      <p:sp>
        <p:nvSpPr>
          <p:cNvPr id="32" name="Shape 32"/>
          <p:cNvSpPr/>
          <p:nvPr/>
        </p:nvSpPr>
        <p:spPr>
          <a:xfrm>
            <a:off x="10565178" y="3742944"/>
            <a:ext cx="1077877" cy="6202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33" name="Shape 33"/>
          <p:cNvSpPr/>
          <p:nvPr/>
        </p:nvSpPr>
        <p:spPr>
          <a:xfrm>
            <a:off x="7223760" y="4363212"/>
            <a:ext cx="754514"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31</a:t>
            </a:r>
            <a:endParaRPr lang="en-US" sz="2400" dirty="0"/>
          </a:p>
        </p:txBody>
      </p:sp>
      <p:sp>
        <p:nvSpPr>
          <p:cNvPr id="34" name="Shape 34"/>
          <p:cNvSpPr/>
          <p:nvPr/>
        </p:nvSpPr>
        <p:spPr>
          <a:xfrm>
            <a:off x="7978274" y="4363212"/>
            <a:ext cx="1401240"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no</a:t>
            </a:r>
            <a:endParaRPr lang="en-US" sz="2400" dirty="0"/>
          </a:p>
        </p:txBody>
      </p:sp>
      <p:sp>
        <p:nvSpPr>
          <p:cNvPr id="35" name="Shape 35"/>
          <p:cNvSpPr/>
          <p:nvPr/>
        </p:nvSpPr>
        <p:spPr>
          <a:xfrm>
            <a:off x="9379514" y="4363212"/>
            <a:ext cx="1185665"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nothing</a:t>
            </a:r>
            <a:endParaRPr lang="en-US" sz="2400" dirty="0"/>
          </a:p>
        </p:txBody>
      </p:sp>
      <p:sp>
        <p:nvSpPr>
          <p:cNvPr id="36" name="Shape 36"/>
          <p:cNvSpPr/>
          <p:nvPr/>
        </p:nvSpPr>
        <p:spPr>
          <a:xfrm>
            <a:off x="10565178" y="4363212"/>
            <a:ext cx="1077877" cy="62026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So the two lines are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F59E0B"/>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Line 2 cost marks on more papers than any other line of the quiz.</a:t>
            </a:r>
            <a:endParaRPr lang="en-US" sz="2400" dirty="0"/>
          </a:p>
        </p:txBody>
      </p:sp>
      <p:sp>
        <p:nvSpPr>
          <p:cNvPr id="9" name="Shape 9"/>
          <p:cNvSpPr/>
          <p:nvPr/>
        </p:nvSpPr>
        <p:spPr>
          <a:xfrm>
            <a:off x="548640" y="1261872"/>
            <a:ext cx="6400800" cy="3540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4334002"/>
            <a:ext cx="6400800" cy="317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4334002"/>
            <a:ext cx="82296" cy="3175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400800" cy="3540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x = 1;</a:t>
            </a:r>
            <a:endParaRPr lang="en-US" sz="2000" dirty="0"/>
          </a:p>
          <a:p>
            <a:pPr marL="0" indent="0" algn="l">
              <a:lnSpc>
                <a:spcPts val="2500"/>
              </a:lnSpc>
              <a:buNone/>
            </a:pPr>
            <a:r>
              <a:rPr lang="en-US" sz="2000" dirty="0">
                <a:solidFill>
                  <a:srgbClr val="64748B"/>
                </a:solidFill>
                <a:latin typeface="Consolas"/>
                <a:ea typeface="Consolas"/>
                <a:cs typeface="Consolas"/>
              </a:rPr>
              <a:t>int count = 0;</a:t>
            </a:r>
            <a:endParaRPr lang="en-US" sz="2000" dirty="0"/>
          </a:p>
          <a:p>
            <a:pPr marL="0" indent="0" algn="l">
              <a:lnSpc>
                <a:spcPts val="2500"/>
              </a:lnSpc>
              <a:buNone/>
            </a:pPr>
            <a:r>
              <a:rPr lang="en-US" sz="2000" dirty="0">
                <a:solidFill>
                  <a:srgbClr val="64748B"/>
                </a:solidFill>
                <a:latin typeface="Consolas"/>
                <a:ea typeface="Consolas"/>
                <a:cs typeface="Consolas"/>
              </a:rPr>
              <a:t>while (x &lt; 20) {</a:t>
            </a:r>
            <a:endParaRPr lang="en-US" sz="2000" dirty="0"/>
          </a:p>
          <a:p>
            <a:pPr marL="0" indent="0" algn="l">
              <a:lnSpc>
                <a:spcPts val="2500"/>
              </a:lnSpc>
              <a:buNone/>
            </a:pPr>
            <a:r>
              <a:rPr lang="en-US" sz="2000" dirty="0">
                <a:solidFill>
                  <a:srgbClr val="64748B"/>
                </a:solidFill>
                <a:latin typeface="Consolas"/>
                <a:ea typeface="Consolas"/>
                <a:cs typeface="Consolas"/>
              </a:rPr>
              <a:t>    printf("%d ", x);</a:t>
            </a:r>
            <a:endParaRPr lang="en-US" sz="2000" dirty="0"/>
          </a:p>
          <a:p>
            <a:pPr marL="0" indent="0" algn="l">
              <a:lnSpc>
                <a:spcPts val="2500"/>
              </a:lnSpc>
              <a:buNone/>
            </a:pPr>
            <a:r>
              <a:rPr lang="en-US" sz="2000" dirty="0">
                <a:solidFill>
                  <a:srgbClr val="64748B"/>
                </a:solidFill>
                <a:latin typeface="Consolas"/>
                <a:ea typeface="Consolas"/>
                <a:cs typeface="Consolas"/>
              </a:rPr>
              <a:t>    if (x % 3 == 0) {</a:t>
            </a:r>
            <a:endParaRPr lang="en-US" sz="2000" dirty="0"/>
          </a:p>
          <a:p>
            <a:pPr marL="0" indent="0" algn="l">
              <a:lnSpc>
                <a:spcPts val="2500"/>
              </a:lnSpc>
              <a:buNone/>
            </a:pPr>
            <a:r>
              <a:rPr lang="en-US" sz="2000" dirty="0">
                <a:solidFill>
                  <a:srgbClr val="64748B"/>
                </a:solidFill>
                <a:latin typeface="Consolas"/>
                <a:ea typeface="Consolas"/>
                <a:cs typeface="Consolas"/>
              </a:rPr>
              <a:t>        count++;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    x = x * 2 + 1;</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FFFFFF"/>
                </a:solidFill>
                <a:latin typeface="Consolas"/>
                <a:ea typeface="Consolas"/>
                <a:cs typeface="Consolas"/>
              </a:rPr>
              <a:t>printf("\nx = %d, count = %d\n", x, count);</a:t>
            </a:r>
            <a:endParaRPr lang="en-US" sz="2000" dirty="0"/>
          </a:p>
        </p:txBody>
      </p:sp>
      <p:sp>
        <p:nvSpPr>
          <p:cNvPr id="13" name="Shape 13"/>
          <p:cNvSpPr/>
          <p:nvPr/>
        </p:nvSpPr>
        <p:spPr>
          <a:xfrm>
            <a:off x="7223760" y="1261872"/>
            <a:ext cx="441929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4" name="Shape 14"/>
          <p:cNvSpPr/>
          <p:nvPr/>
        </p:nvSpPr>
        <p:spPr>
          <a:xfrm>
            <a:off x="7223760" y="1645920"/>
            <a:ext cx="4419295" cy="1127760"/>
          </a:xfrm>
          <a:prstGeom prst="rect">
            <a:avLst/>
          </a:prstGeom>
          <a:solidFill>
            <a:srgbClr val="000000"/>
          </a:solidFill>
          <a:ln>
            <a:noFill/>
          </a:ln>
        </p:spPr>
        <p:txBody>
          <a:bodyPr wrap="square" lIns="0" tIns="0" rIns="0" bIns="0" rtlCol="0" anchor="t"/>
          <a:lstStyle/>
          <a:p>
            <a:endParaRPr lang="en-US"/>
          </a:p>
        </p:txBody>
      </p:sp>
      <p:sp>
        <p:nvSpPr>
          <p:cNvPr id="15" name="Code"/>
          <p:cNvSpPr/>
          <p:nvPr/>
        </p:nvSpPr>
        <p:spPr>
          <a:xfrm>
            <a:off x="7223760" y="1645920"/>
            <a:ext cx="441929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1 3 7 15</a:t>
            </a:r>
            <a:endParaRPr lang="en-US" sz="2400" dirty="0"/>
          </a:p>
          <a:p>
            <a:pPr marL="0" indent="0" algn="l">
              <a:lnSpc>
                <a:spcPts val="3000"/>
              </a:lnSpc>
              <a:buNone/>
            </a:pPr>
            <a:r>
              <a:rPr lang="en-US" sz="2400" dirty="0">
                <a:solidFill>
                  <a:srgbClr val="D1FAE5"/>
                </a:solidFill>
                <a:latin typeface="Consolas"/>
                <a:ea typeface="Consolas"/>
                <a:cs typeface="Consolas"/>
              </a:rPr>
              <a:t>x = 31, count = 2</a:t>
            </a:r>
            <a:endParaRPr lang="en-US" sz="2400" dirty="0"/>
          </a:p>
        </p:txBody>
      </p:sp>
      <p:sp>
        <p:nvSpPr>
          <p:cNvPr id="16" name="Shape 16"/>
          <p:cNvSpPr/>
          <p:nvPr/>
        </p:nvSpPr>
        <p:spPr>
          <a:xfrm>
            <a:off x="7223760" y="3048000"/>
            <a:ext cx="441929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7" name="Shape 17"/>
          <p:cNvSpPr/>
          <p:nvPr/>
        </p:nvSpPr>
        <p:spPr>
          <a:xfrm>
            <a:off x="7223760" y="3048000"/>
            <a:ext cx="109728" cy="1051560"/>
          </a:xfrm>
          <a:prstGeom prst="rect">
            <a:avLst/>
          </a:prstGeom>
          <a:solidFill>
            <a:srgbClr val="FF6B6B"/>
          </a:solidFill>
          <a:ln>
            <a:noFill/>
          </a:ln>
        </p:spPr>
        <p:txBody>
          <a:bodyPr wrap="square" lIns="0" tIns="0" rIns="0" bIns="0" rtlCol="0" anchor="t"/>
          <a:lstStyle/>
          <a:p>
            <a:endParaRPr lang="en-US"/>
          </a:p>
        </p:txBody>
      </p:sp>
      <p:sp>
        <p:nvSpPr>
          <p:cNvPr id="18" name="Callout"/>
          <p:cNvSpPr/>
          <p:nvPr/>
        </p:nvSpPr>
        <p:spPr>
          <a:xfrm>
            <a:off x="7333488" y="3048000"/>
            <a:ext cx="430956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x</a:t>
            </a:r>
            <a:r>
              <a:rPr lang="en-US" sz="2400" dirty="0">
                <a:solidFill>
                  <a:srgbClr val="18324A"/>
                </a:solidFill>
              </a:rPr>
              <a:t> keeps the value that </a:t>
            </a:r>
            <a:r>
              <a:rPr lang="en-US" sz="2400" b="1" dirty="0">
                <a:solidFill>
                  <a:srgbClr val="18324A"/>
                </a:solidFill>
              </a:rPr>
              <a:t>failed</a:t>
            </a:r>
            <a:r>
              <a:rPr lang="en-US" sz="2400" dirty="0">
                <a:solidFill>
                  <a:srgbClr val="18324A"/>
                </a:solidFill>
              </a:rPr>
              <a:t>.</a:t>
            </a:r>
            <a:endParaRPr lang="en-US" sz="2400" dirty="0"/>
          </a:p>
        </p:txBody>
      </p:sp>
      <p:sp>
        <p:nvSpPr>
          <p:cNvPr id="19" name="Shape 19"/>
          <p:cNvSpPr/>
          <p:nvPr/>
        </p:nvSpPr>
        <p:spPr>
          <a:xfrm>
            <a:off x="7223760" y="4300728"/>
            <a:ext cx="441929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20" name="Shape 20"/>
          <p:cNvSpPr/>
          <p:nvPr/>
        </p:nvSpPr>
        <p:spPr>
          <a:xfrm>
            <a:off x="7223760" y="4300728"/>
            <a:ext cx="109728" cy="1051560"/>
          </a:xfrm>
          <a:prstGeom prst="rect">
            <a:avLst/>
          </a:prstGeom>
          <a:solidFill>
            <a:srgbClr val="F59E0B"/>
          </a:solidFill>
          <a:ln>
            <a:noFill/>
          </a:ln>
        </p:spPr>
        <p:txBody>
          <a:bodyPr wrap="square" lIns="0" tIns="0" rIns="0" bIns="0" rtlCol="0" anchor="t"/>
          <a:lstStyle/>
          <a:p>
            <a:endParaRPr lang="en-US"/>
          </a:p>
        </p:txBody>
      </p:sp>
      <p:sp>
        <p:nvSpPr>
          <p:cNvPr id="21" name="Callout"/>
          <p:cNvSpPr/>
          <p:nvPr/>
        </p:nvSpPr>
        <p:spPr>
          <a:xfrm>
            <a:off x="7333488" y="4300728"/>
            <a:ext cx="430956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Write the whole line, words too.</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Mistake 2: the counting program</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a:t>
            </a:r>
            <a:endParaRPr lang="en-US" sz="1400" dirty="0"/>
          </a:p>
        </p:txBody>
      </p:sp>
      <p:sp>
        <p:nvSpPr>
          <p:cNvPr id="6" name="Shape 6"/>
          <p:cNvSpPr/>
          <p:nvPr/>
        </p:nvSpPr>
        <p:spPr>
          <a:xfrm>
            <a:off x="548640" y="1261872"/>
            <a:ext cx="6766560" cy="4937760"/>
          </a:xfrm>
          <a:prstGeom prst="rect">
            <a:avLst/>
          </a:prstGeom>
          <a:solidFill>
            <a:srgbClr val="0F172A"/>
          </a:solidFill>
          <a:ln>
            <a:noFill/>
          </a:ln>
        </p:spPr>
        <p:txBody>
          <a:bodyPr wrap="square" lIns="0" tIns="0" rIns="0" bIns="0" rtlCol="0" anchor="t"/>
          <a:lstStyle/>
          <a:p>
            <a:endParaRPr lang="en-US"/>
          </a:p>
        </p:txBody>
      </p:sp>
      <p:sp>
        <p:nvSpPr>
          <p:cNvPr id="7" name="Code"/>
          <p:cNvSpPr/>
          <p:nvPr/>
        </p:nvSpPr>
        <p:spPr>
          <a:xfrm>
            <a:off x="548640" y="1261872"/>
            <a:ext cx="676656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E5E7EB"/>
                </a:solidFill>
                <a:latin typeface="Consolas"/>
                <a:ea typeface="Consolas"/>
                <a:cs typeface="Consolas"/>
              </a:rPr>
              <a:t>int n, value;</a:t>
            </a:r>
            <a:endParaRPr lang="en-US" sz="2400" dirty="0"/>
          </a:p>
          <a:p>
            <a:pPr marL="0" indent="0" algn="l">
              <a:lnSpc>
                <a:spcPts val="3000"/>
              </a:lnSpc>
              <a:buNone/>
            </a:pPr>
            <a:r>
              <a:rPr lang="en-US" sz="2400" dirty="0">
                <a:solidFill>
                  <a:srgbClr val="E5E7EB"/>
                </a:solidFill>
                <a:latin typeface="Consolas"/>
                <a:ea typeface="Consolas"/>
                <a:cs typeface="Consolas"/>
              </a:rPr>
              <a:t>int count = 0;</a:t>
            </a:r>
            <a:endParaRPr lang="en-US" sz="2400" dirty="0"/>
          </a:p>
          <a:p>
            <a:pPr marL="0" indent="0" algn="l">
              <a:lnSpc>
                <a:spcPts val="3000"/>
              </a:lnSpc>
              <a:buNone/>
            </a:pPr>
            <a:r>
              <a:rPr lang="en-US" sz="2400" dirty="0">
                <a:solidFill>
                  <a:srgbClr val="E5E7EB"/>
                </a:solidFill>
                <a:latin typeface="Consolas"/>
                <a:ea typeface="Consolas"/>
                <a:cs typeface="Consolas"/>
              </a:rPr>
              <a:t>printf("How many numbers? ");</a:t>
            </a:r>
            <a:endParaRPr lang="en-US" sz="2400" dirty="0"/>
          </a:p>
          <a:p>
            <a:pPr marL="0" indent="0" algn="l">
              <a:lnSpc>
                <a:spcPts val="3000"/>
              </a:lnSpc>
              <a:buNone/>
            </a:pPr>
            <a:r>
              <a:rPr lang="en-US" sz="2400" dirty="0">
                <a:solidFill>
                  <a:srgbClr val="E5E7EB"/>
                </a:solidFill>
                <a:latin typeface="Consolas"/>
                <a:ea typeface="Consolas"/>
                <a:cs typeface="Consolas"/>
              </a:rPr>
              <a:t>scanf("%d", &amp;n);</a:t>
            </a:r>
            <a:endParaRPr lang="en-US" sz="2400" dirty="0"/>
          </a:p>
          <a:p>
            <a:pPr marL="0" indent="0" algn="l">
              <a:lnSpc>
                <a:spcPts val="3000"/>
              </a:lnSpc>
              <a:buNone/>
            </a:pPr>
            <a:r>
              <a:rPr lang="en-US" sz="2400" dirty="0">
                <a:solidFill>
                  <a:srgbClr val="E5E7EB"/>
                </a:solidFill>
                <a:latin typeface="Consolas"/>
                <a:ea typeface="Consolas"/>
                <a:cs typeface="Consolas"/>
              </a:rPr>
              <a:t>for (int i = 1; i &lt;= n; i++) {</a:t>
            </a:r>
            <a:endParaRPr lang="en-US" sz="2400" dirty="0"/>
          </a:p>
          <a:p>
            <a:pPr marL="0" indent="0" algn="l">
              <a:lnSpc>
                <a:spcPts val="3000"/>
              </a:lnSpc>
              <a:buNone/>
            </a:pPr>
            <a:r>
              <a:rPr lang="en-US" sz="2400" dirty="0">
                <a:solidFill>
                  <a:srgbClr val="E5E7EB"/>
                </a:solidFill>
                <a:latin typeface="Consolas"/>
                <a:ea typeface="Consolas"/>
                <a:cs typeface="Consolas"/>
              </a:rPr>
              <a:t>    printf("Number: ");</a:t>
            </a:r>
            <a:endParaRPr lang="en-US" sz="2400" dirty="0"/>
          </a:p>
          <a:p>
            <a:pPr marL="0" indent="0" algn="l">
              <a:lnSpc>
                <a:spcPts val="3000"/>
              </a:lnSpc>
              <a:buNone/>
            </a:pPr>
            <a:r>
              <a:rPr lang="en-US" sz="2400" dirty="0">
                <a:solidFill>
                  <a:srgbClr val="E5E7EB"/>
                </a:solidFill>
                <a:latin typeface="Consolas"/>
                <a:ea typeface="Consolas"/>
                <a:cs typeface="Consolas"/>
              </a:rPr>
              <a:t>    scanf("%d", &amp;value);</a:t>
            </a:r>
            <a:endParaRPr lang="en-US" sz="2400" dirty="0"/>
          </a:p>
          <a:p>
            <a:pPr marL="0" indent="0" algn="l">
              <a:lnSpc>
                <a:spcPts val="3000"/>
              </a:lnSpc>
              <a:buNone/>
            </a:pPr>
            <a:r>
              <a:rPr lang="en-US" sz="2400" dirty="0">
                <a:solidFill>
                  <a:srgbClr val="E5E7EB"/>
                </a:solidFill>
                <a:latin typeface="Consolas"/>
                <a:ea typeface="Consolas"/>
                <a:cs typeface="Consolas"/>
              </a:rPr>
              <a:t>    if (value % 2 == 0) {</a:t>
            </a:r>
            <a:endParaRPr lang="en-US" sz="2400" dirty="0"/>
          </a:p>
          <a:p>
            <a:pPr marL="0" indent="0" algn="l">
              <a:lnSpc>
                <a:spcPts val="3000"/>
              </a:lnSpc>
              <a:buNone/>
            </a:pPr>
            <a:r>
              <a:rPr lang="en-US" sz="2400" dirty="0">
                <a:solidFill>
                  <a:srgbClr val="E5E7EB"/>
                </a:solidFill>
                <a:latin typeface="Consolas"/>
                <a:ea typeface="Consolas"/>
                <a:cs typeface="Consolas"/>
              </a:rPr>
              <a:t>        count++;</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a:t>
            </a:r>
            <a:endParaRPr lang="en-US" sz="2400" dirty="0"/>
          </a:p>
          <a:p>
            <a:pPr marL="0" indent="0" algn="l">
              <a:lnSpc>
                <a:spcPts val="3000"/>
              </a:lnSpc>
              <a:buNone/>
            </a:pPr>
            <a:r>
              <a:rPr lang="en-US" sz="2400" dirty="0">
                <a:solidFill>
                  <a:srgbClr val="E5E7EB"/>
                </a:solidFill>
                <a:latin typeface="Consolas"/>
                <a:ea typeface="Consolas"/>
                <a:cs typeface="Consolas"/>
              </a:rPr>
              <a:t>printf("Even numbers: %d\n", count);</a:t>
            </a:r>
            <a:endParaRPr lang="en-US" sz="2400" dirty="0"/>
          </a:p>
        </p:txBody>
      </p:sp>
      <p:sp>
        <p:nvSpPr>
          <p:cNvPr id="8" name="Shape 8"/>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The screen</a:t>
            </a:r>
            <a:endParaRPr lang="en-US" sz="1600" dirty="0"/>
          </a:p>
        </p:txBody>
      </p:sp>
      <p:sp>
        <p:nvSpPr>
          <p:cNvPr id="9" name="Shape 9"/>
          <p:cNvSpPr/>
          <p:nvPr/>
        </p:nvSpPr>
        <p:spPr>
          <a:xfrm>
            <a:off x="7589520" y="1645920"/>
            <a:ext cx="4053535" cy="3032760"/>
          </a:xfrm>
          <a:prstGeom prst="rect">
            <a:avLst/>
          </a:prstGeom>
          <a:solidFill>
            <a:srgbClr val="000000"/>
          </a:solidFill>
          <a:ln>
            <a:noFill/>
          </a:ln>
        </p:spPr>
        <p:txBody>
          <a:bodyPr wrap="square" lIns="0" tIns="0" rIns="0" bIns="0" rtlCol="0" anchor="t"/>
          <a:lstStyle/>
          <a:p>
            <a:endParaRPr lang="en-US"/>
          </a:p>
        </p:txBody>
      </p:sp>
      <p:sp>
        <p:nvSpPr>
          <p:cNvPr id="10" name="Code"/>
          <p:cNvSpPr/>
          <p:nvPr/>
        </p:nvSpPr>
        <p:spPr>
          <a:xfrm>
            <a:off x="7589520" y="1645920"/>
            <a:ext cx="4053535" cy="3032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How many numbers? 5</a:t>
            </a:r>
            <a:endParaRPr lang="en-US" sz="2400" dirty="0"/>
          </a:p>
          <a:p>
            <a:pPr marL="0" indent="0" algn="l">
              <a:lnSpc>
                <a:spcPts val="3000"/>
              </a:lnSpc>
              <a:buNone/>
            </a:pPr>
            <a:r>
              <a:rPr lang="en-US" sz="2400" dirty="0">
                <a:solidFill>
                  <a:srgbClr val="D1FAE5"/>
                </a:solidFill>
                <a:latin typeface="Consolas"/>
                <a:ea typeface="Consolas"/>
                <a:cs typeface="Consolas"/>
              </a:rPr>
              <a:t>Number: 4</a:t>
            </a:r>
            <a:endParaRPr lang="en-US" sz="2400" dirty="0"/>
          </a:p>
          <a:p>
            <a:pPr marL="0" indent="0" algn="l">
              <a:lnSpc>
                <a:spcPts val="3000"/>
              </a:lnSpc>
              <a:buNone/>
            </a:pPr>
            <a:r>
              <a:rPr lang="en-US" sz="2400" dirty="0">
                <a:solidFill>
                  <a:srgbClr val="D1FAE5"/>
                </a:solidFill>
                <a:latin typeface="Consolas"/>
                <a:ea typeface="Consolas"/>
                <a:cs typeface="Consolas"/>
              </a:rPr>
              <a:t>Number: 7</a:t>
            </a:r>
            <a:endParaRPr lang="en-US" sz="2400" dirty="0"/>
          </a:p>
          <a:p>
            <a:pPr marL="0" indent="0" algn="l">
              <a:lnSpc>
                <a:spcPts val="3000"/>
              </a:lnSpc>
              <a:buNone/>
            </a:pPr>
            <a:r>
              <a:rPr lang="en-US" sz="2400" dirty="0">
                <a:solidFill>
                  <a:srgbClr val="D1FAE5"/>
                </a:solidFill>
                <a:latin typeface="Consolas"/>
                <a:ea typeface="Consolas"/>
                <a:cs typeface="Consolas"/>
              </a:rPr>
              <a:t>Number: 10</a:t>
            </a:r>
            <a:endParaRPr lang="en-US" sz="2400" dirty="0"/>
          </a:p>
          <a:p>
            <a:pPr marL="0" indent="0" algn="l">
              <a:lnSpc>
                <a:spcPts val="3000"/>
              </a:lnSpc>
              <a:buNone/>
            </a:pPr>
            <a:r>
              <a:rPr lang="en-US" sz="2400" dirty="0">
                <a:solidFill>
                  <a:srgbClr val="D1FAE5"/>
                </a:solidFill>
                <a:latin typeface="Consolas"/>
                <a:ea typeface="Consolas"/>
                <a:cs typeface="Consolas"/>
              </a:rPr>
              <a:t>Number: 3</a:t>
            </a:r>
            <a:endParaRPr lang="en-US" sz="2400" dirty="0"/>
          </a:p>
          <a:p>
            <a:pPr marL="0" indent="0" algn="l">
              <a:lnSpc>
                <a:spcPts val="3000"/>
              </a:lnSpc>
              <a:buNone/>
            </a:pPr>
            <a:r>
              <a:rPr lang="en-US" sz="2400" dirty="0">
                <a:solidFill>
                  <a:srgbClr val="D1FAE5"/>
                </a:solidFill>
                <a:latin typeface="Consolas"/>
                <a:ea typeface="Consolas"/>
                <a:cs typeface="Consolas"/>
              </a:rPr>
              <a:t>Number: 8</a:t>
            </a:r>
            <a:endParaRPr lang="en-US" sz="2400" dirty="0"/>
          </a:p>
          <a:p>
            <a:pPr marL="0" indent="0" algn="l">
              <a:lnSpc>
                <a:spcPts val="3000"/>
              </a:lnSpc>
              <a:buNone/>
            </a:pPr>
            <a:r>
              <a:rPr lang="en-US" sz="2400" dirty="0">
                <a:solidFill>
                  <a:srgbClr val="D1FAE5"/>
                </a:solidFill>
                <a:latin typeface="Consolas"/>
                <a:ea typeface="Consolas"/>
                <a:cs typeface="Consolas"/>
              </a:rPr>
              <a:t>Even numbers: 3</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Four places, every time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a:t>
            </a:r>
            <a:endParaRPr lang="en-US" sz="1400" dirty="0"/>
          </a:p>
        </p:txBody>
      </p:sp>
      <p:sp>
        <p:nvSpPr>
          <p:cNvPr id="6" name="Shape 6"/>
          <p:cNvSpPr/>
          <p:nvPr/>
        </p:nvSpPr>
        <p:spPr>
          <a:xfrm>
            <a:off x="548640" y="1536192"/>
            <a:ext cx="2602154" cy="731520"/>
          </a:xfrm>
          <a:prstGeom prst="rect">
            <a:avLst/>
          </a:prstGeom>
          <a:solidFill>
            <a:srgbClr val="2F80ED"/>
          </a:solidFill>
          <a:ln>
            <a:noFill/>
          </a:ln>
        </p:spPr>
        <p:txBody>
          <a:bodyPr wrap="square" lIns="0" tIns="0" rIns="0" bIns="0" rtlCol="0" anchor="ctr"/>
          <a:lstStyle/>
          <a:p>
            <a:pPr marL="0" indent="0" algn="ctr">
              <a:buNone/>
            </a:pPr>
            <a:r>
              <a:rPr lang="en-US" sz="2600" b="1" dirty="0">
                <a:solidFill>
                  <a:srgbClr val="FFFFFF"/>
                </a:solidFill>
              </a:rPr>
              <a:t>Before</a:t>
            </a:r>
            <a:endParaRPr lang="en-US" sz="2600" dirty="0"/>
          </a:p>
        </p:txBody>
      </p:sp>
      <p:sp>
        <p:nvSpPr>
          <p:cNvPr id="7" name="Shape 7"/>
          <p:cNvSpPr/>
          <p:nvPr/>
        </p:nvSpPr>
        <p:spPr>
          <a:xfrm>
            <a:off x="548640" y="2267712"/>
            <a:ext cx="2602154" cy="2377440"/>
          </a:xfrm>
          <a:prstGeom prst="rect">
            <a:avLst/>
          </a:prstGeom>
          <a:solidFill>
            <a:srgbClr val="FFFFFF"/>
          </a:solidFill>
          <a:ln w="19050">
            <a:solidFill>
              <a:srgbClr val="2F80ED"/>
            </a:solidFill>
          </a:ln>
        </p:spPr>
        <p:txBody>
          <a:bodyPr wrap="square" lIns="73152" tIns="91440" rIns="73152" bIns="91440" rtlCol="0" anchor="ctr"/>
          <a:lstStyle/>
          <a:p>
            <a:pPr marL="0" indent="0" algn="ctr">
              <a:spcAft>
                <a:spcPts val="600"/>
              </a:spcAft>
              <a:buNone/>
            </a:pPr>
            <a:r>
              <a:rPr lang="en-US" sz="2400" dirty="0">
                <a:solidFill>
                  <a:srgbClr val="18324A"/>
                </a:solidFill>
              </a:rPr>
              <a:t>Start the counter.</a:t>
            </a:r>
            <a:endParaRPr lang="en-US" sz="2400" dirty="0"/>
          </a:p>
          <a:p>
            <a:pPr marL="0" indent="0" algn="ctr">
              <a:spcAft>
                <a:spcPts val="600"/>
              </a:spcAft>
              <a:buNone/>
            </a:pPr>
            <a:r>
              <a:rPr lang="en-US" sz="2400" dirty="0">
                <a:solidFill>
                  <a:srgbClr val="2F80ED"/>
                </a:solidFill>
                <a:latin typeface="Consolas"/>
                <a:ea typeface="Consolas"/>
                <a:cs typeface="Consolas"/>
              </a:rPr>
              <a:t>int count = 0;</a:t>
            </a:r>
            <a:endParaRPr lang="en-US" sz="2400" dirty="0"/>
          </a:p>
        </p:txBody>
      </p:sp>
      <p:sp>
        <p:nvSpPr>
          <p:cNvPr id="8" name="Shape 8"/>
          <p:cNvSpPr/>
          <p:nvPr/>
        </p:nvSpPr>
        <p:spPr>
          <a:xfrm>
            <a:off x="3379394" y="1536192"/>
            <a:ext cx="2602154" cy="731520"/>
          </a:xfrm>
          <a:prstGeom prst="rect">
            <a:avLst/>
          </a:prstGeom>
          <a:solidFill>
            <a:srgbClr val="31C48D"/>
          </a:solidFill>
          <a:ln>
            <a:noFill/>
          </a:ln>
        </p:spPr>
        <p:txBody>
          <a:bodyPr wrap="square" lIns="0" tIns="0" rIns="0" bIns="0" rtlCol="0" anchor="ctr"/>
          <a:lstStyle/>
          <a:p>
            <a:pPr marL="0" indent="0" algn="ctr">
              <a:buNone/>
            </a:pPr>
            <a:r>
              <a:rPr lang="en-US" sz="2600" b="1" dirty="0">
                <a:solidFill>
                  <a:srgbClr val="FFFFFF"/>
                </a:solidFill>
              </a:rPr>
              <a:t>The loop</a:t>
            </a:r>
            <a:endParaRPr lang="en-US" sz="2600" dirty="0"/>
          </a:p>
        </p:txBody>
      </p:sp>
      <p:sp>
        <p:nvSpPr>
          <p:cNvPr id="9" name="Shape 9"/>
          <p:cNvSpPr/>
          <p:nvPr/>
        </p:nvSpPr>
        <p:spPr>
          <a:xfrm>
            <a:off x="3379394" y="2267712"/>
            <a:ext cx="2602154" cy="2377440"/>
          </a:xfrm>
          <a:prstGeom prst="rect">
            <a:avLst/>
          </a:prstGeom>
          <a:solidFill>
            <a:srgbClr val="FFFFFF"/>
          </a:solidFill>
          <a:ln w="19050">
            <a:solidFill>
              <a:srgbClr val="31C48D"/>
            </a:solidFill>
          </a:ln>
        </p:spPr>
        <p:txBody>
          <a:bodyPr wrap="square" lIns="73152" tIns="91440" rIns="73152" bIns="91440" rtlCol="0" anchor="ctr"/>
          <a:lstStyle/>
          <a:p>
            <a:pPr marL="0" indent="0" algn="ctr">
              <a:spcAft>
                <a:spcPts val="600"/>
              </a:spcAft>
              <a:buNone/>
            </a:pPr>
            <a:r>
              <a:rPr lang="en-US" sz="2400" dirty="0">
                <a:solidFill>
                  <a:srgbClr val="18324A"/>
                </a:solidFill>
              </a:rPr>
              <a:t>Runs exactly </a:t>
            </a:r>
            <a:r>
              <a:rPr lang="en-US" sz="2400" dirty="0">
                <a:solidFill>
                  <a:srgbClr val="2F80ED"/>
                </a:solidFill>
                <a:latin typeface="Consolas"/>
                <a:ea typeface="Consolas"/>
                <a:cs typeface="Consolas"/>
              </a:rPr>
              <a:t>n</a:t>
            </a:r>
            <a:r>
              <a:rPr lang="en-US" sz="2400" dirty="0">
                <a:solidFill>
                  <a:srgbClr val="18324A"/>
                </a:solidFill>
              </a:rPr>
              <a:t> times.</a:t>
            </a:r>
            <a:endParaRPr lang="en-US" sz="2400" dirty="0"/>
          </a:p>
          <a:p>
            <a:pPr marL="0" indent="0" algn="ctr">
              <a:spcAft>
                <a:spcPts val="600"/>
              </a:spcAft>
              <a:buNone/>
            </a:pPr>
            <a:r>
              <a:rPr lang="en-US" sz="2400" dirty="0">
                <a:solidFill>
                  <a:srgbClr val="2F80ED"/>
                </a:solidFill>
                <a:latin typeface="Consolas"/>
                <a:ea typeface="Consolas"/>
                <a:cs typeface="Consolas"/>
              </a:rPr>
              <a:t>i &lt;= n</a:t>
            </a:r>
            <a:endParaRPr lang="en-US" sz="2400" dirty="0"/>
          </a:p>
        </p:txBody>
      </p:sp>
      <p:sp>
        <p:nvSpPr>
          <p:cNvPr id="10" name="Shape 10"/>
          <p:cNvSpPr/>
          <p:nvPr/>
        </p:nvSpPr>
        <p:spPr>
          <a:xfrm>
            <a:off x="6210148" y="1536192"/>
            <a:ext cx="2602154" cy="731520"/>
          </a:xfrm>
          <a:prstGeom prst="rect">
            <a:avLst/>
          </a:prstGeom>
          <a:solidFill>
            <a:srgbClr val="F59E0B"/>
          </a:solidFill>
          <a:ln>
            <a:noFill/>
          </a:ln>
        </p:spPr>
        <p:txBody>
          <a:bodyPr wrap="square" lIns="0" tIns="0" rIns="0" bIns="0" rtlCol="0" anchor="ctr"/>
          <a:lstStyle/>
          <a:p>
            <a:pPr marL="0" indent="0" algn="ctr">
              <a:buNone/>
            </a:pPr>
            <a:r>
              <a:rPr lang="en-US" sz="2600" b="1" dirty="0">
                <a:solidFill>
                  <a:srgbClr val="FFFFFF"/>
                </a:solidFill>
              </a:rPr>
              <a:t>Inside</a:t>
            </a:r>
            <a:endParaRPr lang="en-US" sz="2600" dirty="0"/>
          </a:p>
        </p:txBody>
      </p:sp>
      <p:sp>
        <p:nvSpPr>
          <p:cNvPr id="11" name="Shape 11"/>
          <p:cNvSpPr/>
          <p:nvPr/>
        </p:nvSpPr>
        <p:spPr>
          <a:xfrm>
            <a:off x="6210148" y="2267712"/>
            <a:ext cx="2602154" cy="2377440"/>
          </a:xfrm>
          <a:prstGeom prst="rect">
            <a:avLst/>
          </a:prstGeom>
          <a:solidFill>
            <a:srgbClr val="FFFFFF"/>
          </a:solidFill>
          <a:ln w="19050">
            <a:solidFill>
              <a:srgbClr val="F59E0B"/>
            </a:solidFill>
          </a:ln>
        </p:spPr>
        <p:txBody>
          <a:bodyPr wrap="square" lIns="73152" tIns="91440" rIns="73152" bIns="91440" rtlCol="0" anchor="ctr"/>
          <a:lstStyle/>
          <a:p>
            <a:pPr marL="0" indent="0" algn="ctr">
              <a:spcAft>
                <a:spcPts val="600"/>
              </a:spcAft>
              <a:buNone/>
            </a:pPr>
            <a:r>
              <a:rPr lang="en-US" sz="2400" dirty="0">
                <a:solidFill>
                  <a:srgbClr val="18324A"/>
                </a:solidFill>
              </a:rPr>
              <a:t>Read, test,</a:t>
            </a:r>
            <a:endParaRPr lang="en-US" sz="2400" dirty="0"/>
          </a:p>
          <a:p>
            <a:pPr marL="0" indent="0" algn="ctr">
              <a:spcAft>
                <a:spcPts val="600"/>
              </a:spcAft>
              <a:buNone/>
            </a:pPr>
            <a:r>
              <a:rPr lang="en-US" sz="2400" dirty="0">
                <a:solidFill>
                  <a:srgbClr val="2F80ED"/>
                </a:solidFill>
                <a:latin typeface="Consolas"/>
                <a:ea typeface="Consolas"/>
                <a:cs typeface="Consolas"/>
              </a:rPr>
              <a:t>count++;</a:t>
            </a:r>
            <a:endParaRPr lang="en-US" sz="2400" dirty="0"/>
          </a:p>
        </p:txBody>
      </p:sp>
      <p:sp>
        <p:nvSpPr>
          <p:cNvPr id="12" name="Shape 12"/>
          <p:cNvSpPr/>
          <p:nvPr/>
        </p:nvSpPr>
        <p:spPr>
          <a:xfrm>
            <a:off x="9040901" y="1536192"/>
            <a:ext cx="2602154" cy="731520"/>
          </a:xfrm>
          <a:prstGeom prst="rect">
            <a:avLst/>
          </a:prstGeom>
          <a:solidFill>
            <a:srgbClr val="8B5CF6"/>
          </a:solidFill>
          <a:ln>
            <a:noFill/>
          </a:ln>
        </p:spPr>
        <p:txBody>
          <a:bodyPr wrap="square" lIns="0" tIns="0" rIns="0" bIns="0" rtlCol="0" anchor="ctr"/>
          <a:lstStyle/>
          <a:p>
            <a:pPr marL="0" indent="0" algn="ctr">
              <a:buNone/>
            </a:pPr>
            <a:r>
              <a:rPr lang="en-US" sz="2600" b="1" dirty="0">
                <a:solidFill>
                  <a:srgbClr val="FFFFFF"/>
                </a:solidFill>
              </a:rPr>
              <a:t>After</a:t>
            </a:r>
            <a:endParaRPr lang="en-US" sz="2600" dirty="0"/>
          </a:p>
        </p:txBody>
      </p:sp>
      <p:sp>
        <p:nvSpPr>
          <p:cNvPr id="13" name="Shape 13"/>
          <p:cNvSpPr/>
          <p:nvPr/>
        </p:nvSpPr>
        <p:spPr>
          <a:xfrm>
            <a:off x="9040901" y="2267712"/>
            <a:ext cx="2602154" cy="2377440"/>
          </a:xfrm>
          <a:prstGeom prst="rect">
            <a:avLst/>
          </a:prstGeom>
          <a:solidFill>
            <a:srgbClr val="FFFFFF"/>
          </a:solidFill>
          <a:ln w="19050">
            <a:solidFill>
              <a:srgbClr val="8B5CF6"/>
            </a:solidFill>
          </a:ln>
        </p:spPr>
        <p:txBody>
          <a:bodyPr wrap="square" lIns="73152" tIns="91440" rIns="73152" bIns="91440" rtlCol="0" anchor="ctr"/>
          <a:lstStyle/>
          <a:p>
            <a:pPr marL="0" indent="0" algn="ctr">
              <a:spcAft>
                <a:spcPts val="600"/>
              </a:spcAft>
              <a:buNone/>
            </a:pPr>
            <a:r>
              <a:rPr lang="en-US" sz="2400" dirty="0">
                <a:solidFill>
                  <a:srgbClr val="18324A"/>
                </a:solidFill>
              </a:rPr>
              <a:t>Print the result</a:t>
            </a:r>
            <a:endParaRPr lang="en-US" sz="2400" dirty="0"/>
          </a:p>
          <a:p>
            <a:pPr marL="0" indent="0" algn="ctr">
              <a:spcAft>
                <a:spcPts val="600"/>
              </a:spcAft>
              <a:buNone/>
            </a:pPr>
            <a:r>
              <a:rPr lang="en-US" sz="2400" b="1" dirty="0">
                <a:solidFill>
                  <a:srgbClr val="18324A"/>
                </a:solidFill>
              </a:rPr>
              <a:t>once</a:t>
            </a:r>
            <a:r>
              <a:rPr lang="en-US" sz="2400" dirty="0">
                <a:solidFill>
                  <a:srgbClr val="18324A"/>
                </a:solidFill>
              </a:rPr>
              <a:t>.</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One } in the wrong place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8</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C follows the braces, not the indent.</a:t>
            </a:r>
            <a:endParaRPr lang="en-US" sz="2400" dirty="0"/>
          </a:p>
        </p:txBody>
      </p:sp>
      <p:sp>
        <p:nvSpPr>
          <p:cNvPr id="9" name="Shape 9"/>
          <p:cNvSpPr/>
          <p:nvPr/>
        </p:nvSpPr>
        <p:spPr>
          <a:xfrm>
            <a:off x="548640" y="1261872"/>
            <a:ext cx="6035040" cy="2905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381502"/>
            <a:ext cx="6035040" cy="317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381502"/>
            <a:ext cx="82296" cy="3175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035040" cy="290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for (int i = 1; i &lt;= n; i++) {</a:t>
            </a:r>
            <a:endParaRPr lang="en-US" sz="2000" dirty="0"/>
          </a:p>
          <a:p>
            <a:pPr marL="0" indent="0" algn="l">
              <a:lnSpc>
                <a:spcPts val="2500"/>
              </a:lnSpc>
              <a:buNone/>
            </a:pPr>
            <a:r>
              <a:rPr lang="en-US" sz="2000" dirty="0">
                <a:solidFill>
                  <a:srgbClr val="64748B"/>
                </a:solidFill>
                <a:latin typeface="Consolas"/>
                <a:ea typeface="Consolas"/>
                <a:cs typeface="Consolas"/>
              </a:rPr>
              <a:t>    printf("Number: ");</a:t>
            </a:r>
            <a:endParaRPr lang="en-US" sz="2000" dirty="0"/>
          </a:p>
          <a:p>
            <a:pPr marL="0" indent="0" algn="l">
              <a:lnSpc>
                <a:spcPts val="2500"/>
              </a:lnSpc>
              <a:buNone/>
            </a:pPr>
            <a:r>
              <a:rPr lang="en-US" sz="2000" dirty="0">
                <a:solidFill>
                  <a:srgbClr val="64748B"/>
                </a:solidFill>
                <a:latin typeface="Consolas"/>
                <a:ea typeface="Consolas"/>
                <a:cs typeface="Consolas"/>
              </a:rPr>
              <a:t>    scanf("%d", &amp;value);</a:t>
            </a:r>
            <a:endParaRPr lang="en-US" sz="2000" dirty="0"/>
          </a:p>
          <a:p>
            <a:pPr marL="0" indent="0" algn="l">
              <a:lnSpc>
                <a:spcPts val="2500"/>
              </a:lnSpc>
              <a:buNone/>
            </a:pPr>
            <a:r>
              <a:rPr lang="en-US" sz="2000" dirty="0">
                <a:solidFill>
                  <a:srgbClr val="64748B"/>
                </a:solidFill>
                <a:latin typeface="Consolas"/>
                <a:ea typeface="Consolas"/>
                <a:cs typeface="Consolas"/>
              </a:rPr>
              <a:t>    if (value % 2 == 0) {</a:t>
            </a:r>
            <a:endParaRPr lang="en-US" sz="2000" dirty="0"/>
          </a:p>
          <a:p>
            <a:pPr marL="0" indent="0" algn="l">
              <a:lnSpc>
                <a:spcPts val="2500"/>
              </a:lnSpc>
              <a:buNone/>
            </a:pPr>
            <a:r>
              <a:rPr lang="en-US" sz="2000" dirty="0">
                <a:solidFill>
                  <a:srgbClr val="64748B"/>
                </a:solidFill>
                <a:latin typeface="Consolas"/>
                <a:ea typeface="Consolas"/>
                <a:cs typeface="Consolas"/>
              </a:rPr>
              <a:t>        count++;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    printf("Even numbers: %d\n", count);</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3" name="Shape 13"/>
          <p:cNvSpPr/>
          <p:nvPr/>
        </p:nvSpPr>
        <p:spPr>
          <a:xfrm>
            <a:off x="6858000" y="1261872"/>
            <a:ext cx="478505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4" name="Shape 14"/>
          <p:cNvSpPr/>
          <p:nvPr/>
        </p:nvSpPr>
        <p:spPr>
          <a:xfrm>
            <a:off x="6858000" y="1261872"/>
            <a:ext cx="109728" cy="1051560"/>
          </a:xfrm>
          <a:prstGeom prst="rect">
            <a:avLst/>
          </a:prstGeom>
          <a:solidFill>
            <a:srgbClr val="FF6B6B"/>
          </a:solidFill>
          <a:ln>
            <a:noFill/>
          </a:ln>
        </p:spPr>
        <p:txBody>
          <a:bodyPr wrap="square" lIns="0" tIns="0" rIns="0" bIns="0" rtlCol="0" anchor="t"/>
          <a:lstStyle/>
          <a:p>
            <a:endParaRPr lang="en-US"/>
          </a:p>
        </p:txBody>
      </p:sp>
      <p:sp>
        <p:nvSpPr>
          <p:cNvPr id="15" name="Callout"/>
          <p:cNvSpPr/>
          <p:nvPr/>
        </p:nvSpPr>
        <p:spPr>
          <a:xfrm>
            <a:off x="6967728" y="1261872"/>
            <a:ext cx="467532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This </a:t>
            </a:r>
            <a:r>
              <a:rPr lang="en-US" sz="2400" dirty="0">
                <a:solidFill>
                  <a:srgbClr val="18324A"/>
                </a:solidFill>
                <a:latin typeface="Consolas"/>
                <a:ea typeface="Consolas"/>
                <a:cs typeface="Consolas"/>
              </a:rPr>
              <a:t>printf</a:t>
            </a:r>
            <a:r>
              <a:rPr lang="en-US" sz="2400" dirty="0">
                <a:solidFill>
                  <a:srgbClr val="18324A"/>
                </a:solidFill>
              </a:rPr>
              <a:t> is </a:t>
            </a:r>
            <a:r>
              <a:rPr lang="en-US" sz="2400" b="1" dirty="0">
                <a:solidFill>
                  <a:srgbClr val="18324A"/>
                </a:solidFill>
              </a:rPr>
              <a:t>inside</a:t>
            </a:r>
            <a:r>
              <a:rPr lang="en-US" sz="2400" dirty="0">
                <a:solidFill>
                  <a:srgbClr val="18324A"/>
                </a:solidFill>
              </a:rPr>
              <a:t> the loop.</a:t>
            </a:r>
            <a:endParaRPr lang="en-US" sz="2400" dirty="0"/>
          </a:p>
        </p:txBody>
      </p:sp>
      <p:sp>
        <p:nvSpPr>
          <p:cNvPr id="16" name="Shape 16"/>
          <p:cNvSpPr/>
          <p:nvPr/>
        </p:nvSpPr>
        <p:spPr>
          <a:xfrm>
            <a:off x="6858000" y="2514600"/>
            <a:ext cx="478505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7" name="Shape 17"/>
          <p:cNvSpPr/>
          <p:nvPr/>
        </p:nvSpPr>
        <p:spPr>
          <a:xfrm>
            <a:off x="6858000" y="2514600"/>
            <a:ext cx="109728" cy="1051560"/>
          </a:xfrm>
          <a:prstGeom prst="rect">
            <a:avLst/>
          </a:prstGeom>
          <a:solidFill>
            <a:srgbClr val="31C48D"/>
          </a:solidFill>
          <a:ln>
            <a:noFill/>
          </a:ln>
        </p:spPr>
        <p:txBody>
          <a:bodyPr wrap="square" lIns="0" tIns="0" rIns="0" bIns="0" rtlCol="0" anchor="t"/>
          <a:lstStyle/>
          <a:p>
            <a:endParaRPr lang="en-US"/>
          </a:p>
        </p:txBody>
      </p:sp>
      <p:sp>
        <p:nvSpPr>
          <p:cNvPr id="18" name="Callout"/>
          <p:cNvSpPr/>
          <p:nvPr/>
        </p:nvSpPr>
        <p:spPr>
          <a:xfrm>
            <a:off x="6967728" y="2514600"/>
            <a:ext cx="467532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Move it below the </a:t>
            </a:r>
            <a:r>
              <a:rPr lang="en-US" sz="2400" dirty="0">
                <a:solidFill>
                  <a:srgbClr val="18324A"/>
                </a:solidFill>
                <a:latin typeface="Consolas"/>
                <a:ea typeface="Consolas"/>
                <a:cs typeface="Consolas"/>
              </a:rPr>
              <a:t>}</a:t>
            </a:r>
            <a:r>
              <a:rPr lang="en-US" sz="2400" dirty="0">
                <a:solidFill>
                  <a:srgbClr val="18324A"/>
                </a:solidFill>
              </a:rPr>
              <a:t> that closes the loop.</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Run it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9</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FF6B6B"/>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prints after </a:t>
            </a:r>
            <a:r>
              <a:rPr lang="en-US" sz="2400" b="1" dirty="0">
                <a:solidFill>
                  <a:srgbClr val="18324A"/>
                </a:solidFill>
              </a:rPr>
              <a:t>every</a:t>
            </a:r>
            <a:r>
              <a:rPr lang="en-US" sz="2400" dirty="0">
                <a:solidFill>
                  <a:srgbClr val="18324A"/>
                </a:solidFill>
              </a:rPr>
              <a:t> number. The question wanted one line, at the end.</a:t>
            </a:r>
            <a:endParaRPr lang="en-US" sz="2400" dirty="0"/>
          </a:p>
        </p:txBody>
      </p:sp>
      <p:sp>
        <p:nvSpPr>
          <p:cNvPr id="9" name="Shape 9"/>
          <p:cNvSpPr/>
          <p:nvPr/>
        </p:nvSpPr>
        <p:spPr>
          <a:xfrm>
            <a:off x="548640" y="1261872"/>
            <a:ext cx="6035040" cy="2905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381502"/>
            <a:ext cx="6035040" cy="317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381502"/>
            <a:ext cx="82296" cy="3175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035040" cy="290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for (int i = 1; i &lt;= n; i++) {</a:t>
            </a:r>
            <a:endParaRPr lang="en-US" sz="2000" dirty="0"/>
          </a:p>
          <a:p>
            <a:pPr marL="0" indent="0" algn="l">
              <a:lnSpc>
                <a:spcPts val="2500"/>
              </a:lnSpc>
              <a:buNone/>
            </a:pPr>
            <a:r>
              <a:rPr lang="en-US" sz="2000" dirty="0">
                <a:solidFill>
                  <a:srgbClr val="64748B"/>
                </a:solidFill>
                <a:latin typeface="Consolas"/>
                <a:ea typeface="Consolas"/>
                <a:cs typeface="Consolas"/>
              </a:rPr>
              <a:t>    printf("Number: ");</a:t>
            </a:r>
            <a:endParaRPr lang="en-US" sz="2000" dirty="0"/>
          </a:p>
          <a:p>
            <a:pPr marL="0" indent="0" algn="l">
              <a:lnSpc>
                <a:spcPts val="2500"/>
              </a:lnSpc>
              <a:buNone/>
            </a:pPr>
            <a:r>
              <a:rPr lang="en-US" sz="2000" dirty="0">
                <a:solidFill>
                  <a:srgbClr val="64748B"/>
                </a:solidFill>
                <a:latin typeface="Consolas"/>
                <a:ea typeface="Consolas"/>
                <a:cs typeface="Consolas"/>
              </a:rPr>
              <a:t>    scanf("%d", &amp;value);</a:t>
            </a:r>
            <a:endParaRPr lang="en-US" sz="2000" dirty="0"/>
          </a:p>
          <a:p>
            <a:pPr marL="0" indent="0" algn="l">
              <a:lnSpc>
                <a:spcPts val="2500"/>
              </a:lnSpc>
              <a:buNone/>
            </a:pPr>
            <a:r>
              <a:rPr lang="en-US" sz="2000" dirty="0">
                <a:solidFill>
                  <a:srgbClr val="64748B"/>
                </a:solidFill>
                <a:latin typeface="Consolas"/>
                <a:ea typeface="Consolas"/>
                <a:cs typeface="Consolas"/>
              </a:rPr>
              <a:t>    if (value % 2 == 0) {</a:t>
            </a:r>
            <a:endParaRPr lang="en-US" sz="2000" dirty="0"/>
          </a:p>
          <a:p>
            <a:pPr marL="0" indent="0" algn="l">
              <a:lnSpc>
                <a:spcPts val="2500"/>
              </a:lnSpc>
              <a:buNone/>
            </a:pPr>
            <a:r>
              <a:rPr lang="en-US" sz="2000" dirty="0">
                <a:solidFill>
                  <a:srgbClr val="64748B"/>
                </a:solidFill>
                <a:latin typeface="Consolas"/>
                <a:ea typeface="Consolas"/>
                <a:cs typeface="Consolas"/>
              </a:rPr>
              <a:t>        count++;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    printf("Even numbers: %d\n", count);</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3" name="Shape 13"/>
          <p:cNvSpPr/>
          <p:nvPr/>
        </p:nvSpPr>
        <p:spPr>
          <a:xfrm>
            <a:off x="6858000" y="1261872"/>
            <a:ext cx="478505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The screen</a:t>
            </a:r>
            <a:endParaRPr lang="en-US" sz="1600" dirty="0"/>
          </a:p>
        </p:txBody>
      </p:sp>
      <p:sp>
        <p:nvSpPr>
          <p:cNvPr id="14" name="Shape 14"/>
          <p:cNvSpPr/>
          <p:nvPr/>
        </p:nvSpPr>
        <p:spPr>
          <a:xfrm>
            <a:off x="6858000" y="1645920"/>
            <a:ext cx="4785055" cy="3032760"/>
          </a:xfrm>
          <a:prstGeom prst="rect">
            <a:avLst/>
          </a:prstGeom>
          <a:solidFill>
            <a:srgbClr val="000000"/>
          </a:solidFill>
          <a:ln>
            <a:noFill/>
          </a:ln>
        </p:spPr>
        <p:txBody>
          <a:bodyPr wrap="square" lIns="0" tIns="0" rIns="0" bIns="0" rtlCol="0" anchor="t"/>
          <a:lstStyle/>
          <a:p>
            <a:endParaRPr lang="en-US"/>
          </a:p>
        </p:txBody>
      </p:sp>
      <p:sp>
        <p:nvSpPr>
          <p:cNvPr id="15" name="Code"/>
          <p:cNvSpPr/>
          <p:nvPr/>
        </p:nvSpPr>
        <p:spPr>
          <a:xfrm>
            <a:off x="6858000" y="1645920"/>
            <a:ext cx="4785055" cy="3032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How many numbers? 3</a:t>
            </a:r>
            <a:endParaRPr lang="en-US" sz="2400" dirty="0"/>
          </a:p>
          <a:p>
            <a:pPr marL="0" indent="0" algn="l">
              <a:lnSpc>
                <a:spcPts val="3000"/>
              </a:lnSpc>
              <a:buNone/>
            </a:pPr>
            <a:r>
              <a:rPr lang="en-US" sz="2400" dirty="0">
                <a:solidFill>
                  <a:srgbClr val="D1FAE5"/>
                </a:solidFill>
                <a:latin typeface="Consolas"/>
                <a:ea typeface="Consolas"/>
                <a:cs typeface="Consolas"/>
              </a:rPr>
              <a:t>Number: 4</a:t>
            </a:r>
            <a:endParaRPr lang="en-US" sz="2400" dirty="0"/>
          </a:p>
          <a:p>
            <a:pPr marL="0" indent="0" algn="l">
              <a:lnSpc>
                <a:spcPts val="3000"/>
              </a:lnSpc>
              <a:buNone/>
            </a:pPr>
            <a:r>
              <a:rPr lang="en-US" sz="2400" dirty="0">
                <a:solidFill>
                  <a:srgbClr val="D1FAE5"/>
                </a:solidFill>
                <a:latin typeface="Consolas"/>
                <a:ea typeface="Consolas"/>
                <a:cs typeface="Consolas"/>
              </a:rPr>
              <a:t>Even numbers: 1</a:t>
            </a:r>
            <a:endParaRPr lang="en-US" sz="2400" dirty="0"/>
          </a:p>
          <a:p>
            <a:pPr marL="0" indent="0" algn="l">
              <a:lnSpc>
                <a:spcPts val="3000"/>
              </a:lnSpc>
              <a:buNone/>
            </a:pPr>
            <a:r>
              <a:rPr lang="en-US" sz="2400" dirty="0">
                <a:solidFill>
                  <a:srgbClr val="D1FAE5"/>
                </a:solidFill>
                <a:latin typeface="Consolas"/>
                <a:ea typeface="Consolas"/>
                <a:cs typeface="Consolas"/>
              </a:rPr>
              <a:t>Number: 7</a:t>
            </a:r>
            <a:endParaRPr lang="en-US" sz="2400" dirty="0"/>
          </a:p>
          <a:p>
            <a:pPr marL="0" indent="0" algn="l">
              <a:lnSpc>
                <a:spcPts val="3000"/>
              </a:lnSpc>
              <a:buNone/>
            </a:pPr>
            <a:r>
              <a:rPr lang="en-US" sz="2400" dirty="0">
                <a:solidFill>
                  <a:srgbClr val="D1FAE5"/>
                </a:solidFill>
                <a:latin typeface="Consolas"/>
                <a:ea typeface="Consolas"/>
                <a:cs typeface="Consolas"/>
              </a:rPr>
              <a:t>Even numbers: 1</a:t>
            </a:r>
            <a:endParaRPr lang="en-US" sz="2400" dirty="0"/>
          </a:p>
          <a:p>
            <a:pPr marL="0" indent="0" algn="l">
              <a:lnSpc>
                <a:spcPts val="3000"/>
              </a:lnSpc>
              <a:buNone/>
            </a:pPr>
            <a:r>
              <a:rPr lang="en-US" sz="2400" dirty="0">
                <a:solidFill>
                  <a:srgbClr val="D1FAE5"/>
                </a:solidFill>
                <a:latin typeface="Consolas"/>
                <a:ea typeface="Consolas"/>
                <a:cs typeface="Consolas"/>
              </a:rPr>
              <a:t>Number: 10</a:t>
            </a:r>
            <a:endParaRPr lang="en-US" sz="2400" dirty="0"/>
          </a:p>
          <a:p>
            <a:pPr marL="0" indent="0" algn="l">
              <a:lnSpc>
                <a:spcPts val="3000"/>
              </a:lnSpc>
              <a:buNone/>
            </a:pPr>
            <a:r>
              <a:rPr lang="en-US" sz="2400" dirty="0">
                <a:solidFill>
                  <a:srgbClr val="D1FAE5"/>
                </a:solidFill>
                <a:latin typeface="Consolas"/>
                <a:ea typeface="Consolas"/>
                <a:cs typeface="Consolas"/>
              </a:rPr>
              <a:t>Even numbers: 2</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Mistake 3: the compiler finds the small things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10</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int i</a:t>
            </a:r>
            <a:r>
              <a:rPr lang="en-US" sz="2400" dirty="0">
                <a:solidFill>
                  <a:srgbClr val="18324A"/>
                </a:solidFill>
              </a:rPr>
              <a:t>, </a:t>
            </a:r>
            <a:r>
              <a:rPr lang="en-US" sz="2400" dirty="0">
                <a:solidFill>
                  <a:srgbClr val="18324A"/>
                </a:solidFill>
                <a:latin typeface="Consolas"/>
                <a:ea typeface="Consolas"/>
                <a:cs typeface="Consolas"/>
              </a:rPr>
              <a:t>&lt;=</a:t>
            </a:r>
            <a:r>
              <a:rPr lang="en-US" sz="2400" dirty="0">
                <a:solidFill>
                  <a:srgbClr val="18324A"/>
                </a:solidFill>
              </a:rPr>
              <a:t>, a comma before </a:t>
            </a:r>
            <a:r>
              <a:rPr lang="en-US" sz="2400" dirty="0">
                <a:solidFill>
                  <a:srgbClr val="18324A"/>
                </a:solidFill>
                <a:latin typeface="Consolas"/>
                <a:ea typeface="Consolas"/>
                <a:cs typeface="Consolas"/>
              </a:rPr>
              <a:t>&amp;</a:t>
            </a:r>
            <a:r>
              <a:rPr lang="en-US" sz="2400" dirty="0">
                <a:solidFill>
                  <a:srgbClr val="18324A"/>
                </a:solidFill>
              </a:rPr>
              <a:t>, a </a:t>
            </a:r>
            <a:r>
              <a:rPr lang="en-US" sz="2400" dirty="0">
                <a:solidFill>
                  <a:srgbClr val="18324A"/>
                </a:solidFill>
                <a:latin typeface="Consolas"/>
                <a:ea typeface="Consolas"/>
                <a:cs typeface="Consolas"/>
              </a:rPr>
              <a:t>;</a:t>
            </a:r>
            <a:r>
              <a:rPr lang="en-US" sz="2400" dirty="0">
                <a:solidFill>
                  <a:srgbClr val="18324A"/>
                </a:solidFill>
              </a:rPr>
              <a:t> after </a:t>
            </a:r>
            <a:r>
              <a:rPr lang="en-US" sz="2400" dirty="0">
                <a:solidFill>
                  <a:srgbClr val="18324A"/>
                </a:solidFill>
                <a:latin typeface="Consolas"/>
                <a:ea typeface="Consolas"/>
                <a:cs typeface="Consolas"/>
              </a:rPr>
              <a:t>count++</a:t>
            </a:r>
            <a:r>
              <a:rPr lang="en-US" sz="2400" dirty="0">
                <a:solidFill>
                  <a:srgbClr val="18324A"/>
                </a:solidFill>
              </a:rPr>
              <a:t>. Fix the </a:t>
            </a:r>
            <a:r>
              <a:rPr lang="en-US" sz="2400" b="1" dirty="0">
                <a:solidFill>
                  <a:srgbClr val="18324A"/>
                </a:solidFill>
              </a:rPr>
              <a:t>first</a:t>
            </a:r>
            <a:r>
              <a:rPr lang="en-US" sz="2400" dirty="0">
                <a:solidFill>
                  <a:srgbClr val="18324A"/>
                </a:solidFill>
              </a:rPr>
              <a:t> error, then compile again.</a:t>
            </a:r>
            <a:endParaRPr lang="en-US" sz="2400" dirty="0"/>
          </a:p>
        </p:txBody>
      </p:sp>
      <p:sp>
        <p:nvSpPr>
          <p:cNvPr id="9" name="Shape 9"/>
          <p:cNvSpPr/>
          <p:nvPr/>
        </p:nvSpPr>
        <p:spPr>
          <a:xfrm>
            <a:off x="548640" y="1261872"/>
            <a:ext cx="5486400" cy="350901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527427"/>
            <a:ext cx="548640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527427"/>
            <a:ext cx="82296" cy="34925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2876677"/>
            <a:ext cx="5486400" cy="34925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2876677"/>
            <a:ext cx="82296" cy="349250"/>
          </a:xfrm>
          <a:prstGeom prst="rect">
            <a:avLst/>
          </a:prstGeom>
          <a:solidFill>
            <a:srgbClr val="F59E0B"/>
          </a:solidFill>
          <a:ln>
            <a:noFill/>
          </a:ln>
        </p:spPr>
        <p:txBody>
          <a:bodyPr wrap="square" lIns="0" tIns="0" rIns="0" bIns="0" rtlCol="0" anchor="t"/>
          <a:lstStyle/>
          <a:p>
            <a:endParaRPr lang="en-US"/>
          </a:p>
        </p:txBody>
      </p:sp>
      <p:sp>
        <p:nvSpPr>
          <p:cNvPr id="14" name="Shape 14"/>
          <p:cNvSpPr/>
          <p:nvPr/>
        </p:nvSpPr>
        <p:spPr>
          <a:xfrm>
            <a:off x="548640" y="3575177"/>
            <a:ext cx="5486400" cy="349250"/>
          </a:xfrm>
          <a:prstGeom prst="rect">
            <a:avLst/>
          </a:prstGeom>
          <a:solidFill>
            <a:srgbClr val="25406B"/>
          </a:solidFill>
          <a:ln>
            <a:noFill/>
          </a:ln>
        </p:spPr>
        <p:txBody>
          <a:bodyPr wrap="square" lIns="0" tIns="0" rIns="0" bIns="0" rtlCol="0" anchor="t"/>
          <a:lstStyle/>
          <a:p>
            <a:endParaRPr lang="en-US"/>
          </a:p>
        </p:txBody>
      </p:sp>
      <p:sp>
        <p:nvSpPr>
          <p:cNvPr id="15" name="Shape 15"/>
          <p:cNvSpPr/>
          <p:nvPr/>
        </p:nvSpPr>
        <p:spPr>
          <a:xfrm>
            <a:off x="548640" y="3575177"/>
            <a:ext cx="82296" cy="349250"/>
          </a:xfrm>
          <a:prstGeom prst="rect">
            <a:avLst/>
          </a:prstGeom>
          <a:solidFill>
            <a:srgbClr val="F59E0B"/>
          </a:solidFill>
          <a:ln>
            <a:noFill/>
          </a:ln>
        </p:spPr>
        <p:txBody>
          <a:bodyPr wrap="square" lIns="0" tIns="0" rIns="0" bIns="0" rtlCol="0" anchor="t"/>
          <a:lstStyle/>
          <a:p>
            <a:endParaRPr lang="en-US"/>
          </a:p>
        </p:txBody>
      </p:sp>
      <p:sp>
        <p:nvSpPr>
          <p:cNvPr id="16" name="Code"/>
          <p:cNvSpPr/>
          <p:nvPr/>
        </p:nvSpPr>
        <p:spPr>
          <a:xfrm>
            <a:off x="548640" y="1261872"/>
            <a:ext cx="5486400" cy="3509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n, value;</a:t>
            </a:r>
            <a:endParaRPr lang="en-US" sz="2200" dirty="0"/>
          </a:p>
          <a:p>
            <a:pPr marL="0" indent="0" algn="l">
              <a:lnSpc>
                <a:spcPts val="2750"/>
              </a:lnSpc>
              <a:buNone/>
            </a:pPr>
            <a:r>
              <a:rPr lang="en-US" sz="2200" dirty="0">
                <a:solidFill>
                  <a:srgbClr val="64748B"/>
                </a:solidFill>
                <a:latin typeface="Consolas"/>
                <a:ea typeface="Consolas"/>
                <a:cs typeface="Consolas"/>
              </a:rPr>
              <a:t>int count = 0;</a:t>
            </a:r>
            <a:endParaRPr lang="en-US" sz="2200" dirty="0"/>
          </a:p>
          <a:p>
            <a:pPr marL="0" indent="0" algn="l">
              <a:lnSpc>
                <a:spcPts val="2750"/>
              </a:lnSpc>
              <a:buNone/>
            </a:pPr>
            <a:r>
              <a:rPr lang="en-US" sz="2200" dirty="0">
                <a:solidFill>
                  <a:srgbClr val="64748B"/>
                </a:solidFill>
                <a:latin typeface="Consolas"/>
                <a:ea typeface="Consolas"/>
                <a:cs typeface="Consolas"/>
              </a:rPr>
              <a:t>scanf("%d", &amp;n);</a:t>
            </a:r>
            <a:endParaRPr lang="en-US" sz="2200" dirty="0"/>
          </a:p>
          <a:p>
            <a:pPr marL="0" indent="0" algn="l">
              <a:lnSpc>
                <a:spcPts val="2750"/>
              </a:lnSpc>
              <a:buNone/>
            </a:pPr>
            <a:r>
              <a:rPr lang="en-US" sz="2200" dirty="0">
                <a:solidFill>
                  <a:srgbClr val="FFFFFF"/>
                </a:solidFill>
                <a:latin typeface="Consolas"/>
                <a:ea typeface="Consolas"/>
                <a:cs typeface="Consolas"/>
              </a:rPr>
              <a:t>for (i = 1; i =&lt; n; i++) {</a:t>
            </a:r>
            <a:endParaRPr lang="en-US" sz="2200" dirty="0"/>
          </a:p>
          <a:p>
            <a:pPr marL="0" indent="0" algn="l">
              <a:lnSpc>
                <a:spcPts val="2750"/>
              </a:lnSpc>
              <a:buNone/>
            </a:pPr>
            <a:r>
              <a:rPr lang="en-US" sz="2200" dirty="0">
                <a:solidFill>
                  <a:srgbClr val="FFFFFF"/>
                </a:solidFill>
                <a:latin typeface="Consolas"/>
                <a:ea typeface="Consolas"/>
                <a:cs typeface="Consolas"/>
              </a:rPr>
              <a:t>    scanf("%d"; &amp;value);</a:t>
            </a:r>
            <a:endParaRPr lang="en-US" sz="2200" dirty="0"/>
          </a:p>
          <a:p>
            <a:pPr marL="0" indent="0" algn="l">
              <a:lnSpc>
                <a:spcPts val="2750"/>
              </a:lnSpc>
              <a:buNone/>
            </a:pPr>
            <a:r>
              <a:rPr lang="en-US" sz="2200" dirty="0">
                <a:solidFill>
                  <a:srgbClr val="64748B"/>
                </a:solidFill>
                <a:latin typeface="Consolas"/>
                <a:ea typeface="Consolas"/>
                <a:cs typeface="Consolas"/>
              </a:rPr>
              <a:t>    if (value % 2 == 0) {</a:t>
            </a:r>
            <a:endParaRPr lang="en-US" sz="2200" dirty="0"/>
          </a:p>
          <a:p>
            <a:pPr marL="0" indent="0" algn="l">
              <a:lnSpc>
                <a:spcPts val="2750"/>
              </a:lnSpc>
              <a:buNone/>
            </a:pPr>
            <a:r>
              <a:rPr lang="en-US" sz="2200" dirty="0">
                <a:solidFill>
                  <a:srgbClr val="FFFFFF"/>
                </a:solidFill>
                <a:latin typeface="Consolas"/>
                <a:ea typeface="Consolas"/>
                <a:cs typeface="Consolas"/>
              </a:rPr>
              <a:t>        count++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7" name="Shape 17"/>
          <p:cNvSpPr/>
          <p:nvPr/>
        </p:nvSpPr>
        <p:spPr>
          <a:xfrm>
            <a:off x="6309360" y="1261872"/>
            <a:ext cx="533369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gcc -Wall says</a:t>
            </a:r>
            <a:endParaRPr lang="en-US" sz="1600" dirty="0"/>
          </a:p>
        </p:txBody>
      </p:sp>
      <p:sp>
        <p:nvSpPr>
          <p:cNvPr id="18" name="Shape 18"/>
          <p:cNvSpPr/>
          <p:nvPr/>
        </p:nvSpPr>
        <p:spPr>
          <a:xfrm>
            <a:off x="6309360" y="1645920"/>
            <a:ext cx="5333695" cy="3223260"/>
          </a:xfrm>
          <a:prstGeom prst="rect">
            <a:avLst/>
          </a:prstGeom>
          <a:solidFill>
            <a:srgbClr val="000000"/>
          </a:solidFill>
          <a:ln>
            <a:noFill/>
          </a:ln>
        </p:spPr>
        <p:txBody>
          <a:bodyPr wrap="square" lIns="0" tIns="0" rIns="0" bIns="0" rtlCol="0" anchor="t"/>
          <a:lstStyle/>
          <a:p>
            <a:endParaRPr lang="en-US"/>
          </a:p>
        </p:txBody>
      </p:sp>
      <p:sp>
        <p:nvSpPr>
          <p:cNvPr id="19" name="Code"/>
          <p:cNvSpPr/>
          <p:nvPr/>
        </p:nvSpPr>
        <p:spPr>
          <a:xfrm>
            <a:off x="6309360" y="1645920"/>
            <a:ext cx="5333695" cy="3223260"/>
          </a:xfrm>
          <a:prstGeom prst="rect">
            <a:avLst/>
          </a:prstGeom>
          <a:noFill/>
          <a:ln>
            <a:noFill/>
          </a:ln>
        </p:spPr>
        <p:txBody>
          <a:bodyPr wrap="square" lIns="182880" tIns="182880" rIns="182880" bIns="182880" rtlCol="0" anchor="t"/>
          <a:lstStyle/>
          <a:p>
            <a:pPr marL="0" indent="0" algn="l">
              <a:lnSpc>
                <a:spcPts val="2250"/>
              </a:lnSpc>
              <a:buNone/>
            </a:pPr>
            <a:r>
              <a:rPr lang="en-US" sz="1800" dirty="0">
                <a:solidFill>
                  <a:srgbClr val="D1FAE5"/>
                </a:solidFill>
                <a:latin typeface="Consolas"/>
                <a:ea typeface="Consolas"/>
                <a:cs typeface="Consolas"/>
              </a:rPr>
              <a:t>error: 'i' undeclared</a:t>
            </a:r>
            <a:endParaRPr lang="en-US" sz="1800" dirty="0"/>
          </a:p>
          <a:p>
            <a:pPr marL="0" indent="0" algn="l">
              <a:lnSpc>
                <a:spcPts val="2250"/>
              </a:lnSpc>
              <a:buNone/>
            </a:pPr>
            <a:r>
              <a:rPr lang="en-US" sz="1800" dirty="0">
                <a:solidFill>
                  <a:srgbClr val="D1FAE5"/>
                </a:solidFill>
                <a:latin typeface="Consolas"/>
                <a:ea typeface="Consolas"/>
                <a:cs typeface="Consolas"/>
              </a:rPr>
              <a:t> </a:t>
            </a:r>
            <a:endParaRPr lang="en-US" sz="1800" dirty="0"/>
          </a:p>
          <a:p>
            <a:pPr marL="0" indent="0" algn="l">
              <a:lnSpc>
                <a:spcPts val="2250"/>
              </a:lnSpc>
              <a:buNone/>
            </a:pPr>
            <a:r>
              <a:rPr lang="en-US" sz="1800" dirty="0">
                <a:solidFill>
                  <a:srgbClr val="D1FAE5"/>
                </a:solidFill>
                <a:latin typeface="Consolas"/>
                <a:ea typeface="Consolas"/>
                <a:cs typeface="Consolas"/>
              </a:rPr>
              <a:t>error: expected expression</a:t>
            </a:r>
            <a:endParaRPr lang="en-US" sz="1800" dirty="0"/>
          </a:p>
          <a:p>
            <a:pPr marL="0" indent="0" algn="l">
              <a:lnSpc>
                <a:spcPts val="2250"/>
              </a:lnSpc>
              <a:buNone/>
            </a:pPr>
            <a:r>
              <a:rPr lang="en-US" sz="1800" dirty="0">
                <a:solidFill>
                  <a:srgbClr val="D1FAE5"/>
                </a:solidFill>
                <a:latin typeface="Consolas"/>
                <a:ea typeface="Consolas"/>
                <a:cs typeface="Consolas"/>
              </a:rPr>
              <a:t>before '&lt;' token</a:t>
            </a:r>
            <a:endParaRPr lang="en-US" sz="1800" dirty="0"/>
          </a:p>
          <a:p>
            <a:pPr marL="0" indent="0" algn="l">
              <a:lnSpc>
                <a:spcPts val="2250"/>
              </a:lnSpc>
              <a:buNone/>
            </a:pPr>
            <a:r>
              <a:rPr lang="en-US" sz="1800" dirty="0">
                <a:solidFill>
                  <a:srgbClr val="D1FAE5"/>
                </a:solidFill>
                <a:latin typeface="Consolas"/>
                <a:ea typeface="Consolas"/>
                <a:cs typeface="Consolas"/>
              </a:rPr>
              <a:t> </a:t>
            </a:r>
            <a:endParaRPr lang="en-US" sz="1800" dirty="0"/>
          </a:p>
          <a:p>
            <a:pPr marL="0" indent="0" algn="l">
              <a:lnSpc>
                <a:spcPts val="2250"/>
              </a:lnSpc>
              <a:buNone/>
            </a:pPr>
            <a:r>
              <a:rPr lang="en-US" sz="1800" dirty="0">
                <a:solidFill>
                  <a:srgbClr val="D1FAE5"/>
                </a:solidFill>
                <a:latin typeface="Consolas"/>
                <a:ea typeface="Consolas"/>
                <a:cs typeface="Consolas"/>
              </a:rPr>
              <a:t>error: expected ')'</a:t>
            </a:r>
            <a:endParaRPr lang="en-US" sz="1800" dirty="0"/>
          </a:p>
          <a:p>
            <a:pPr marL="0" indent="0" algn="l">
              <a:lnSpc>
                <a:spcPts val="2250"/>
              </a:lnSpc>
              <a:buNone/>
            </a:pPr>
            <a:r>
              <a:rPr lang="en-US" sz="1800" dirty="0">
                <a:solidFill>
                  <a:srgbClr val="D1FAE5"/>
                </a:solidFill>
                <a:latin typeface="Consolas"/>
                <a:ea typeface="Consolas"/>
                <a:cs typeface="Consolas"/>
              </a:rPr>
              <a:t>before ';' token</a:t>
            </a:r>
            <a:endParaRPr lang="en-US" sz="1800" dirty="0"/>
          </a:p>
          <a:p>
            <a:pPr marL="0" indent="0" algn="l">
              <a:lnSpc>
                <a:spcPts val="2250"/>
              </a:lnSpc>
              <a:buNone/>
            </a:pPr>
            <a:r>
              <a:rPr lang="en-US" sz="1800" dirty="0">
                <a:solidFill>
                  <a:srgbClr val="D1FAE5"/>
                </a:solidFill>
                <a:latin typeface="Consolas"/>
                <a:ea typeface="Consolas"/>
                <a:cs typeface="Consolas"/>
              </a:rPr>
              <a:t> </a:t>
            </a:r>
            <a:endParaRPr lang="en-US" sz="1800" dirty="0"/>
          </a:p>
          <a:p>
            <a:pPr marL="0" indent="0" algn="l">
              <a:lnSpc>
                <a:spcPts val="2250"/>
              </a:lnSpc>
              <a:buNone/>
            </a:pPr>
            <a:r>
              <a:rPr lang="en-US" sz="1800" dirty="0">
                <a:solidFill>
                  <a:srgbClr val="D1FAE5"/>
                </a:solidFill>
                <a:latin typeface="Consolas"/>
                <a:ea typeface="Consolas"/>
                <a:cs typeface="Consolas"/>
              </a:rPr>
              <a:t>error: expected ';'</a:t>
            </a:r>
            <a:endParaRPr lang="en-US" sz="1800" dirty="0"/>
          </a:p>
          <a:p>
            <a:pPr marL="0" indent="0" algn="l">
              <a:lnSpc>
                <a:spcPts val="2250"/>
              </a:lnSpc>
              <a:buNone/>
            </a:pPr>
            <a:r>
              <a:rPr lang="en-US" sz="1800" dirty="0">
                <a:solidFill>
                  <a:srgbClr val="D1FAE5"/>
                </a:solidFill>
                <a:latin typeface="Consolas"/>
                <a:ea typeface="Consolas"/>
                <a:cs typeface="Consolas"/>
              </a:rPr>
              <a:t>before '}' token</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All three come back today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11</a:t>
            </a:r>
            <a:endParaRPr lang="en-US" sz="1400" dirty="0"/>
          </a:p>
        </p:txBody>
      </p:sp>
      <p:sp>
        <p:nvSpPr>
          <p:cNvPr id="6" name="Shape 6"/>
          <p:cNvSpPr/>
          <p:nvPr/>
        </p:nvSpPr>
        <p:spPr>
          <a:xfrm>
            <a:off x="548640" y="1399032"/>
            <a:ext cx="109728" cy="1402080"/>
          </a:xfrm>
          <a:prstGeom prst="rect">
            <a:avLst/>
          </a:prstGeom>
          <a:solidFill>
            <a:srgbClr val="31C48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Every array loop today runs exactly N times.</a:t>
            </a:r>
            <a:endParaRPr lang="en-US" sz="4000" dirty="0"/>
          </a:p>
        </p:txBody>
      </p:sp>
      <p:sp>
        <p:nvSpPr>
          <p:cNvPr id="8" name="Shape 8"/>
          <p:cNvSpPr/>
          <p:nvPr/>
        </p:nvSpPr>
        <p:spPr>
          <a:xfrm>
            <a:off x="914400" y="32125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Trace </a:t>
            </a:r>
            <a:r>
              <a:rPr lang="en-US" sz="3000" dirty="0">
                <a:solidFill>
                  <a:srgbClr val="2F80ED"/>
                </a:solidFill>
                <a:latin typeface="Consolas"/>
                <a:ea typeface="Consolas"/>
                <a:cs typeface="Consolas"/>
              </a:rPr>
              <a:t>i</a:t>
            </a:r>
            <a:r>
              <a:rPr lang="en-US" sz="3000" dirty="0">
                <a:solidFill>
                  <a:srgbClr val="18324A"/>
                </a:solidFill>
              </a:rPr>
              <a:t> and the box, row by row.</a:t>
            </a:r>
            <a:endParaRPr lang="en-US" sz="3000" dirty="0"/>
          </a:p>
          <a:p>
            <a:pPr marL="0" indent="0" algn="l">
              <a:spcAft>
                <a:spcPts val="1600"/>
              </a:spcAft>
              <a:buNone/>
            </a:pPr>
            <a:r>
              <a:rPr lang="en-US" sz="3000" dirty="0">
                <a:solidFill>
                  <a:srgbClr val="18324A"/>
                </a:solidFill>
              </a:rPr>
              <a:t>Count before, inside and after the loop.</a:t>
            </a:r>
            <a:endParaRPr lang="en-US" sz="3000" dirty="0"/>
          </a:p>
        </p:txBody>
      </p:sp>
      <p:sp>
        <p:nvSpPr>
          <p:cNvPr id="9" name="Shape 9"/>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0" name="Shape 10"/>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11"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At home: write Question 2 again, run it, and compare with your paper.</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What Friday gave us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12</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A variable lives inside its </a:t>
            </a:r>
            <a:r>
              <a:rPr lang="en-US" sz="2800" dirty="0">
                <a:solidFill>
                  <a:srgbClr val="2F80ED"/>
                </a:solidFill>
                <a:latin typeface="Consolas"/>
                <a:ea typeface="Consolas"/>
                <a:cs typeface="Consolas"/>
              </a:rPr>
              <a:t>{ }</a:t>
            </a:r>
            <a:r>
              <a:rPr lang="en-US" sz="2800" dirty="0">
                <a:solidFill>
                  <a:srgbClr val="18324A"/>
                </a:solidFill>
              </a:rPr>
              <a:t>: its </a:t>
            </a:r>
            <a:r>
              <a:rPr lang="en-US" sz="2800" b="1" dirty="0">
                <a:solidFill>
                  <a:srgbClr val="18324A"/>
                </a:solidFill>
              </a:rPr>
              <a:t>scope</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A function gets a </a:t>
            </a:r>
            <a:r>
              <a:rPr lang="en-US" sz="2800" b="1" dirty="0">
                <a:solidFill>
                  <a:srgbClr val="18324A"/>
                </a:solidFill>
              </a:rPr>
              <a:t>copy</a:t>
            </a:r>
            <a:r>
              <a:rPr lang="en-US" sz="2800" dirty="0">
                <a:solidFill>
                  <a:srgbClr val="18324A"/>
                </a:solidFill>
              </a:rPr>
              <a:t> of each value</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A new value goes back with </a:t>
            </a:r>
            <a:r>
              <a:rPr lang="en-US" sz="2800" dirty="0">
                <a:solidFill>
                  <a:srgbClr val="2F80ED"/>
                </a:solidFill>
                <a:latin typeface="Consolas"/>
                <a:ea typeface="Consolas"/>
                <a:cs typeface="Consolas"/>
              </a:rPr>
              <a:t>return</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Recursion: a </a:t>
            </a:r>
            <a:r>
              <a:rPr lang="en-US" sz="2800" b="1" dirty="0">
                <a:solidFill>
                  <a:srgbClr val="18324A"/>
                </a:solidFill>
              </a:rPr>
              <a:t>base case</a:t>
            </a:r>
            <a:r>
              <a:rPr lang="en-US" sz="2800" dirty="0">
                <a:solidFill>
                  <a:srgbClr val="18324A"/>
                </a:solidFill>
              </a:rPr>
              <a:t> and a </a:t>
            </a:r>
            <a:r>
              <a:rPr lang="en-US" sz="2800" b="1" dirty="0">
                <a:solidFill>
                  <a:srgbClr val="18324A"/>
                </a:solidFill>
              </a:rPr>
              <a:t>step closer</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Recap: what is on the screen?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13</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15824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add_ten</a:t>
            </a:r>
            <a:r>
              <a:rPr lang="en-US" sz="3200" dirty="0">
                <a:solidFill>
                  <a:srgbClr val="18324A"/>
                </a:solidFill>
              </a:rPr>
              <a:t> adds 10 to </a:t>
            </a:r>
            <a:r>
              <a:rPr lang="en-US" sz="3200" dirty="0">
                <a:solidFill>
                  <a:srgbClr val="2F80ED"/>
                </a:solidFill>
                <a:latin typeface="Consolas"/>
                <a:ea typeface="Consolas"/>
                <a:cs typeface="Consolas"/>
              </a:rPr>
              <a:t>n</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does </a:t>
            </a:r>
            <a:r>
              <a:rPr lang="en-US" sz="3200" dirty="0">
                <a:solidFill>
                  <a:srgbClr val="2F80ED"/>
                </a:solidFill>
                <a:latin typeface="Consolas"/>
                <a:ea typeface="Consolas"/>
                <a:cs typeface="Consolas"/>
              </a:rPr>
              <a:t>main</a:t>
            </a:r>
            <a:r>
              <a:rPr lang="en-US" sz="3200" dirty="0">
                <a:solidFill>
                  <a:srgbClr val="18324A"/>
                </a:solidFill>
              </a:rPr>
              <a:t> print?</a:t>
            </a:r>
            <a:endParaRPr lang="en-US" sz="3200" dirty="0"/>
          </a:p>
        </p:txBody>
      </p:sp>
      <p:sp>
        <p:nvSpPr>
          <p:cNvPr id="8" name="Shape 8"/>
          <p:cNvSpPr/>
          <p:nvPr/>
        </p:nvSpPr>
        <p:spPr>
          <a:xfrm>
            <a:off x="5760720" y="1261872"/>
            <a:ext cx="5882335" cy="4810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4810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E5E7EB"/>
                </a:solidFill>
                <a:latin typeface="Consolas"/>
                <a:ea typeface="Consolas"/>
                <a:cs typeface="Consolas"/>
              </a:rPr>
              <a:t>void add_ten(int n) {</a:t>
            </a:r>
            <a:endParaRPr lang="en-US" sz="2800" dirty="0"/>
          </a:p>
          <a:p>
            <a:pPr marL="0" indent="0" algn="l">
              <a:lnSpc>
                <a:spcPts val="3500"/>
              </a:lnSpc>
              <a:buNone/>
            </a:pPr>
            <a:r>
              <a:rPr lang="en-US" sz="2800" dirty="0">
                <a:solidFill>
                  <a:srgbClr val="E5E7EB"/>
                </a:solidFill>
                <a:latin typeface="Consolas"/>
                <a:ea typeface="Consolas"/>
                <a:cs typeface="Consolas"/>
              </a:rPr>
              <a:t>    n = n + 10;</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a:p>
            <a:pPr marL="0" indent="0" algn="l">
              <a:lnSpc>
                <a:spcPts val="3500"/>
              </a:lnSpc>
              <a:buNone/>
            </a:pPr>
            <a:r>
              <a:rPr lang="en-US" sz="2800" dirty="0">
                <a:solidFill>
                  <a:srgbClr val="E5E7EB"/>
                </a:solidFill>
                <a:latin typeface="Consolas"/>
                <a:ea typeface="Consolas"/>
                <a:cs typeface="Consolas"/>
              </a:rPr>
              <a:t> </a:t>
            </a:r>
            <a:endParaRPr lang="en-US" sz="2800" dirty="0"/>
          </a:p>
          <a:p>
            <a:pPr marL="0" indent="0" algn="l">
              <a:lnSpc>
                <a:spcPts val="3500"/>
              </a:lnSpc>
              <a:buNone/>
            </a:pPr>
            <a:r>
              <a:rPr lang="en-US" sz="2800" dirty="0">
                <a:solidFill>
                  <a:srgbClr val="E5E7EB"/>
                </a:solidFill>
                <a:latin typeface="Consolas"/>
                <a:ea typeface="Consolas"/>
                <a:cs typeface="Consolas"/>
              </a:rPr>
              <a:t>int main(void) {</a:t>
            </a:r>
            <a:endParaRPr lang="en-US" sz="2800" dirty="0"/>
          </a:p>
          <a:p>
            <a:pPr marL="0" indent="0" algn="l">
              <a:lnSpc>
                <a:spcPts val="3500"/>
              </a:lnSpc>
              <a:buNone/>
            </a:pPr>
            <a:r>
              <a:rPr lang="en-US" sz="2800" dirty="0">
                <a:solidFill>
                  <a:srgbClr val="E5E7EB"/>
                </a:solidFill>
                <a:latin typeface="Consolas"/>
                <a:ea typeface="Consolas"/>
                <a:cs typeface="Consolas"/>
              </a:rPr>
              <a:t>    int x = 5;</a:t>
            </a:r>
            <a:endParaRPr lang="en-US" sz="2800" dirty="0"/>
          </a:p>
          <a:p>
            <a:pPr marL="0" indent="0" algn="l">
              <a:lnSpc>
                <a:spcPts val="3500"/>
              </a:lnSpc>
              <a:buNone/>
            </a:pPr>
            <a:r>
              <a:rPr lang="en-US" sz="2800" dirty="0">
                <a:solidFill>
                  <a:srgbClr val="E5E7EB"/>
                </a:solidFill>
                <a:latin typeface="Consolas"/>
                <a:ea typeface="Consolas"/>
                <a:cs typeface="Consolas"/>
              </a:rPr>
              <a:t>    add_ten(x);</a:t>
            </a:r>
            <a:endParaRPr lang="en-US" sz="2800" dirty="0"/>
          </a:p>
          <a:p>
            <a:pPr marL="0" indent="0" algn="l">
              <a:lnSpc>
                <a:spcPts val="3500"/>
              </a:lnSpc>
              <a:buNone/>
            </a:pPr>
            <a:r>
              <a:rPr lang="en-US" sz="2800" dirty="0">
                <a:solidFill>
                  <a:srgbClr val="E5E7EB"/>
                </a:solidFill>
                <a:latin typeface="Consolas"/>
                <a:ea typeface="Consolas"/>
                <a:cs typeface="Consolas"/>
              </a:rPr>
              <a:t>    printf("%d\n", x);</a:t>
            </a:r>
            <a:endParaRPr lang="en-US" sz="2800" dirty="0"/>
          </a:p>
          <a:p>
            <a:pPr marL="0" indent="0" algn="l">
              <a:lnSpc>
                <a:spcPts val="3500"/>
              </a:lnSpc>
              <a:buNone/>
            </a:pPr>
            <a:r>
              <a:rPr lang="en-US" sz="2800" dirty="0">
                <a:solidFill>
                  <a:srgbClr val="E5E7EB"/>
                </a:solidFill>
                <a:latin typeface="Consolas"/>
                <a:ea typeface="Consolas"/>
                <a:cs typeface="Consolas"/>
              </a:rPr>
              <a:t>    return 0;</a:t>
            </a:r>
            <a:endParaRPr lang="en-US" sz="2800" dirty="0"/>
          </a:p>
          <a:p>
            <a:pPr marL="0" indent="0" algn="l">
              <a:lnSpc>
                <a:spcPts val="3500"/>
              </a:lnSpc>
              <a:buNone/>
            </a:pPr>
            <a:r>
              <a:rPr lang="en-US" sz="2800" dirty="0">
                <a:solidFill>
                  <a:srgbClr val="E5E7EB"/>
                </a:solidFill>
                <a:latin typeface="Consolas"/>
                <a:ea typeface="Consolas"/>
                <a:cs typeface="Consolas"/>
              </a:rPr>
              <a:t>}</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Recap: what is on the screen?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14</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15824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add_ten</a:t>
            </a:r>
            <a:r>
              <a:rPr lang="en-US" sz="3200" dirty="0">
                <a:solidFill>
                  <a:srgbClr val="18324A"/>
                </a:solidFill>
              </a:rPr>
              <a:t> adds 10 to </a:t>
            </a:r>
            <a:r>
              <a:rPr lang="en-US" sz="3200" dirty="0">
                <a:solidFill>
                  <a:srgbClr val="2F80ED"/>
                </a:solidFill>
                <a:latin typeface="Consolas"/>
                <a:ea typeface="Consolas"/>
                <a:cs typeface="Consolas"/>
              </a:rPr>
              <a:t>n</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does </a:t>
            </a:r>
            <a:r>
              <a:rPr lang="en-US" sz="3200" dirty="0">
                <a:solidFill>
                  <a:srgbClr val="2F80ED"/>
                </a:solidFill>
                <a:latin typeface="Consolas"/>
                <a:ea typeface="Consolas"/>
                <a:cs typeface="Consolas"/>
              </a:rPr>
              <a:t>main</a:t>
            </a:r>
            <a:r>
              <a:rPr lang="en-US" sz="3200" dirty="0">
                <a:solidFill>
                  <a:srgbClr val="18324A"/>
                </a:solidFill>
              </a:rPr>
              <a:t> print?</a:t>
            </a:r>
            <a:endParaRPr lang="en-US" sz="3200" dirty="0"/>
          </a:p>
        </p:txBody>
      </p:sp>
      <p:sp>
        <p:nvSpPr>
          <p:cNvPr id="8" name="Shape 8"/>
          <p:cNvSpPr/>
          <p:nvPr/>
        </p:nvSpPr>
        <p:spPr>
          <a:xfrm>
            <a:off x="5760720" y="1261872"/>
            <a:ext cx="5882335" cy="385826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3575177"/>
            <a:ext cx="5882335"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3575177"/>
            <a:ext cx="82296" cy="3492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760720" y="3924427"/>
            <a:ext cx="5882335" cy="3492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760720" y="3924427"/>
            <a:ext cx="82296" cy="3492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760720" y="1261872"/>
            <a:ext cx="5882335" cy="38582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void add_ten(int n) {</a:t>
            </a:r>
            <a:endParaRPr lang="en-US" sz="2200" dirty="0"/>
          </a:p>
          <a:p>
            <a:pPr marL="0" indent="0" algn="l">
              <a:lnSpc>
                <a:spcPts val="2750"/>
              </a:lnSpc>
              <a:buNone/>
            </a:pPr>
            <a:r>
              <a:rPr lang="en-US" sz="2200" dirty="0">
                <a:solidFill>
                  <a:srgbClr val="64748B"/>
                </a:solidFill>
                <a:latin typeface="Consolas"/>
                <a:ea typeface="Consolas"/>
                <a:cs typeface="Consolas"/>
              </a:rPr>
              <a:t>    n = n + 10;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x = 5;</a:t>
            </a:r>
            <a:endParaRPr lang="en-US" sz="2200" dirty="0"/>
          </a:p>
          <a:p>
            <a:pPr marL="0" indent="0" algn="l">
              <a:lnSpc>
                <a:spcPts val="2750"/>
              </a:lnSpc>
              <a:buNone/>
            </a:pPr>
            <a:r>
              <a:rPr lang="en-US" sz="2200" dirty="0">
                <a:solidFill>
                  <a:srgbClr val="FFFFFF"/>
                </a:solidFill>
                <a:latin typeface="Consolas"/>
                <a:ea typeface="Consolas"/>
                <a:cs typeface="Consolas"/>
              </a:rPr>
              <a:t>    add_ten(x);</a:t>
            </a:r>
            <a:endParaRPr lang="en-US" sz="2200" dirty="0"/>
          </a:p>
          <a:p>
            <a:pPr marL="0" indent="0" algn="l">
              <a:lnSpc>
                <a:spcPts val="2750"/>
              </a:lnSpc>
              <a:buNone/>
            </a:pPr>
            <a:r>
              <a:rPr lang="en-US" sz="2200" dirty="0">
                <a:solidFill>
                  <a:srgbClr val="FFFFFF"/>
                </a:solidFill>
                <a:latin typeface="Consolas"/>
                <a:ea typeface="Consolas"/>
                <a:cs typeface="Consolas"/>
              </a:rPr>
              <a:t>    printf("%d\n", x);</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4" name="Shape 14"/>
          <p:cNvSpPr/>
          <p:nvPr/>
        </p:nvSpPr>
        <p:spPr>
          <a:xfrm>
            <a:off x="548640" y="4648200"/>
            <a:ext cx="4937760" cy="161544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5" name="Shape 15"/>
          <p:cNvSpPr/>
          <p:nvPr/>
        </p:nvSpPr>
        <p:spPr>
          <a:xfrm>
            <a:off x="548640" y="4648200"/>
            <a:ext cx="109728" cy="1615440"/>
          </a:xfrm>
          <a:prstGeom prst="rect">
            <a:avLst/>
          </a:prstGeom>
          <a:solidFill>
            <a:srgbClr val="31C48D"/>
          </a:solidFill>
          <a:ln>
            <a:noFill/>
          </a:ln>
        </p:spPr>
        <p:txBody>
          <a:bodyPr wrap="square" lIns="0" tIns="0" rIns="0" bIns="0" rtlCol="0" anchor="t"/>
          <a:lstStyle/>
          <a:p>
            <a:endParaRPr lang="en-US"/>
          </a:p>
        </p:txBody>
      </p:sp>
      <p:sp>
        <p:nvSpPr>
          <p:cNvPr id="16" name="Callout"/>
          <p:cNvSpPr/>
          <p:nvPr/>
        </p:nvSpPr>
        <p:spPr>
          <a:xfrm>
            <a:off x="658368" y="4648200"/>
            <a:ext cx="4828032" cy="161544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latin typeface="Consolas"/>
                <a:ea typeface="Consolas"/>
                <a:cs typeface="Consolas"/>
              </a:rPr>
              <a:t>5</a:t>
            </a:r>
            <a:endParaRPr lang="en-US" sz="2600" dirty="0"/>
          </a:p>
          <a:p>
            <a:pPr marL="0" indent="0" algn="l">
              <a:buNone/>
            </a:pPr>
            <a:r>
              <a:rPr lang="en-US" sz="2600" dirty="0">
                <a:solidFill>
                  <a:srgbClr val="18324A"/>
                </a:solidFill>
                <a:latin typeface="Consolas"/>
                <a:ea typeface="Consolas"/>
                <a:cs typeface="Consolas"/>
              </a:rPr>
              <a:t>n</a:t>
            </a:r>
            <a:r>
              <a:rPr lang="en-US" sz="2600" dirty="0">
                <a:solidFill>
                  <a:srgbClr val="18324A"/>
                </a:solidFill>
              </a:rPr>
              <a:t> was a </a:t>
            </a:r>
            <a:r>
              <a:rPr lang="en-US" sz="2600" b="1" dirty="0">
                <a:solidFill>
                  <a:srgbClr val="18324A"/>
                </a:solidFill>
              </a:rPr>
              <a:t>copy</a:t>
            </a:r>
            <a:r>
              <a:rPr lang="en-US" sz="2600" dirty="0">
                <a:solidFill>
                  <a:srgbClr val="18324A"/>
                </a:solidFill>
              </a:rPr>
              <a:t> of </a:t>
            </a:r>
            <a:r>
              <a:rPr lang="en-US" sz="2600" dirty="0">
                <a:solidFill>
                  <a:srgbClr val="18324A"/>
                </a:solidFill>
                <a:latin typeface="Consolas"/>
                <a:ea typeface="Consolas"/>
                <a:cs typeface="Consolas"/>
              </a:rPr>
              <a:t>x</a:t>
            </a:r>
            <a:r>
              <a:rPr lang="en-US" sz="2600" dirty="0">
                <a:solidFill>
                  <a:srgbClr val="18324A"/>
                </a:solidFill>
              </a:rPr>
              <a:t>.</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Today's roadmap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15</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What an array is: </a:t>
            </a:r>
            <a:r>
              <a:rPr lang="en-US" sz="2800" b="1" dirty="0">
                <a:solidFill>
                  <a:srgbClr val="18324A"/>
                </a:solidFill>
              </a:rPr>
              <a:t>many boxes, one name</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A loop over every box: </a:t>
            </a:r>
            <a:r>
              <a:rPr lang="en-US" sz="2800" dirty="0">
                <a:solidFill>
                  <a:srgbClr val="2F80ED"/>
                </a:solidFill>
                <a:latin typeface="Consolas"/>
                <a:ea typeface="Consolas"/>
                <a:cs typeface="Consolas"/>
              </a:rPr>
              <a:t>for (int i = 0; i &lt; N; i++)</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Read, add up, print backwards</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The mistakes C does </a:t>
            </a:r>
            <a:r>
              <a:rPr lang="en-US" sz="2800" b="1" dirty="0">
                <a:solidFill>
                  <a:srgbClr val="18324A"/>
                </a:solidFill>
              </a:rPr>
              <a:t>not</a:t>
            </a:r>
            <a:r>
              <a:rPr lang="en-US" sz="2800" dirty="0">
                <a:solidFill>
                  <a:srgbClr val="18324A"/>
                </a:solidFill>
              </a:rPr>
              <a:t> stop</a:t>
            </a:r>
            <a:endParaRPr lang="en-US" sz="2800" dirty="0"/>
          </a:p>
        </p:txBody>
      </p:sp>
      <p:sp>
        <p:nvSpPr>
          <p:cNvPr id="14" name="Shape 14"/>
          <p:cNvSpPr/>
          <p:nvPr/>
        </p:nvSpPr>
        <p:spPr>
          <a:xfrm>
            <a:off x="731520" y="4965192"/>
            <a:ext cx="640080" cy="640080"/>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691640" y="49651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Your turn: three small tasks</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2F80ED"/>
          </a:solidFill>
          <a:ln>
            <a:noFill/>
          </a:ln>
        </p:spPr>
        <p:txBody>
          <a:bodyPr wrap="square" lIns="0" tIns="0" rIns="0" bIns="0" rtlCol="0" anchor="ctr"/>
          <a:lstStyle/>
          <a:p>
            <a:pPr marL="0" indent="0" algn="ctr">
              <a:buNone/>
            </a:pPr>
            <a:r>
              <a:rPr lang="en-US" sz="5400" b="1" dirty="0">
                <a:solidFill>
                  <a:srgbClr val="FFFFFF"/>
                </a:solidFill>
              </a:rPr>
              <a:t>1</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What an array is</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Many values under one name</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Five scores, five variables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17</a:t>
            </a:r>
            <a:endParaRPr lang="en-US" sz="1400" dirty="0"/>
          </a:p>
        </p:txBody>
      </p:sp>
      <p:sp>
        <p:nvSpPr>
          <p:cNvPr id="6" name="Shape 6"/>
          <p:cNvSpPr/>
          <p:nvPr/>
        </p:nvSpPr>
        <p:spPr>
          <a:xfrm>
            <a:off x="548640" y="1261872"/>
            <a:ext cx="7863840" cy="2905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794002"/>
            <a:ext cx="786384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794002"/>
            <a:ext cx="82296" cy="3175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7863840" cy="290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main(void) {</a:t>
            </a:r>
            <a:endParaRPr lang="en-US" sz="2000" dirty="0"/>
          </a:p>
          <a:p>
            <a:pPr marL="0" indent="0" algn="l">
              <a:lnSpc>
                <a:spcPts val="2500"/>
              </a:lnSpc>
              <a:buNone/>
            </a:pPr>
            <a:r>
              <a:rPr lang="en-US" sz="2000" dirty="0">
                <a:solidFill>
                  <a:srgbClr val="FFFFFF"/>
                </a:solidFill>
                <a:latin typeface="Consolas"/>
                <a:ea typeface="Consolas"/>
                <a:cs typeface="Consolas"/>
              </a:rPr>
              <a:t>    int s0 = 7, s1 = 9, s2 = 6, s3 = 10, s4 = 8;</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    printf("%d %d %d %d %d\n", s0, s1, s2, s3, s4);</a:t>
            </a:r>
            <a:endParaRPr lang="en-US" sz="2000" dirty="0"/>
          </a:p>
          <a:p>
            <a:pPr marL="0" indent="0" algn="l">
              <a:lnSpc>
                <a:spcPts val="2500"/>
              </a:lnSpc>
              <a:buNone/>
            </a:pPr>
            <a:r>
              <a:rPr lang="en-US" sz="2000" dirty="0">
                <a:solidFill>
                  <a:srgbClr val="64748B"/>
                </a:solidFill>
                <a:latin typeface="Consolas"/>
                <a:ea typeface="Consolas"/>
                <a:cs typeface="Consolas"/>
              </a:rPr>
              <a:t>    int sum = s0 + s1 + s2 + s3 + s4;</a:t>
            </a:r>
            <a:endParaRPr lang="en-US" sz="2000" dirty="0"/>
          </a:p>
          <a:p>
            <a:pPr marL="0" indent="0" algn="l">
              <a:lnSpc>
                <a:spcPts val="2500"/>
              </a:lnSpc>
              <a:buNone/>
            </a:pPr>
            <a:r>
              <a:rPr lang="en-US" sz="2000" dirty="0">
                <a:solidFill>
                  <a:srgbClr val="64748B"/>
                </a:solidFill>
                <a:latin typeface="Consolas"/>
                <a:ea typeface="Consolas"/>
                <a:cs typeface="Consolas"/>
              </a:rPr>
              <a:t>    printf("average: %.1f\n", sum / 5.0);</a:t>
            </a:r>
            <a:endParaRPr lang="en-US" sz="2000" dirty="0"/>
          </a:p>
          <a:p>
            <a:pPr marL="0" indent="0" algn="l">
              <a:lnSpc>
                <a:spcPts val="2500"/>
              </a:lnSpc>
              <a:buNone/>
            </a:pPr>
            <a:r>
              <a:rPr lang="en-US" sz="2000" dirty="0">
                <a:solidFill>
                  <a:srgbClr val="64748B"/>
                </a:solidFill>
                <a:latin typeface="Consolas"/>
                <a:ea typeface="Consolas"/>
                <a:cs typeface="Consolas"/>
              </a:rPr>
              <a:t>    return 0;</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0" name="Shape 10"/>
          <p:cNvSpPr/>
          <p:nvPr/>
        </p:nvSpPr>
        <p:spPr>
          <a:xfrm>
            <a:off x="8686800" y="1261872"/>
            <a:ext cx="295625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8686800" y="1645920"/>
            <a:ext cx="2956255" cy="1127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8686800" y="1645920"/>
            <a:ext cx="295625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7 9 6 10 8</a:t>
            </a:r>
            <a:endParaRPr lang="en-US" sz="2400" dirty="0"/>
          </a:p>
          <a:p>
            <a:pPr marL="0" indent="0" algn="l">
              <a:lnSpc>
                <a:spcPts val="3000"/>
              </a:lnSpc>
              <a:buNone/>
            </a:pPr>
            <a:r>
              <a:rPr lang="en-US" sz="2400" dirty="0">
                <a:solidFill>
                  <a:srgbClr val="D1FAE5"/>
                </a:solidFill>
                <a:latin typeface="Consolas"/>
                <a:ea typeface="Consolas"/>
                <a:cs typeface="Consolas"/>
              </a:rPr>
              <a:t>average: 8.0</a:t>
            </a:r>
            <a:endParaRPr lang="en-US" sz="2400" dirty="0"/>
          </a:p>
        </p:txBody>
      </p:sp>
      <p:sp>
        <p:nvSpPr>
          <p:cNvPr id="13" name="Shape 13"/>
          <p:cNvSpPr/>
          <p:nvPr/>
        </p:nvSpPr>
        <p:spPr>
          <a:xfrm>
            <a:off x="8686800" y="3048000"/>
            <a:ext cx="295625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4" name="Shape 14"/>
          <p:cNvSpPr/>
          <p:nvPr/>
        </p:nvSpPr>
        <p:spPr>
          <a:xfrm>
            <a:off x="8686800" y="3048000"/>
            <a:ext cx="109728" cy="1051560"/>
          </a:xfrm>
          <a:prstGeom prst="rect">
            <a:avLst/>
          </a:prstGeom>
          <a:solidFill>
            <a:srgbClr val="2F80ED"/>
          </a:solidFill>
          <a:ln>
            <a:noFill/>
          </a:ln>
        </p:spPr>
        <p:txBody>
          <a:bodyPr wrap="square" lIns="0" tIns="0" rIns="0" bIns="0" rtlCol="0" anchor="t"/>
          <a:lstStyle/>
          <a:p>
            <a:endParaRPr lang="en-US"/>
          </a:p>
        </p:txBody>
      </p:sp>
      <p:sp>
        <p:nvSpPr>
          <p:cNvPr id="15" name="Callout"/>
          <p:cNvSpPr/>
          <p:nvPr/>
        </p:nvSpPr>
        <p:spPr>
          <a:xfrm>
            <a:off x="8796528" y="3048000"/>
            <a:ext cx="284652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Five names: </a:t>
            </a:r>
            <a:r>
              <a:rPr lang="en-US" sz="2400" dirty="0">
                <a:solidFill>
                  <a:srgbClr val="18324A"/>
                </a:solidFill>
                <a:latin typeface="Consolas"/>
                <a:ea typeface="Consolas"/>
                <a:cs typeface="Consolas"/>
              </a:rPr>
              <a:t>s0</a:t>
            </a:r>
            <a:r>
              <a:rPr lang="en-US" sz="2400" dirty="0">
                <a:solidFill>
                  <a:srgbClr val="18324A"/>
                </a:solidFill>
              </a:rPr>
              <a:t> to </a:t>
            </a:r>
            <a:r>
              <a:rPr lang="en-US" sz="2400" dirty="0">
                <a:solidFill>
                  <a:srgbClr val="18324A"/>
                </a:solidFill>
                <a:latin typeface="Consolas"/>
                <a:ea typeface="Consolas"/>
                <a:cs typeface="Consolas"/>
              </a:rPr>
              <a:t>s4</a:t>
            </a:r>
            <a:r>
              <a:rPr lang="en-US" sz="2400" dirty="0">
                <a:solidFill>
                  <a:srgbClr val="18324A"/>
                </a:solidFill>
              </a:rPr>
              <a:t>.</a:t>
            </a:r>
            <a:endParaRPr lang="en-US" sz="2400" dirty="0"/>
          </a:p>
        </p:txBody>
      </p:sp>
      <p:sp>
        <p:nvSpPr>
          <p:cNvPr id="16" name="Shape 16"/>
          <p:cNvSpPr/>
          <p:nvPr/>
        </p:nvSpPr>
        <p:spPr>
          <a:xfrm>
            <a:off x="8686800" y="4300728"/>
            <a:ext cx="2956255" cy="178308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7" name="Shape 17"/>
          <p:cNvSpPr/>
          <p:nvPr/>
        </p:nvSpPr>
        <p:spPr>
          <a:xfrm>
            <a:off x="8686800" y="4300728"/>
            <a:ext cx="109728" cy="1783080"/>
          </a:xfrm>
          <a:prstGeom prst="rect">
            <a:avLst/>
          </a:prstGeom>
          <a:solidFill>
            <a:srgbClr val="FF6B6B"/>
          </a:solidFill>
          <a:ln>
            <a:noFill/>
          </a:ln>
        </p:spPr>
        <p:txBody>
          <a:bodyPr wrap="square" lIns="0" tIns="0" rIns="0" bIns="0" rtlCol="0" anchor="t"/>
          <a:lstStyle/>
          <a:p>
            <a:endParaRPr lang="en-US"/>
          </a:p>
        </p:txBody>
      </p:sp>
      <p:sp>
        <p:nvSpPr>
          <p:cNvPr id="18" name="Callout"/>
          <p:cNvSpPr/>
          <p:nvPr/>
        </p:nvSpPr>
        <p:spPr>
          <a:xfrm>
            <a:off x="8796528" y="4300728"/>
            <a:ext cx="2846527" cy="178308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Every new score: a new name, and every line changes.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Now 35 students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18</a:t>
            </a:r>
            <a:endParaRPr lang="en-US" sz="1400" dirty="0"/>
          </a:p>
        </p:txBody>
      </p:sp>
      <p:sp>
        <p:nvSpPr>
          <p:cNvPr id="6" name="Shape 6"/>
          <p:cNvSpPr/>
          <p:nvPr/>
        </p:nvSpPr>
        <p:spPr>
          <a:xfrm>
            <a:off x="548640" y="1399032"/>
            <a:ext cx="109728" cy="792480"/>
          </a:xfrm>
          <a:prstGeom prst="rect">
            <a:avLst/>
          </a:prstGeom>
          <a:solidFill>
            <a:srgbClr val="FF6B6B"/>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18324A"/>
                </a:solidFill>
              </a:rPr>
              <a:t>Thirty-five variables? </a:t>
            </a:r>
            <a:r>
              <a:rPr lang="en-US" sz="4000" b="1" dirty="0">
                <a:solidFill>
                  <a:srgbClr val="FF6B6B"/>
                </a:solidFill>
                <a:latin typeface="Consolas"/>
                <a:ea typeface="Consolas"/>
                <a:cs typeface="Consolas"/>
              </a:rPr>
              <a:t>s0</a:t>
            </a:r>
            <a:r>
              <a:rPr lang="en-US" sz="4000" b="1" dirty="0">
                <a:solidFill>
                  <a:srgbClr val="18324A"/>
                </a:solidFill>
              </a:rPr>
              <a:t>, </a:t>
            </a:r>
            <a:r>
              <a:rPr lang="en-US" sz="4000" b="1" dirty="0">
                <a:solidFill>
                  <a:srgbClr val="FF6B6B"/>
                </a:solidFill>
                <a:latin typeface="Consolas"/>
                <a:ea typeface="Consolas"/>
                <a:cs typeface="Consolas"/>
              </a:rPr>
              <a:t>s1</a:t>
            </a:r>
            <a:r>
              <a:rPr lang="en-US" sz="4000" b="1" dirty="0">
                <a:solidFill>
                  <a:srgbClr val="18324A"/>
                </a:solidFill>
              </a:rPr>
              <a:t>, ... </a:t>
            </a:r>
            <a:r>
              <a:rPr lang="en-US" sz="4000" b="1" dirty="0">
                <a:solidFill>
                  <a:srgbClr val="FF6B6B"/>
                </a:solidFill>
                <a:latin typeface="Consolas"/>
                <a:ea typeface="Consolas"/>
                <a:cs typeface="Consolas"/>
              </a:rPr>
              <a:t>s34</a:t>
            </a:r>
            <a:r>
              <a:rPr lang="en-US" sz="4000" b="1" dirty="0">
                <a:solidFill>
                  <a:srgbClr val="18324A"/>
                </a:solidFill>
              </a:rPr>
              <a:t>?</a:t>
            </a:r>
            <a:endParaRPr lang="en-US" sz="4000" dirty="0"/>
          </a:p>
        </p:txBody>
      </p:sp>
      <p:sp>
        <p:nvSpPr>
          <p:cNvPr id="8" name="Shape 8"/>
          <p:cNvSpPr/>
          <p:nvPr/>
        </p:nvSpPr>
        <p:spPr>
          <a:xfrm>
            <a:off x="914400" y="2602992"/>
            <a:ext cx="10728655" cy="2514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Thirty-five names in the </a:t>
            </a:r>
            <a:r>
              <a:rPr lang="en-US" sz="3000" dirty="0">
                <a:solidFill>
                  <a:srgbClr val="2F80ED"/>
                </a:solidFill>
                <a:latin typeface="Consolas"/>
                <a:ea typeface="Consolas"/>
                <a:cs typeface="Consolas"/>
              </a:rPr>
              <a:t>printf</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Thirty-five names in the sum.</a:t>
            </a:r>
            <a:endParaRPr lang="en-US" sz="3000" dirty="0"/>
          </a:p>
          <a:p>
            <a:pPr marL="0" indent="0" algn="l">
              <a:spcAft>
                <a:spcPts val="1600"/>
              </a:spcAft>
              <a:buNone/>
            </a:pPr>
            <a:r>
              <a:rPr lang="en-US" sz="3000" dirty="0">
                <a:solidFill>
                  <a:srgbClr val="18324A"/>
                </a:solidFill>
              </a:rPr>
              <a:t>And no loop can walk through them: they are 35 </a:t>
            </a:r>
            <a:r>
              <a:rPr lang="en-US" sz="3000" b="1" dirty="0">
                <a:solidFill>
                  <a:srgbClr val="18324A"/>
                </a:solidFill>
              </a:rPr>
              <a:t>different</a:t>
            </a:r>
            <a:r>
              <a:rPr lang="en-US" sz="3000" dirty="0">
                <a:solidFill>
                  <a:srgbClr val="18324A"/>
                </a:solidFill>
              </a:rPr>
              <a:t> names.</a:t>
            </a:r>
            <a:endParaRPr lang="en-US"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Five scores, one array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19</a:t>
            </a:r>
            <a:endParaRPr lang="en-US" sz="1400" dirty="0"/>
          </a:p>
        </p:txBody>
      </p:sp>
      <p:sp>
        <p:nvSpPr>
          <p:cNvPr id="6" name="Shape 6"/>
          <p:cNvSpPr/>
          <p:nvPr/>
        </p:nvSpPr>
        <p:spPr>
          <a:xfrm>
            <a:off x="548640" y="1261872"/>
            <a:ext cx="6766560" cy="4556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82892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828927"/>
            <a:ext cx="82296" cy="3492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5567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FFFFFF"/>
                </a:solidFill>
                <a:latin typeface="Consolas"/>
                <a:ea typeface="Consolas"/>
                <a:cs typeface="Consolas"/>
              </a:rPr>
              <a:t>    int scores[5] = {7, 9, 6, 10, 8};</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int sum = 0;</a:t>
            </a:r>
            <a:endParaRPr lang="en-US" sz="2200" dirty="0"/>
          </a:p>
          <a:p>
            <a:pPr marL="0" indent="0" algn="l">
              <a:lnSpc>
                <a:spcPts val="2750"/>
              </a:lnSpc>
              <a:buNone/>
            </a:pPr>
            <a:r>
              <a:rPr lang="en-US" sz="2200" dirty="0">
                <a:solidFill>
                  <a:srgbClr val="64748B"/>
                </a:solidFill>
                <a:latin typeface="Consolas"/>
                <a:ea typeface="Consolas"/>
                <a:cs typeface="Consolas"/>
              </a:rPr>
              <a:t>    for (int i = 0; i &lt; 5; i++) {</a:t>
            </a:r>
            <a:endParaRPr lang="en-US" sz="2200" dirty="0"/>
          </a:p>
          <a:p>
            <a:pPr marL="0" indent="0" algn="l">
              <a:lnSpc>
                <a:spcPts val="2750"/>
              </a:lnSpc>
              <a:buNone/>
            </a:pPr>
            <a:r>
              <a:rPr lang="en-US" sz="2200" dirty="0">
                <a:solidFill>
                  <a:srgbClr val="64748B"/>
                </a:solidFill>
                <a:latin typeface="Consolas"/>
                <a:ea typeface="Consolas"/>
                <a:cs typeface="Consolas"/>
              </a:rPr>
              <a:t>        printf("%d ", scores[i]);</a:t>
            </a:r>
            <a:endParaRPr lang="en-US" sz="2200" dirty="0"/>
          </a:p>
          <a:p>
            <a:pPr marL="0" indent="0" algn="l">
              <a:lnSpc>
                <a:spcPts val="2750"/>
              </a:lnSpc>
              <a:buNone/>
            </a:pPr>
            <a:r>
              <a:rPr lang="en-US" sz="2200" dirty="0">
                <a:solidFill>
                  <a:srgbClr val="64748B"/>
                </a:solidFill>
                <a:latin typeface="Consolas"/>
                <a:ea typeface="Consolas"/>
                <a:cs typeface="Consolas"/>
              </a:rPr>
              <a:t>        sum += scores[i];</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printf("\n");</a:t>
            </a:r>
            <a:endParaRPr lang="en-US" sz="2200" dirty="0"/>
          </a:p>
          <a:p>
            <a:pPr marL="0" indent="0" algn="l">
              <a:lnSpc>
                <a:spcPts val="2750"/>
              </a:lnSpc>
              <a:buNone/>
            </a:pPr>
            <a:r>
              <a:rPr lang="en-US" sz="2200" dirty="0">
                <a:solidFill>
                  <a:srgbClr val="64748B"/>
                </a:solidFill>
                <a:latin typeface="Consolas"/>
                <a:ea typeface="Consolas"/>
                <a:cs typeface="Consolas"/>
              </a:rPr>
              <a:t>    printf("average: %.1f\n", sum / 5.0);</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0" name="Shape 1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7589520" y="1645920"/>
            <a:ext cx="4053535" cy="1127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589520" y="1645920"/>
            <a:ext cx="405353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7 9 6 10 8</a:t>
            </a:r>
            <a:endParaRPr lang="en-US" sz="2400" dirty="0"/>
          </a:p>
          <a:p>
            <a:pPr marL="0" indent="0" algn="l">
              <a:lnSpc>
                <a:spcPts val="3000"/>
              </a:lnSpc>
              <a:buNone/>
            </a:pPr>
            <a:r>
              <a:rPr lang="en-US" sz="2400" dirty="0">
                <a:solidFill>
                  <a:srgbClr val="D1FAE5"/>
                </a:solidFill>
                <a:latin typeface="Consolas"/>
                <a:ea typeface="Consolas"/>
                <a:cs typeface="Consolas"/>
              </a:rPr>
              <a:t>average: 8.0</a:t>
            </a:r>
            <a:endParaRPr lang="en-US" sz="2400" dirty="0"/>
          </a:p>
        </p:txBody>
      </p:sp>
      <p:sp>
        <p:nvSpPr>
          <p:cNvPr id="13" name="Shape 13"/>
          <p:cNvSpPr/>
          <p:nvPr/>
        </p:nvSpPr>
        <p:spPr>
          <a:xfrm>
            <a:off x="7589520" y="3048000"/>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7589520" y="3048000"/>
            <a:ext cx="109728" cy="68580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7699248" y="304800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One name: </a:t>
            </a:r>
            <a:r>
              <a:rPr lang="en-US" sz="2400" dirty="0">
                <a:solidFill>
                  <a:srgbClr val="18324A"/>
                </a:solidFill>
                <a:latin typeface="Consolas"/>
                <a:ea typeface="Consolas"/>
                <a:cs typeface="Consolas"/>
              </a:rPr>
              <a:t>scores</a:t>
            </a:r>
            <a:r>
              <a:rPr lang="en-US" sz="2400" dirty="0">
                <a:solidFill>
                  <a:srgbClr val="18324A"/>
                </a:solidFill>
              </a:rPr>
              <a:t>.</a:t>
            </a:r>
            <a:endParaRPr lang="en-US" sz="2400" dirty="0"/>
          </a:p>
        </p:txBody>
      </p:sp>
      <p:sp>
        <p:nvSpPr>
          <p:cNvPr id="16" name="Shape 16"/>
          <p:cNvSpPr/>
          <p:nvPr/>
        </p:nvSpPr>
        <p:spPr>
          <a:xfrm>
            <a:off x="7589520" y="3934968"/>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7" name="Shape 17"/>
          <p:cNvSpPr/>
          <p:nvPr/>
        </p:nvSpPr>
        <p:spPr>
          <a:xfrm>
            <a:off x="7589520" y="3934968"/>
            <a:ext cx="109728" cy="685800"/>
          </a:xfrm>
          <a:prstGeom prst="rect">
            <a:avLst/>
          </a:prstGeom>
          <a:solidFill>
            <a:srgbClr val="31C48D"/>
          </a:solidFill>
          <a:ln>
            <a:noFill/>
          </a:ln>
        </p:spPr>
        <p:txBody>
          <a:bodyPr wrap="square" lIns="0" tIns="0" rIns="0" bIns="0" rtlCol="0" anchor="t"/>
          <a:lstStyle/>
          <a:p>
            <a:endParaRPr lang="en-US"/>
          </a:p>
        </p:txBody>
      </p:sp>
      <p:sp>
        <p:nvSpPr>
          <p:cNvPr id="18" name="Callout"/>
          <p:cNvSpPr/>
          <p:nvPr/>
        </p:nvSpPr>
        <p:spPr>
          <a:xfrm>
            <a:off x="7699248" y="3934968"/>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Room for 5 </a:t>
            </a:r>
            <a:r>
              <a:rPr lang="en-US" sz="2400" dirty="0">
                <a:solidFill>
                  <a:srgbClr val="18324A"/>
                </a:solidFill>
                <a:latin typeface="Consolas"/>
                <a:ea typeface="Consolas"/>
                <a:cs typeface="Consolas"/>
              </a:rPr>
              <a:t>int</a:t>
            </a:r>
            <a:r>
              <a:rPr lang="en-US" sz="2400" dirty="0">
                <a:solidFill>
                  <a:srgbClr val="18324A"/>
                </a:solidFill>
              </a:rPr>
              <a:t> values.</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loop walks through it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20</a:t>
            </a:r>
            <a:endParaRPr lang="en-US" sz="1400" dirty="0"/>
          </a:p>
        </p:txBody>
      </p:sp>
      <p:sp>
        <p:nvSpPr>
          <p:cNvPr id="6" name="Shape 6"/>
          <p:cNvSpPr/>
          <p:nvPr/>
        </p:nvSpPr>
        <p:spPr>
          <a:xfrm>
            <a:off x="548640" y="1261872"/>
            <a:ext cx="6766560" cy="4556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87667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87667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225927"/>
            <a:ext cx="676656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225927"/>
            <a:ext cx="82296" cy="3492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575177"/>
            <a:ext cx="6766560" cy="3492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575177"/>
            <a:ext cx="82296" cy="349250"/>
          </a:xfrm>
          <a:prstGeom prst="rect">
            <a:avLst/>
          </a:prstGeom>
          <a:solidFill>
            <a:srgbClr val="F59E0B"/>
          </a:solidFill>
          <a:ln>
            <a:noFill/>
          </a:ln>
        </p:spPr>
        <p:txBody>
          <a:bodyPr wrap="square" lIns="0" tIns="0" rIns="0" bIns="0" rtlCol="0" anchor="t"/>
          <a:lstStyle/>
          <a:p>
            <a:endParaRPr lang="en-US"/>
          </a:p>
        </p:txBody>
      </p:sp>
      <p:sp>
        <p:nvSpPr>
          <p:cNvPr id="13" name="Shape 13"/>
          <p:cNvSpPr/>
          <p:nvPr/>
        </p:nvSpPr>
        <p:spPr>
          <a:xfrm>
            <a:off x="548640" y="3924427"/>
            <a:ext cx="6766560" cy="349250"/>
          </a:xfrm>
          <a:prstGeom prst="rect">
            <a:avLst/>
          </a:prstGeom>
          <a:solidFill>
            <a:srgbClr val="25406B"/>
          </a:solidFill>
          <a:ln>
            <a:noFill/>
          </a:ln>
        </p:spPr>
        <p:txBody>
          <a:bodyPr wrap="square" lIns="0" tIns="0" rIns="0" bIns="0" rtlCol="0" anchor="t"/>
          <a:lstStyle/>
          <a:p>
            <a:endParaRPr lang="en-US"/>
          </a:p>
        </p:txBody>
      </p:sp>
      <p:sp>
        <p:nvSpPr>
          <p:cNvPr id="14" name="Shape 14"/>
          <p:cNvSpPr/>
          <p:nvPr/>
        </p:nvSpPr>
        <p:spPr>
          <a:xfrm>
            <a:off x="548640" y="3924427"/>
            <a:ext cx="82296" cy="349250"/>
          </a:xfrm>
          <a:prstGeom prst="rect">
            <a:avLst/>
          </a:prstGeom>
          <a:solidFill>
            <a:srgbClr val="F59E0B"/>
          </a:solidFill>
          <a:ln>
            <a:noFill/>
          </a:ln>
        </p:spPr>
        <p:txBody>
          <a:bodyPr wrap="square" lIns="0" tIns="0" rIns="0" bIns="0" rtlCol="0" anchor="t"/>
          <a:lstStyle/>
          <a:p>
            <a:endParaRPr lang="en-US"/>
          </a:p>
        </p:txBody>
      </p:sp>
      <p:sp>
        <p:nvSpPr>
          <p:cNvPr id="15" name="Code"/>
          <p:cNvSpPr/>
          <p:nvPr/>
        </p:nvSpPr>
        <p:spPr>
          <a:xfrm>
            <a:off x="548640" y="1261872"/>
            <a:ext cx="6766560" cy="45567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scores[5] = {7, 9, 6, 10, 8};</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int sum = 0;</a:t>
            </a:r>
            <a:endParaRPr lang="en-US" sz="2200" dirty="0"/>
          </a:p>
          <a:p>
            <a:pPr marL="0" indent="0" algn="l">
              <a:lnSpc>
                <a:spcPts val="2750"/>
              </a:lnSpc>
              <a:buNone/>
            </a:pPr>
            <a:r>
              <a:rPr lang="en-US" sz="2200" dirty="0">
                <a:solidFill>
                  <a:srgbClr val="FFFFFF"/>
                </a:solidFill>
                <a:latin typeface="Consolas"/>
                <a:ea typeface="Consolas"/>
                <a:cs typeface="Consolas"/>
              </a:rPr>
              <a:t>    for (int i = 0; i &lt; 5; i++) {</a:t>
            </a:r>
            <a:endParaRPr lang="en-US" sz="2200" dirty="0"/>
          </a:p>
          <a:p>
            <a:pPr marL="0" indent="0" algn="l">
              <a:lnSpc>
                <a:spcPts val="2750"/>
              </a:lnSpc>
              <a:buNone/>
            </a:pPr>
            <a:r>
              <a:rPr lang="en-US" sz="2200" dirty="0">
                <a:solidFill>
                  <a:srgbClr val="FFFFFF"/>
                </a:solidFill>
                <a:latin typeface="Consolas"/>
                <a:ea typeface="Consolas"/>
                <a:cs typeface="Consolas"/>
              </a:rPr>
              <a:t>        printf("%d ", scores[i]);</a:t>
            </a:r>
            <a:endParaRPr lang="en-US" sz="2200" dirty="0"/>
          </a:p>
          <a:p>
            <a:pPr marL="0" indent="0" algn="l">
              <a:lnSpc>
                <a:spcPts val="2750"/>
              </a:lnSpc>
              <a:buNone/>
            </a:pPr>
            <a:r>
              <a:rPr lang="en-US" sz="2200" dirty="0">
                <a:solidFill>
                  <a:srgbClr val="FFFFFF"/>
                </a:solidFill>
                <a:latin typeface="Consolas"/>
                <a:ea typeface="Consolas"/>
                <a:cs typeface="Consolas"/>
              </a:rPr>
              <a:t>        sum += scores[i];</a:t>
            </a:r>
            <a:endParaRPr lang="en-US" sz="2200" dirty="0"/>
          </a:p>
          <a:p>
            <a:pPr marL="0" indent="0" algn="l">
              <a:lnSpc>
                <a:spcPts val="2750"/>
              </a:lnSpc>
              <a:buNone/>
            </a:pPr>
            <a:r>
              <a:rPr lang="en-US" sz="2200" dirty="0">
                <a:solidFill>
                  <a:srgbClr val="FFFFFF"/>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printf("\n");</a:t>
            </a:r>
            <a:endParaRPr lang="en-US" sz="2200" dirty="0"/>
          </a:p>
          <a:p>
            <a:pPr marL="0" indent="0" algn="l">
              <a:lnSpc>
                <a:spcPts val="2750"/>
              </a:lnSpc>
              <a:buNone/>
            </a:pPr>
            <a:r>
              <a:rPr lang="en-US" sz="2200" dirty="0">
                <a:solidFill>
                  <a:srgbClr val="64748B"/>
                </a:solidFill>
                <a:latin typeface="Consolas"/>
                <a:ea typeface="Consolas"/>
                <a:cs typeface="Consolas"/>
              </a:rPr>
              <a:t>    printf("average: %.1f\n", sum / 5.0);</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6" name="Shape 16"/>
          <p:cNvSpPr/>
          <p:nvPr/>
        </p:nvSpPr>
        <p:spPr>
          <a:xfrm>
            <a:off x="7589520" y="1261872"/>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7" name="Shape 17"/>
          <p:cNvSpPr/>
          <p:nvPr/>
        </p:nvSpPr>
        <p:spPr>
          <a:xfrm>
            <a:off x="7589520" y="1261872"/>
            <a:ext cx="109728" cy="1051560"/>
          </a:xfrm>
          <a:prstGeom prst="rect">
            <a:avLst/>
          </a:prstGeom>
          <a:solidFill>
            <a:srgbClr val="2F80ED"/>
          </a:solidFill>
          <a:ln>
            <a:noFill/>
          </a:ln>
        </p:spPr>
        <p:txBody>
          <a:bodyPr wrap="square" lIns="0" tIns="0" rIns="0" bIns="0" rtlCol="0" anchor="t"/>
          <a:lstStyle/>
          <a:p>
            <a:endParaRPr lang="en-US"/>
          </a:p>
        </p:txBody>
      </p:sp>
      <p:sp>
        <p:nvSpPr>
          <p:cNvPr id="18"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scores[i]</a:t>
            </a:r>
            <a:r>
              <a:rPr lang="en-US" sz="2400" dirty="0">
                <a:solidFill>
                  <a:srgbClr val="18324A"/>
                </a:solidFill>
              </a:rPr>
              <a:t>: the value in box </a:t>
            </a:r>
            <a:r>
              <a:rPr lang="en-US" sz="2400" dirty="0">
                <a:solidFill>
                  <a:srgbClr val="18324A"/>
                </a:solidFill>
                <a:latin typeface="Consolas"/>
                <a:ea typeface="Consolas"/>
                <a:cs typeface="Consolas"/>
              </a:rPr>
              <a:t>i</a:t>
            </a:r>
            <a:r>
              <a:rPr lang="en-US" sz="2400" dirty="0">
                <a:solidFill>
                  <a:srgbClr val="18324A"/>
                </a:solidFill>
              </a:rPr>
              <a:t>.</a:t>
            </a:r>
            <a:endParaRPr lang="en-US" sz="2400" dirty="0"/>
          </a:p>
        </p:txBody>
      </p:sp>
      <p:sp>
        <p:nvSpPr>
          <p:cNvPr id="19" name="Shape 19"/>
          <p:cNvSpPr/>
          <p:nvPr/>
        </p:nvSpPr>
        <p:spPr>
          <a:xfrm>
            <a:off x="7589520" y="25146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20" name="Shape 20"/>
          <p:cNvSpPr/>
          <p:nvPr/>
        </p:nvSpPr>
        <p:spPr>
          <a:xfrm>
            <a:off x="7589520" y="2514600"/>
            <a:ext cx="109728" cy="1051560"/>
          </a:xfrm>
          <a:prstGeom prst="rect">
            <a:avLst/>
          </a:prstGeom>
          <a:solidFill>
            <a:srgbClr val="31C48D"/>
          </a:solidFill>
          <a:ln>
            <a:noFill/>
          </a:ln>
        </p:spPr>
        <p:txBody>
          <a:bodyPr wrap="square" lIns="0" tIns="0" rIns="0" bIns="0" rtlCol="0" anchor="t"/>
          <a:lstStyle/>
          <a:p>
            <a:endParaRPr lang="en-US"/>
          </a:p>
        </p:txBody>
      </p:sp>
      <p:sp>
        <p:nvSpPr>
          <p:cNvPr id="21" name="Callout"/>
          <p:cNvSpPr/>
          <p:nvPr/>
        </p:nvSpPr>
        <p:spPr>
          <a:xfrm>
            <a:off x="7699248" y="25146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35 students: change the 5. The loop stays.</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An array is a row of boxes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21</a:t>
            </a:r>
            <a:endParaRPr lang="en-US" sz="1400" dirty="0"/>
          </a:p>
        </p:txBody>
      </p:sp>
      <p:sp>
        <p:nvSpPr>
          <p:cNvPr id="6" name="Shape 6"/>
          <p:cNvSpPr/>
          <p:nvPr/>
        </p:nvSpPr>
        <p:spPr>
          <a:xfrm>
            <a:off x="548640" y="1399032"/>
            <a:ext cx="109728" cy="1402080"/>
          </a:xfrm>
          <a:prstGeom prst="rect">
            <a:avLst/>
          </a:prstGeom>
          <a:solidFill>
            <a:srgbClr val="31C48D"/>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All the boxes have the same type and one name.</a:t>
            </a:r>
            <a:endParaRPr lang="en-US" sz="4000" dirty="0"/>
          </a:p>
        </p:txBody>
      </p:sp>
      <p:sp>
        <p:nvSpPr>
          <p:cNvPr id="8" name="Shape 8"/>
          <p:cNvSpPr/>
          <p:nvPr/>
        </p:nvSpPr>
        <p:spPr>
          <a:xfrm>
            <a:off x="914400" y="3212592"/>
            <a:ext cx="10728655" cy="13716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Each box has a number: its </a:t>
            </a:r>
            <a:r>
              <a:rPr lang="en-US" sz="3000" b="1" dirty="0">
                <a:solidFill>
                  <a:srgbClr val="18324A"/>
                </a:solidFill>
              </a:rPr>
              <a:t>index</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You reach a box with the name and the index: </a:t>
            </a:r>
            <a:r>
              <a:rPr lang="en-US" sz="3000" dirty="0">
                <a:solidFill>
                  <a:srgbClr val="2F80ED"/>
                </a:solidFill>
                <a:latin typeface="Consolas"/>
                <a:ea typeface="Consolas"/>
                <a:cs typeface="Consolas"/>
              </a:rPr>
              <a:t>scores[2]</a:t>
            </a:r>
            <a:r>
              <a:rPr lang="en-US" sz="3000" dirty="0">
                <a:solidFill>
                  <a:srgbClr val="18324A"/>
                </a:solidFill>
              </a:rPr>
              <a:t>.</a:t>
            </a:r>
            <a:endParaRPr lang="en-US" sz="3000" dirty="0"/>
          </a:p>
        </p:txBody>
      </p:sp>
      <p:sp>
        <p:nvSpPr>
          <p:cNvPr id="9" name="Shape 9"/>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0" name="Shape 10"/>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11"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Like the lockers in a corridor: one row, one name on the row, a number on each door.</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int scores[5] = {7, 9, 6, 10, 8};</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22</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2F80E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Five boxes. The index goes from </a:t>
            </a:r>
            <a:r>
              <a:rPr lang="en-US" sz="2400" b="1" dirty="0">
                <a:solidFill>
                  <a:srgbClr val="18324A"/>
                </a:solidFill>
              </a:rPr>
              <a:t>0</a:t>
            </a:r>
            <a:r>
              <a:rPr lang="en-US" sz="2400" dirty="0">
                <a:solidFill>
                  <a:srgbClr val="18324A"/>
                </a:solidFill>
              </a:rPr>
              <a:t> to </a:t>
            </a:r>
            <a:r>
              <a:rPr lang="en-US" sz="2400" b="1" dirty="0">
                <a:solidFill>
                  <a:srgbClr val="18324A"/>
                </a:solidFill>
              </a:rPr>
              <a:t>4</a:t>
            </a:r>
            <a:r>
              <a:rPr lang="en-US" sz="2400" dirty="0">
                <a:solidFill>
                  <a:srgbClr val="18324A"/>
                </a:solidFill>
              </a:rPr>
              <a:t>.</a:t>
            </a:r>
            <a:endParaRPr lang="en-US" sz="2400" dirty="0"/>
          </a:p>
        </p:txBody>
      </p:sp>
      <p:sp>
        <p:nvSpPr>
          <p:cNvPr id="9" name="Shape 9"/>
          <p:cNvSpPr/>
          <p:nvPr/>
        </p:nvSpPr>
        <p:spPr>
          <a:xfrm>
            <a:off x="548640" y="1261872"/>
            <a:ext cx="2689555"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index</a:t>
            </a:r>
            <a:endParaRPr lang="en-US" sz="1800" dirty="0"/>
          </a:p>
        </p:txBody>
      </p:sp>
      <p:sp>
        <p:nvSpPr>
          <p:cNvPr id="10" name="Shape 10"/>
          <p:cNvSpPr/>
          <p:nvPr/>
        </p:nvSpPr>
        <p:spPr>
          <a:xfrm>
            <a:off x="3238195" y="1261872"/>
            <a:ext cx="168097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0</a:t>
            </a:r>
            <a:endParaRPr lang="en-US" sz="1800" dirty="0"/>
          </a:p>
        </p:txBody>
      </p:sp>
      <p:sp>
        <p:nvSpPr>
          <p:cNvPr id="11" name="Shape 11"/>
          <p:cNvSpPr/>
          <p:nvPr/>
        </p:nvSpPr>
        <p:spPr>
          <a:xfrm>
            <a:off x="4919167" y="1261872"/>
            <a:ext cx="168097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12" name="Shape 12"/>
          <p:cNvSpPr/>
          <p:nvPr/>
        </p:nvSpPr>
        <p:spPr>
          <a:xfrm>
            <a:off x="6600139" y="1261872"/>
            <a:ext cx="168097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3" name="Shape 13"/>
          <p:cNvSpPr/>
          <p:nvPr/>
        </p:nvSpPr>
        <p:spPr>
          <a:xfrm>
            <a:off x="8281111" y="1261872"/>
            <a:ext cx="168097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4" name="Shape 14"/>
          <p:cNvSpPr/>
          <p:nvPr/>
        </p:nvSpPr>
        <p:spPr>
          <a:xfrm>
            <a:off x="9962083" y="1261872"/>
            <a:ext cx="1680972"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5" name="Shape 15"/>
          <p:cNvSpPr/>
          <p:nvPr/>
        </p:nvSpPr>
        <p:spPr>
          <a:xfrm>
            <a:off x="548640" y="1920240"/>
            <a:ext cx="2689555"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latin typeface="Consolas"/>
                <a:ea typeface="Consolas"/>
                <a:cs typeface="Consolas"/>
              </a:rPr>
              <a:t>scores[ ]</a:t>
            </a:r>
            <a:endParaRPr lang="en-US" sz="2600" dirty="0"/>
          </a:p>
        </p:txBody>
      </p:sp>
      <p:sp>
        <p:nvSpPr>
          <p:cNvPr id="16" name="Shape 16"/>
          <p:cNvSpPr/>
          <p:nvPr/>
        </p:nvSpPr>
        <p:spPr>
          <a:xfrm>
            <a:off x="3238195" y="1920240"/>
            <a:ext cx="168097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7</a:t>
            </a:r>
            <a:endParaRPr lang="en-US" sz="2600" dirty="0"/>
          </a:p>
        </p:txBody>
      </p:sp>
      <p:sp>
        <p:nvSpPr>
          <p:cNvPr id="17" name="Shape 17"/>
          <p:cNvSpPr/>
          <p:nvPr/>
        </p:nvSpPr>
        <p:spPr>
          <a:xfrm>
            <a:off x="4919167" y="1920240"/>
            <a:ext cx="168097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9</a:t>
            </a:r>
            <a:endParaRPr lang="en-US" sz="2600" dirty="0"/>
          </a:p>
        </p:txBody>
      </p:sp>
      <p:sp>
        <p:nvSpPr>
          <p:cNvPr id="18" name="Shape 18"/>
          <p:cNvSpPr/>
          <p:nvPr/>
        </p:nvSpPr>
        <p:spPr>
          <a:xfrm>
            <a:off x="6600139" y="1920240"/>
            <a:ext cx="168097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6</a:t>
            </a:r>
            <a:endParaRPr lang="en-US" sz="2600" dirty="0"/>
          </a:p>
        </p:txBody>
      </p:sp>
      <p:sp>
        <p:nvSpPr>
          <p:cNvPr id="19" name="Shape 19"/>
          <p:cNvSpPr/>
          <p:nvPr/>
        </p:nvSpPr>
        <p:spPr>
          <a:xfrm>
            <a:off x="8281111" y="1920240"/>
            <a:ext cx="168097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10</a:t>
            </a:r>
            <a:endParaRPr lang="en-US" sz="2600" dirty="0"/>
          </a:p>
        </p:txBody>
      </p:sp>
      <p:sp>
        <p:nvSpPr>
          <p:cNvPr id="20" name="Shape 20"/>
          <p:cNvSpPr/>
          <p:nvPr/>
        </p:nvSpPr>
        <p:spPr>
          <a:xfrm>
            <a:off x="9962083" y="1920240"/>
            <a:ext cx="1680972"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600" dirty="0">
                <a:solidFill>
                  <a:srgbClr val="18324A"/>
                </a:solidFill>
              </a:rPr>
              <a:t>8</a:t>
            </a:r>
            <a:endParaRPr lang="en-US" sz="2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Read the boxes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23</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11094415"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int scores[5] = {7, 9, 6, 10, 8};</a:t>
            </a:r>
            <a:endParaRPr lang="en-US" sz="3200" dirty="0"/>
          </a:p>
          <a:p>
            <a:pPr marL="0" indent="0" algn="l">
              <a:spcAft>
                <a:spcPts val="600"/>
              </a:spcAft>
              <a:buNone/>
            </a:pPr>
            <a:endParaRPr lang="en-US" sz="3200" dirty="0"/>
          </a:p>
          <a:p>
            <a:pPr marL="0" indent="0" algn="l">
              <a:spcAft>
                <a:spcPts val="600"/>
              </a:spcAft>
              <a:buNone/>
            </a:pPr>
            <a:r>
              <a:rPr lang="en-US" sz="3200" dirty="0">
                <a:solidFill>
                  <a:srgbClr val="18324A"/>
                </a:solidFill>
              </a:rPr>
              <a:t>What is </a:t>
            </a:r>
            <a:r>
              <a:rPr lang="en-US" sz="3200" dirty="0">
                <a:solidFill>
                  <a:srgbClr val="2F80ED"/>
                </a:solidFill>
                <a:latin typeface="Consolas"/>
                <a:ea typeface="Consolas"/>
                <a:cs typeface="Consolas"/>
              </a:rPr>
              <a:t>scores[3]</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is </a:t>
            </a:r>
            <a:r>
              <a:rPr lang="en-US" sz="3200" dirty="0">
                <a:solidFill>
                  <a:srgbClr val="2F80ED"/>
                </a:solidFill>
                <a:latin typeface="Consolas"/>
                <a:ea typeface="Consolas"/>
                <a:cs typeface="Consolas"/>
              </a:rPr>
              <a:t>scores[0] + scores[4]</a:t>
            </a:r>
            <a:r>
              <a:rPr lang="en-US" sz="3200" dirty="0">
                <a:solidFill>
                  <a:srgbClr val="18324A"/>
                </a:solidFill>
              </a:rPr>
              <a:t>?</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Read the boxes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24</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11094415"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int scores[5] = {7, 9, 6, 10, 8};</a:t>
            </a:r>
            <a:endParaRPr lang="en-US" sz="3200" dirty="0"/>
          </a:p>
          <a:p>
            <a:pPr marL="0" indent="0" algn="l">
              <a:spcAft>
                <a:spcPts val="600"/>
              </a:spcAft>
              <a:buNone/>
            </a:pPr>
            <a:endParaRPr lang="en-US" sz="3200" dirty="0"/>
          </a:p>
          <a:p>
            <a:pPr marL="0" indent="0" algn="l">
              <a:spcAft>
                <a:spcPts val="600"/>
              </a:spcAft>
              <a:buNone/>
            </a:pPr>
            <a:r>
              <a:rPr lang="en-US" sz="3200" dirty="0">
                <a:solidFill>
                  <a:srgbClr val="18324A"/>
                </a:solidFill>
              </a:rPr>
              <a:t>What is </a:t>
            </a:r>
            <a:r>
              <a:rPr lang="en-US" sz="3200" dirty="0">
                <a:solidFill>
                  <a:srgbClr val="2F80ED"/>
                </a:solidFill>
                <a:latin typeface="Consolas"/>
                <a:ea typeface="Consolas"/>
                <a:cs typeface="Consolas"/>
              </a:rPr>
              <a:t>scores[3]</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What is </a:t>
            </a:r>
            <a:r>
              <a:rPr lang="en-US" sz="3200" dirty="0">
                <a:solidFill>
                  <a:srgbClr val="2F80ED"/>
                </a:solidFill>
                <a:latin typeface="Consolas"/>
                <a:ea typeface="Consolas"/>
                <a:cs typeface="Consolas"/>
              </a:rPr>
              <a:t>scores[0] + scores[4]</a:t>
            </a:r>
            <a:r>
              <a:rPr lang="en-US" sz="3200" dirty="0">
                <a:solidFill>
                  <a:srgbClr val="18324A"/>
                </a:solidFill>
              </a:rPr>
              <a:t>?</a:t>
            </a:r>
            <a:endParaRPr lang="en-US" sz="3200" dirty="0"/>
          </a:p>
        </p:txBody>
      </p:sp>
      <p:sp>
        <p:nvSpPr>
          <p:cNvPr id="8" name="Shape 8"/>
          <p:cNvSpPr/>
          <p:nvPr/>
        </p:nvSpPr>
        <p:spPr>
          <a:xfrm>
            <a:off x="548640" y="4648200"/>
            <a:ext cx="11094415" cy="161544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9" name="Shape 9"/>
          <p:cNvSpPr/>
          <p:nvPr/>
        </p:nvSpPr>
        <p:spPr>
          <a:xfrm>
            <a:off x="548640" y="4648200"/>
            <a:ext cx="109728" cy="1615440"/>
          </a:xfrm>
          <a:prstGeom prst="rect">
            <a:avLst/>
          </a:prstGeom>
          <a:solidFill>
            <a:srgbClr val="31C48D"/>
          </a:solidFill>
          <a:ln>
            <a:noFill/>
          </a:ln>
        </p:spPr>
        <p:txBody>
          <a:bodyPr wrap="square" lIns="0" tIns="0" rIns="0" bIns="0" rtlCol="0" anchor="t"/>
          <a:lstStyle/>
          <a:p>
            <a:endParaRPr lang="en-US"/>
          </a:p>
        </p:txBody>
      </p:sp>
      <p:sp>
        <p:nvSpPr>
          <p:cNvPr id="10" name="Callout"/>
          <p:cNvSpPr/>
          <p:nvPr/>
        </p:nvSpPr>
        <p:spPr>
          <a:xfrm>
            <a:off x="658368" y="4648200"/>
            <a:ext cx="10984687" cy="161544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latin typeface="Consolas"/>
                <a:ea typeface="Consolas"/>
                <a:cs typeface="Consolas"/>
              </a:rPr>
              <a:t>scores[3]</a:t>
            </a:r>
            <a:r>
              <a:rPr lang="en-US" sz="2600" dirty="0">
                <a:solidFill>
                  <a:srgbClr val="18324A"/>
                </a:solidFill>
              </a:rPr>
              <a:t> is </a:t>
            </a:r>
            <a:r>
              <a:rPr lang="en-US" sz="2600" b="1" dirty="0">
                <a:solidFill>
                  <a:srgbClr val="18324A"/>
                </a:solidFill>
              </a:rPr>
              <a:t>10</a:t>
            </a:r>
            <a:r>
              <a:rPr lang="en-US" sz="2600" dirty="0">
                <a:solidFill>
                  <a:srgbClr val="18324A"/>
                </a:solidFill>
              </a:rPr>
              <a:t>: the fourth box.</a:t>
            </a:r>
            <a:endParaRPr lang="en-US" sz="2600" dirty="0"/>
          </a:p>
          <a:p>
            <a:pPr marL="0" indent="0" algn="l">
              <a:buNone/>
            </a:pPr>
            <a:r>
              <a:rPr lang="en-US" sz="2600" dirty="0">
                <a:solidFill>
                  <a:srgbClr val="18324A"/>
                </a:solidFill>
                <a:latin typeface="Consolas"/>
                <a:ea typeface="Consolas"/>
                <a:cs typeface="Consolas"/>
              </a:rPr>
              <a:t>scores[0] + scores[4]</a:t>
            </a:r>
            <a:r>
              <a:rPr lang="en-US" sz="2600" dirty="0">
                <a:solidFill>
                  <a:srgbClr val="18324A"/>
                </a:solidFill>
              </a:rPr>
              <a:t> is 7 + 8 = </a:t>
            </a:r>
            <a:r>
              <a:rPr lang="en-US" sz="2600" b="1" dirty="0">
                <a:solidFill>
                  <a:srgbClr val="18324A"/>
                </a:solidFill>
              </a:rPr>
              <a:t>15</a:t>
            </a:r>
            <a:r>
              <a:rPr lang="en-US" sz="2600" dirty="0">
                <a:solidFill>
                  <a:srgbClr val="18324A"/>
                </a:solidFill>
              </a:rPr>
              <a:t>.</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first index is 0</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25</a:t>
            </a:r>
            <a:endParaRPr lang="en-US" sz="1400" dirty="0"/>
          </a:p>
        </p:txBody>
      </p:sp>
      <p:sp>
        <p:nvSpPr>
          <p:cNvPr id="6" name="Shape 6"/>
          <p:cNvSpPr/>
          <p:nvPr/>
        </p:nvSpPr>
        <p:spPr>
          <a:xfrm>
            <a:off x="548640" y="1399032"/>
            <a:ext cx="109728" cy="1402080"/>
          </a:xfrm>
          <a:prstGeom prst="rect">
            <a:avLst/>
          </a:prstGeom>
          <a:solidFill>
            <a:srgbClr val="F59E0B"/>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An array of 5 has the indexes 0, 1, 2, 3, 4.</a:t>
            </a:r>
            <a:endParaRPr lang="en-US" sz="4000" dirty="0"/>
          </a:p>
        </p:txBody>
      </p:sp>
      <p:sp>
        <p:nvSpPr>
          <p:cNvPr id="8" name="Shape 8"/>
          <p:cNvSpPr/>
          <p:nvPr/>
        </p:nvSpPr>
        <p:spPr>
          <a:xfrm>
            <a:off x="914400" y="32125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The first box: </a:t>
            </a:r>
            <a:r>
              <a:rPr lang="en-US" sz="3000" dirty="0">
                <a:solidFill>
                  <a:srgbClr val="2F80ED"/>
                </a:solidFill>
                <a:latin typeface="Consolas"/>
                <a:ea typeface="Consolas"/>
                <a:cs typeface="Consolas"/>
              </a:rPr>
              <a:t>scores[0]</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The last box: </a:t>
            </a:r>
            <a:r>
              <a:rPr lang="en-US" sz="3000" dirty="0">
                <a:solidFill>
                  <a:srgbClr val="2F80ED"/>
                </a:solidFill>
                <a:latin typeface="Consolas"/>
                <a:ea typeface="Consolas"/>
                <a:cs typeface="Consolas"/>
              </a:rPr>
              <a:t>scores[4]</a:t>
            </a:r>
            <a:r>
              <a:rPr lang="en-US" sz="3000" dirty="0">
                <a:solidFill>
                  <a:srgbClr val="18324A"/>
                </a:solidFill>
              </a:rPr>
              <a:t>, </a:t>
            </a:r>
            <a:r>
              <a:rPr lang="en-US" sz="3000" b="1" dirty="0">
                <a:solidFill>
                  <a:srgbClr val="18324A"/>
                </a:solidFill>
              </a:rPr>
              <a:t>not</a:t>
            </a:r>
            <a:r>
              <a:rPr lang="en-US" sz="3000" dirty="0">
                <a:solidFill>
                  <a:srgbClr val="18324A"/>
                </a:solidFill>
              </a:rPr>
              <a:t> </a:t>
            </a:r>
            <a:r>
              <a:rPr lang="en-US" sz="3000" dirty="0">
                <a:solidFill>
                  <a:srgbClr val="2F80ED"/>
                </a:solidFill>
                <a:latin typeface="Consolas"/>
                <a:ea typeface="Consolas"/>
                <a:cs typeface="Consolas"/>
              </a:rPr>
              <a:t>scores[5]</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An array of N: indexes 0 to N-1.</a:t>
            </a:r>
            <a:endParaRPr lang="en-US" sz="3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Make an array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26</a:t>
            </a:r>
            <a:endParaRPr lang="en-US" sz="1400" dirty="0"/>
          </a:p>
        </p:txBody>
      </p:sp>
      <p:sp>
        <p:nvSpPr>
          <p:cNvPr id="6" name="Shape 6"/>
          <p:cNvSpPr/>
          <p:nvPr/>
        </p:nvSpPr>
        <p:spPr>
          <a:xfrm>
            <a:off x="548640" y="1261872"/>
            <a:ext cx="6766560" cy="493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863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863852"/>
            <a:ext cx="82296" cy="3810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main(void) {</a:t>
            </a:r>
            <a:endParaRPr lang="en-US" sz="2400" dirty="0"/>
          </a:p>
          <a:p>
            <a:pPr marL="0" indent="0" algn="l">
              <a:lnSpc>
                <a:spcPts val="3000"/>
              </a:lnSpc>
              <a:buNone/>
            </a:pPr>
            <a:r>
              <a:rPr lang="en-US" sz="2400" dirty="0">
                <a:solidFill>
                  <a:srgbClr val="FFFFFF"/>
                </a:solidFill>
                <a:latin typeface="Consolas"/>
                <a:ea typeface="Consolas"/>
                <a:cs typeface="Consolas"/>
              </a:rPr>
              <a:t>    int a[5];</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a[0] = 10;</a:t>
            </a:r>
            <a:endParaRPr lang="en-US" sz="2400" dirty="0"/>
          </a:p>
          <a:p>
            <a:pPr marL="0" indent="0" algn="l">
              <a:lnSpc>
                <a:spcPts val="3000"/>
              </a:lnSpc>
              <a:buNone/>
            </a:pPr>
            <a:r>
              <a:rPr lang="en-US" sz="2400" dirty="0">
                <a:solidFill>
                  <a:srgbClr val="64748B"/>
                </a:solidFill>
                <a:latin typeface="Consolas"/>
                <a:ea typeface="Consolas"/>
                <a:cs typeface="Consolas"/>
              </a:rPr>
              <a:t>    a[1] = 20;</a:t>
            </a:r>
            <a:endParaRPr lang="en-US" sz="2400" dirty="0"/>
          </a:p>
          <a:p>
            <a:pPr marL="0" indent="0" algn="l">
              <a:lnSpc>
                <a:spcPts val="3000"/>
              </a:lnSpc>
              <a:buNone/>
            </a:pPr>
            <a:r>
              <a:rPr lang="en-US" sz="2400" dirty="0">
                <a:solidFill>
                  <a:srgbClr val="64748B"/>
                </a:solidFill>
                <a:latin typeface="Consolas"/>
                <a:ea typeface="Consolas"/>
                <a:cs typeface="Consolas"/>
              </a:rPr>
              <a:t>    a[4] = 50;</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printf("first: %d\n", a[0]);</a:t>
            </a:r>
            <a:endParaRPr lang="en-US" sz="2400" dirty="0"/>
          </a:p>
          <a:p>
            <a:pPr marL="0" indent="0" algn="l">
              <a:lnSpc>
                <a:spcPts val="3000"/>
              </a:lnSpc>
              <a:buNone/>
            </a:pPr>
            <a:r>
              <a:rPr lang="en-US" sz="2400" dirty="0">
                <a:solidFill>
                  <a:srgbClr val="64748B"/>
                </a:solidFill>
                <a:latin typeface="Consolas"/>
                <a:ea typeface="Consolas"/>
                <a:cs typeface="Consolas"/>
              </a:rPr>
              <a:t>    printf("second: %d\n", a[1]);</a:t>
            </a:r>
            <a:endParaRPr lang="en-US" sz="2400" dirty="0"/>
          </a:p>
          <a:p>
            <a:pPr marL="0" indent="0" algn="l">
              <a:lnSpc>
                <a:spcPts val="3000"/>
              </a:lnSpc>
              <a:buNone/>
            </a:pPr>
            <a:r>
              <a:rPr lang="en-US" sz="2400" dirty="0">
                <a:solidFill>
                  <a:srgbClr val="64748B"/>
                </a:solidFill>
                <a:latin typeface="Consolas"/>
                <a:ea typeface="Consolas"/>
                <a:cs typeface="Consolas"/>
              </a:rPr>
              <a:t>    printf("last: %d\n", a[4]);</a:t>
            </a:r>
            <a:endParaRPr lang="en-US" sz="2400" dirty="0"/>
          </a:p>
          <a:p>
            <a:pPr marL="0" indent="0" algn="l">
              <a:lnSpc>
                <a:spcPts val="3000"/>
              </a:lnSpc>
              <a:buNone/>
            </a:pPr>
            <a:r>
              <a:rPr lang="en-US" sz="2400" dirty="0">
                <a:solidFill>
                  <a:srgbClr val="64748B"/>
                </a:solidFill>
                <a:latin typeface="Consolas"/>
                <a:ea typeface="Consolas"/>
                <a:cs typeface="Consolas"/>
              </a:rPr>
              <a:t>    return 0;</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0" name="Shape 10"/>
          <p:cNvSpPr/>
          <p:nvPr/>
        </p:nvSpPr>
        <p:spPr>
          <a:xfrm>
            <a:off x="7589520" y="1261872"/>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1" name="Shape 11"/>
          <p:cNvSpPr/>
          <p:nvPr/>
        </p:nvSpPr>
        <p:spPr>
          <a:xfrm>
            <a:off x="7589520" y="1261872"/>
            <a:ext cx="109728" cy="1051560"/>
          </a:xfrm>
          <a:prstGeom prst="rect">
            <a:avLst/>
          </a:prstGeom>
          <a:solidFill>
            <a:srgbClr val="2F80ED"/>
          </a:solidFill>
          <a:ln>
            <a:noFill/>
          </a:ln>
        </p:spPr>
        <p:txBody>
          <a:bodyPr wrap="square" lIns="0" tIns="0" rIns="0" bIns="0" rtlCol="0" anchor="t"/>
          <a:lstStyle/>
          <a:p>
            <a:endParaRPr lang="en-US"/>
          </a:p>
        </p:txBody>
      </p:sp>
      <p:sp>
        <p:nvSpPr>
          <p:cNvPr id="12"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int</a:t>
            </a:r>
            <a:r>
              <a:rPr lang="en-US" sz="2400" dirty="0">
                <a:solidFill>
                  <a:srgbClr val="18324A"/>
                </a:solidFill>
              </a:rPr>
              <a:t>: the type of every box.</a:t>
            </a:r>
            <a:endParaRPr lang="en-US" sz="2400" dirty="0"/>
          </a:p>
        </p:txBody>
      </p:sp>
      <p:sp>
        <p:nvSpPr>
          <p:cNvPr id="13" name="Shape 13"/>
          <p:cNvSpPr/>
          <p:nvPr/>
        </p:nvSpPr>
        <p:spPr>
          <a:xfrm>
            <a:off x="7589520" y="2514600"/>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4" name="Shape 14"/>
          <p:cNvSpPr/>
          <p:nvPr/>
        </p:nvSpPr>
        <p:spPr>
          <a:xfrm>
            <a:off x="7589520" y="2514600"/>
            <a:ext cx="109728" cy="685800"/>
          </a:xfrm>
          <a:prstGeom prst="rect">
            <a:avLst/>
          </a:prstGeom>
          <a:solidFill>
            <a:srgbClr val="2F80ED"/>
          </a:solidFill>
          <a:ln>
            <a:noFill/>
          </a:ln>
        </p:spPr>
        <p:txBody>
          <a:bodyPr wrap="square" lIns="0" tIns="0" rIns="0" bIns="0" rtlCol="0" anchor="t"/>
          <a:lstStyle/>
          <a:p>
            <a:endParaRPr lang="en-US"/>
          </a:p>
        </p:txBody>
      </p:sp>
      <p:sp>
        <p:nvSpPr>
          <p:cNvPr id="15" name="Callout"/>
          <p:cNvSpPr/>
          <p:nvPr/>
        </p:nvSpPr>
        <p:spPr>
          <a:xfrm>
            <a:off x="7699248" y="251460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a</a:t>
            </a:r>
            <a:r>
              <a:rPr lang="en-US" sz="2400" dirty="0">
                <a:solidFill>
                  <a:srgbClr val="18324A"/>
                </a:solidFill>
              </a:rPr>
              <a:t>: the name.</a:t>
            </a:r>
            <a:endParaRPr lang="en-US" sz="2400" dirty="0"/>
          </a:p>
        </p:txBody>
      </p:sp>
      <p:sp>
        <p:nvSpPr>
          <p:cNvPr id="16" name="Shape 16"/>
          <p:cNvSpPr/>
          <p:nvPr/>
        </p:nvSpPr>
        <p:spPr>
          <a:xfrm>
            <a:off x="7589520" y="3401568"/>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7" name="Shape 17"/>
          <p:cNvSpPr/>
          <p:nvPr/>
        </p:nvSpPr>
        <p:spPr>
          <a:xfrm>
            <a:off x="7589520" y="3401568"/>
            <a:ext cx="109728" cy="685800"/>
          </a:xfrm>
          <a:prstGeom prst="rect">
            <a:avLst/>
          </a:prstGeom>
          <a:solidFill>
            <a:srgbClr val="2F80ED"/>
          </a:solidFill>
          <a:ln>
            <a:noFill/>
          </a:ln>
        </p:spPr>
        <p:txBody>
          <a:bodyPr wrap="square" lIns="0" tIns="0" rIns="0" bIns="0" rtlCol="0" anchor="t"/>
          <a:lstStyle/>
          <a:p>
            <a:endParaRPr lang="en-US"/>
          </a:p>
        </p:txBody>
      </p:sp>
      <p:sp>
        <p:nvSpPr>
          <p:cNvPr id="18" name="Callout"/>
          <p:cNvSpPr/>
          <p:nvPr/>
        </p:nvSpPr>
        <p:spPr>
          <a:xfrm>
            <a:off x="7699248" y="3401568"/>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[5]</a:t>
            </a:r>
            <a:r>
              <a:rPr lang="en-US" sz="2400" dirty="0">
                <a:solidFill>
                  <a:srgbClr val="18324A"/>
                </a:solidFill>
              </a:rPr>
              <a:t>: how many boxes.</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Put a value into one box</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27</a:t>
            </a:r>
            <a:endParaRPr lang="en-US" sz="1400" dirty="0"/>
          </a:p>
        </p:txBody>
      </p:sp>
      <p:sp>
        <p:nvSpPr>
          <p:cNvPr id="6" name="Shape 6"/>
          <p:cNvSpPr/>
          <p:nvPr/>
        </p:nvSpPr>
        <p:spPr>
          <a:xfrm>
            <a:off x="548640" y="1261872"/>
            <a:ext cx="6766560" cy="493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625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006852"/>
            <a:ext cx="676656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006852"/>
            <a:ext cx="82296" cy="3810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387852"/>
            <a:ext cx="6766560" cy="3810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387852"/>
            <a:ext cx="82296" cy="38100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main(void) {</a:t>
            </a:r>
            <a:endParaRPr lang="en-US" sz="2400" dirty="0"/>
          </a:p>
          <a:p>
            <a:pPr marL="0" indent="0" algn="l">
              <a:lnSpc>
                <a:spcPts val="3000"/>
              </a:lnSpc>
              <a:buNone/>
            </a:pPr>
            <a:r>
              <a:rPr lang="en-US" sz="2400" dirty="0">
                <a:solidFill>
                  <a:srgbClr val="64748B"/>
                </a:solidFill>
                <a:latin typeface="Consolas"/>
                <a:ea typeface="Consolas"/>
                <a:cs typeface="Consolas"/>
              </a:rPr>
              <a:t>    int a[5];</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    a[0] = 10;</a:t>
            </a:r>
            <a:endParaRPr lang="en-US" sz="2400" dirty="0"/>
          </a:p>
          <a:p>
            <a:pPr marL="0" indent="0" algn="l">
              <a:lnSpc>
                <a:spcPts val="3000"/>
              </a:lnSpc>
              <a:buNone/>
            </a:pPr>
            <a:r>
              <a:rPr lang="en-US" sz="2400" dirty="0">
                <a:solidFill>
                  <a:srgbClr val="FFFFFF"/>
                </a:solidFill>
                <a:latin typeface="Consolas"/>
                <a:ea typeface="Consolas"/>
                <a:cs typeface="Consolas"/>
              </a:rPr>
              <a:t>    a[1] = 20;</a:t>
            </a:r>
            <a:endParaRPr lang="en-US" sz="2400" dirty="0"/>
          </a:p>
          <a:p>
            <a:pPr marL="0" indent="0" algn="l">
              <a:lnSpc>
                <a:spcPts val="3000"/>
              </a:lnSpc>
              <a:buNone/>
            </a:pPr>
            <a:r>
              <a:rPr lang="en-US" sz="2400" dirty="0">
                <a:solidFill>
                  <a:srgbClr val="FFFFFF"/>
                </a:solidFill>
                <a:latin typeface="Consolas"/>
                <a:ea typeface="Consolas"/>
                <a:cs typeface="Consolas"/>
              </a:rPr>
              <a:t>    a[4] = 50;</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printf("first: %d\n", a[0]);</a:t>
            </a:r>
            <a:endParaRPr lang="en-US" sz="2400" dirty="0"/>
          </a:p>
          <a:p>
            <a:pPr marL="0" indent="0" algn="l">
              <a:lnSpc>
                <a:spcPts val="3000"/>
              </a:lnSpc>
              <a:buNone/>
            </a:pPr>
            <a:r>
              <a:rPr lang="en-US" sz="2400" dirty="0">
                <a:solidFill>
                  <a:srgbClr val="64748B"/>
                </a:solidFill>
                <a:latin typeface="Consolas"/>
                <a:ea typeface="Consolas"/>
                <a:cs typeface="Consolas"/>
              </a:rPr>
              <a:t>    printf("second: %d\n", a[1]);</a:t>
            </a:r>
            <a:endParaRPr lang="en-US" sz="2400" dirty="0"/>
          </a:p>
          <a:p>
            <a:pPr marL="0" indent="0" algn="l">
              <a:lnSpc>
                <a:spcPts val="3000"/>
              </a:lnSpc>
              <a:buNone/>
            </a:pPr>
            <a:r>
              <a:rPr lang="en-US" sz="2400" dirty="0">
                <a:solidFill>
                  <a:srgbClr val="64748B"/>
                </a:solidFill>
                <a:latin typeface="Consolas"/>
                <a:ea typeface="Consolas"/>
                <a:cs typeface="Consolas"/>
              </a:rPr>
              <a:t>    printf("last: %d\n", a[4]);</a:t>
            </a:r>
            <a:endParaRPr lang="en-US" sz="2400" dirty="0"/>
          </a:p>
          <a:p>
            <a:pPr marL="0" indent="0" algn="l">
              <a:lnSpc>
                <a:spcPts val="3000"/>
              </a:lnSpc>
              <a:buNone/>
            </a:pPr>
            <a:r>
              <a:rPr lang="en-US" sz="2400" dirty="0">
                <a:solidFill>
                  <a:srgbClr val="64748B"/>
                </a:solidFill>
                <a:latin typeface="Consolas"/>
                <a:ea typeface="Consolas"/>
                <a:cs typeface="Consolas"/>
              </a:rPr>
              <a:t>    return 0;</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4" name="Shape 14"/>
          <p:cNvSpPr/>
          <p:nvPr/>
        </p:nvSpPr>
        <p:spPr>
          <a:xfrm>
            <a:off x="7589520" y="1261872"/>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5" name="Shape 15"/>
          <p:cNvSpPr/>
          <p:nvPr/>
        </p:nvSpPr>
        <p:spPr>
          <a:xfrm>
            <a:off x="7589520" y="1261872"/>
            <a:ext cx="109728" cy="1051560"/>
          </a:xfrm>
          <a:prstGeom prst="rect">
            <a:avLst/>
          </a:prstGeom>
          <a:solidFill>
            <a:srgbClr val="31C48D"/>
          </a:solidFill>
          <a:ln>
            <a:noFill/>
          </a:ln>
        </p:spPr>
        <p:txBody>
          <a:bodyPr wrap="square" lIns="0" tIns="0" rIns="0" bIns="0" rtlCol="0" anchor="t"/>
          <a:lstStyle/>
          <a:p>
            <a:endParaRPr lang="en-US"/>
          </a:p>
        </p:txBody>
      </p:sp>
      <p:sp>
        <p:nvSpPr>
          <p:cNvPr id="16"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a[0] = 10;</a:t>
            </a:r>
            <a:r>
              <a:rPr lang="en-US" sz="2400" dirty="0">
                <a:solidFill>
                  <a:srgbClr val="18324A"/>
                </a:solidFill>
              </a:rPr>
              <a:t> works like </a:t>
            </a:r>
            <a:r>
              <a:rPr lang="en-US" sz="2400" dirty="0">
                <a:solidFill>
                  <a:srgbClr val="18324A"/>
                </a:solidFill>
                <a:latin typeface="Consolas"/>
                <a:ea typeface="Consolas"/>
                <a:cs typeface="Consolas"/>
              </a:rPr>
              <a:t>x = 10;</a:t>
            </a:r>
            <a:endParaRPr lang="en-US" sz="2400" dirty="0"/>
          </a:p>
        </p:txBody>
      </p:sp>
      <p:sp>
        <p:nvSpPr>
          <p:cNvPr id="17" name="Shape 17"/>
          <p:cNvSpPr/>
          <p:nvPr/>
        </p:nvSpPr>
        <p:spPr>
          <a:xfrm>
            <a:off x="7589520" y="2514600"/>
            <a:ext cx="405353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8" name="Shape 18"/>
          <p:cNvSpPr/>
          <p:nvPr/>
        </p:nvSpPr>
        <p:spPr>
          <a:xfrm>
            <a:off x="7589520" y="2514600"/>
            <a:ext cx="109728" cy="1051560"/>
          </a:xfrm>
          <a:prstGeom prst="rect">
            <a:avLst/>
          </a:prstGeom>
          <a:solidFill>
            <a:srgbClr val="F59E0B"/>
          </a:solidFill>
          <a:ln>
            <a:noFill/>
          </a:ln>
        </p:spPr>
        <p:txBody>
          <a:bodyPr wrap="square" lIns="0" tIns="0" rIns="0" bIns="0" rtlCol="0" anchor="t"/>
          <a:lstStyle/>
          <a:p>
            <a:endParaRPr lang="en-US"/>
          </a:p>
        </p:txBody>
      </p:sp>
      <p:sp>
        <p:nvSpPr>
          <p:cNvPr id="19" name="Callout"/>
          <p:cNvSpPr/>
          <p:nvPr/>
        </p:nvSpPr>
        <p:spPr>
          <a:xfrm>
            <a:off x="7699248" y="25146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a[2]</a:t>
            </a:r>
            <a:r>
              <a:rPr lang="en-US" sz="2400" dirty="0">
                <a:solidFill>
                  <a:srgbClr val="18324A"/>
                </a:solidFill>
              </a:rPr>
              <a:t> and </a:t>
            </a:r>
            <a:r>
              <a:rPr lang="en-US" sz="2400" dirty="0">
                <a:solidFill>
                  <a:srgbClr val="18324A"/>
                </a:solidFill>
                <a:latin typeface="Consolas"/>
                <a:ea typeface="Consolas"/>
                <a:cs typeface="Consolas"/>
              </a:rPr>
              <a:t>a[3]</a:t>
            </a:r>
            <a:r>
              <a:rPr lang="en-US" sz="2400" dirty="0">
                <a:solidFill>
                  <a:srgbClr val="18324A"/>
                </a:solidFill>
              </a:rPr>
              <a:t> got nothing yet.</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Use one box</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28</a:t>
            </a:r>
            <a:endParaRPr lang="en-US" sz="1400" dirty="0"/>
          </a:p>
        </p:txBody>
      </p:sp>
      <p:sp>
        <p:nvSpPr>
          <p:cNvPr id="6" name="Shape 6"/>
          <p:cNvSpPr/>
          <p:nvPr/>
        </p:nvSpPr>
        <p:spPr>
          <a:xfrm>
            <a:off x="548640" y="1261872"/>
            <a:ext cx="6766560" cy="4937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4149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4149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530852"/>
            <a:ext cx="676656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530852"/>
            <a:ext cx="82296" cy="3810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4911852"/>
            <a:ext cx="6766560" cy="3810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4911852"/>
            <a:ext cx="82296" cy="38100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493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main(void) {</a:t>
            </a:r>
            <a:endParaRPr lang="en-US" sz="2400" dirty="0"/>
          </a:p>
          <a:p>
            <a:pPr marL="0" indent="0" algn="l">
              <a:lnSpc>
                <a:spcPts val="3000"/>
              </a:lnSpc>
              <a:buNone/>
            </a:pPr>
            <a:r>
              <a:rPr lang="en-US" sz="2400" dirty="0">
                <a:solidFill>
                  <a:srgbClr val="64748B"/>
                </a:solidFill>
                <a:latin typeface="Consolas"/>
                <a:ea typeface="Consolas"/>
                <a:cs typeface="Consolas"/>
              </a:rPr>
              <a:t>    int a[5];</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a[0] = 10;</a:t>
            </a:r>
            <a:endParaRPr lang="en-US" sz="2400" dirty="0"/>
          </a:p>
          <a:p>
            <a:pPr marL="0" indent="0" algn="l">
              <a:lnSpc>
                <a:spcPts val="3000"/>
              </a:lnSpc>
              <a:buNone/>
            </a:pPr>
            <a:r>
              <a:rPr lang="en-US" sz="2400" dirty="0">
                <a:solidFill>
                  <a:srgbClr val="64748B"/>
                </a:solidFill>
                <a:latin typeface="Consolas"/>
                <a:ea typeface="Consolas"/>
                <a:cs typeface="Consolas"/>
              </a:rPr>
              <a:t>    a[1] = 20;</a:t>
            </a:r>
            <a:endParaRPr lang="en-US" sz="2400" dirty="0"/>
          </a:p>
          <a:p>
            <a:pPr marL="0" indent="0" algn="l">
              <a:lnSpc>
                <a:spcPts val="3000"/>
              </a:lnSpc>
              <a:buNone/>
            </a:pPr>
            <a:r>
              <a:rPr lang="en-US" sz="2400" dirty="0">
                <a:solidFill>
                  <a:srgbClr val="64748B"/>
                </a:solidFill>
                <a:latin typeface="Consolas"/>
                <a:ea typeface="Consolas"/>
                <a:cs typeface="Consolas"/>
              </a:rPr>
              <a:t>    a[4] = 50;</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    printf("first: %d\n", a[0]);</a:t>
            </a:r>
            <a:endParaRPr lang="en-US" sz="2400" dirty="0"/>
          </a:p>
          <a:p>
            <a:pPr marL="0" indent="0" algn="l">
              <a:lnSpc>
                <a:spcPts val="3000"/>
              </a:lnSpc>
              <a:buNone/>
            </a:pPr>
            <a:r>
              <a:rPr lang="en-US" sz="2400" dirty="0">
                <a:solidFill>
                  <a:srgbClr val="FFFFFF"/>
                </a:solidFill>
                <a:latin typeface="Consolas"/>
                <a:ea typeface="Consolas"/>
                <a:cs typeface="Consolas"/>
              </a:rPr>
              <a:t>    printf("second: %d\n", a[1]);</a:t>
            </a:r>
            <a:endParaRPr lang="en-US" sz="2400" dirty="0"/>
          </a:p>
          <a:p>
            <a:pPr marL="0" indent="0" algn="l">
              <a:lnSpc>
                <a:spcPts val="3000"/>
              </a:lnSpc>
              <a:buNone/>
            </a:pPr>
            <a:r>
              <a:rPr lang="en-US" sz="2400" dirty="0">
                <a:solidFill>
                  <a:srgbClr val="FFFFFF"/>
                </a:solidFill>
                <a:latin typeface="Consolas"/>
                <a:ea typeface="Consolas"/>
                <a:cs typeface="Consolas"/>
              </a:rPr>
              <a:t>    printf("last: %d\n", a[4]);</a:t>
            </a:r>
            <a:endParaRPr lang="en-US" sz="2400" dirty="0"/>
          </a:p>
          <a:p>
            <a:pPr marL="0" indent="0" algn="l">
              <a:lnSpc>
                <a:spcPts val="3000"/>
              </a:lnSpc>
              <a:buNone/>
            </a:pPr>
            <a:r>
              <a:rPr lang="en-US" sz="2400" dirty="0">
                <a:solidFill>
                  <a:srgbClr val="64748B"/>
                </a:solidFill>
                <a:latin typeface="Consolas"/>
                <a:ea typeface="Consolas"/>
                <a:cs typeface="Consolas"/>
              </a:rPr>
              <a:t>    return 0;</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1508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1508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first: 10</a:t>
            </a:r>
            <a:endParaRPr lang="en-US" sz="2400" dirty="0"/>
          </a:p>
          <a:p>
            <a:pPr marL="0" indent="0" algn="l">
              <a:lnSpc>
                <a:spcPts val="3000"/>
              </a:lnSpc>
              <a:buNone/>
            </a:pPr>
            <a:r>
              <a:rPr lang="en-US" sz="2400" dirty="0">
                <a:solidFill>
                  <a:srgbClr val="D1FAE5"/>
                </a:solidFill>
                <a:latin typeface="Consolas"/>
                <a:ea typeface="Consolas"/>
                <a:cs typeface="Consolas"/>
              </a:rPr>
              <a:t>second: 20</a:t>
            </a:r>
            <a:endParaRPr lang="en-US" sz="2400" dirty="0"/>
          </a:p>
          <a:p>
            <a:pPr marL="0" indent="0" algn="l">
              <a:lnSpc>
                <a:spcPts val="3000"/>
              </a:lnSpc>
              <a:buNone/>
            </a:pPr>
            <a:r>
              <a:rPr lang="en-US" sz="2400" dirty="0">
                <a:solidFill>
                  <a:srgbClr val="D1FAE5"/>
                </a:solidFill>
                <a:latin typeface="Consolas"/>
                <a:ea typeface="Consolas"/>
                <a:cs typeface="Consolas"/>
              </a:rPr>
              <a:t>last: 50</a:t>
            </a:r>
            <a:endParaRPr lang="en-US" sz="2400" dirty="0"/>
          </a:p>
        </p:txBody>
      </p:sp>
      <p:sp>
        <p:nvSpPr>
          <p:cNvPr id="17" name="Shape 17"/>
          <p:cNvSpPr/>
          <p:nvPr/>
        </p:nvSpPr>
        <p:spPr>
          <a:xfrm>
            <a:off x="7589520" y="34290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8" name="Shape 18"/>
          <p:cNvSpPr/>
          <p:nvPr/>
        </p:nvSpPr>
        <p:spPr>
          <a:xfrm>
            <a:off x="7589520" y="3429000"/>
            <a:ext cx="109728" cy="1051560"/>
          </a:xfrm>
          <a:prstGeom prst="rect">
            <a:avLst/>
          </a:prstGeom>
          <a:solidFill>
            <a:srgbClr val="31C48D"/>
          </a:solidFill>
          <a:ln>
            <a:noFill/>
          </a:ln>
        </p:spPr>
        <p:txBody>
          <a:bodyPr wrap="square" lIns="0" tIns="0" rIns="0" bIns="0" rtlCol="0" anchor="t"/>
          <a:lstStyle/>
          <a:p>
            <a:endParaRPr lang="en-US"/>
          </a:p>
        </p:txBody>
      </p:sp>
      <p:sp>
        <p:nvSpPr>
          <p:cNvPr id="19" name="Callout"/>
          <p:cNvSpPr/>
          <p:nvPr/>
        </p:nvSpPr>
        <p:spPr>
          <a:xfrm>
            <a:off x="7699248" y="3429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a[4]</a:t>
            </a:r>
            <a:r>
              <a:rPr lang="en-US" sz="2400" dirty="0">
                <a:solidFill>
                  <a:srgbClr val="18324A"/>
                </a:solidFill>
              </a:rPr>
              <a:t> is a value, like any </a:t>
            </a:r>
            <a:r>
              <a:rPr lang="en-US" sz="2400" dirty="0">
                <a:solidFill>
                  <a:srgbClr val="18324A"/>
                </a:solidFill>
                <a:latin typeface="Consolas"/>
                <a:ea typeface="Consolas"/>
                <a:cs typeface="Consolas"/>
              </a:rPr>
              <a:t>int</a:t>
            </a:r>
            <a:r>
              <a:rPr lang="en-US" sz="2400" dirty="0">
                <a:solidFill>
                  <a:srgbClr val="18324A"/>
                </a:solidFill>
              </a:rPr>
              <a:t> variable.</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One box = one variable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29</a:t>
            </a:r>
            <a:endParaRPr lang="en-US" sz="1400" dirty="0"/>
          </a:p>
        </p:txBody>
      </p:sp>
      <p:sp>
        <p:nvSpPr>
          <p:cNvPr id="6" name="Shape 6"/>
          <p:cNvSpPr/>
          <p:nvPr/>
        </p:nvSpPr>
        <p:spPr>
          <a:xfrm>
            <a:off x="548640" y="1536192"/>
            <a:ext cx="3545738" cy="731520"/>
          </a:xfrm>
          <a:prstGeom prst="rect">
            <a:avLst/>
          </a:prstGeom>
          <a:solidFill>
            <a:srgbClr val="2F80ED"/>
          </a:solidFill>
          <a:ln>
            <a:noFill/>
          </a:ln>
        </p:spPr>
        <p:txBody>
          <a:bodyPr wrap="square" lIns="0" tIns="0" rIns="0" bIns="0" rtlCol="0" anchor="ctr"/>
          <a:lstStyle/>
          <a:p>
            <a:pPr marL="0" indent="0" algn="ctr">
              <a:buNone/>
            </a:pPr>
            <a:r>
              <a:rPr lang="en-US" sz="2600" b="1" dirty="0">
                <a:solidFill>
                  <a:srgbClr val="FFFFFF"/>
                </a:solidFill>
              </a:rPr>
              <a:t>Store</a:t>
            </a:r>
            <a:endParaRPr lang="en-US" sz="2600" dirty="0"/>
          </a:p>
        </p:txBody>
      </p:sp>
      <p:sp>
        <p:nvSpPr>
          <p:cNvPr id="7" name="Shape 7"/>
          <p:cNvSpPr/>
          <p:nvPr/>
        </p:nvSpPr>
        <p:spPr>
          <a:xfrm>
            <a:off x="548640" y="2267712"/>
            <a:ext cx="3545738" cy="2377440"/>
          </a:xfrm>
          <a:prstGeom prst="rect">
            <a:avLst/>
          </a:prstGeom>
          <a:solidFill>
            <a:srgbClr val="FFFFFF"/>
          </a:solidFill>
          <a:ln w="19050">
            <a:solidFill>
              <a:srgbClr val="2F80ED"/>
            </a:solidFill>
          </a:ln>
        </p:spPr>
        <p:txBody>
          <a:bodyPr wrap="square" lIns="73152" tIns="91440" rIns="73152" bIns="91440" rtlCol="0" anchor="ctr"/>
          <a:lstStyle/>
          <a:p>
            <a:pPr marL="0" indent="0" algn="ctr">
              <a:spcAft>
                <a:spcPts val="600"/>
              </a:spcAft>
              <a:buNone/>
            </a:pPr>
            <a:r>
              <a:rPr lang="en-US" sz="2400" dirty="0">
                <a:solidFill>
                  <a:srgbClr val="2F80ED"/>
                </a:solidFill>
                <a:latin typeface="Consolas"/>
                <a:ea typeface="Consolas"/>
                <a:cs typeface="Consolas"/>
              </a:rPr>
              <a:t>a[1] = 20;</a:t>
            </a:r>
            <a:endParaRPr lang="en-US" sz="2400" dirty="0"/>
          </a:p>
        </p:txBody>
      </p:sp>
      <p:sp>
        <p:nvSpPr>
          <p:cNvPr id="8" name="Shape 8"/>
          <p:cNvSpPr/>
          <p:nvPr/>
        </p:nvSpPr>
        <p:spPr>
          <a:xfrm>
            <a:off x="4322978" y="1536192"/>
            <a:ext cx="3545738" cy="731520"/>
          </a:xfrm>
          <a:prstGeom prst="rect">
            <a:avLst/>
          </a:prstGeom>
          <a:solidFill>
            <a:srgbClr val="31C48D"/>
          </a:solidFill>
          <a:ln>
            <a:noFill/>
          </a:ln>
        </p:spPr>
        <p:txBody>
          <a:bodyPr wrap="square" lIns="0" tIns="0" rIns="0" bIns="0" rtlCol="0" anchor="ctr"/>
          <a:lstStyle/>
          <a:p>
            <a:pPr marL="0" indent="0" algn="ctr">
              <a:buNone/>
            </a:pPr>
            <a:r>
              <a:rPr lang="en-US" sz="2600" b="1" dirty="0">
                <a:solidFill>
                  <a:srgbClr val="FFFFFF"/>
                </a:solidFill>
              </a:rPr>
              <a:t>Read</a:t>
            </a:r>
            <a:endParaRPr lang="en-US" sz="2600" dirty="0"/>
          </a:p>
        </p:txBody>
      </p:sp>
      <p:sp>
        <p:nvSpPr>
          <p:cNvPr id="9" name="Shape 9"/>
          <p:cNvSpPr/>
          <p:nvPr/>
        </p:nvSpPr>
        <p:spPr>
          <a:xfrm>
            <a:off x="4322978" y="2267712"/>
            <a:ext cx="3545738" cy="2377440"/>
          </a:xfrm>
          <a:prstGeom prst="rect">
            <a:avLst/>
          </a:prstGeom>
          <a:solidFill>
            <a:srgbClr val="FFFFFF"/>
          </a:solidFill>
          <a:ln w="19050">
            <a:solidFill>
              <a:srgbClr val="31C48D"/>
            </a:solidFill>
          </a:ln>
        </p:spPr>
        <p:txBody>
          <a:bodyPr wrap="square" lIns="73152" tIns="91440" rIns="73152" bIns="91440" rtlCol="0" anchor="ctr"/>
          <a:lstStyle/>
          <a:p>
            <a:pPr marL="0" indent="0" algn="ctr">
              <a:spcAft>
                <a:spcPts val="600"/>
              </a:spcAft>
              <a:buNone/>
            </a:pPr>
            <a:r>
              <a:rPr lang="en-US" sz="2400" dirty="0">
                <a:solidFill>
                  <a:srgbClr val="2F80ED"/>
                </a:solidFill>
                <a:latin typeface="Consolas"/>
                <a:ea typeface="Consolas"/>
                <a:cs typeface="Consolas"/>
              </a:rPr>
              <a:t>printf("%d", a[1]);</a:t>
            </a:r>
            <a:endParaRPr lang="en-US" sz="2400" dirty="0"/>
          </a:p>
        </p:txBody>
      </p:sp>
      <p:sp>
        <p:nvSpPr>
          <p:cNvPr id="10" name="Shape 10"/>
          <p:cNvSpPr/>
          <p:nvPr/>
        </p:nvSpPr>
        <p:spPr>
          <a:xfrm>
            <a:off x="8097317" y="1536192"/>
            <a:ext cx="3545738" cy="731520"/>
          </a:xfrm>
          <a:prstGeom prst="rect">
            <a:avLst/>
          </a:prstGeom>
          <a:solidFill>
            <a:srgbClr val="F59E0B"/>
          </a:solidFill>
          <a:ln>
            <a:noFill/>
          </a:ln>
        </p:spPr>
        <p:txBody>
          <a:bodyPr wrap="square" lIns="0" tIns="0" rIns="0" bIns="0" rtlCol="0" anchor="ctr"/>
          <a:lstStyle/>
          <a:p>
            <a:pPr marL="0" indent="0" algn="ctr">
              <a:buNone/>
            </a:pPr>
            <a:r>
              <a:rPr lang="en-US" sz="2600" b="1" dirty="0">
                <a:solidFill>
                  <a:srgbClr val="FFFFFF"/>
                </a:solidFill>
              </a:rPr>
              <a:t>Change</a:t>
            </a:r>
            <a:endParaRPr lang="en-US" sz="2600" dirty="0"/>
          </a:p>
        </p:txBody>
      </p:sp>
      <p:sp>
        <p:nvSpPr>
          <p:cNvPr id="11" name="Shape 11"/>
          <p:cNvSpPr/>
          <p:nvPr/>
        </p:nvSpPr>
        <p:spPr>
          <a:xfrm>
            <a:off x="8097317" y="2267712"/>
            <a:ext cx="3545738" cy="2377440"/>
          </a:xfrm>
          <a:prstGeom prst="rect">
            <a:avLst/>
          </a:prstGeom>
          <a:solidFill>
            <a:srgbClr val="FFFFFF"/>
          </a:solidFill>
          <a:ln w="19050">
            <a:solidFill>
              <a:srgbClr val="F59E0B"/>
            </a:solidFill>
          </a:ln>
        </p:spPr>
        <p:txBody>
          <a:bodyPr wrap="square" lIns="73152" tIns="91440" rIns="73152" bIns="91440" rtlCol="0" anchor="ctr"/>
          <a:lstStyle/>
          <a:p>
            <a:pPr marL="0" indent="0" algn="ctr">
              <a:spcAft>
                <a:spcPts val="600"/>
              </a:spcAft>
              <a:buNone/>
            </a:pPr>
            <a:r>
              <a:rPr lang="en-US" sz="2400" dirty="0">
                <a:solidFill>
                  <a:srgbClr val="2F80ED"/>
                </a:solidFill>
                <a:latin typeface="Consolas"/>
                <a:ea typeface="Consolas"/>
                <a:cs typeface="Consolas"/>
              </a:rPr>
              <a:t>a[1] = a[1] + 5;</a:t>
            </a:r>
            <a:endParaRPr lang="en-US" sz="2400" dirty="0"/>
          </a:p>
          <a:p>
            <a:pPr marL="0" indent="0" algn="ctr">
              <a:spcAft>
                <a:spcPts val="600"/>
              </a:spcAft>
              <a:buNone/>
            </a:pPr>
            <a:r>
              <a:rPr lang="en-US" sz="2400" dirty="0">
                <a:solidFill>
                  <a:srgbClr val="2F80ED"/>
                </a:solidFill>
                <a:latin typeface="Consolas"/>
                <a:ea typeface="Consolas"/>
                <a:cs typeface="Consolas"/>
              </a:rPr>
              <a:t>a[1]++;</a:t>
            </a:r>
            <a:endParaRPr lang="en-US" sz="2400" dirty="0"/>
          </a:p>
        </p:txBody>
      </p:sp>
      <p:sp>
        <p:nvSpPr>
          <p:cNvPr id="12" name="Shape 12"/>
          <p:cNvSpPr/>
          <p:nvPr/>
        </p:nvSpPr>
        <p:spPr>
          <a:xfrm>
            <a:off x="548640" y="5166360"/>
            <a:ext cx="11094415" cy="9144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3" name="Shape 13"/>
          <p:cNvSpPr/>
          <p:nvPr/>
        </p:nvSpPr>
        <p:spPr>
          <a:xfrm>
            <a:off x="548640" y="5166360"/>
            <a:ext cx="109728" cy="914400"/>
          </a:xfrm>
          <a:prstGeom prst="rect">
            <a:avLst/>
          </a:prstGeom>
          <a:solidFill>
            <a:srgbClr val="2F80ED"/>
          </a:solidFill>
          <a:ln>
            <a:noFill/>
          </a:ln>
        </p:spPr>
        <p:txBody>
          <a:bodyPr wrap="square" lIns="0" tIns="0" rIns="0" bIns="0" rtlCol="0" anchor="t"/>
          <a:lstStyle/>
          <a:p>
            <a:endParaRPr lang="en-US"/>
          </a:p>
        </p:txBody>
      </p:sp>
      <p:sp>
        <p:nvSpPr>
          <p:cNvPr id="14" name="Callout"/>
          <p:cNvSpPr/>
          <p:nvPr/>
        </p:nvSpPr>
        <p:spPr>
          <a:xfrm>
            <a:off x="658368" y="5166360"/>
            <a:ext cx="10984687" cy="9144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Everything you did with </a:t>
            </a:r>
            <a:r>
              <a:rPr lang="en-US" sz="2400" dirty="0">
                <a:solidFill>
                  <a:srgbClr val="18324A"/>
                </a:solidFill>
                <a:latin typeface="Consolas"/>
                <a:ea typeface="Consolas"/>
                <a:cs typeface="Consolas"/>
              </a:rPr>
              <a:t>x</a:t>
            </a:r>
            <a:r>
              <a:rPr lang="en-US" sz="2400" dirty="0">
                <a:solidFill>
                  <a:srgbClr val="18324A"/>
                </a:solidFill>
              </a:rPr>
              <a:t> you can do with </a:t>
            </a:r>
            <a:r>
              <a:rPr lang="en-US" sz="2400" dirty="0">
                <a:solidFill>
                  <a:srgbClr val="18324A"/>
                </a:solidFill>
                <a:latin typeface="Consolas"/>
                <a:ea typeface="Consolas"/>
                <a:cs typeface="Consolas"/>
              </a:rPr>
              <a:t>a[1]</a:t>
            </a:r>
            <a:r>
              <a:rPr lang="en-US" sz="2400" dirty="0">
                <a:solidFill>
                  <a:srgbClr val="18324A"/>
                </a:solidFill>
              </a:rPr>
              <a:t>.</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Which index is February?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30</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62128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January is the first month.</a:t>
            </a:r>
            <a:endParaRPr lang="en-US" sz="3200" dirty="0"/>
          </a:p>
          <a:p>
            <a:pPr marL="0" indent="0" algn="l">
              <a:spcAft>
                <a:spcPts val="600"/>
              </a:spcAft>
              <a:buNone/>
            </a:pPr>
            <a:r>
              <a:rPr lang="en-US" sz="3200" dirty="0">
                <a:solidFill>
                  <a:srgbClr val="18324A"/>
                </a:solidFill>
              </a:rPr>
              <a:t>Which index holds February?</a:t>
            </a:r>
            <a:endParaRPr lang="en-US" sz="3200" dirty="0"/>
          </a:p>
          <a:p>
            <a:pPr marL="0" indent="0" algn="l">
              <a:spcAft>
                <a:spcPts val="600"/>
              </a:spcAft>
              <a:buNone/>
            </a:pPr>
            <a:r>
              <a:rPr lang="en-US" sz="3200" dirty="0">
                <a:solidFill>
                  <a:srgbClr val="18324A"/>
                </a:solidFill>
              </a:rPr>
              <a:t>Which holds December?</a:t>
            </a:r>
            <a:endParaRPr lang="en-US" sz="3200" dirty="0"/>
          </a:p>
        </p:txBody>
      </p:sp>
      <p:sp>
        <p:nvSpPr>
          <p:cNvPr id="8" name="Shape 8"/>
          <p:cNvSpPr/>
          <p:nvPr/>
        </p:nvSpPr>
        <p:spPr>
          <a:xfrm>
            <a:off x="5760720" y="1261872"/>
            <a:ext cx="5882335" cy="2651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2651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E5E7EB"/>
                </a:solidFill>
                <a:latin typeface="Consolas"/>
                <a:ea typeface="Consolas"/>
                <a:cs typeface="Consolas"/>
              </a:rPr>
              <a:t>int days[12] = {31, 28, 31, 30,</a:t>
            </a:r>
            <a:endParaRPr lang="en-US" sz="2400" dirty="0"/>
          </a:p>
          <a:p>
            <a:pPr marL="0" indent="0" algn="l">
              <a:lnSpc>
                <a:spcPts val="3000"/>
              </a:lnSpc>
              <a:buNone/>
            </a:pPr>
            <a:r>
              <a:rPr lang="en-US" sz="2400" dirty="0">
                <a:solidFill>
                  <a:srgbClr val="E5E7EB"/>
                </a:solidFill>
                <a:latin typeface="Consolas"/>
                <a:ea typeface="Consolas"/>
                <a:cs typeface="Consolas"/>
              </a:rPr>
              <a:t>                31, 30, 31, 31,</a:t>
            </a:r>
            <a:endParaRPr lang="en-US" sz="2400" dirty="0"/>
          </a:p>
          <a:p>
            <a:pPr marL="0" indent="0" algn="l">
              <a:lnSpc>
                <a:spcPts val="3000"/>
              </a:lnSpc>
              <a:buNone/>
            </a:pPr>
            <a:r>
              <a:rPr lang="en-US" sz="2400" dirty="0">
                <a:solidFill>
                  <a:srgbClr val="E5E7EB"/>
                </a:solidFill>
                <a:latin typeface="Consolas"/>
                <a:ea typeface="Consolas"/>
                <a:cs typeface="Consolas"/>
              </a:rPr>
              <a:t>                30, 31, 30, 31};</a:t>
            </a:r>
            <a:endParaRPr lang="en-US" sz="2400" dirty="0"/>
          </a:p>
          <a:p>
            <a:pPr marL="0" indent="0" algn="l">
              <a:lnSpc>
                <a:spcPts val="3000"/>
              </a:lnSpc>
              <a:buNone/>
            </a:pPr>
            <a:r>
              <a:rPr lang="en-US" sz="2400" dirty="0">
                <a:solidFill>
                  <a:srgbClr val="E5E7EB"/>
                </a:solidFill>
                <a:latin typeface="Consolas"/>
                <a:ea typeface="Consolas"/>
                <a:cs typeface="Consolas"/>
              </a:rPr>
              <a:t> </a:t>
            </a:r>
            <a:endParaRPr lang="en-US" sz="2400" dirty="0"/>
          </a:p>
          <a:p>
            <a:pPr marL="0" indent="0" algn="l">
              <a:lnSpc>
                <a:spcPts val="3000"/>
              </a:lnSpc>
              <a:buNone/>
            </a:pPr>
            <a:r>
              <a:rPr lang="en-US" sz="2400" dirty="0">
                <a:solidFill>
                  <a:srgbClr val="E5E7EB"/>
                </a:solidFill>
                <a:latin typeface="Consolas"/>
                <a:ea typeface="Consolas"/>
                <a:cs typeface="Consolas"/>
              </a:rPr>
              <a:t>printf("Feb: %d\n", days[1]);</a:t>
            </a:r>
            <a:endParaRPr lang="en-US" sz="2400" dirty="0"/>
          </a:p>
          <a:p>
            <a:pPr marL="0" indent="0" algn="l">
              <a:lnSpc>
                <a:spcPts val="3000"/>
              </a:lnSpc>
              <a:buNone/>
            </a:pPr>
            <a:r>
              <a:rPr lang="en-US" sz="2400" dirty="0">
                <a:solidFill>
                  <a:srgbClr val="E5E7EB"/>
                </a:solidFill>
                <a:latin typeface="Consolas"/>
                <a:ea typeface="Consolas"/>
                <a:cs typeface="Consolas"/>
              </a:rPr>
              <a:t>printf("Dec: %d\n", days[11]);</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Which index is February?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31</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Month number = index + 1. The list in </a:t>
            </a:r>
            <a:r>
              <a:rPr lang="en-US" sz="2400" dirty="0">
                <a:solidFill>
                  <a:srgbClr val="18324A"/>
                </a:solidFill>
                <a:latin typeface="Consolas"/>
                <a:ea typeface="Consolas"/>
                <a:cs typeface="Consolas"/>
              </a:rPr>
              <a:t>{ }</a:t>
            </a:r>
            <a:r>
              <a:rPr lang="en-US" sz="2400" dirty="0">
                <a:solidFill>
                  <a:srgbClr val="18324A"/>
                </a:solidFill>
              </a:rPr>
              <a:t> fills the boxes in order.</a:t>
            </a:r>
            <a:endParaRPr lang="en-US" sz="2400" dirty="0"/>
          </a:p>
        </p:txBody>
      </p:sp>
      <p:sp>
        <p:nvSpPr>
          <p:cNvPr id="9" name="Shape 9"/>
          <p:cNvSpPr/>
          <p:nvPr/>
        </p:nvSpPr>
        <p:spPr>
          <a:xfrm>
            <a:off x="548640" y="1261872"/>
            <a:ext cx="6766560" cy="3032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267202"/>
            <a:ext cx="6766560" cy="444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267202"/>
            <a:ext cx="82296" cy="444500"/>
          </a:xfrm>
          <a:prstGeom prst="rect">
            <a:avLst/>
          </a:prstGeom>
          <a:solidFill>
            <a:srgbClr val="F59E0B"/>
          </a:solidFill>
          <a:ln>
            <a:noFill/>
          </a:ln>
        </p:spPr>
        <p:txBody>
          <a:bodyPr wrap="square" lIns="0" tIns="0" rIns="0" bIns="0" rtlCol="0" anchor="t"/>
          <a:lstStyle/>
          <a:p>
            <a:endParaRPr lang="en-US"/>
          </a:p>
        </p:txBody>
      </p:sp>
      <p:sp>
        <p:nvSpPr>
          <p:cNvPr id="12" name="Shape 12"/>
          <p:cNvSpPr/>
          <p:nvPr/>
        </p:nvSpPr>
        <p:spPr>
          <a:xfrm>
            <a:off x="548640" y="3711702"/>
            <a:ext cx="6766560" cy="444500"/>
          </a:xfrm>
          <a:prstGeom prst="rect">
            <a:avLst/>
          </a:prstGeom>
          <a:solidFill>
            <a:srgbClr val="25406B"/>
          </a:solidFill>
          <a:ln>
            <a:noFill/>
          </a:ln>
        </p:spPr>
        <p:txBody>
          <a:bodyPr wrap="square" lIns="0" tIns="0" rIns="0" bIns="0" rtlCol="0" anchor="t"/>
          <a:lstStyle/>
          <a:p>
            <a:endParaRPr lang="en-US"/>
          </a:p>
        </p:txBody>
      </p:sp>
      <p:sp>
        <p:nvSpPr>
          <p:cNvPr id="13" name="Shape 13"/>
          <p:cNvSpPr/>
          <p:nvPr/>
        </p:nvSpPr>
        <p:spPr>
          <a:xfrm>
            <a:off x="548640" y="3711702"/>
            <a:ext cx="82296" cy="444500"/>
          </a:xfrm>
          <a:prstGeom prst="rect">
            <a:avLst/>
          </a:prstGeom>
          <a:solidFill>
            <a:srgbClr val="F59E0B"/>
          </a:solidFill>
          <a:ln>
            <a:noFill/>
          </a:ln>
        </p:spPr>
        <p:txBody>
          <a:bodyPr wrap="square" lIns="0" tIns="0" rIns="0" bIns="0" rtlCol="0" anchor="t"/>
          <a:lstStyle/>
          <a:p>
            <a:endParaRPr lang="en-US"/>
          </a:p>
        </p:txBody>
      </p:sp>
      <p:sp>
        <p:nvSpPr>
          <p:cNvPr id="14" name="Code"/>
          <p:cNvSpPr/>
          <p:nvPr/>
        </p:nvSpPr>
        <p:spPr>
          <a:xfrm>
            <a:off x="548640" y="1261872"/>
            <a:ext cx="6766560" cy="3032760"/>
          </a:xfrm>
          <a:prstGeom prst="rect">
            <a:avLst/>
          </a:prstGeom>
          <a:noFill/>
          <a:ln>
            <a:noFill/>
          </a:ln>
        </p:spPr>
        <p:txBody>
          <a:bodyPr wrap="square" lIns="182880" tIns="182880" rIns="182880" bIns="182880" rtlCol="0" anchor="t"/>
          <a:lstStyle/>
          <a:p>
            <a:pPr marL="0" indent="0" algn="l">
              <a:lnSpc>
                <a:spcPts val="3500"/>
              </a:lnSpc>
              <a:buNone/>
            </a:pPr>
            <a:r>
              <a:rPr lang="en-US" sz="2800" dirty="0">
                <a:solidFill>
                  <a:srgbClr val="64748B"/>
                </a:solidFill>
                <a:latin typeface="Consolas"/>
                <a:ea typeface="Consolas"/>
                <a:cs typeface="Consolas"/>
              </a:rPr>
              <a:t>int days[12] = {31, 28, 31, 30,</a:t>
            </a:r>
            <a:endParaRPr lang="en-US" sz="2800" dirty="0"/>
          </a:p>
          <a:p>
            <a:pPr marL="0" indent="0" algn="l">
              <a:lnSpc>
                <a:spcPts val="3500"/>
              </a:lnSpc>
              <a:buNone/>
            </a:pPr>
            <a:r>
              <a:rPr lang="en-US" sz="2800" dirty="0">
                <a:solidFill>
                  <a:srgbClr val="64748B"/>
                </a:solidFill>
                <a:latin typeface="Consolas"/>
                <a:ea typeface="Consolas"/>
                <a:cs typeface="Consolas"/>
              </a:rPr>
              <a:t>                31, 30, 31, 31,</a:t>
            </a:r>
            <a:endParaRPr lang="en-US" sz="2800" dirty="0"/>
          </a:p>
          <a:p>
            <a:pPr marL="0" indent="0" algn="l">
              <a:lnSpc>
                <a:spcPts val="3500"/>
              </a:lnSpc>
              <a:buNone/>
            </a:pPr>
            <a:r>
              <a:rPr lang="en-US" sz="2800" dirty="0">
                <a:solidFill>
                  <a:srgbClr val="64748B"/>
                </a:solidFill>
                <a:latin typeface="Consolas"/>
                <a:ea typeface="Consolas"/>
                <a:cs typeface="Consolas"/>
              </a:rPr>
              <a:t>                30, 31, 30, 31};</a:t>
            </a:r>
            <a:endParaRPr lang="en-US" sz="2800" dirty="0"/>
          </a:p>
          <a:p>
            <a:pPr marL="0" indent="0" algn="l">
              <a:lnSpc>
                <a:spcPts val="3500"/>
              </a:lnSpc>
              <a:buNone/>
            </a:pPr>
            <a:r>
              <a:rPr lang="en-US" sz="2800" dirty="0">
                <a:solidFill>
                  <a:srgbClr val="64748B"/>
                </a:solidFill>
                <a:latin typeface="Consolas"/>
                <a:ea typeface="Consolas"/>
                <a:cs typeface="Consolas"/>
              </a:rPr>
              <a:t> </a:t>
            </a:r>
            <a:endParaRPr lang="en-US" sz="2800" dirty="0"/>
          </a:p>
          <a:p>
            <a:pPr marL="0" indent="0" algn="l">
              <a:lnSpc>
                <a:spcPts val="3500"/>
              </a:lnSpc>
              <a:buNone/>
            </a:pPr>
            <a:r>
              <a:rPr lang="en-US" sz="2800" dirty="0">
                <a:solidFill>
                  <a:srgbClr val="FFFFFF"/>
                </a:solidFill>
                <a:latin typeface="Consolas"/>
                <a:ea typeface="Consolas"/>
                <a:cs typeface="Consolas"/>
              </a:rPr>
              <a:t>printf("Feb: %d\n", days[1]);</a:t>
            </a:r>
            <a:endParaRPr lang="en-US" sz="2800" dirty="0"/>
          </a:p>
          <a:p>
            <a:pPr marL="0" indent="0" algn="l">
              <a:lnSpc>
                <a:spcPts val="3500"/>
              </a:lnSpc>
              <a:buNone/>
            </a:pPr>
            <a:r>
              <a:rPr lang="en-US" sz="2800" dirty="0">
                <a:solidFill>
                  <a:srgbClr val="FFFFFF"/>
                </a:solidFill>
                <a:latin typeface="Consolas"/>
                <a:ea typeface="Consolas"/>
                <a:cs typeface="Consolas"/>
              </a:rPr>
              <a:t>printf("Dec: %d\n", days[11]);</a:t>
            </a:r>
            <a:endParaRPr lang="en-US" sz="2800" dirty="0"/>
          </a:p>
        </p:txBody>
      </p:sp>
      <p:sp>
        <p:nvSpPr>
          <p:cNvPr id="15" name="Shape 15"/>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6" name="Shape 16"/>
          <p:cNvSpPr/>
          <p:nvPr/>
        </p:nvSpPr>
        <p:spPr>
          <a:xfrm>
            <a:off x="7589520" y="1645920"/>
            <a:ext cx="4053535" cy="1127760"/>
          </a:xfrm>
          <a:prstGeom prst="rect">
            <a:avLst/>
          </a:prstGeom>
          <a:solidFill>
            <a:srgbClr val="000000"/>
          </a:solidFill>
          <a:ln>
            <a:noFill/>
          </a:ln>
        </p:spPr>
        <p:txBody>
          <a:bodyPr wrap="square" lIns="0" tIns="0" rIns="0" bIns="0" rtlCol="0" anchor="t"/>
          <a:lstStyle/>
          <a:p>
            <a:endParaRPr lang="en-US"/>
          </a:p>
        </p:txBody>
      </p:sp>
      <p:sp>
        <p:nvSpPr>
          <p:cNvPr id="17" name="Code"/>
          <p:cNvSpPr/>
          <p:nvPr/>
        </p:nvSpPr>
        <p:spPr>
          <a:xfrm>
            <a:off x="7589520" y="1645920"/>
            <a:ext cx="405353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Feb: 28</a:t>
            </a:r>
            <a:endParaRPr lang="en-US" sz="2400" dirty="0"/>
          </a:p>
          <a:p>
            <a:pPr marL="0" indent="0" algn="l">
              <a:lnSpc>
                <a:spcPts val="3000"/>
              </a:lnSpc>
              <a:buNone/>
            </a:pPr>
            <a:r>
              <a:rPr lang="en-US" sz="2400" dirty="0">
                <a:solidFill>
                  <a:srgbClr val="D1FAE5"/>
                </a:solidFill>
                <a:latin typeface="Consolas"/>
                <a:ea typeface="Consolas"/>
                <a:cs typeface="Consolas"/>
              </a:rPr>
              <a:t>Dec: 31</a:t>
            </a:r>
            <a:endParaRPr lang="en-US" sz="2400" dirty="0"/>
          </a:p>
        </p:txBody>
      </p:sp>
      <p:sp>
        <p:nvSpPr>
          <p:cNvPr id="18" name="Shape 18"/>
          <p:cNvSpPr/>
          <p:nvPr/>
        </p:nvSpPr>
        <p:spPr>
          <a:xfrm>
            <a:off x="7589520" y="30480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9" name="Shape 19"/>
          <p:cNvSpPr/>
          <p:nvPr/>
        </p:nvSpPr>
        <p:spPr>
          <a:xfrm>
            <a:off x="7589520" y="3048000"/>
            <a:ext cx="109728" cy="1051560"/>
          </a:xfrm>
          <a:prstGeom prst="rect">
            <a:avLst/>
          </a:prstGeom>
          <a:solidFill>
            <a:srgbClr val="31C48D"/>
          </a:solidFill>
          <a:ln>
            <a:noFill/>
          </a:ln>
        </p:spPr>
        <p:txBody>
          <a:bodyPr wrap="square" lIns="0" tIns="0" rIns="0" bIns="0" rtlCol="0" anchor="t"/>
          <a:lstStyle/>
          <a:p>
            <a:endParaRPr lang="en-US"/>
          </a:p>
        </p:txBody>
      </p:sp>
      <p:sp>
        <p:nvSpPr>
          <p:cNvPr id="20" name="Callout"/>
          <p:cNvSpPr/>
          <p:nvPr/>
        </p:nvSpPr>
        <p:spPr>
          <a:xfrm>
            <a:off x="7699248" y="3048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February: month 2, index </a:t>
            </a:r>
            <a:r>
              <a:rPr lang="en-US" sz="2400" b="1" dirty="0">
                <a:solidFill>
                  <a:srgbClr val="18324A"/>
                </a:solidFill>
              </a:rPr>
              <a:t>1</a:t>
            </a:r>
            <a:r>
              <a:rPr lang="en-US" sz="2400" dirty="0">
                <a:solidFill>
                  <a:srgbClr val="18324A"/>
                </a:solidFill>
              </a:rPr>
              <a:t>.</a:t>
            </a:r>
            <a:endParaRPr lang="en-US" sz="2400" dirty="0"/>
          </a:p>
        </p:txBody>
      </p:sp>
      <p:sp>
        <p:nvSpPr>
          <p:cNvPr id="21" name="Shape 21"/>
          <p:cNvSpPr/>
          <p:nvPr/>
        </p:nvSpPr>
        <p:spPr>
          <a:xfrm>
            <a:off x="7589520" y="4300728"/>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22" name="Shape 22"/>
          <p:cNvSpPr/>
          <p:nvPr/>
        </p:nvSpPr>
        <p:spPr>
          <a:xfrm>
            <a:off x="7589520" y="4300728"/>
            <a:ext cx="109728" cy="1051560"/>
          </a:xfrm>
          <a:prstGeom prst="rect">
            <a:avLst/>
          </a:prstGeom>
          <a:solidFill>
            <a:srgbClr val="31C48D"/>
          </a:solidFill>
          <a:ln>
            <a:noFill/>
          </a:ln>
        </p:spPr>
        <p:txBody>
          <a:bodyPr wrap="square" lIns="0" tIns="0" rIns="0" bIns="0" rtlCol="0" anchor="t"/>
          <a:lstStyle/>
          <a:p>
            <a:endParaRPr lang="en-US"/>
          </a:p>
        </p:txBody>
      </p:sp>
      <p:sp>
        <p:nvSpPr>
          <p:cNvPr id="23" name="Callout"/>
          <p:cNvSpPr/>
          <p:nvPr/>
        </p:nvSpPr>
        <p:spPr>
          <a:xfrm>
            <a:off x="7699248" y="4300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December: month 12, index </a:t>
            </a:r>
            <a:r>
              <a:rPr lang="en-US" sz="2400" b="1" dirty="0">
                <a:solidFill>
                  <a:srgbClr val="18324A"/>
                </a:solidFill>
              </a:rPr>
              <a:t>11</a:t>
            </a:r>
            <a:r>
              <a:rPr lang="en-US" sz="2400" dirty="0">
                <a:solidFill>
                  <a:srgbClr val="18324A"/>
                </a:solidFill>
              </a:rPr>
              <a:t>.</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short list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32</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a</a:t>
            </a:r>
            <a:r>
              <a:rPr lang="en-US" sz="3200" dirty="0">
                <a:solidFill>
                  <a:srgbClr val="18324A"/>
                </a:solidFill>
              </a:rPr>
              <a:t> has 5 boxes but only 2 values in the list.</a:t>
            </a:r>
            <a:endParaRPr lang="en-US" sz="3200" dirty="0"/>
          </a:p>
          <a:p>
            <a:pPr marL="0" indent="0" algn="l">
              <a:spcAft>
                <a:spcPts val="600"/>
              </a:spcAft>
              <a:buNone/>
            </a:pPr>
            <a:r>
              <a:rPr lang="en-US" sz="3200" dirty="0">
                <a:solidFill>
                  <a:srgbClr val="18324A"/>
                </a:solidFill>
              </a:rPr>
              <a:t>What are the two lines?</a:t>
            </a:r>
            <a:endParaRPr lang="en-US" sz="3200" dirty="0"/>
          </a:p>
        </p:txBody>
      </p:sp>
      <p:sp>
        <p:nvSpPr>
          <p:cNvPr id="8" name="Shape 8"/>
          <p:cNvSpPr/>
          <p:nvPr/>
        </p:nvSpPr>
        <p:spPr>
          <a:xfrm>
            <a:off x="5760720" y="1261872"/>
            <a:ext cx="5882335" cy="4906010"/>
          </a:xfrm>
          <a:prstGeom prst="rect">
            <a:avLst/>
          </a:prstGeom>
          <a:solidFill>
            <a:srgbClr val="0F172A"/>
          </a:solidFill>
          <a:ln>
            <a:noFill/>
          </a:ln>
        </p:spPr>
        <p:txBody>
          <a:bodyPr wrap="square" lIns="0" tIns="0" rIns="0" bIns="0" rtlCol="0" anchor="t"/>
          <a:lstStyle/>
          <a:p>
            <a:endParaRPr lang="en-US"/>
          </a:p>
        </p:txBody>
      </p:sp>
      <p:sp>
        <p:nvSpPr>
          <p:cNvPr id="9" name="Shape 9"/>
          <p:cNvSpPr/>
          <p:nvPr/>
        </p:nvSpPr>
        <p:spPr>
          <a:xfrm>
            <a:off x="5760720" y="1486027"/>
            <a:ext cx="5882335"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760720" y="1486027"/>
            <a:ext cx="82296" cy="4127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760720" y="1898777"/>
            <a:ext cx="5882335" cy="4127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760720" y="1898777"/>
            <a:ext cx="82296" cy="4127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760720" y="1261872"/>
            <a:ext cx="5882335" cy="4906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FFFFFF"/>
                </a:solidFill>
                <a:latin typeface="Consolas"/>
                <a:ea typeface="Consolas"/>
                <a:cs typeface="Consolas"/>
              </a:rPr>
              <a:t>int a[5] = {1, 2};</a:t>
            </a:r>
            <a:endParaRPr lang="en-US" sz="2600" dirty="0"/>
          </a:p>
          <a:p>
            <a:pPr marL="0" indent="0" algn="l">
              <a:lnSpc>
                <a:spcPts val="3250"/>
              </a:lnSpc>
              <a:buNone/>
            </a:pPr>
            <a:r>
              <a:rPr lang="en-US" sz="2600" dirty="0">
                <a:solidFill>
                  <a:srgbClr val="FFFFFF"/>
                </a:solidFill>
                <a:latin typeface="Consolas"/>
                <a:ea typeface="Consolas"/>
                <a:cs typeface="Consolas"/>
              </a:rPr>
              <a:t>int b[5]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for (int i = 0; i &lt; 5; i++) {</a:t>
            </a:r>
            <a:endParaRPr lang="en-US" sz="2600" dirty="0"/>
          </a:p>
          <a:p>
            <a:pPr marL="0" indent="0" algn="l">
              <a:lnSpc>
                <a:spcPts val="3250"/>
              </a:lnSpc>
              <a:buNone/>
            </a:pPr>
            <a:r>
              <a:rPr lang="en-US" sz="2600" dirty="0">
                <a:solidFill>
                  <a:srgbClr val="64748B"/>
                </a:solidFill>
                <a:latin typeface="Consolas"/>
                <a:ea typeface="Consolas"/>
                <a:cs typeface="Consolas"/>
              </a:rPr>
              <a:t>    printf("%d ", a[i]);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printf("\n");</a:t>
            </a:r>
            <a:endParaRPr lang="en-US" sz="2600" dirty="0"/>
          </a:p>
          <a:p>
            <a:pPr marL="0" indent="0" algn="l">
              <a:lnSpc>
                <a:spcPts val="3250"/>
              </a:lnSpc>
              <a:buNone/>
            </a:pPr>
            <a:r>
              <a:rPr lang="en-US" sz="2600" dirty="0">
                <a:solidFill>
                  <a:srgbClr val="64748B"/>
                </a:solidFill>
                <a:latin typeface="Consolas"/>
                <a:ea typeface="Consolas"/>
                <a:cs typeface="Consolas"/>
              </a:rPr>
              <a:t>for (int i = 0; i &lt; 5; i++) {</a:t>
            </a:r>
            <a:endParaRPr lang="en-US" sz="2600" dirty="0"/>
          </a:p>
          <a:p>
            <a:pPr marL="0" indent="0" algn="l">
              <a:lnSpc>
                <a:spcPts val="3250"/>
              </a:lnSpc>
              <a:buNone/>
            </a:pPr>
            <a:r>
              <a:rPr lang="en-US" sz="2600" dirty="0">
                <a:solidFill>
                  <a:srgbClr val="64748B"/>
                </a:solidFill>
                <a:latin typeface="Consolas"/>
                <a:ea typeface="Consolas"/>
                <a:cs typeface="Consolas"/>
              </a:rPr>
              <a:t>    printf("%d ", b[i]);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printf("\n");</a:t>
            </a:r>
            <a:endParaRPr lang="en-US" sz="2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 short list</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33</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486027"/>
            <a:ext cx="6766560" cy="4127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486027"/>
            <a:ext cx="82296" cy="4127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1898777"/>
            <a:ext cx="6766560" cy="4127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1898777"/>
            <a:ext cx="82296" cy="4127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FFFFFF"/>
                </a:solidFill>
                <a:latin typeface="Consolas"/>
                <a:ea typeface="Consolas"/>
                <a:cs typeface="Consolas"/>
              </a:rPr>
              <a:t>int a[5] = {1, 2};</a:t>
            </a:r>
            <a:endParaRPr lang="en-US" sz="2600" dirty="0"/>
          </a:p>
          <a:p>
            <a:pPr marL="0" indent="0" algn="l">
              <a:lnSpc>
                <a:spcPts val="3250"/>
              </a:lnSpc>
              <a:buNone/>
            </a:pPr>
            <a:r>
              <a:rPr lang="en-US" sz="2600" dirty="0">
                <a:solidFill>
                  <a:srgbClr val="FFFFFF"/>
                </a:solidFill>
                <a:latin typeface="Consolas"/>
                <a:ea typeface="Consolas"/>
                <a:cs typeface="Consolas"/>
              </a:rPr>
              <a:t>int b[5] = {0};</a:t>
            </a:r>
            <a:endParaRPr lang="en-US" sz="2600" dirty="0"/>
          </a:p>
          <a:p>
            <a:pPr marL="0" indent="0" algn="l">
              <a:lnSpc>
                <a:spcPts val="3250"/>
              </a:lnSpc>
              <a:buNone/>
            </a:pPr>
            <a:r>
              <a:rPr lang="en-US" sz="2600" dirty="0">
                <a:solidFill>
                  <a:srgbClr val="64748B"/>
                </a:solidFill>
                <a:latin typeface="Consolas"/>
                <a:ea typeface="Consolas"/>
                <a:cs typeface="Consolas"/>
              </a:rPr>
              <a:t> </a:t>
            </a:r>
            <a:endParaRPr lang="en-US" sz="2600" dirty="0"/>
          </a:p>
          <a:p>
            <a:pPr marL="0" indent="0" algn="l">
              <a:lnSpc>
                <a:spcPts val="3250"/>
              </a:lnSpc>
              <a:buNone/>
            </a:pPr>
            <a:r>
              <a:rPr lang="en-US" sz="2600" dirty="0">
                <a:solidFill>
                  <a:srgbClr val="64748B"/>
                </a:solidFill>
                <a:latin typeface="Consolas"/>
                <a:ea typeface="Consolas"/>
                <a:cs typeface="Consolas"/>
              </a:rPr>
              <a:t>for (int i = 0; i &lt; 5; i++) {</a:t>
            </a:r>
            <a:endParaRPr lang="en-US" sz="2600" dirty="0"/>
          </a:p>
          <a:p>
            <a:pPr marL="0" indent="0" algn="l">
              <a:lnSpc>
                <a:spcPts val="3250"/>
              </a:lnSpc>
              <a:buNone/>
            </a:pPr>
            <a:r>
              <a:rPr lang="en-US" sz="2600" dirty="0">
                <a:solidFill>
                  <a:srgbClr val="64748B"/>
                </a:solidFill>
                <a:latin typeface="Consolas"/>
                <a:ea typeface="Consolas"/>
                <a:cs typeface="Consolas"/>
              </a:rPr>
              <a:t>    printf("%d ", a[i]);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printf("\n");</a:t>
            </a:r>
            <a:endParaRPr lang="en-US" sz="2600" dirty="0"/>
          </a:p>
          <a:p>
            <a:pPr marL="0" indent="0" algn="l">
              <a:lnSpc>
                <a:spcPts val="3250"/>
              </a:lnSpc>
              <a:buNone/>
            </a:pPr>
            <a:r>
              <a:rPr lang="en-US" sz="2600" dirty="0">
                <a:solidFill>
                  <a:srgbClr val="64748B"/>
                </a:solidFill>
                <a:latin typeface="Consolas"/>
                <a:ea typeface="Consolas"/>
                <a:cs typeface="Consolas"/>
              </a:rPr>
              <a:t>for (int i = 0; i &lt; 5; i++) {</a:t>
            </a:r>
            <a:endParaRPr lang="en-US" sz="2600" dirty="0"/>
          </a:p>
          <a:p>
            <a:pPr marL="0" indent="0" algn="l">
              <a:lnSpc>
                <a:spcPts val="3250"/>
              </a:lnSpc>
              <a:buNone/>
            </a:pPr>
            <a:r>
              <a:rPr lang="en-US" sz="2600" dirty="0">
                <a:solidFill>
                  <a:srgbClr val="64748B"/>
                </a:solidFill>
                <a:latin typeface="Consolas"/>
                <a:ea typeface="Consolas"/>
                <a:cs typeface="Consolas"/>
              </a:rPr>
              <a:t>    printf("%d ", b[i]);</a:t>
            </a:r>
            <a:endParaRPr lang="en-US" sz="2600" dirty="0"/>
          </a:p>
          <a:p>
            <a:pPr marL="0" indent="0" algn="l">
              <a:lnSpc>
                <a:spcPts val="3250"/>
              </a:lnSpc>
              <a:buNone/>
            </a:pPr>
            <a:r>
              <a:rPr lang="en-US" sz="2600" dirty="0">
                <a:solidFill>
                  <a:srgbClr val="64748B"/>
                </a:solidFill>
                <a:latin typeface="Consolas"/>
                <a:ea typeface="Consolas"/>
                <a:cs typeface="Consolas"/>
              </a:rPr>
              <a:t>}</a:t>
            </a:r>
            <a:endParaRPr lang="en-US" sz="2600" dirty="0"/>
          </a:p>
          <a:p>
            <a:pPr marL="0" indent="0" algn="l">
              <a:lnSpc>
                <a:spcPts val="3250"/>
              </a:lnSpc>
              <a:buNone/>
            </a:pPr>
            <a:r>
              <a:rPr lang="en-US" sz="2600" dirty="0">
                <a:solidFill>
                  <a:srgbClr val="64748B"/>
                </a:solidFill>
                <a:latin typeface="Consolas"/>
                <a:ea typeface="Consolas"/>
                <a:cs typeface="Consolas"/>
              </a:rPr>
              <a:t>printf("\n");</a:t>
            </a:r>
            <a:endParaRPr lang="en-US" sz="2600" dirty="0"/>
          </a:p>
        </p:txBody>
      </p:sp>
      <p:sp>
        <p:nvSpPr>
          <p:cNvPr id="12" name="Shape 12"/>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7589520" y="1645920"/>
            <a:ext cx="4053535" cy="112776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7589520" y="1645920"/>
            <a:ext cx="405353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1 2 0 0 0</a:t>
            </a:r>
            <a:endParaRPr lang="en-US" sz="2400" dirty="0"/>
          </a:p>
          <a:p>
            <a:pPr marL="0" indent="0" algn="l">
              <a:lnSpc>
                <a:spcPts val="3000"/>
              </a:lnSpc>
              <a:buNone/>
            </a:pPr>
            <a:r>
              <a:rPr lang="en-US" sz="2400" dirty="0">
                <a:solidFill>
                  <a:srgbClr val="D1FAE5"/>
                </a:solidFill>
                <a:latin typeface="Consolas"/>
                <a:ea typeface="Consolas"/>
                <a:cs typeface="Consolas"/>
              </a:rPr>
              <a:t>0 0 0 0 0</a:t>
            </a:r>
            <a:endParaRPr lang="en-US" sz="2400" dirty="0"/>
          </a:p>
        </p:txBody>
      </p:sp>
      <p:sp>
        <p:nvSpPr>
          <p:cNvPr id="15" name="Shape 15"/>
          <p:cNvSpPr/>
          <p:nvPr/>
        </p:nvSpPr>
        <p:spPr>
          <a:xfrm>
            <a:off x="7589520" y="30480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6" name="Shape 16"/>
          <p:cNvSpPr/>
          <p:nvPr/>
        </p:nvSpPr>
        <p:spPr>
          <a:xfrm>
            <a:off x="7589520" y="3048000"/>
            <a:ext cx="109728" cy="1051560"/>
          </a:xfrm>
          <a:prstGeom prst="rect">
            <a:avLst/>
          </a:prstGeom>
          <a:solidFill>
            <a:srgbClr val="31C48D"/>
          </a:solidFill>
          <a:ln>
            <a:noFill/>
          </a:ln>
        </p:spPr>
        <p:txBody>
          <a:bodyPr wrap="square" lIns="0" tIns="0" rIns="0" bIns="0" rtlCol="0" anchor="t"/>
          <a:lstStyle/>
          <a:p>
            <a:endParaRPr lang="en-US"/>
          </a:p>
        </p:txBody>
      </p:sp>
      <p:sp>
        <p:nvSpPr>
          <p:cNvPr id="17" name="Callout"/>
          <p:cNvSpPr/>
          <p:nvPr/>
        </p:nvSpPr>
        <p:spPr>
          <a:xfrm>
            <a:off x="7699248" y="3048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Missing values become </a:t>
            </a:r>
            <a:r>
              <a:rPr lang="en-US" sz="2400" b="1" dirty="0">
                <a:solidFill>
                  <a:srgbClr val="18324A"/>
                </a:solidFill>
              </a:rPr>
              <a:t>0</a:t>
            </a:r>
            <a:r>
              <a:rPr lang="en-US" sz="2400" dirty="0">
                <a:solidFill>
                  <a:srgbClr val="18324A"/>
                </a:solidFill>
              </a:rPr>
              <a:t>.</a:t>
            </a:r>
            <a:endParaRPr lang="en-US" sz="2400" dirty="0"/>
          </a:p>
        </p:txBody>
      </p:sp>
      <p:sp>
        <p:nvSpPr>
          <p:cNvPr id="18" name="Shape 18"/>
          <p:cNvSpPr/>
          <p:nvPr/>
        </p:nvSpPr>
        <p:spPr>
          <a:xfrm>
            <a:off x="7589520" y="4300728"/>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9" name="Shape 19"/>
          <p:cNvSpPr/>
          <p:nvPr/>
        </p:nvSpPr>
        <p:spPr>
          <a:xfrm>
            <a:off x="7589520" y="4300728"/>
            <a:ext cx="109728" cy="685800"/>
          </a:xfrm>
          <a:prstGeom prst="rect">
            <a:avLst/>
          </a:prstGeom>
          <a:solidFill>
            <a:srgbClr val="31C48D"/>
          </a:solidFill>
          <a:ln>
            <a:noFill/>
          </a:ln>
        </p:spPr>
        <p:txBody>
          <a:bodyPr wrap="square" lIns="0" tIns="0" rIns="0" bIns="0" rtlCol="0" anchor="t"/>
          <a:lstStyle/>
          <a:p>
            <a:endParaRPr lang="en-US"/>
          </a:p>
        </p:txBody>
      </p:sp>
      <p:sp>
        <p:nvSpPr>
          <p:cNvPr id="20" name="Callout"/>
          <p:cNvSpPr/>
          <p:nvPr/>
        </p:nvSpPr>
        <p:spPr>
          <a:xfrm>
            <a:off x="7699248" y="4300728"/>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 {0}</a:t>
            </a:r>
            <a:r>
              <a:rPr lang="en-US" sz="2400" dirty="0">
                <a:solidFill>
                  <a:srgbClr val="18324A"/>
                </a:solidFill>
              </a:rPr>
              <a:t>: every box 0.</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Any type works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34</a:t>
            </a:r>
            <a:endParaRPr lang="en-US" sz="1400" dirty="0"/>
          </a:p>
        </p:txBody>
      </p:sp>
      <p:sp>
        <p:nvSpPr>
          <p:cNvPr id="6" name="Shape 6"/>
          <p:cNvSpPr/>
          <p:nvPr/>
        </p:nvSpPr>
        <p:spPr>
          <a:xfrm>
            <a:off x="548640" y="1261872"/>
            <a:ext cx="7863840" cy="28105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479677"/>
            <a:ext cx="786384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47967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178177"/>
            <a:ext cx="786384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178177"/>
            <a:ext cx="82296" cy="34925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7863840" cy="2810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FFFFFF"/>
                </a:solidFill>
                <a:latin typeface="Consolas"/>
                <a:ea typeface="Consolas"/>
                <a:cs typeface="Consolas"/>
              </a:rPr>
              <a:t>double prices[3] = {2.50, 1.20, 4.00};</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prices[1] = 1.35;</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for (int i = 0; i &lt; 3; i++) {</a:t>
            </a:r>
            <a:endParaRPr lang="en-US" sz="2200" dirty="0"/>
          </a:p>
          <a:p>
            <a:pPr marL="0" indent="0" algn="l">
              <a:lnSpc>
                <a:spcPts val="2750"/>
              </a:lnSpc>
              <a:buNone/>
            </a:pPr>
            <a:r>
              <a:rPr lang="en-US" sz="2200" dirty="0">
                <a:solidFill>
                  <a:srgbClr val="64748B"/>
                </a:solidFill>
                <a:latin typeface="Consolas"/>
                <a:ea typeface="Consolas"/>
                <a:cs typeface="Consolas"/>
              </a:rPr>
              <a:t>    printf("item %d: %.2f AZN\n", i, prices[i]);</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2" name="Shape 12"/>
          <p:cNvSpPr/>
          <p:nvPr/>
        </p:nvSpPr>
        <p:spPr>
          <a:xfrm>
            <a:off x="8686800" y="1261872"/>
            <a:ext cx="295625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8686800" y="1645920"/>
            <a:ext cx="2956255" cy="141351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8686800" y="1645920"/>
            <a:ext cx="2956255" cy="1413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D1FAE5"/>
                </a:solidFill>
                <a:latin typeface="Consolas"/>
                <a:ea typeface="Consolas"/>
                <a:cs typeface="Consolas"/>
              </a:rPr>
              <a:t>item 0: 2.50 AZN</a:t>
            </a:r>
            <a:endParaRPr lang="en-US" sz="2200" dirty="0"/>
          </a:p>
          <a:p>
            <a:pPr marL="0" indent="0" algn="l">
              <a:lnSpc>
                <a:spcPts val="2750"/>
              </a:lnSpc>
              <a:buNone/>
            </a:pPr>
            <a:r>
              <a:rPr lang="en-US" sz="2200" dirty="0">
                <a:solidFill>
                  <a:srgbClr val="D1FAE5"/>
                </a:solidFill>
                <a:latin typeface="Consolas"/>
                <a:ea typeface="Consolas"/>
                <a:cs typeface="Consolas"/>
              </a:rPr>
              <a:t>item 1: 1.35 AZN</a:t>
            </a:r>
            <a:endParaRPr lang="en-US" sz="2200" dirty="0"/>
          </a:p>
          <a:p>
            <a:pPr marL="0" indent="0" algn="l">
              <a:lnSpc>
                <a:spcPts val="2750"/>
              </a:lnSpc>
              <a:buNone/>
            </a:pPr>
            <a:r>
              <a:rPr lang="en-US" sz="2200" dirty="0">
                <a:solidFill>
                  <a:srgbClr val="D1FAE5"/>
                </a:solidFill>
                <a:latin typeface="Consolas"/>
                <a:ea typeface="Consolas"/>
                <a:cs typeface="Consolas"/>
              </a:rPr>
              <a:t>item 2: 4.00 AZN</a:t>
            </a:r>
            <a:endParaRPr lang="en-US" sz="2200" dirty="0"/>
          </a:p>
        </p:txBody>
      </p:sp>
      <p:sp>
        <p:nvSpPr>
          <p:cNvPr id="15" name="Shape 15"/>
          <p:cNvSpPr/>
          <p:nvPr/>
        </p:nvSpPr>
        <p:spPr>
          <a:xfrm>
            <a:off x="8686800" y="3333750"/>
            <a:ext cx="2956255" cy="1051560"/>
          </a:xfrm>
          <a:prstGeom prst="rect">
            <a:avLst/>
          </a:prstGeom>
          <a:solidFill>
            <a:srgbClr val="FFFFFF"/>
          </a:solidFill>
          <a:ln w="19050">
            <a:solidFill>
              <a:srgbClr val="8B5CF6"/>
            </a:solidFill>
          </a:ln>
        </p:spPr>
        <p:txBody>
          <a:bodyPr wrap="square" lIns="0" tIns="0" rIns="0" bIns="0" rtlCol="0" anchor="t"/>
          <a:lstStyle/>
          <a:p>
            <a:endParaRPr lang="en-US"/>
          </a:p>
        </p:txBody>
      </p:sp>
      <p:sp>
        <p:nvSpPr>
          <p:cNvPr id="16" name="Shape 16"/>
          <p:cNvSpPr/>
          <p:nvPr/>
        </p:nvSpPr>
        <p:spPr>
          <a:xfrm>
            <a:off x="8686800" y="3333750"/>
            <a:ext cx="109728" cy="1051560"/>
          </a:xfrm>
          <a:prstGeom prst="rect">
            <a:avLst/>
          </a:prstGeom>
          <a:solidFill>
            <a:srgbClr val="8B5CF6"/>
          </a:solidFill>
          <a:ln>
            <a:noFill/>
          </a:ln>
        </p:spPr>
        <p:txBody>
          <a:bodyPr wrap="square" lIns="0" tIns="0" rIns="0" bIns="0" rtlCol="0" anchor="t"/>
          <a:lstStyle/>
          <a:p>
            <a:endParaRPr lang="en-US"/>
          </a:p>
        </p:txBody>
      </p:sp>
      <p:sp>
        <p:nvSpPr>
          <p:cNvPr id="17" name="Callout"/>
          <p:cNvSpPr/>
          <p:nvPr/>
        </p:nvSpPr>
        <p:spPr>
          <a:xfrm>
            <a:off x="8796528" y="3333750"/>
            <a:ext cx="284652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Three boxes of type </a:t>
            </a:r>
            <a:r>
              <a:rPr lang="en-US" sz="2400" dirty="0">
                <a:solidFill>
                  <a:srgbClr val="18324A"/>
                </a:solidFill>
                <a:latin typeface="Consolas"/>
                <a:ea typeface="Consolas"/>
                <a:cs typeface="Consolas"/>
              </a:rPr>
              <a:t>double</a:t>
            </a:r>
            <a:r>
              <a:rPr lang="en-US" sz="2400" dirty="0">
                <a:solidFill>
                  <a:srgbClr val="18324A"/>
                </a:solidFill>
              </a:rPr>
              <a:t>.</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Making an array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35</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int a[5];</a:t>
            </a:r>
            <a:r>
              <a:rPr lang="en-US" sz="2800" dirty="0">
                <a:solidFill>
                  <a:srgbClr val="18324A"/>
                </a:solidFill>
              </a:rPr>
              <a:t> five boxes, no values yet</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int a[5] = {1, 2, 3, 4, 5};</a:t>
            </a:r>
            <a:r>
              <a:rPr lang="en-US" sz="2800" dirty="0">
                <a:solidFill>
                  <a:srgbClr val="18324A"/>
                </a:solidFill>
              </a:rPr>
              <a:t> five boxes, five values</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int a[5] = {0};</a:t>
            </a:r>
            <a:r>
              <a:rPr lang="en-US" sz="2800" dirty="0">
                <a:solidFill>
                  <a:srgbClr val="18324A"/>
                </a:solidFill>
              </a:rPr>
              <a:t> five boxes, all 0</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The size is fixed: it cannot grow later</a:t>
            </a:r>
            <a:endParaRPr lang="en-US" sz="2800" dirty="0"/>
          </a:p>
        </p:txBody>
      </p:sp>
      <p:sp>
        <p:nvSpPr>
          <p:cNvPr id="14" name="Shape 14"/>
          <p:cNvSpPr/>
          <p:nvPr/>
        </p:nvSpPr>
        <p:spPr>
          <a:xfrm>
            <a:off x="731520" y="4965192"/>
            <a:ext cx="640080" cy="640080"/>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691640" y="49651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Index 0 to N-1</a:t>
            </a:r>
            <a:endParaRPr 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31C48D"/>
          </a:solidFill>
          <a:ln>
            <a:noFill/>
          </a:ln>
        </p:spPr>
        <p:txBody>
          <a:bodyPr wrap="square" lIns="0" tIns="0" rIns="0" bIns="0" rtlCol="0" anchor="ctr"/>
          <a:lstStyle/>
          <a:p>
            <a:pPr marL="0" indent="0" algn="ctr">
              <a:buNone/>
            </a:pPr>
            <a:r>
              <a:rPr lang="en-US" sz="5400" b="1" dirty="0">
                <a:solidFill>
                  <a:srgbClr val="FFFFFF"/>
                </a:solidFill>
              </a:rPr>
              <a:t>2</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A loop over every box</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for (int i = 0; i &lt; N; i++)</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9</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index can be a variable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37</a:t>
            </a:r>
            <a:endParaRPr lang="en-US" sz="1400" dirty="0"/>
          </a:p>
        </p:txBody>
      </p:sp>
      <p:sp>
        <p:nvSpPr>
          <p:cNvPr id="6" name="Shape 6"/>
          <p:cNvSpPr/>
          <p:nvPr/>
        </p:nvSpPr>
        <p:spPr>
          <a:xfrm>
            <a:off x="548640" y="1399032"/>
            <a:ext cx="109728" cy="792480"/>
          </a:xfrm>
          <a:prstGeom prst="rect">
            <a:avLst/>
          </a:prstGeom>
          <a:solidFill>
            <a:srgbClr val="2F80ED"/>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2F80ED"/>
                </a:solidFill>
                <a:latin typeface="Consolas"/>
                <a:ea typeface="Consolas"/>
                <a:cs typeface="Consolas"/>
              </a:rPr>
              <a:t>a[i]</a:t>
            </a:r>
            <a:r>
              <a:rPr lang="en-US" sz="4000" b="1" dirty="0">
                <a:solidFill>
                  <a:srgbClr val="18324A"/>
                </a:solidFill>
              </a:rPr>
              <a:t>: the box whose number is in </a:t>
            </a:r>
            <a:r>
              <a:rPr lang="en-US" sz="4000" b="1" dirty="0">
                <a:solidFill>
                  <a:srgbClr val="2F80ED"/>
                </a:solidFill>
                <a:latin typeface="Consolas"/>
                <a:ea typeface="Consolas"/>
                <a:cs typeface="Consolas"/>
              </a:rPr>
              <a:t>i</a:t>
            </a:r>
            <a:r>
              <a:rPr lang="en-US" sz="4000" b="1" dirty="0">
                <a:solidFill>
                  <a:srgbClr val="18324A"/>
                </a:solidFill>
              </a:rPr>
              <a:t>.</a:t>
            </a:r>
            <a:endParaRPr lang="en-US" sz="4000" dirty="0"/>
          </a:p>
        </p:txBody>
      </p:sp>
      <p:sp>
        <p:nvSpPr>
          <p:cNvPr id="8" name="Shape 8"/>
          <p:cNvSpPr/>
          <p:nvPr/>
        </p:nvSpPr>
        <p:spPr>
          <a:xfrm>
            <a:off x="914400" y="26029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2F80ED"/>
                </a:solidFill>
                <a:latin typeface="Consolas"/>
                <a:ea typeface="Consolas"/>
                <a:cs typeface="Consolas"/>
              </a:rPr>
              <a:t>i</a:t>
            </a:r>
            <a:r>
              <a:rPr lang="en-US" sz="3000" dirty="0">
                <a:solidFill>
                  <a:srgbClr val="18324A"/>
                </a:solidFill>
              </a:rPr>
              <a:t> is 0: </a:t>
            </a:r>
            <a:r>
              <a:rPr lang="en-US" sz="3000" dirty="0">
                <a:solidFill>
                  <a:srgbClr val="2F80ED"/>
                </a:solidFill>
                <a:latin typeface="Consolas"/>
                <a:ea typeface="Consolas"/>
                <a:cs typeface="Consolas"/>
              </a:rPr>
              <a:t>a[0]</a:t>
            </a:r>
            <a:r>
              <a:rPr lang="en-US" sz="3000" dirty="0">
                <a:solidFill>
                  <a:srgbClr val="18324A"/>
                </a:solidFill>
              </a:rPr>
              <a:t>.  </a:t>
            </a:r>
            <a:r>
              <a:rPr lang="en-US" sz="3000" dirty="0">
                <a:solidFill>
                  <a:srgbClr val="2F80ED"/>
                </a:solidFill>
                <a:latin typeface="Consolas"/>
                <a:ea typeface="Consolas"/>
                <a:cs typeface="Consolas"/>
              </a:rPr>
              <a:t>i</a:t>
            </a:r>
            <a:r>
              <a:rPr lang="en-US" sz="3000" dirty="0">
                <a:solidFill>
                  <a:srgbClr val="18324A"/>
                </a:solidFill>
              </a:rPr>
              <a:t> is 3: </a:t>
            </a:r>
            <a:r>
              <a:rPr lang="en-US" sz="3000" dirty="0">
                <a:solidFill>
                  <a:srgbClr val="2F80ED"/>
                </a:solidFill>
                <a:latin typeface="Consolas"/>
                <a:ea typeface="Consolas"/>
                <a:cs typeface="Consolas"/>
              </a:rPr>
              <a:t>a[3]</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A </a:t>
            </a:r>
            <a:r>
              <a:rPr lang="en-US" sz="3000" dirty="0">
                <a:solidFill>
                  <a:srgbClr val="2F80ED"/>
                </a:solidFill>
                <a:latin typeface="Consolas"/>
                <a:ea typeface="Consolas"/>
                <a:cs typeface="Consolas"/>
              </a:rPr>
              <a:t>for</a:t>
            </a:r>
            <a:r>
              <a:rPr lang="en-US" sz="3000" dirty="0">
                <a:solidFill>
                  <a:srgbClr val="18324A"/>
                </a:solidFill>
              </a:rPr>
              <a:t> loop makes </a:t>
            </a:r>
            <a:r>
              <a:rPr lang="en-US" sz="3000" dirty="0">
                <a:solidFill>
                  <a:srgbClr val="2F80ED"/>
                </a:solidFill>
                <a:latin typeface="Consolas"/>
                <a:ea typeface="Consolas"/>
                <a:cs typeface="Consolas"/>
              </a:rPr>
              <a:t>i</a:t>
            </a:r>
            <a:r>
              <a:rPr lang="en-US" sz="3000" dirty="0">
                <a:solidFill>
                  <a:srgbClr val="18324A"/>
                </a:solidFill>
              </a:rPr>
              <a:t> go 0, 1, 2, ... N-1.</a:t>
            </a:r>
            <a:endParaRPr lang="en-US" sz="3000" dirty="0"/>
          </a:p>
          <a:p>
            <a:pPr marL="0" indent="0" algn="l">
              <a:spcAft>
                <a:spcPts val="1600"/>
              </a:spcAft>
              <a:buNone/>
            </a:pPr>
            <a:r>
              <a:rPr lang="en-US" sz="3000" dirty="0">
                <a:solidFill>
                  <a:srgbClr val="18324A"/>
                </a:solidFill>
              </a:rPr>
              <a:t>So one line inside the loop reaches </a:t>
            </a:r>
            <a:r>
              <a:rPr lang="en-US" sz="3000" b="1" dirty="0">
                <a:solidFill>
                  <a:srgbClr val="18324A"/>
                </a:solidFill>
              </a:rPr>
              <a:t>every</a:t>
            </a:r>
            <a:r>
              <a:rPr lang="en-US" sz="3000" dirty="0">
                <a:solidFill>
                  <a:srgbClr val="18324A"/>
                </a:solidFill>
              </a:rPr>
              <a:t> box.</a:t>
            </a:r>
            <a:endParaRPr lang="en-US" sz="3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Print every box</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38</a:t>
            </a:r>
            <a:endParaRPr lang="en-US" sz="1400" dirty="0"/>
          </a:p>
        </p:txBody>
      </p:sp>
      <p:sp>
        <p:nvSpPr>
          <p:cNvPr id="6" name="Shape 6"/>
          <p:cNvSpPr/>
          <p:nvPr/>
        </p:nvSpPr>
        <p:spPr>
          <a:xfrm>
            <a:off x="548640" y="1261872"/>
            <a:ext cx="6766560" cy="2270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244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244852"/>
            <a:ext cx="82296" cy="3810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625852"/>
            <a:ext cx="6766560" cy="3810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006852"/>
            <a:ext cx="6766560" cy="3810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006852"/>
            <a:ext cx="82296" cy="38100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2270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a[5] = {12, 7, 30, 5, 18};</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for (int i = 0; i &lt; 5; i++) {</a:t>
            </a:r>
            <a:endParaRPr lang="en-US" sz="2400" dirty="0"/>
          </a:p>
          <a:p>
            <a:pPr marL="0" indent="0" algn="l">
              <a:lnSpc>
                <a:spcPts val="3000"/>
              </a:lnSpc>
              <a:buNone/>
            </a:pPr>
            <a:r>
              <a:rPr lang="en-US" sz="2400" dirty="0">
                <a:solidFill>
                  <a:srgbClr val="FFFFFF"/>
                </a:solidFill>
                <a:latin typeface="Consolas"/>
                <a:ea typeface="Consolas"/>
                <a:cs typeface="Consolas"/>
              </a:rPr>
              <a:t>    printf("a[%d] = %d\n", i, a[i]);</a:t>
            </a:r>
            <a:endParaRPr lang="en-US" sz="2400" dirty="0"/>
          </a:p>
          <a:p>
            <a:pPr marL="0" indent="0" algn="l">
              <a:lnSpc>
                <a:spcPts val="3000"/>
              </a:lnSpc>
              <a:buNone/>
            </a:pPr>
            <a:r>
              <a:rPr lang="en-US" sz="2400" dirty="0">
                <a:solidFill>
                  <a:srgbClr val="FFFFFF"/>
                </a:solidFill>
                <a:latin typeface="Consolas"/>
                <a:ea typeface="Consolas"/>
                <a:cs typeface="Consolas"/>
              </a:rPr>
              <a:t>}</a:t>
            </a:r>
            <a:endParaRPr lang="en-US" sz="24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2270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2270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a[0] = 12</a:t>
            </a:r>
            <a:endParaRPr lang="en-US" sz="2400" dirty="0"/>
          </a:p>
          <a:p>
            <a:pPr marL="0" indent="0" algn="l">
              <a:lnSpc>
                <a:spcPts val="3000"/>
              </a:lnSpc>
              <a:buNone/>
            </a:pPr>
            <a:r>
              <a:rPr lang="en-US" sz="2400" dirty="0">
                <a:solidFill>
                  <a:srgbClr val="D1FAE5"/>
                </a:solidFill>
                <a:latin typeface="Consolas"/>
                <a:ea typeface="Consolas"/>
                <a:cs typeface="Consolas"/>
              </a:rPr>
              <a:t>a[1] = 7</a:t>
            </a:r>
            <a:endParaRPr lang="en-US" sz="2400" dirty="0"/>
          </a:p>
          <a:p>
            <a:pPr marL="0" indent="0" algn="l">
              <a:lnSpc>
                <a:spcPts val="3000"/>
              </a:lnSpc>
              <a:buNone/>
            </a:pPr>
            <a:r>
              <a:rPr lang="en-US" sz="2400" dirty="0">
                <a:solidFill>
                  <a:srgbClr val="D1FAE5"/>
                </a:solidFill>
                <a:latin typeface="Consolas"/>
                <a:ea typeface="Consolas"/>
                <a:cs typeface="Consolas"/>
              </a:rPr>
              <a:t>a[2] = 30</a:t>
            </a:r>
            <a:endParaRPr lang="en-US" sz="2400" dirty="0"/>
          </a:p>
          <a:p>
            <a:pPr marL="0" indent="0" algn="l">
              <a:lnSpc>
                <a:spcPts val="3000"/>
              </a:lnSpc>
              <a:buNone/>
            </a:pPr>
            <a:r>
              <a:rPr lang="en-US" sz="2400" dirty="0">
                <a:solidFill>
                  <a:srgbClr val="D1FAE5"/>
                </a:solidFill>
                <a:latin typeface="Consolas"/>
                <a:ea typeface="Consolas"/>
                <a:cs typeface="Consolas"/>
              </a:rPr>
              <a:t>a[3] = 5</a:t>
            </a:r>
            <a:endParaRPr lang="en-US" sz="2400" dirty="0"/>
          </a:p>
          <a:p>
            <a:pPr marL="0" indent="0" algn="l">
              <a:lnSpc>
                <a:spcPts val="3000"/>
              </a:lnSpc>
              <a:buNone/>
            </a:pPr>
            <a:r>
              <a:rPr lang="en-US" sz="2400" dirty="0">
                <a:solidFill>
                  <a:srgbClr val="D1FAE5"/>
                </a:solidFill>
                <a:latin typeface="Consolas"/>
                <a:ea typeface="Consolas"/>
                <a:cs typeface="Consolas"/>
              </a:rPr>
              <a:t>a[4] = 18</a:t>
            </a:r>
            <a:endParaRPr lang="en-US" sz="2400" dirty="0"/>
          </a:p>
        </p:txBody>
      </p:sp>
      <p:sp>
        <p:nvSpPr>
          <p:cNvPr id="17" name="Shape 17"/>
          <p:cNvSpPr/>
          <p:nvPr/>
        </p:nvSpPr>
        <p:spPr>
          <a:xfrm>
            <a:off x="7589520" y="4191000"/>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8" name="Shape 18"/>
          <p:cNvSpPr/>
          <p:nvPr/>
        </p:nvSpPr>
        <p:spPr>
          <a:xfrm>
            <a:off x="7589520" y="4191000"/>
            <a:ext cx="109728" cy="685800"/>
          </a:xfrm>
          <a:prstGeom prst="rect">
            <a:avLst/>
          </a:prstGeom>
          <a:solidFill>
            <a:srgbClr val="31C48D"/>
          </a:solidFill>
          <a:ln>
            <a:noFill/>
          </a:ln>
        </p:spPr>
        <p:txBody>
          <a:bodyPr wrap="square" lIns="0" tIns="0" rIns="0" bIns="0" rtlCol="0" anchor="t"/>
          <a:lstStyle/>
          <a:p>
            <a:endParaRPr lang="en-US"/>
          </a:p>
        </p:txBody>
      </p:sp>
      <p:sp>
        <p:nvSpPr>
          <p:cNvPr id="19" name="Callout"/>
          <p:cNvSpPr/>
          <p:nvPr/>
        </p:nvSpPr>
        <p:spPr>
          <a:xfrm>
            <a:off x="7699248" y="419100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 &lt; 5</a:t>
            </a:r>
            <a:r>
              <a:rPr lang="en-US" sz="2400" dirty="0">
                <a:solidFill>
                  <a:srgbClr val="18324A"/>
                </a:solidFill>
              </a:rPr>
              <a:t>: stops after 4.</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Step by step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39</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a:t>
            </a:r>
            <a:r>
              <a:rPr lang="en-US" sz="2400" dirty="0">
                <a:solidFill>
                  <a:srgbClr val="18324A"/>
                </a:solidFill>
              </a:rPr>
              <a:t> is 0, so </a:t>
            </a:r>
            <a:r>
              <a:rPr lang="en-US" sz="2400" dirty="0">
                <a:solidFill>
                  <a:srgbClr val="18324A"/>
                </a:solidFill>
                <a:latin typeface="Consolas"/>
                <a:ea typeface="Consolas"/>
                <a:cs typeface="Consolas"/>
              </a:rPr>
              <a:t>a[i]</a:t>
            </a:r>
            <a:r>
              <a:rPr lang="en-US" sz="2400" dirty="0">
                <a:solidFill>
                  <a:srgbClr val="18324A"/>
                </a:solidFill>
              </a:rPr>
              <a:t> is </a:t>
            </a:r>
            <a:r>
              <a:rPr lang="en-US" sz="2400" dirty="0">
                <a:solidFill>
                  <a:srgbClr val="18324A"/>
                </a:solidFill>
                <a:latin typeface="Consolas"/>
                <a:ea typeface="Consolas"/>
                <a:cs typeface="Consolas"/>
              </a:rPr>
              <a:t>a[0]</a:t>
            </a:r>
            <a:r>
              <a:rPr lang="en-US" sz="2400" dirty="0">
                <a:solidFill>
                  <a:srgbClr val="18324A"/>
                </a:solidFill>
              </a:rPr>
              <a:t>: 12.</a:t>
            </a:r>
            <a:endParaRPr lang="en-US" sz="2400" dirty="0"/>
          </a:p>
        </p:txBody>
      </p:sp>
      <p:sp>
        <p:nvSpPr>
          <p:cNvPr id="9" name="Shape 9"/>
          <p:cNvSpPr/>
          <p:nvPr/>
        </p:nvSpPr>
        <p:spPr>
          <a:xfrm>
            <a:off x="548640" y="1261872"/>
            <a:ext cx="5669280" cy="19532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429002"/>
            <a:ext cx="5669280" cy="317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429002"/>
            <a:ext cx="82296" cy="3175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195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a[5] = {12, 7, 30, 5, 18};</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for (int i = 0; i &lt; 5; i++) {</a:t>
            </a:r>
            <a:endParaRPr lang="en-US" sz="2000" dirty="0"/>
          </a:p>
          <a:p>
            <a:pPr marL="0" indent="0" algn="l">
              <a:lnSpc>
                <a:spcPts val="2500"/>
              </a:lnSpc>
              <a:buNone/>
            </a:pPr>
            <a:r>
              <a:rPr lang="en-US" sz="2000" dirty="0">
                <a:solidFill>
                  <a:srgbClr val="FFFFFF"/>
                </a:solidFill>
                <a:latin typeface="Consolas"/>
                <a:ea typeface="Consolas"/>
                <a:cs typeface="Consolas"/>
              </a:rPr>
              <a:t>    printf("a[%d] = %d\n", i, a[i]);</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3" name="Shape 13"/>
          <p:cNvSpPr/>
          <p:nvPr/>
        </p:nvSpPr>
        <p:spPr>
          <a:xfrm>
            <a:off x="6492240" y="1261872"/>
            <a:ext cx="936512"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428752" y="1261872"/>
            <a:ext cx="1248682"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a[i]</a:t>
            </a:r>
            <a:endParaRPr lang="en-US" sz="1800" dirty="0"/>
          </a:p>
        </p:txBody>
      </p:sp>
      <p:sp>
        <p:nvSpPr>
          <p:cNvPr id="15" name="Shape 15"/>
          <p:cNvSpPr/>
          <p:nvPr/>
        </p:nvSpPr>
        <p:spPr>
          <a:xfrm>
            <a:off x="8677434" y="1261872"/>
            <a:ext cx="2965621"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6" name="Shape 16"/>
          <p:cNvSpPr/>
          <p:nvPr/>
        </p:nvSpPr>
        <p:spPr>
          <a:xfrm>
            <a:off x="6492240" y="1845782"/>
            <a:ext cx="936512"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0</a:t>
            </a:r>
            <a:endParaRPr lang="en-US" sz="2400" dirty="0"/>
          </a:p>
        </p:txBody>
      </p:sp>
      <p:sp>
        <p:nvSpPr>
          <p:cNvPr id="17" name="Shape 17"/>
          <p:cNvSpPr/>
          <p:nvPr/>
        </p:nvSpPr>
        <p:spPr>
          <a:xfrm>
            <a:off x="7428752" y="1845782"/>
            <a:ext cx="1248682"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12</a:t>
            </a:r>
            <a:endParaRPr lang="en-US" sz="2400" dirty="0"/>
          </a:p>
        </p:txBody>
      </p:sp>
      <p:sp>
        <p:nvSpPr>
          <p:cNvPr id="18" name="Shape 18"/>
          <p:cNvSpPr/>
          <p:nvPr/>
        </p:nvSpPr>
        <p:spPr>
          <a:xfrm>
            <a:off x="8677434" y="1845782"/>
            <a:ext cx="2965621"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latin typeface="Consolas"/>
                <a:ea typeface="Consolas"/>
                <a:cs typeface="Consolas"/>
              </a:rPr>
              <a:t>a[0] = 12</a:t>
            </a:r>
            <a:endParaRPr lang="en-US" sz="2400" dirty="0"/>
          </a:p>
        </p:txBody>
      </p:sp>
      <p:sp>
        <p:nvSpPr>
          <p:cNvPr id="19" name="Shape 19"/>
          <p:cNvSpPr/>
          <p:nvPr/>
        </p:nvSpPr>
        <p:spPr>
          <a:xfrm>
            <a:off x="6492240" y="2429691"/>
            <a:ext cx="93651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0" name="Shape 20"/>
          <p:cNvSpPr/>
          <p:nvPr/>
        </p:nvSpPr>
        <p:spPr>
          <a:xfrm>
            <a:off x="7428752" y="2429691"/>
            <a:ext cx="124868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1" name="Shape 21"/>
          <p:cNvSpPr/>
          <p:nvPr/>
        </p:nvSpPr>
        <p:spPr>
          <a:xfrm>
            <a:off x="8677434" y="2429691"/>
            <a:ext cx="2965621"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2" name="Shape 22"/>
          <p:cNvSpPr/>
          <p:nvPr/>
        </p:nvSpPr>
        <p:spPr>
          <a:xfrm>
            <a:off x="6492240" y="3013601"/>
            <a:ext cx="93651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7428752" y="3013601"/>
            <a:ext cx="124868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8677434" y="3013601"/>
            <a:ext cx="2965621"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6492240" y="3597511"/>
            <a:ext cx="93651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7428752" y="3597511"/>
            <a:ext cx="124868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8677434" y="3597511"/>
            <a:ext cx="2965621"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6492240" y="4181421"/>
            <a:ext cx="93651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7428752" y="4181421"/>
            <a:ext cx="124868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8677434" y="4181421"/>
            <a:ext cx="2965621"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6492240" y="4765330"/>
            <a:ext cx="93651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7428752" y="4765330"/>
            <a:ext cx="124868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8677434" y="4765330"/>
            <a:ext cx="2965621" cy="583910"/>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Step by step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40</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Same line, new </a:t>
            </a:r>
            <a:r>
              <a:rPr lang="en-US" sz="2400" dirty="0">
                <a:solidFill>
                  <a:srgbClr val="18324A"/>
                </a:solidFill>
                <a:latin typeface="Consolas"/>
                <a:ea typeface="Consolas"/>
                <a:cs typeface="Consolas"/>
              </a:rPr>
              <a:t>i</a:t>
            </a:r>
            <a:r>
              <a:rPr lang="en-US" sz="2400" dirty="0">
                <a:solidFill>
                  <a:srgbClr val="18324A"/>
                </a:solidFill>
              </a:rPr>
              <a:t>, new box.</a:t>
            </a:r>
            <a:endParaRPr lang="en-US" sz="2400" dirty="0"/>
          </a:p>
        </p:txBody>
      </p:sp>
      <p:sp>
        <p:nvSpPr>
          <p:cNvPr id="9" name="Shape 9"/>
          <p:cNvSpPr/>
          <p:nvPr/>
        </p:nvSpPr>
        <p:spPr>
          <a:xfrm>
            <a:off x="548640" y="1261872"/>
            <a:ext cx="5669280" cy="19532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429002"/>
            <a:ext cx="5669280" cy="317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429002"/>
            <a:ext cx="82296" cy="3175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195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a[5] = {12, 7, 30, 5, 18};</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for (int i = 0; i &lt; 5; i++) {</a:t>
            </a:r>
            <a:endParaRPr lang="en-US" sz="2000" dirty="0"/>
          </a:p>
          <a:p>
            <a:pPr marL="0" indent="0" algn="l">
              <a:lnSpc>
                <a:spcPts val="2500"/>
              </a:lnSpc>
              <a:buNone/>
            </a:pPr>
            <a:r>
              <a:rPr lang="en-US" sz="2000" dirty="0">
                <a:solidFill>
                  <a:srgbClr val="FFFFFF"/>
                </a:solidFill>
                <a:latin typeface="Consolas"/>
                <a:ea typeface="Consolas"/>
                <a:cs typeface="Consolas"/>
              </a:rPr>
              <a:t>    printf("a[%d] = %d\n", i, a[i]);</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3" name="Shape 13"/>
          <p:cNvSpPr/>
          <p:nvPr/>
        </p:nvSpPr>
        <p:spPr>
          <a:xfrm>
            <a:off x="6492240" y="1261872"/>
            <a:ext cx="936512"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428752" y="1261872"/>
            <a:ext cx="1248682"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a[i]</a:t>
            </a:r>
            <a:endParaRPr lang="en-US" sz="1800" dirty="0"/>
          </a:p>
        </p:txBody>
      </p:sp>
      <p:sp>
        <p:nvSpPr>
          <p:cNvPr id="15" name="Shape 15"/>
          <p:cNvSpPr/>
          <p:nvPr/>
        </p:nvSpPr>
        <p:spPr>
          <a:xfrm>
            <a:off x="8677434" y="1261872"/>
            <a:ext cx="2965621"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6" name="Shape 16"/>
          <p:cNvSpPr/>
          <p:nvPr/>
        </p:nvSpPr>
        <p:spPr>
          <a:xfrm>
            <a:off x="6492240" y="1845782"/>
            <a:ext cx="936512"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17" name="Shape 17"/>
          <p:cNvSpPr/>
          <p:nvPr/>
        </p:nvSpPr>
        <p:spPr>
          <a:xfrm>
            <a:off x="7428752" y="1845782"/>
            <a:ext cx="1248682"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12</a:t>
            </a:r>
            <a:endParaRPr lang="en-US" sz="2400" dirty="0"/>
          </a:p>
        </p:txBody>
      </p:sp>
      <p:sp>
        <p:nvSpPr>
          <p:cNvPr id="18" name="Shape 18"/>
          <p:cNvSpPr/>
          <p:nvPr/>
        </p:nvSpPr>
        <p:spPr>
          <a:xfrm>
            <a:off x="8677434" y="1845782"/>
            <a:ext cx="2965621"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a[0] = 12</a:t>
            </a:r>
            <a:endParaRPr lang="en-US" sz="2400" dirty="0"/>
          </a:p>
        </p:txBody>
      </p:sp>
      <p:sp>
        <p:nvSpPr>
          <p:cNvPr id="19" name="Shape 19"/>
          <p:cNvSpPr/>
          <p:nvPr/>
        </p:nvSpPr>
        <p:spPr>
          <a:xfrm>
            <a:off x="6492240" y="2429691"/>
            <a:ext cx="936512"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0" name="Shape 20"/>
          <p:cNvSpPr/>
          <p:nvPr/>
        </p:nvSpPr>
        <p:spPr>
          <a:xfrm>
            <a:off x="7428752" y="2429691"/>
            <a:ext cx="1248682"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7</a:t>
            </a:r>
            <a:endParaRPr lang="en-US" sz="2400" dirty="0"/>
          </a:p>
        </p:txBody>
      </p:sp>
      <p:sp>
        <p:nvSpPr>
          <p:cNvPr id="21" name="Shape 21"/>
          <p:cNvSpPr/>
          <p:nvPr/>
        </p:nvSpPr>
        <p:spPr>
          <a:xfrm>
            <a:off x="8677434" y="2429691"/>
            <a:ext cx="2965621"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a[1] = 7</a:t>
            </a:r>
            <a:endParaRPr lang="en-US" sz="2400" dirty="0"/>
          </a:p>
        </p:txBody>
      </p:sp>
      <p:sp>
        <p:nvSpPr>
          <p:cNvPr id="22" name="Shape 22"/>
          <p:cNvSpPr/>
          <p:nvPr/>
        </p:nvSpPr>
        <p:spPr>
          <a:xfrm>
            <a:off x="6492240" y="3013601"/>
            <a:ext cx="936512"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2</a:t>
            </a:r>
            <a:endParaRPr lang="en-US" sz="2400" dirty="0"/>
          </a:p>
        </p:txBody>
      </p:sp>
      <p:sp>
        <p:nvSpPr>
          <p:cNvPr id="23" name="Shape 23"/>
          <p:cNvSpPr/>
          <p:nvPr/>
        </p:nvSpPr>
        <p:spPr>
          <a:xfrm>
            <a:off x="7428752" y="3013601"/>
            <a:ext cx="1248682"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30</a:t>
            </a:r>
            <a:endParaRPr lang="en-US" sz="2400" dirty="0"/>
          </a:p>
        </p:txBody>
      </p:sp>
      <p:sp>
        <p:nvSpPr>
          <p:cNvPr id="24" name="Shape 24"/>
          <p:cNvSpPr/>
          <p:nvPr/>
        </p:nvSpPr>
        <p:spPr>
          <a:xfrm>
            <a:off x="8677434" y="3013601"/>
            <a:ext cx="2965621"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latin typeface="Consolas"/>
                <a:ea typeface="Consolas"/>
                <a:cs typeface="Consolas"/>
              </a:rPr>
              <a:t>a[2] = 30</a:t>
            </a:r>
            <a:endParaRPr lang="en-US" sz="2400" dirty="0"/>
          </a:p>
        </p:txBody>
      </p:sp>
      <p:sp>
        <p:nvSpPr>
          <p:cNvPr id="25" name="Shape 25"/>
          <p:cNvSpPr/>
          <p:nvPr/>
        </p:nvSpPr>
        <p:spPr>
          <a:xfrm>
            <a:off x="6492240" y="3597511"/>
            <a:ext cx="93651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7428752" y="3597511"/>
            <a:ext cx="124868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8677434" y="3597511"/>
            <a:ext cx="2965621"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6492240" y="4181421"/>
            <a:ext cx="93651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7428752" y="4181421"/>
            <a:ext cx="124868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8677434" y="4181421"/>
            <a:ext cx="2965621"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6492240" y="4765330"/>
            <a:ext cx="93651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7428752" y="4765330"/>
            <a:ext cx="1248682"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8677434" y="4765330"/>
            <a:ext cx="2965621" cy="583910"/>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Step by step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41</a:t>
            </a:r>
            <a:endParaRPr lang="en-US" sz="1400" dirty="0"/>
          </a:p>
        </p:txBody>
      </p:sp>
      <p:sp>
        <p:nvSpPr>
          <p:cNvPr id="6" name="Shape 6"/>
          <p:cNvSpPr/>
          <p:nvPr/>
        </p:nvSpPr>
        <p:spPr>
          <a:xfrm>
            <a:off x="548640" y="5212080"/>
            <a:ext cx="1109441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212080"/>
            <a:ext cx="109728" cy="105156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212080"/>
            <a:ext cx="1098468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a:t>
            </a:r>
            <a:r>
              <a:rPr lang="en-US" sz="2400" dirty="0">
                <a:solidFill>
                  <a:srgbClr val="18324A"/>
                </a:solidFill>
              </a:rPr>
              <a:t> reaches 5 and the loop stops. Five boxes, five lines, no box missed.</a:t>
            </a:r>
            <a:endParaRPr lang="en-US" sz="2400" dirty="0"/>
          </a:p>
        </p:txBody>
      </p:sp>
      <p:sp>
        <p:nvSpPr>
          <p:cNvPr id="9" name="Shape 9"/>
          <p:cNvSpPr/>
          <p:nvPr/>
        </p:nvSpPr>
        <p:spPr>
          <a:xfrm>
            <a:off x="548640" y="1261872"/>
            <a:ext cx="5669280" cy="19532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111502"/>
            <a:ext cx="5669280" cy="3175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111502"/>
            <a:ext cx="82296" cy="3175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195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a[5] = {12, 7, 30, 5, 18};</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for (int i = 0; i &lt; 5; i++) {</a:t>
            </a:r>
            <a:endParaRPr lang="en-US" sz="2000" dirty="0"/>
          </a:p>
          <a:p>
            <a:pPr marL="0" indent="0" algn="l">
              <a:lnSpc>
                <a:spcPts val="2500"/>
              </a:lnSpc>
              <a:buNone/>
            </a:pPr>
            <a:r>
              <a:rPr lang="en-US" sz="2000" dirty="0">
                <a:solidFill>
                  <a:srgbClr val="64748B"/>
                </a:solidFill>
                <a:latin typeface="Consolas"/>
                <a:ea typeface="Consolas"/>
                <a:cs typeface="Consolas"/>
              </a:rPr>
              <a:t>    printf("a[%d] = %d\n", i, a[i]);</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3" name="Shape 13"/>
          <p:cNvSpPr/>
          <p:nvPr/>
        </p:nvSpPr>
        <p:spPr>
          <a:xfrm>
            <a:off x="6492240" y="1261872"/>
            <a:ext cx="936512" cy="53165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428752" y="1261872"/>
            <a:ext cx="1248682" cy="53165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a[i]</a:t>
            </a:r>
            <a:endParaRPr lang="en-US" sz="1800" dirty="0"/>
          </a:p>
        </p:txBody>
      </p:sp>
      <p:sp>
        <p:nvSpPr>
          <p:cNvPr id="15" name="Shape 15"/>
          <p:cNvSpPr/>
          <p:nvPr/>
        </p:nvSpPr>
        <p:spPr>
          <a:xfrm>
            <a:off x="8677434" y="1261872"/>
            <a:ext cx="2965621" cy="53165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6" name="Shape 16"/>
          <p:cNvSpPr/>
          <p:nvPr/>
        </p:nvSpPr>
        <p:spPr>
          <a:xfrm>
            <a:off x="6492240" y="1793530"/>
            <a:ext cx="936512" cy="53165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17" name="Shape 17"/>
          <p:cNvSpPr/>
          <p:nvPr/>
        </p:nvSpPr>
        <p:spPr>
          <a:xfrm>
            <a:off x="7428752" y="1793530"/>
            <a:ext cx="1248682" cy="53165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12</a:t>
            </a:r>
            <a:endParaRPr lang="en-US" sz="2400" dirty="0"/>
          </a:p>
        </p:txBody>
      </p:sp>
      <p:sp>
        <p:nvSpPr>
          <p:cNvPr id="18" name="Shape 18"/>
          <p:cNvSpPr/>
          <p:nvPr/>
        </p:nvSpPr>
        <p:spPr>
          <a:xfrm>
            <a:off x="8677434" y="1793530"/>
            <a:ext cx="2965621" cy="53165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a[0] = 12</a:t>
            </a:r>
            <a:endParaRPr lang="en-US" sz="2400" dirty="0"/>
          </a:p>
        </p:txBody>
      </p:sp>
      <p:sp>
        <p:nvSpPr>
          <p:cNvPr id="19" name="Shape 19"/>
          <p:cNvSpPr/>
          <p:nvPr/>
        </p:nvSpPr>
        <p:spPr>
          <a:xfrm>
            <a:off x="6492240" y="2325189"/>
            <a:ext cx="936512" cy="53165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0" name="Shape 20"/>
          <p:cNvSpPr/>
          <p:nvPr/>
        </p:nvSpPr>
        <p:spPr>
          <a:xfrm>
            <a:off x="7428752" y="2325189"/>
            <a:ext cx="1248682" cy="53165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7</a:t>
            </a:r>
            <a:endParaRPr lang="en-US" sz="2400" dirty="0"/>
          </a:p>
        </p:txBody>
      </p:sp>
      <p:sp>
        <p:nvSpPr>
          <p:cNvPr id="21" name="Shape 21"/>
          <p:cNvSpPr/>
          <p:nvPr/>
        </p:nvSpPr>
        <p:spPr>
          <a:xfrm>
            <a:off x="8677434" y="2325189"/>
            <a:ext cx="2965621" cy="53165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a[1] = 7</a:t>
            </a:r>
            <a:endParaRPr lang="en-US" sz="2400" dirty="0"/>
          </a:p>
        </p:txBody>
      </p:sp>
      <p:sp>
        <p:nvSpPr>
          <p:cNvPr id="22" name="Shape 22"/>
          <p:cNvSpPr/>
          <p:nvPr/>
        </p:nvSpPr>
        <p:spPr>
          <a:xfrm>
            <a:off x="6492240" y="2856847"/>
            <a:ext cx="936512" cy="53165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3" name="Shape 23"/>
          <p:cNvSpPr/>
          <p:nvPr/>
        </p:nvSpPr>
        <p:spPr>
          <a:xfrm>
            <a:off x="7428752" y="2856847"/>
            <a:ext cx="1248682" cy="53165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30</a:t>
            </a:r>
            <a:endParaRPr lang="en-US" sz="2400" dirty="0"/>
          </a:p>
        </p:txBody>
      </p:sp>
      <p:sp>
        <p:nvSpPr>
          <p:cNvPr id="24" name="Shape 24"/>
          <p:cNvSpPr/>
          <p:nvPr/>
        </p:nvSpPr>
        <p:spPr>
          <a:xfrm>
            <a:off x="8677434" y="2856847"/>
            <a:ext cx="2965621" cy="53165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a[2] = 30</a:t>
            </a:r>
            <a:endParaRPr lang="en-US" sz="2400" dirty="0"/>
          </a:p>
        </p:txBody>
      </p:sp>
      <p:sp>
        <p:nvSpPr>
          <p:cNvPr id="25" name="Shape 25"/>
          <p:cNvSpPr/>
          <p:nvPr/>
        </p:nvSpPr>
        <p:spPr>
          <a:xfrm>
            <a:off x="6492240" y="3388505"/>
            <a:ext cx="936512" cy="53165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6" name="Shape 26"/>
          <p:cNvSpPr/>
          <p:nvPr/>
        </p:nvSpPr>
        <p:spPr>
          <a:xfrm>
            <a:off x="7428752" y="3388505"/>
            <a:ext cx="1248682" cy="53165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5</a:t>
            </a:r>
            <a:endParaRPr lang="en-US" sz="2400" dirty="0"/>
          </a:p>
        </p:txBody>
      </p:sp>
      <p:sp>
        <p:nvSpPr>
          <p:cNvPr id="27" name="Shape 27"/>
          <p:cNvSpPr/>
          <p:nvPr/>
        </p:nvSpPr>
        <p:spPr>
          <a:xfrm>
            <a:off x="8677434" y="3388505"/>
            <a:ext cx="2965621" cy="53165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a[3] = 5</a:t>
            </a:r>
            <a:endParaRPr lang="en-US" sz="2400" dirty="0"/>
          </a:p>
        </p:txBody>
      </p:sp>
      <p:sp>
        <p:nvSpPr>
          <p:cNvPr id="28" name="Shape 28"/>
          <p:cNvSpPr/>
          <p:nvPr/>
        </p:nvSpPr>
        <p:spPr>
          <a:xfrm>
            <a:off x="6492240" y="3920163"/>
            <a:ext cx="936512" cy="53165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29" name="Shape 29"/>
          <p:cNvSpPr/>
          <p:nvPr/>
        </p:nvSpPr>
        <p:spPr>
          <a:xfrm>
            <a:off x="7428752" y="3920163"/>
            <a:ext cx="1248682" cy="53165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18</a:t>
            </a:r>
            <a:endParaRPr lang="en-US" sz="2400" dirty="0"/>
          </a:p>
        </p:txBody>
      </p:sp>
      <p:sp>
        <p:nvSpPr>
          <p:cNvPr id="30" name="Shape 30"/>
          <p:cNvSpPr/>
          <p:nvPr/>
        </p:nvSpPr>
        <p:spPr>
          <a:xfrm>
            <a:off x="8677434" y="3920163"/>
            <a:ext cx="2965621" cy="53165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a[4] = 18</a:t>
            </a:r>
            <a:endParaRPr lang="en-US" sz="2400" dirty="0"/>
          </a:p>
        </p:txBody>
      </p:sp>
      <p:sp>
        <p:nvSpPr>
          <p:cNvPr id="31" name="Shape 31"/>
          <p:cNvSpPr/>
          <p:nvPr/>
        </p:nvSpPr>
        <p:spPr>
          <a:xfrm>
            <a:off x="6492240" y="4451822"/>
            <a:ext cx="936512" cy="53165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5</a:t>
            </a:r>
            <a:endParaRPr lang="en-US" sz="2400" dirty="0"/>
          </a:p>
        </p:txBody>
      </p:sp>
      <p:sp>
        <p:nvSpPr>
          <p:cNvPr id="32" name="Shape 32"/>
          <p:cNvSpPr/>
          <p:nvPr/>
        </p:nvSpPr>
        <p:spPr>
          <a:xfrm>
            <a:off x="7428752" y="4451822"/>
            <a:ext cx="1248682" cy="531658"/>
          </a:xfrm>
          <a:prstGeom prst="rect">
            <a:avLst/>
          </a:prstGeom>
          <a:solidFill>
            <a:srgbClr val="FEF3C7"/>
          </a:solidFill>
          <a:ln w="12700">
            <a:solidFill>
              <a:srgbClr val="D8E0EA"/>
            </a:solidFill>
          </a:ln>
        </p:spPr>
        <p:txBody>
          <a:bodyPr wrap="square" lIns="0" tIns="0" rIns="0" bIns="0" rtlCol="0" anchor="ctr"/>
          <a:lstStyle/>
          <a:p>
            <a:pPr marL="0" indent="0" algn="ctr">
              <a:buNone/>
            </a:pPr>
            <a:endParaRPr lang="en-US" sz="2400" dirty="0"/>
          </a:p>
        </p:txBody>
      </p:sp>
      <p:sp>
        <p:nvSpPr>
          <p:cNvPr id="33" name="Shape 33"/>
          <p:cNvSpPr/>
          <p:nvPr/>
        </p:nvSpPr>
        <p:spPr>
          <a:xfrm>
            <a:off x="8677434" y="4451822"/>
            <a:ext cx="2965621" cy="531658"/>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stop: </a:t>
            </a:r>
            <a:r>
              <a:rPr lang="en-US" sz="2400" b="1" dirty="0">
                <a:solidFill>
                  <a:srgbClr val="18324A"/>
                </a:solidFill>
                <a:latin typeface="Consolas"/>
                <a:ea typeface="Consolas"/>
                <a:cs typeface="Consolas"/>
              </a:rPr>
              <a:t>5 &lt; 5</a:t>
            </a:r>
            <a:r>
              <a:rPr lang="en-US" sz="2400" b="1" dirty="0">
                <a:solidFill>
                  <a:srgbClr val="18324A"/>
                </a:solidFill>
              </a:rPr>
              <a:t> is false</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array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42</a:t>
            </a:r>
            <a:endParaRPr lang="en-US" sz="1400" dirty="0"/>
          </a:p>
        </p:txBody>
      </p:sp>
      <p:sp>
        <p:nvSpPr>
          <p:cNvPr id="6" name="Shape 6"/>
          <p:cNvSpPr/>
          <p:nvPr/>
        </p:nvSpPr>
        <p:spPr>
          <a:xfrm>
            <a:off x="548640" y="1399032"/>
            <a:ext cx="109728" cy="792480"/>
          </a:xfrm>
          <a:prstGeom prst="rect">
            <a:avLst/>
          </a:prstGeom>
          <a:solidFill>
            <a:srgbClr val="31C48D"/>
          </a:solidFill>
          <a:ln>
            <a:noFill/>
          </a:ln>
        </p:spPr>
        <p:txBody>
          <a:bodyPr wrap="square" lIns="0" tIns="0" rIns="0" bIns="0" rtlCol="0" anchor="t"/>
          <a:lstStyle/>
          <a:p>
            <a:endParaRPr lang="en-US"/>
          </a:p>
        </p:txBody>
      </p:sp>
      <p:sp>
        <p:nvSpPr>
          <p:cNvPr id="7" name="Shape 7"/>
          <p:cNvSpPr/>
          <p:nvPr/>
        </p:nvSpPr>
        <p:spPr>
          <a:xfrm>
            <a:off x="914400" y="1399032"/>
            <a:ext cx="10728655" cy="792480"/>
          </a:xfrm>
          <a:prstGeom prst="rect">
            <a:avLst/>
          </a:prstGeom>
          <a:noFill/>
          <a:ln>
            <a:noFill/>
          </a:ln>
        </p:spPr>
        <p:txBody>
          <a:bodyPr wrap="square" lIns="0" tIns="0" rIns="0" bIns="0" rtlCol="0" anchor="ctr"/>
          <a:lstStyle/>
          <a:p>
            <a:pPr marL="0" indent="0" algn="l">
              <a:buNone/>
            </a:pPr>
            <a:r>
              <a:rPr lang="en-US" sz="4000" b="1" dirty="0">
                <a:solidFill>
                  <a:srgbClr val="31C48D"/>
                </a:solidFill>
                <a:latin typeface="Consolas"/>
                <a:ea typeface="Consolas"/>
                <a:cs typeface="Consolas"/>
              </a:rPr>
              <a:t>for (int i = 0; i &lt; 5; i++)</a:t>
            </a:r>
            <a:endParaRPr lang="en-US" sz="4000" dirty="0"/>
          </a:p>
        </p:txBody>
      </p:sp>
      <p:sp>
        <p:nvSpPr>
          <p:cNvPr id="8" name="Shape 8"/>
          <p:cNvSpPr/>
          <p:nvPr/>
        </p:nvSpPr>
        <p:spPr>
          <a:xfrm>
            <a:off x="914400" y="26029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Starts at </a:t>
            </a:r>
            <a:r>
              <a:rPr lang="en-US" sz="3000" b="1" dirty="0">
                <a:solidFill>
                  <a:srgbClr val="18324A"/>
                </a:solidFill>
              </a:rPr>
              <a:t>0</a:t>
            </a:r>
            <a:r>
              <a:rPr lang="en-US" sz="3000" dirty="0">
                <a:solidFill>
                  <a:srgbClr val="18324A"/>
                </a:solidFill>
              </a:rPr>
              <a:t>: the first box.</a:t>
            </a:r>
            <a:endParaRPr lang="en-US" sz="3000" dirty="0"/>
          </a:p>
          <a:p>
            <a:pPr marL="0" indent="0" algn="l">
              <a:spcAft>
                <a:spcPts val="1600"/>
              </a:spcAft>
              <a:buNone/>
            </a:pPr>
            <a:r>
              <a:rPr lang="en-US" sz="3000" dirty="0">
                <a:solidFill>
                  <a:srgbClr val="18324A"/>
                </a:solidFill>
              </a:rPr>
              <a:t>Stops </a:t>
            </a:r>
            <a:r>
              <a:rPr lang="en-US" sz="3000" b="1" dirty="0">
                <a:solidFill>
                  <a:srgbClr val="18324A"/>
                </a:solidFill>
              </a:rPr>
              <a:t>before</a:t>
            </a:r>
            <a:r>
              <a:rPr lang="en-US" sz="3000" dirty="0">
                <a:solidFill>
                  <a:srgbClr val="18324A"/>
                </a:solidFill>
              </a:rPr>
              <a:t> 5: the last box is 4.</a:t>
            </a:r>
            <a:endParaRPr lang="en-US" sz="3000" dirty="0"/>
          </a:p>
          <a:p>
            <a:pPr marL="0" indent="0" algn="l">
              <a:spcAft>
                <a:spcPts val="1600"/>
              </a:spcAft>
              <a:buNone/>
            </a:pPr>
            <a:r>
              <a:rPr lang="en-US" sz="3000" dirty="0">
                <a:solidFill>
                  <a:srgbClr val="18324A"/>
                </a:solidFill>
              </a:rPr>
              <a:t>Learn it as one line. You will write it a hundred times.</a:t>
            </a:r>
            <a:endParaRPr lang="en-US" sz="3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Fill with a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43</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52742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52742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876677"/>
            <a:ext cx="676656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876677"/>
            <a:ext cx="82296" cy="3492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225927"/>
            <a:ext cx="6766560" cy="3492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225927"/>
            <a:ext cx="82296" cy="3492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sq[10];</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    for (int i = 0; i &lt; 10; i++) {</a:t>
            </a:r>
            <a:endParaRPr lang="en-US" sz="2200" dirty="0"/>
          </a:p>
          <a:p>
            <a:pPr marL="0" indent="0" algn="l">
              <a:lnSpc>
                <a:spcPts val="2750"/>
              </a:lnSpc>
              <a:buNone/>
            </a:pPr>
            <a:r>
              <a:rPr lang="en-US" sz="2200" dirty="0">
                <a:solidFill>
                  <a:srgbClr val="FFFFFF"/>
                </a:solidFill>
                <a:latin typeface="Consolas"/>
                <a:ea typeface="Consolas"/>
                <a:cs typeface="Consolas"/>
              </a:rPr>
              <a:t>        sq[i] = i * i;</a:t>
            </a:r>
            <a:endParaRPr lang="en-US" sz="2200" dirty="0"/>
          </a:p>
          <a:p>
            <a:pPr marL="0" indent="0" algn="l">
              <a:lnSpc>
                <a:spcPts val="2750"/>
              </a:lnSpc>
              <a:buNone/>
            </a:pPr>
            <a:r>
              <a:rPr lang="en-US" sz="2200" dirty="0">
                <a:solidFill>
                  <a:srgbClr val="FFFFFF"/>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for (int i = 0; i &lt; 10; i++) {</a:t>
            </a:r>
            <a:endParaRPr lang="en-US" sz="2200" dirty="0"/>
          </a:p>
          <a:p>
            <a:pPr marL="0" indent="0" algn="l">
              <a:lnSpc>
                <a:spcPts val="2750"/>
              </a:lnSpc>
              <a:buNone/>
            </a:pPr>
            <a:r>
              <a:rPr lang="en-US" sz="2200" dirty="0">
                <a:solidFill>
                  <a:srgbClr val="64748B"/>
                </a:solidFill>
                <a:latin typeface="Consolas"/>
                <a:ea typeface="Consolas"/>
                <a:cs typeface="Consolas"/>
              </a:rPr>
              <a:t>        printf("%d ", sq[i]);</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printf("\n");</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4" name="Shape 14"/>
          <p:cNvSpPr/>
          <p:nvPr/>
        </p:nvSpPr>
        <p:spPr>
          <a:xfrm>
            <a:off x="7589520" y="1261872"/>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7589520" y="1261872"/>
            <a:ext cx="109728" cy="68580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7699248" y="1261872"/>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Box </a:t>
            </a:r>
            <a:r>
              <a:rPr lang="en-US" sz="2400" dirty="0">
                <a:solidFill>
                  <a:srgbClr val="18324A"/>
                </a:solidFill>
                <a:latin typeface="Consolas"/>
                <a:ea typeface="Consolas"/>
                <a:cs typeface="Consolas"/>
              </a:rPr>
              <a:t>i</a:t>
            </a:r>
            <a:r>
              <a:rPr lang="en-US" sz="2400" dirty="0">
                <a:solidFill>
                  <a:srgbClr val="18324A"/>
                </a:solidFill>
              </a:rPr>
              <a:t> gets </a:t>
            </a:r>
            <a:r>
              <a:rPr lang="en-US" sz="2400" dirty="0">
                <a:solidFill>
                  <a:srgbClr val="18324A"/>
                </a:solidFill>
                <a:latin typeface="Consolas"/>
                <a:ea typeface="Consolas"/>
                <a:cs typeface="Consolas"/>
              </a:rPr>
              <a:t>i * i</a:t>
            </a:r>
            <a:r>
              <a:rPr lang="en-US" sz="2400" dirty="0">
                <a:solidFill>
                  <a:srgbClr val="18324A"/>
                </a:solidFill>
              </a:rPr>
              <a:t>.</a:t>
            </a:r>
            <a:endParaRPr lang="en-US" sz="2400" dirty="0"/>
          </a:p>
        </p:txBody>
      </p:sp>
      <p:sp>
        <p:nvSpPr>
          <p:cNvPr id="17" name="Shape 17"/>
          <p:cNvSpPr/>
          <p:nvPr/>
        </p:nvSpPr>
        <p:spPr>
          <a:xfrm>
            <a:off x="7589520" y="2148840"/>
            <a:ext cx="4053535" cy="68580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8" name="Shape 18"/>
          <p:cNvSpPr/>
          <p:nvPr/>
        </p:nvSpPr>
        <p:spPr>
          <a:xfrm>
            <a:off x="7589520" y="2148840"/>
            <a:ext cx="109728" cy="685800"/>
          </a:xfrm>
          <a:prstGeom prst="rect">
            <a:avLst/>
          </a:prstGeom>
          <a:solidFill>
            <a:srgbClr val="2F80ED"/>
          </a:solidFill>
          <a:ln>
            <a:noFill/>
          </a:ln>
        </p:spPr>
        <p:txBody>
          <a:bodyPr wrap="square" lIns="0" tIns="0" rIns="0" bIns="0" rtlCol="0" anchor="t"/>
          <a:lstStyle/>
          <a:p>
            <a:endParaRPr lang="en-US"/>
          </a:p>
        </p:txBody>
      </p:sp>
      <p:sp>
        <p:nvSpPr>
          <p:cNvPr id="19" name="Callout"/>
          <p:cNvSpPr/>
          <p:nvPr/>
        </p:nvSpPr>
        <p:spPr>
          <a:xfrm>
            <a:off x="7699248" y="214884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0, 1, 4, 9, ...</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Then print with a loop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44</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92442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92442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273677"/>
            <a:ext cx="676656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273677"/>
            <a:ext cx="82296" cy="3492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4622927"/>
            <a:ext cx="6766560" cy="3492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4622927"/>
            <a:ext cx="82296" cy="3492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sq[10];</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for (int i = 0; i &lt; 10; i++) {</a:t>
            </a:r>
            <a:endParaRPr lang="en-US" sz="2200" dirty="0"/>
          </a:p>
          <a:p>
            <a:pPr marL="0" indent="0" algn="l">
              <a:lnSpc>
                <a:spcPts val="2750"/>
              </a:lnSpc>
              <a:buNone/>
            </a:pPr>
            <a:r>
              <a:rPr lang="en-US" sz="2200" dirty="0">
                <a:solidFill>
                  <a:srgbClr val="64748B"/>
                </a:solidFill>
                <a:latin typeface="Consolas"/>
                <a:ea typeface="Consolas"/>
                <a:cs typeface="Consolas"/>
              </a:rPr>
              <a:t>        sq[i] = i * i;</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    for (int i = 0; i &lt; 10; i++) {</a:t>
            </a:r>
            <a:endParaRPr lang="en-US" sz="2200" dirty="0"/>
          </a:p>
          <a:p>
            <a:pPr marL="0" indent="0" algn="l">
              <a:lnSpc>
                <a:spcPts val="2750"/>
              </a:lnSpc>
              <a:buNone/>
            </a:pPr>
            <a:r>
              <a:rPr lang="en-US" sz="2200" dirty="0">
                <a:solidFill>
                  <a:srgbClr val="FFFFFF"/>
                </a:solidFill>
                <a:latin typeface="Consolas"/>
                <a:ea typeface="Consolas"/>
                <a:cs typeface="Consolas"/>
              </a:rPr>
              <a:t>        printf("%d ", sq[i]);</a:t>
            </a:r>
            <a:endParaRPr lang="en-US" sz="2200" dirty="0"/>
          </a:p>
          <a:p>
            <a:pPr marL="0" indent="0" algn="l">
              <a:lnSpc>
                <a:spcPts val="2750"/>
              </a:lnSpc>
              <a:buNone/>
            </a:pPr>
            <a:r>
              <a:rPr lang="en-US" sz="2200" dirty="0">
                <a:solidFill>
                  <a:srgbClr val="FFFFFF"/>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printf("\n");</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6832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68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D1FAE5"/>
                </a:solidFill>
                <a:latin typeface="Consolas"/>
                <a:ea typeface="Consolas"/>
                <a:cs typeface="Consolas"/>
              </a:rPr>
              <a:t>0 1 4 9 16 25 36 49 64 81</a:t>
            </a:r>
            <a:endParaRPr lang="en-US" sz="2000" dirty="0"/>
          </a:p>
        </p:txBody>
      </p:sp>
      <p:sp>
        <p:nvSpPr>
          <p:cNvPr id="17" name="Shape 17"/>
          <p:cNvSpPr/>
          <p:nvPr/>
        </p:nvSpPr>
        <p:spPr>
          <a:xfrm>
            <a:off x="7589520" y="26035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8" name="Shape 18"/>
          <p:cNvSpPr/>
          <p:nvPr/>
        </p:nvSpPr>
        <p:spPr>
          <a:xfrm>
            <a:off x="7589520" y="2603500"/>
            <a:ext cx="109728" cy="1051560"/>
          </a:xfrm>
          <a:prstGeom prst="rect">
            <a:avLst/>
          </a:prstGeom>
          <a:solidFill>
            <a:srgbClr val="31C48D"/>
          </a:solidFill>
          <a:ln>
            <a:noFill/>
          </a:ln>
        </p:spPr>
        <p:txBody>
          <a:bodyPr wrap="square" lIns="0" tIns="0" rIns="0" bIns="0" rtlCol="0" anchor="t"/>
          <a:lstStyle/>
          <a:p>
            <a:endParaRPr lang="en-US"/>
          </a:p>
        </p:txBody>
      </p:sp>
      <p:sp>
        <p:nvSpPr>
          <p:cNvPr id="19" name="Callout"/>
          <p:cNvSpPr/>
          <p:nvPr/>
        </p:nvSpPr>
        <p:spPr>
          <a:xfrm>
            <a:off x="7699248" y="26035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Two loops: one fills, one prints.</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Fill it with 1 to 10</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45</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Change one line so </a:t>
            </a:r>
            <a:r>
              <a:rPr lang="en-US" sz="3200" dirty="0">
                <a:solidFill>
                  <a:srgbClr val="2F80ED"/>
                </a:solidFill>
                <a:latin typeface="Consolas"/>
                <a:ea typeface="Consolas"/>
                <a:cs typeface="Consolas"/>
              </a:rPr>
              <a:t>sq</a:t>
            </a:r>
            <a:r>
              <a:rPr lang="en-US" sz="3200" dirty="0">
                <a:solidFill>
                  <a:srgbClr val="18324A"/>
                </a:solidFill>
              </a:rPr>
              <a:t> holds</a:t>
            </a:r>
            <a:endParaRPr lang="en-US" sz="3200" dirty="0"/>
          </a:p>
          <a:p>
            <a:pPr marL="0" indent="0" algn="l">
              <a:spcAft>
                <a:spcPts val="600"/>
              </a:spcAft>
              <a:buNone/>
            </a:pPr>
            <a:r>
              <a:rPr lang="en-US" sz="3200" dirty="0">
                <a:solidFill>
                  <a:srgbClr val="18324A"/>
                </a:solidFill>
              </a:rPr>
              <a:t>1, 2, 3, ..., 10.</a:t>
            </a:r>
            <a:endParaRPr lang="en-US" sz="3200" dirty="0"/>
          </a:p>
          <a:p>
            <a:pPr marL="0" indent="0" algn="l">
              <a:spcAft>
                <a:spcPts val="600"/>
              </a:spcAft>
              <a:buNone/>
            </a:pPr>
            <a:r>
              <a:rPr lang="en-US" sz="3200" dirty="0">
                <a:solidFill>
                  <a:srgbClr val="18324A"/>
                </a:solidFill>
              </a:rPr>
              <a:t>What goes after </a:t>
            </a:r>
            <a:r>
              <a:rPr lang="en-US" sz="3200" dirty="0">
                <a:solidFill>
                  <a:srgbClr val="2F80ED"/>
                </a:solidFill>
                <a:latin typeface="Consolas"/>
                <a:ea typeface="Consolas"/>
                <a:cs typeface="Consolas"/>
              </a:rPr>
              <a:t>sq[i] =</a:t>
            </a:r>
            <a:r>
              <a:rPr lang="en-US" sz="3200" dirty="0">
                <a:solidFill>
                  <a:srgbClr val="18324A"/>
                </a:solidFill>
              </a:rPr>
              <a:t>?</a:t>
            </a:r>
            <a:endParaRPr lang="en-US" sz="3200" dirty="0"/>
          </a:p>
        </p:txBody>
      </p:sp>
      <p:sp>
        <p:nvSpPr>
          <p:cNvPr id="8" name="Shape 8"/>
          <p:cNvSpPr/>
          <p:nvPr/>
        </p:nvSpPr>
        <p:spPr>
          <a:xfrm>
            <a:off x="5760720" y="1261872"/>
            <a:ext cx="5882335" cy="160401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for (int i = 0; i &lt; 10; i++) {</a:t>
            </a:r>
            <a:endParaRPr lang="en-US" sz="2600" dirty="0"/>
          </a:p>
          <a:p>
            <a:pPr marL="0" indent="0" algn="l">
              <a:lnSpc>
                <a:spcPts val="3250"/>
              </a:lnSpc>
              <a:buNone/>
            </a:pPr>
            <a:r>
              <a:rPr lang="en-US" sz="2600" dirty="0">
                <a:solidFill>
                  <a:srgbClr val="E5E7EB"/>
                </a:solidFill>
                <a:latin typeface="Consolas"/>
                <a:ea typeface="Consolas"/>
                <a:cs typeface="Consolas"/>
              </a:rPr>
              <a:t>    sq[i] = i * i;</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Fill it with 1 to 10</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46</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Change one line so </a:t>
            </a:r>
            <a:r>
              <a:rPr lang="en-US" sz="3200" dirty="0">
                <a:solidFill>
                  <a:srgbClr val="2F80ED"/>
                </a:solidFill>
                <a:latin typeface="Consolas"/>
                <a:ea typeface="Consolas"/>
                <a:cs typeface="Consolas"/>
              </a:rPr>
              <a:t>sq</a:t>
            </a:r>
            <a:r>
              <a:rPr lang="en-US" sz="3200" dirty="0">
                <a:solidFill>
                  <a:srgbClr val="18324A"/>
                </a:solidFill>
              </a:rPr>
              <a:t> holds</a:t>
            </a:r>
            <a:endParaRPr lang="en-US" sz="3200" dirty="0"/>
          </a:p>
          <a:p>
            <a:pPr marL="0" indent="0" algn="l">
              <a:spcAft>
                <a:spcPts val="600"/>
              </a:spcAft>
              <a:buNone/>
            </a:pPr>
            <a:r>
              <a:rPr lang="en-US" sz="3200" dirty="0">
                <a:solidFill>
                  <a:srgbClr val="18324A"/>
                </a:solidFill>
              </a:rPr>
              <a:t>1, 2, 3, ..., 10.</a:t>
            </a:r>
            <a:endParaRPr lang="en-US" sz="3200" dirty="0"/>
          </a:p>
          <a:p>
            <a:pPr marL="0" indent="0" algn="l">
              <a:spcAft>
                <a:spcPts val="600"/>
              </a:spcAft>
              <a:buNone/>
            </a:pPr>
            <a:r>
              <a:rPr lang="en-US" sz="3200" dirty="0">
                <a:solidFill>
                  <a:srgbClr val="18324A"/>
                </a:solidFill>
              </a:rPr>
              <a:t>What goes after </a:t>
            </a:r>
            <a:r>
              <a:rPr lang="en-US" sz="3200" dirty="0">
                <a:solidFill>
                  <a:srgbClr val="2F80ED"/>
                </a:solidFill>
                <a:latin typeface="Consolas"/>
                <a:ea typeface="Consolas"/>
                <a:cs typeface="Consolas"/>
              </a:rPr>
              <a:t>sq[i] =</a:t>
            </a:r>
            <a:r>
              <a:rPr lang="en-US" sz="3200" dirty="0">
                <a:solidFill>
                  <a:srgbClr val="18324A"/>
                </a:solidFill>
              </a:rPr>
              <a:t>?</a:t>
            </a:r>
            <a:endParaRPr lang="en-US" sz="3200" dirty="0"/>
          </a:p>
        </p:txBody>
      </p:sp>
      <p:sp>
        <p:nvSpPr>
          <p:cNvPr id="8" name="Shape 8"/>
          <p:cNvSpPr/>
          <p:nvPr/>
        </p:nvSpPr>
        <p:spPr>
          <a:xfrm>
            <a:off x="5760720" y="1261872"/>
            <a:ext cx="5882335" cy="160401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1604010"/>
          </a:xfrm>
          <a:prstGeom prst="rect">
            <a:avLst/>
          </a:prstGeom>
          <a:noFill/>
          <a:ln>
            <a:noFill/>
          </a:ln>
        </p:spPr>
        <p:txBody>
          <a:bodyPr wrap="square" lIns="182880" tIns="182880" rIns="182880" bIns="182880" rtlCol="0" anchor="t"/>
          <a:lstStyle/>
          <a:p>
            <a:pPr marL="0" indent="0" algn="l">
              <a:lnSpc>
                <a:spcPts val="3250"/>
              </a:lnSpc>
              <a:buNone/>
            </a:pPr>
            <a:r>
              <a:rPr lang="en-US" sz="2600" dirty="0">
                <a:solidFill>
                  <a:srgbClr val="E5E7EB"/>
                </a:solidFill>
                <a:latin typeface="Consolas"/>
                <a:ea typeface="Consolas"/>
                <a:cs typeface="Consolas"/>
              </a:rPr>
              <a:t>for (int i = 0; i &lt; 10; i++) {</a:t>
            </a:r>
            <a:endParaRPr lang="en-US" sz="2600" dirty="0"/>
          </a:p>
          <a:p>
            <a:pPr marL="0" indent="0" algn="l">
              <a:lnSpc>
                <a:spcPts val="3250"/>
              </a:lnSpc>
              <a:buNone/>
            </a:pPr>
            <a:r>
              <a:rPr lang="en-US" sz="2600" dirty="0">
                <a:solidFill>
                  <a:srgbClr val="E5E7EB"/>
                </a:solidFill>
                <a:latin typeface="Consolas"/>
                <a:ea typeface="Consolas"/>
                <a:cs typeface="Consolas"/>
              </a:rPr>
              <a:t>    sq[i] = i * i;</a:t>
            </a:r>
            <a:endParaRPr lang="en-US" sz="2600" dirty="0"/>
          </a:p>
          <a:p>
            <a:pPr marL="0" indent="0" algn="l">
              <a:lnSpc>
                <a:spcPts val="3250"/>
              </a:lnSpc>
              <a:buNone/>
            </a:pPr>
            <a:r>
              <a:rPr lang="en-US" sz="2600" dirty="0">
                <a:solidFill>
                  <a:srgbClr val="E5E7EB"/>
                </a:solidFill>
                <a:latin typeface="Consolas"/>
                <a:ea typeface="Consolas"/>
                <a:cs typeface="Consolas"/>
              </a:rPr>
              <a:t>}</a:t>
            </a:r>
            <a:endParaRPr lang="en-US" sz="2600" dirty="0"/>
          </a:p>
        </p:txBody>
      </p:sp>
      <p:sp>
        <p:nvSpPr>
          <p:cNvPr id="10" name="Shape 10"/>
          <p:cNvSpPr/>
          <p:nvPr/>
        </p:nvSpPr>
        <p:spPr>
          <a:xfrm>
            <a:off x="548640" y="4251960"/>
            <a:ext cx="4937760" cy="201168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1" name="Shape 11"/>
          <p:cNvSpPr/>
          <p:nvPr/>
        </p:nvSpPr>
        <p:spPr>
          <a:xfrm>
            <a:off x="548640" y="4251960"/>
            <a:ext cx="109728" cy="2011680"/>
          </a:xfrm>
          <a:prstGeom prst="rect">
            <a:avLst/>
          </a:prstGeom>
          <a:solidFill>
            <a:srgbClr val="31C48D"/>
          </a:solidFill>
          <a:ln>
            <a:noFill/>
          </a:ln>
        </p:spPr>
        <p:txBody>
          <a:bodyPr wrap="square" lIns="0" tIns="0" rIns="0" bIns="0" rtlCol="0" anchor="t"/>
          <a:lstStyle/>
          <a:p>
            <a:endParaRPr lang="en-US"/>
          </a:p>
        </p:txBody>
      </p:sp>
      <p:sp>
        <p:nvSpPr>
          <p:cNvPr id="12" name="Callout"/>
          <p:cNvSpPr/>
          <p:nvPr/>
        </p:nvSpPr>
        <p:spPr>
          <a:xfrm>
            <a:off x="658368" y="4251960"/>
            <a:ext cx="4828032" cy="2011680"/>
          </a:xfrm>
          <a:prstGeom prst="rect">
            <a:avLst/>
          </a:prstGeom>
          <a:noFill/>
          <a:ln>
            <a:noFill/>
          </a:ln>
        </p:spPr>
        <p:txBody>
          <a:bodyPr wrap="square" lIns="201168" tIns="73152" rIns="182880" bIns="73152" rtlCol="0" anchor="ctr"/>
          <a:lstStyle/>
          <a:p>
            <a:pPr marL="0" indent="0" algn="l">
              <a:spcAft>
                <a:spcPts val="200"/>
              </a:spcAft>
              <a:buNone/>
            </a:pPr>
            <a:r>
              <a:rPr lang="en-US" sz="1400" b="1" dirty="0">
                <a:solidFill>
                  <a:srgbClr val="31C48D"/>
                </a:solidFill>
              </a:rPr>
              <a:t>ANSWER</a:t>
            </a:r>
            <a:endParaRPr lang="en-US" sz="1400" dirty="0"/>
          </a:p>
          <a:p>
            <a:pPr marL="0" indent="0" algn="l">
              <a:buNone/>
            </a:pPr>
            <a:r>
              <a:rPr lang="en-US" sz="2600" dirty="0">
                <a:solidFill>
                  <a:srgbClr val="18324A"/>
                </a:solidFill>
                <a:latin typeface="Consolas"/>
                <a:ea typeface="Consolas"/>
                <a:cs typeface="Consolas"/>
              </a:rPr>
              <a:t>sq[i] = i + 1;</a:t>
            </a:r>
            <a:endParaRPr lang="en-US" sz="2600" dirty="0"/>
          </a:p>
          <a:p>
            <a:pPr marL="0" indent="0" algn="l">
              <a:buNone/>
            </a:pPr>
            <a:r>
              <a:rPr lang="en-US" sz="2600" dirty="0">
                <a:solidFill>
                  <a:srgbClr val="18324A"/>
                </a:solidFill>
                <a:latin typeface="Consolas"/>
                <a:ea typeface="Consolas"/>
                <a:cs typeface="Consolas"/>
              </a:rPr>
              <a:t>i</a:t>
            </a:r>
            <a:r>
              <a:rPr lang="en-US" sz="2600" dirty="0">
                <a:solidFill>
                  <a:srgbClr val="18324A"/>
                </a:solidFill>
              </a:rPr>
              <a:t> goes 0 to 9, so </a:t>
            </a:r>
            <a:r>
              <a:rPr lang="en-US" sz="2600" dirty="0">
                <a:solidFill>
                  <a:srgbClr val="18324A"/>
                </a:solidFill>
                <a:latin typeface="Consolas"/>
                <a:ea typeface="Consolas"/>
                <a:cs typeface="Consolas"/>
              </a:rPr>
              <a:t>i + 1</a:t>
            </a:r>
            <a:r>
              <a:rPr lang="en-US" sz="2600" dirty="0">
                <a:solidFill>
                  <a:srgbClr val="18324A"/>
                </a:solidFill>
              </a:rPr>
              <a:t> goes 1 to 10.</a:t>
            </a:r>
            <a:endParaRPr lang="en-US" sz="2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F59E0B"/>
          </a:solidFill>
          <a:ln>
            <a:noFill/>
          </a:ln>
        </p:spPr>
        <p:txBody>
          <a:bodyPr wrap="square" lIns="0" tIns="0" rIns="0" bIns="0" rtlCol="0" anchor="ctr"/>
          <a:lstStyle/>
          <a:p>
            <a:pPr marL="0" indent="0" algn="ctr">
              <a:buNone/>
            </a:pPr>
            <a:r>
              <a:rPr lang="en-US" sz="5400" b="1" dirty="0">
                <a:solidFill>
                  <a:srgbClr val="FFFFFF"/>
                </a:solidFill>
              </a:rPr>
              <a:t>3</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Read, add up, print backwards</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scanf into a box, a total, a loop going down</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9</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Read into the array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48</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87667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87667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225927"/>
            <a:ext cx="676656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225927"/>
            <a:ext cx="82296" cy="3492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575177"/>
            <a:ext cx="6766560" cy="3492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575177"/>
            <a:ext cx="82296" cy="3492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a[5];</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printf("Enter 5 numbers: ");</a:t>
            </a:r>
            <a:endParaRPr lang="en-US" sz="2200" dirty="0"/>
          </a:p>
          <a:p>
            <a:pPr marL="0" indent="0" algn="l">
              <a:lnSpc>
                <a:spcPts val="2750"/>
              </a:lnSpc>
              <a:buNone/>
            </a:pPr>
            <a:r>
              <a:rPr lang="en-US" sz="2200" dirty="0">
                <a:solidFill>
                  <a:srgbClr val="FFFFFF"/>
                </a:solidFill>
                <a:latin typeface="Consolas"/>
                <a:ea typeface="Consolas"/>
                <a:cs typeface="Consolas"/>
              </a:rPr>
              <a:t>    for (int i = 0; i &lt; 5; i++) {</a:t>
            </a:r>
            <a:endParaRPr lang="en-US" sz="2200" dirty="0"/>
          </a:p>
          <a:p>
            <a:pPr marL="0" indent="0" algn="l">
              <a:lnSpc>
                <a:spcPts val="2750"/>
              </a:lnSpc>
              <a:buNone/>
            </a:pPr>
            <a:r>
              <a:rPr lang="en-US" sz="2200" dirty="0">
                <a:solidFill>
                  <a:srgbClr val="FFFFFF"/>
                </a:solidFill>
                <a:latin typeface="Consolas"/>
                <a:ea typeface="Consolas"/>
                <a:cs typeface="Consolas"/>
              </a:rPr>
              <a:t>        scanf("%d", &amp;a[i]);</a:t>
            </a:r>
            <a:endParaRPr lang="en-US" sz="2200" dirty="0"/>
          </a:p>
          <a:p>
            <a:pPr marL="0" indent="0" algn="l">
              <a:lnSpc>
                <a:spcPts val="2750"/>
              </a:lnSpc>
              <a:buNone/>
            </a:pPr>
            <a:r>
              <a:rPr lang="en-US" sz="2200" dirty="0">
                <a:solidFill>
                  <a:srgbClr val="FFFFFF"/>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for (int i = 0; i &lt; 5; i++) {</a:t>
            </a:r>
            <a:endParaRPr lang="en-US" sz="2200" dirty="0"/>
          </a:p>
          <a:p>
            <a:pPr marL="0" indent="0" algn="l">
              <a:lnSpc>
                <a:spcPts val="2750"/>
              </a:lnSpc>
              <a:buNone/>
            </a:pPr>
            <a:r>
              <a:rPr lang="en-US" sz="2200" dirty="0">
                <a:solidFill>
                  <a:srgbClr val="64748B"/>
                </a:solidFill>
                <a:latin typeface="Consolas"/>
                <a:ea typeface="Consolas"/>
                <a:cs typeface="Consolas"/>
              </a:rPr>
              <a:t>        printf("a[%d] = %d\n", i, a[i]);</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4" name="Shape 14"/>
          <p:cNvSpPr/>
          <p:nvPr/>
        </p:nvSpPr>
        <p:spPr>
          <a:xfrm>
            <a:off x="7589520" y="1261872"/>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7589520" y="1261872"/>
            <a:ext cx="109728" cy="105156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7699248" y="1261872"/>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&amp;a[i]</a:t>
            </a:r>
            <a:r>
              <a:rPr lang="en-US" sz="2400" dirty="0">
                <a:solidFill>
                  <a:srgbClr val="18324A"/>
                </a:solidFill>
              </a:rPr>
              <a:t>: put the number </a:t>
            </a:r>
            <a:r>
              <a:rPr lang="en-US" sz="2400" b="1" dirty="0">
                <a:solidFill>
                  <a:srgbClr val="18324A"/>
                </a:solidFill>
              </a:rPr>
              <a:t>into</a:t>
            </a:r>
            <a:r>
              <a:rPr lang="en-US" sz="2400" dirty="0">
                <a:solidFill>
                  <a:srgbClr val="18324A"/>
                </a:solidFill>
              </a:rPr>
              <a:t> box </a:t>
            </a:r>
            <a:r>
              <a:rPr lang="en-US" sz="2400" dirty="0">
                <a:solidFill>
                  <a:srgbClr val="18324A"/>
                </a:solidFill>
                <a:latin typeface="Consolas"/>
                <a:ea typeface="Consolas"/>
                <a:cs typeface="Consolas"/>
              </a:rPr>
              <a:t>i</a:t>
            </a:r>
            <a:r>
              <a:rPr lang="en-US" sz="2400" dirty="0">
                <a:solidFill>
                  <a:srgbClr val="18324A"/>
                </a:solidFill>
              </a:rPr>
              <a:t>.</a:t>
            </a:r>
            <a:endParaRPr lang="en-US" sz="2400" dirty="0"/>
          </a:p>
        </p:txBody>
      </p:sp>
      <p:sp>
        <p:nvSpPr>
          <p:cNvPr id="17" name="Shape 17"/>
          <p:cNvSpPr/>
          <p:nvPr/>
        </p:nvSpPr>
        <p:spPr>
          <a:xfrm>
            <a:off x="7589520" y="2514600"/>
            <a:ext cx="4053535" cy="105156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18" name="Shape 18"/>
          <p:cNvSpPr/>
          <p:nvPr/>
        </p:nvSpPr>
        <p:spPr>
          <a:xfrm>
            <a:off x="7589520" y="2514600"/>
            <a:ext cx="109728" cy="1051560"/>
          </a:xfrm>
          <a:prstGeom prst="rect">
            <a:avLst/>
          </a:prstGeom>
          <a:solidFill>
            <a:srgbClr val="F59E0B"/>
          </a:solidFill>
          <a:ln>
            <a:noFill/>
          </a:ln>
        </p:spPr>
        <p:txBody>
          <a:bodyPr wrap="square" lIns="0" tIns="0" rIns="0" bIns="0" rtlCol="0" anchor="t"/>
          <a:lstStyle/>
          <a:p>
            <a:endParaRPr lang="en-US"/>
          </a:p>
        </p:txBody>
      </p:sp>
      <p:sp>
        <p:nvSpPr>
          <p:cNvPr id="19" name="Callout"/>
          <p:cNvSpPr/>
          <p:nvPr/>
        </p:nvSpPr>
        <p:spPr>
          <a:xfrm>
            <a:off x="7699248" y="25146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a:t>
            </a:r>
            <a:r>
              <a:rPr lang="en-US" sz="2400" dirty="0">
                <a:solidFill>
                  <a:srgbClr val="18324A"/>
                </a:solidFill>
                <a:latin typeface="Consolas"/>
                <a:ea typeface="Consolas"/>
                <a:cs typeface="Consolas"/>
              </a:rPr>
              <a:t>&amp;</a:t>
            </a:r>
            <a:r>
              <a:rPr lang="en-US" sz="2400" dirty="0">
                <a:solidFill>
                  <a:srgbClr val="18324A"/>
                </a:solidFill>
              </a:rPr>
              <a:t> is needed, like </a:t>
            </a:r>
            <a:r>
              <a:rPr lang="en-US" sz="2400" dirty="0">
                <a:solidFill>
                  <a:srgbClr val="18324A"/>
                </a:solidFill>
                <a:latin typeface="Consolas"/>
                <a:ea typeface="Consolas"/>
                <a:cs typeface="Consolas"/>
              </a:rPr>
              <a:t>&amp;x</a:t>
            </a:r>
            <a:r>
              <a:rPr lang="en-US" sz="2400" dirty="0">
                <a:solidFill>
                  <a:srgbClr val="18324A"/>
                </a:solidFill>
              </a:rPr>
              <a:t>.</a:t>
            </a:r>
            <a:endParaRPr 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Then print it back</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49</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427367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4273677"/>
            <a:ext cx="82296" cy="34925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622927"/>
            <a:ext cx="6766560" cy="34925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622927"/>
            <a:ext cx="82296" cy="34925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4972177"/>
            <a:ext cx="6766560" cy="34925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4972177"/>
            <a:ext cx="82296" cy="34925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a[5];</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printf("Enter 5 numbers: ");</a:t>
            </a:r>
            <a:endParaRPr lang="en-US" sz="2200" dirty="0"/>
          </a:p>
          <a:p>
            <a:pPr marL="0" indent="0" algn="l">
              <a:lnSpc>
                <a:spcPts val="2750"/>
              </a:lnSpc>
              <a:buNone/>
            </a:pPr>
            <a:r>
              <a:rPr lang="en-US" sz="2200" dirty="0">
                <a:solidFill>
                  <a:srgbClr val="64748B"/>
                </a:solidFill>
                <a:latin typeface="Consolas"/>
                <a:ea typeface="Consolas"/>
                <a:cs typeface="Consolas"/>
              </a:rPr>
              <a:t>    for (int i = 0; i &lt; 5; i++) {</a:t>
            </a:r>
            <a:endParaRPr lang="en-US" sz="2200" dirty="0"/>
          </a:p>
          <a:p>
            <a:pPr marL="0" indent="0" algn="l">
              <a:lnSpc>
                <a:spcPts val="2750"/>
              </a:lnSpc>
              <a:buNone/>
            </a:pPr>
            <a:r>
              <a:rPr lang="en-US" sz="2200" dirty="0">
                <a:solidFill>
                  <a:srgbClr val="64748B"/>
                </a:solidFill>
                <a:latin typeface="Consolas"/>
                <a:ea typeface="Consolas"/>
                <a:cs typeface="Consolas"/>
              </a:rPr>
              <a:t>        scanf("%d", &amp;a[i]);</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    for (int i = 0; i &lt; 5; i++) {</a:t>
            </a:r>
            <a:endParaRPr lang="en-US" sz="2200" dirty="0"/>
          </a:p>
          <a:p>
            <a:pPr marL="0" indent="0" algn="l">
              <a:lnSpc>
                <a:spcPts val="2750"/>
              </a:lnSpc>
              <a:buNone/>
            </a:pPr>
            <a:r>
              <a:rPr lang="en-US" sz="2200" dirty="0">
                <a:solidFill>
                  <a:srgbClr val="FFFFFF"/>
                </a:solidFill>
                <a:latin typeface="Consolas"/>
                <a:ea typeface="Consolas"/>
                <a:cs typeface="Consolas"/>
              </a:rPr>
              <a:t>        printf("a[%d] = %d\n", i, a[i]);</a:t>
            </a:r>
            <a:endParaRPr lang="en-US" sz="2200" dirty="0"/>
          </a:p>
          <a:p>
            <a:pPr marL="0" indent="0" algn="l">
              <a:lnSpc>
                <a:spcPts val="2750"/>
              </a:lnSpc>
              <a:buNone/>
            </a:pPr>
            <a:r>
              <a:rPr lang="en-US" sz="2200" dirty="0">
                <a:solidFill>
                  <a:srgbClr val="FFFFFF"/>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20802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2080260"/>
          </a:xfrm>
          <a:prstGeom prst="rect">
            <a:avLst/>
          </a:prstGeom>
          <a:noFill/>
          <a:ln>
            <a:noFill/>
          </a:ln>
        </p:spPr>
        <p:txBody>
          <a:bodyPr wrap="square" lIns="182880" tIns="182880" rIns="182880" bIns="182880" rtlCol="0" anchor="t"/>
          <a:lstStyle/>
          <a:p>
            <a:pPr marL="0" indent="0" algn="l">
              <a:lnSpc>
                <a:spcPts val="2250"/>
              </a:lnSpc>
              <a:buNone/>
            </a:pPr>
            <a:r>
              <a:rPr lang="en-US" sz="1800" dirty="0">
                <a:solidFill>
                  <a:srgbClr val="D1FAE5"/>
                </a:solidFill>
                <a:latin typeface="Consolas"/>
                <a:ea typeface="Consolas"/>
                <a:cs typeface="Consolas"/>
              </a:rPr>
              <a:t>Enter 5 numbers: 4 8 15 16 23</a:t>
            </a:r>
            <a:endParaRPr lang="en-US" sz="1800" dirty="0"/>
          </a:p>
          <a:p>
            <a:pPr marL="0" indent="0" algn="l">
              <a:lnSpc>
                <a:spcPts val="2250"/>
              </a:lnSpc>
              <a:buNone/>
            </a:pPr>
            <a:r>
              <a:rPr lang="en-US" sz="1800" dirty="0">
                <a:solidFill>
                  <a:srgbClr val="D1FAE5"/>
                </a:solidFill>
                <a:latin typeface="Consolas"/>
                <a:ea typeface="Consolas"/>
                <a:cs typeface="Consolas"/>
              </a:rPr>
              <a:t>a[0] = 4</a:t>
            </a:r>
            <a:endParaRPr lang="en-US" sz="1800" dirty="0"/>
          </a:p>
          <a:p>
            <a:pPr marL="0" indent="0" algn="l">
              <a:lnSpc>
                <a:spcPts val="2250"/>
              </a:lnSpc>
              <a:buNone/>
            </a:pPr>
            <a:r>
              <a:rPr lang="en-US" sz="1800" dirty="0">
                <a:solidFill>
                  <a:srgbClr val="D1FAE5"/>
                </a:solidFill>
                <a:latin typeface="Consolas"/>
                <a:ea typeface="Consolas"/>
                <a:cs typeface="Consolas"/>
              </a:rPr>
              <a:t>a[1] = 8</a:t>
            </a:r>
            <a:endParaRPr lang="en-US" sz="1800" dirty="0"/>
          </a:p>
          <a:p>
            <a:pPr marL="0" indent="0" algn="l">
              <a:lnSpc>
                <a:spcPts val="2250"/>
              </a:lnSpc>
              <a:buNone/>
            </a:pPr>
            <a:r>
              <a:rPr lang="en-US" sz="1800" dirty="0">
                <a:solidFill>
                  <a:srgbClr val="D1FAE5"/>
                </a:solidFill>
                <a:latin typeface="Consolas"/>
                <a:ea typeface="Consolas"/>
                <a:cs typeface="Consolas"/>
              </a:rPr>
              <a:t>a[2] = 15</a:t>
            </a:r>
            <a:endParaRPr lang="en-US" sz="1800" dirty="0"/>
          </a:p>
          <a:p>
            <a:pPr marL="0" indent="0" algn="l">
              <a:lnSpc>
                <a:spcPts val="2250"/>
              </a:lnSpc>
              <a:buNone/>
            </a:pPr>
            <a:r>
              <a:rPr lang="en-US" sz="1800" dirty="0">
                <a:solidFill>
                  <a:srgbClr val="D1FAE5"/>
                </a:solidFill>
                <a:latin typeface="Consolas"/>
                <a:ea typeface="Consolas"/>
                <a:cs typeface="Consolas"/>
              </a:rPr>
              <a:t>a[3] = 16</a:t>
            </a:r>
            <a:endParaRPr lang="en-US" sz="1800" dirty="0"/>
          </a:p>
          <a:p>
            <a:pPr marL="0" indent="0" algn="l">
              <a:lnSpc>
                <a:spcPts val="2250"/>
              </a:lnSpc>
              <a:buNone/>
            </a:pPr>
            <a:r>
              <a:rPr lang="en-US" sz="1800" dirty="0">
                <a:solidFill>
                  <a:srgbClr val="D1FAE5"/>
                </a:solidFill>
                <a:latin typeface="Consolas"/>
                <a:ea typeface="Consolas"/>
                <a:cs typeface="Consolas"/>
              </a:rPr>
              <a:t>a[4] = 23</a:t>
            </a:r>
            <a:endParaRPr lang="en-US" sz="1800" dirty="0"/>
          </a:p>
        </p:txBody>
      </p:sp>
      <p:sp>
        <p:nvSpPr>
          <p:cNvPr id="17" name="Shape 17"/>
          <p:cNvSpPr/>
          <p:nvPr/>
        </p:nvSpPr>
        <p:spPr>
          <a:xfrm>
            <a:off x="7589520" y="40005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8" name="Shape 18"/>
          <p:cNvSpPr/>
          <p:nvPr/>
        </p:nvSpPr>
        <p:spPr>
          <a:xfrm>
            <a:off x="7589520" y="4000500"/>
            <a:ext cx="109728" cy="1051560"/>
          </a:xfrm>
          <a:prstGeom prst="rect">
            <a:avLst/>
          </a:prstGeom>
          <a:solidFill>
            <a:srgbClr val="31C48D"/>
          </a:solidFill>
          <a:ln>
            <a:noFill/>
          </a:ln>
        </p:spPr>
        <p:txBody>
          <a:bodyPr wrap="square" lIns="0" tIns="0" rIns="0" bIns="0" rtlCol="0" anchor="t"/>
          <a:lstStyle/>
          <a:p>
            <a:endParaRPr lang="en-US"/>
          </a:p>
        </p:txBody>
      </p:sp>
      <p:sp>
        <p:nvSpPr>
          <p:cNvPr id="19" name="Callout"/>
          <p:cNvSpPr/>
          <p:nvPr/>
        </p:nvSpPr>
        <p:spPr>
          <a:xfrm>
            <a:off x="7699248" y="40005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Type them with spaces, or one per line.</a:t>
            </a:r>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Add them up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50</a:t>
            </a:r>
            <a:endParaRPr lang="en-US" sz="1400" dirty="0"/>
          </a:p>
        </p:txBody>
      </p:sp>
      <p:sp>
        <p:nvSpPr>
          <p:cNvPr id="6" name="Shape 6"/>
          <p:cNvSpPr/>
          <p:nvPr/>
        </p:nvSpPr>
        <p:spPr>
          <a:xfrm>
            <a:off x="548640" y="1261872"/>
            <a:ext cx="6766560" cy="4810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699002"/>
            <a:ext cx="676656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699002"/>
            <a:ext cx="82296" cy="317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016502"/>
            <a:ext cx="6766560" cy="317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016502"/>
            <a:ext cx="82296" cy="3175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4334002"/>
            <a:ext cx="6766560" cy="3175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4334002"/>
            <a:ext cx="82296" cy="317500"/>
          </a:xfrm>
          <a:prstGeom prst="rect">
            <a:avLst/>
          </a:prstGeom>
          <a:solidFill>
            <a:srgbClr val="F59E0B"/>
          </a:solidFill>
          <a:ln>
            <a:noFill/>
          </a:ln>
        </p:spPr>
        <p:txBody>
          <a:bodyPr wrap="square" lIns="0" tIns="0" rIns="0" bIns="0" rtlCol="0" anchor="t"/>
          <a:lstStyle/>
          <a:p>
            <a:endParaRPr lang="en-US"/>
          </a:p>
        </p:txBody>
      </p:sp>
      <p:sp>
        <p:nvSpPr>
          <p:cNvPr id="13" name="Shape 13"/>
          <p:cNvSpPr/>
          <p:nvPr/>
        </p:nvSpPr>
        <p:spPr>
          <a:xfrm>
            <a:off x="548640" y="4651502"/>
            <a:ext cx="6766560" cy="317500"/>
          </a:xfrm>
          <a:prstGeom prst="rect">
            <a:avLst/>
          </a:prstGeom>
          <a:solidFill>
            <a:srgbClr val="25406B"/>
          </a:solidFill>
          <a:ln>
            <a:noFill/>
          </a:ln>
        </p:spPr>
        <p:txBody>
          <a:bodyPr wrap="square" lIns="0" tIns="0" rIns="0" bIns="0" rtlCol="0" anchor="t"/>
          <a:lstStyle/>
          <a:p>
            <a:endParaRPr lang="en-US"/>
          </a:p>
        </p:txBody>
      </p:sp>
      <p:sp>
        <p:nvSpPr>
          <p:cNvPr id="14" name="Shape 14"/>
          <p:cNvSpPr/>
          <p:nvPr/>
        </p:nvSpPr>
        <p:spPr>
          <a:xfrm>
            <a:off x="548640" y="4651502"/>
            <a:ext cx="82296" cy="317500"/>
          </a:xfrm>
          <a:prstGeom prst="rect">
            <a:avLst/>
          </a:prstGeom>
          <a:solidFill>
            <a:srgbClr val="F59E0B"/>
          </a:solidFill>
          <a:ln>
            <a:noFill/>
          </a:ln>
        </p:spPr>
        <p:txBody>
          <a:bodyPr wrap="square" lIns="0" tIns="0" rIns="0" bIns="0" rtlCol="0" anchor="t"/>
          <a:lstStyle/>
          <a:p>
            <a:endParaRPr lang="en-US"/>
          </a:p>
        </p:txBody>
      </p:sp>
      <p:sp>
        <p:nvSpPr>
          <p:cNvPr id="15" name="Code"/>
          <p:cNvSpPr/>
          <p:nvPr/>
        </p:nvSpPr>
        <p:spPr>
          <a:xfrm>
            <a:off x="548640" y="1261872"/>
            <a:ext cx="6766560" cy="4810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scores[5];</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printf("Enter 5 scores: ");</a:t>
            </a:r>
            <a:endParaRPr lang="en-US" sz="2000" dirty="0"/>
          </a:p>
          <a:p>
            <a:pPr marL="0" indent="0" algn="l">
              <a:lnSpc>
                <a:spcPts val="2500"/>
              </a:lnSpc>
              <a:buNone/>
            </a:pPr>
            <a:r>
              <a:rPr lang="en-US" sz="2000" dirty="0">
                <a:solidFill>
                  <a:srgbClr val="64748B"/>
                </a:solidFill>
                <a:latin typeface="Consolas"/>
                <a:ea typeface="Consolas"/>
                <a:cs typeface="Consolas"/>
              </a:rPr>
              <a:t>for (int i = 0; i &lt; 5; i++) {</a:t>
            </a:r>
            <a:endParaRPr lang="en-US" sz="2000" dirty="0"/>
          </a:p>
          <a:p>
            <a:pPr marL="0" indent="0" algn="l">
              <a:lnSpc>
                <a:spcPts val="2500"/>
              </a:lnSpc>
              <a:buNone/>
            </a:pPr>
            <a:r>
              <a:rPr lang="en-US" sz="2000" dirty="0">
                <a:solidFill>
                  <a:srgbClr val="64748B"/>
                </a:solidFill>
                <a:latin typeface="Consolas"/>
                <a:ea typeface="Consolas"/>
                <a:cs typeface="Consolas"/>
              </a:rPr>
              <a:t>    scanf("%d", &amp;scores[i]);</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int sum = 0;</a:t>
            </a:r>
            <a:endParaRPr lang="en-US" sz="2000" dirty="0"/>
          </a:p>
          <a:p>
            <a:pPr marL="0" indent="0" algn="l">
              <a:lnSpc>
                <a:spcPts val="2500"/>
              </a:lnSpc>
              <a:buNone/>
            </a:pPr>
            <a:r>
              <a:rPr lang="en-US" sz="2000" dirty="0">
                <a:solidFill>
                  <a:srgbClr val="FFFFFF"/>
                </a:solidFill>
                <a:latin typeface="Consolas"/>
                <a:ea typeface="Consolas"/>
                <a:cs typeface="Consolas"/>
              </a:rPr>
              <a:t>for (int i = 0; i &lt; 5; i++) {</a:t>
            </a:r>
            <a:endParaRPr lang="en-US" sz="2000" dirty="0"/>
          </a:p>
          <a:p>
            <a:pPr marL="0" indent="0" algn="l">
              <a:lnSpc>
                <a:spcPts val="2500"/>
              </a:lnSpc>
              <a:buNone/>
            </a:pPr>
            <a:r>
              <a:rPr lang="en-US" sz="2000" dirty="0">
                <a:solidFill>
                  <a:srgbClr val="FFFFFF"/>
                </a:solidFill>
                <a:latin typeface="Consolas"/>
                <a:ea typeface="Consolas"/>
                <a:cs typeface="Consolas"/>
              </a:rPr>
              <a:t>    sum += scores[i];</a:t>
            </a:r>
            <a:endParaRPr lang="en-US" sz="2000" dirty="0"/>
          </a:p>
          <a:p>
            <a:pPr marL="0" indent="0" algn="l">
              <a:lnSpc>
                <a:spcPts val="2500"/>
              </a:lnSpc>
              <a:buNone/>
            </a:pPr>
            <a:r>
              <a:rPr lang="en-US" sz="2000" dirty="0">
                <a:solidFill>
                  <a:srgbClr val="FFFFFF"/>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printf("sum: %d\n", sum);</a:t>
            </a:r>
            <a:endParaRPr lang="en-US" sz="2000" dirty="0"/>
          </a:p>
          <a:p>
            <a:pPr marL="0" indent="0" algn="l">
              <a:lnSpc>
                <a:spcPts val="2500"/>
              </a:lnSpc>
              <a:buNone/>
            </a:pPr>
            <a:r>
              <a:rPr lang="en-US" sz="2000" dirty="0">
                <a:solidFill>
                  <a:srgbClr val="64748B"/>
                </a:solidFill>
                <a:latin typeface="Consolas"/>
                <a:ea typeface="Consolas"/>
                <a:cs typeface="Consolas"/>
              </a:rPr>
              <a:t>printf("average: %.1f\n", sum / 5.0);</a:t>
            </a:r>
            <a:endParaRPr lang="en-US" sz="2000" dirty="0"/>
          </a:p>
          <a:p>
            <a:pPr marL="0" indent="0" algn="l">
              <a:lnSpc>
                <a:spcPts val="2500"/>
              </a:lnSpc>
              <a:buNone/>
            </a:pPr>
            <a:r>
              <a:rPr lang="en-US" sz="2000" dirty="0">
                <a:solidFill>
                  <a:srgbClr val="64748B"/>
                </a:solidFill>
                <a:latin typeface="Consolas"/>
                <a:ea typeface="Consolas"/>
                <a:cs typeface="Consolas"/>
              </a:rPr>
              <a:t>return 0;</a:t>
            </a:r>
            <a:endParaRPr lang="en-US" sz="2000" dirty="0"/>
          </a:p>
        </p:txBody>
      </p:sp>
      <p:sp>
        <p:nvSpPr>
          <p:cNvPr id="16" name="Shape 16"/>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7" name="Shape 17"/>
          <p:cNvSpPr/>
          <p:nvPr/>
        </p:nvSpPr>
        <p:spPr>
          <a:xfrm>
            <a:off x="7589520" y="1645920"/>
            <a:ext cx="4053535" cy="1318260"/>
          </a:xfrm>
          <a:prstGeom prst="rect">
            <a:avLst/>
          </a:prstGeom>
          <a:solidFill>
            <a:srgbClr val="000000"/>
          </a:solidFill>
          <a:ln>
            <a:noFill/>
          </a:ln>
        </p:spPr>
        <p:txBody>
          <a:bodyPr wrap="square" lIns="0" tIns="0" rIns="0" bIns="0" rtlCol="0" anchor="t"/>
          <a:lstStyle/>
          <a:p>
            <a:endParaRPr lang="en-US"/>
          </a:p>
        </p:txBody>
      </p:sp>
      <p:sp>
        <p:nvSpPr>
          <p:cNvPr id="18" name="Code"/>
          <p:cNvSpPr/>
          <p:nvPr/>
        </p:nvSpPr>
        <p:spPr>
          <a:xfrm>
            <a:off x="7589520" y="1645920"/>
            <a:ext cx="4053535" cy="1318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D1FAE5"/>
                </a:solidFill>
                <a:latin typeface="Consolas"/>
                <a:ea typeface="Consolas"/>
                <a:cs typeface="Consolas"/>
              </a:rPr>
              <a:t>Enter 5 scores: 7 9 6 10 8</a:t>
            </a:r>
            <a:endParaRPr lang="en-US" sz="2000" dirty="0"/>
          </a:p>
          <a:p>
            <a:pPr marL="0" indent="0" algn="l">
              <a:lnSpc>
                <a:spcPts val="2500"/>
              </a:lnSpc>
              <a:buNone/>
            </a:pPr>
            <a:r>
              <a:rPr lang="en-US" sz="2000" dirty="0">
                <a:solidFill>
                  <a:srgbClr val="D1FAE5"/>
                </a:solidFill>
                <a:latin typeface="Consolas"/>
                <a:ea typeface="Consolas"/>
                <a:cs typeface="Consolas"/>
              </a:rPr>
              <a:t>sum: 40</a:t>
            </a:r>
            <a:endParaRPr lang="en-US" sz="2000" dirty="0"/>
          </a:p>
          <a:p>
            <a:pPr marL="0" indent="0" algn="l">
              <a:lnSpc>
                <a:spcPts val="2500"/>
              </a:lnSpc>
              <a:buNone/>
            </a:pPr>
            <a:r>
              <a:rPr lang="en-US" sz="2000" dirty="0">
                <a:solidFill>
                  <a:srgbClr val="D1FAE5"/>
                </a:solidFill>
                <a:latin typeface="Consolas"/>
                <a:ea typeface="Consolas"/>
                <a:cs typeface="Consolas"/>
              </a:rPr>
              <a:t>average: 8.0</a:t>
            </a:r>
            <a:endParaRPr lang="en-US" sz="2000" dirty="0"/>
          </a:p>
        </p:txBody>
      </p:sp>
      <p:sp>
        <p:nvSpPr>
          <p:cNvPr id="19" name="Shape 19"/>
          <p:cNvSpPr/>
          <p:nvPr/>
        </p:nvSpPr>
        <p:spPr>
          <a:xfrm>
            <a:off x="7589520" y="32385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20" name="Shape 20"/>
          <p:cNvSpPr/>
          <p:nvPr/>
        </p:nvSpPr>
        <p:spPr>
          <a:xfrm>
            <a:off x="7589520" y="3238500"/>
            <a:ext cx="109728" cy="1051560"/>
          </a:xfrm>
          <a:prstGeom prst="rect">
            <a:avLst/>
          </a:prstGeom>
          <a:solidFill>
            <a:srgbClr val="31C48D"/>
          </a:solidFill>
          <a:ln>
            <a:noFill/>
          </a:ln>
        </p:spPr>
        <p:txBody>
          <a:bodyPr wrap="square" lIns="0" tIns="0" rIns="0" bIns="0" rtlCol="0" anchor="t"/>
          <a:lstStyle/>
          <a:p>
            <a:endParaRPr lang="en-US"/>
          </a:p>
        </p:txBody>
      </p:sp>
      <p:sp>
        <p:nvSpPr>
          <p:cNvPr id="21" name="Callout"/>
          <p:cNvSpPr/>
          <p:nvPr/>
        </p:nvSpPr>
        <p:spPr>
          <a:xfrm>
            <a:off x="7699248" y="32385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total starts at 0, </a:t>
            </a:r>
            <a:r>
              <a:rPr lang="en-US" sz="2400" b="1" dirty="0">
                <a:solidFill>
                  <a:srgbClr val="18324A"/>
                </a:solidFill>
              </a:rPr>
              <a:t>before</a:t>
            </a:r>
            <a:r>
              <a:rPr lang="en-US" sz="2400" dirty="0">
                <a:solidFill>
                  <a:srgbClr val="18324A"/>
                </a:solidFill>
              </a:rPr>
              <a:t> the loop.</a:t>
            </a:r>
            <a:endParaRPr 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running total</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51</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Class 6's running total, with </a:t>
            </a:r>
            <a:r>
              <a:rPr lang="en-US" sz="2400" dirty="0">
                <a:solidFill>
                  <a:srgbClr val="18324A"/>
                </a:solidFill>
                <a:latin typeface="Consolas"/>
                <a:ea typeface="Consolas"/>
                <a:cs typeface="Consolas"/>
              </a:rPr>
              <a:t>scores[i]</a:t>
            </a:r>
            <a:r>
              <a:rPr lang="en-US" sz="2400" dirty="0">
                <a:solidFill>
                  <a:srgbClr val="18324A"/>
                </a:solidFill>
              </a:rPr>
              <a:t> in place of </a:t>
            </a:r>
            <a:r>
              <a:rPr lang="en-US" sz="2400" dirty="0">
                <a:solidFill>
                  <a:srgbClr val="18324A"/>
                </a:solidFill>
                <a:latin typeface="Consolas"/>
                <a:ea typeface="Consolas"/>
                <a:cs typeface="Consolas"/>
              </a:rPr>
              <a:t>i</a:t>
            </a:r>
            <a:r>
              <a:rPr lang="en-US" sz="2400" dirty="0">
                <a:solidFill>
                  <a:srgbClr val="18324A"/>
                </a:solidFill>
              </a:rPr>
              <a:t>.</a:t>
            </a:r>
            <a:endParaRPr lang="en-US" sz="2400" dirty="0"/>
          </a:p>
        </p:txBody>
      </p:sp>
      <p:sp>
        <p:nvSpPr>
          <p:cNvPr id="9" name="Shape 9"/>
          <p:cNvSpPr/>
          <p:nvPr/>
        </p:nvSpPr>
        <p:spPr>
          <a:xfrm>
            <a:off x="548640" y="1261872"/>
            <a:ext cx="5669280" cy="281051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225927"/>
            <a:ext cx="566928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225927"/>
            <a:ext cx="82296" cy="3492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2810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scores[5] = {7, 9, 6, 10, 8};</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sum = 0;</a:t>
            </a:r>
            <a:endParaRPr lang="en-US" sz="2200" dirty="0"/>
          </a:p>
          <a:p>
            <a:pPr marL="0" indent="0" algn="l">
              <a:lnSpc>
                <a:spcPts val="2750"/>
              </a:lnSpc>
              <a:buNone/>
            </a:pPr>
            <a:r>
              <a:rPr lang="en-US" sz="2200" dirty="0">
                <a:solidFill>
                  <a:srgbClr val="64748B"/>
                </a:solidFill>
                <a:latin typeface="Consolas"/>
                <a:ea typeface="Consolas"/>
                <a:cs typeface="Consolas"/>
              </a:rPr>
              <a:t>for (int i = 0; i &lt; 5; i++) {</a:t>
            </a:r>
            <a:endParaRPr lang="en-US" sz="2200" dirty="0"/>
          </a:p>
          <a:p>
            <a:pPr marL="0" indent="0" algn="l">
              <a:lnSpc>
                <a:spcPts val="2750"/>
              </a:lnSpc>
              <a:buNone/>
            </a:pPr>
            <a:r>
              <a:rPr lang="en-US" sz="2200" dirty="0">
                <a:solidFill>
                  <a:srgbClr val="64748B"/>
                </a:solidFill>
                <a:latin typeface="Consolas"/>
                <a:ea typeface="Consolas"/>
                <a:cs typeface="Consolas"/>
              </a:rPr>
              <a:t>    printf("%d ", scores[i]);</a:t>
            </a:r>
            <a:endParaRPr lang="en-US" sz="2200" dirty="0"/>
          </a:p>
          <a:p>
            <a:pPr marL="0" indent="0" algn="l">
              <a:lnSpc>
                <a:spcPts val="2750"/>
              </a:lnSpc>
              <a:buNone/>
            </a:pPr>
            <a:r>
              <a:rPr lang="en-US" sz="2200" dirty="0">
                <a:solidFill>
                  <a:srgbClr val="FFFFFF"/>
                </a:solidFill>
                <a:latin typeface="Consolas"/>
                <a:ea typeface="Consolas"/>
                <a:cs typeface="Consolas"/>
              </a:rPr>
              <a:t>    sum += scores[i];</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3" name="Shape 13"/>
          <p:cNvSpPr/>
          <p:nvPr/>
        </p:nvSpPr>
        <p:spPr>
          <a:xfrm>
            <a:off x="6492240" y="1261872"/>
            <a:ext cx="1420915"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913155" y="1261872"/>
            <a:ext cx="2308986"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scores[i]</a:t>
            </a:r>
            <a:endParaRPr lang="en-US" sz="1800" dirty="0"/>
          </a:p>
        </p:txBody>
      </p:sp>
      <p:sp>
        <p:nvSpPr>
          <p:cNvPr id="15" name="Shape 15"/>
          <p:cNvSpPr/>
          <p:nvPr/>
        </p:nvSpPr>
        <p:spPr>
          <a:xfrm>
            <a:off x="10222141" y="1261872"/>
            <a:ext cx="1420915"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endParaRPr lang="en-US" sz="1800" dirty="0"/>
          </a:p>
        </p:txBody>
      </p:sp>
      <p:sp>
        <p:nvSpPr>
          <p:cNvPr id="16" name="Shape 16"/>
          <p:cNvSpPr/>
          <p:nvPr/>
        </p:nvSpPr>
        <p:spPr>
          <a:xfrm>
            <a:off x="6492240" y="1845782"/>
            <a:ext cx="1420915"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start</a:t>
            </a:r>
            <a:endParaRPr lang="en-US" sz="2400" dirty="0"/>
          </a:p>
        </p:txBody>
      </p:sp>
      <p:sp>
        <p:nvSpPr>
          <p:cNvPr id="17" name="Shape 17"/>
          <p:cNvSpPr/>
          <p:nvPr/>
        </p:nvSpPr>
        <p:spPr>
          <a:xfrm>
            <a:off x="7913155" y="1845782"/>
            <a:ext cx="2308986" cy="583910"/>
          </a:xfrm>
          <a:prstGeom prst="rect">
            <a:avLst/>
          </a:prstGeom>
          <a:solidFill>
            <a:srgbClr val="FFFFFF"/>
          </a:solidFill>
          <a:ln w="12700">
            <a:solidFill>
              <a:srgbClr val="D8E0EA"/>
            </a:solidFill>
          </a:ln>
        </p:spPr>
        <p:txBody>
          <a:bodyPr wrap="square" lIns="0" tIns="0" rIns="0" bIns="0" rtlCol="0" anchor="ctr"/>
          <a:lstStyle/>
          <a:p>
            <a:pPr marL="0" indent="0" algn="ctr">
              <a:buNone/>
            </a:pPr>
            <a:endParaRPr lang="en-US" sz="2400" dirty="0"/>
          </a:p>
        </p:txBody>
      </p:sp>
      <p:sp>
        <p:nvSpPr>
          <p:cNvPr id="18" name="Shape 18"/>
          <p:cNvSpPr/>
          <p:nvPr/>
        </p:nvSpPr>
        <p:spPr>
          <a:xfrm>
            <a:off x="10222141" y="1845782"/>
            <a:ext cx="1420915"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19" name="Shape 19"/>
          <p:cNvSpPr/>
          <p:nvPr/>
        </p:nvSpPr>
        <p:spPr>
          <a:xfrm>
            <a:off x="6492240" y="2429691"/>
            <a:ext cx="1420915"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0</a:t>
            </a:r>
            <a:endParaRPr lang="en-US" sz="2400" dirty="0"/>
          </a:p>
        </p:txBody>
      </p:sp>
      <p:sp>
        <p:nvSpPr>
          <p:cNvPr id="20" name="Shape 20"/>
          <p:cNvSpPr/>
          <p:nvPr/>
        </p:nvSpPr>
        <p:spPr>
          <a:xfrm>
            <a:off x="7913155" y="2429691"/>
            <a:ext cx="2308986"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7</a:t>
            </a:r>
            <a:endParaRPr lang="en-US" sz="2400" dirty="0"/>
          </a:p>
        </p:txBody>
      </p:sp>
      <p:sp>
        <p:nvSpPr>
          <p:cNvPr id="21" name="Shape 21"/>
          <p:cNvSpPr/>
          <p:nvPr/>
        </p:nvSpPr>
        <p:spPr>
          <a:xfrm>
            <a:off x="10222141" y="2429691"/>
            <a:ext cx="1420915"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7</a:t>
            </a:r>
            <a:endParaRPr lang="en-US" sz="2400" dirty="0"/>
          </a:p>
        </p:txBody>
      </p:sp>
      <p:sp>
        <p:nvSpPr>
          <p:cNvPr id="22" name="Shape 22"/>
          <p:cNvSpPr/>
          <p:nvPr/>
        </p:nvSpPr>
        <p:spPr>
          <a:xfrm>
            <a:off x="6492240" y="3013601"/>
            <a:ext cx="1420915"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7913155" y="3013601"/>
            <a:ext cx="2308986"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10222141" y="3013601"/>
            <a:ext cx="1420915"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6492240" y="3597511"/>
            <a:ext cx="1420915"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7913155" y="3597511"/>
            <a:ext cx="2308986"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10222141" y="3597511"/>
            <a:ext cx="1420915"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6492240" y="4181421"/>
            <a:ext cx="1420915"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7913155" y="4181421"/>
            <a:ext cx="2308986"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10222141" y="4181421"/>
            <a:ext cx="1420915"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6492240" y="4765330"/>
            <a:ext cx="1420915"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7913155" y="4765330"/>
            <a:ext cx="2308986"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10222141" y="4765330"/>
            <a:ext cx="1420915" cy="583910"/>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running total</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52</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After the loop </a:t>
            </a:r>
            <a:r>
              <a:rPr lang="en-US" sz="2400" dirty="0">
                <a:solidFill>
                  <a:srgbClr val="18324A"/>
                </a:solidFill>
                <a:latin typeface="Consolas"/>
                <a:ea typeface="Consolas"/>
                <a:cs typeface="Consolas"/>
              </a:rPr>
              <a:t>sum</a:t>
            </a:r>
            <a:r>
              <a:rPr lang="en-US" sz="2400" dirty="0">
                <a:solidFill>
                  <a:srgbClr val="18324A"/>
                </a:solidFill>
              </a:rPr>
              <a:t> is 40. The average: </a:t>
            </a:r>
            <a:r>
              <a:rPr lang="en-US" sz="2400" dirty="0">
                <a:solidFill>
                  <a:srgbClr val="18324A"/>
                </a:solidFill>
                <a:latin typeface="Consolas"/>
                <a:ea typeface="Consolas"/>
                <a:cs typeface="Consolas"/>
              </a:rPr>
              <a:t>40 / 5.0</a:t>
            </a:r>
            <a:r>
              <a:rPr lang="en-US" sz="2400" dirty="0">
                <a:solidFill>
                  <a:srgbClr val="18324A"/>
                </a:solidFill>
              </a:rPr>
              <a:t> = 8.0.</a:t>
            </a:r>
            <a:endParaRPr lang="en-US" sz="2400" dirty="0"/>
          </a:p>
        </p:txBody>
      </p:sp>
      <p:sp>
        <p:nvSpPr>
          <p:cNvPr id="9" name="Shape 9"/>
          <p:cNvSpPr/>
          <p:nvPr/>
        </p:nvSpPr>
        <p:spPr>
          <a:xfrm>
            <a:off x="548640" y="1261872"/>
            <a:ext cx="5669280" cy="281051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3225927"/>
            <a:ext cx="566928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3225927"/>
            <a:ext cx="82296" cy="3492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669280" cy="28105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scores[5] = {7, 9, 6, 10, 8};</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int sum = 0;</a:t>
            </a:r>
            <a:endParaRPr lang="en-US" sz="2200" dirty="0"/>
          </a:p>
          <a:p>
            <a:pPr marL="0" indent="0" algn="l">
              <a:lnSpc>
                <a:spcPts val="2750"/>
              </a:lnSpc>
              <a:buNone/>
            </a:pPr>
            <a:r>
              <a:rPr lang="en-US" sz="2200" dirty="0">
                <a:solidFill>
                  <a:srgbClr val="64748B"/>
                </a:solidFill>
                <a:latin typeface="Consolas"/>
                <a:ea typeface="Consolas"/>
                <a:cs typeface="Consolas"/>
              </a:rPr>
              <a:t>for (int i = 0; i &lt; 5; i++) {</a:t>
            </a:r>
            <a:endParaRPr lang="en-US" sz="2200" dirty="0"/>
          </a:p>
          <a:p>
            <a:pPr marL="0" indent="0" algn="l">
              <a:lnSpc>
                <a:spcPts val="2750"/>
              </a:lnSpc>
              <a:buNone/>
            </a:pPr>
            <a:r>
              <a:rPr lang="en-US" sz="2200" dirty="0">
                <a:solidFill>
                  <a:srgbClr val="64748B"/>
                </a:solidFill>
                <a:latin typeface="Consolas"/>
                <a:ea typeface="Consolas"/>
                <a:cs typeface="Consolas"/>
              </a:rPr>
              <a:t>    printf("%d ", scores[i]);</a:t>
            </a:r>
            <a:endParaRPr lang="en-US" sz="2200" dirty="0"/>
          </a:p>
          <a:p>
            <a:pPr marL="0" indent="0" algn="l">
              <a:lnSpc>
                <a:spcPts val="2750"/>
              </a:lnSpc>
              <a:buNone/>
            </a:pPr>
            <a:r>
              <a:rPr lang="en-US" sz="2200" dirty="0">
                <a:solidFill>
                  <a:srgbClr val="FFFFFF"/>
                </a:solidFill>
                <a:latin typeface="Consolas"/>
                <a:ea typeface="Consolas"/>
                <a:cs typeface="Consolas"/>
              </a:rPr>
              <a:t>    sum += scores[i];</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3" name="Shape 13"/>
          <p:cNvSpPr/>
          <p:nvPr/>
        </p:nvSpPr>
        <p:spPr>
          <a:xfrm>
            <a:off x="6492240" y="1261872"/>
            <a:ext cx="1420915"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913155" y="1261872"/>
            <a:ext cx="2308986"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scores[i]</a:t>
            </a:r>
            <a:endParaRPr lang="en-US" sz="1800" dirty="0"/>
          </a:p>
        </p:txBody>
      </p:sp>
      <p:sp>
        <p:nvSpPr>
          <p:cNvPr id="15" name="Shape 15"/>
          <p:cNvSpPr/>
          <p:nvPr/>
        </p:nvSpPr>
        <p:spPr>
          <a:xfrm>
            <a:off x="10222141" y="1261872"/>
            <a:ext cx="1420915"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sum</a:t>
            </a:r>
            <a:endParaRPr lang="en-US" sz="1800" dirty="0"/>
          </a:p>
        </p:txBody>
      </p:sp>
      <p:sp>
        <p:nvSpPr>
          <p:cNvPr id="16" name="Shape 16"/>
          <p:cNvSpPr/>
          <p:nvPr/>
        </p:nvSpPr>
        <p:spPr>
          <a:xfrm>
            <a:off x="6492240" y="1845782"/>
            <a:ext cx="1420915"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start</a:t>
            </a:r>
            <a:endParaRPr lang="en-US" sz="2400" dirty="0"/>
          </a:p>
        </p:txBody>
      </p:sp>
      <p:sp>
        <p:nvSpPr>
          <p:cNvPr id="17" name="Shape 17"/>
          <p:cNvSpPr/>
          <p:nvPr/>
        </p:nvSpPr>
        <p:spPr>
          <a:xfrm>
            <a:off x="7913155" y="1845782"/>
            <a:ext cx="2308986" cy="583910"/>
          </a:xfrm>
          <a:prstGeom prst="rect">
            <a:avLst/>
          </a:prstGeom>
          <a:solidFill>
            <a:srgbClr val="FFFFFF"/>
          </a:solidFill>
          <a:ln w="12700">
            <a:solidFill>
              <a:srgbClr val="D8E0EA"/>
            </a:solidFill>
          </a:ln>
        </p:spPr>
        <p:txBody>
          <a:bodyPr wrap="square" lIns="0" tIns="0" rIns="0" bIns="0" rtlCol="0" anchor="ctr"/>
          <a:lstStyle/>
          <a:p>
            <a:pPr marL="0" indent="0" algn="ctr">
              <a:buNone/>
            </a:pPr>
            <a:endParaRPr lang="en-US" sz="2400" dirty="0"/>
          </a:p>
        </p:txBody>
      </p:sp>
      <p:sp>
        <p:nvSpPr>
          <p:cNvPr id="18" name="Shape 18"/>
          <p:cNvSpPr/>
          <p:nvPr/>
        </p:nvSpPr>
        <p:spPr>
          <a:xfrm>
            <a:off x="10222141" y="1845782"/>
            <a:ext cx="1420915"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19" name="Shape 19"/>
          <p:cNvSpPr/>
          <p:nvPr/>
        </p:nvSpPr>
        <p:spPr>
          <a:xfrm>
            <a:off x="6492240" y="2429691"/>
            <a:ext cx="1420915"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20" name="Shape 20"/>
          <p:cNvSpPr/>
          <p:nvPr/>
        </p:nvSpPr>
        <p:spPr>
          <a:xfrm>
            <a:off x="7913155" y="2429691"/>
            <a:ext cx="2308986"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7</a:t>
            </a:r>
            <a:endParaRPr lang="en-US" sz="2400" dirty="0"/>
          </a:p>
        </p:txBody>
      </p:sp>
      <p:sp>
        <p:nvSpPr>
          <p:cNvPr id="21" name="Shape 21"/>
          <p:cNvSpPr/>
          <p:nvPr/>
        </p:nvSpPr>
        <p:spPr>
          <a:xfrm>
            <a:off x="10222141" y="2429691"/>
            <a:ext cx="1420915"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7</a:t>
            </a:r>
            <a:endParaRPr lang="en-US" sz="2400" dirty="0"/>
          </a:p>
        </p:txBody>
      </p:sp>
      <p:sp>
        <p:nvSpPr>
          <p:cNvPr id="22" name="Shape 22"/>
          <p:cNvSpPr/>
          <p:nvPr/>
        </p:nvSpPr>
        <p:spPr>
          <a:xfrm>
            <a:off x="6492240" y="3013601"/>
            <a:ext cx="1420915"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3" name="Shape 23"/>
          <p:cNvSpPr/>
          <p:nvPr/>
        </p:nvSpPr>
        <p:spPr>
          <a:xfrm>
            <a:off x="7913155" y="3013601"/>
            <a:ext cx="2308986"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9</a:t>
            </a:r>
            <a:endParaRPr lang="en-US" sz="2400" dirty="0"/>
          </a:p>
        </p:txBody>
      </p:sp>
      <p:sp>
        <p:nvSpPr>
          <p:cNvPr id="24" name="Shape 24"/>
          <p:cNvSpPr/>
          <p:nvPr/>
        </p:nvSpPr>
        <p:spPr>
          <a:xfrm>
            <a:off x="10222141" y="3013601"/>
            <a:ext cx="1420915"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16</a:t>
            </a:r>
            <a:endParaRPr lang="en-US" sz="2400" dirty="0"/>
          </a:p>
        </p:txBody>
      </p:sp>
      <p:sp>
        <p:nvSpPr>
          <p:cNvPr id="25" name="Shape 25"/>
          <p:cNvSpPr/>
          <p:nvPr/>
        </p:nvSpPr>
        <p:spPr>
          <a:xfrm>
            <a:off x="6492240" y="3597511"/>
            <a:ext cx="1420915"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6" name="Shape 26"/>
          <p:cNvSpPr/>
          <p:nvPr/>
        </p:nvSpPr>
        <p:spPr>
          <a:xfrm>
            <a:off x="7913155" y="3597511"/>
            <a:ext cx="2308986"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6</a:t>
            </a:r>
            <a:endParaRPr lang="en-US" sz="2400" dirty="0"/>
          </a:p>
        </p:txBody>
      </p:sp>
      <p:sp>
        <p:nvSpPr>
          <p:cNvPr id="27" name="Shape 27"/>
          <p:cNvSpPr/>
          <p:nvPr/>
        </p:nvSpPr>
        <p:spPr>
          <a:xfrm>
            <a:off x="10222141" y="3597511"/>
            <a:ext cx="1420915"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22</a:t>
            </a:r>
            <a:endParaRPr lang="en-US" sz="2400" dirty="0"/>
          </a:p>
        </p:txBody>
      </p:sp>
      <p:sp>
        <p:nvSpPr>
          <p:cNvPr id="28" name="Shape 28"/>
          <p:cNvSpPr/>
          <p:nvPr/>
        </p:nvSpPr>
        <p:spPr>
          <a:xfrm>
            <a:off x="6492240" y="4181421"/>
            <a:ext cx="1420915"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9" name="Shape 29"/>
          <p:cNvSpPr/>
          <p:nvPr/>
        </p:nvSpPr>
        <p:spPr>
          <a:xfrm>
            <a:off x="7913155" y="4181421"/>
            <a:ext cx="2308986"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10</a:t>
            </a:r>
            <a:endParaRPr lang="en-US" sz="2400" dirty="0"/>
          </a:p>
        </p:txBody>
      </p:sp>
      <p:sp>
        <p:nvSpPr>
          <p:cNvPr id="30" name="Shape 30"/>
          <p:cNvSpPr/>
          <p:nvPr/>
        </p:nvSpPr>
        <p:spPr>
          <a:xfrm>
            <a:off x="10222141" y="4181421"/>
            <a:ext cx="1420915"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32</a:t>
            </a:r>
            <a:endParaRPr lang="en-US" sz="2400" dirty="0"/>
          </a:p>
        </p:txBody>
      </p:sp>
      <p:sp>
        <p:nvSpPr>
          <p:cNvPr id="31" name="Shape 31"/>
          <p:cNvSpPr/>
          <p:nvPr/>
        </p:nvSpPr>
        <p:spPr>
          <a:xfrm>
            <a:off x="6492240" y="4765330"/>
            <a:ext cx="1420915"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a:t>
            </a:r>
            <a:endParaRPr lang="en-US" sz="2400" dirty="0"/>
          </a:p>
        </p:txBody>
      </p:sp>
      <p:sp>
        <p:nvSpPr>
          <p:cNvPr id="32" name="Shape 32"/>
          <p:cNvSpPr/>
          <p:nvPr/>
        </p:nvSpPr>
        <p:spPr>
          <a:xfrm>
            <a:off x="7913155" y="4765330"/>
            <a:ext cx="2308986"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8</a:t>
            </a:r>
            <a:endParaRPr lang="en-US" sz="2400" dirty="0"/>
          </a:p>
        </p:txBody>
      </p:sp>
      <p:sp>
        <p:nvSpPr>
          <p:cNvPr id="33" name="Shape 33"/>
          <p:cNvSpPr/>
          <p:nvPr/>
        </p:nvSpPr>
        <p:spPr>
          <a:xfrm>
            <a:off x="10222141" y="4765330"/>
            <a:ext cx="1420915"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40</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Print it backwards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53</a:t>
            </a:r>
            <a:endParaRPr lang="en-US" sz="1400" dirty="0"/>
          </a:p>
        </p:txBody>
      </p:sp>
      <p:sp>
        <p:nvSpPr>
          <p:cNvPr id="6" name="Shape 6"/>
          <p:cNvSpPr/>
          <p:nvPr/>
        </p:nvSpPr>
        <p:spPr>
          <a:xfrm>
            <a:off x="548640" y="1261872"/>
            <a:ext cx="2377440" cy="457200"/>
          </a:xfrm>
          <a:prstGeom prst="rect">
            <a:avLst/>
          </a:prstGeom>
          <a:solidFill>
            <a:srgbClr val="F59E0B"/>
          </a:solidFill>
          <a:ln>
            <a:noFill/>
          </a:ln>
        </p:spPr>
        <p:txBody>
          <a:bodyPr wrap="square" lIns="0" tIns="0" rIns="0" bIns="0" rtlCol="0" anchor="ctr"/>
          <a:lstStyle/>
          <a:p>
            <a:pPr marL="0" indent="0" algn="ctr">
              <a:buNone/>
            </a:pPr>
            <a:r>
              <a:rPr lang="en-US" sz="1800" b="1" dirty="0">
                <a:solidFill>
                  <a:srgbClr val="FFFFFF"/>
                </a:solidFill>
              </a:rPr>
              <a:t>PREDICT</a:t>
            </a:r>
            <a:endParaRPr lang="en-US" sz="1800" dirty="0"/>
          </a:p>
        </p:txBody>
      </p:sp>
      <p:sp>
        <p:nvSpPr>
          <p:cNvPr id="7" name="Shape 7"/>
          <p:cNvSpPr/>
          <p:nvPr/>
        </p:nvSpPr>
        <p:spPr>
          <a:xfrm>
            <a:off x="548640" y="1947672"/>
            <a:ext cx="4937760" cy="213360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The input is </a:t>
            </a:r>
            <a:r>
              <a:rPr lang="en-US" sz="3200" dirty="0">
                <a:solidFill>
                  <a:srgbClr val="2F80ED"/>
                </a:solidFill>
                <a:latin typeface="Consolas"/>
                <a:ea typeface="Consolas"/>
                <a:cs typeface="Consolas"/>
              </a:rPr>
              <a:t>1 2 3 4 5</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Where must the second loop start?</a:t>
            </a:r>
            <a:endParaRPr lang="en-US" sz="3200" dirty="0"/>
          </a:p>
          <a:p>
            <a:pPr marL="0" indent="0" algn="l">
              <a:spcAft>
                <a:spcPts val="600"/>
              </a:spcAft>
              <a:buNone/>
            </a:pPr>
            <a:r>
              <a:rPr lang="en-US" sz="3200" dirty="0">
                <a:solidFill>
                  <a:srgbClr val="18324A"/>
                </a:solidFill>
              </a:rPr>
              <a:t>Where must it stop?</a:t>
            </a:r>
            <a:endParaRPr lang="en-US" sz="3200" dirty="0"/>
          </a:p>
        </p:txBody>
      </p:sp>
      <p:sp>
        <p:nvSpPr>
          <p:cNvPr id="8" name="Shape 8"/>
          <p:cNvSpPr/>
          <p:nvPr/>
        </p:nvSpPr>
        <p:spPr>
          <a:xfrm>
            <a:off x="5760720" y="1261872"/>
            <a:ext cx="5882335" cy="490601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E5E7EB"/>
                </a:solidFill>
                <a:latin typeface="Consolas"/>
                <a:ea typeface="Consolas"/>
                <a:cs typeface="Consolas"/>
              </a:rPr>
              <a:t>int a[5];</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printf("Enter 5 numbers: ");</a:t>
            </a:r>
            <a:endParaRPr lang="en-US" sz="2200" dirty="0"/>
          </a:p>
          <a:p>
            <a:pPr marL="0" indent="0" algn="l">
              <a:lnSpc>
                <a:spcPts val="2750"/>
              </a:lnSpc>
              <a:buNone/>
            </a:pPr>
            <a:r>
              <a:rPr lang="en-US" sz="2200" dirty="0">
                <a:solidFill>
                  <a:srgbClr val="E5E7EB"/>
                </a:solidFill>
                <a:latin typeface="Consolas"/>
                <a:ea typeface="Consolas"/>
                <a:cs typeface="Consolas"/>
              </a:rPr>
              <a:t>for (int i = 0; i &lt; 5; i++) {</a:t>
            </a:r>
            <a:endParaRPr lang="en-US" sz="2200" dirty="0"/>
          </a:p>
          <a:p>
            <a:pPr marL="0" indent="0" algn="l">
              <a:lnSpc>
                <a:spcPts val="2750"/>
              </a:lnSpc>
              <a:buNone/>
            </a:pPr>
            <a:r>
              <a:rPr lang="en-US" sz="2200" dirty="0">
                <a:solidFill>
                  <a:srgbClr val="E5E7EB"/>
                </a:solidFill>
                <a:latin typeface="Consolas"/>
                <a:ea typeface="Consolas"/>
                <a:cs typeface="Consolas"/>
              </a:rPr>
              <a:t>    scanf("%d", &amp;a[i]);</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a:p>
            <a:pPr marL="0" indent="0" algn="l">
              <a:lnSpc>
                <a:spcPts val="2750"/>
              </a:lnSpc>
              <a:buNone/>
            </a:pPr>
            <a:r>
              <a:rPr lang="en-US" sz="2200" dirty="0">
                <a:solidFill>
                  <a:srgbClr val="E5E7EB"/>
                </a:solidFill>
                <a:latin typeface="Consolas"/>
                <a:ea typeface="Consolas"/>
                <a:cs typeface="Consolas"/>
              </a:rPr>
              <a:t> </a:t>
            </a:r>
            <a:endParaRPr lang="en-US" sz="2200" dirty="0"/>
          </a:p>
          <a:p>
            <a:pPr marL="0" indent="0" algn="l">
              <a:lnSpc>
                <a:spcPts val="2750"/>
              </a:lnSpc>
              <a:buNone/>
            </a:pPr>
            <a:r>
              <a:rPr lang="en-US" sz="2200" dirty="0">
                <a:solidFill>
                  <a:srgbClr val="E5E7EB"/>
                </a:solidFill>
                <a:latin typeface="Consolas"/>
                <a:ea typeface="Consolas"/>
                <a:cs typeface="Consolas"/>
              </a:rPr>
              <a:t>printf("Backwards:");</a:t>
            </a:r>
            <a:endParaRPr lang="en-US" sz="2200" dirty="0"/>
          </a:p>
          <a:p>
            <a:pPr marL="0" indent="0" algn="l">
              <a:lnSpc>
                <a:spcPts val="2750"/>
              </a:lnSpc>
              <a:buNone/>
            </a:pPr>
            <a:r>
              <a:rPr lang="en-US" sz="2200" dirty="0">
                <a:solidFill>
                  <a:srgbClr val="E5E7EB"/>
                </a:solidFill>
                <a:latin typeface="Consolas"/>
                <a:ea typeface="Consolas"/>
                <a:cs typeface="Consolas"/>
              </a:rPr>
              <a:t>for (int i = 4; i &gt;= 0; i--) {</a:t>
            </a:r>
            <a:endParaRPr lang="en-US" sz="2200" dirty="0"/>
          </a:p>
          <a:p>
            <a:pPr marL="0" indent="0" algn="l">
              <a:lnSpc>
                <a:spcPts val="2750"/>
              </a:lnSpc>
              <a:buNone/>
            </a:pPr>
            <a:r>
              <a:rPr lang="en-US" sz="2200" dirty="0">
                <a:solidFill>
                  <a:srgbClr val="E5E7EB"/>
                </a:solidFill>
                <a:latin typeface="Consolas"/>
                <a:ea typeface="Consolas"/>
                <a:cs typeface="Consolas"/>
              </a:rPr>
              <a:t>    printf(" %d", a[i]);</a:t>
            </a:r>
            <a:endParaRPr lang="en-US" sz="2200" dirty="0"/>
          </a:p>
          <a:p>
            <a:pPr marL="0" indent="0" algn="l">
              <a:lnSpc>
                <a:spcPts val="2750"/>
              </a:lnSpc>
              <a:buNone/>
            </a:pPr>
            <a:r>
              <a:rPr lang="en-US" sz="2200" dirty="0">
                <a:solidFill>
                  <a:srgbClr val="E5E7EB"/>
                </a:solidFill>
                <a:latin typeface="Consolas"/>
                <a:ea typeface="Consolas"/>
                <a:cs typeface="Consolas"/>
              </a:rPr>
              <a:t>}</a:t>
            </a:r>
            <a:endParaRPr lang="en-US" sz="2200" dirty="0"/>
          </a:p>
          <a:p>
            <a:pPr marL="0" indent="0" algn="l">
              <a:lnSpc>
                <a:spcPts val="2750"/>
              </a:lnSpc>
              <a:buNone/>
            </a:pPr>
            <a:r>
              <a:rPr lang="en-US" sz="2200" dirty="0">
                <a:solidFill>
                  <a:srgbClr val="E5E7EB"/>
                </a:solidFill>
                <a:latin typeface="Consolas"/>
                <a:ea typeface="Consolas"/>
                <a:cs typeface="Consolas"/>
              </a:rPr>
              <a:t>printf("\n");</a:t>
            </a:r>
            <a:endParaRPr lang="en-US" sz="2200" dirty="0"/>
          </a:p>
          <a:p>
            <a:pPr marL="0" indent="0" algn="l">
              <a:lnSpc>
                <a:spcPts val="2750"/>
              </a:lnSpc>
              <a:buNone/>
            </a:pPr>
            <a:r>
              <a:rPr lang="en-US" sz="2200" dirty="0">
                <a:solidFill>
                  <a:srgbClr val="E5E7EB"/>
                </a:solidFill>
                <a:latin typeface="Consolas"/>
                <a:ea typeface="Consolas"/>
                <a:cs typeface="Consolas"/>
              </a:rPr>
              <a:t>return 0;</a:t>
            </a:r>
            <a:endParaRPr lang="en-US" sz="2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Print it backwards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54</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427367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4273677"/>
            <a:ext cx="82296" cy="3492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a[5];</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printf("Enter 5 numbers: ");</a:t>
            </a:r>
            <a:endParaRPr lang="en-US" sz="2200" dirty="0"/>
          </a:p>
          <a:p>
            <a:pPr marL="0" indent="0" algn="l">
              <a:lnSpc>
                <a:spcPts val="2750"/>
              </a:lnSpc>
              <a:buNone/>
            </a:pPr>
            <a:r>
              <a:rPr lang="en-US" sz="2200" dirty="0">
                <a:solidFill>
                  <a:srgbClr val="64748B"/>
                </a:solidFill>
                <a:latin typeface="Consolas"/>
                <a:ea typeface="Consolas"/>
                <a:cs typeface="Consolas"/>
              </a:rPr>
              <a:t>for (int i = 0; i &lt; 5; i++) {</a:t>
            </a:r>
            <a:endParaRPr lang="en-US" sz="2200" dirty="0"/>
          </a:p>
          <a:p>
            <a:pPr marL="0" indent="0" algn="l">
              <a:lnSpc>
                <a:spcPts val="2750"/>
              </a:lnSpc>
              <a:buNone/>
            </a:pPr>
            <a:r>
              <a:rPr lang="en-US" sz="2200" dirty="0">
                <a:solidFill>
                  <a:srgbClr val="64748B"/>
                </a:solidFill>
                <a:latin typeface="Consolas"/>
                <a:ea typeface="Consolas"/>
                <a:cs typeface="Consolas"/>
              </a:rPr>
              <a:t>    scanf("%d", &amp;a[i]);</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printf("Backwards:");</a:t>
            </a:r>
            <a:endParaRPr lang="en-US" sz="2200" dirty="0"/>
          </a:p>
          <a:p>
            <a:pPr marL="0" indent="0" algn="l">
              <a:lnSpc>
                <a:spcPts val="2750"/>
              </a:lnSpc>
              <a:buNone/>
            </a:pPr>
            <a:r>
              <a:rPr lang="en-US" sz="2200" dirty="0">
                <a:solidFill>
                  <a:srgbClr val="FFFFFF"/>
                </a:solidFill>
                <a:latin typeface="Consolas"/>
                <a:ea typeface="Consolas"/>
                <a:cs typeface="Consolas"/>
              </a:rPr>
              <a:t>for (int i = 4; i &gt;= 0; i--) {</a:t>
            </a:r>
            <a:endParaRPr lang="en-US" sz="2200" dirty="0"/>
          </a:p>
          <a:p>
            <a:pPr marL="0" indent="0" algn="l">
              <a:lnSpc>
                <a:spcPts val="2750"/>
              </a:lnSpc>
              <a:buNone/>
            </a:pPr>
            <a:r>
              <a:rPr lang="en-US" sz="2200" dirty="0">
                <a:solidFill>
                  <a:srgbClr val="64748B"/>
                </a:solidFill>
                <a:latin typeface="Consolas"/>
                <a:ea typeface="Consolas"/>
                <a:cs typeface="Consolas"/>
              </a:rPr>
              <a:t>    printf(" %d", a[i]);</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a:p>
            <a:pPr marL="0" indent="0" algn="l">
              <a:lnSpc>
                <a:spcPts val="2750"/>
              </a:lnSpc>
              <a:buNone/>
            </a:pPr>
            <a:r>
              <a:rPr lang="en-US" sz="2200" dirty="0">
                <a:solidFill>
                  <a:srgbClr val="64748B"/>
                </a:solidFill>
                <a:latin typeface="Consolas"/>
                <a:ea typeface="Consolas"/>
                <a:cs typeface="Consolas"/>
              </a:rPr>
              <a:t>printf("\n");</a:t>
            </a:r>
            <a:endParaRPr lang="en-US" sz="2200" dirty="0"/>
          </a:p>
          <a:p>
            <a:pPr marL="0" indent="0" algn="l">
              <a:lnSpc>
                <a:spcPts val="2750"/>
              </a:lnSpc>
              <a:buNone/>
            </a:pPr>
            <a:r>
              <a:rPr lang="en-US" sz="2200" dirty="0">
                <a:solidFill>
                  <a:srgbClr val="64748B"/>
                </a:solidFill>
                <a:latin typeface="Consolas"/>
                <a:ea typeface="Consolas"/>
                <a:cs typeface="Consolas"/>
              </a:rPr>
              <a:t>return 0;</a:t>
            </a:r>
            <a:endParaRPr lang="en-US" sz="2200" dirty="0"/>
          </a:p>
        </p:txBody>
      </p:sp>
      <p:sp>
        <p:nvSpPr>
          <p:cNvPr id="10" name="Shape 1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7589520" y="1645920"/>
            <a:ext cx="4053535" cy="1000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589520" y="1645920"/>
            <a:ext cx="4053535" cy="1000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D1FAE5"/>
                </a:solidFill>
                <a:latin typeface="Consolas"/>
                <a:ea typeface="Consolas"/>
                <a:cs typeface="Consolas"/>
              </a:rPr>
              <a:t>Enter 5 numbers: 1 2 3 4 5</a:t>
            </a:r>
            <a:endParaRPr lang="en-US" sz="2000" dirty="0"/>
          </a:p>
          <a:p>
            <a:pPr marL="0" indent="0" algn="l">
              <a:lnSpc>
                <a:spcPts val="2500"/>
              </a:lnSpc>
              <a:buNone/>
            </a:pPr>
            <a:r>
              <a:rPr lang="en-US" sz="2000" dirty="0">
                <a:solidFill>
                  <a:srgbClr val="D1FAE5"/>
                </a:solidFill>
                <a:latin typeface="Consolas"/>
                <a:ea typeface="Consolas"/>
                <a:cs typeface="Consolas"/>
              </a:rPr>
              <a:t>Backwards: 5 4 3 2 1</a:t>
            </a:r>
            <a:endParaRPr lang="en-US" sz="2000" dirty="0"/>
          </a:p>
        </p:txBody>
      </p:sp>
      <p:sp>
        <p:nvSpPr>
          <p:cNvPr id="13" name="Shape 13"/>
          <p:cNvSpPr/>
          <p:nvPr/>
        </p:nvSpPr>
        <p:spPr>
          <a:xfrm>
            <a:off x="7589520" y="29210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7589520" y="2921000"/>
            <a:ext cx="109728" cy="105156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7699248" y="2921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Start at the </a:t>
            </a:r>
            <a:r>
              <a:rPr lang="en-US" sz="2400" b="1" dirty="0">
                <a:solidFill>
                  <a:srgbClr val="18324A"/>
                </a:solidFill>
              </a:rPr>
              <a:t>last</a:t>
            </a:r>
            <a:r>
              <a:rPr lang="en-US" sz="2400" dirty="0">
                <a:solidFill>
                  <a:srgbClr val="18324A"/>
                </a:solidFill>
              </a:rPr>
              <a:t> index: 4.</a:t>
            </a:r>
            <a:endParaRPr lang="en-US" sz="2400" dirty="0"/>
          </a:p>
        </p:txBody>
      </p:sp>
      <p:sp>
        <p:nvSpPr>
          <p:cNvPr id="16" name="Shape 16"/>
          <p:cNvSpPr/>
          <p:nvPr/>
        </p:nvSpPr>
        <p:spPr>
          <a:xfrm>
            <a:off x="7589520" y="4173728"/>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7" name="Shape 17"/>
          <p:cNvSpPr/>
          <p:nvPr/>
        </p:nvSpPr>
        <p:spPr>
          <a:xfrm>
            <a:off x="7589520" y="4173728"/>
            <a:ext cx="109728" cy="1051560"/>
          </a:xfrm>
          <a:prstGeom prst="rect">
            <a:avLst/>
          </a:prstGeom>
          <a:solidFill>
            <a:srgbClr val="31C48D"/>
          </a:solidFill>
          <a:ln>
            <a:noFill/>
          </a:ln>
        </p:spPr>
        <p:txBody>
          <a:bodyPr wrap="square" lIns="0" tIns="0" rIns="0" bIns="0" rtlCol="0" anchor="t"/>
          <a:lstStyle/>
          <a:p>
            <a:endParaRPr lang="en-US"/>
          </a:p>
        </p:txBody>
      </p:sp>
      <p:sp>
        <p:nvSpPr>
          <p:cNvPr id="18" name="Callout"/>
          <p:cNvSpPr/>
          <p:nvPr/>
        </p:nvSpPr>
        <p:spPr>
          <a:xfrm>
            <a:off x="7699248" y="4173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Go down, </a:t>
            </a:r>
            <a:r>
              <a:rPr lang="en-US" sz="2400" dirty="0">
                <a:solidFill>
                  <a:srgbClr val="18324A"/>
                </a:solidFill>
                <a:latin typeface="Consolas"/>
                <a:ea typeface="Consolas"/>
                <a:cs typeface="Consolas"/>
              </a:rPr>
              <a:t>i--</a:t>
            </a:r>
            <a:r>
              <a:rPr lang="en-US" sz="2400" dirty="0">
                <a:solidFill>
                  <a:srgbClr val="18324A"/>
                </a:solidFill>
              </a:rPr>
              <a:t>, while </a:t>
            </a:r>
            <a:r>
              <a:rPr lang="en-US" sz="2400" dirty="0">
                <a:solidFill>
                  <a:srgbClr val="18324A"/>
                </a:solidFill>
                <a:latin typeface="Consolas"/>
                <a:ea typeface="Consolas"/>
                <a:cs typeface="Consolas"/>
              </a:rPr>
              <a:t>i &gt;= 0</a:t>
            </a:r>
            <a:r>
              <a:rPr lang="en-US" sz="2400" dirty="0">
                <a:solidFill>
                  <a:srgbClr val="18324A"/>
                </a:solidFill>
              </a:rPr>
              <a:t>.</a:t>
            </a:r>
            <a:endParaRPr 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Going down, step by step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55</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a:t>
            </a:r>
            <a:r>
              <a:rPr lang="en-US" sz="2400" dirty="0">
                <a:solidFill>
                  <a:srgbClr val="18324A"/>
                </a:solidFill>
              </a:rPr>
              <a:t> starts at 4, the </a:t>
            </a:r>
            <a:r>
              <a:rPr lang="en-US" sz="2400" b="1" dirty="0">
                <a:solidFill>
                  <a:srgbClr val="18324A"/>
                </a:solidFill>
              </a:rPr>
              <a:t>last</a:t>
            </a:r>
            <a:r>
              <a:rPr lang="en-US" sz="2400" dirty="0">
                <a:solidFill>
                  <a:srgbClr val="18324A"/>
                </a:solidFill>
              </a:rPr>
              <a:t> index, and goes down by one.</a:t>
            </a:r>
            <a:endParaRPr lang="en-US" sz="2400" dirty="0"/>
          </a:p>
        </p:txBody>
      </p:sp>
      <p:sp>
        <p:nvSpPr>
          <p:cNvPr id="9" name="Shape 9"/>
          <p:cNvSpPr/>
          <p:nvPr/>
        </p:nvSpPr>
        <p:spPr>
          <a:xfrm>
            <a:off x="548640" y="1261872"/>
            <a:ext cx="5303520" cy="1762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178177"/>
            <a:ext cx="530352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178177"/>
            <a:ext cx="82296" cy="3492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303520" cy="17627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printf("Backwards:");</a:t>
            </a:r>
            <a:endParaRPr lang="en-US" sz="2200" dirty="0"/>
          </a:p>
          <a:p>
            <a:pPr marL="0" indent="0" algn="l">
              <a:lnSpc>
                <a:spcPts val="2750"/>
              </a:lnSpc>
              <a:buNone/>
            </a:pPr>
            <a:r>
              <a:rPr lang="en-US" sz="2200" dirty="0">
                <a:solidFill>
                  <a:srgbClr val="64748B"/>
                </a:solidFill>
                <a:latin typeface="Consolas"/>
                <a:ea typeface="Consolas"/>
                <a:cs typeface="Consolas"/>
              </a:rPr>
              <a:t>for (int i = 4; i &gt;= 0; i--) {</a:t>
            </a:r>
            <a:endParaRPr lang="en-US" sz="2200" dirty="0"/>
          </a:p>
          <a:p>
            <a:pPr marL="0" indent="0" algn="l">
              <a:lnSpc>
                <a:spcPts val="2750"/>
              </a:lnSpc>
              <a:buNone/>
            </a:pPr>
            <a:r>
              <a:rPr lang="en-US" sz="2200" dirty="0">
                <a:solidFill>
                  <a:srgbClr val="FFFFFF"/>
                </a:solidFill>
                <a:latin typeface="Consolas"/>
                <a:ea typeface="Consolas"/>
                <a:cs typeface="Consolas"/>
              </a:rPr>
              <a:t>    printf(" %d", a[i]);</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3" name="Shape 13"/>
          <p:cNvSpPr/>
          <p:nvPr/>
        </p:nvSpPr>
        <p:spPr>
          <a:xfrm>
            <a:off x="6126480" y="1261872"/>
            <a:ext cx="1331587"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458067" y="1261872"/>
            <a:ext cx="2282721"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 &gt;= 0</a:t>
            </a:r>
            <a:r>
              <a:rPr lang="en-US" sz="1800" b="1" dirty="0">
                <a:solidFill>
                  <a:srgbClr val="FFFFFF"/>
                </a:solidFill>
              </a:rPr>
              <a:t>?</a:t>
            </a:r>
            <a:endParaRPr lang="en-US" sz="1800" dirty="0"/>
          </a:p>
        </p:txBody>
      </p:sp>
      <p:sp>
        <p:nvSpPr>
          <p:cNvPr id="15" name="Shape 15"/>
          <p:cNvSpPr/>
          <p:nvPr/>
        </p:nvSpPr>
        <p:spPr>
          <a:xfrm>
            <a:off x="9740788" y="1261872"/>
            <a:ext cx="1902267"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6" name="Shape 16"/>
          <p:cNvSpPr/>
          <p:nvPr/>
        </p:nvSpPr>
        <p:spPr>
          <a:xfrm>
            <a:off x="6126480" y="1845782"/>
            <a:ext cx="1331587"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17" name="Shape 17"/>
          <p:cNvSpPr/>
          <p:nvPr/>
        </p:nvSpPr>
        <p:spPr>
          <a:xfrm>
            <a:off x="7458067" y="1845782"/>
            <a:ext cx="2282721"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18" name="Shape 18"/>
          <p:cNvSpPr/>
          <p:nvPr/>
        </p:nvSpPr>
        <p:spPr>
          <a:xfrm>
            <a:off x="9740788" y="1845782"/>
            <a:ext cx="1902267"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5</a:t>
            </a:r>
            <a:endParaRPr lang="en-US" sz="2400" dirty="0"/>
          </a:p>
        </p:txBody>
      </p:sp>
      <p:sp>
        <p:nvSpPr>
          <p:cNvPr id="19" name="Shape 19"/>
          <p:cNvSpPr/>
          <p:nvPr/>
        </p:nvSpPr>
        <p:spPr>
          <a:xfrm>
            <a:off x="6126480" y="2429691"/>
            <a:ext cx="1331587"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3</a:t>
            </a:r>
            <a:endParaRPr lang="en-US" sz="2400" dirty="0"/>
          </a:p>
        </p:txBody>
      </p:sp>
      <p:sp>
        <p:nvSpPr>
          <p:cNvPr id="20" name="Shape 20"/>
          <p:cNvSpPr/>
          <p:nvPr/>
        </p:nvSpPr>
        <p:spPr>
          <a:xfrm>
            <a:off x="7458067" y="2429691"/>
            <a:ext cx="2282721"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0E9F6E"/>
                </a:solidFill>
              </a:rPr>
              <a:t>true</a:t>
            </a:r>
            <a:endParaRPr lang="en-US" sz="2400" dirty="0"/>
          </a:p>
        </p:txBody>
      </p:sp>
      <p:sp>
        <p:nvSpPr>
          <p:cNvPr id="21" name="Shape 21"/>
          <p:cNvSpPr/>
          <p:nvPr/>
        </p:nvSpPr>
        <p:spPr>
          <a:xfrm>
            <a:off x="9740788" y="2429691"/>
            <a:ext cx="1902267"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latin typeface="Consolas"/>
                <a:ea typeface="Consolas"/>
                <a:cs typeface="Consolas"/>
              </a:rPr>
              <a:t>4</a:t>
            </a:r>
            <a:endParaRPr lang="en-US" sz="2400" dirty="0"/>
          </a:p>
        </p:txBody>
      </p:sp>
      <p:sp>
        <p:nvSpPr>
          <p:cNvPr id="22" name="Shape 22"/>
          <p:cNvSpPr/>
          <p:nvPr/>
        </p:nvSpPr>
        <p:spPr>
          <a:xfrm>
            <a:off x="6126480" y="3013601"/>
            <a:ext cx="1331587"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3" name="Shape 23"/>
          <p:cNvSpPr/>
          <p:nvPr/>
        </p:nvSpPr>
        <p:spPr>
          <a:xfrm>
            <a:off x="7458067" y="3013601"/>
            <a:ext cx="2282721"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4" name="Shape 24"/>
          <p:cNvSpPr/>
          <p:nvPr/>
        </p:nvSpPr>
        <p:spPr>
          <a:xfrm>
            <a:off x="9740788" y="3013601"/>
            <a:ext cx="1902267"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5" name="Shape 25"/>
          <p:cNvSpPr/>
          <p:nvPr/>
        </p:nvSpPr>
        <p:spPr>
          <a:xfrm>
            <a:off x="6126480" y="3597511"/>
            <a:ext cx="1331587"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6" name="Shape 26"/>
          <p:cNvSpPr/>
          <p:nvPr/>
        </p:nvSpPr>
        <p:spPr>
          <a:xfrm>
            <a:off x="7458067" y="3597511"/>
            <a:ext cx="2282721"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7" name="Shape 27"/>
          <p:cNvSpPr/>
          <p:nvPr/>
        </p:nvSpPr>
        <p:spPr>
          <a:xfrm>
            <a:off x="9740788" y="3597511"/>
            <a:ext cx="1902267"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8" name="Shape 28"/>
          <p:cNvSpPr/>
          <p:nvPr/>
        </p:nvSpPr>
        <p:spPr>
          <a:xfrm>
            <a:off x="6126480" y="4181421"/>
            <a:ext cx="1331587"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29" name="Shape 29"/>
          <p:cNvSpPr/>
          <p:nvPr/>
        </p:nvSpPr>
        <p:spPr>
          <a:xfrm>
            <a:off x="7458067" y="4181421"/>
            <a:ext cx="2282721"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0" name="Shape 30"/>
          <p:cNvSpPr/>
          <p:nvPr/>
        </p:nvSpPr>
        <p:spPr>
          <a:xfrm>
            <a:off x="9740788" y="4181421"/>
            <a:ext cx="1902267"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1" name="Shape 31"/>
          <p:cNvSpPr/>
          <p:nvPr/>
        </p:nvSpPr>
        <p:spPr>
          <a:xfrm>
            <a:off x="6126480" y="4765330"/>
            <a:ext cx="1331587"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2" name="Shape 32"/>
          <p:cNvSpPr/>
          <p:nvPr/>
        </p:nvSpPr>
        <p:spPr>
          <a:xfrm>
            <a:off x="7458067" y="4765330"/>
            <a:ext cx="2282721" cy="583910"/>
          </a:xfrm>
          <a:prstGeom prst="rect">
            <a:avLst/>
          </a:prstGeom>
          <a:solidFill>
            <a:srgbClr val="FFFFFF"/>
          </a:solidFill>
          <a:ln w="12700">
            <a:solidFill>
              <a:srgbClr val="D8E0EA"/>
            </a:solidFill>
          </a:ln>
        </p:spPr>
        <p:txBody>
          <a:bodyPr wrap="square" lIns="0" tIns="0" rIns="0" bIns="0" rtlCol="0" anchor="ctr"/>
          <a:lstStyle/>
          <a:p>
            <a:endParaRPr lang="en-US"/>
          </a:p>
        </p:txBody>
      </p:sp>
      <p:sp>
        <p:nvSpPr>
          <p:cNvPr id="33" name="Shape 33"/>
          <p:cNvSpPr/>
          <p:nvPr/>
        </p:nvSpPr>
        <p:spPr>
          <a:xfrm>
            <a:off x="9740788" y="4765330"/>
            <a:ext cx="1902267" cy="583910"/>
          </a:xfrm>
          <a:prstGeom prst="rect">
            <a:avLst/>
          </a:prstGeom>
          <a:solidFill>
            <a:srgbClr val="FFFFFF"/>
          </a:solidFill>
          <a:ln w="12700">
            <a:solidFill>
              <a:srgbClr val="D8E0EA"/>
            </a:solidFill>
          </a:ln>
        </p:spPr>
        <p:txBody>
          <a:bodyPr wrap="square" lIns="0" tIns="0" rIns="0" bIns="0" rtlCol="0" anchor="ctr"/>
          <a:lstStyle/>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Going down, step by step</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56</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31C48D"/>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a:t>
            </a:r>
            <a:r>
              <a:rPr lang="en-US" sz="2400" dirty="0">
                <a:solidFill>
                  <a:srgbClr val="18324A"/>
                </a:solidFill>
              </a:rPr>
              <a:t> reaches -1 and the loop stops. Box 0 was printed: </a:t>
            </a:r>
            <a:r>
              <a:rPr lang="en-US" sz="2400" dirty="0">
                <a:solidFill>
                  <a:srgbClr val="18324A"/>
                </a:solidFill>
                <a:latin typeface="Consolas"/>
                <a:ea typeface="Consolas"/>
                <a:cs typeface="Consolas"/>
              </a:rPr>
              <a:t>&gt;=</a:t>
            </a:r>
            <a:r>
              <a:rPr lang="en-US" sz="2400" dirty="0">
                <a:solidFill>
                  <a:srgbClr val="18324A"/>
                </a:solidFill>
              </a:rPr>
              <a:t> and not </a:t>
            </a:r>
            <a:r>
              <a:rPr lang="en-US" sz="2400" dirty="0">
                <a:solidFill>
                  <a:srgbClr val="18324A"/>
                </a:solidFill>
                <a:latin typeface="Consolas"/>
                <a:ea typeface="Consolas"/>
                <a:cs typeface="Consolas"/>
              </a:rPr>
              <a:t>&gt;</a:t>
            </a:r>
            <a:r>
              <a:rPr lang="en-US" sz="2400" dirty="0">
                <a:solidFill>
                  <a:srgbClr val="18324A"/>
                </a:solidFill>
              </a:rPr>
              <a:t>.</a:t>
            </a:r>
            <a:endParaRPr lang="en-US" sz="2400" dirty="0"/>
          </a:p>
        </p:txBody>
      </p:sp>
      <p:sp>
        <p:nvSpPr>
          <p:cNvPr id="9" name="Shape 9"/>
          <p:cNvSpPr/>
          <p:nvPr/>
        </p:nvSpPr>
        <p:spPr>
          <a:xfrm>
            <a:off x="548640" y="1261872"/>
            <a:ext cx="5303520" cy="1762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1828927"/>
            <a:ext cx="5303520" cy="34925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1828927"/>
            <a:ext cx="82296" cy="34925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5303520" cy="176276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printf("Backwards:");</a:t>
            </a:r>
            <a:endParaRPr lang="en-US" sz="2200" dirty="0"/>
          </a:p>
          <a:p>
            <a:pPr marL="0" indent="0" algn="l">
              <a:lnSpc>
                <a:spcPts val="2750"/>
              </a:lnSpc>
              <a:buNone/>
            </a:pPr>
            <a:r>
              <a:rPr lang="en-US" sz="2200" dirty="0">
                <a:solidFill>
                  <a:srgbClr val="FFFFFF"/>
                </a:solidFill>
                <a:latin typeface="Consolas"/>
                <a:ea typeface="Consolas"/>
                <a:cs typeface="Consolas"/>
              </a:rPr>
              <a:t>for (int i = 4; i &gt;= 0; i--) {</a:t>
            </a:r>
            <a:endParaRPr lang="en-US" sz="2200" dirty="0"/>
          </a:p>
          <a:p>
            <a:pPr marL="0" indent="0" algn="l">
              <a:lnSpc>
                <a:spcPts val="2750"/>
              </a:lnSpc>
              <a:buNone/>
            </a:pPr>
            <a:r>
              <a:rPr lang="en-US" sz="2200" dirty="0">
                <a:solidFill>
                  <a:srgbClr val="64748B"/>
                </a:solidFill>
                <a:latin typeface="Consolas"/>
                <a:ea typeface="Consolas"/>
                <a:cs typeface="Consolas"/>
              </a:rPr>
              <a:t>    printf(" %d", a[i]);</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3" name="Shape 13"/>
          <p:cNvSpPr/>
          <p:nvPr/>
        </p:nvSpPr>
        <p:spPr>
          <a:xfrm>
            <a:off x="6126480" y="1261872"/>
            <a:ext cx="1331587"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a:t>
            </a:r>
            <a:endParaRPr lang="en-US" sz="1800" dirty="0"/>
          </a:p>
        </p:txBody>
      </p:sp>
      <p:sp>
        <p:nvSpPr>
          <p:cNvPr id="14" name="Shape 14"/>
          <p:cNvSpPr/>
          <p:nvPr/>
        </p:nvSpPr>
        <p:spPr>
          <a:xfrm>
            <a:off x="7458067" y="1261872"/>
            <a:ext cx="2282721"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latin typeface="Consolas"/>
                <a:ea typeface="Consolas"/>
                <a:cs typeface="Consolas"/>
              </a:rPr>
              <a:t>i &gt;= 0</a:t>
            </a:r>
            <a:r>
              <a:rPr lang="en-US" sz="1800" b="1" dirty="0">
                <a:solidFill>
                  <a:srgbClr val="FFFFFF"/>
                </a:solidFill>
              </a:rPr>
              <a:t>?</a:t>
            </a:r>
            <a:endParaRPr lang="en-US" sz="1800" dirty="0"/>
          </a:p>
        </p:txBody>
      </p:sp>
      <p:sp>
        <p:nvSpPr>
          <p:cNvPr id="15" name="Shape 15"/>
          <p:cNvSpPr/>
          <p:nvPr/>
        </p:nvSpPr>
        <p:spPr>
          <a:xfrm>
            <a:off x="9740788" y="1261872"/>
            <a:ext cx="1902267" cy="583910"/>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prints</a:t>
            </a:r>
            <a:endParaRPr lang="en-US" sz="1800" dirty="0"/>
          </a:p>
        </p:txBody>
      </p:sp>
      <p:sp>
        <p:nvSpPr>
          <p:cNvPr id="16" name="Shape 16"/>
          <p:cNvSpPr/>
          <p:nvPr/>
        </p:nvSpPr>
        <p:spPr>
          <a:xfrm>
            <a:off x="6126480" y="1845782"/>
            <a:ext cx="1331587"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4</a:t>
            </a:r>
            <a:endParaRPr lang="en-US" sz="2400" dirty="0"/>
          </a:p>
        </p:txBody>
      </p:sp>
      <p:sp>
        <p:nvSpPr>
          <p:cNvPr id="17" name="Shape 17"/>
          <p:cNvSpPr/>
          <p:nvPr/>
        </p:nvSpPr>
        <p:spPr>
          <a:xfrm>
            <a:off x="7458067" y="1845782"/>
            <a:ext cx="2282721"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18" name="Shape 18"/>
          <p:cNvSpPr/>
          <p:nvPr/>
        </p:nvSpPr>
        <p:spPr>
          <a:xfrm>
            <a:off x="9740788" y="1845782"/>
            <a:ext cx="1902267"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5</a:t>
            </a:r>
            <a:endParaRPr lang="en-US" sz="2400" dirty="0"/>
          </a:p>
        </p:txBody>
      </p:sp>
      <p:sp>
        <p:nvSpPr>
          <p:cNvPr id="19" name="Shape 19"/>
          <p:cNvSpPr/>
          <p:nvPr/>
        </p:nvSpPr>
        <p:spPr>
          <a:xfrm>
            <a:off x="6126480" y="2429691"/>
            <a:ext cx="1331587"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3</a:t>
            </a:r>
            <a:endParaRPr lang="en-US" sz="2400" dirty="0"/>
          </a:p>
        </p:txBody>
      </p:sp>
      <p:sp>
        <p:nvSpPr>
          <p:cNvPr id="20" name="Shape 20"/>
          <p:cNvSpPr/>
          <p:nvPr/>
        </p:nvSpPr>
        <p:spPr>
          <a:xfrm>
            <a:off x="7458067" y="2429691"/>
            <a:ext cx="2282721"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1" name="Shape 21"/>
          <p:cNvSpPr/>
          <p:nvPr/>
        </p:nvSpPr>
        <p:spPr>
          <a:xfrm>
            <a:off x="9740788" y="2429691"/>
            <a:ext cx="1902267"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4</a:t>
            </a:r>
            <a:endParaRPr lang="en-US" sz="2400" dirty="0"/>
          </a:p>
        </p:txBody>
      </p:sp>
      <p:sp>
        <p:nvSpPr>
          <p:cNvPr id="22" name="Shape 22"/>
          <p:cNvSpPr/>
          <p:nvPr/>
        </p:nvSpPr>
        <p:spPr>
          <a:xfrm>
            <a:off x="6126480" y="3013601"/>
            <a:ext cx="1331587"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2</a:t>
            </a:r>
            <a:endParaRPr lang="en-US" sz="2400" dirty="0"/>
          </a:p>
        </p:txBody>
      </p:sp>
      <p:sp>
        <p:nvSpPr>
          <p:cNvPr id="23" name="Shape 23"/>
          <p:cNvSpPr/>
          <p:nvPr/>
        </p:nvSpPr>
        <p:spPr>
          <a:xfrm>
            <a:off x="7458067" y="3013601"/>
            <a:ext cx="2282721"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4" name="Shape 24"/>
          <p:cNvSpPr/>
          <p:nvPr/>
        </p:nvSpPr>
        <p:spPr>
          <a:xfrm>
            <a:off x="9740788" y="3013601"/>
            <a:ext cx="1902267"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3</a:t>
            </a:r>
            <a:endParaRPr lang="en-US" sz="2400" dirty="0"/>
          </a:p>
        </p:txBody>
      </p:sp>
      <p:sp>
        <p:nvSpPr>
          <p:cNvPr id="25" name="Shape 25"/>
          <p:cNvSpPr/>
          <p:nvPr/>
        </p:nvSpPr>
        <p:spPr>
          <a:xfrm>
            <a:off x="6126480" y="3597511"/>
            <a:ext cx="1331587"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1</a:t>
            </a:r>
            <a:endParaRPr lang="en-US" sz="2400" dirty="0"/>
          </a:p>
        </p:txBody>
      </p:sp>
      <p:sp>
        <p:nvSpPr>
          <p:cNvPr id="26" name="Shape 26"/>
          <p:cNvSpPr/>
          <p:nvPr/>
        </p:nvSpPr>
        <p:spPr>
          <a:xfrm>
            <a:off x="7458067" y="3597511"/>
            <a:ext cx="2282721"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27" name="Shape 27"/>
          <p:cNvSpPr/>
          <p:nvPr/>
        </p:nvSpPr>
        <p:spPr>
          <a:xfrm>
            <a:off x="9740788" y="3597511"/>
            <a:ext cx="1902267" cy="583910"/>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2</a:t>
            </a:r>
            <a:endParaRPr lang="en-US" sz="2400" dirty="0"/>
          </a:p>
        </p:txBody>
      </p:sp>
      <p:sp>
        <p:nvSpPr>
          <p:cNvPr id="28" name="Shape 28"/>
          <p:cNvSpPr/>
          <p:nvPr/>
        </p:nvSpPr>
        <p:spPr>
          <a:xfrm>
            <a:off x="6126480" y="4181421"/>
            <a:ext cx="1331587"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0</a:t>
            </a:r>
            <a:endParaRPr lang="en-US" sz="2400" dirty="0"/>
          </a:p>
        </p:txBody>
      </p:sp>
      <p:sp>
        <p:nvSpPr>
          <p:cNvPr id="29" name="Shape 29"/>
          <p:cNvSpPr/>
          <p:nvPr/>
        </p:nvSpPr>
        <p:spPr>
          <a:xfrm>
            <a:off x="7458067" y="4181421"/>
            <a:ext cx="2282721"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0E9F6E"/>
                </a:solidFill>
              </a:rPr>
              <a:t>true</a:t>
            </a:r>
            <a:endParaRPr lang="en-US" sz="2400" dirty="0"/>
          </a:p>
        </p:txBody>
      </p:sp>
      <p:sp>
        <p:nvSpPr>
          <p:cNvPr id="30" name="Shape 30"/>
          <p:cNvSpPr/>
          <p:nvPr/>
        </p:nvSpPr>
        <p:spPr>
          <a:xfrm>
            <a:off x="9740788" y="4181421"/>
            <a:ext cx="1902267" cy="583910"/>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1</a:t>
            </a:r>
            <a:endParaRPr lang="en-US" sz="2400" dirty="0"/>
          </a:p>
        </p:txBody>
      </p:sp>
      <p:sp>
        <p:nvSpPr>
          <p:cNvPr id="31" name="Shape 31"/>
          <p:cNvSpPr/>
          <p:nvPr/>
        </p:nvSpPr>
        <p:spPr>
          <a:xfrm>
            <a:off x="6126480" y="4765330"/>
            <a:ext cx="1331587"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-1</a:t>
            </a:r>
            <a:endParaRPr lang="en-US" sz="2400" dirty="0"/>
          </a:p>
        </p:txBody>
      </p:sp>
      <p:sp>
        <p:nvSpPr>
          <p:cNvPr id="32" name="Shape 32"/>
          <p:cNvSpPr/>
          <p:nvPr/>
        </p:nvSpPr>
        <p:spPr>
          <a:xfrm>
            <a:off x="7458067" y="4765330"/>
            <a:ext cx="2282721"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E02424"/>
                </a:solidFill>
              </a:rPr>
              <a:t>false</a:t>
            </a:r>
            <a:endParaRPr lang="en-US" sz="2400" dirty="0"/>
          </a:p>
        </p:txBody>
      </p:sp>
      <p:sp>
        <p:nvSpPr>
          <p:cNvPr id="33" name="Shape 33"/>
          <p:cNvSpPr/>
          <p:nvPr/>
        </p:nvSpPr>
        <p:spPr>
          <a:xfrm>
            <a:off x="9740788" y="4765330"/>
            <a:ext cx="1902267" cy="583910"/>
          </a:xfrm>
          <a:prstGeom prst="rect">
            <a:avLst/>
          </a:prstGeom>
          <a:solidFill>
            <a:srgbClr val="FEF3C7"/>
          </a:solidFill>
          <a:ln w="12700">
            <a:solidFill>
              <a:srgbClr val="D8E0EA"/>
            </a:solidFill>
          </a:ln>
        </p:spPr>
        <p:txBody>
          <a:bodyPr wrap="square" lIns="0" tIns="0" rIns="0" bIns="0" rtlCol="0" anchor="ctr"/>
          <a:lstStyle/>
          <a:p>
            <a:pPr marL="0" indent="0" algn="ctr">
              <a:buNone/>
            </a:pPr>
            <a:r>
              <a:rPr lang="en-US" sz="2400" b="1" dirty="0">
                <a:solidFill>
                  <a:srgbClr val="18324A"/>
                </a:solidFill>
              </a:rPr>
              <a:t>stop</a:t>
            </a:r>
            <a:endParaRPr lang="en-US" sz="2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The size in one place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57</a:t>
            </a:r>
            <a:endParaRPr lang="en-US" sz="1400" dirty="0"/>
          </a:p>
        </p:txBody>
      </p:sp>
      <p:sp>
        <p:nvSpPr>
          <p:cNvPr id="6" name="Shape 6"/>
          <p:cNvSpPr/>
          <p:nvPr/>
        </p:nvSpPr>
        <p:spPr>
          <a:xfrm>
            <a:off x="548640" y="1399032"/>
            <a:ext cx="109728" cy="1402080"/>
          </a:xfrm>
          <a:prstGeom prst="rect">
            <a:avLst/>
          </a:prstGeom>
          <a:solidFill>
            <a:srgbClr val="8B5CF6"/>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The number 5 is in three places. Change one, forget another: a bug.</a:t>
            </a:r>
            <a:endParaRPr lang="en-US" sz="4000" dirty="0"/>
          </a:p>
        </p:txBody>
      </p:sp>
      <p:sp>
        <p:nvSpPr>
          <p:cNvPr id="8" name="Shape 8"/>
          <p:cNvSpPr/>
          <p:nvPr/>
        </p:nvSpPr>
        <p:spPr>
          <a:xfrm>
            <a:off x="914400" y="32125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2F80ED"/>
                </a:solidFill>
                <a:latin typeface="Consolas"/>
                <a:ea typeface="Consolas"/>
                <a:cs typeface="Consolas"/>
              </a:rPr>
              <a:t>#define N 5</a:t>
            </a:r>
            <a:r>
              <a:rPr lang="en-US" sz="3000" dirty="0">
                <a:solidFill>
                  <a:srgbClr val="18324A"/>
                </a:solidFill>
              </a:rPr>
              <a:t> at the top, after </a:t>
            </a:r>
            <a:r>
              <a:rPr lang="en-US" sz="3000" dirty="0">
                <a:solidFill>
                  <a:srgbClr val="2F80ED"/>
                </a:solidFill>
                <a:latin typeface="Consolas"/>
                <a:ea typeface="Consolas"/>
                <a:cs typeface="Consolas"/>
              </a:rPr>
              <a:t>#include</a:t>
            </a:r>
            <a:r>
              <a:rPr lang="en-US" sz="3000" dirty="0">
                <a:solidFill>
                  <a:srgbClr val="18324A"/>
                </a:solidFill>
              </a:rPr>
              <a:t>.</a:t>
            </a:r>
            <a:endParaRPr lang="en-US" sz="3000" dirty="0"/>
          </a:p>
          <a:p>
            <a:pPr marL="0" indent="0" algn="l">
              <a:spcAft>
                <a:spcPts val="1600"/>
              </a:spcAft>
              <a:buNone/>
            </a:pPr>
            <a:r>
              <a:rPr lang="en-US" sz="3000" dirty="0">
                <a:solidFill>
                  <a:srgbClr val="18324A"/>
                </a:solidFill>
              </a:rPr>
              <a:t>Everywhere below, gcc reads </a:t>
            </a:r>
            <a:r>
              <a:rPr lang="en-US" sz="3000" dirty="0">
                <a:solidFill>
                  <a:srgbClr val="2F80ED"/>
                </a:solidFill>
                <a:latin typeface="Consolas"/>
                <a:ea typeface="Consolas"/>
                <a:cs typeface="Consolas"/>
              </a:rPr>
              <a:t>N</a:t>
            </a:r>
            <a:r>
              <a:rPr lang="en-US" sz="3000" dirty="0">
                <a:solidFill>
                  <a:srgbClr val="18324A"/>
                </a:solidFill>
              </a:rPr>
              <a:t> as 5.</a:t>
            </a:r>
            <a:endParaRPr lang="en-US" sz="3000" dirty="0"/>
          </a:p>
          <a:p>
            <a:pPr marL="0" indent="0" algn="l">
              <a:spcAft>
                <a:spcPts val="1600"/>
              </a:spcAft>
              <a:buNone/>
            </a:pPr>
            <a:r>
              <a:rPr lang="en-US" sz="3000" dirty="0">
                <a:solidFill>
                  <a:srgbClr val="18324A"/>
                </a:solidFill>
              </a:rPr>
              <a:t>No </a:t>
            </a:r>
            <a:r>
              <a:rPr lang="en-US" sz="3000" dirty="0">
                <a:solidFill>
                  <a:srgbClr val="2F80ED"/>
                </a:solidFill>
                <a:latin typeface="Consolas"/>
                <a:ea typeface="Consolas"/>
                <a:cs typeface="Consolas"/>
              </a:rPr>
              <a:t>=</a:t>
            </a:r>
            <a:r>
              <a:rPr lang="en-US" sz="3000" dirty="0">
                <a:solidFill>
                  <a:srgbClr val="18324A"/>
                </a:solidFill>
              </a:rPr>
              <a:t> and no </a:t>
            </a:r>
            <a:r>
              <a:rPr lang="en-US" sz="3000" dirty="0">
                <a:solidFill>
                  <a:srgbClr val="2F80ED"/>
                </a:solidFill>
                <a:latin typeface="Consolas"/>
                <a:ea typeface="Consolas"/>
                <a:cs typeface="Consolas"/>
              </a:rPr>
              <a:t>;</a:t>
            </a:r>
            <a:r>
              <a:rPr lang="en-US" sz="3000" dirty="0">
                <a:solidFill>
                  <a:srgbClr val="18324A"/>
                </a:solidFill>
              </a:rPr>
              <a:t> on that line.</a:t>
            </a:r>
            <a:endParaRPr lang="en-US" sz="3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#define N 5</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58</a:t>
            </a:r>
            <a:endParaRPr lang="en-US" sz="1400" dirty="0"/>
          </a:p>
        </p:txBody>
      </p:sp>
      <p:sp>
        <p:nvSpPr>
          <p:cNvPr id="6" name="Shape 6"/>
          <p:cNvSpPr/>
          <p:nvPr/>
        </p:nvSpPr>
        <p:spPr>
          <a:xfrm>
            <a:off x="548640" y="1261872"/>
            <a:ext cx="7132320" cy="4810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1476502"/>
            <a:ext cx="713232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1476502"/>
            <a:ext cx="82296" cy="317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111502"/>
            <a:ext cx="7132320" cy="317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111502"/>
            <a:ext cx="82296" cy="3175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2746502"/>
            <a:ext cx="7132320" cy="3175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2746502"/>
            <a:ext cx="82296" cy="317500"/>
          </a:xfrm>
          <a:prstGeom prst="rect">
            <a:avLst/>
          </a:prstGeom>
          <a:solidFill>
            <a:srgbClr val="F59E0B"/>
          </a:solidFill>
          <a:ln>
            <a:noFill/>
          </a:ln>
        </p:spPr>
        <p:txBody>
          <a:bodyPr wrap="square" lIns="0" tIns="0" rIns="0" bIns="0" rtlCol="0" anchor="t"/>
          <a:lstStyle/>
          <a:p>
            <a:endParaRPr lang="en-US"/>
          </a:p>
        </p:txBody>
      </p:sp>
      <p:sp>
        <p:nvSpPr>
          <p:cNvPr id="13" name="Shape 13"/>
          <p:cNvSpPr/>
          <p:nvPr/>
        </p:nvSpPr>
        <p:spPr>
          <a:xfrm>
            <a:off x="548640" y="4016502"/>
            <a:ext cx="7132320" cy="317500"/>
          </a:xfrm>
          <a:prstGeom prst="rect">
            <a:avLst/>
          </a:prstGeom>
          <a:solidFill>
            <a:srgbClr val="25406B"/>
          </a:solidFill>
          <a:ln>
            <a:noFill/>
          </a:ln>
        </p:spPr>
        <p:txBody>
          <a:bodyPr wrap="square" lIns="0" tIns="0" rIns="0" bIns="0" rtlCol="0" anchor="t"/>
          <a:lstStyle/>
          <a:p>
            <a:endParaRPr lang="en-US"/>
          </a:p>
        </p:txBody>
      </p:sp>
      <p:sp>
        <p:nvSpPr>
          <p:cNvPr id="14" name="Shape 14"/>
          <p:cNvSpPr/>
          <p:nvPr/>
        </p:nvSpPr>
        <p:spPr>
          <a:xfrm>
            <a:off x="548640" y="4016502"/>
            <a:ext cx="82296" cy="317500"/>
          </a:xfrm>
          <a:prstGeom prst="rect">
            <a:avLst/>
          </a:prstGeom>
          <a:solidFill>
            <a:srgbClr val="F59E0B"/>
          </a:solidFill>
          <a:ln>
            <a:noFill/>
          </a:ln>
        </p:spPr>
        <p:txBody>
          <a:bodyPr wrap="square" lIns="0" tIns="0" rIns="0" bIns="0" rtlCol="0" anchor="t"/>
          <a:lstStyle/>
          <a:p>
            <a:endParaRPr lang="en-US"/>
          </a:p>
        </p:txBody>
      </p:sp>
      <p:sp>
        <p:nvSpPr>
          <p:cNvPr id="15" name="Code"/>
          <p:cNvSpPr/>
          <p:nvPr/>
        </p:nvSpPr>
        <p:spPr>
          <a:xfrm>
            <a:off x="548640" y="1261872"/>
            <a:ext cx="7132320" cy="4810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FFFFFF"/>
                </a:solidFill>
                <a:latin typeface="Consolas"/>
                <a:ea typeface="Consolas"/>
                <a:cs typeface="Consolas"/>
              </a:rPr>
              <a:t>#define N 5</a:t>
            </a:r>
            <a:endParaRPr lang="en-US" sz="2000" dirty="0"/>
          </a:p>
          <a:p>
            <a:pPr marL="0" indent="0" algn="l">
              <a:lnSpc>
                <a:spcPts val="2500"/>
              </a:lnSpc>
              <a:buNone/>
            </a:pPr>
            <a:r>
              <a:rPr lang="en-US" sz="2000" dirty="0">
                <a:solidFill>
                  <a:srgbClr val="64748B"/>
                </a:solidFill>
                <a:latin typeface="Consolas"/>
                <a:ea typeface="Consolas"/>
                <a:cs typeface="Consolas"/>
              </a:rPr>
              <a:t>int main(void) {</a:t>
            </a:r>
            <a:endParaRPr lang="en-US" sz="2000" dirty="0"/>
          </a:p>
          <a:p>
            <a:pPr marL="0" indent="0" algn="l">
              <a:lnSpc>
                <a:spcPts val="2500"/>
              </a:lnSpc>
              <a:buNone/>
            </a:pPr>
            <a:r>
              <a:rPr lang="en-US" sz="2000" dirty="0">
                <a:solidFill>
                  <a:srgbClr val="FFFFFF"/>
                </a:solidFill>
                <a:latin typeface="Consolas"/>
                <a:ea typeface="Consolas"/>
                <a:cs typeface="Consolas"/>
              </a:rPr>
              <a:t>    int scores[N];</a:t>
            </a:r>
            <a:endParaRPr lang="en-US" sz="2000" dirty="0"/>
          </a:p>
          <a:p>
            <a:pPr marL="0" indent="0" algn="l">
              <a:lnSpc>
                <a:spcPts val="2500"/>
              </a:lnSpc>
              <a:buNone/>
            </a:pPr>
            <a:r>
              <a:rPr lang="en-US" sz="2000" dirty="0">
                <a:solidFill>
                  <a:srgbClr val="64748B"/>
                </a:solidFill>
                <a:latin typeface="Consolas"/>
                <a:ea typeface="Consolas"/>
                <a:cs typeface="Consolas"/>
              </a:rPr>
              <a:t>    printf("Enter %d scores: ", N);</a:t>
            </a:r>
            <a:endParaRPr lang="en-US" sz="2000" dirty="0"/>
          </a:p>
          <a:p>
            <a:pPr marL="0" indent="0" algn="l">
              <a:lnSpc>
                <a:spcPts val="2500"/>
              </a:lnSpc>
              <a:buNone/>
            </a:pPr>
            <a:r>
              <a:rPr lang="en-US" sz="2000" dirty="0">
                <a:solidFill>
                  <a:srgbClr val="FFFFFF"/>
                </a:solidFill>
                <a:latin typeface="Consolas"/>
                <a:ea typeface="Consolas"/>
                <a:cs typeface="Consolas"/>
              </a:rPr>
              <a:t>    for (int i = 0; i &lt; N; i++) {</a:t>
            </a:r>
            <a:endParaRPr lang="en-US" sz="2000" dirty="0"/>
          </a:p>
          <a:p>
            <a:pPr marL="0" indent="0" algn="l">
              <a:lnSpc>
                <a:spcPts val="2500"/>
              </a:lnSpc>
              <a:buNone/>
            </a:pPr>
            <a:r>
              <a:rPr lang="en-US" sz="2000" dirty="0">
                <a:solidFill>
                  <a:srgbClr val="64748B"/>
                </a:solidFill>
                <a:latin typeface="Consolas"/>
                <a:ea typeface="Consolas"/>
                <a:cs typeface="Consolas"/>
              </a:rPr>
              <a:t>        scanf("%d", &amp;scores[i]);</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    int sum = 0;</a:t>
            </a:r>
            <a:endParaRPr lang="en-US" sz="2000" dirty="0"/>
          </a:p>
          <a:p>
            <a:pPr marL="0" indent="0" algn="l">
              <a:lnSpc>
                <a:spcPts val="2500"/>
              </a:lnSpc>
              <a:buNone/>
            </a:pPr>
            <a:r>
              <a:rPr lang="en-US" sz="2000" dirty="0">
                <a:solidFill>
                  <a:srgbClr val="FFFFFF"/>
                </a:solidFill>
                <a:latin typeface="Consolas"/>
                <a:ea typeface="Consolas"/>
                <a:cs typeface="Consolas"/>
              </a:rPr>
              <a:t>    for (int i = 0; i &lt; N; i++) {</a:t>
            </a:r>
            <a:endParaRPr lang="en-US" sz="2000" dirty="0"/>
          </a:p>
          <a:p>
            <a:pPr marL="0" indent="0" algn="l">
              <a:lnSpc>
                <a:spcPts val="2500"/>
              </a:lnSpc>
              <a:buNone/>
            </a:pPr>
            <a:r>
              <a:rPr lang="en-US" sz="2000" dirty="0">
                <a:solidFill>
                  <a:srgbClr val="64748B"/>
                </a:solidFill>
                <a:latin typeface="Consolas"/>
                <a:ea typeface="Consolas"/>
                <a:cs typeface="Consolas"/>
              </a:rPr>
              <a:t>        sum += scores[i];</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    printf("average: %.1f\n", (double) sum / N);</a:t>
            </a:r>
            <a:endParaRPr lang="en-US" sz="2000" dirty="0"/>
          </a:p>
          <a:p>
            <a:pPr marL="0" indent="0" algn="l">
              <a:lnSpc>
                <a:spcPts val="2500"/>
              </a:lnSpc>
              <a:buNone/>
            </a:pPr>
            <a:r>
              <a:rPr lang="en-US" sz="2000" dirty="0">
                <a:solidFill>
                  <a:srgbClr val="64748B"/>
                </a:solidFill>
                <a:latin typeface="Consolas"/>
                <a:ea typeface="Consolas"/>
                <a:cs typeface="Consolas"/>
              </a:rPr>
              <a:t>    return 0;</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6" name="Shape 16"/>
          <p:cNvSpPr/>
          <p:nvPr/>
        </p:nvSpPr>
        <p:spPr>
          <a:xfrm>
            <a:off x="7955280" y="1261872"/>
            <a:ext cx="368777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7" name="Shape 17"/>
          <p:cNvSpPr/>
          <p:nvPr/>
        </p:nvSpPr>
        <p:spPr>
          <a:xfrm>
            <a:off x="7955280" y="1645920"/>
            <a:ext cx="3687775" cy="937260"/>
          </a:xfrm>
          <a:prstGeom prst="rect">
            <a:avLst/>
          </a:prstGeom>
          <a:solidFill>
            <a:srgbClr val="000000"/>
          </a:solidFill>
          <a:ln>
            <a:noFill/>
          </a:ln>
        </p:spPr>
        <p:txBody>
          <a:bodyPr wrap="square" lIns="0" tIns="0" rIns="0" bIns="0" rtlCol="0" anchor="t"/>
          <a:lstStyle/>
          <a:p>
            <a:endParaRPr lang="en-US"/>
          </a:p>
        </p:txBody>
      </p:sp>
      <p:sp>
        <p:nvSpPr>
          <p:cNvPr id="18" name="Code"/>
          <p:cNvSpPr/>
          <p:nvPr/>
        </p:nvSpPr>
        <p:spPr>
          <a:xfrm>
            <a:off x="7955280" y="1645920"/>
            <a:ext cx="3687775" cy="937260"/>
          </a:xfrm>
          <a:prstGeom prst="rect">
            <a:avLst/>
          </a:prstGeom>
          <a:noFill/>
          <a:ln>
            <a:noFill/>
          </a:ln>
        </p:spPr>
        <p:txBody>
          <a:bodyPr wrap="square" lIns="182880" tIns="182880" rIns="182880" bIns="182880" rtlCol="0" anchor="t"/>
          <a:lstStyle/>
          <a:p>
            <a:pPr marL="0" indent="0" algn="l">
              <a:lnSpc>
                <a:spcPts val="2250"/>
              </a:lnSpc>
              <a:buNone/>
            </a:pPr>
            <a:r>
              <a:rPr lang="en-US" sz="1800" dirty="0">
                <a:solidFill>
                  <a:srgbClr val="D1FAE5"/>
                </a:solidFill>
                <a:latin typeface="Consolas"/>
                <a:ea typeface="Consolas"/>
                <a:cs typeface="Consolas"/>
              </a:rPr>
              <a:t>Enter 5 scores: 7 9 6 10 8</a:t>
            </a:r>
            <a:endParaRPr lang="en-US" sz="1800" dirty="0"/>
          </a:p>
          <a:p>
            <a:pPr marL="0" indent="0" algn="l">
              <a:lnSpc>
                <a:spcPts val="2250"/>
              </a:lnSpc>
              <a:buNone/>
            </a:pPr>
            <a:r>
              <a:rPr lang="en-US" sz="1800" dirty="0">
                <a:solidFill>
                  <a:srgbClr val="D1FAE5"/>
                </a:solidFill>
                <a:latin typeface="Consolas"/>
                <a:ea typeface="Consolas"/>
                <a:cs typeface="Consolas"/>
              </a:rPr>
              <a:t>average: 8.0</a:t>
            </a:r>
            <a:endParaRPr lang="en-US" sz="1800" dirty="0"/>
          </a:p>
        </p:txBody>
      </p:sp>
      <p:sp>
        <p:nvSpPr>
          <p:cNvPr id="19" name="Shape 19"/>
          <p:cNvSpPr/>
          <p:nvPr/>
        </p:nvSpPr>
        <p:spPr>
          <a:xfrm>
            <a:off x="7955280" y="2857500"/>
            <a:ext cx="3687775" cy="141732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20" name="Shape 20"/>
          <p:cNvSpPr/>
          <p:nvPr/>
        </p:nvSpPr>
        <p:spPr>
          <a:xfrm>
            <a:off x="7955280" y="2857500"/>
            <a:ext cx="109728" cy="1417320"/>
          </a:xfrm>
          <a:prstGeom prst="rect">
            <a:avLst/>
          </a:prstGeom>
          <a:solidFill>
            <a:srgbClr val="31C48D"/>
          </a:solidFill>
          <a:ln>
            <a:noFill/>
          </a:ln>
        </p:spPr>
        <p:txBody>
          <a:bodyPr wrap="square" lIns="0" tIns="0" rIns="0" bIns="0" rtlCol="0" anchor="t"/>
          <a:lstStyle/>
          <a:p>
            <a:endParaRPr lang="en-US"/>
          </a:p>
        </p:txBody>
      </p:sp>
      <p:sp>
        <p:nvSpPr>
          <p:cNvPr id="21" name="Callout"/>
          <p:cNvSpPr/>
          <p:nvPr/>
        </p:nvSpPr>
        <p:spPr>
          <a:xfrm>
            <a:off x="8065008" y="2857500"/>
            <a:ext cx="3578047" cy="141732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Change </a:t>
            </a:r>
            <a:r>
              <a:rPr lang="en-US" sz="2400" dirty="0">
                <a:solidFill>
                  <a:srgbClr val="18324A"/>
                </a:solidFill>
                <a:latin typeface="Consolas"/>
                <a:ea typeface="Consolas"/>
                <a:cs typeface="Consolas"/>
              </a:rPr>
              <a:t>N</a:t>
            </a:r>
            <a:r>
              <a:rPr lang="en-US" sz="2400" dirty="0">
                <a:solidFill>
                  <a:srgbClr val="18324A"/>
                </a:solidFill>
              </a:rPr>
              <a:t> once: the whole program follows.</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Why keep every value?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59</a:t>
            </a:r>
            <a:endParaRPr lang="en-US" sz="1400" dirty="0"/>
          </a:p>
        </p:txBody>
      </p:sp>
      <p:sp>
        <p:nvSpPr>
          <p:cNvPr id="6" name="Shape 6"/>
          <p:cNvSpPr/>
          <p:nvPr/>
        </p:nvSpPr>
        <p:spPr>
          <a:xfrm>
            <a:off x="548640" y="1261872"/>
            <a:ext cx="2377440" cy="457200"/>
          </a:xfrm>
          <a:prstGeom prst="rect">
            <a:avLst/>
          </a:prstGeom>
          <a:solidFill>
            <a:srgbClr val="8B5CF6"/>
          </a:solidFill>
          <a:ln>
            <a:noFill/>
          </a:ln>
        </p:spPr>
        <p:txBody>
          <a:bodyPr wrap="square" lIns="0" tIns="0" rIns="0" bIns="0" rtlCol="0" anchor="ctr"/>
          <a:lstStyle/>
          <a:p>
            <a:pPr marL="0" indent="0" algn="ctr">
              <a:buNone/>
            </a:pPr>
            <a:r>
              <a:rPr lang="en-US" sz="1800" b="1" dirty="0">
                <a:solidFill>
                  <a:srgbClr val="FFFFFF"/>
                </a:solidFill>
              </a:rPr>
              <a:t>QUESTION</a:t>
            </a:r>
            <a:endParaRPr lang="en-US" sz="1800" dirty="0"/>
          </a:p>
        </p:txBody>
      </p:sp>
      <p:sp>
        <p:nvSpPr>
          <p:cNvPr id="7" name="Shape 7"/>
          <p:cNvSpPr/>
          <p:nvPr/>
        </p:nvSpPr>
        <p:spPr>
          <a:xfrm>
            <a:off x="548640" y="1947672"/>
            <a:ext cx="11094415" cy="115824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Count the scores that are </a:t>
            </a:r>
            <a:r>
              <a:rPr lang="en-US" sz="3200" b="1" dirty="0">
                <a:solidFill>
                  <a:srgbClr val="18324A"/>
                </a:solidFill>
              </a:rPr>
              <a:t>above the average</a:t>
            </a:r>
            <a:r>
              <a:rPr lang="en-US" sz="3200" dirty="0">
                <a:solidFill>
                  <a:srgbClr val="18324A"/>
                </a:solidFill>
              </a:rPr>
              <a:t>.</a:t>
            </a:r>
            <a:endParaRPr lang="en-US" sz="3200" dirty="0"/>
          </a:p>
          <a:p>
            <a:pPr marL="0" indent="0" algn="l">
              <a:spcAft>
                <a:spcPts val="600"/>
              </a:spcAft>
              <a:buNone/>
            </a:pPr>
            <a:r>
              <a:rPr lang="en-US" sz="3200" dirty="0">
                <a:solidFill>
                  <a:srgbClr val="18324A"/>
                </a:solidFill>
              </a:rPr>
              <a:t>Can you do it without an array?</a:t>
            </a:r>
            <a:endParaRPr lang="en-US" sz="3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Above the average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60</a:t>
            </a:r>
            <a:endParaRPr lang="en-US" sz="1400" dirty="0"/>
          </a:p>
        </p:txBody>
      </p:sp>
      <p:sp>
        <p:nvSpPr>
          <p:cNvPr id="6" name="Shape 6"/>
          <p:cNvSpPr/>
          <p:nvPr/>
        </p:nvSpPr>
        <p:spPr>
          <a:xfrm>
            <a:off x="548640" y="1261872"/>
            <a:ext cx="6766560" cy="4810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381502"/>
            <a:ext cx="676656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381502"/>
            <a:ext cx="82296" cy="317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699002"/>
            <a:ext cx="6766560" cy="317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699002"/>
            <a:ext cx="82296" cy="3175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4016502"/>
            <a:ext cx="6766560" cy="3175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4016502"/>
            <a:ext cx="82296" cy="317500"/>
          </a:xfrm>
          <a:prstGeom prst="rect">
            <a:avLst/>
          </a:prstGeom>
          <a:solidFill>
            <a:srgbClr val="F59E0B"/>
          </a:solidFill>
          <a:ln>
            <a:noFill/>
          </a:ln>
        </p:spPr>
        <p:txBody>
          <a:bodyPr wrap="square" lIns="0" tIns="0" rIns="0" bIns="0" rtlCol="0" anchor="t"/>
          <a:lstStyle/>
          <a:p>
            <a:endParaRPr lang="en-US"/>
          </a:p>
        </p:txBody>
      </p:sp>
      <p:sp>
        <p:nvSpPr>
          <p:cNvPr id="13" name="Shape 13"/>
          <p:cNvSpPr/>
          <p:nvPr/>
        </p:nvSpPr>
        <p:spPr>
          <a:xfrm>
            <a:off x="548640" y="4334002"/>
            <a:ext cx="6766560" cy="317500"/>
          </a:xfrm>
          <a:prstGeom prst="rect">
            <a:avLst/>
          </a:prstGeom>
          <a:solidFill>
            <a:srgbClr val="25406B"/>
          </a:solidFill>
          <a:ln>
            <a:noFill/>
          </a:ln>
        </p:spPr>
        <p:txBody>
          <a:bodyPr wrap="square" lIns="0" tIns="0" rIns="0" bIns="0" rtlCol="0" anchor="t"/>
          <a:lstStyle/>
          <a:p>
            <a:endParaRPr lang="en-US"/>
          </a:p>
        </p:txBody>
      </p:sp>
      <p:sp>
        <p:nvSpPr>
          <p:cNvPr id="14" name="Shape 14"/>
          <p:cNvSpPr/>
          <p:nvPr/>
        </p:nvSpPr>
        <p:spPr>
          <a:xfrm>
            <a:off x="548640" y="4334002"/>
            <a:ext cx="82296" cy="317500"/>
          </a:xfrm>
          <a:prstGeom prst="rect">
            <a:avLst/>
          </a:prstGeom>
          <a:solidFill>
            <a:srgbClr val="F59E0B"/>
          </a:solidFill>
          <a:ln>
            <a:noFill/>
          </a:ln>
        </p:spPr>
        <p:txBody>
          <a:bodyPr wrap="square" lIns="0" tIns="0" rIns="0" bIns="0" rtlCol="0" anchor="t"/>
          <a:lstStyle/>
          <a:p>
            <a:endParaRPr lang="en-US"/>
          </a:p>
        </p:txBody>
      </p:sp>
      <p:sp>
        <p:nvSpPr>
          <p:cNvPr id="15" name="Shape 15"/>
          <p:cNvSpPr/>
          <p:nvPr/>
        </p:nvSpPr>
        <p:spPr>
          <a:xfrm>
            <a:off x="548640" y="4651502"/>
            <a:ext cx="6766560" cy="317500"/>
          </a:xfrm>
          <a:prstGeom prst="rect">
            <a:avLst/>
          </a:prstGeom>
          <a:solidFill>
            <a:srgbClr val="25406B"/>
          </a:solidFill>
          <a:ln>
            <a:noFill/>
          </a:ln>
        </p:spPr>
        <p:txBody>
          <a:bodyPr wrap="square" lIns="0" tIns="0" rIns="0" bIns="0" rtlCol="0" anchor="t"/>
          <a:lstStyle/>
          <a:p>
            <a:endParaRPr lang="en-US"/>
          </a:p>
        </p:txBody>
      </p:sp>
      <p:sp>
        <p:nvSpPr>
          <p:cNvPr id="16" name="Shape 16"/>
          <p:cNvSpPr/>
          <p:nvPr/>
        </p:nvSpPr>
        <p:spPr>
          <a:xfrm>
            <a:off x="548640" y="4651502"/>
            <a:ext cx="82296" cy="317500"/>
          </a:xfrm>
          <a:prstGeom prst="rect">
            <a:avLst/>
          </a:prstGeom>
          <a:solidFill>
            <a:srgbClr val="F59E0B"/>
          </a:solidFill>
          <a:ln>
            <a:noFill/>
          </a:ln>
        </p:spPr>
        <p:txBody>
          <a:bodyPr wrap="square" lIns="0" tIns="0" rIns="0" bIns="0" rtlCol="0" anchor="t"/>
          <a:lstStyle/>
          <a:p>
            <a:endParaRPr lang="en-US"/>
          </a:p>
        </p:txBody>
      </p:sp>
      <p:sp>
        <p:nvSpPr>
          <p:cNvPr id="17" name="Shape 17"/>
          <p:cNvSpPr/>
          <p:nvPr/>
        </p:nvSpPr>
        <p:spPr>
          <a:xfrm>
            <a:off x="548640" y="4969002"/>
            <a:ext cx="6766560" cy="317500"/>
          </a:xfrm>
          <a:prstGeom prst="rect">
            <a:avLst/>
          </a:prstGeom>
          <a:solidFill>
            <a:srgbClr val="25406B"/>
          </a:solidFill>
          <a:ln>
            <a:noFill/>
          </a:ln>
        </p:spPr>
        <p:txBody>
          <a:bodyPr wrap="square" lIns="0" tIns="0" rIns="0" bIns="0" rtlCol="0" anchor="t"/>
          <a:lstStyle/>
          <a:p>
            <a:endParaRPr lang="en-US"/>
          </a:p>
        </p:txBody>
      </p:sp>
      <p:sp>
        <p:nvSpPr>
          <p:cNvPr id="18" name="Shape 18"/>
          <p:cNvSpPr/>
          <p:nvPr/>
        </p:nvSpPr>
        <p:spPr>
          <a:xfrm>
            <a:off x="548640" y="4969002"/>
            <a:ext cx="82296" cy="317500"/>
          </a:xfrm>
          <a:prstGeom prst="rect">
            <a:avLst/>
          </a:prstGeom>
          <a:solidFill>
            <a:srgbClr val="F59E0B"/>
          </a:solidFill>
          <a:ln>
            <a:noFill/>
          </a:ln>
        </p:spPr>
        <p:txBody>
          <a:bodyPr wrap="square" lIns="0" tIns="0" rIns="0" bIns="0" rtlCol="0" anchor="t"/>
          <a:lstStyle/>
          <a:p>
            <a:endParaRPr lang="en-US"/>
          </a:p>
        </p:txBody>
      </p:sp>
      <p:sp>
        <p:nvSpPr>
          <p:cNvPr id="19" name="Code"/>
          <p:cNvSpPr/>
          <p:nvPr/>
        </p:nvSpPr>
        <p:spPr>
          <a:xfrm>
            <a:off x="548640" y="1261872"/>
            <a:ext cx="6766560" cy="4810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sum = 0;</a:t>
            </a:r>
            <a:endParaRPr lang="en-US" sz="2000" dirty="0"/>
          </a:p>
          <a:p>
            <a:pPr marL="0" indent="0" algn="l">
              <a:lnSpc>
                <a:spcPts val="2500"/>
              </a:lnSpc>
              <a:buNone/>
            </a:pPr>
            <a:r>
              <a:rPr lang="en-US" sz="2000" dirty="0">
                <a:solidFill>
                  <a:srgbClr val="64748B"/>
                </a:solidFill>
                <a:latin typeface="Consolas"/>
                <a:ea typeface="Consolas"/>
                <a:cs typeface="Consolas"/>
              </a:rPr>
              <a:t>for (int i = 0; i &lt; N; i++) {</a:t>
            </a:r>
            <a:endParaRPr lang="en-US" sz="2000" dirty="0"/>
          </a:p>
          <a:p>
            <a:pPr marL="0" indent="0" algn="l">
              <a:lnSpc>
                <a:spcPts val="2500"/>
              </a:lnSpc>
              <a:buNone/>
            </a:pPr>
            <a:r>
              <a:rPr lang="en-US" sz="2000" dirty="0">
                <a:solidFill>
                  <a:srgbClr val="64748B"/>
                </a:solidFill>
                <a:latin typeface="Consolas"/>
                <a:ea typeface="Consolas"/>
                <a:cs typeface="Consolas"/>
              </a:rPr>
              <a:t>    sum += scores[i];</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double avg = (double) sum / N;</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int above = 0;</a:t>
            </a:r>
            <a:endParaRPr lang="en-US" sz="2000" dirty="0"/>
          </a:p>
          <a:p>
            <a:pPr marL="0" indent="0" algn="l">
              <a:lnSpc>
                <a:spcPts val="2500"/>
              </a:lnSpc>
              <a:buNone/>
            </a:pPr>
            <a:r>
              <a:rPr lang="en-US" sz="2000" dirty="0">
                <a:solidFill>
                  <a:srgbClr val="FFFFFF"/>
                </a:solidFill>
                <a:latin typeface="Consolas"/>
                <a:ea typeface="Consolas"/>
                <a:cs typeface="Consolas"/>
              </a:rPr>
              <a:t>for (int i = 0; i &lt; N; i++) {</a:t>
            </a:r>
            <a:endParaRPr lang="en-US" sz="2000" dirty="0"/>
          </a:p>
          <a:p>
            <a:pPr marL="0" indent="0" algn="l">
              <a:lnSpc>
                <a:spcPts val="2500"/>
              </a:lnSpc>
              <a:buNone/>
            </a:pPr>
            <a:r>
              <a:rPr lang="en-US" sz="2000" dirty="0">
                <a:solidFill>
                  <a:srgbClr val="FFFFFF"/>
                </a:solidFill>
                <a:latin typeface="Consolas"/>
                <a:ea typeface="Consolas"/>
                <a:cs typeface="Consolas"/>
              </a:rPr>
              <a:t>    if (scores[i] &gt; avg) {</a:t>
            </a:r>
            <a:endParaRPr lang="en-US" sz="2000" dirty="0"/>
          </a:p>
          <a:p>
            <a:pPr marL="0" indent="0" algn="l">
              <a:lnSpc>
                <a:spcPts val="2500"/>
              </a:lnSpc>
              <a:buNone/>
            </a:pPr>
            <a:r>
              <a:rPr lang="en-US" sz="2000" dirty="0">
                <a:solidFill>
                  <a:srgbClr val="FFFFFF"/>
                </a:solidFill>
                <a:latin typeface="Consolas"/>
                <a:ea typeface="Consolas"/>
                <a:cs typeface="Consolas"/>
              </a:rPr>
              <a:t>        above++;</a:t>
            </a:r>
            <a:endParaRPr lang="en-US" sz="2000" dirty="0"/>
          </a:p>
          <a:p>
            <a:pPr marL="0" indent="0" algn="l">
              <a:lnSpc>
                <a:spcPts val="2500"/>
              </a:lnSpc>
              <a:buNone/>
            </a:pPr>
            <a:r>
              <a:rPr lang="en-US" sz="2000" dirty="0">
                <a:solidFill>
                  <a:srgbClr val="FFFFFF"/>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printf("average: %.1f\n", avg);</a:t>
            </a:r>
            <a:endParaRPr lang="en-US" sz="2000" dirty="0"/>
          </a:p>
          <a:p>
            <a:pPr marL="0" indent="0" algn="l">
              <a:lnSpc>
                <a:spcPts val="2500"/>
              </a:lnSpc>
              <a:buNone/>
            </a:pPr>
            <a:r>
              <a:rPr lang="en-US" sz="2000" dirty="0">
                <a:solidFill>
                  <a:srgbClr val="64748B"/>
                </a:solidFill>
                <a:latin typeface="Consolas"/>
                <a:ea typeface="Consolas"/>
                <a:cs typeface="Consolas"/>
              </a:rPr>
              <a:t>printf("above average: %d\n", above);</a:t>
            </a:r>
            <a:endParaRPr lang="en-US" sz="2000" dirty="0"/>
          </a:p>
        </p:txBody>
      </p:sp>
      <p:sp>
        <p:nvSpPr>
          <p:cNvPr id="20" name="Shape 2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21" name="Shape 21"/>
          <p:cNvSpPr/>
          <p:nvPr/>
        </p:nvSpPr>
        <p:spPr>
          <a:xfrm>
            <a:off x="7589520" y="1645920"/>
            <a:ext cx="4053535" cy="1318260"/>
          </a:xfrm>
          <a:prstGeom prst="rect">
            <a:avLst/>
          </a:prstGeom>
          <a:solidFill>
            <a:srgbClr val="000000"/>
          </a:solidFill>
          <a:ln>
            <a:noFill/>
          </a:ln>
        </p:spPr>
        <p:txBody>
          <a:bodyPr wrap="square" lIns="0" tIns="0" rIns="0" bIns="0" rtlCol="0" anchor="t"/>
          <a:lstStyle/>
          <a:p>
            <a:endParaRPr lang="en-US"/>
          </a:p>
        </p:txBody>
      </p:sp>
      <p:sp>
        <p:nvSpPr>
          <p:cNvPr id="22" name="Code"/>
          <p:cNvSpPr/>
          <p:nvPr/>
        </p:nvSpPr>
        <p:spPr>
          <a:xfrm>
            <a:off x="7589520" y="1645920"/>
            <a:ext cx="4053535" cy="1318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D1FAE5"/>
                </a:solidFill>
                <a:latin typeface="Consolas"/>
                <a:ea typeface="Consolas"/>
                <a:cs typeface="Consolas"/>
              </a:rPr>
              <a:t>Enter 5 scores: 7 9 6 10 8</a:t>
            </a:r>
            <a:endParaRPr lang="en-US" sz="2000" dirty="0"/>
          </a:p>
          <a:p>
            <a:pPr marL="0" indent="0" algn="l">
              <a:lnSpc>
                <a:spcPts val="2500"/>
              </a:lnSpc>
              <a:buNone/>
            </a:pPr>
            <a:r>
              <a:rPr lang="en-US" sz="2000" dirty="0">
                <a:solidFill>
                  <a:srgbClr val="D1FAE5"/>
                </a:solidFill>
                <a:latin typeface="Consolas"/>
                <a:ea typeface="Consolas"/>
                <a:cs typeface="Consolas"/>
              </a:rPr>
              <a:t>average: 8.0</a:t>
            </a:r>
            <a:endParaRPr lang="en-US" sz="2000" dirty="0"/>
          </a:p>
          <a:p>
            <a:pPr marL="0" indent="0" algn="l">
              <a:lnSpc>
                <a:spcPts val="2500"/>
              </a:lnSpc>
              <a:buNone/>
            </a:pPr>
            <a:r>
              <a:rPr lang="en-US" sz="2000" dirty="0">
                <a:solidFill>
                  <a:srgbClr val="D1FAE5"/>
                </a:solidFill>
                <a:latin typeface="Consolas"/>
                <a:ea typeface="Consolas"/>
                <a:cs typeface="Consolas"/>
              </a:rPr>
              <a:t>above average: 2</a:t>
            </a:r>
            <a:endParaRPr lang="en-US" sz="2000" dirty="0"/>
          </a:p>
        </p:txBody>
      </p:sp>
      <p:sp>
        <p:nvSpPr>
          <p:cNvPr id="23" name="Shape 23"/>
          <p:cNvSpPr/>
          <p:nvPr/>
        </p:nvSpPr>
        <p:spPr>
          <a:xfrm>
            <a:off x="7589520" y="3238500"/>
            <a:ext cx="4053535" cy="141732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24" name="Shape 24"/>
          <p:cNvSpPr/>
          <p:nvPr/>
        </p:nvSpPr>
        <p:spPr>
          <a:xfrm>
            <a:off x="7589520" y="3238500"/>
            <a:ext cx="109728" cy="1417320"/>
          </a:xfrm>
          <a:prstGeom prst="rect">
            <a:avLst/>
          </a:prstGeom>
          <a:solidFill>
            <a:srgbClr val="F59E0B"/>
          </a:solidFill>
          <a:ln>
            <a:noFill/>
          </a:ln>
        </p:spPr>
        <p:txBody>
          <a:bodyPr wrap="square" lIns="0" tIns="0" rIns="0" bIns="0" rtlCol="0" anchor="t"/>
          <a:lstStyle/>
          <a:p>
            <a:endParaRPr lang="en-US"/>
          </a:p>
        </p:txBody>
      </p:sp>
      <p:sp>
        <p:nvSpPr>
          <p:cNvPr id="25" name="Callout"/>
          <p:cNvSpPr/>
          <p:nvPr/>
        </p:nvSpPr>
        <p:spPr>
          <a:xfrm>
            <a:off x="7699248" y="3238500"/>
            <a:ext cx="3943807" cy="141732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 average is known only </a:t>
            </a:r>
            <a:r>
              <a:rPr lang="en-US" sz="2400" b="1" dirty="0">
                <a:solidFill>
                  <a:srgbClr val="18324A"/>
                </a:solidFill>
              </a:rPr>
              <a:t>after</a:t>
            </a:r>
            <a:r>
              <a:rPr lang="en-US" sz="2400" dirty="0">
                <a:solidFill>
                  <a:srgbClr val="18324A"/>
                </a:solidFill>
              </a:rPr>
              <a:t> the last score.</a:t>
            </a:r>
            <a:endParaRPr lang="en-US" sz="2400" dirty="0"/>
          </a:p>
        </p:txBody>
      </p:sp>
      <p:sp>
        <p:nvSpPr>
          <p:cNvPr id="26" name="Shape 26"/>
          <p:cNvSpPr/>
          <p:nvPr/>
        </p:nvSpPr>
        <p:spPr>
          <a:xfrm>
            <a:off x="7589520" y="4856988"/>
            <a:ext cx="4053535" cy="141732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27" name="Shape 27"/>
          <p:cNvSpPr/>
          <p:nvPr/>
        </p:nvSpPr>
        <p:spPr>
          <a:xfrm>
            <a:off x="7589520" y="4856988"/>
            <a:ext cx="109728" cy="1417320"/>
          </a:xfrm>
          <a:prstGeom prst="rect">
            <a:avLst/>
          </a:prstGeom>
          <a:solidFill>
            <a:srgbClr val="31C48D"/>
          </a:solidFill>
          <a:ln>
            <a:noFill/>
          </a:ln>
        </p:spPr>
        <p:txBody>
          <a:bodyPr wrap="square" lIns="0" tIns="0" rIns="0" bIns="0" rtlCol="0" anchor="t"/>
          <a:lstStyle/>
          <a:p>
            <a:endParaRPr lang="en-US"/>
          </a:p>
        </p:txBody>
      </p:sp>
      <p:sp>
        <p:nvSpPr>
          <p:cNvPr id="28" name="Callout"/>
          <p:cNvSpPr/>
          <p:nvPr/>
        </p:nvSpPr>
        <p:spPr>
          <a:xfrm>
            <a:off x="7699248" y="4856988"/>
            <a:ext cx="3943807" cy="141732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Then we need every score </a:t>
            </a:r>
            <a:r>
              <a:rPr lang="en-US" sz="2400" b="1" dirty="0">
                <a:solidFill>
                  <a:srgbClr val="18324A"/>
                </a:solidFill>
              </a:rPr>
              <a:t>again</a:t>
            </a:r>
            <a:r>
              <a:rPr lang="en-US" sz="2400" dirty="0">
                <a:solidFill>
                  <a:srgbClr val="18324A"/>
                </a:solidFill>
              </a:rPr>
              <a:t>: the array kept them.</a:t>
            </a:r>
            <a:endParaRPr 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8B5CF6"/>
          </a:solidFill>
          <a:ln>
            <a:noFill/>
          </a:ln>
        </p:spPr>
        <p:txBody>
          <a:bodyPr wrap="square" lIns="0" tIns="0" rIns="0" bIns="0" rtlCol="0" anchor="ctr"/>
          <a:lstStyle/>
          <a:p>
            <a:pPr marL="0" indent="0" algn="ctr">
              <a:buNone/>
            </a:pPr>
            <a:r>
              <a:rPr lang="en-US" sz="5400" b="1" dirty="0">
                <a:solidFill>
                  <a:srgbClr val="FFFFFF"/>
                </a:solidFill>
              </a:rPr>
              <a:t>4</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The mistakes C does not stop</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Out of bounds, and b = a</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9</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Spot the bug</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62</a:t>
            </a:r>
            <a:endParaRPr lang="en-US" sz="1400" dirty="0"/>
          </a:p>
        </p:txBody>
      </p:sp>
      <p:sp>
        <p:nvSpPr>
          <p:cNvPr id="6" name="Shape 6"/>
          <p:cNvSpPr/>
          <p:nvPr/>
        </p:nvSpPr>
        <p:spPr>
          <a:xfrm>
            <a:off x="548640" y="1261872"/>
            <a:ext cx="2377440" cy="457200"/>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CAREFUL</a:t>
            </a:r>
            <a:endParaRPr lang="en-US" sz="1800" dirty="0"/>
          </a:p>
        </p:txBody>
      </p:sp>
      <p:sp>
        <p:nvSpPr>
          <p:cNvPr id="7" name="Shape 7"/>
          <p:cNvSpPr/>
          <p:nvPr/>
        </p:nvSpPr>
        <p:spPr>
          <a:xfrm>
            <a:off x="548640" y="1947672"/>
            <a:ext cx="4937760"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Five values.</a:t>
            </a:r>
            <a:endParaRPr lang="en-US" sz="3200" dirty="0"/>
          </a:p>
          <a:p>
            <a:pPr marL="0" indent="0" algn="l">
              <a:spcAft>
                <a:spcPts val="600"/>
              </a:spcAft>
              <a:buNone/>
            </a:pPr>
            <a:r>
              <a:rPr lang="en-US" sz="3200" dirty="0">
                <a:solidFill>
                  <a:srgbClr val="18324A"/>
                </a:solidFill>
              </a:rPr>
              <a:t>How many lines does it print?</a:t>
            </a:r>
            <a:endParaRPr lang="en-US" sz="3200" dirty="0"/>
          </a:p>
        </p:txBody>
      </p:sp>
      <p:sp>
        <p:nvSpPr>
          <p:cNvPr id="8" name="Shape 8"/>
          <p:cNvSpPr/>
          <p:nvPr/>
        </p:nvSpPr>
        <p:spPr>
          <a:xfrm>
            <a:off x="5760720" y="1261872"/>
            <a:ext cx="5882335" cy="29057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290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int main(void) {</a:t>
            </a:r>
            <a:endParaRPr lang="en-US" sz="2000" dirty="0"/>
          </a:p>
          <a:p>
            <a:pPr marL="0" indent="0" algn="l">
              <a:lnSpc>
                <a:spcPts val="2500"/>
              </a:lnSpc>
              <a:buNone/>
            </a:pPr>
            <a:r>
              <a:rPr lang="en-US" sz="2000" dirty="0">
                <a:solidFill>
                  <a:srgbClr val="E5E7EB"/>
                </a:solidFill>
                <a:latin typeface="Consolas"/>
                <a:ea typeface="Consolas"/>
                <a:cs typeface="Consolas"/>
              </a:rPr>
              <a:t>    int a[5] = {10, 20, 30, 40, 50};</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    for (int i = 0; i &lt;= 5; i++) {</a:t>
            </a:r>
            <a:endParaRPr lang="en-US" sz="2000" dirty="0"/>
          </a:p>
          <a:p>
            <a:pPr marL="0" indent="0" algn="l">
              <a:lnSpc>
                <a:spcPts val="2500"/>
              </a:lnSpc>
              <a:buNone/>
            </a:pPr>
            <a:r>
              <a:rPr lang="en-US" sz="2000" dirty="0">
                <a:solidFill>
                  <a:srgbClr val="E5E7EB"/>
                </a:solidFill>
                <a:latin typeface="Consolas"/>
                <a:ea typeface="Consolas"/>
                <a:cs typeface="Consolas"/>
              </a:rPr>
              <a:t>        printf("%d\n", a[i]);</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    return 0;</a:t>
            </a:r>
            <a:endParaRPr lang="en-US" sz="2000" dirty="0"/>
          </a:p>
          <a:p>
            <a:pPr marL="0" indent="0" algn="l">
              <a:lnSpc>
                <a:spcPts val="2500"/>
              </a:lnSpc>
              <a:buNone/>
            </a:pPr>
            <a:r>
              <a:rPr lang="en-US" sz="2000" dirty="0">
                <a:solidFill>
                  <a:srgbClr val="E5E7EB"/>
                </a:solidFill>
                <a:latin typeface="Consolas"/>
                <a:ea typeface="Consolas"/>
                <a:cs typeface="Consolas"/>
              </a:rPr>
              <a:t>}</a:t>
            </a:r>
            <a:endParaRPr 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One box too far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63</a:t>
            </a:r>
            <a:endParaRPr lang="en-US" sz="1400" dirty="0"/>
          </a:p>
        </p:txBody>
      </p:sp>
      <p:sp>
        <p:nvSpPr>
          <p:cNvPr id="6" name="Shape 6"/>
          <p:cNvSpPr/>
          <p:nvPr/>
        </p:nvSpPr>
        <p:spPr>
          <a:xfrm>
            <a:off x="548640" y="1261872"/>
            <a:ext cx="6766560" cy="3413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625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3413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main(void) {</a:t>
            </a:r>
            <a:endParaRPr lang="en-US" sz="2400" dirty="0"/>
          </a:p>
          <a:p>
            <a:pPr marL="0" indent="0" algn="l">
              <a:lnSpc>
                <a:spcPts val="3000"/>
              </a:lnSpc>
              <a:buNone/>
            </a:pPr>
            <a:r>
              <a:rPr lang="en-US" sz="2400" dirty="0">
                <a:solidFill>
                  <a:srgbClr val="64748B"/>
                </a:solidFill>
                <a:latin typeface="Consolas"/>
                <a:ea typeface="Consolas"/>
                <a:cs typeface="Consolas"/>
              </a:rPr>
              <a:t>    int a[5] = {10, 20, 30, 40, 50};</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    for (int i = 0; i &lt;= 5; i++) {</a:t>
            </a:r>
            <a:endParaRPr lang="en-US" sz="2400" dirty="0"/>
          </a:p>
          <a:p>
            <a:pPr marL="0" indent="0" algn="l">
              <a:lnSpc>
                <a:spcPts val="3000"/>
              </a:lnSpc>
              <a:buNone/>
            </a:pPr>
            <a:r>
              <a:rPr lang="en-US" sz="2400" dirty="0">
                <a:solidFill>
                  <a:srgbClr val="64748B"/>
                </a:solidFill>
                <a:latin typeface="Consolas"/>
                <a:ea typeface="Consolas"/>
                <a:cs typeface="Consolas"/>
              </a:rPr>
              <a:t>        printf("%d\n", a[i]);</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64748B"/>
                </a:solidFill>
                <a:latin typeface="Consolas"/>
                <a:ea typeface="Consolas"/>
                <a:cs typeface="Consolas"/>
              </a:rPr>
              <a:t>    return 0;</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0" name="Shape 1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7589520" y="1645920"/>
            <a:ext cx="4053535" cy="2651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589520" y="1645920"/>
            <a:ext cx="4053535" cy="2651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10</a:t>
            </a:r>
            <a:endParaRPr lang="en-US" sz="2400" dirty="0"/>
          </a:p>
          <a:p>
            <a:pPr marL="0" indent="0" algn="l">
              <a:lnSpc>
                <a:spcPts val="3000"/>
              </a:lnSpc>
              <a:buNone/>
            </a:pPr>
            <a:r>
              <a:rPr lang="en-US" sz="2400" dirty="0">
                <a:solidFill>
                  <a:srgbClr val="D1FAE5"/>
                </a:solidFill>
                <a:latin typeface="Consolas"/>
                <a:ea typeface="Consolas"/>
                <a:cs typeface="Consolas"/>
              </a:rPr>
              <a:t>20</a:t>
            </a:r>
            <a:endParaRPr lang="en-US" sz="2400" dirty="0"/>
          </a:p>
          <a:p>
            <a:pPr marL="0" indent="0" algn="l">
              <a:lnSpc>
                <a:spcPts val="3000"/>
              </a:lnSpc>
              <a:buNone/>
            </a:pPr>
            <a:r>
              <a:rPr lang="en-US" sz="2400" dirty="0">
                <a:solidFill>
                  <a:srgbClr val="D1FAE5"/>
                </a:solidFill>
                <a:latin typeface="Consolas"/>
                <a:ea typeface="Consolas"/>
                <a:cs typeface="Consolas"/>
              </a:rPr>
              <a:t>30</a:t>
            </a:r>
            <a:endParaRPr lang="en-US" sz="2400" dirty="0"/>
          </a:p>
          <a:p>
            <a:pPr marL="0" indent="0" algn="l">
              <a:lnSpc>
                <a:spcPts val="3000"/>
              </a:lnSpc>
              <a:buNone/>
            </a:pPr>
            <a:r>
              <a:rPr lang="en-US" sz="2400" dirty="0">
                <a:solidFill>
                  <a:srgbClr val="D1FAE5"/>
                </a:solidFill>
                <a:latin typeface="Consolas"/>
                <a:ea typeface="Consolas"/>
                <a:cs typeface="Consolas"/>
              </a:rPr>
              <a:t>40</a:t>
            </a:r>
            <a:endParaRPr lang="en-US" sz="2400" dirty="0"/>
          </a:p>
          <a:p>
            <a:pPr marL="0" indent="0" algn="l">
              <a:lnSpc>
                <a:spcPts val="3000"/>
              </a:lnSpc>
              <a:buNone/>
            </a:pPr>
            <a:r>
              <a:rPr lang="en-US" sz="2400" dirty="0">
                <a:solidFill>
                  <a:srgbClr val="D1FAE5"/>
                </a:solidFill>
                <a:latin typeface="Consolas"/>
                <a:ea typeface="Consolas"/>
                <a:cs typeface="Consolas"/>
              </a:rPr>
              <a:t>50</a:t>
            </a:r>
            <a:endParaRPr lang="en-US" sz="2400" dirty="0"/>
          </a:p>
          <a:p>
            <a:pPr marL="0" indent="0" algn="l">
              <a:lnSpc>
                <a:spcPts val="3000"/>
              </a:lnSpc>
              <a:buNone/>
            </a:pPr>
            <a:r>
              <a:rPr lang="en-US" sz="2400" dirty="0">
                <a:solidFill>
                  <a:srgbClr val="D1FAE5"/>
                </a:solidFill>
                <a:latin typeface="Consolas"/>
                <a:ea typeface="Consolas"/>
                <a:cs typeface="Consolas"/>
              </a:rPr>
              <a:t>88</a:t>
            </a:r>
            <a:endParaRPr lang="en-US" sz="2400" dirty="0"/>
          </a:p>
        </p:txBody>
      </p:sp>
      <p:sp>
        <p:nvSpPr>
          <p:cNvPr id="13" name="Shape 13"/>
          <p:cNvSpPr/>
          <p:nvPr/>
        </p:nvSpPr>
        <p:spPr>
          <a:xfrm>
            <a:off x="7589520" y="4572000"/>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4" name="Shape 14"/>
          <p:cNvSpPr/>
          <p:nvPr/>
        </p:nvSpPr>
        <p:spPr>
          <a:xfrm>
            <a:off x="7589520" y="4572000"/>
            <a:ext cx="109728" cy="1051560"/>
          </a:xfrm>
          <a:prstGeom prst="rect">
            <a:avLst/>
          </a:prstGeom>
          <a:solidFill>
            <a:srgbClr val="FF6B6B"/>
          </a:solidFill>
          <a:ln>
            <a:noFill/>
          </a:ln>
        </p:spPr>
        <p:txBody>
          <a:bodyPr wrap="square" lIns="0" tIns="0" rIns="0" bIns="0" rtlCol="0" anchor="t"/>
          <a:lstStyle/>
          <a:p>
            <a:endParaRPr lang="en-US"/>
          </a:p>
        </p:txBody>
      </p:sp>
      <p:sp>
        <p:nvSpPr>
          <p:cNvPr id="15" name="Callout"/>
          <p:cNvSpPr/>
          <p:nvPr/>
        </p:nvSpPr>
        <p:spPr>
          <a:xfrm>
            <a:off x="7699248" y="4572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i &lt;= 5</a:t>
            </a:r>
            <a:r>
              <a:rPr lang="en-US" sz="2400" dirty="0">
                <a:solidFill>
                  <a:srgbClr val="18324A"/>
                </a:solidFill>
              </a:rPr>
              <a:t> also reads </a:t>
            </a:r>
            <a:r>
              <a:rPr lang="en-US" sz="2400" dirty="0">
                <a:solidFill>
                  <a:srgbClr val="18324A"/>
                </a:solidFill>
                <a:latin typeface="Consolas"/>
                <a:ea typeface="Consolas"/>
                <a:cs typeface="Consolas"/>
              </a:rPr>
              <a:t>a[5]</a:t>
            </a:r>
            <a:r>
              <a:rPr lang="en-US" sz="2400" dirty="0">
                <a:solidFill>
                  <a:srgbClr val="18324A"/>
                </a:solidFill>
              </a:rPr>
              <a:t>: there is none.</a:t>
            </a:r>
            <a:endParaRPr lang="en-US"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gcc -Wall says nothing</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64</a:t>
            </a:r>
            <a:endParaRPr lang="en-US" sz="1400" dirty="0"/>
          </a:p>
        </p:txBody>
      </p:sp>
      <p:sp>
        <p:nvSpPr>
          <p:cNvPr id="6" name="Shape 6"/>
          <p:cNvSpPr/>
          <p:nvPr/>
        </p:nvSpPr>
        <p:spPr>
          <a:xfrm>
            <a:off x="548640" y="1261872"/>
            <a:ext cx="6766560" cy="2651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625852"/>
            <a:ext cx="6766560" cy="3810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2651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main(void) {</a:t>
            </a:r>
            <a:endParaRPr lang="en-US" sz="2400" dirty="0"/>
          </a:p>
          <a:p>
            <a:pPr marL="0" indent="0" algn="l">
              <a:lnSpc>
                <a:spcPts val="3000"/>
              </a:lnSpc>
              <a:buNone/>
            </a:pPr>
            <a:r>
              <a:rPr lang="en-US" sz="2400" dirty="0">
                <a:solidFill>
                  <a:srgbClr val="64748B"/>
                </a:solidFill>
                <a:latin typeface="Consolas"/>
                <a:ea typeface="Consolas"/>
                <a:cs typeface="Consolas"/>
              </a:rPr>
              <a:t>    int a[5] = {10, 20, 30, 40, 50};</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    printf("last: %d\n", a[5]);</a:t>
            </a:r>
            <a:endParaRPr lang="en-US" sz="2400" dirty="0"/>
          </a:p>
          <a:p>
            <a:pPr marL="0" indent="0" algn="l">
              <a:lnSpc>
                <a:spcPts val="3000"/>
              </a:lnSpc>
              <a:buNone/>
            </a:pPr>
            <a:r>
              <a:rPr lang="en-US" sz="2400" dirty="0">
                <a:solidFill>
                  <a:srgbClr val="64748B"/>
                </a:solidFill>
                <a:latin typeface="Consolas"/>
                <a:ea typeface="Consolas"/>
                <a:cs typeface="Consolas"/>
              </a:rPr>
              <a:t>    return 0;</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0" name="Shape 1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last: 136</a:t>
            </a:r>
            <a:endParaRPr lang="en-US" sz="2400" dirty="0"/>
          </a:p>
        </p:txBody>
      </p:sp>
      <p:sp>
        <p:nvSpPr>
          <p:cNvPr id="13" name="Shape 13"/>
          <p:cNvSpPr/>
          <p:nvPr/>
        </p:nvSpPr>
        <p:spPr>
          <a:xfrm>
            <a:off x="7589520" y="2667000"/>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4" name="Shape 14"/>
          <p:cNvSpPr/>
          <p:nvPr/>
        </p:nvSpPr>
        <p:spPr>
          <a:xfrm>
            <a:off x="7589520" y="2667000"/>
            <a:ext cx="109728" cy="1051560"/>
          </a:xfrm>
          <a:prstGeom prst="rect">
            <a:avLst/>
          </a:prstGeom>
          <a:solidFill>
            <a:srgbClr val="FF6B6B"/>
          </a:solidFill>
          <a:ln>
            <a:noFill/>
          </a:ln>
        </p:spPr>
        <p:txBody>
          <a:bodyPr wrap="square" lIns="0" tIns="0" rIns="0" bIns="0" rtlCol="0" anchor="t"/>
          <a:lstStyle/>
          <a:p>
            <a:endParaRPr lang="en-US"/>
          </a:p>
        </p:txBody>
      </p:sp>
      <p:sp>
        <p:nvSpPr>
          <p:cNvPr id="15" name="Callout"/>
          <p:cNvSpPr/>
          <p:nvPr/>
        </p:nvSpPr>
        <p:spPr>
          <a:xfrm>
            <a:off x="7699248" y="2667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compiles with no warning.</a:t>
            </a:r>
            <a:endParaRPr lang="en-US" sz="2400" dirty="0"/>
          </a:p>
        </p:txBody>
      </p:sp>
      <p:sp>
        <p:nvSpPr>
          <p:cNvPr id="16" name="Shape 16"/>
          <p:cNvSpPr/>
          <p:nvPr/>
        </p:nvSpPr>
        <p:spPr>
          <a:xfrm>
            <a:off x="7589520" y="3919728"/>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7" name="Shape 17"/>
          <p:cNvSpPr/>
          <p:nvPr/>
        </p:nvSpPr>
        <p:spPr>
          <a:xfrm>
            <a:off x="7589520" y="3919728"/>
            <a:ext cx="109728" cy="1051560"/>
          </a:xfrm>
          <a:prstGeom prst="rect">
            <a:avLst/>
          </a:prstGeom>
          <a:solidFill>
            <a:srgbClr val="FF6B6B"/>
          </a:solidFill>
          <a:ln>
            <a:noFill/>
          </a:ln>
        </p:spPr>
        <p:txBody>
          <a:bodyPr wrap="square" lIns="0" tIns="0" rIns="0" bIns="0" rtlCol="0" anchor="t"/>
          <a:lstStyle/>
          <a:p>
            <a:endParaRPr lang="en-US"/>
          </a:p>
        </p:txBody>
      </p:sp>
      <p:sp>
        <p:nvSpPr>
          <p:cNvPr id="18" name="Callout"/>
          <p:cNvSpPr/>
          <p:nvPr/>
        </p:nvSpPr>
        <p:spPr>
          <a:xfrm>
            <a:off x="7699248" y="391972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It runs and prints a number.</a:t>
            </a:r>
            <a:endParaRPr lang="en-US" sz="2400" dirty="0"/>
          </a:p>
        </p:txBody>
      </p:sp>
      <p:sp>
        <p:nvSpPr>
          <p:cNvPr id="19" name="Shape 19"/>
          <p:cNvSpPr/>
          <p:nvPr/>
        </p:nvSpPr>
        <p:spPr>
          <a:xfrm>
            <a:off x="7589520" y="5172456"/>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20" name="Shape 20"/>
          <p:cNvSpPr/>
          <p:nvPr/>
        </p:nvSpPr>
        <p:spPr>
          <a:xfrm>
            <a:off x="7589520" y="5172456"/>
            <a:ext cx="109728" cy="1051560"/>
          </a:xfrm>
          <a:prstGeom prst="rect">
            <a:avLst/>
          </a:prstGeom>
          <a:solidFill>
            <a:srgbClr val="FF6B6B"/>
          </a:solidFill>
          <a:ln>
            <a:noFill/>
          </a:ln>
        </p:spPr>
        <p:txBody>
          <a:bodyPr wrap="square" lIns="0" tIns="0" rIns="0" bIns="0" rtlCol="0" anchor="t"/>
          <a:lstStyle/>
          <a:p>
            <a:endParaRPr lang="en-US"/>
          </a:p>
        </p:txBody>
      </p:sp>
      <p:sp>
        <p:nvSpPr>
          <p:cNvPr id="21" name="Callout"/>
          <p:cNvSpPr/>
          <p:nvPr/>
        </p:nvSpPr>
        <p:spPr>
          <a:xfrm>
            <a:off x="7699248" y="5172456"/>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Run it again: a different number.</a:t>
            </a:r>
            <a:endParaRPr 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gcc -O2 catches this one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65</a:t>
            </a:r>
            <a:endParaRPr lang="en-US" sz="1400" dirty="0"/>
          </a:p>
        </p:txBody>
      </p:sp>
      <p:sp>
        <p:nvSpPr>
          <p:cNvPr id="6" name="Shape 6"/>
          <p:cNvSpPr/>
          <p:nvPr/>
        </p:nvSpPr>
        <p:spPr>
          <a:xfrm>
            <a:off x="548640" y="5577840"/>
            <a:ext cx="11094415" cy="685800"/>
          </a:xfrm>
          <a:prstGeom prst="rect">
            <a:avLst/>
          </a:prstGeom>
          <a:solidFill>
            <a:srgbClr val="FFFFFF"/>
          </a:solidFill>
          <a:ln w="19050">
            <a:solidFill>
              <a:srgbClr val="F59E0B"/>
            </a:solidFill>
          </a:ln>
        </p:spPr>
        <p:txBody>
          <a:bodyPr wrap="square" lIns="0" tIns="0" rIns="0" bIns="0" rtlCol="0" anchor="t"/>
          <a:lstStyle/>
          <a:p>
            <a:endParaRPr lang="en-US"/>
          </a:p>
        </p:txBody>
      </p:sp>
      <p:sp>
        <p:nvSpPr>
          <p:cNvPr id="7" name="Shape 7"/>
          <p:cNvSpPr/>
          <p:nvPr/>
        </p:nvSpPr>
        <p:spPr>
          <a:xfrm>
            <a:off x="548640" y="5577840"/>
            <a:ext cx="109728" cy="685800"/>
          </a:xfrm>
          <a:prstGeom prst="rect">
            <a:avLst/>
          </a:prstGeom>
          <a:solidFill>
            <a:srgbClr val="F59E0B"/>
          </a:solidFill>
          <a:ln>
            <a:noFill/>
          </a:ln>
        </p:spPr>
        <p:txBody>
          <a:bodyPr wrap="square" lIns="0" tIns="0" rIns="0" bIns="0" rtlCol="0" anchor="t"/>
          <a:lstStyle/>
          <a:p>
            <a:endParaRPr lang="en-US"/>
          </a:p>
        </p:txBody>
      </p:sp>
      <p:sp>
        <p:nvSpPr>
          <p:cNvPr id="8" name="Callout"/>
          <p:cNvSpPr/>
          <p:nvPr/>
        </p:nvSpPr>
        <p:spPr>
          <a:xfrm>
            <a:off x="658368" y="5577840"/>
            <a:ext cx="1098468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Only with </a:t>
            </a:r>
            <a:r>
              <a:rPr lang="en-US" sz="2400" dirty="0">
                <a:solidFill>
                  <a:srgbClr val="18324A"/>
                </a:solidFill>
                <a:latin typeface="Consolas"/>
                <a:ea typeface="Consolas"/>
                <a:cs typeface="Consolas"/>
              </a:rPr>
              <a:t>-O2</a:t>
            </a:r>
            <a:r>
              <a:rPr lang="en-US" sz="2400" dirty="0">
                <a:solidFill>
                  <a:srgbClr val="18324A"/>
                </a:solidFill>
              </a:rPr>
              <a:t>, and not always. Never count on gcc to find this bug.</a:t>
            </a:r>
            <a:endParaRPr lang="en-US" sz="2400" dirty="0"/>
          </a:p>
        </p:txBody>
      </p:sp>
      <p:sp>
        <p:nvSpPr>
          <p:cNvPr id="9" name="Shape 9"/>
          <p:cNvSpPr/>
          <p:nvPr/>
        </p:nvSpPr>
        <p:spPr>
          <a:xfrm>
            <a:off x="548640" y="1261872"/>
            <a:ext cx="6766560" cy="2651760"/>
          </a:xfrm>
          <a:prstGeom prst="rect">
            <a:avLst/>
          </a:prstGeom>
          <a:solidFill>
            <a:srgbClr val="0F172A"/>
          </a:solidFill>
          <a:ln>
            <a:noFill/>
          </a:ln>
        </p:spPr>
        <p:txBody>
          <a:bodyPr wrap="square" lIns="0" tIns="0" rIns="0" bIns="0" rtlCol="0" anchor="t"/>
          <a:lstStyle/>
          <a:p>
            <a:endParaRPr lang="en-US"/>
          </a:p>
        </p:txBody>
      </p:sp>
      <p:sp>
        <p:nvSpPr>
          <p:cNvPr id="10" name="Shape 10"/>
          <p:cNvSpPr/>
          <p:nvPr/>
        </p:nvSpPr>
        <p:spPr>
          <a:xfrm>
            <a:off x="548640" y="2625852"/>
            <a:ext cx="6766560" cy="381000"/>
          </a:xfrm>
          <a:prstGeom prst="rect">
            <a:avLst/>
          </a:prstGeom>
          <a:solidFill>
            <a:srgbClr val="25406B"/>
          </a:solidFill>
          <a:ln>
            <a:noFill/>
          </a:ln>
        </p:spPr>
        <p:txBody>
          <a:bodyPr wrap="square" lIns="0" tIns="0" rIns="0" bIns="0" rtlCol="0" anchor="t"/>
          <a:lstStyle/>
          <a:p>
            <a:endParaRPr lang="en-US"/>
          </a:p>
        </p:txBody>
      </p:sp>
      <p:sp>
        <p:nvSpPr>
          <p:cNvPr id="11" name="Shape 11"/>
          <p:cNvSpPr/>
          <p:nvPr/>
        </p:nvSpPr>
        <p:spPr>
          <a:xfrm>
            <a:off x="548640" y="2625852"/>
            <a:ext cx="82296" cy="381000"/>
          </a:xfrm>
          <a:prstGeom prst="rect">
            <a:avLst/>
          </a:prstGeom>
          <a:solidFill>
            <a:srgbClr val="F59E0B"/>
          </a:solidFill>
          <a:ln>
            <a:noFill/>
          </a:ln>
        </p:spPr>
        <p:txBody>
          <a:bodyPr wrap="square" lIns="0" tIns="0" rIns="0" bIns="0" rtlCol="0" anchor="t"/>
          <a:lstStyle/>
          <a:p>
            <a:endParaRPr lang="en-US"/>
          </a:p>
        </p:txBody>
      </p:sp>
      <p:sp>
        <p:nvSpPr>
          <p:cNvPr id="12" name="Code"/>
          <p:cNvSpPr/>
          <p:nvPr/>
        </p:nvSpPr>
        <p:spPr>
          <a:xfrm>
            <a:off x="548640" y="1261872"/>
            <a:ext cx="6766560" cy="2651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64748B"/>
                </a:solidFill>
                <a:latin typeface="Consolas"/>
                <a:ea typeface="Consolas"/>
                <a:cs typeface="Consolas"/>
              </a:rPr>
              <a:t>int main(void) {</a:t>
            </a:r>
            <a:endParaRPr lang="en-US" sz="2400" dirty="0"/>
          </a:p>
          <a:p>
            <a:pPr marL="0" indent="0" algn="l">
              <a:lnSpc>
                <a:spcPts val="3000"/>
              </a:lnSpc>
              <a:buNone/>
            </a:pPr>
            <a:r>
              <a:rPr lang="en-US" sz="2400" dirty="0">
                <a:solidFill>
                  <a:srgbClr val="64748B"/>
                </a:solidFill>
                <a:latin typeface="Consolas"/>
                <a:ea typeface="Consolas"/>
                <a:cs typeface="Consolas"/>
              </a:rPr>
              <a:t>    int a[5] = {10, 20, 30, 40, 50};</a:t>
            </a:r>
            <a:endParaRPr lang="en-US" sz="2400" dirty="0"/>
          </a:p>
          <a:p>
            <a:pPr marL="0" indent="0" algn="l">
              <a:lnSpc>
                <a:spcPts val="3000"/>
              </a:lnSpc>
              <a:buNone/>
            </a:pPr>
            <a:r>
              <a:rPr lang="en-US" sz="2400" dirty="0">
                <a:solidFill>
                  <a:srgbClr val="64748B"/>
                </a:solidFill>
                <a:latin typeface="Consolas"/>
                <a:ea typeface="Consolas"/>
                <a:cs typeface="Consolas"/>
              </a:rPr>
              <a:t> </a:t>
            </a:r>
            <a:endParaRPr lang="en-US" sz="2400" dirty="0"/>
          </a:p>
          <a:p>
            <a:pPr marL="0" indent="0" algn="l">
              <a:lnSpc>
                <a:spcPts val="3000"/>
              </a:lnSpc>
              <a:buNone/>
            </a:pPr>
            <a:r>
              <a:rPr lang="en-US" sz="2400" dirty="0">
                <a:solidFill>
                  <a:srgbClr val="FFFFFF"/>
                </a:solidFill>
                <a:latin typeface="Consolas"/>
                <a:ea typeface="Consolas"/>
                <a:cs typeface="Consolas"/>
              </a:rPr>
              <a:t>    printf("last: %d\n", a[5]);</a:t>
            </a:r>
            <a:endParaRPr lang="en-US" sz="2400" dirty="0"/>
          </a:p>
          <a:p>
            <a:pPr marL="0" indent="0" algn="l">
              <a:lnSpc>
                <a:spcPts val="3000"/>
              </a:lnSpc>
              <a:buNone/>
            </a:pPr>
            <a:r>
              <a:rPr lang="en-US" sz="2400" dirty="0">
                <a:solidFill>
                  <a:srgbClr val="64748B"/>
                </a:solidFill>
                <a:latin typeface="Consolas"/>
                <a:ea typeface="Consolas"/>
                <a:cs typeface="Consolas"/>
              </a:rPr>
              <a:t>    return 0;</a:t>
            </a:r>
            <a:endParaRPr lang="en-US" sz="2400" dirty="0"/>
          </a:p>
          <a:p>
            <a:pPr marL="0" indent="0" algn="l">
              <a:lnSpc>
                <a:spcPts val="3000"/>
              </a:lnSpc>
              <a:buNone/>
            </a:pPr>
            <a:r>
              <a:rPr lang="en-US" sz="2400" dirty="0">
                <a:solidFill>
                  <a:srgbClr val="64748B"/>
                </a:solidFill>
                <a:latin typeface="Consolas"/>
                <a:ea typeface="Consolas"/>
                <a:cs typeface="Consolas"/>
              </a:rPr>
              <a:t>}</a:t>
            </a:r>
            <a:endParaRPr lang="en-US" sz="2400" dirty="0"/>
          </a:p>
        </p:txBody>
      </p:sp>
      <p:sp>
        <p:nvSpPr>
          <p:cNvPr id="13" name="Shape 13"/>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gcc -Wall -O2 says</a:t>
            </a:r>
            <a:endParaRPr lang="en-US" sz="1600" dirty="0"/>
          </a:p>
        </p:txBody>
      </p:sp>
      <p:sp>
        <p:nvSpPr>
          <p:cNvPr id="14" name="Shape 14"/>
          <p:cNvSpPr/>
          <p:nvPr/>
        </p:nvSpPr>
        <p:spPr>
          <a:xfrm>
            <a:off x="7589520" y="1645920"/>
            <a:ext cx="4053535" cy="1889760"/>
          </a:xfrm>
          <a:prstGeom prst="rect">
            <a:avLst/>
          </a:prstGeom>
          <a:solidFill>
            <a:srgbClr val="000000"/>
          </a:solidFill>
          <a:ln>
            <a:noFill/>
          </a:ln>
        </p:spPr>
        <p:txBody>
          <a:bodyPr wrap="square" lIns="0" tIns="0" rIns="0" bIns="0" rtlCol="0" anchor="t"/>
          <a:lstStyle/>
          <a:p>
            <a:endParaRPr lang="en-US"/>
          </a:p>
        </p:txBody>
      </p:sp>
      <p:sp>
        <p:nvSpPr>
          <p:cNvPr id="15" name="Code"/>
          <p:cNvSpPr/>
          <p:nvPr/>
        </p:nvSpPr>
        <p:spPr>
          <a:xfrm>
            <a:off x="7589520" y="1645920"/>
            <a:ext cx="4053535" cy="1889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warning: array</a:t>
            </a:r>
            <a:endParaRPr lang="en-US" sz="2400" dirty="0"/>
          </a:p>
          <a:p>
            <a:pPr marL="0" indent="0" algn="l">
              <a:lnSpc>
                <a:spcPts val="3000"/>
              </a:lnSpc>
              <a:buNone/>
            </a:pPr>
            <a:r>
              <a:rPr lang="en-US" sz="2400" dirty="0">
                <a:solidFill>
                  <a:srgbClr val="D1FAE5"/>
                </a:solidFill>
                <a:latin typeface="Consolas"/>
                <a:ea typeface="Consolas"/>
                <a:cs typeface="Consolas"/>
              </a:rPr>
              <a:t>subscript 5 is above</a:t>
            </a:r>
            <a:endParaRPr lang="en-US" sz="2400" dirty="0"/>
          </a:p>
          <a:p>
            <a:pPr marL="0" indent="0" algn="l">
              <a:lnSpc>
                <a:spcPts val="3000"/>
              </a:lnSpc>
              <a:buNone/>
            </a:pPr>
            <a:r>
              <a:rPr lang="en-US" sz="2400" dirty="0">
                <a:solidFill>
                  <a:srgbClr val="D1FAE5"/>
                </a:solidFill>
                <a:latin typeface="Consolas"/>
                <a:ea typeface="Consolas"/>
                <a:cs typeface="Consolas"/>
              </a:rPr>
              <a:t>array bounds of</a:t>
            </a:r>
            <a:endParaRPr lang="en-US" sz="2400" dirty="0"/>
          </a:p>
          <a:p>
            <a:pPr marL="0" indent="0" algn="l">
              <a:lnSpc>
                <a:spcPts val="3000"/>
              </a:lnSpc>
              <a:buNone/>
            </a:pPr>
            <a:r>
              <a:rPr lang="en-US" sz="2400" dirty="0">
                <a:solidFill>
                  <a:srgbClr val="D1FAE5"/>
                </a:solidFill>
                <a:latin typeface="Consolas"/>
                <a:ea typeface="Consolas"/>
                <a:cs typeface="Consolas"/>
              </a:rPr>
              <a:t>'int[5]'</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 does not check the index</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66</a:t>
            </a:r>
            <a:endParaRPr lang="en-US" sz="1400" dirty="0"/>
          </a:p>
        </p:txBody>
      </p:sp>
      <p:sp>
        <p:nvSpPr>
          <p:cNvPr id="6" name="Shape 6"/>
          <p:cNvSpPr/>
          <p:nvPr/>
        </p:nvSpPr>
        <p:spPr>
          <a:xfrm>
            <a:off x="548640" y="1399032"/>
            <a:ext cx="109728" cy="1402080"/>
          </a:xfrm>
          <a:prstGeom prst="rect">
            <a:avLst/>
          </a:prstGeom>
          <a:solidFill>
            <a:srgbClr val="FF6B6B"/>
          </a:solidFill>
          <a:ln>
            <a:noFill/>
          </a:ln>
        </p:spPr>
        <p:txBody>
          <a:bodyPr wrap="square" lIns="0" tIns="0" rIns="0" bIns="0" rtlCol="0" anchor="t"/>
          <a:lstStyle/>
          <a:p>
            <a:endParaRPr lang="en-US"/>
          </a:p>
        </p:txBody>
      </p:sp>
      <p:sp>
        <p:nvSpPr>
          <p:cNvPr id="7" name="Shape 7"/>
          <p:cNvSpPr/>
          <p:nvPr/>
        </p:nvSpPr>
        <p:spPr>
          <a:xfrm>
            <a:off x="914400" y="1399032"/>
            <a:ext cx="10728655" cy="1402080"/>
          </a:xfrm>
          <a:prstGeom prst="rect">
            <a:avLst/>
          </a:prstGeom>
          <a:noFill/>
          <a:ln>
            <a:noFill/>
          </a:ln>
        </p:spPr>
        <p:txBody>
          <a:bodyPr wrap="square" lIns="0" tIns="0" rIns="0" bIns="0" rtlCol="0" anchor="ctr"/>
          <a:lstStyle/>
          <a:p>
            <a:pPr marL="0" indent="0" algn="l">
              <a:buNone/>
            </a:pPr>
            <a:r>
              <a:rPr lang="en-US" sz="4000" b="1" dirty="0">
                <a:solidFill>
                  <a:srgbClr val="18324A"/>
                </a:solidFill>
              </a:rPr>
              <a:t>Outside 0 to N-1 you read or write memory that is not yours.</a:t>
            </a:r>
            <a:endParaRPr lang="en-US" sz="4000" dirty="0"/>
          </a:p>
        </p:txBody>
      </p:sp>
      <p:sp>
        <p:nvSpPr>
          <p:cNvPr id="8" name="Shape 8"/>
          <p:cNvSpPr/>
          <p:nvPr/>
        </p:nvSpPr>
        <p:spPr>
          <a:xfrm>
            <a:off x="914400" y="3212592"/>
            <a:ext cx="10728655" cy="2057400"/>
          </a:xfrm>
          <a:prstGeom prst="rect">
            <a:avLst/>
          </a:prstGeom>
          <a:noFill/>
          <a:ln>
            <a:noFill/>
          </a:ln>
        </p:spPr>
        <p:txBody>
          <a:bodyPr wrap="square" lIns="0" tIns="0" rIns="0" bIns="0" rtlCol="0" anchor="t"/>
          <a:lstStyle/>
          <a:p>
            <a:pPr marL="0" indent="0" algn="l">
              <a:spcAft>
                <a:spcPts val="1600"/>
              </a:spcAft>
              <a:buNone/>
            </a:pPr>
            <a:r>
              <a:rPr lang="en-US" sz="3000" dirty="0">
                <a:solidFill>
                  <a:srgbClr val="18324A"/>
                </a:solidFill>
              </a:rPr>
              <a:t>Reading: you get some number, a different one each run.</a:t>
            </a:r>
            <a:endParaRPr lang="en-US" sz="3000" dirty="0"/>
          </a:p>
          <a:p>
            <a:pPr marL="0" indent="0" algn="l">
              <a:spcAft>
                <a:spcPts val="1600"/>
              </a:spcAft>
              <a:buNone/>
            </a:pPr>
            <a:r>
              <a:rPr lang="en-US" sz="3000" dirty="0">
                <a:solidFill>
                  <a:srgbClr val="18324A"/>
                </a:solidFill>
              </a:rPr>
              <a:t>Writing: you may change </a:t>
            </a:r>
            <a:r>
              <a:rPr lang="en-US" sz="3000" b="1" dirty="0">
                <a:solidFill>
                  <a:srgbClr val="18324A"/>
                </a:solidFill>
              </a:rPr>
              <a:t>another</a:t>
            </a:r>
            <a:r>
              <a:rPr lang="en-US" sz="3000" dirty="0">
                <a:solidFill>
                  <a:srgbClr val="18324A"/>
                </a:solidFill>
              </a:rPr>
              <a:t> variable, or crash.</a:t>
            </a:r>
            <a:endParaRPr lang="en-US" sz="3000" dirty="0"/>
          </a:p>
          <a:p>
            <a:pPr marL="0" indent="0" algn="l">
              <a:spcAft>
                <a:spcPts val="1600"/>
              </a:spcAft>
              <a:buNone/>
            </a:pPr>
            <a:r>
              <a:rPr lang="en-US" sz="3000" dirty="0">
                <a:solidFill>
                  <a:srgbClr val="18324A"/>
                </a:solidFill>
              </a:rPr>
              <a:t>Your job: every loop </a:t>
            </a:r>
            <a:r>
              <a:rPr lang="en-US" sz="3000" dirty="0">
                <a:solidFill>
                  <a:srgbClr val="2F80ED"/>
                </a:solidFill>
                <a:latin typeface="Consolas"/>
                <a:ea typeface="Consolas"/>
                <a:cs typeface="Consolas"/>
              </a:rPr>
              <a:t>i = 0</a:t>
            </a:r>
            <a:r>
              <a:rPr lang="en-US" sz="3000" dirty="0">
                <a:solidFill>
                  <a:srgbClr val="18324A"/>
                </a:solidFill>
              </a:rPr>
              <a:t> and </a:t>
            </a:r>
            <a:r>
              <a:rPr lang="en-US" sz="3000" dirty="0">
                <a:solidFill>
                  <a:srgbClr val="2F80ED"/>
                </a:solidFill>
                <a:latin typeface="Consolas"/>
                <a:ea typeface="Consolas"/>
                <a:cs typeface="Consolas"/>
              </a:rPr>
              <a:t>i &lt; N</a:t>
            </a:r>
            <a:r>
              <a:rPr lang="en-US" sz="3000" dirty="0">
                <a:solidFill>
                  <a:srgbClr val="18324A"/>
                </a:solidFill>
              </a:rPr>
              <a:t>.</a:t>
            </a:r>
            <a:endParaRPr lang="en-US" sz="3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Copy an array?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67</a:t>
            </a:r>
            <a:endParaRPr lang="en-US" sz="1400" dirty="0"/>
          </a:p>
        </p:txBody>
      </p:sp>
      <p:sp>
        <p:nvSpPr>
          <p:cNvPr id="6" name="Shape 6"/>
          <p:cNvSpPr/>
          <p:nvPr/>
        </p:nvSpPr>
        <p:spPr>
          <a:xfrm>
            <a:off x="548640" y="1261872"/>
            <a:ext cx="2377440" cy="457200"/>
          </a:xfrm>
          <a:prstGeom prst="rect">
            <a:avLst/>
          </a:prstGeom>
          <a:solidFill>
            <a:srgbClr val="FF6B6B"/>
          </a:solidFill>
          <a:ln>
            <a:noFill/>
          </a:ln>
        </p:spPr>
        <p:txBody>
          <a:bodyPr wrap="square" lIns="0" tIns="0" rIns="0" bIns="0" rtlCol="0" anchor="ctr"/>
          <a:lstStyle/>
          <a:p>
            <a:pPr marL="0" indent="0" algn="ctr">
              <a:buNone/>
            </a:pPr>
            <a:r>
              <a:rPr lang="en-US" sz="1800" b="1" dirty="0">
                <a:solidFill>
                  <a:srgbClr val="FFFFFF"/>
                </a:solidFill>
              </a:rPr>
              <a:t>CAREFUL</a:t>
            </a:r>
            <a:endParaRPr lang="en-US" sz="1800" dirty="0"/>
          </a:p>
        </p:txBody>
      </p:sp>
      <p:sp>
        <p:nvSpPr>
          <p:cNvPr id="7" name="Shape 7"/>
          <p:cNvSpPr/>
          <p:nvPr/>
        </p:nvSpPr>
        <p:spPr>
          <a:xfrm>
            <a:off x="548640" y="1947672"/>
            <a:ext cx="4937760"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2F80ED"/>
                </a:solidFill>
                <a:latin typeface="Consolas"/>
                <a:ea typeface="Consolas"/>
                <a:cs typeface="Consolas"/>
              </a:rPr>
              <a:t>b = a;</a:t>
            </a:r>
            <a:r>
              <a:rPr lang="en-US" sz="3200" dirty="0">
                <a:solidFill>
                  <a:srgbClr val="18324A"/>
                </a:solidFill>
              </a:rPr>
              <a:t> should copy the three values.</a:t>
            </a:r>
            <a:endParaRPr lang="en-US" sz="3200" dirty="0"/>
          </a:p>
          <a:p>
            <a:pPr marL="0" indent="0" algn="l">
              <a:spcAft>
                <a:spcPts val="600"/>
              </a:spcAft>
              <a:buNone/>
            </a:pPr>
            <a:r>
              <a:rPr lang="en-US" sz="3200" dirty="0">
                <a:solidFill>
                  <a:srgbClr val="18324A"/>
                </a:solidFill>
              </a:rPr>
              <a:t>Does it compile?</a:t>
            </a:r>
            <a:endParaRPr lang="en-US" sz="3200" dirty="0"/>
          </a:p>
        </p:txBody>
      </p:sp>
      <p:sp>
        <p:nvSpPr>
          <p:cNvPr id="8" name="Shape 8"/>
          <p:cNvSpPr/>
          <p:nvPr/>
        </p:nvSpPr>
        <p:spPr>
          <a:xfrm>
            <a:off x="5760720" y="1261872"/>
            <a:ext cx="5882335" cy="1953260"/>
          </a:xfrm>
          <a:prstGeom prst="rect">
            <a:avLst/>
          </a:prstGeom>
          <a:solidFill>
            <a:srgbClr val="0F172A"/>
          </a:solidFill>
          <a:ln>
            <a:noFill/>
          </a:ln>
        </p:spPr>
        <p:txBody>
          <a:bodyPr wrap="square" lIns="0" tIns="0" rIns="0" bIns="0" rtlCol="0" anchor="t"/>
          <a:lstStyle/>
          <a:p>
            <a:endParaRPr lang="en-US"/>
          </a:p>
        </p:txBody>
      </p:sp>
      <p:sp>
        <p:nvSpPr>
          <p:cNvPr id="9" name="Code"/>
          <p:cNvSpPr/>
          <p:nvPr/>
        </p:nvSpPr>
        <p:spPr>
          <a:xfrm>
            <a:off x="5760720" y="1261872"/>
            <a:ext cx="5882335" cy="19532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E5E7EB"/>
                </a:solidFill>
                <a:latin typeface="Consolas"/>
                <a:ea typeface="Consolas"/>
                <a:cs typeface="Consolas"/>
              </a:rPr>
              <a:t>int a[3] = {1, 2, 3};</a:t>
            </a:r>
            <a:endParaRPr lang="en-US" sz="2000" dirty="0"/>
          </a:p>
          <a:p>
            <a:pPr marL="0" indent="0" algn="l">
              <a:lnSpc>
                <a:spcPts val="2500"/>
              </a:lnSpc>
              <a:buNone/>
            </a:pPr>
            <a:r>
              <a:rPr lang="en-US" sz="2000" dirty="0">
                <a:solidFill>
                  <a:srgbClr val="E5E7EB"/>
                </a:solidFill>
                <a:latin typeface="Consolas"/>
                <a:ea typeface="Consolas"/>
                <a:cs typeface="Consolas"/>
              </a:rPr>
              <a:t>int b[3];</a:t>
            </a:r>
            <a:endParaRPr lang="en-US" sz="2000" dirty="0"/>
          </a:p>
          <a:p>
            <a:pPr marL="0" indent="0" algn="l">
              <a:lnSpc>
                <a:spcPts val="2500"/>
              </a:lnSpc>
              <a:buNone/>
            </a:pPr>
            <a:r>
              <a:rPr lang="en-US" sz="2000" dirty="0">
                <a:solidFill>
                  <a:srgbClr val="E5E7EB"/>
                </a:solidFill>
                <a:latin typeface="Consolas"/>
                <a:ea typeface="Consolas"/>
                <a:cs typeface="Consolas"/>
              </a:rPr>
              <a:t> </a:t>
            </a:r>
            <a:endParaRPr lang="en-US" sz="2000" dirty="0"/>
          </a:p>
          <a:p>
            <a:pPr marL="0" indent="0" algn="l">
              <a:lnSpc>
                <a:spcPts val="2500"/>
              </a:lnSpc>
              <a:buNone/>
            </a:pPr>
            <a:r>
              <a:rPr lang="en-US" sz="2000" dirty="0">
                <a:solidFill>
                  <a:srgbClr val="E5E7EB"/>
                </a:solidFill>
                <a:latin typeface="Consolas"/>
                <a:ea typeface="Consolas"/>
                <a:cs typeface="Consolas"/>
              </a:rPr>
              <a:t>b = a;</a:t>
            </a:r>
            <a:endParaRPr lang="en-US" sz="2000" dirty="0"/>
          </a:p>
          <a:p>
            <a:pPr marL="0" indent="0" algn="l">
              <a:lnSpc>
                <a:spcPts val="2500"/>
              </a:lnSpc>
              <a:buNone/>
            </a:pPr>
            <a:r>
              <a:rPr lang="en-US" sz="2000" dirty="0">
                <a:solidFill>
                  <a:srgbClr val="E5E7EB"/>
                </a:solidFill>
                <a:latin typeface="Consolas"/>
                <a:ea typeface="Consolas"/>
                <a:cs typeface="Consolas"/>
              </a:rPr>
              <a:t>printf("%d %d %d\n", b[0], b[1], b[2]);</a:t>
            </a:r>
            <a:endParaRPr lang="en-US" sz="2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 = a does not compile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68</a:t>
            </a:r>
            <a:endParaRPr lang="en-US" sz="1400" dirty="0"/>
          </a:p>
        </p:txBody>
      </p:sp>
      <p:sp>
        <p:nvSpPr>
          <p:cNvPr id="6" name="Shape 6"/>
          <p:cNvSpPr/>
          <p:nvPr/>
        </p:nvSpPr>
        <p:spPr>
          <a:xfrm>
            <a:off x="548640" y="1261872"/>
            <a:ext cx="6766560" cy="2112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52742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527427"/>
            <a:ext cx="82296" cy="3492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2112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a[3] = {1, 2, 3};</a:t>
            </a:r>
            <a:endParaRPr lang="en-US" sz="2200" dirty="0"/>
          </a:p>
          <a:p>
            <a:pPr marL="0" indent="0" algn="l">
              <a:lnSpc>
                <a:spcPts val="2750"/>
              </a:lnSpc>
              <a:buNone/>
            </a:pPr>
            <a:r>
              <a:rPr lang="en-US" sz="2200" dirty="0">
                <a:solidFill>
                  <a:srgbClr val="64748B"/>
                </a:solidFill>
                <a:latin typeface="Consolas"/>
                <a:ea typeface="Consolas"/>
                <a:cs typeface="Consolas"/>
              </a:rPr>
              <a:t>int b[3];</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FFFFFF"/>
                </a:solidFill>
                <a:latin typeface="Consolas"/>
                <a:ea typeface="Consolas"/>
                <a:cs typeface="Consolas"/>
              </a:rPr>
              <a:t>b = a;</a:t>
            </a:r>
            <a:endParaRPr lang="en-US" sz="2200" dirty="0"/>
          </a:p>
          <a:p>
            <a:pPr marL="0" indent="0" algn="l">
              <a:lnSpc>
                <a:spcPts val="2750"/>
              </a:lnSpc>
              <a:buNone/>
            </a:pPr>
            <a:r>
              <a:rPr lang="en-US" sz="2200" dirty="0">
                <a:solidFill>
                  <a:srgbClr val="64748B"/>
                </a:solidFill>
                <a:latin typeface="Consolas"/>
                <a:ea typeface="Consolas"/>
                <a:cs typeface="Consolas"/>
              </a:rPr>
              <a:t>printf("%d %d %d\n", b[0], b[1], b[2]);</a:t>
            </a:r>
            <a:endParaRPr lang="en-US" sz="2200" dirty="0"/>
          </a:p>
        </p:txBody>
      </p:sp>
      <p:sp>
        <p:nvSpPr>
          <p:cNvPr id="10" name="Shape 1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gcc says</a:t>
            </a:r>
            <a:endParaRPr lang="en-US" sz="1600" dirty="0"/>
          </a:p>
        </p:txBody>
      </p:sp>
      <p:sp>
        <p:nvSpPr>
          <p:cNvPr id="11" name="Shape 11"/>
          <p:cNvSpPr/>
          <p:nvPr/>
        </p:nvSpPr>
        <p:spPr>
          <a:xfrm>
            <a:off x="7589520" y="1645920"/>
            <a:ext cx="4053535" cy="1508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589520" y="1645920"/>
            <a:ext cx="4053535" cy="1508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error: assignment</a:t>
            </a:r>
            <a:endParaRPr lang="en-US" sz="2400" dirty="0"/>
          </a:p>
          <a:p>
            <a:pPr marL="0" indent="0" algn="l">
              <a:lnSpc>
                <a:spcPts val="3000"/>
              </a:lnSpc>
              <a:buNone/>
            </a:pPr>
            <a:r>
              <a:rPr lang="en-US" sz="2400" dirty="0">
                <a:solidFill>
                  <a:srgbClr val="D1FAE5"/>
                </a:solidFill>
                <a:latin typeface="Consolas"/>
                <a:ea typeface="Consolas"/>
                <a:cs typeface="Consolas"/>
              </a:rPr>
              <a:t>to expression with</a:t>
            </a:r>
            <a:endParaRPr lang="en-US" sz="2400" dirty="0"/>
          </a:p>
          <a:p>
            <a:pPr marL="0" indent="0" algn="l">
              <a:lnSpc>
                <a:spcPts val="3000"/>
              </a:lnSpc>
              <a:buNone/>
            </a:pPr>
            <a:r>
              <a:rPr lang="en-US" sz="2400" dirty="0">
                <a:solidFill>
                  <a:srgbClr val="D1FAE5"/>
                </a:solidFill>
                <a:latin typeface="Consolas"/>
                <a:ea typeface="Consolas"/>
                <a:cs typeface="Consolas"/>
              </a:rPr>
              <a:t>array type</a:t>
            </a:r>
            <a:endParaRPr lang="en-US" sz="2400" dirty="0"/>
          </a:p>
        </p:txBody>
      </p:sp>
      <p:sp>
        <p:nvSpPr>
          <p:cNvPr id="13" name="Shape 13"/>
          <p:cNvSpPr/>
          <p:nvPr/>
        </p:nvSpPr>
        <p:spPr>
          <a:xfrm>
            <a:off x="7589520" y="3429000"/>
            <a:ext cx="4053535" cy="1051560"/>
          </a:xfrm>
          <a:prstGeom prst="rect">
            <a:avLst/>
          </a:prstGeom>
          <a:solidFill>
            <a:srgbClr val="FFFFFF"/>
          </a:solidFill>
          <a:ln w="19050">
            <a:solidFill>
              <a:srgbClr val="FF6B6B"/>
            </a:solidFill>
          </a:ln>
        </p:spPr>
        <p:txBody>
          <a:bodyPr wrap="square" lIns="0" tIns="0" rIns="0" bIns="0" rtlCol="0" anchor="t"/>
          <a:lstStyle/>
          <a:p>
            <a:endParaRPr lang="en-US"/>
          </a:p>
        </p:txBody>
      </p:sp>
      <p:sp>
        <p:nvSpPr>
          <p:cNvPr id="14" name="Shape 14"/>
          <p:cNvSpPr/>
          <p:nvPr/>
        </p:nvSpPr>
        <p:spPr>
          <a:xfrm>
            <a:off x="7589520" y="3429000"/>
            <a:ext cx="109728" cy="1051560"/>
          </a:xfrm>
          <a:prstGeom prst="rect">
            <a:avLst/>
          </a:prstGeom>
          <a:solidFill>
            <a:srgbClr val="FF6B6B"/>
          </a:solidFill>
          <a:ln>
            <a:noFill/>
          </a:ln>
        </p:spPr>
        <p:txBody>
          <a:bodyPr wrap="square" lIns="0" tIns="0" rIns="0" bIns="0" rtlCol="0" anchor="t"/>
          <a:lstStyle/>
          <a:p>
            <a:endParaRPr lang="en-US"/>
          </a:p>
        </p:txBody>
      </p:sp>
      <p:sp>
        <p:nvSpPr>
          <p:cNvPr id="15" name="Callout"/>
          <p:cNvSpPr/>
          <p:nvPr/>
        </p:nvSpPr>
        <p:spPr>
          <a:xfrm>
            <a:off x="7699248" y="3429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 whole array cannot be assigned.</a:t>
            </a:r>
            <a:endParaRPr lang="en-US"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Copy box by box</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69</a:t>
            </a:r>
            <a:endParaRPr lang="en-US" sz="1400" dirty="0"/>
          </a:p>
        </p:txBody>
      </p:sp>
      <p:sp>
        <p:nvSpPr>
          <p:cNvPr id="6" name="Shape 6"/>
          <p:cNvSpPr/>
          <p:nvPr/>
        </p:nvSpPr>
        <p:spPr>
          <a:xfrm>
            <a:off x="548640" y="1261872"/>
            <a:ext cx="6766560" cy="3540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429002"/>
            <a:ext cx="676656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429002"/>
            <a:ext cx="82296" cy="317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2746502"/>
            <a:ext cx="6766560" cy="317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2746502"/>
            <a:ext cx="82296" cy="3175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064002"/>
            <a:ext cx="6766560" cy="3175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064002"/>
            <a:ext cx="82296" cy="317500"/>
          </a:xfrm>
          <a:prstGeom prst="rect">
            <a:avLst/>
          </a:prstGeom>
          <a:solidFill>
            <a:srgbClr val="F59E0B"/>
          </a:solidFill>
          <a:ln>
            <a:noFill/>
          </a:ln>
        </p:spPr>
        <p:txBody>
          <a:bodyPr wrap="square" lIns="0" tIns="0" rIns="0" bIns="0" rtlCol="0" anchor="t"/>
          <a:lstStyle/>
          <a:p>
            <a:endParaRPr lang="en-US"/>
          </a:p>
        </p:txBody>
      </p:sp>
      <p:sp>
        <p:nvSpPr>
          <p:cNvPr id="13" name="Shape 13"/>
          <p:cNvSpPr/>
          <p:nvPr/>
        </p:nvSpPr>
        <p:spPr>
          <a:xfrm>
            <a:off x="548640" y="3381502"/>
            <a:ext cx="6766560" cy="317500"/>
          </a:xfrm>
          <a:prstGeom prst="rect">
            <a:avLst/>
          </a:prstGeom>
          <a:solidFill>
            <a:srgbClr val="25406B"/>
          </a:solidFill>
          <a:ln>
            <a:noFill/>
          </a:ln>
        </p:spPr>
        <p:txBody>
          <a:bodyPr wrap="square" lIns="0" tIns="0" rIns="0" bIns="0" rtlCol="0" anchor="t"/>
          <a:lstStyle/>
          <a:p>
            <a:endParaRPr lang="en-US"/>
          </a:p>
        </p:txBody>
      </p:sp>
      <p:sp>
        <p:nvSpPr>
          <p:cNvPr id="14" name="Shape 14"/>
          <p:cNvSpPr/>
          <p:nvPr/>
        </p:nvSpPr>
        <p:spPr>
          <a:xfrm>
            <a:off x="548640" y="3381502"/>
            <a:ext cx="82296" cy="317500"/>
          </a:xfrm>
          <a:prstGeom prst="rect">
            <a:avLst/>
          </a:prstGeom>
          <a:solidFill>
            <a:srgbClr val="F59E0B"/>
          </a:solidFill>
          <a:ln>
            <a:noFill/>
          </a:ln>
        </p:spPr>
        <p:txBody>
          <a:bodyPr wrap="square" lIns="0" tIns="0" rIns="0" bIns="0" rtlCol="0" anchor="t"/>
          <a:lstStyle/>
          <a:p>
            <a:endParaRPr lang="en-US"/>
          </a:p>
        </p:txBody>
      </p:sp>
      <p:sp>
        <p:nvSpPr>
          <p:cNvPr id="15" name="Code"/>
          <p:cNvSpPr/>
          <p:nvPr/>
        </p:nvSpPr>
        <p:spPr>
          <a:xfrm>
            <a:off x="548640" y="1261872"/>
            <a:ext cx="6766560" cy="3540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a[3] = {1, 2, 3};</a:t>
            </a:r>
            <a:endParaRPr lang="en-US" sz="2000" dirty="0"/>
          </a:p>
          <a:p>
            <a:pPr marL="0" indent="0" algn="l">
              <a:lnSpc>
                <a:spcPts val="2500"/>
              </a:lnSpc>
              <a:buNone/>
            </a:pPr>
            <a:r>
              <a:rPr lang="en-US" sz="2000" dirty="0">
                <a:solidFill>
                  <a:srgbClr val="64748B"/>
                </a:solidFill>
                <a:latin typeface="Consolas"/>
                <a:ea typeface="Consolas"/>
                <a:cs typeface="Consolas"/>
              </a:rPr>
              <a:t>int b[3];</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FFFFFF"/>
                </a:solidFill>
                <a:latin typeface="Consolas"/>
                <a:ea typeface="Consolas"/>
                <a:cs typeface="Consolas"/>
              </a:rPr>
              <a:t>for (int i = 0; i &lt; 3; i++) {</a:t>
            </a:r>
            <a:endParaRPr lang="en-US" sz="2000" dirty="0"/>
          </a:p>
          <a:p>
            <a:pPr marL="0" indent="0" algn="l">
              <a:lnSpc>
                <a:spcPts val="2500"/>
              </a:lnSpc>
              <a:buNone/>
            </a:pPr>
            <a:r>
              <a:rPr lang="en-US" sz="2000" dirty="0">
                <a:solidFill>
                  <a:srgbClr val="FFFFFF"/>
                </a:solidFill>
                <a:latin typeface="Consolas"/>
                <a:ea typeface="Consolas"/>
                <a:cs typeface="Consolas"/>
              </a:rPr>
              <a:t>    b[i] = a[i];</a:t>
            </a:r>
            <a:endParaRPr lang="en-US" sz="2000" dirty="0"/>
          </a:p>
          <a:p>
            <a:pPr marL="0" indent="0" algn="l">
              <a:lnSpc>
                <a:spcPts val="2500"/>
              </a:lnSpc>
              <a:buNone/>
            </a:pPr>
            <a:r>
              <a:rPr lang="en-US" sz="2000" dirty="0">
                <a:solidFill>
                  <a:srgbClr val="FFFFFF"/>
                </a:solidFill>
                <a:latin typeface="Consolas"/>
                <a:ea typeface="Consolas"/>
                <a:cs typeface="Consolas"/>
              </a:rPr>
              <a:t>}</a:t>
            </a:r>
            <a:endParaRPr lang="en-US" sz="2000" dirty="0"/>
          </a:p>
          <a:p>
            <a:pPr marL="0" indent="0" algn="l">
              <a:lnSpc>
                <a:spcPts val="2500"/>
              </a:lnSpc>
              <a:buNone/>
            </a:pPr>
            <a:r>
              <a:rPr lang="en-US" sz="2000" dirty="0">
                <a:solidFill>
                  <a:srgbClr val="FFFFFF"/>
                </a:solidFill>
                <a:latin typeface="Consolas"/>
                <a:ea typeface="Consolas"/>
                <a:cs typeface="Consolas"/>
              </a:rPr>
              <a:t>b[0] = 100;</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printf("a: %d %d %d\n", a[0], a[1], a[2]);</a:t>
            </a:r>
            <a:endParaRPr lang="en-US" sz="2000" dirty="0"/>
          </a:p>
          <a:p>
            <a:pPr marL="0" indent="0" algn="l">
              <a:lnSpc>
                <a:spcPts val="2500"/>
              </a:lnSpc>
              <a:buNone/>
            </a:pPr>
            <a:r>
              <a:rPr lang="en-US" sz="2000" dirty="0">
                <a:solidFill>
                  <a:srgbClr val="64748B"/>
                </a:solidFill>
                <a:latin typeface="Consolas"/>
                <a:ea typeface="Consolas"/>
                <a:cs typeface="Consolas"/>
              </a:rPr>
              <a:t>printf("b: %d %d %d\n", b[0], b[1], b[2]);</a:t>
            </a:r>
            <a:endParaRPr lang="en-US" sz="2000" dirty="0"/>
          </a:p>
        </p:txBody>
      </p:sp>
      <p:sp>
        <p:nvSpPr>
          <p:cNvPr id="16" name="Shape 16"/>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7" name="Shape 17"/>
          <p:cNvSpPr/>
          <p:nvPr/>
        </p:nvSpPr>
        <p:spPr>
          <a:xfrm>
            <a:off x="7589520" y="1645920"/>
            <a:ext cx="4053535" cy="1127760"/>
          </a:xfrm>
          <a:prstGeom prst="rect">
            <a:avLst/>
          </a:prstGeom>
          <a:solidFill>
            <a:srgbClr val="000000"/>
          </a:solidFill>
          <a:ln>
            <a:noFill/>
          </a:ln>
        </p:spPr>
        <p:txBody>
          <a:bodyPr wrap="square" lIns="0" tIns="0" rIns="0" bIns="0" rtlCol="0" anchor="t"/>
          <a:lstStyle/>
          <a:p>
            <a:endParaRPr lang="en-US"/>
          </a:p>
        </p:txBody>
      </p:sp>
      <p:sp>
        <p:nvSpPr>
          <p:cNvPr id="18" name="Code"/>
          <p:cNvSpPr/>
          <p:nvPr/>
        </p:nvSpPr>
        <p:spPr>
          <a:xfrm>
            <a:off x="7589520" y="1645920"/>
            <a:ext cx="4053535" cy="1127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a: 1 2 3</a:t>
            </a:r>
            <a:endParaRPr lang="en-US" sz="2400" dirty="0"/>
          </a:p>
          <a:p>
            <a:pPr marL="0" indent="0" algn="l">
              <a:lnSpc>
                <a:spcPts val="3000"/>
              </a:lnSpc>
              <a:buNone/>
            </a:pPr>
            <a:r>
              <a:rPr lang="en-US" sz="2400" dirty="0">
                <a:solidFill>
                  <a:srgbClr val="D1FAE5"/>
                </a:solidFill>
                <a:latin typeface="Consolas"/>
                <a:ea typeface="Consolas"/>
                <a:cs typeface="Consolas"/>
              </a:rPr>
              <a:t>b: 100 2 3</a:t>
            </a:r>
            <a:endParaRPr lang="en-US" sz="2400" dirty="0"/>
          </a:p>
        </p:txBody>
      </p:sp>
      <p:sp>
        <p:nvSpPr>
          <p:cNvPr id="19" name="Shape 19"/>
          <p:cNvSpPr/>
          <p:nvPr/>
        </p:nvSpPr>
        <p:spPr>
          <a:xfrm>
            <a:off x="7589520" y="3048000"/>
            <a:ext cx="4053535" cy="68580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20" name="Shape 20"/>
          <p:cNvSpPr/>
          <p:nvPr/>
        </p:nvSpPr>
        <p:spPr>
          <a:xfrm>
            <a:off x="7589520" y="3048000"/>
            <a:ext cx="109728" cy="685800"/>
          </a:xfrm>
          <a:prstGeom prst="rect">
            <a:avLst/>
          </a:prstGeom>
          <a:solidFill>
            <a:srgbClr val="31C48D"/>
          </a:solidFill>
          <a:ln>
            <a:noFill/>
          </a:ln>
        </p:spPr>
        <p:txBody>
          <a:bodyPr wrap="square" lIns="0" tIns="0" rIns="0" bIns="0" rtlCol="0" anchor="t"/>
          <a:lstStyle/>
          <a:p>
            <a:endParaRPr lang="en-US"/>
          </a:p>
        </p:txBody>
      </p:sp>
      <p:sp>
        <p:nvSpPr>
          <p:cNvPr id="21" name="Callout"/>
          <p:cNvSpPr/>
          <p:nvPr/>
        </p:nvSpPr>
        <p:spPr>
          <a:xfrm>
            <a:off x="7699248" y="3048000"/>
            <a:ext cx="3943807" cy="68580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 loop copies each box.</a:t>
            </a:r>
            <a:endParaRPr lang="en-US" sz="2400" dirty="0"/>
          </a:p>
        </p:txBody>
      </p:sp>
      <p:sp>
        <p:nvSpPr>
          <p:cNvPr id="22" name="Shape 22"/>
          <p:cNvSpPr/>
          <p:nvPr/>
        </p:nvSpPr>
        <p:spPr>
          <a:xfrm>
            <a:off x="7589520" y="3934968"/>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23" name="Shape 23"/>
          <p:cNvSpPr/>
          <p:nvPr/>
        </p:nvSpPr>
        <p:spPr>
          <a:xfrm>
            <a:off x="7589520" y="3934968"/>
            <a:ext cx="109728" cy="1051560"/>
          </a:xfrm>
          <a:prstGeom prst="rect">
            <a:avLst/>
          </a:prstGeom>
          <a:solidFill>
            <a:srgbClr val="31C48D"/>
          </a:solidFill>
          <a:ln>
            <a:noFill/>
          </a:ln>
        </p:spPr>
        <p:txBody>
          <a:bodyPr wrap="square" lIns="0" tIns="0" rIns="0" bIns="0" rtlCol="0" anchor="t"/>
          <a:lstStyle/>
          <a:p>
            <a:endParaRPr lang="en-US"/>
          </a:p>
        </p:txBody>
      </p:sp>
      <p:sp>
        <p:nvSpPr>
          <p:cNvPr id="24" name="Callout"/>
          <p:cNvSpPr/>
          <p:nvPr/>
        </p:nvSpPr>
        <p:spPr>
          <a:xfrm>
            <a:off x="7699248" y="3934968"/>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b</a:t>
            </a:r>
            <a:r>
              <a:rPr lang="en-US" sz="2400" dirty="0">
                <a:solidFill>
                  <a:srgbClr val="18324A"/>
                </a:solidFill>
              </a:rPr>
              <a:t> is a real copy: changing it leaves </a:t>
            </a:r>
            <a:r>
              <a:rPr lang="en-US" sz="2400" dirty="0">
                <a:solidFill>
                  <a:srgbClr val="18324A"/>
                </a:solidFill>
                <a:latin typeface="Consolas"/>
                <a:ea typeface="Consolas"/>
                <a:cs typeface="Consolas"/>
              </a:rPr>
              <a:t>a</a:t>
            </a:r>
            <a:r>
              <a:rPr lang="en-US" sz="2400" dirty="0">
                <a:solidFill>
                  <a:srgbClr val="18324A"/>
                </a:solidFill>
              </a:rPr>
              <a:t> alone.</a:t>
            </a:r>
            <a:endParaRPr 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Three mistakes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70</a:t>
            </a:r>
            <a:endParaRPr lang="en-US" sz="1400" dirty="0"/>
          </a:p>
        </p:txBody>
      </p:sp>
      <p:sp>
        <p:nvSpPr>
          <p:cNvPr id="6" name="Shape 6"/>
          <p:cNvSpPr/>
          <p:nvPr/>
        </p:nvSpPr>
        <p:spPr>
          <a:xfrm>
            <a:off x="548640" y="1261872"/>
            <a:ext cx="3480601"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mistake</a:t>
            </a:r>
            <a:endParaRPr lang="en-US" sz="1800" dirty="0"/>
          </a:p>
        </p:txBody>
      </p:sp>
      <p:sp>
        <p:nvSpPr>
          <p:cNvPr id="7" name="Shape 7"/>
          <p:cNvSpPr/>
          <p:nvPr/>
        </p:nvSpPr>
        <p:spPr>
          <a:xfrm>
            <a:off x="4029241" y="1261872"/>
            <a:ext cx="4133214"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what happens</a:t>
            </a:r>
            <a:endParaRPr lang="en-US" sz="1800" dirty="0"/>
          </a:p>
        </p:txBody>
      </p:sp>
      <p:sp>
        <p:nvSpPr>
          <p:cNvPr id="8" name="Shape 8"/>
          <p:cNvSpPr/>
          <p:nvPr/>
        </p:nvSpPr>
        <p:spPr>
          <a:xfrm>
            <a:off x="8162454" y="1261872"/>
            <a:ext cx="3480601" cy="658368"/>
          </a:xfrm>
          <a:prstGeom prst="rect">
            <a:avLst/>
          </a:prstGeom>
          <a:solidFill>
            <a:srgbClr val="18324A"/>
          </a:solidFill>
          <a:ln w="12700">
            <a:solidFill>
              <a:srgbClr val="FFFFFF"/>
            </a:solidFill>
          </a:ln>
        </p:spPr>
        <p:txBody>
          <a:bodyPr wrap="square" lIns="0" tIns="0" rIns="0" bIns="0" rtlCol="0" anchor="ctr"/>
          <a:lstStyle/>
          <a:p>
            <a:pPr marL="0" indent="0" algn="ctr">
              <a:buNone/>
            </a:pPr>
            <a:r>
              <a:rPr lang="en-US" sz="1800" b="1" dirty="0">
                <a:solidFill>
                  <a:srgbClr val="FFFFFF"/>
                </a:solidFill>
              </a:rPr>
              <a:t>fix</a:t>
            </a:r>
            <a:endParaRPr lang="en-US" sz="1800" dirty="0"/>
          </a:p>
        </p:txBody>
      </p:sp>
      <p:sp>
        <p:nvSpPr>
          <p:cNvPr id="9" name="Shape 9"/>
          <p:cNvSpPr/>
          <p:nvPr/>
        </p:nvSpPr>
        <p:spPr>
          <a:xfrm>
            <a:off x="548640" y="1920240"/>
            <a:ext cx="3480601"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i &lt;= 5</a:t>
            </a:r>
            <a:r>
              <a:rPr lang="en-US" sz="2400" dirty="0">
                <a:solidFill>
                  <a:srgbClr val="18324A"/>
                </a:solidFill>
              </a:rPr>
              <a:t> for 5 boxes</a:t>
            </a:r>
            <a:endParaRPr lang="en-US" sz="2400" dirty="0"/>
          </a:p>
        </p:txBody>
      </p:sp>
      <p:sp>
        <p:nvSpPr>
          <p:cNvPr id="10" name="Shape 10"/>
          <p:cNvSpPr/>
          <p:nvPr/>
        </p:nvSpPr>
        <p:spPr>
          <a:xfrm>
            <a:off x="4029241" y="1920240"/>
            <a:ext cx="413321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reads </a:t>
            </a:r>
            <a:r>
              <a:rPr lang="en-US" sz="2400" dirty="0">
                <a:solidFill>
                  <a:srgbClr val="18324A"/>
                </a:solidFill>
                <a:latin typeface="Consolas"/>
                <a:ea typeface="Consolas"/>
                <a:cs typeface="Consolas"/>
              </a:rPr>
              <a:t>a[5]</a:t>
            </a:r>
            <a:r>
              <a:rPr lang="en-US" sz="2400" dirty="0">
                <a:solidFill>
                  <a:srgbClr val="18324A"/>
                </a:solidFill>
              </a:rPr>
              <a:t>: a wrong number</a:t>
            </a:r>
            <a:endParaRPr lang="en-US" sz="2400" dirty="0"/>
          </a:p>
        </p:txBody>
      </p:sp>
      <p:sp>
        <p:nvSpPr>
          <p:cNvPr id="11" name="Shape 11"/>
          <p:cNvSpPr/>
          <p:nvPr/>
        </p:nvSpPr>
        <p:spPr>
          <a:xfrm>
            <a:off x="8162454" y="1920240"/>
            <a:ext cx="3480601"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i &lt; 5</a:t>
            </a:r>
            <a:endParaRPr lang="en-US" sz="2400" dirty="0"/>
          </a:p>
        </p:txBody>
      </p:sp>
      <p:sp>
        <p:nvSpPr>
          <p:cNvPr id="12" name="Shape 12"/>
          <p:cNvSpPr/>
          <p:nvPr/>
        </p:nvSpPr>
        <p:spPr>
          <a:xfrm>
            <a:off x="548640" y="2578608"/>
            <a:ext cx="3480601"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a[5]</a:t>
            </a:r>
            <a:r>
              <a:rPr lang="en-US" sz="2400" dirty="0">
                <a:solidFill>
                  <a:srgbClr val="18324A"/>
                </a:solidFill>
              </a:rPr>
              <a:t> as the last box</a:t>
            </a:r>
            <a:endParaRPr lang="en-US" sz="2400" dirty="0"/>
          </a:p>
        </p:txBody>
      </p:sp>
      <p:sp>
        <p:nvSpPr>
          <p:cNvPr id="13" name="Shape 13"/>
          <p:cNvSpPr/>
          <p:nvPr/>
        </p:nvSpPr>
        <p:spPr>
          <a:xfrm>
            <a:off x="4029241" y="2578608"/>
            <a:ext cx="4133214"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rPr>
              <a:t>a wrong number, no error</a:t>
            </a:r>
            <a:endParaRPr lang="en-US" sz="2400" dirty="0"/>
          </a:p>
        </p:txBody>
      </p:sp>
      <p:sp>
        <p:nvSpPr>
          <p:cNvPr id="14" name="Shape 14"/>
          <p:cNvSpPr/>
          <p:nvPr/>
        </p:nvSpPr>
        <p:spPr>
          <a:xfrm>
            <a:off x="8162454" y="2578608"/>
            <a:ext cx="3480601" cy="658368"/>
          </a:xfrm>
          <a:prstGeom prst="rect">
            <a:avLst/>
          </a:prstGeom>
          <a:solidFill>
            <a:srgbClr val="F4F7FB"/>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a[4]</a:t>
            </a:r>
            <a:endParaRPr lang="en-US" sz="2400" dirty="0"/>
          </a:p>
        </p:txBody>
      </p:sp>
      <p:sp>
        <p:nvSpPr>
          <p:cNvPr id="15" name="Shape 15"/>
          <p:cNvSpPr/>
          <p:nvPr/>
        </p:nvSpPr>
        <p:spPr>
          <a:xfrm>
            <a:off x="548640" y="3236976"/>
            <a:ext cx="3480601"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latin typeface="Consolas"/>
                <a:ea typeface="Consolas"/>
                <a:cs typeface="Consolas"/>
              </a:rPr>
              <a:t>b = a;</a:t>
            </a:r>
            <a:endParaRPr lang="en-US" sz="2400" dirty="0"/>
          </a:p>
        </p:txBody>
      </p:sp>
      <p:sp>
        <p:nvSpPr>
          <p:cNvPr id="16" name="Shape 16"/>
          <p:cNvSpPr/>
          <p:nvPr/>
        </p:nvSpPr>
        <p:spPr>
          <a:xfrm>
            <a:off x="4029241" y="3236976"/>
            <a:ext cx="4133214"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does not compile</a:t>
            </a:r>
            <a:endParaRPr lang="en-US" sz="2400" dirty="0"/>
          </a:p>
        </p:txBody>
      </p:sp>
      <p:sp>
        <p:nvSpPr>
          <p:cNvPr id="17" name="Shape 17"/>
          <p:cNvSpPr/>
          <p:nvPr/>
        </p:nvSpPr>
        <p:spPr>
          <a:xfrm>
            <a:off x="8162454" y="3236976"/>
            <a:ext cx="3480601" cy="658368"/>
          </a:xfrm>
          <a:prstGeom prst="rect">
            <a:avLst/>
          </a:prstGeom>
          <a:solidFill>
            <a:srgbClr val="FFFFFF"/>
          </a:solidFill>
          <a:ln w="12700">
            <a:solidFill>
              <a:srgbClr val="D8E0EA"/>
            </a:solidFill>
          </a:ln>
        </p:spPr>
        <p:txBody>
          <a:bodyPr wrap="square" lIns="0" tIns="0" rIns="0" bIns="0" rtlCol="0" anchor="ctr"/>
          <a:lstStyle/>
          <a:p>
            <a:pPr marL="0" indent="0" algn="ctr">
              <a:buNone/>
            </a:pPr>
            <a:r>
              <a:rPr lang="en-US" sz="2400" dirty="0">
                <a:solidFill>
                  <a:srgbClr val="18324A"/>
                </a:solidFill>
              </a:rPr>
              <a:t>a loop: </a:t>
            </a:r>
            <a:r>
              <a:rPr lang="en-US" sz="2400" dirty="0">
                <a:solidFill>
                  <a:srgbClr val="18324A"/>
                </a:solidFill>
                <a:latin typeface="Consolas"/>
                <a:ea typeface="Consolas"/>
                <a:cs typeface="Consolas"/>
              </a:rPr>
              <a:t>b[i] = a[i];</a:t>
            </a:r>
            <a:endParaRPr lang="en-US" sz="2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173A5E"/>
        </a:solidFill>
        <a:effectLst/>
      </p:bgPr>
    </p:bg>
    <p:spTree>
      <p:nvGrpSpPr>
        <p:cNvPr id="1" name=""/>
        <p:cNvGrpSpPr/>
        <p:nvPr/>
      </p:nvGrpSpPr>
      <p:grpSpPr>
        <a:xfrm>
          <a:off x="0" y="0"/>
          <a:ext cx="0" cy="0"/>
          <a:chOff x="0" y="0"/>
          <a:chExt cx="0" cy="0"/>
        </a:xfrm>
      </p:grpSpPr>
      <p:sp>
        <p:nvSpPr>
          <p:cNvPr id="2" name="Shape 2"/>
          <p:cNvSpPr/>
          <p:nvPr/>
        </p:nvSpPr>
        <p:spPr>
          <a:xfrm>
            <a:off x="731520" y="2011680"/>
            <a:ext cx="1188720" cy="1188720"/>
          </a:xfrm>
          <a:prstGeom prst="rect">
            <a:avLst/>
          </a:prstGeom>
          <a:solidFill>
            <a:srgbClr val="FF6B6B"/>
          </a:solidFill>
          <a:ln>
            <a:noFill/>
          </a:ln>
        </p:spPr>
        <p:txBody>
          <a:bodyPr wrap="square" lIns="0" tIns="0" rIns="0" bIns="0" rtlCol="0" anchor="ctr"/>
          <a:lstStyle/>
          <a:p>
            <a:pPr marL="0" indent="0" algn="ctr">
              <a:buNone/>
            </a:pPr>
            <a:r>
              <a:rPr lang="en-US" sz="5400" b="1" dirty="0">
                <a:solidFill>
                  <a:srgbClr val="FFFFFF"/>
                </a:solidFill>
              </a:rPr>
              <a:t>5</a:t>
            </a:r>
            <a:endParaRPr lang="en-US" sz="5400" dirty="0"/>
          </a:p>
        </p:txBody>
      </p:sp>
      <p:sp>
        <p:nvSpPr>
          <p:cNvPr id="3" name="Shape 3"/>
          <p:cNvSpPr/>
          <p:nvPr/>
        </p:nvSpPr>
        <p:spPr>
          <a:xfrm>
            <a:off x="2286000" y="1920240"/>
            <a:ext cx="9326880" cy="1371600"/>
          </a:xfrm>
          <a:prstGeom prst="rect">
            <a:avLst/>
          </a:prstGeom>
          <a:noFill/>
          <a:ln>
            <a:noFill/>
          </a:ln>
        </p:spPr>
        <p:txBody>
          <a:bodyPr wrap="square" lIns="0" tIns="0" rIns="0" bIns="0" rtlCol="0" anchor="ctr"/>
          <a:lstStyle/>
          <a:p>
            <a:pPr marL="0" indent="0" algn="l">
              <a:buNone/>
            </a:pPr>
            <a:r>
              <a:rPr lang="en-US" sz="4800" b="1" dirty="0">
                <a:solidFill>
                  <a:srgbClr val="FFFFFF"/>
                </a:solidFill>
              </a:rPr>
              <a:t>Your turn</a:t>
            </a:r>
            <a:endParaRPr lang="en-US" sz="4800" dirty="0"/>
          </a:p>
        </p:txBody>
      </p:sp>
      <p:sp>
        <p:nvSpPr>
          <p:cNvPr id="4" name="Shape 4"/>
          <p:cNvSpPr/>
          <p:nvPr/>
        </p:nvSpPr>
        <p:spPr>
          <a:xfrm>
            <a:off x="2286000" y="3474720"/>
            <a:ext cx="9326880" cy="1097280"/>
          </a:xfrm>
          <a:prstGeom prst="rect">
            <a:avLst/>
          </a:prstGeom>
          <a:noFill/>
          <a:ln>
            <a:noFill/>
          </a:ln>
        </p:spPr>
        <p:txBody>
          <a:bodyPr wrap="square" lIns="0" tIns="0" rIns="0" bIns="0" rtlCol="0" anchor="t"/>
          <a:lstStyle/>
          <a:p>
            <a:pPr marL="0" indent="0" algn="l">
              <a:buNone/>
            </a:pPr>
            <a:r>
              <a:rPr lang="en-US" sz="2600" dirty="0">
                <a:solidFill>
                  <a:srgbClr val="D7E3F0"/>
                </a:solidFill>
              </a:rPr>
              <a:t>Three small programs</a:t>
            </a:r>
            <a:endParaRPr lang="en-US" sz="2600" dirty="0"/>
          </a:p>
        </p:txBody>
      </p:sp>
      <p:sp>
        <p:nvSpPr>
          <p:cNvPr id="5" name="Shape 5"/>
          <p:cNvSpPr/>
          <p:nvPr/>
        </p:nvSpPr>
        <p:spPr>
          <a:xfrm>
            <a:off x="731520" y="6263640"/>
            <a:ext cx="7315200" cy="274320"/>
          </a:xfrm>
          <a:prstGeom prst="rect">
            <a:avLst/>
          </a:prstGeom>
          <a:noFill/>
          <a:ln>
            <a:noFill/>
          </a:ln>
        </p:spPr>
        <p:txBody>
          <a:bodyPr wrap="square" lIns="0" tIns="0" rIns="0" bIns="0" rtlCol="0" anchor="t"/>
          <a:lstStyle/>
          <a:p>
            <a:pPr marL="0" indent="0" algn="l">
              <a:buNone/>
            </a:pPr>
            <a:r>
              <a:rPr lang="en-US" sz="1200" dirty="0">
                <a:solidFill>
                  <a:srgbClr val="D7E3F0"/>
                </a:solidFill>
              </a:rPr>
              <a:t>CSCI 1101 · Programming Principles I · Class 9</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Task 1: a week of temperatures</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72</a:t>
            </a:r>
            <a:endParaRPr lang="en-US" sz="1400" dirty="0"/>
          </a:p>
        </p:txBody>
      </p:sp>
      <p:sp>
        <p:nvSpPr>
          <p:cNvPr id="6" name="Shape 6"/>
          <p:cNvSpPr/>
          <p:nvPr/>
        </p:nvSpPr>
        <p:spPr>
          <a:xfrm>
            <a:off x="548640" y="1261872"/>
            <a:ext cx="2377440" cy="457200"/>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YOUR TURN</a:t>
            </a:r>
            <a:endParaRPr lang="en-US" sz="1800" dirty="0"/>
          </a:p>
        </p:txBody>
      </p:sp>
      <p:sp>
        <p:nvSpPr>
          <p:cNvPr id="7" name="Shape 7"/>
          <p:cNvSpPr/>
          <p:nvPr/>
        </p:nvSpPr>
        <p:spPr>
          <a:xfrm>
            <a:off x="548640" y="1947672"/>
            <a:ext cx="11094415" cy="262128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Read the temperatures of the </a:t>
            </a:r>
            <a:r>
              <a:rPr lang="en-US" sz="3200" b="1" dirty="0">
                <a:solidFill>
                  <a:srgbClr val="18324A"/>
                </a:solidFill>
              </a:rPr>
              <a:t>7</a:t>
            </a:r>
            <a:r>
              <a:rPr lang="en-US" sz="3200" dirty="0">
                <a:solidFill>
                  <a:srgbClr val="18324A"/>
                </a:solidFill>
              </a:rPr>
              <a:t> days into a </a:t>
            </a:r>
            <a:r>
              <a:rPr lang="en-US" sz="3200" dirty="0">
                <a:solidFill>
                  <a:srgbClr val="2F80ED"/>
                </a:solidFill>
                <a:latin typeface="Consolas"/>
                <a:ea typeface="Consolas"/>
                <a:cs typeface="Consolas"/>
              </a:rPr>
              <a:t>double</a:t>
            </a:r>
            <a:r>
              <a:rPr lang="en-US" sz="3200" dirty="0">
                <a:solidFill>
                  <a:srgbClr val="18324A"/>
                </a:solidFill>
              </a:rPr>
              <a:t> array.</a:t>
            </a:r>
            <a:endParaRPr lang="en-US" sz="3200" dirty="0"/>
          </a:p>
          <a:p>
            <a:pPr marL="0" indent="0" algn="l">
              <a:spcAft>
                <a:spcPts val="600"/>
              </a:spcAft>
              <a:buNone/>
            </a:pPr>
            <a:r>
              <a:rPr lang="en-US" sz="3200" dirty="0">
                <a:solidFill>
                  <a:srgbClr val="18324A"/>
                </a:solidFill>
              </a:rPr>
              <a:t>Print them in one line.</a:t>
            </a:r>
            <a:endParaRPr lang="en-US" sz="3200" dirty="0"/>
          </a:p>
          <a:p>
            <a:pPr marL="0" indent="0" algn="l">
              <a:spcAft>
                <a:spcPts val="600"/>
              </a:spcAft>
              <a:buNone/>
            </a:pPr>
            <a:r>
              <a:rPr lang="en-US" sz="3200" dirty="0">
                <a:solidFill>
                  <a:srgbClr val="18324A"/>
                </a:solidFill>
              </a:rPr>
              <a:t>Print their average.</a:t>
            </a:r>
            <a:endParaRPr lang="en-US" sz="3200" dirty="0"/>
          </a:p>
          <a:p>
            <a:pPr marL="0" indent="0" algn="l">
              <a:spcAft>
                <a:spcPts val="600"/>
              </a:spcAft>
              <a:buNone/>
            </a:pPr>
            <a:r>
              <a:rPr lang="en-US" sz="3200" dirty="0">
                <a:solidFill>
                  <a:srgbClr val="18324A"/>
                </a:solidFill>
              </a:rPr>
              <a:t>Input: </a:t>
            </a:r>
            <a:r>
              <a:rPr lang="en-US" sz="3200" dirty="0">
                <a:solidFill>
                  <a:srgbClr val="2F80ED"/>
                </a:solidFill>
                <a:latin typeface="Consolas"/>
                <a:ea typeface="Consolas"/>
                <a:cs typeface="Consolas"/>
              </a:rPr>
              <a:t>18 21 19 23 25 22 20</a:t>
            </a:r>
            <a:endParaRPr lang="en-US" sz="3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Task 1: one answer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73</a:t>
            </a:r>
            <a:endParaRPr lang="en-US" sz="1400" dirty="0"/>
          </a:p>
        </p:txBody>
      </p:sp>
      <p:sp>
        <p:nvSpPr>
          <p:cNvPr id="6" name="Shape 6"/>
          <p:cNvSpPr/>
          <p:nvPr/>
        </p:nvSpPr>
        <p:spPr>
          <a:xfrm>
            <a:off x="548640" y="1261872"/>
            <a:ext cx="5943600" cy="4810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746502"/>
            <a:ext cx="594360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746502"/>
            <a:ext cx="82296" cy="317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4651502"/>
            <a:ext cx="5943600" cy="317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4651502"/>
            <a:ext cx="82296" cy="317500"/>
          </a:xfrm>
          <a:prstGeom prst="rect">
            <a:avLst/>
          </a:prstGeom>
          <a:solidFill>
            <a:srgbClr val="F59E0B"/>
          </a:solidFill>
          <a:ln>
            <a:noFill/>
          </a:ln>
        </p:spPr>
        <p:txBody>
          <a:bodyPr wrap="square" lIns="0" tIns="0" rIns="0" bIns="0" rtlCol="0" anchor="t"/>
          <a:lstStyle/>
          <a:p>
            <a:endParaRPr lang="en-US"/>
          </a:p>
        </p:txBody>
      </p:sp>
      <p:sp>
        <p:nvSpPr>
          <p:cNvPr id="11" name="Code"/>
          <p:cNvSpPr/>
          <p:nvPr/>
        </p:nvSpPr>
        <p:spPr>
          <a:xfrm>
            <a:off x="548640" y="1261872"/>
            <a:ext cx="5943600" cy="4810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double t[DAYS];</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for (int i = 0; i &lt; DAYS; i++) {</a:t>
            </a:r>
            <a:endParaRPr lang="en-US" sz="2000" dirty="0"/>
          </a:p>
          <a:p>
            <a:pPr marL="0" indent="0" algn="l">
              <a:lnSpc>
                <a:spcPts val="2500"/>
              </a:lnSpc>
              <a:buNone/>
            </a:pPr>
            <a:r>
              <a:rPr lang="en-US" sz="2000" dirty="0">
                <a:solidFill>
                  <a:srgbClr val="64748B"/>
                </a:solidFill>
                <a:latin typeface="Consolas"/>
                <a:ea typeface="Consolas"/>
                <a:cs typeface="Consolas"/>
              </a:rPr>
              <a:t>    printf("Day %d: ", i + 1);</a:t>
            </a:r>
            <a:endParaRPr lang="en-US" sz="2000" dirty="0"/>
          </a:p>
          <a:p>
            <a:pPr marL="0" indent="0" algn="l">
              <a:lnSpc>
                <a:spcPts val="2500"/>
              </a:lnSpc>
              <a:buNone/>
            </a:pPr>
            <a:r>
              <a:rPr lang="en-US" sz="2000" dirty="0">
                <a:solidFill>
                  <a:srgbClr val="FFFFFF"/>
                </a:solidFill>
                <a:latin typeface="Consolas"/>
                <a:ea typeface="Consolas"/>
                <a:cs typeface="Consolas"/>
              </a:rPr>
              <a:t>    scanf("%lf", &amp;t[i]);</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double sum = 0;</a:t>
            </a:r>
            <a:endParaRPr lang="en-US" sz="2000" dirty="0"/>
          </a:p>
          <a:p>
            <a:pPr marL="0" indent="0" algn="l">
              <a:lnSpc>
                <a:spcPts val="2500"/>
              </a:lnSpc>
              <a:buNone/>
            </a:pPr>
            <a:r>
              <a:rPr lang="en-US" sz="2000" dirty="0">
                <a:solidFill>
                  <a:srgbClr val="64748B"/>
                </a:solidFill>
                <a:latin typeface="Consolas"/>
                <a:ea typeface="Consolas"/>
                <a:cs typeface="Consolas"/>
              </a:rPr>
              <a:t>for (int i = 0; i &lt; DAYS; i++) {</a:t>
            </a:r>
            <a:endParaRPr lang="en-US" sz="2000" dirty="0"/>
          </a:p>
          <a:p>
            <a:pPr marL="0" indent="0" algn="l">
              <a:lnSpc>
                <a:spcPts val="2500"/>
              </a:lnSpc>
              <a:buNone/>
            </a:pPr>
            <a:r>
              <a:rPr lang="en-US" sz="2000" dirty="0">
                <a:solidFill>
                  <a:srgbClr val="64748B"/>
                </a:solidFill>
                <a:latin typeface="Consolas"/>
                <a:ea typeface="Consolas"/>
                <a:cs typeface="Consolas"/>
              </a:rPr>
              <a:t>    printf("%.1f ", t[i]);</a:t>
            </a:r>
            <a:endParaRPr lang="en-US" sz="2000" dirty="0"/>
          </a:p>
          <a:p>
            <a:pPr marL="0" indent="0" algn="l">
              <a:lnSpc>
                <a:spcPts val="2500"/>
              </a:lnSpc>
              <a:buNone/>
            </a:pPr>
            <a:r>
              <a:rPr lang="en-US" sz="2000" dirty="0">
                <a:solidFill>
                  <a:srgbClr val="FFFFFF"/>
                </a:solidFill>
                <a:latin typeface="Consolas"/>
                <a:ea typeface="Consolas"/>
                <a:cs typeface="Consolas"/>
              </a:rPr>
              <a:t>    sum += t[i];</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a:p>
            <a:pPr marL="0" indent="0" algn="l">
              <a:lnSpc>
                <a:spcPts val="2500"/>
              </a:lnSpc>
              <a:buNone/>
            </a:pPr>
            <a:r>
              <a:rPr lang="en-US" sz="2000" dirty="0">
                <a:solidFill>
                  <a:srgbClr val="64748B"/>
                </a:solidFill>
                <a:latin typeface="Consolas"/>
                <a:ea typeface="Consolas"/>
                <a:cs typeface="Consolas"/>
              </a:rPr>
              <a:t>printf("\n");</a:t>
            </a:r>
            <a:endParaRPr lang="en-US" sz="2000" dirty="0"/>
          </a:p>
          <a:p>
            <a:pPr marL="0" indent="0" algn="l">
              <a:lnSpc>
                <a:spcPts val="2500"/>
              </a:lnSpc>
              <a:buNone/>
            </a:pPr>
            <a:r>
              <a:rPr lang="en-US" sz="2000" dirty="0">
                <a:solidFill>
                  <a:srgbClr val="64748B"/>
                </a:solidFill>
                <a:latin typeface="Consolas"/>
                <a:ea typeface="Consolas"/>
                <a:cs typeface="Consolas"/>
              </a:rPr>
              <a:t>printf("average: %.1f\n", sum / DAYS);</a:t>
            </a:r>
            <a:endParaRPr lang="en-US" sz="2000" dirty="0"/>
          </a:p>
        </p:txBody>
      </p:sp>
      <p:sp>
        <p:nvSpPr>
          <p:cNvPr id="12" name="Shape 12"/>
          <p:cNvSpPr/>
          <p:nvPr/>
        </p:nvSpPr>
        <p:spPr>
          <a:xfrm>
            <a:off x="6766560" y="1261872"/>
            <a:ext cx="487649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3" name="Shape 13"/>
          <p:cNvSpPr/>
          <p:nvPr/>
        </p:nvSpPr>
        <p:spPr>
          <a:xfrm>
            <a:off x="6766560" y="1645920"/>
            <a:ext cx="4876495" cy="2937510"/>
          </a:xfrm>
          <a:prstGeom prst="rect">
            <a:avLst/>
          </a:prstGeom>
          <a:solidFill>
            <a:srgbClr val="000000"/>
          </a:solidFill>
          <a:ln>
            <a:noFill/>
          </a:ln>
        </p:spPr>
        <p:txBody>
          <a:bodyPr wrap="square" lIns="0" tIns="0" rIns="0" bIns="0" rtlCol="0" anchor="t"/>
          <a:lstStyle/>
          <a:p>
            <a:endParaRPr lang="en-US"/>
          </a:p>
        </p:txBody>
      </p:sp>
      <p:sp>
        <p:nvSpPr>
          <p:cNvPr id="14" name="Code"/>
          <p:cNvSpPr/>
          <p:nvPr/>
        </p:nvSpPr>
        <p:spPr>
          <a:xfrm>
            <a:off x="6766560" y="1645920"/>
            <a:ext cx="4876495" cy="2937510"/>
          </a:xfrm>
          <a:prstGeom prst="rect">
            <a:avLst/>
          </a:prstGeom>
          <a:noFill/>
          <a:ln>
            <a:noFill/>
          </a:ln>
        </p:spPr>
        <p:txBody>
          <a:bodyPr wrap="square" lIns="182880" tIns="182880" rIns="182880" bIns="182880" rtlCol="0" anchor="t"/>
          <a:lstStyle/>
          <a:p>
            <a:pPr marL="0" indent="0" algn="l">
              <a:lnSpc>
                <a:spcPts val="2250"/>
              </a:lnSpc>
              <a:buNone/>
            </a:pPr>
            <a:r>
              <a:rPr lang="en-US" sz="1800" dirty="0">
                <a:solidFill>
                  <a:srgbClr val="D1FAE5"/>
                </a:solidFill>
                <a:latin typeface="Consolas"/>
                <a:ea typeface="Consolas"/>
                <a:cs typeface="Consolas"/>
              </a:rPr>
              <a:t>Day 1: 18</a:t>
            </a:r>
            <a:endParaRPr lang="en-US" sz="1800" dirty="0"/>
          </a:p>
          <a:p>
            <a:pPr marL="0" indent="0" algn="l">
              <a:lnSpc>
                <a:spcPts val="2250"/>
              </a:lnSpc>
              <a:buNone/>
            </a:pPr>
            <a:r>
              <a:rPr lang="en-US" sz="1800" dirty="0">
                <a:solidFill>
                  <a:srgbClr val="D1FAE5"/>
                </a:solidFill>
                <a:latin typeface="Consolas"/>
                <a:ea typeface="Consolas"/>
                <a:cs typeface="Consolas"/>
              </a:rPr>
              <a:t>Day 2: 21</a:t>
            </a:r>
            <a:endParaRPr lang="en-US" sz="1800" dirty="0"/>
          </a:p>
          <a:p>
            <a:pPr marL="0" indent="0" algn="l">
              <a:lnSpc>
                <a:spcPts val="2250"/>
              </a:lnSpc>
              <a:buNone/>
            </a:pPr>
            <a:r>
              <a:rPr lang="en-US" sz="1800" dirty="0">
                <a:solidFill>
                  <a:srgbClr val="D1FAE5"/>
                </a:solidFill>
                <a:latin typeface="Consolas"/>
                <a:ea typeface="Consolas"/>
                <a:cs typeface="Consolas"/>
              </a:rPr>
              <a:t>Day 3: 19</a:t>
            </a:r>
            <a:endParaRPr lang="en-US" sz="1800" dirty="0"/>
          </a:p>
          <a:p>
            <a:pPr marL="0" indent="0" algn="l">
              <a:lnSpc>
                <a:spcPts val="2250"/>
              </a:lnSpc>
              <a:buNone/>
            </a:pPr>
            <a:r>
              <a:rPr lang="en-US" sz="1800" dirty="0">
                <a:solidFill>
                  <a:srgbClr val="D1FAE5"/>
                </a:solidFill>
                <a:latin typeface="Consolas"/>
                <a:ea typeface="Consolas"/>
                <a:cs typeface="Consolas"/>
              </a:rPr>
              <a:t>Day 4: 23</a:t>
            </a:r>
            <a:endParaRPr lang="en-US" sz="1800" dirty="0"/>
          </a:p>
          <a:p>
            <a:pPr marL="0" indent="0" algn="l">
              <a:lnSpc>
                <a:spcPts val="2250"/>
              </a:lnSpc>
              <a:buNone/>
            </a:pPr>
            <a:r>
              <a:rPr lang="en-US" sz="1800" dirty="0">
                <a:solidFill>
                  <a:srgbClr val="D1FAE5"/>
                </a:solidFill>
                <a:latin typeface="Consolas"/>
                <a:ea typeface="Consolas"/>
                <a:cs typeface="Consolas"/>
              </a:rPr>
              <a:t>Day 5: 25</a:t>
            </a:r>
            <a:endParaRPr lang="en-US" sz="1800" dirty="0"/>
          </a:p>
          <a:p>
            <a:pPr marL="0" indent="0" algn="l">
              <a:lnSpc>
                <a:spcPts val="2250"/>
              </a:lnSpc>
              <a:buNone/>
            </a:pPr>
            <a:r>
              <a:rPr lang="en-US" sz="1800" dirty="0">
                <a:solidFill>
                  <a:srgbClr val="D1FAE5"/>
                </a:solidFill>
                <a:latin typeface="Consolas"/>
                <a:ea typeface="Consolas"/>
                <a:cs typeface="Consolas"/>
              </a:rPr>
              <a:t>Day 6: 22</a:t>
            </a:r>
            <a:endParaRPr lang="en-US" sz="1800" dirty="0"/>
          </a:p>
          <a:p>
            <a:pPr marL="0" indent="0" algn="l">
              <a:lnSpc>
                <a:spcPts val="2250"/>
              </a:lnSpc>
              <a:buNone/>
            </a:pPr>
            <a:r>
              <a:rPr lang="en-US" sz="1800" dirty="0">
                <a:solidFill>
                  <a:srgbClr val="D1FAE5"/>
                </a:solidFill>
                <a:latin typeface="Consolas"/>
                <a:ea typeface="Consolas"/>
                <a:cs typeface="Consolas"/>
              </a:rPr>
              <a:t>Day 7: 20</a:t>
            </a:r>
            <a:endParaRPr lang="en-US" sz="1800" dirty="0"/>
          </a:p>
          <a:p>
            <a:pPr marL="0" indent="0" algn="l">
              <a:lnSpc>
                <a:spcPts val="2250"/>
              </a:lnSpc>
              <a:buNone/>
            </a:pPr>
            <a:r>
              <a:rPr lang="en-US" sz="1800" dirty="0">
                <a:solidFill>
                  <a:srgbClr val="D1FAE5"/>
                </a:solidFill>
                <a:latin typeface="Consolas"/>
                <a:ea typeface="Consolas"/>
                <a:cs typeface="Consolas"/>
              </a:rPr>
              <a:t>18.0 21.0 19.0 23.0 25.0 22.0 20.0</a:t>
            </a:r>
            <a:endParaRPr lang="en-US" sz="1800" dirty="0"/>
          </a:p>
          <a:p>
            <a:pPr marL="0" indent="0" algn="l">
              <a:lnSpc>
                <a:spcPts val="2250"/>
              </a:lnSpc>
              <a:buNone/>
            </a:pPr>
            <a:r>
              <a:rPr lang="en-US" sz="1800" dirty="0">
                <a:solidFill>
                  <a:srgbClr val="D1FAE5"/>
                </a:solidFill>
                <a:latin typeface="Consolas"/>
                <a:ea typeface="Consolas"/>
                <a:cs typeface="Consolas"/>
              </a:rPr>
              <a:t>average: 21.1</a:t>
            </a:r>
            <a:endParaRPr lang="en-US" sz="1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Task 2: double every value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74</a:t>
            </a:r>
            <a:endParaRPr lang="en-US" sz="1400" dirty="0"/>
          </a:p>
        </p:txBody>
      </p:sp>
      <p:sp>
        <p:nvSpPr>
          <p:cNvPr id="6" name="Shape 6"/>
          <p:cNvSpPr/>
          <p:nvPr/>
        </p:nvSpPr>
        <p:spPr>
          <a:xfrm>
            <a:off x="548640" y="1261872"/>
            <a:ext cx="2377440" cy="457200"/>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YOUR TURN</a:t>
            </a:r>
            <a:endParaRPr lang="en-US" sz="1800" dirty="0"/>
          </a:p>
        </p:txBody>
      </p:sp>
      <p:sp>
        <p:nvSpPr>
          <p:cNvPr id="7" name="Shape 7"/>
          <p:cNvSpPr/>
          <p:nvPr/>
        </p:nvSpPr>
        <p:spPr>
          <a:xfrm>
            <a:off x="548640" y="1947672"/>
            <a:ext cx="11094415"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Start from</a:t>
            </a:r>
            <a:endParaRPr lang="en-US" sz="3200" dirty="0"/>
          </a:p>
          <a:p>
            <a:pPr marL="0" indent="0" algn="l">
              <a:spcAft>
                <a:spcPts val="600"/>
              </a:spcAft>
              <a:buNone/>
            </a:pPr>
            <a:r>
              <a:rPr lang="en-US" sz="3200" dirty="0">
                <a:solidFill>
                  <a:srgbClr val="2F80ED"/>
                </a:solidFill>
                <a:latin typeface="Consolas"/>
                <a:ea typeface="Consolas"/>
                <a:cs typeface="Consolas"/>
              </a:rPr>
              <a:t>int a[6] = {3, 8, 1, 5, 9, 2};</a:t>
            </a:r>
            <a:endParaRPr lang="en-US" sz="3200" dirty="0"/>
          </a:p>
          <a:p>
            <a:pPr marL="0" indent="0" algn="l">
              <a:spcAft>
                <a:spcPts val="600"/>
              </a:spcAft>
              <a:buNone/>
            </a:pPr>
            <a:r>
              <a:rPr lang="en-US" sz="3200" dirty="0">
                <a:solidFill>
                  <a:srgbClr val="18324A"/>
                </a:solidFill>
              </a:rPr>
              <a:t>Double every value </a:t>
            </a:r>
            <a:r>
              <a:rPr lang="en-US" sz="3200" b="1" dirty="0">
                <a:solidFill>
                  <a:srgbClr val="18324A"/>
                </a:solidFill>
              </a:rPr>
              <a:t>in</a:t>
            </a:r>
            <a:r>
              <a:rPr lang="en-US" sz="3200" dirty="0">
                <a:solidFill>
                  <a:srgbClr val="18324A"/>
                </a:solidFill>
              </a:rPr>
              <a:t> the array, then print it.</a:t>
            </a:r>
            <a:endParaRPr lang="en-US" sz="3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Task 2: one answer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75</a:t>
            </a:r>
            <a:endParaRPr lang="en-US" sz="1400" dirty="0"/>
          </a:p>
        </p:txBody>
      </p:sp>
      <p:sp>
        <p:nvSpPr>
          <p:cNvPr id="6" name="Shape 6"/>
          <p:cNvSpPr/>
          <p:nvPr/>
        </p:nvSpPr>
        <p:spPr>
          <a:xfrm>
            <a:off x="548640" y="1261872"/>
            <a:ext cx="6766560" cy="490601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2876677"/>
            <a:ext cx="6766560" cy="34925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2876677"/>
            <a:ext cx="82296" cy="349250"/>
          </a:xfrm>
          <a:prstGeom prst="rect">
            <a:avLst/>
          </a:prstGeom>
          <a:solidFill>
            <a:srgbClr val="F59E0B"/>
          </a:solidFill>
          <a:ln>
            <a:noFill/>
          </a:ln>
        </p:spPr>
        <p:txBody>
          <a:bodyPr wrap="square" lIns="0" tIns="0" rIns="0" bIns="0" rtlCol="0" anchor="t"/>
          <a:lstStyle/>
          <a:p>
            <a:endParaRPr lang="en-US"/>
          </a:p>
        </p:txBody>
      </p:sp>
      <p:sp>
        <p:nvSpPr>
          <p:cNvPr id="9" name="Code"/>
          <p:cNvSpPr/>
          <p:nvPr/>
        </p:nvSpPr>
        <p:spPr>
          <a:xfrm>
            <a:off x="548640" y="1261872"/>
            <a:ext cx="6766560" cy="4906010"/>
          </a:xfrm>
          <a:prstGeom prst="rect">
            <a:avLst/>
          </a:prstGeom>
          <a:noFill/>
          <a:ln>
            <a:noFill/>
          </a:ln>
        </p:spPr>
        <p:txBody>
          <a:bodyPr wrap="square" lIns="182880" tIns="182880" rIns="182880" bIns="182880" rtlCol="0" anchor="t"/>
          <a:lstStyle/>
          <a:p>
            <a:pPr marL="0" indent="0" algn="l">
              <a:lnSpc>
                <a:spcPts val="2750"/>
              </a:lnSpc>
              <a:buNone/>
            </a:pPr>
            <a:r>
              <a:rPr lang="en-US" sz="2200" dirty="0">
                <a:solidFill>
                  <a:srgbClr val="64748B"/>
                </a:solidFill>
                <a:latin typeface="Consolas"/>
                <a:ea typeface="Consolas"/>
                <a:cs typeface="Consolas"/>
              </a:rPr>
              <a:t>int main(void) {</a:t>
            </a:r>
            <a:endParaRPr lang="en-US" sz="2200" dirty="0"/>
          </a:p>
          <a:p>
            <a:pPr marL="0" indent="0" algn="l">
              <a:lnSpc>
                <a:spcPts val="2750"/>
              </a:lnSpc>
              <a:buNone/>
            </a:pPr>
            <a:r>
              <a:rPr lang="en-US" sz="2200" dirty="0">
                <a:solidFill>
                  <a:srgbClr val="64748B"/>
                </a:solidFill>
                <a:latin typeface="Consolas"/>
                <a:ea typeface="Consolas"/>
                <a:cs typeface="Consolas"/>
              </a:rPr>
              <a:t>    int a[6] = {3, 8, 1, 5, 9, 2};</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for (int i = 0; i &lt; 6; i++) {</a:t>
            </a:r>
            <a:endParaRPr lang="en-US" sz="2200" dirty="0"/>
          </a:p>
          <a:p>
            <a:pPr marL="0" indent="0" algn="l">
              <a:lnSpc>
                <a:spcPts val="2750"/>
              </a:lnSpc>
              <a:buNone/>
            </a:pPr>
            <a:r>
              <a:rPr lang="en-US" sz="2200" dirty="0">
                <a:solidFill>
                  <a:srgbClr val="FFFFFF"/>
                </a:solidFill>
                <a:latin typeface="Consolas"/>
                <a:ea typeface="Consolas"/>
                <a:cs typeface="Consolas"/>
              </a:rPr>
              <a:t>        a[i] = a[i] * 2;</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for (int i = 0; i &lt; 6; i++) {</a:t>
            </a:r>
            <a:endParaRPr lang="en-US" sz="2200" dirty="0"/>
          </a:p>
          <a:p>
            <a:pPr marL="0" indent="0" algn="l">
              <a:lnSpc>
                <a:spcPts val="2750"/>
              </a:lnSpc>
              <a:buNone/>
            </a:pPr>
            <a:r>
              <a:rPr lang="en-US" sz="2200" dirty="0">
                <a:solidFill>
                  <a:srgbClr val="64748B"/>
                </a:solidFill>
                <a:latin typeface="Consolas"/>
                <a:ea typeface="Consolas"/>
                <a:cs typeface="Consolas"/>
              </a:rPr>
              <a:t>        printf("%d ", a[i]);</a:t>
            </a:r>
            <a:endParaRPr lang="en-US" sz="2200" dirty="0"/>
          </a:p>
          <a:p>
            <a:pPr marL="0" indent="0" algn="l">
              <a:lnSpc>
                <a:spcPts val="2750"/>
              </a:lnSpc>
              <a:buNone/>
            </a:pPr>
            <a:r>
              <a:rPr lang="en-US" sz="2200" dirty="0">
                <a:solidFill>
                  <a:srgbClr val="64748B"/>
                </a:solidFill>
                <a:latin typeface="Consolas"/>
                <a:ea typeface="Consolas"/>
                <a:cs typeface="Consolas"/>
              </a:rPr>
              <a:t>    }</a:t>
            </a:r>
            <a:endParaRPr lang="en-US" sz="2200" dirty="0"/>
          </a:p>
          <a:p>
            <a:pPr marL="0" indent="0" algn="l">
              <a:lnSpc>
                <a:spcPts val="2750"/>
              </a:lnSpc>
              <a:buNone/>
            </a:pPr>
            <a:r>
              <a:rPr lang="en-US" sz="2200" dirty="0">
                <a:solidFill>
                  <a:srgbClr val="64748B"/>
                </a:solidFill>
                <a:latin typeface="Consolas"/>
                <a:ea typeface="Consolas"/>
                <a:cs typeface="Consolas"/>
              </a:rPr>
              <a:t>    printf("\n");</a:t>
            </a:r>
            <a:endParaRPr lang="en-US" sz="2200" dirty="0"/>
          </a:p>
          <a:p>
            <a:pPr marL="0" indent="0" algn="l">
              <a:lnSpc>
                <a:spcPts val="2750"/>
              </a:lnSpc>
              <a:buNone/>
            </a:pPr>
            <a:r>
              <a:rPr lang="en-US" sz="2200" dirty="0">
                <a:solidFill>
                  <a:srgbClr val="64748B"/>
                </a:solidFill>
                <a:latin typeface="Consolas"/>
                <a:ea typeface="Consolas"/>
                <a:cs typeface="Consolas"/>
              </a:rPr>
              <a:t>    return 0;</a:t>
            </a:r>
            <a:endParaRPr lang="en-US" sz="2200" dirty="0"/>
          </a:p>
          <a:p>
            <a:pPr marL="0" indent="0" algn="l">
              <a:lnSpc>
                <a:spcPts val="2750"/>
              </a:lnSpc>
              <a:buNone/>
            </a:pPr>
            <a:r>
              <a:rPr lang="en-US" sz="2200" dirty="0">
                <a:solidFill>
                  <a:srgbClr val="64748B"/>
                </a:solidFill>
                <a:latin typeface="Consolas"/>
                <a:ea typeface="Consolas"/>
                <a:cs typeface="Consolas"/>
              </a:rPr>
              <a:t>}</a:t>
            </a:r>
            <a:endParaRPr lang="en-US" sz="2200" dirty="0"/>
          </a:p>
        </p:txBody>
      </p:sp>
      <p:sp>
        <p:nvSpPr>
          <p:cNvPr id="10" name="Shape 10"/>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1" name="Shape 11"/>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2"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6 16 2 10 18 4</a:t>
            </a:r>
            <a:endParaRPr lang="en-US" sz="2400" dirty="0"/>
          </a:p>
        </p:txBody>
      </p:sp>
      <p:sp>
        <p:nvSpPr>
          <p:cNvPr id="13" name="Shape 13"/>
          <p:cNvSpPr/>
          <p:nvPr/>
        </p:nvSpPr>
        <p:spPr>
          <a:xfrm>
            <a:off x="7589520" y="2667000"/>
            <a:ext cx="4053535" cy="1051560"/>
          </a:xfrm>
          <a:prstGeom prst="rect">
            <a:avLst/>
          </a:prstGeom>
          <a:solidFill>
            <a:srgbClr val="FFFFFF"/>
          </a:solidFill>
          <a:ln w="19050">
            <a:solidFill>
              <a:srgbClr val="31C48D"/>
            </a:solidFill>
          </a:ln>
        </p:spPr>
        <p:txBody>
          <a:bodyPr wrap="square" lIns="0" tIns="0" rIns="0" bIns="0" rtlCol="0" anchor="t"/>
          <a:lstStyle/>
          <a:p>
            <a:endParaRPr lang="en-US"/>
          </a:p>
        </p:txBody>
      </p:sp>
      <p:sp>
        <p:nvSpPr>
          <p:cNvPr id="14" name="Shape 14"/>
          <p:cNvSpPr/>
          <p:nvPr/>
        </p:nvSpPr>
        <p:spPr>
          <a:xfrm>
            <a:off x="7589520" y="2667000"/>
            <a:ext cx="109728" cy="1051560"/>
          </a:xfrm>
          <a:prstGeom prst="rect">
            <a:avLst/>
          </a:prstGeom>
          <a:solidFill>
            <a:srgbClr val="31C48D"/>
          </a:solidFill>
          <a:ln>
            <a:noFill/>
          </a:ln>
        </p:spPr>
        <p:txBody>
          <a:bodyPr wrap="square" lIns="0" tIns="0" rIns="0" bIns="0" rtlCol="0" anchor="t"/>
          <a:lstStyle/>
          <a:p>
            <a:endParaRPr lang="en-US"/>
          </a:p>
        </p:txBody>
      </p:sp>
      <p:sp>
        <p:nvSpPr>
          <p:cNvPr id="15" name="Callout"/>
          <p:cNvSpPr/>
          <p:nvPr/>
        </p:nvSpPr>
        <p:spPr>
          <a:xfrm>
            <a:off x="7699248" y="2667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latin typeface="Consolas"/>
                <a:ea typeface="Consolas"/>
                <a:cs typeface="Consolas"/>
              </a:rPr>
              <a:t>a[i] = a[i] * 2;</a:t>
            </a:r>
            <a:endParaRPr lang="en-US" sz="2400" dirty="0"/>
          </a:p>
          <a:p>
            <a:pPr marL="0" indent="0" algn="l">
              <a:buNone/>
            </a:pPr>
            <a:r>
              <a:rPr lang="en-US" sz="2400" dirty="0">
                <a:solidFill>
                  <a:srgbClr val="18324A"/>
                </a:solidFill>
              </a:rPr>
              <a:t>or </a:t>
            </a:r>
            <a:r>
              <a:rPr lang="en-US" sz="2400" dirty="0">
                <a:solidFill>
                  <a:srgbClr val="18324A"/>
                </a:solidFill>
                <a:latin typeface="Consolas"/>
                <a:ea typeface="Consolas"/>
                <a:cs typeface="Consolas"/>
              </a:rPr>
              <a:t>a[i] *= 2;</a:t>
            </a:r>
            <a:endParaRPr lang="en-US" sz="2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Task 3: how many are even?</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76</a:t>
            </a:r>
            <a:endParaRPr lang="en-US" sz="1400" dirty="0"/>
          </a:p>
        </p:txBody>
      </p:sp>
      <p:sp>
        <p:nvSpPr>
          <p:cNvPr id="6" name="Shape 6"/>
          <p:cNvSpPr/>
          <p:nvPr/>
        </p:nvSpPr>
        <p:spPr>
          <a:xfrm>
            <a:off x="548640" y="1261872"/>
            <a:ext cx="2377440" cy="457200"/>
          </a:xfrm>
          <a:prstGeom prst="rect">
            <a:avLst/>
          </a:prstGeom>
          <a:solidFill>
            <a:srgbClr val="31C48D"/>
          </a:solidFill>
          <a:ln>
            <a:noFill/>
          </a:ln>
        </p:spPr>
        <p:txBody>
          <a:bodyPr wrap="square" lIns="0" tIns="0" rIns="0" bIns="0" rtlCol="0" anchor="ctr"/>
          <a:lstStyle/>
          <a:p>
            <a:pPr marL="0" indent="0" algn="ctr">
              <a:buNone/>
            </a:pPr>
            <a:r>
              <a:rPr lang="en-US" sz="1800" b="1" dirty="0">
                <a:solidFill>
                  <a:srgbClr val="FFFFFF"/>
                </a:solidFill>
              </a:rPr>
              <a:t>YOUR TURN</a:t>
            </a:r>
            <a:endParaRPr lang="en-US" sz="1800" dirty="0"/>
          </a:p>
        </p:txBody>
      </p:sp>
      <p:sp>
        <p:nvSpPr>
          <p:cNvPr id="7" name="Shape 7"/>
          <p:cNvSpPr/>
          <p:nvPr/>
        </p:nvSpPr>
        <p:spPr>
          <a:xfrm>
            <a:off x="548640" y="1947672"/>
            <a:ext cx="11094415" cy="1645920"/>
          </a:xfrm>
          <a:prstGeom prst="rect">
            <a:avLst/>
          </a:prstGeom>
          <a:noFill/>
          <a:ln>
            <a:noFill/>
          </a:ln>
        </p:spPr>
        <p:txBody>
          <a:bodyPr wrap="square" lIns="0" tIns="0" rIns="0" bIns="0" rtlCol="0" anchor="t"/>
          <a:lstStyle/>
          <a:p>
            <a:pPr marL="0" indent="0" algn="l">
              <a:spcAft>
                <a:spcPts val="600"/>
              </a:spcAft>
              <a:buNone/>
            </a:pPr>
            <a:r>
              <a:rPr lang="en-US" sz="3200" dirty="0">
                <a:solidFill>
                  <a:srgbClr val="18324A"/>
                </a:solidFill>
              </a:rPr>
              <a:t>Start from</a:t>
            </a:r>
            <a:endParaRPr lang="en-US" sz="3200" dirty="0"/>
          </a:p>
          <a:p>
            <a:pPr marL="0" indent="0" algn="l">
              <a:spcAft>
                <a:spcPts val="600"/>
              </a:spcAft>
              <a:buNone/>
            </a:pPr>
            <a:r>
              <a:rPr lang="en-US" sz="3200" dirty="0">
                <a:solidFill>
                  <a:srgbClr val="2F80ED"/>
                </a:solidFill>
                <a:latin typeface="Consolas"/>
                <a:ea typeface="Consolas"/>
                <a:cs typeface="Consolas"/>
              </a:rPr>
              <a:t>int a[8] = {4, 7, 10, 3, 6, 6, 1, 12};</a:t>
            </a:r>
            <a:endParaRPr lang="en-US" sz="3200" dirty="0"/>
          </a:p>
          <a:p>
            <a:pPr marL="0" indent="0" algn="l">
              <a:spcAft>
                <a:spcPts val="600"/>
              </a:spcAft>
              <a:buNone/>
            </a:pPr>
            <a:r>
              <a:rPr lang="en-US" sz="3200" dirty="0">
                <a:solidFill>
                  <a:srgbClr val="18324A"/>
                </a:solidFill>
              </a:rPr>
              <a:t>Count the even values.</a:t>
            </a:r>
            <a:endParaRPr lang="en-US" sz="3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Task 3: one answer</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77</a:t>
            </a:r>
            <a:endParaRPr lang="en-US" sz="1400" dirty="0"/>
          </a:p>
        </p:txBody>
      </p:sp>
      <p:sp>
        <p:nvSpPr>
          <p:cNvPr id="6" name="Shape 6"/>
          <p:cNvSpPr/>
          <p:nvPr/>
        </p:nvSpPr>
        <p:spPr>
          <a:xfrm>
            <a:off x="548640" y="1261872"/>
            <a:ext cx="6766560" cy="4175760"/>
          </a:xfrm>
          <a:prstGeom prst="rect">
            <a:avLst/>
          </a:prstGeom>
          <a:solidFill>
            <a:srgbClr val="0F172A"/>
          </a:solidFill>
          <a:ln>
            <a:noFill/>
          </a:ln>
        </p:spPr>
        <p:txBody>
          <a:bodyPr wrap="square" lIns="0" tIns="0" rIns="0" bIns="0" rtlCol="0" anchor="t"/>
          <a:lstStyle/>
          <a:p>
            <a:endParaRPr lang="en-US"/>
          </a:p>
        </p:txBody>
      </p:sp>
      <p:sp>
        <p:nvSpPr>
          <p:cNvPr id="7" name="Shape 7"/>
          <p:cNvSpPr/>
          <p:nvPr/>
        </p:nvSpPr>
        <p:spPr>
          <a:xfrm>
            <a:off x="548640" y="3064002"/>
            <a:ext cx="6766560" cy="317500"/>
          </a:xfrm>
          <a:prstGeom prst="rect">
            <a:avLst/>
          </a:prstGeom>
          <a:solidFill>
            <a:srgbClr val="25406B"/>
          </a:solidFill>
          <a:ln>
            <a:noFill/>
          </a:ln>
        </p:spPr>
        <p:txBody>
          <a:bodyPr wrap="square" lIns="0" tIns="0" rIns="0" bIns="0" rtlCol="0" anchor="t"/>
          <a:lstStyle/>
          <a:p>
            <a:endParaRPr lang="en-US"/>
          </a:p>
        </p:txBody>
      </p:sp>
      <p:sp>
        <p:nvSpPr>
          <p:cNvPr id="8" name="Shape 8"/>
          <p:cNvSpPr/>
          <p:nvPr/>
        </p:nvSpPr>
        <p:spPr>
          <a:xfrm>
            <a:off x="548640" y="3064002"/>
            <a:ext cx="82296" cy="317500"/>
          </a:xfrm>
          <a:prstGeom prst="rect">
            <a:avLst/>
          </a:prstGeom>
          <a:solidFill>
            <a:srgbClr val="F59E0B"/>
          </a:solidFill>
          <a:ln>
            <a:noFill/>
          </a:ln>
        </p:spPr>
        <p:txBody>
          <a:bodyPr wrap="square" lIns="0" tIns="0" rIns="0" bIns="0" rtlCol="0" anchor="t"/>
          <a:lstStyle/>
          <a:p>
            <a:endParaRPr lang="en-US"/>
          </a:p>
        </p:txBody>
      </p:sp>
      <p:sp>
        <p:nvSpPr>
          <p:cNvPr id="9" name="Shape 9"/>
          <p:cNvSpPr/>
          <p:nvPr/>
        </p:nvSpPr>
        <p:spPr>
          <a:xfrm>
            <a:off x="548640" y="3381502"/>
            <a:ext cx="6766560" cy="317500"/>
          </a:xfrm>
          <a:prstGeom prst="rect">
            <a:avLst/>
          </a:prstGeom>
          <a:solidFill>
            <a:srgbClr val="25406B"/>
          </a:solidFill>
          <a:ln>
            <a:noFill/>
          </a:ln>
        </p:spPr>
        <p:txBody>
          <a:bodyPr wrap="square" lIns="0" tIns="0" rIns="0" bIns="0" rtlCol="0" anchor="t"/>
          <a:lstStyle/>
          <a:p>
            <a:endParaRPr lang="en-US"/>
          </a:p>
        </p:txBody>
      </p:sp>
      <p:sp>
        <p:nvSpPr>
          <p:cNvPr id="10" name="Shape 10"/>
          <p:cNvSpPr/>
          <p:nvPr/>
        </p:nvSpPr>
        <p:spPr>
          <a:xfrm>
            <a:off x="548640" y="3381502"/>
            <a:ext cx="82296" cy="317500"/>
          </a:xfrm>
          <a:prstGeom prst="rect">
            <a:avLst/>
          </a:prstGeom>
          <a:solidFill>
            <a:srgbClr val="F59E0B"/>
          </a:solidFill>
          <a:ln>
            <a:noFill/>
          </a:ln>
        </p:spPr>
        <p:txBody>
          <a:bodyPr wrap="square" lIns="0" tIns="0" rIns="0" bIns="0" rtlCol="0" anchor="t"/>
          <a:lstStyle/>
          <a:p>
            <a:endParaRPr lang="en-US"/>
          </a:p>
        </p:txBody>
      </p:sp>
      <p:sp>
        <p:nvSpPr>
          <p:cNvPr id="11" name="Shape 11"/>
          <p:cNvSpPr/>
          <p:nvPr/>
        </p:nvSpPr>
        <p:spPr>
          <a:xfrm>
            <a:off x="548640" y="3699002"/>
            <a:ext cx="6766560" cy="317500"/>
          </a:xfrm>
          <a:prstGeom prst="rect">
            <a:avLst/>
          </a:prstGeom>
          <a:solidFill>
            <a:srgbClr val="25406B"/>
          </a:solidFill>
          <a:ln>
            <a:noFill/>
          </a:ln>
        </p:spPr>
        <p:txBody>
          <a:bodyPr wrap="square" lIns="0" tIns="0" rIns="0" bIns="0" rtlCol="0" anchor="t"/>
          <a:lstStyle/>
          <a:p>
            <a:endParaRPr lang="en-US"/>
          </a:p>
        </p:txBody>
      </p:sp>
      <p:sp>
        <p:nvSpPr>
          <p:cNvPr id="12" name="Shape 12"/>
          <p:cNvSpPr/>
          <p:nvPr/>
        </p:nvSpPr>
        <p:spPr>
          <a:xfrm>
            <a:off x="548640" y="3699002"/>
            <a:ext cx="82296" cy="317500"/>
          </a:xfrm>
          <a:prstGeom prst="rect">
            <a:avLst/>
          </a:prstGeom>
          <a:solidFill>
            <a:srgbClr val="F59E0B"/>
          </a:solidFill>
          <a:ln>
            <a:noFill/>
          </a:ln>
        </p:spPr>
        <p:txBody>
          <a:bodyPr wrap="square" lIns="0" tIns="0" rIns="0" bIns="0" rtlCol="0" anchor="t"/>
          <a:lstStyle/>
          <a:p>
            <a:endParaRPr lang="en-US"/>
          </a:p>
        </p:txBody>
      </p:sp>
      <p:sp>
        <p:nvSpPr>
          <p:cNvPr id="13" name="Code"/>
          <p:cNvSpPr/>
          <p:nvPr/>
        </p:nvSpPr>
        <p:spPr>
          <a:xfrm>
            <a:off x="548640" y="1261872"/>
            <a:ext cx="6766560" cy="4175760"/>
          </a:xfrm>
          <a:prstGeom prst="rect">
            <a:avLst/>
          </a:prstGeom>
          <a:noFill/>
          <a:ln>
            <a:noFill/>
          </a:ln>
        </p:spPr>
        <p:txBody>
          <a:bodyPr wrap="square" lIns="182880" tIns="182880" rIns="182880" bIns="182880" rtlCol="0" anchor="t"/>
          <a:lstStyle/>
          <a:p>
            <a:pPr marL="0" indent="0" algn="l">
              <a:lnSpc>
                <a:spcPts val="2500"/>
              </a:lnSpc>
              <a:buNone/>
            </a:pPr>
            <a:r>
              <a:rPr lang="en-US" sz="2000" dirty="0">
                <a:solidFill>
                  <a:srgbClr val="64748B"/>
                </a:solidFill>
                <a:latin typeface="Consolas"/>
                <a:ea typeface="Consolas"/>
                <a:cs typeface="Consolas"/>
              </a:rPr>
              <a:t>int main(void) {</a:t>
            </a:r>
            <a:endParaRPr lang="en-US" sz="2000" dirty="0"/>
          </a:p>
          <a:p>
            <a:pPr marL="0" indent="0" algn="l">
              <a:lnSpc>
                <a:spcPts val="2500"/>
              </a:lnSpc>
              <a:buNone/>
            </a:pPr>
            <a:r>
              <a:rPr lang="en-US" sz="2000" dirty="0">
                <a:solidFill>
                  <a:srgbClr val="64748B"/>
                </a:solidFill>
                <a:latin typeface="Consolas"/>
                <a:ea typeface="Consolas"/>
                <a:cs typeface="Consolas"/>
              </a:rPr>
              <a:t>    int a[8] = {4, 7, 10, 3, 6, 6, 1, 12};</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    int even = 0;</a:t>
            </a:r>
            <a:endParaRPr lang="en-US" sz="2000" dirty="0"/>
          </a:p>
          <a:p>
            <a:pPr marL="0" indent="0" algn="l">
              <a:lnSpc>
                <a:spcPts val="2500"/>
              </a:lnSpc>
              <a:buNone/>
            </a:pPr>
            <a:r>
              <a:rPr lang="en-US" sz="2000" dirty="0">
                <a:solidFill>
                  <a:srgbClr val="64748B"/>
                </a:solidFill>
                <a:latin typeface="Consolas"/>
                <a:ea typeface="Consolas"/>
                <a:cs typeface="Consolas"/>
              </a:rPr>
              <a:t>    for (int i = 0; i &lt; 8; i++) {</a:t>
            </a:r>
            <a:endParaRPr lang="en-US" sz="2000" dirty="0"/>
          </a:p>
          <a:p>
            <a:pPr marL="0" indent="0" algn="l">
              <a:lnSpc>
                <a:spcPts val="2500"/>
              </a:lnSpc>
              <a:buNone/>
            </a:pPr>
            <a:r>
              <a:rPr lang="en-US" sz="2000" dirty="0">
                <a:solidFill>
                  <a:srgbClr val="FFFFFF"/>
                </a:solidFill>
                <a:latin typeface="Consolas"/>
                <a:ea typeface="Consolas"/>
                <a:cs typeface="Consolas"/>
              </a:rPr>
              <a:t>        if (a[i] % 2 == 0) {</a:t>
            </a:r>
            <a:endParaRPr lang="en-US" sz="2000" dirty="0"/>
          </a:p>
          <a:p>
            <a:pPr marL="0" indent="0" algn="l">
              <a:lnSpc>
                <a:spcPts val="2500"/>
              </a:lnSpc>
              <a:buNone/>
            </a:pPr>
            <a:r>
              <a:rPr lang="en-US" sz="2000" dirty="0">
                <a:solidFill>
                  <a:srgbClr val="FFFFFF"/>
                </a:solidFill>
                <a:latin typeface="Consolas"/>
                <a:ea typeface="Consolas"/>
                <a:cs typeface="Consolas"/>
              </a:rPr>
              <a:t>            even++;</a:t>
            </a:r>
            <a:endParaRPr lang="en-US" sz="2000" dirty="0"/>
          </a:p>
          <a:p>
            <a:pPr marL="0" indent="0" algn="l">
              <a:lnSpc>
                <a:spcPts val="2500"/>
              </a:lnSpc>
              <a:buNone/>
            </a:pPr>
            <a:r>
              <a:rPr lang="en-US" sz="2000" dirty="0">
                <a:solidFill>
                  <a:srgbClr val="FFFFFF"/>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    }</a:t>
            </a:r>
            <a:endParaRPr lang="en-US" sz="2000" dirty="0"/>
          </a:p>
          <a:p>
            <a:pPr marL="0" indent="0" algn="l">
              <a:lnSpc>
                <a:spcPts val="2500"/>
              </a:lnSpc>
              <a:buNone/>
            </a:pPr>
            <a:r>
              <a:rPr lang="en-US" sz="2000" dirty="0">
                <a:solidFill>
                  <a:srgbClr val="64748B"/>
                </a:solidFill>
                <a:latin typeface="Consolas"/>
                <a:ea typeface="Consolas"/>
                <a:cs typeface="Consolas"/>
              </a:rPr>
              <a:t>    printf("even values: %d\n", even);</a:t>
            </a:r>
            <a:endParaRPr lang="en-US" sz="2000" dirty="0"/>
          </a:p>
          <a:p>
            <a:pPr marL="0" indent="0" algn="l">
              <a:lnSpc>
                <a:spcPts val="2500"/>
              </a:lnSpc>
              <a:buNone/>
            </a:pPr>
            <a:r>
              <a:rPr lang="en-US" sz="2000" dirty="0">
                <a:solidFill>
                  <a:srgbClr val="64748B"/>
                </a:solidFill>
                <a:latin typeface="Consolas"/>
                <a:ea typeface="Consolas"/>
                <a:cs typeface="Consolas"/>
              </a:rPr>
              <a:t>    return 0;</a:t>
            </a:r>
            <a:endParaRPr lang="en-US" sz="2000" dirty="0"/>
          </a:p>
          <a:p>
            <a:pPr marL="0" indent="0" algn="l">
              <a:lnSpc>
                <a:spcPts val="2500"/>
              </a:lnSpc>
              <a:buNone/>
            </a:pPr>
            <a:r>
              <a:rPr lang="en-US" sz="2000" dirty="0">
                <a:solidFill>
                  <a:srgbClr val="64748B"/>
                </a:solidFill>
                <a:latin typeface="Consolas"/>
                <a:ea typeface="Consolas"/>
                <a:cs typeface="Consolas"/>
              </a:rPr>
              <a:t>}</a:t>
            </a:r>
            <a:endParaRPr lang="en-US" sz="2000" dirty="0"/>
          </a:p>
        </p:txBody>
      </p:sp>
      <p:sp>
        <p:nvSpPr>
          <p:cNvPr id="14" name="Shape 14"/>
          <p:cNvSpPr/>
          <p:nvPr/>
        </p:nvSpPr>
        <p:spPr>
          <a:xfrm>
            <a:off x="7589520" y="1261872"/>
            <a:ext cx="4053535" cy="384048"/>
          </a:xfrm>
          <a:prstGeom prst="rect">
            <a:avLst/>
          </a:prstGeom>
          <a:solidFill>
            <a:srgbClr val="334155"/>
          </a:solidFill>
          <a:ln>
            <a:noFill/>
          </a:ln>
        </p:spPr>
        <p:txBody>
          <a:bodyPr wrap="square" lIns="0" tIns="0" rIns="0" bIns="0" rtlCol="0" anchor="ctr"/>
          <a:lstStyle/>
          <a:p>
            <a:pPr marL="0" indent="0" algn="ctr">
              <a:buNone/>
            </a:pPr>
            <a:r>
              <a:rPr lang="en-US" sz="1600" b="1" dirty="0">
                <a:solidFill>
                  <a:srgbClr val="FFFFFF"/>
                </a:solidFill>
              </a:rPr>
              <a:t>Output</a:t>
            </a:r>
            <a:endParaRPr lang="en-US" sz="1600" dirty="0"/>
          </a:p>
        </p:txBody>
      </p:sp>
      <p:sp>
        <p:nvSpPr>
          <p:cNvPr id="15" name="Shape 15"/>
          <p:cNvSpPr/>
          <p:nvPr/>
        </p:nvSpPr>
        <p:spPr>
          <a:xfrm>
            <a:off x="7589520" y="1645920"/>
            <a:ext cx="4053535" cy="746760"/>
          </a:xfrm>
          <a:prstGeom prst="rect">
            <a:avLst/>
          </a:prstGeom>
          <a:solidFill>
            <a:srgbClr val="000000"/>
          </a:solidFill>
          <a:ln>
            <a:noFill/>
          </a:ln>
        </p:spPr>
        <p:txBody>
          <a:bodyPr wrap="square" lIns="0" tIns="0" rIns="0" bIns="0" rtlCol="0" anchor="t"/>
          <a:lstStyle/>
          <a:p>
            <a:endParaRPr lang="en-US"/>
          </a:p>
        </p:txBody>
      </p:sp>
      <p:sp>
        <p:nvSpPr>
          <p:cNvPr id="16" name="Code"/>
          <p:cNvSpPr/>
          <p:nvPr/>
        </p:nvSpPr>
        <p:spPr>
          <a:xfrm>
            <a:off x="7589520" y="1645920"/>
            <a:ext cx="4053535" cy="746760"/>
          </a:xfrm>
          <a:prstGeom prst="rect">
            <a:avLst/>
          </a:prstGeom>
          <a:noFill/>
          <a:ln>
            <a:noFill/>
          </a:ln>
        </p:spPr>
        <p:txBody>
          <a:bodyPr wrap="square" lIns="182880" tIns="182880" rIns="182880" bIns="182880" rtlCol="0" anchor="t"/>
          <a:lstStyle/>
          <a:p>
            <a:pPr marL="0" indent="0" algn="l">
              <a:lnSpc>
                <a:spcPts val="3000"/>
              </a:lnSpc>
              <a:buNone/>
            </a:pPr>
            <a:r>
              <a:rPr lang="en-US" sz="2400" dirty="0">
                <a:solidFill>
                  <a:srgbClr val="D1FAE5"/>
                </a:solidFill>
                <a:latin typeface="Consolas"/>
                <a:ea typeface="Consolas"/>
                <a:cs typeface="Consolas"/>
              </a:rPr>
              <a:t>even values: 5</a:t>
            </a:r>
            <a:endParaRPr lang="en-US" sz="2400" dirty="0"/>
          </a:p>
        </p:txBody>
      </p:sp>
      <p:sp>
        <p:nvSpPr>
          <p:cNvPr id="17" name="Shape 17"/>
          <p:cNvSpPr/>
          <p:nvPr/>
        </p:nvSpPr>
        <p:spPr>
          <a:xfrm>
            <a:off x="7589520" y="2667000"/>
            <a:ext cx="4053535" cy="105156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8" name="Shape 18"/>
          <p:cNvSpPr/>
          <p:nvPr/>
        </p:nvSpPr>
        <p:spPr>
          <a:xfrm>
            <a:off x="7589520" y="2667000"/>
            <a:ext cx="109728" cy="1051560"/>
          </a:xfrm>
          <a:prstGeom prst="rect">
            <a:avLst/>
          </a:prstGeom>
          <a:solidFill>
            <a:srgbClr val="2F80ED"/>
          </a:solidFill>
          <a:ln>
            <a:noFill/>
          </a:ln>
        </p:spPr>
        <p:txBody>
          <a:bodyPr wrap="square" lIns="0" tIns="0" rIns="0" bIns="0" rtlCol="0" anchor="t"/>
          <a:lstStyle/>
          <a:p>
            <a:endParaRPr lang="en-US"/>
          </a:p>
        </p:txBody>
      </p:sp>
      <p:sp>
        <p:nvSpPr>
          <p:cNvPr id="19" name="Callout"/>
          <p:cNvSpPr/>
          <p:nvPr/>
        </p:nvSpPr>
        <p:spPr>
          <a:xfrm>
            <a:off x="7699248" y="2667000"/>
            <a:ext cx="3943807" cy="105156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A counter inside an </a:t>
            </a:r>
            <a:r>
              <a:rPr lang="en-US" sz="2400" dirty="0">
                <a:solidFill>
                  <a:srgbClr val="18324A"/>
                </a:solidFill>
                <a:latin typeface="Consolas"/>
                <a:ea typeface="Consolas"/>
                <a:cs typeface="Consolas"/>
              </a:rPr>
              <a:t>if</a:t>
            </a:r>
            <a:r>
              <a:rPr lang="en-US" sz="2400" dirty="0">
                <a:solidFill>
                  <a:srgbClr val="18324A"/>
                </a:solidFill>
              </a:rPr>
              <a:t>: class 6.</a:t>
            </a:r>
            <a:endParaRPr lang="en-US" sz="2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Today in one slide</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78</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int a[5];</a:t>
            </a:r>
            <a:r>
              <a:rPr lang="en-US" sz="2800" dirty="0">
                <a:solidFill>
                  <a:srgbClr val="18324A"/>
                </a:solidFill>
              </a:rPr>
              <a:t> five boxes, one name, one type</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Index from </a:t>
            </a:r>
            <a:r>
              <a:rPr lang="en-US" sz="2800" b="1" dirty="0">
                <a:solidFill>
                  <a:srgbClr val="18324A"/>
                </a:solidFill>
              </a:rPr>
              <a:t>0</a:t>
            </a:r>
            <a:r>
              <a:rPr lang="en-US" sz="2800" dirty="0">
                <a:solidFill>
                  <a:srgbClr val="18324A"/>
                </a:solidFill>
              </a:rPr>
              <a:t> to </a:t>
            </a:r>
            <a:r>
              <a:rPr lang="en-US" sz="2800" b="1" dirty="0">
                <a:solidFill>
                  <a:srgbClr val="18324A"/>
                </a:solidFill>
              </a:rPr>
              <a:t>N-1</a:t>
            </a:r>
            <a:r>
              <a:rPr lang="en-US" sz="2800" dirty="0">
                <a:solidFill>
                  <a:srgbClr val="18324A"/>
                </a:solidFill>
              </a:rPr>
              <a:t>: </a:t>
            </a:r>
            <a:r>
              <a:rPr lang="en-US" sz="2800" dirty="0">
                <a:solidFill>
                  <a:srgbClr val="2F80ED"/>
                </a:solidFill>
                <a:latin typeface="Consolas"/>
                <a:ea typeface="Consolas"/>
                <a:cs typeface="Consolas"/>
              </a:rPr>
              <a:t>a[0]</a:t>
            </a:r>
            <a:r>
              <a:rPr lang="en-US" sz="2800" dirty="0">
                <a:solidFill>
                  <a:srgbClr val="18324A"/>
                </a:solidFill>
              </a:rPr>
              <a:t> to </a:t>
            </a:r>
            <a:r>
              <a:rPr lang="en-US" sz="2800" dirty="0">
                <a:solidFill>
                  <a:srgbClr val="2F80ED"/>
                </a:solidFill>
                <a:latin typeface="Consolas"/>
                <a:ea typeface="Consolas"/>
                <a:cs typeface="Consolas"/>
              </a:rPr>
              <a:t>a[4]</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The loop: </a:t>
            </a:r>
            <a:r>
              <a:rPr lang="en-US" sz="2800" dirty="0">
                <a:solidFill>
                  <a:srgbClr val="2F80ED"/>
                </a:solidFill>
                <a:latin typeface="Consolas"/>
                <a:ea typeface="Consolas"/>
                <a:cs typeface="Consolas"/>
              </a:rPr>
              <a:t>for (int i = 0; i &lt; N; i++)</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2F80ED"/>
                </a:solidFill>
                <a:latin typeface="Consolas"/>
                <a:ea typeface="Consolas"/>
                <a:cs typeface="Consolas"/>
              </a:rPr>
              <a:t>scanf("%d", &amp;a[i]);</a:t>
            </a:r>
            <a:r>
              <a:rPr lang="en-US" sz="2800" dirty="0">
                <a:solidFill>
                  <a:srgbClr val="18324A"/>
                </a:solidFill>
              </a:rPr>
              <a:t> reads into a box</a:t>
            </a:r>
            <a:endParaRPr lang="en-US" sz="2800" dirty="0"/>
          </a:p>
        </p:txBody>
      </p:sp>
      <p:sp>
        <p:nvSpPr>
          <p:cNvPr id="14" name="Shape 14"/>
          <p:cNvSpPr/>
          <p:nvPr/>
        </p:nvSpPr>
        <p:spPr>
          <a:xfrm>
            <a:off x="731520" y="4965192"/>
            <a:ext cx="640080" cy="640080"/>
          </a:xfrm>
          <a:prstGeom prst="rect">
            <a:avLst/>
          </a:prstGeom>
          <a:solidFill>
            <a:srgbClr val="FF6B6B"/>
          </a:solidFill>
          <a:ln>
            <a:noFill/>
          </a:ln>
        </p:spPr>
        <p:txBody>
          <a:bodyPr wrap="square" lIns="0" tIns="0" rIns="0" bIns="0" rtlCol="0" anchor="ctr"/>
          <a:lstStyle/>
          <a:p>
            <a:pPr marL="0" indent="0" algn="ctr">
              <a:buNone/>
            </a:pPr>
            <a:r>
              <a:rPr lang="en-US" sz="2400" b="1" dirty="0">
                <a:solidFill>
                  <a:srgbClr val="FFFFFF"/>
                </a:solidFill>
              </a:rPr>
              <a:t>5</a:t>
            </a:r>
            <a:endParaRPr lang="en-US" sz="2400" dirty="0"/>
          </a:p>
        </p:txBody>
      </p:sp>
      <p:sp>
        <p:nvSpPr>
          <p:cNvPr id="15" name="Shape 15"/>
          <p:cNvSpPr/>
          <p:nvPr/>
        </p:nvSpPr>
        <p:spPr>
          <a:xfrm>
            <a:off x="1691640" y="49651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C does not check the index. </a:t>
            </a:r>
            <a:r>
              <a:rPr lang="en-US" sz="2800" dirty="0">
                <a:solidFill>
                  <a:srgbClr val="2F80ED"/>
                </a:solidFill>
                <a:latin typeface="Consolas"/>
                <a:ea typeface="Consolas"/>
                <a:cs typeface="Consolas"/>
              </a:rPr>
              <a:t>b = a;</a:t>
            </a:r>
            <a:r>
              <a:rPr lang="en-US" sz="2800" dirty="0">
                <a:solidFill>
                  <a:srgbClr val="18324A"/>
                </a:solidFill>
              </a:rPr>
              <a:t> does not compile</a:t>
            </a:r>
            <a:endParaRPr lang="en-US" sz="2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548640" y="292608"/>
            <a:ext cx="11094415" cy="685800"/>
          </a:xfrm>
          <a:prstGeom prst="rect">
            <a:avLst/>
          </a:prstGeom>
          <a:noFill/>
          <a:ln>
            <a:noFill/>
          </a:ln>
        </p:spPr>
        <p:txBody>
          <a:bodyPr wrap="square" lIns="0" tIns="0" rIns="0" bIns="0" rtlCol="0" anchor="ctr"/>
          <a:lstStyle/>
          <a:p>
            <a:pPr marL="0" indent="0" algn="l">
              <a:buNone/>
            </a:pPr>
            <a:r>
              <a:rPr lang="en-US" sz="3400" b="1" dirty="0">
                <a:solidFill>
                  <a:srgbClr val="18324A"/>
                </a:solidFill>
              </a:rPr>
              <a:t>Before Friday</a:t>
            </a:r>
            <a:endParaRPr lang="en-US" sz="3400" dirty="0"/>
          </a:p>
        </p:txBody>
      </p:sp>
      <p:sp>
        <p:nvSpPr>
          <p:cNvPr id="3" name="Shape 3"/>
          <p:cNvSpPr/>
          <p:nvPr/>
        </p:nvSpPr>
        <p:spPr>
          <a:xfrm>
            <a:off x="548640" y="1078992"/>
            <a:ext cx="11094415" cy="0"/>
          </a:xfrm>
          <a:prstGeom prst="line">
            <a:avLst/>
          </a:prstGeom>
          <a:noFill/>
          <a:ln w="12700">
            <a:solidFill>
              <a:srgbClr val="D8E0EA"/>
            </a:solidFill>
          </a:ln>
        </p:spPr>
        <p:txBody>
          <a:bodyPr wrap="square" lIns="0" tIns="0" rIns="0" bIns="0" rtlCol="0" anchor="t"/>
          <a:lstStyle/>
          <a:p>
            <a:endParaRPr lang="en-US"/>
          </a:p>
        </p:txBody>
      </p:sp>
      <p:sp>
        <p:nvSpPr>
          <p:cNvPr id="4" name="Footer"/>
          <p:cNvSpPr/>
          <p:nvPr/>
        </p:nvSpPr>
        <p:spPr>
          <a:xfrm>
            <a:off x="548640" y="6400800"/>
            <a:ext cx="8229600" cy="274320"/>
          </a:xfrm>
          <a:prstGeom prst="rect">
            <a:avLst/>
          </a:prstGeom>
          <a:noFill/>
          <a:ln>
            <a:noFill/>
          </a:ln>
        </p:spPr>
        <p:txBody>
          <a:bodyPr wrap="square" lIns="0" tIns="0" rIns="0" bIns="0" rtlCol="0" anchor="ctr"/>
          <a:lstStyle/>
          <a:p>
            <a:pPr marL="0" indent="0" algn="l">
              <a:buNone/>
            </a:pPr>
            <a:r>
              <a:rPr lang="en-US" sz="1100" dirty="0">
                <a:solidFill>
                  <a:srgbClr val="8B97A6"/>
                </a:solidFill>
              </a:rPr>
              <a:t>CSCI 1101 · Programming Principles I · Class 9</a:t>
            </a:r>
            <a:endParaRPr lang="en-US" sz="1100" dirty="0"/>
          </a:p>
        </p:txBody>
      </p:sp>
      <p:sp>
        <p:nvSpPr>
          <p:cNvPr id="5" name="Page"/>
          <p:cNvSpPr/>
          <p:nvPr/>
        </p:nvSpPr>
        <p:spPr>
          <a:xfrm>
            <a:off x="10820095" y="6355080"/>
            <a:ext cx="822960" cy="365760"/>
          </a:xfrm>
          <a:prstGeom prst="rect">
            <a:avLst/>
          </a:prstGeom>
          <a:noFill/>
          <a:ln>
            <a:noFill/>
          </a:ln>
        </p:spPr>
        <p:txBody>
          <a:bodyPr wrap="square" lIns="0" tIns="0" rIns="0" bIns="0" rtlCol="0" anchor="ctr"/>
          <a:lstStyle/>
          <a:p>
            <a:pPr marL="0" indent="0" algn="r">
              <a:buNone/>
            </a:pPr>
            <a:r>
              <a:rPr lang="en-US" sz="1400" b="1" dirty="0">
                <a:solidFill>
                  <a:srgbClr val="8B97A6"/>
                </a:solidFill>
              </a:rPr>
              <a:t>79</a:t>
            </a:r>
            <a:endParaRPr lang="en-US" sz="1400" dirty="0"/>
          </a:p>
        </p:txBody>
      </p:sp>
      <p:sp>
        <p:nvSpPr>
          <p:cNvPr id="6" name="Shape 6"/>
          <p:cNvSpPr/>
          <p:nvPr/>
        </p:nvSpPr>
        <p:spPr>
          <a:xfrm>
            <a:off x="731520" y="1307592"/>
            <a:ext cx="640080" cy="640080"/>
          </a:xfrm>
          <a:prstGeom prst="rect">
            <a:avLst/>
          </a:prstGeom>
          <a:solidFill>
            <a:srgbClr val="2F80ED"/>
          </a:solidFill>
          <a:ln>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7" name="Shape 7"/>
          <p:cNvSpPr/>
          <p:nvPr/>
        </p:nvSpPr>
        <p:spPr>
          <a:xfrm>
            <a:off x="1691640" y="13075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Knowledge check 9</a:t>
            </a:r>
            <a:r>
              <a:rPr lang="en-US" sz="2800" dirty="0">
                <a:solidFill>
                  <a:srgbClr val="18324A"/>
                </a:solidFill>
              </a:rPr>
              <a:t> on Blackboard: today's slides</a:t>
            </a:r>
            <a:endParaRPr lang="en-US" sz="2800" dirty="0"/>
          </a:p>
        </p:txBody>
      </p:sp>
      <p:sp>
        <p:nvSpPr>
          <p:cNvPr id="8" name="Shape 8"/>
          <p:cNvSpPr/>
          <p:nvPr/>
        </p:nvSpPr>
        <p:spPr>
          <a:xfrm>
            <a:off x="731520" y="2221992"/>
            <a:ext cx="640080" cy="640080"/>
          </a:xfrm>
          <a:prstGeom prst="rect">
            <a:avLst/>
          </a:prstGeom>
          <a:solidFill>
            <a:srgbClr val="31C48D"/>
          </a:solidFill>
          <a:ln>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9" name="Shape 9"/>
          <p:cNvSpPr/>
          <p:nvPr/>
        </p:nvSpPr>
        <p:spPr>
          <a:xfrm>
            <a:off x="1691640" y="22219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Project 1</a:t>
            </a:r>
            <a:r>
              <a:rPr lang="en-US" sz="2800" dirty="0">
                <a:solidFill>
                  <a:srgbClr val="18324A"/>
                </a:solidFill>
              </a:rPr>
              <a:t> (Blackjack): due </a:t>
            </a:r>
            <a:r>
              <a:rPr lang="en-US" sz="2800" b="1" dirty="0">
                <a:solidFill>
                  <a:srgbClr val="18324A"/>
                </a:solidFill>
              </a:rPr>
              <a:t>Sun 11 October, 23:59</a:t>
            </a:r>
            <a:endParaRPr lang="en-US" sz="2800" dirty="0"/>
          </a:p>
        </p:txBody>
      </p:sp>
      <p:sp>
        <p:nvSpPr>
          <p:cNvPr id="10" name="Shape 10"/>
          <p:cNvSpPr/>
          <p:nvPr/>
        </p:nvSpPr>
        <p:spPr>
          <a:xfrm>
            <a:off x="731520" y="3136392"/>
            <a:ext cx="640080" cy="640080"/>
          </a:xfrm>
          <a:prstGeom prst="rect">
            <a:avLst/>
          </a:prstGeom>
          <a:solidFill>
            <a:srgbClr val="F59E0B"/>
          </a:solidFill>
          <a:ln>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1" name="Shape 11"/>
          <p:cNvSpPr/>
          <p:nvPr/>
        </p:nvSpPr>
        <p:spPr>
          <a:xfrm>
            <a:off x="1691640" y="3136392"/>
            <a:ext cx="9905695" cy="640080"/>
          </a:xfrm>
          <a:prstGeom prst="rect">
            <a:avLst/>
          </a:prstGeom>
          <a:noFill/>
          <a:ln>
            <a:noFill/>
          </a:ln>
        </p:spPr>
        <p:txBody>
          <a:bodyPr wrap="square" lIns="0" tIns="0" rIns="0" bIns="0" rtlCol="0" anchor="ctr"/>
          <a:lstStyle/>
          <a:p>
            <a:pPr marL="0" indent="0" algn="l">
              <a:buNone/>
            </a:pPr>
            <a:r>
              <a:rPr lang="en-US" sz="2800" b="1" dirty="0">
                <a:solidFill>
                  <a:srgbClr val="18324A"/>
                </a:solidFill>
              </a:rPr>
              <a:t>Quiz 3: Fri 16 October</a:t>
            </a:r>
            <a:r>
              <a:rPr lang="en-US" sz="2800" dirty="0">
                <a:solidFill>
                  <a:srgbClr val="18324A"/>
                </a:solidFill>
              </a:rPr>
              <a:t>, classes 7 to 10</a:t>
            </a:r>
            <a:endParaRPr lang="en-US" sz="2800" dirty="0"/>
          </a:p>
        </p:txBody>
      </p:sp>
      <p:sp>
        <p:nvSpPr>
          <p:cNvPr id="12" name="Shape 12"/>
          <p:cNvSpPr/>
          <p:nvPr/>
        </p:nvSpPr>
        <p:spPr>
          <a:xfrm>
            <a:off x="731520" y="4050792"/>
            <a:ext cx="640080" cy="640080"/>
          </a:xfrm>
          <a:prstGeom prst="rect">
            <a:avLst/>
          </a:prstGeom>
          <a:solidFill>
            <a:srgbClr val="8B5CF6"/>
          </a:solidFill>
          <a:ln>
            <a:noFill/>
          </a:ln>
        </p:spPr>
        <p:txBody>
          <a:bodyPr wrap="square" lIns="0" tIns="0" rIns="0" bIns="0" rtlCol="0" anchor="ctr"/>
          <a:lstStyle/>
          <a:p>
            <a:pPr marL="0" indent="0" algn="ctr">
              <a:buNone/>
            </a:pPr>
            <a:r>
              <a:rPr lang="en-US" sz="2400" b="1" dirty="0">
                <a:solidFill>
                  <a:srgbClr val="FFFFFF"/>
                </a:solidFill>
              </a:rPr>
              <a:t>4</a:t>
            </a:r>
            <a:endParaRPr lang="en-US" sz="2400" dirty="0"/>
          </a:p>
        </p:txBody>
      </p:sp>
      <p:sp>
        <p:nvSpPr>
          <p:cNvPr id="13" name="Shape 13"/>
          <p:cNvSpPr/>
          <p:nvPr/>
        </p:nvSpPr>
        <p:spPr>
          <a:xfrm>
            <a:off x="1691640" y="4050792"/>
            <a:ext cx="9905695" cy="640080"/>
          </a:xfrm>
          <a:prstGeom prst="rect">
            <a:avLst/>
          </a:prstGeom>
          <a:noFill/>
          <a:ln>
            <a:noFill/>
          </a:ln>
        </p:spPr>
        <p:txBody>
          <a:bodyPr wrap="square" lIns="0" tIns="0" rIns="0" bIns="0" rtlCol="0" anchor="ctr"/>
          <a:lstStyle/>
          <a:p>
            <a:pPr marL="0" indent="0" algn="l">
              <a:buNone/>
            </a:pPr>
            <a:r>
              <a:rPr lang="en-US" sz="2800" dirty="0">
                <a:solidFill>
                  <a:srgbClr val="18324A"/>
                </a:solidFill>
              </a:rPr>
              <a:t>Today's code: Blackboard, Week 5 module, </a:t>
            </a:r>
            <a:r>
              <a:rPr lang="en-US" sz="2800" b="1" dirty="0">
                <a:solidFill>
                  <a:srgbClr val="18324A"/>
                </a:solidFill>
              </a:rPr>
              <a:t>Class 9 code</a:t>
            </a:r>
            <a:endParaRPr lang="en-US" sz="2800" dirty="0"/>
          </a:p>
        </p:txBody>
      </p:sp>
      <p:sp>
        <p:nvSpPr>
          <p:cNvPr id="14" name="Shape 14"/>
          <p:cNvSpPr/>
          <p:nvPr/>
        </p:nvSpPr>
        <p:spPr>
          <a:xfrm>
            <a:off x="548640" y="5486400"/>
            <a:ext cx="11094415" cy="777240"/>
          </a:xfrm>
          <a:prstGeom prst="rect">
            <a:avLst/>
          </a:prstGeom>
          <a:solidFill>
            <a:srgbClr val="FFFFFF"/>
          </a:solidFill>
          <a:ln w="19050">
            <a:solidFill>
              <a:srgbClr val="2F80ED"/>
            </a:solidFill>
          </a:ln>
        </p:spPr>
        <p:txBody>
          <a:bodyPr wrap="square" lIns="0" tIns="0" rIns="0" bIns="0" rtlCol="0" anchor="t"/>
          <a:lstStyle/>
          <a:p>
            <a:endParaRPr lang="en-US"/>
          </a:p>
        </p:txBody>
      </p:sp>
      <p:sp>
        <p:nvSpPr>
          <p:cNvPr id="15" name="Shape 15"/>
          <p:cNvSpPr/>
          <p:nvPr/>
        </p:nvSpPr>
        <p:spPr>
          <a:xfrm>
            <a:off x="548640" y="5486400"/>
            <a:ext cx="109728" cy="777240"/>
          </a:xfrm>
          <a:prstGeom prst="rect">
            <a:avLst/>
          </a:prstGeom>
          <a:solidFill>
            <a:srgbClr val="2F80ED"/>
          </a:solidFill>
          <a:ln>
            <a:noFill/>
          </a:ln>
        </p:spPr>
        <p:txBody>
          <a:bodyPr wrap="square" lIns="0" tIns="0" rIns="0" bIns="0" rtlCol="0" anchor="t"/>
          <a:lstStyle/>
          <a:p>
            <a:endParaRPr lang="en-US"/>
          </a:p>
        </p:txBody>
      </p:sp>
      <p:sp>
        <p:nvSpPr>
          <p:cNvPr id="16" name="Callout"/>
          <p:cNvSpPr/>
          <p:nvPr/>
        </p:nvSpPr>
        <p:spPr>
          <a:xfrm>
            <a:off x="658368" y="5486400"/>
            <a:ext cx="10984687" cy="777240"/>
          </a:xfrm>
          <a:prstGeom prst="rect">
            <a:avLst/>
          </a:prstGeom>
          <a:noFill/>
          <a:ln>
            <a:noFill/>
          </a:ln>
        </p:spPr>
        <p:txBody>
          <a:bodyPr wrap="square" lIns="201168" tIns="73152" rIns="182880" bIns="73152" rtlCol="0" anchor="ctr"/>
          <a:lstStyle/>
          <a:p>
            <a:pPr marL="0" indent="0" algn="l">
              <a:buNone/>
            </a:pPr>
            <a:r>
              <a:rPr lang="en-US" sz="2400" dirty="0">
                <a:solidFill>
                  <a:srgbClr val="18324A"/>
                </a:solidFill>
              </a:rPr>
              <a:t>Next class: search an array, find the smallest and the largest, sort it.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E6C91384D4CF4A8C11771C71AF99FC" ma:contentTypeVersion="3" ma:contentTypeDescription="Create a new document." ma:contentTypeScope="" ma:versionID="9457c7892666d9df0301343fedda2daf">
  <xsd:schema xmlns:xsd="http://www.w3.org/2001/XMLSchema" xmlns:xs="http://www.w3.org/2001/XMLSchema" xmlns:p="http://schemas.microsoft.com/office/2006/metadata/properties" xmlns:ns2="76ba2307-afa1-4918-86e6-ffe4c7b76c67" targetNamespace="http://schemas.microsoft.com/office/2006/metadata/properties" ma:root="true" ma:fieldsID="01dbc32444af8b37558df168563705b5" ns2:_="">
    <xsd:import namespace="76ba2307-afa1-4918-86e6-ffe4c7b76c6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ba2307-afa1-4918-86e6-ffe4c7b76c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C07D86D-9D44-4F53-9B6F-B55C63480B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ba2307-afa1-4918-86e6-ffe4c7b76c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A66058B-8C7C-44C5-988D-122F37B2CD12}">
  <ds:schemaRefs>
    <ds:schemaRef ds:uri="http://schemas.microsoft.com/sharepoint/v3/contenttype/forms"/>
  </ds:schemaRefs>
</ds:datastoreItem>
</file>

<file path=customXml/itemProps3.xml><?xml version="1.0" encoding="utf-8"?>
<ds:datastoreItem xmlns:ds="http://schemas.openxmlformats.org/officeDocument/2006/customXml" ds:itemID="{B559415D-7EF4-4728-B780-B028948F84C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0</TotalTime>
  <Words>12087</Words>
  <Application>Microsoft Office PowerPoint</Application>
  <PresentationFormat>Widescreen</PresentationFormat>
  <Paragraphs>1726</Paragraphs>
  <Slides>79</Slides>
  <Notes>79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79</vt:i4>
      </vt:variant>
    </vt:vector>
  </HeadingPairs>
  <TitlesOfParts>
    <vt:vector size="83" baseType="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CSCI 1101 · Class 9 · Linear arrays</dc:title>
  <dc:subject>Programming Principles I - Week 3</dc:subject>
  <dc:creator>Abbas Aliyev and Azar Aliyev</dc:creator>
  <cp:lastModifiedBy>Abbas Aliyev and Azar Aliyev</cp:lastModifiedBy>
  <cp:revision>5</cp:revision>
  <dcterms:created xsi:type="dcterms:W3CDTF">2026-09-17T10:16:02Z</dcterms:created>
  <dcterms:modified xsi:type="dcterms:W3CDTF">2026-10-16T20:06:13Z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0x010100A9E6C91384D4CF4A8C11771C71AF99FC</vt:lpwstr>
  </property>
</Properties>
</file>