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087"/>
  </p:normalViewPr>
  <p:slideViewPr>
    <p:cSldViewPr snapToGrid="0" snapToObjects="1">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tableStyles" Target="tableStyle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notesMaster" Target="notesMasters/notesMaster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presProps" Target="presProp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DE4C402D-C1DB-4341-8408-8726A6129CF1}" type="datetimeFigureOut">
              <a:rPr lang="en-US" smtClean="0"/>
              <a:t>10/17/2026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A2F93709-5EA0-4DB6-ADE5-5279DB3AC2D3}" type="slidenum">
              <a:rPr lang="en-US" smtClean="0"/>
              <a:t>‹#›</a:t>
            </a:fld>
            <a:endParaRPr lang="en-US"/>
          </a:p>
        </p:txBody>
      </p:sp>
    </p:spTree>
    <p:extLst>
      <p:ext uri="{BB962C8B-B14F-4D97-AF65-F5344CB8AC3E}">
        <p14:creationId xmlns:p14="http://schemas.microsoft.com/office/powerpoint/2010/main" val="1839827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this week is about. Last week your program learned to choose: if this, else that. But it still ran from the top to the bottom once, and ended. This week your program learns to go back and do something again. That is called a loop.</a:t>
            </a:r>
          </a:p>
          <a:p>
            <a:endParaRPr lang="en-US"/>
          </a:p>
          <a:p>
            <a:r>
              <a:rPr lang="en-US"/>
              <a:t>The three lines on the slide are a loop:</a:t>
            </a:r>
          </a:p>
          <a:p>
            <a:endParaRPr lang="en-US"/>
          </a:p>
          <a:p>
            <a:r>
              <a:rPr lang="en-US"/>
              <a:t>for (int i = 1; i &lt;= 5; i++) {</a:t>
            </a:r>
          </a:p>
          <a:p>
            <a:r>
              <a:rPr lang="en-US"/>
              <a:t>    printf("%d\n", i);</a:t>
            </a:r>
          </a:p>
          <a:p>
            <a:r>
              <a:rPr lang="en-US"/>
              <a:t>}</a:t>
            </a:r>
          </a:p>
          <a:p>
            <a:endParaRPr lang="en-US"/>
          </a:p>
          <a:p>
            <a:r>
              <a:rPr lang="en-US"/>
              <a:t>The screen shows:</a:t>
            </a:r>
          </a:p>
          <a:p>
            <a:endParaRPr lang="en-US"/>
          </a:p>
          <a:p>
            <a:r>
              <a:rPr lang="en-US"/>
              <a:t>1</a:t>
            </a:r>
          </a:p>
          <a:p>
            <a:r>
              <a:rPr lang="en-US"/>
              <a:t>2</a:t>
            </a:r>
          </a:p>
          <a:p>
            <a:r>
              <a:rPr lang="en-US"/>
              <a:t>3</a:t>
            </a:r>
          </a:p>
          <a:p>
            <a:r>
              <a:rPr lang="en-US"/>
              <a:t>4</a:t>
            </a:r>
          </a:p>
          <a:p>
            <a:r>
              <a:rPr lang="en-US"/>
              <a:t>5</a:t>
            </a:r>
          </a:p>
          <a:p>
            <a:endParaRPr lang="en-US"/>
          </a:p>
          <a:p>
            <a:r>
              <a:rPr lang="en-US"/>
              <a:t>One printf, five lines on the screen. By slide 70 you will understand every part of the first line.</a:t>
            </a:r>
          </a:p>
          <a:p>
            <a:endParaRPr lang="en-US"/>
          </a:p>
          <a:p>
            <a:r>
              <a:rPr lang="en-US"/>
              <a:t>Your Quiz 1 paper came back in this class. The mark is also in Blackboard: open the course, click Gradebook, and look for Quiz 1. Read the comments on your paper. If you think the points were added up wrongly, bring the paper to the instructor after a class, or book office hours.</a:t>
            </a:r>
          </a:p>
          <a:p>
            <a:endParaRPr lang="en-US"/>
          </a:p>
          <a:p>
            <a:r>
              <a:rPr lang="en-US"/>
              <a:t>A vote is open on Blackboard about the number of quizzes: 6 quizzes with the best 5 counting (as now), or 8 quizzes with the best 6 counting. The Blackboard announcement has the details. Please vote.</a:t>
            </a:r>
          </a:p>
          <a:p>
            <a:endParaRPr lang="en-US"/>
          </a:p>
          <a:p>
            <a:r>
              <a:rPr lang="en-US"/>
              <a:t>The programs of this class are on Blackboard. Open the course, open the Week 3 module, and download the item Class 5 code. It is a zip file with 20 small programs, the same ones you see on the slides. Each file starts with a comment that says what the program does, how to compile it and how to run it. Under that is a list called Try: three or four small changes to make. Do them. Changing a program and watching what happens is the best way to learn it.</a:t>
            </a:r>
          </a:p>
          <a:p>
            <a:endParaRPr lang="en-US"/>
          </a:p>
          <a:p>
            <a:r>
              <a:rPr lang="en-US"/>
              <a:t>How to try an example. Same as before:</a:t>
            </a:r>
          </a:p>
          <a:p>
            <a:endParaRPr lang="en-US"/>
          </a:p>
          <a:p>
            <a:r>
              <a:rPr lang="en-US"/>
              <a:t>1. Open Visual Studio Code. Click File, then Open Folder, and open a new folder called c_week3.</a:t>
            </a:r>
          </a:p>
          <a:p>
            <a:r>
              <a:rPr lang="en-US"/>
              <a:t>2. Click File, then New Text File. Type the program. Click File, then Save As, and give it a name ending in .c, for example test.c.</a:t>
            </a:r>
          </a:p>
          <a:p>
            <a:r>
              <a:rPr lang="en-US"/>
              <a:t>3. Click View, then Terminal. In the terminal type gcc -Wall test.c -o test and press Enter. If nothing is printed, it worked.</a:t>
            </a:r>
          </a:p>
          <a:p>
            <a:r>
              <a:rPr lang="en-US"/>
              <a:t>4. Type ./test and press Enter. (In Windows PowerShell, type .\test instead.)</a:t>
            </a:r>
          </a:p>
          <a:p>
            <a:endParaRPr lang="en-US"/>
          </a:p>
          <a:p>
            <a:r>
              <a:rPr lang="en-US"/>
              <a:t>Many examples in these notes are only a few lines. To run them, put the lines inside this frame, where the ... is:</a:t>
            </a:r>
          </a:p>
          <a:p>
            <a:endParaRPr lang="en-US"/>
          </a:p>
          <a:p>
            <a:r>
              <a:rPr lang="en-US"/>
              <a:t>#include &lt;stdio.h&gt;</a:t>
            </a:r>
          </a:p>
          <a:p>
            <a:r>
              <a:rPr lang="en-US"/>
              <a:t>int main(void) {</a:t>
            </a:r>
          </a:p>
          <a:p>
            <a:r>
              <a:rPr lang="en-US"/>
              <a:t>    ...</a:t>
            </a:r>
          </a:p>
          <a:p>
            <a:r>
              <a:rPr lang="en-US"/>
              <a:t>    return 0;</a:t>
            </a:r>
          </a:p>
          <a:p>
            <a:r>
              <a:rPr lang="en-US"/>
              <a:t>}</a:t>
            </a:r>
          </a:p>
          <a:p>
            <a:endParaRPr lang="en-US"/>
          </a:p>
          <a:p>
            <a:r>
              <a:rPr lang="en-US"/>
              <a:t>If a program does not stop: click inside the terminal, hold the Ctrl key and press C. More about this on slide 58.</a:t>
            </a:r>
          </a:p>
        </p:txBody>
      </p:sp>
      <p:sp>
        <p:nvSpPr>
          <p:cNvPr id="4" name="Slide Number Placeholder 3"/>
          <p:cNvSpPr>
            <a:spLocks noGrp="1"/>
          </p:cNvSpPr>
          <p:nvPr>
            <p:ph type="sldNum" sz="quarter" idx="5"/>
          </p:nvPr>
        </p:nvSpPr>
        <p:spPr/>
        <p:txBody>
          <a:bodyPr/>
          <a:lstStyle/>
          <a:p>
            <a:fld id="{A2F93709-5EA0-4DB6-ADE5-5279DB3AC2D3}" type="slidenum">
              <a:rPr lang="en-US" smtClean="0"/>
              <a:t>1</a:t>
            </a:fld>
            <a:endParaRPr lang="en-US"/>
          </a:p>
        </p:txBody>
      </p:sp>
    </p:spTree>
    <p:extLst>
      <p:ext uri="{BB962C8B-B14F-4D97-AF65-F5344CB8AC3E}">
        <p14:creationId xmlns:p14="http://schemas.microsoft.com/office/powerpoint/2010/main" val="792821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Slides 2 to 8 are the three mistakes that cost the most marks on Quiz 1, across the whole class. None of them is difficult. All three are habits — and a habit is cheap to change once you have seen it.</a:t>
            </a:r>
          </a:p>
          <a:p>
            <a:endParaRPr lang="en-US"/>
          </a:p>
          <a:p>
            <a:r>
              <a:rPr lang="en-US"/>
              <a:t>Read these seven slides again before the next quiz. They are the cheapest marks you will ever get back.</a:t>
            </a:r>
          </a:p>
        </p:txBody>
      </p:sp>
      <p:sp>
        <p:nvSpPr>
          <p:cNvPr id="4" name="Slide Number Placeholder 3"/>
          <p:cNvSpPr>
            <a:spLocks noGrp="1"/>
          </p:cNvSpPr>
          <p:nvPr>
            <p:ph type="sldNum" sz="quarter" idx="5"/>
          </p:nvPr>
        </p:nvSpPr>
        <p:spPr/>
        <p:txBody>
          <a:bodyPr/>
          <a:lstStyle/>
          <a:p>
            <a:fld id="{A2F93709-5EA0-4DB6-ADE5-5279DB3AC2D3}" type="slidenum">
              <a:rPr lang="en-US" smtClean="0"/>
              <a:t>2</a:t>
            </a:fld>
            <a:endParaRPr lang="en-US"/>
          </a:p>
        </p:txBody>
      </p:sp>
    </p:spTree>
    <p:extLst>
      <p:ext uri="{BB962C8B-B14F-4D97-AF65-F5344CB8AC3E}">
        <p14:creationId xmlns:p14="http://schemas.microsoft.com/office/powerpoint/2010/main" val="326496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was question 1(b), and it cost marks on more papers than anything else in the quiz.</a:t>
            </a:r>
          </a:p>
          <a:p>
            <a:endParaRPr lang="en-US"/>
          </a:p>
          <a:p>
            <a:r>
              <a:rPr lang="en-US"/>
              <a:t>x is a double holding 6.25. Three printf lines give three different answers:</a:t>
            </a:r>
          </a:p>
          <a:p>
            <a:endParaRPr lang="en-US"/>
          </a:p>
          <a:p>
            <a:r>
              <a:rPr lang="en-US"/>
              <a:t>double x = 6.25;</a:t>
            </a:r>
          </a:p>
          <a:p>
            <a:r>
              <a:rPr lang="en-US"/>
              <a:t>printf("%.2f\n", x);</a:t>
            </a:r>
          </a:p>
          <a:p>
            <a:r>
              <a:rPr lang="en-US"/>
              <a:t>printf("%f\n", x);</a:t>
            </a:r>
          </a:p>
          <a:p>
            <a:r>
              <a:rPr lang="en-US"/>
              <a:t>printf("%.0f\n", x);</a:t>
            </a:r>
          </a:p>
          <a:p>
            <a:endParaRPr lang="en-US"/>
          </a:p>
          <a:p>
            <a:r>
              <a:rPr lang="en-US"/>
              <a:t>The screen shows:</a:t>
            </a:r>
          </a:p>
          <a:p>
            <a:endParaRPr lang="en-US"/>
          </a:p>
          <a:p>
            <a:r>
              <a:rPr lang="en-US"/>
              <a:t>6.25</a:t>
            </a:r>
          </a:p>
          <a:p>
            <a:r>
              <a:rPr lang="en-US"/>
              <a:t>6.250000</a:t>
            </a:r>
          </a:p>
          <a:p>
            <a:r>
              <a:rPr lang="en-US"/>
              <a:t>6</a:t>
            </a:r>
          </a:p>
          <a:p>
            <a:endParaRPr lang="en-US"/>
          </a:p>
          <a:p>
            <a:r>
              <a:rPr lang="en-US"/>
              <a:t>- %.2f — you choose how many decimals. Here, two.</a:t>
            </a:r>
          </a:p>
          <a:p>
            <a:r>
              <a:rPr lang="en-US"/>
              <a:t>- %f — you choose nothing, and it always prints six decimals. 6.250000. Every time. That is simply what %f means.</a:t>
            </a:r>
          </a:p>
          <a:p>
            <a:r>
              <a:rPr lang="en-US"/>
              <a:t>- %.0f — no decimals at all.</a:t>
            </a:r>
          </a:p>
          <a:p>
            <a:endParaRPr lang="en-US"/>
          </a:p>
          <a:p>
            <a:r>
              <a:rPr lang="en-US"/>
              <a:t>The rule to remember: if you want two decimals, you have to write the .2. %f on its own is always six.</a:t>
            </a:r>
          </a:p>
        </p:txBody>
      </p:sp>
      <p:sp>
        <p:nvSpPr>
          <p:cNvPr id="4" name="Slide Number Placeholder 3"/>
          <p:cNvSpPr>
            <a:spLocks noGrp="1"/>
          </p:cNvSpPr>
          <p:nvPr>
            <p:ph type="sldNum" sz="quarter" idx="5"/>
          </p:nvPr>
        </p:nvSpPr>
        <p:spPr/>
        <p:txBody>
          <a:bodyPr/>
          <a:lstStyle/>
          <a:p>
            <a:fld id="{A2F93709-5EA0-4DB6-ADE5-5279DB3AC2D3}" type="slidenum">
              <a:rPr lang="en-US" smtClean="0"/>
              <a:t>3</a:t>
            </a:fld>
            <a:endParaRPr lang="en-US"/>
          </a:p>
        </p:txBody>
      </p:sp>
    </p:spTree>
    <p:extLst>
      <p:ext uri="{BB962C8B-B14F-4D97-AF65-F5344CB8AC3E}">
        <p14:creationId xmlns:p14="http://schemas.microsoft.com/office/powerpoint/2010/main" val="2060314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%.0f does not chop the digits off the end. It rounds to the nearest whole number.</a:t>
            </a:r>
          </a:p>
          <a:p>
            <a:endParaRPr lang="en-US"/>
          </a:p>
          <a:p>
            <a:r>
              <a:rPr lang="en-US"/>
              <a:t>x holds: %.2f · %f · %.0f</a:t>
            </a:r>
          </a:p>
          <a:p>
            <a:r>
              <a:rPr lang="en-US"/>
              <a:t>6.25: 6.25 · 6.250000 · 6</a:t>
            </a:r>
          </a:p>
          <a:p>
            <a:r>
              <a:rPr lang="en-US"/>
              <a:t>2.75: 2.75 · 2.750000 · 3</a:t>
            </a:r>
          </a:p>
          <a:p>
            <a:endParaRPr lang="en-US"/>
          </a:p>
          <a:p>
            <a:r>
              <a:rPr lang="en-US"/>
              <a:t>6.25 rounds down to 6. But 2.75 rounds up to 3, not down to 2. If you had variant B of the quiz and wrote 2, this is the line you lost.</a:t>
            </a:r>
          </a:p>
        </p:txBody>
      </p:sp>
      <p:sp>
        <p:nvSpPr>
          <p:cNvPr id="4" name="Slide Number Placeholder 3"/>
          <p:cNvSpPr>
            <a:spLocks noGrp="1"/>
          </p:cNvSpPr>
          <p:nvPr>
            <p:ph type="sldNum" sz="quarter" idx="5"/>
          </p:nvPr>
        </p:nvSpPr>
        <p:spPr/>
        <p:txBody>
          <a:bodyPr/>
          <a:lstStyle/>
          <a:p>
            <a:fld id="{A2F93709-5EA0-4DB6-ADE5-5279DB3AC2D3}" type="slidenum">
              <a:rPr lang="en-US" smtClean="0"/>
              <a:t>4</a:t>
            </a:fld>
            <a:endParaRPr lang="en-US"/>
          </a:p>
        </p:txBody>
      </p:sp>
    </p:spTree>
    <p:extLst>
      <p:ext uri="{BB962C8B-B14F-4D97-AF65-F5344CB8AC3E}">
        <p14:creationId xmlns:p14="http://schemas.microsoft.com/office/powerpoint/2010/main" val="584751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one cost whole points, not halves. It was the first bug in question 1(c), and it was the scanf line in question 2.</a:t>
            </a:r>
          </a:p>
          <a:p>
            <a:endParaRPr lang="en-US"/>
          </a:p>
          <a:p>
            <a:r>
              <a:rPr lang="en-US"/>
              <a:t>There are two separate things to get right, and they are both on the same line.</a:t>
            </a:r>
          </a:p>
          <a:p>
            <a:endParaRPr lang="en-US"/>
          </a:p>
          <a:p>
            <a:r>
              <a:rPr lang="en-US"/>
              <a:t>One: the hole is different. For a double, printf takes %f, but scanf takes %lf — with the letter l, for long. They are not the same and you cannot swap them.</a:t>
            </a:r>
          </a:p>
          <a:p>
            <a:endParaRPr lang="en-US"/>
          </a:p>
          <a:p>
            <a:r>
              <a:rPr lang="en-US"/>
              <a:t>Two: scanf needs the &amp;. scanf has to be told where to put the number it reads. The &amp; in front of the variable is what tells it. Leave the &amp; out and scanf does not know where your box is.</a:t>
            </a:r>
          </a:p>
          <a:p>
            <a:endParaRPr lang="en-US"/>
          </a:p>
          <a:p>
            <a:r>
              <a:rPr lang="en-US"/>
              <a:t>What many people wrote:</a:t>
            </a:r>
          </a:p>
          <a:p>
            <a:endParaRPr lang="en-US"/>
          </a:p>
          <a:p>
            <a:r>
              <a:rPr lang="en-US"/>
              <a:t>double price;</a:t>
            </a:r>
          </a:p>
          <a:p>
            <a:r>
              <a:rPr lang="en-US"/>
              <a:t>scanf("%f", &amp;price);</a:t>
            </a:r>
          </a:p>
          <a:p>
            <a:endParaRPr lang="en-US"/>
          </a:p>
          <a:p>
            <a:r>
              <a:rPr lang="en-US"/>
              <a:t>double kg;</a:t>
            </a:r>
          </a:p>
          <a:p>
            <a:r>
              <a:rPr lang="en-US"/>
              <a:t>scanf("%lf", kg);</a:t>
            </a:r>
          </a:p>
          <a:p>
            <a:endParaRPr lang="en-US"/>
          </a:p>
          <a:p>
            <a:r>
              <a:rPr lang="en-US"/>
              <a:t>What it has to be:</a:t>
            </a:r>
          </a:p>
          <a:p>
            <a:endParaRPr lang="en-US"/>
          </a:p>
          <a:p>
            <a:r>
              <a:rPr lang="en-US"/>
              <a:t>double price;</a:t>
            </a:r>
          </a:p>
          <a:p>
            <a:r>
              <a:rPr lang="en-US"/>
              <a:t>scanf("%lf", &amp;price);</a:t>
            </a:r>
          </a:p>
          <a:p>
            <a:endParaRPr lang="en-US"/>
          </a:p>
          <a:p>
            <a:r>
              <a:rPr lang="en-US"/>
              <a:t>double kg;</a:t>
            </a:r>
          </a:p>
          <a:p>
            <a:r>
              <a:rPr lang="en-US"/>
              <a:t>scanf("%lf", &amp;kg);</a:t>
            </a:r>
          </a:p>
          <a:p>
            <a:endParaRPr lang="en-US"/>
          </a:p>
          <a:p>
            <a:r>
              <a:rPr lang="en-US"/>
              <a:t>Learn the whole line as one piece: scanf("%lf", &amp;x);</a:t>
            </a:r>
          </a:p>
        </p:txBody>
      </p:sp>
      <p:sp>
        <p:nvSpPr>
          <p:cNvPr id="4" name="Slide Number Placeholder 3"/>
          <p:cNvSpPr>
            <a:spLocks noGrp="1"/>
          </p:cNvSpPr>
          <p:nvPr>
            <p:ph type="sldNum" sz="quarter" idx="5"/>
          </p:nvPr>
        </p:nvSpPr>
        <p:spPr/>
        <p:txBody>
          <a:bodyPr/>
          <a:lstStyle/>
          <a:p>
            <a:fld id="{A2F93709-5EA0-4DB6-ADE5-5279DB3AC2D3}" type="slidenum">
              <a:rPr lang="en-US" smtClean="0"/>
              <a:t>5</a:t>
            </a:fld>
            <a:endParaRPr lang="en-US"/>
          </a:p>
        </p:txBody>
      </p:sp>
    </p:spTree>
    <p:extLst>
      <p:ext uri="{BB962C8B-B14F-4D97-AF65-F5344CB8AC3E}">
        <p14:creationId xmlns:p14="http://schemas.microsoft.com/office/powerpoint/2010/main" val="2729958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were not on your own with that mistake. The compiler saw it.</a:t>
            </a:r>
          </a:p>
          <a:p>
            <a:endParaRPr lang="en-US"/>
          </a:p>
          <a:p>
            <a:r>
              <a:rPr lang="en-US"/>
              <a:t>Compiled with gcc -Wall, the wrong version says:</a:t>
            </a:r>
          </a:p>
          <a:p>
            <a:endParaRPr lang="en-US"/>
          </a:p>
          <a:p>
            <a:r>
              <a:rPr lang="en-US"/>
              <a:t>warning: format '%f' expects argument of type 'float *',</a:t>
            </a:r>
          </a:p>
          <a:p>
            <a:r>
              <a:rPr lang="en-US"/>
              <a:t>but argument 2 has type 'double *'</a:t>
            </a:r>
          </a:p>
          <a:p>
            <a:endParaRPr lang="en-US"/>
          </a:p>
          <a:p>
            <a:r>
              <a:rPr lang="en-US"/>
              <a:t>It names the line and it names the problem.</a:t>
            </a:r>
          </a:p>
          <a:p>
            <a:endParaRPr lang="en-US"/>
          </a:p>
          <a:p>
            <a:r>
              <a:rPr lang="en-US"/>
              <a:t>And here is the part that catches people out: it still builds a program. The program runs. It prints something. When this one was run it printed Total: 0.00 — a perfectly calm, completely wrong answer. On another computer it might print a different wrong number, or crash.</a:t>
            </a:r>
          </a:p>
          <a:p>
            <a:endParaRPr lang="en-US"/>
          </a:p>
          <a:p>
            <a:r>
              <a:rPr lang="en-US"/>
              <a:t>So: compile with -Wall, and read what it says before you run. A warning is not noise. This mistake was free to find.</a:t>
            </a:r>
          </a:p>
        </p:txBody>
      </p:sp>
      <p:sp>
        <p:nvSpPr>
          <p:cNvPr id="4" name="Slide Number Placeholder 3"/>
          <p:cNvSpPr>
            <a:spLocks noGrp="1"/>
          </p:cNvSpPr>
          <p:nvPr>
            <p:ph type="sldNum" sz="quarter" idx="5"/>
          </p:nvPr>
        </p:nvSpPr>
        <p:spPr/>
        <p:txBody>
          <a:bodyPr/>
          <a:lstStyle/>
          <a:p>
            <a:fld id="{A2F93709-5EA0-4DB6-ADE5-5279DB3AC2D3}" type="slidenum">
              <a:rPr lang="en-US" smtClean="0"/>
              <a:t>6</a:t>
            </a:fld>
            <a:endParaRPr lang="en-US"/>
          </a:p>
        </p:txBody>
      </p:sp>
    </p:spTree>
    <p:extLst>
      <p:ext uri="{BB962C8B-B14F-4D97-AF65-F5344CB8AC3E}">
        <p14:creationId xmlns:p14="http://schemas.microsoft.com/office/powerpoint/2010/main" val="4138359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third one is not a single mistake, it is a family of small ones. Each costs half a point:</a:t>
            </a:r>
          </a:p>
          <a:p>
            <a:endParaRPr lang="en-US"/>
          </a:p>
          <a:p>
            <a:r>
              <a:rPr lang="en-US"/>
              <a:t>1. Every statement ends with a semicolon ;</a:t>
            </a:r>
          </a:p>
          <a:p>
            <a:r>
              <a:rPr lang="en-US"/>
              <a:t>2. main ends with return 0; and a closing brace } — every time, the same shape.</a:t>
            </a:r>
          </a:p>
          <a:p>
            <a:r>
              <a:rPr lang="en-US"/>
              <a:t>3. It is #include &lt;stdio.h&gt;. Not studio.h. Not # insert.</a:t>
            </a:r>
          </a:p>
          <a:p>
            <a:r>
              <a:rPr lang="en-US"/>
              <a:t>4. C is case sensitive: printf, never Printf.</a:t>
            </a:r>
          </a:p>
          <a:p>
            <a:endParaRPr lang="en-US"/>
          </a:p>
          <a:p>
            <a:r>
              <a:rPr lang="en-US"/>
              <a:t>The good news: the compiler finds every single one of these for you, and tells you the line. Compile early and compile often — after every few lines, not at the end — and you will never lose these marks again.</a:t>
            </a:r>
          </a:p>
        </p:txBody>
      </p:sp>
      <p:sp>
        <p:nvSpPr>
          <p:cNvPr id="4" name="Slide Number Placeholder 3"/>
          <p:cNvSpPr>
            <a:spLocks noGrp="1"/>
          </p:cNvSpPr>
          <p:nvPr>
            <p:ph type="sldNum" sz="quarter" idx="5"/>
          </p:nvPr>
        </p:nvSpPr>
        <p:spPr/>
        <p:txBody>
          <a:bodyPr/>
          <a:lstStyle/>
          <a:p>
            <a:fld id="{A2F93709-5EA0-4DB6-ADE5-5279DB3AC2D3}" type="slidenum">
              <a:rPr lang="en-US" smtClean="0"/>
              <a:t>7</a:t>
            </a:fld>
            <a:endParaRPr lang="en-US"/>
          </a:p>
        </p:txBody>
      </p:sp>
    </p:spTree>
    <p:extLst>
      <p:ext uri="{BB962C8B-B14F-4D97-AF65-F5344CB8AC3E}">
        <p14:creationId xmlns:p14="http://schemas.microsoft.com/office/powerpoint/2010/main" val="2601287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None of this is behind you. Look at what this class is about: every loop you write reads a number, counts, and prints a result. The same scanf. The same %.2f. The same semicolon.</a:t>
            </a:r>
          </a:p>
          <a:p>
            <a:endParaRPr lang="en-US"/>
          </a:p>
          <a:p>
            <a:r>
              <a:rPr lang="en-US"/>
              <a:t>That is what a quiz is for. It is small, and its job is to tell you early what you need to practise.</a:t>
            </a:r>
          </a:p>
          <a:p>
            <a:endParaRPr lang="en-US"/>
          </a:p>
          <a:p>
            <a:r>
              <a:rPr lang="en-US"/>
              <a:t>The practice test on Blackboard asks the same kind of question, as often as you like, and it is not graded. If any of these three slides was news to you, that is where to go next.</a:t>
            </a:r>
          </a:p>
        </p:txBody>
      </p:sp>
      <p:sp>
        <p:nvSpPr>
          <p:cNvPr id="4" name="Slide Number Placeholder 3"/>
          <p:cNvSpPr>
            <a:spLocks noGrp="1"/>
          </p:cNvSpPr>
          <p:nvPr>
            <p:ph type="sldNum" sz="quarter" idx="5"/>
          </p:nvPr>
        </p:nvSpPr>
        <p:spPr/>
        <p:txBody>
          <a:bodyPr/>
          <a:lstStyle/>
          <a:p>
            <a:fld id="{A2F93709-5EA0-4DB6-ADE5-5279DB3AC2D3}" type="slidenum">
              <a:rPr lang="en-US" smtClean="0"/>
              <a:t>8</a:t>
            </a:fld>
            <a:endParaRPr lang="en-US"/>
          </a:p>
        </p:txBody>
      </p:sp>
    </p:spTree>
    <p:extLst>
      <p:ext uri="{BB962C8B-B14F-4D97-AF65-F5344CB8AC3E}">
        <p14:creationId xmlns:p14="http://schemas.microsoft.com/office/powerpoint/2010/main" val="3719920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Eight steps in this class:</a:t>
            </a:r>
          </a:p>
          <a:p>
            <a:endParaRPr lang="en-US"/>
          </a:p>
          <a:p>
            <a:r>
              <a:rPr lang="en-US"/>
              <a:t>1. Why loops exist.</a:t>
            </a:r>
          </a:p>
          <a:p>
            <a:r>
              <a:rPr lang="en-US"/>
              <a:t>2. The four parts of a loop.</a:t>
            </a:r>
          </a:p>
          <a:p>
            <a:r>
              <a:rPr lang="en-US"/>
              <a:t>3. The while loop.</a:t>
            </a:r>
          </a:p>
          <a:p>
            <a:r>
              <a:rPr lang="en-US"/>
              <a:t>4. Tracing a loop with a pen.</a:t>
            </a:r>
          </a:p>
          <a:p>
            <a:r>
              <a:rPr lang="en-US"/>
              <a:t>5. The loop that never stops.</a:t>
            </a:r>
          </a:p>
          <a:p>
            <a:r>
              <a:rPr lang="en-US"/>
              <a:t>6. The for loop.</a:t>
            </a:r>
          </a:p>
          <a:p>
            <a:r>
              <a:rPr lang="en-US"/>
              <a:t>7. ++ and --: add one, take one away.</a:t>
            </a:r>
          </a:p>
          <a:p>
            <a:r>
              <a:rPr lang="en-US"/>
              <a:t>8. +=, -=, *=, /=, %=: short ways to change a variable.</a:t>
            </a:r>
          </a:p>
          <a:p>
            <a:endParaRPr lang="en-US"/>
          </a:p>
          <a:p>
            <a:r>
              <a:rPr lang="en-US"/>
              <a:t>The goal is to repeat tasks safely, not to memorise loop patterns. "Safely" means two things. You know where your loop starts. And you know it will stop.</a:t>
            </a:r>
          </a:p>
          <a:p>
            <a:endParaRPr lang="en-US"/>
          </a:p>
          <a:p>
            <a:r>
              <a:rPr lang="en-US"/>
              <a:t>The next class uses loops for real work: adding up numbers, counting things, asking again when the input is wrong.</a:t>
            </a:r>
          </a:p>
        </p:txBody>
      </p:sp>
      <p:sp>
        <p:nvSpPr>
          <p:cNvPr id="4" name="Slide Number Placeholder 3"/>
          <p:cNvSpPr>
            <a:spLocks noGrp="1"/>
          </p:cNvSpPr>
          <p:nvPr>
            <p:ph type="sldNum" sz="quarter" idx="5"/>
          </p:nvPr>
        </p:nvSpPr>
        <p:spPr/>
        <p:txBody>
          <a:bodyPr/>
          <a:lstStyle/>
          <a:p>
            <a:fld id="{A2F93709-5EA0-4DB6-ADE5-5279DB3AC2D3}" type="slidenum">
              <a:rPr lang="en-US" smtClean="0"/>
              <a:t>9</a:t>
            </a:fld>
            <a:endParaRPr lang="en-US"/>
          </a:p>
        </p:txBody>
      </p:sp>
    </p:spTree>
    <p:extLst>
      <p:ext uri="{BB962C8B-B14F-4D97-AF65-F5344CB8AC3E}">
        <p14:creationId xmlns:p14="http://schemas.microsoft.com/office/powerpoint/2010/main" val="2151239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first part of the class: why a program needs loops at all. Slides 11 to 17 belong to it.</a:t>
            </a:r>
          </a:p>
        </p:txBody>
      </p:sp>
      <p:sp>
        <p:nvSpPr>
          <p:cNvPr id="4" name="Slide Number Placeholder 3"/>
          <p:cNvSpPr>
            <a:spLocks noGrp="1"/>
          </p:cNvSpPr>
          <p:nvPr>
            <p:ph type="sldNum" sz="quarter" idx="5"/>
          </p:nvPr>
        </p:nvSpPr>
        <p:spPr/>
        <p:txBody>
          <a:bodyPr/>
          <a:lstStyle/>
          <a:p>
            <a:fld id="{A2F93709-5EA0-4DB6-ADE5-5279DB3AC2D3}" type="slidenum">
              <a:rPr lang="en-US" smtClean="0"/>
              <a:t>10</a:t>
            </a:fld>
            <a:endParaRPr lang="en-US"/>
          </a:p>
        </p:txBody>
      </p:sp>
    </p:spTree>
    <p:extLst>
      <p:ext uri="{BB962C8B-B14F-4D97-AF65-F5344CB8AC3E}">
        <p14:creationId xmlns:p14="http://schemas.microsoft.com/office/powerpoint/2010/main" val="3485168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Until now, every program you wrote ran from the first line to the last line, once. An if could skip some lines, but C never went back.</a:t>
            </a:r>
          </a:p>
          <a:p>
            <a:endParaRPr lang="en-US"/>
          </a:p>
          <a:p>
            <a:r>
              <a:rPr lang="en-US"/>
              <a:t>A loop lets the program go back up and run the same lines again. You write the lines once. The loop decides how many times they run.</a:t>
            </a:r>
          </a:p>
        </p:txBody>
      </p:sp>
      <p:sp>
        <p:nvSpPr>
          <p:cNvPr id="4" name="Slide Number Placeholder 3"/>
          <p:cNvSpPr>
            <a:spLocks noGrp="1"/>
          </p:cNvSpPr>
          <p:nvPr>
            <p:ph type="sldNum" sz="quarter" idx="5"/>
          </p:nvPr>
        </p:nvSpPr>
        <p:spPr/>
        <p:txBody>
          <a:bodyPr/>
          <a:lstStyle/>
          <a:p>
            <a:fld id="{A2F93709-5EA0-4DB6-ADE5-5279DB3AC2D3}" type="slidenum">
              <a:rPr lang="en-US" smtClean="0"/>
              <a:t>11</a:t>
            </a:fld>
            <a:endParaRPr lang="en-US"/>
          </a:p>
        </p:txBody>
      </p:sp>
    </p:spTree>
    <p:extLst>
      <p:ext uri="{BB962C8B-B14F-4D97-AF65-F5344CB8AC3E}">
        <p14:creationId xmlns:p14="http://schemas.microsoft.com/office/powerpoint/2010/main" val="2278619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problem. Print Hello five times.</a:t>
            </a:r>
          </a:p>
          <a:p>
            <a:endParaRPr lang="en-US"/>
          </a:p>
          <a:p>
            <a:r>
              <a:rPr lang="en-US"/>
              <a:t>The program on this slide does it without a loop: the same printf line, five times. Copy, paste, paste, paste, paste. It works. The screen shows:</a:t>
            </a:r>
          </a:p>
          <a:p>
            <a:endParaRPr lang="en-US"/>
          </a:p>
          <a:p>
            <a:r>
              <a:rPr lang="en-US"/>
              <a:t>Hello</a:t>
            </a:r>
          </a:p>
          <a:p>
            <a:r>
              <a:rPr lang="en-US"/>
              <a:t>Hello</a:t>
            </a:r>
          </a:p>
          <a:p>
            <a:r>
              <a:rPr lang="en-US"/>
              <a:t>Hello</a:t>
            </a:r>
          </a:p>
          <a:p>
            <a:r>
              <a:rPr lang="en-US"/>
              <a:t>Hello</a:t>
            </a:r>
          </a:p>
          <a:p>
            <a:r>
              <a:rPr lang="en-US"/>
              <a:t>Hello</a:t>
            </a:r>
          </a:p>
          <a:p>
            <a:endParaRPr lang="en-US"/>
          </a:p>
          <a:p>
            <a:r>
              <a:rPr lang="en-US"/>
              <a:t>This is 01_hello_copy_paste.c in the Class 5 code.</a:t>
            </a:r>
          </a:p>
        </p:txBody>
      </p:sp>
      <p:sp>
        <p:nvSpPr>
          <p:cNvPr id="4" name="Slide Number Placeholder 3"/>
          <p:cNvSpPr>
            <a:spLocks noGrp="1"/>
          </p:cNvSpPr>
          <p:nvPr>
            <p:ph type="sldNum" sz="quarter" idx="5"/>
          </p:nvPr>
        </p:nvSpPr>
        <p:spPr/>
        <p:txBody>
          <a:bodyPr/>
          <a:lstStyle/>
          <a:p>
            <a:fld id="{A2F93709-5EA0-4DB6-ADE5-5279DB3AC2D3}" type="slidenum">
              <a:rPr lang="en-US" smtClean="0"/>
              <a:t>12</a:t>
            </a:fld>
            <a:endParaRPr lang="en-US"/>
          </a:p>
        </p:txBody>
      </p:sp>
    </p:spTree>
    <p:extLst>
      <p:ext uri="{BB962C8B-B14F-4D97-AF65-F5344CB8AC3E}">
        <p14:creationId xmlns:p14="http://schemas.microsoft.com/office/powerpoint/2010/main" val="2552112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somebody asks for Hello 1000 times, not 5.</a:t>
            </a:r>
          </a:p>
          <a:p>
            <a:endParaRPr lang="en-US"/>
          </a:p>
          <a:p>
            <a:r>
              <a:rPr lang="en-US"/>
              <a:t>With the program of slide 12 you must add 995 more lines. Nobody wants to do that, and nobody can check afterwards that there are exactly 1000. Think about it for a moment, then go to the next slide.</a:t>
            </a:r>
          </a:p>
        </p:txBody>
      </p:sp>
      <p:sp>
        <p:nvSpPr>
          <p:cNvPr id="4" name="Slide Number Placeholder 3"/>
          <p:cNvSpPr>
            <a:spLocks noGrp="1"/>
          </p:cNvSpPr>
          <p:nvPr>
            <p:ph type="sldNum" sz="quarter" idx="5"/>
          </p:nvPr>
        </p:nvSpPr>
        <p:spPr/>
        <p:txBody>
          <a:bodyPr/>
          <a:lstStyle/>
          <a:p>
            <a:fld id="{A2F93709-5EA0-4DB6-ADE5-5279DB3AC2D3}" type="slidenum">
              <a:rPr lang="en-US" smtClean="0"/>
              <a:t>13</a:t>
            </a:fld>
            <a:endParaRPr lang="en-US"/>
          </a:p>
        </p:txBody>
      </p:sp>
    </p:spTree>
    <p:extLst>
      <p:ext uri="{BB962C8B-B14F-4D97-AF65-F5344CB8AC3E}">
        <p14:creationId xmlns:p14="http://schemas.microsoft.com/office/powerpoint/2010/main" val="34989677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three bright lines are a loop:</a:t>
            </a:r>
          </a:p>
          <a:p>
            <a:endParaRPr lang="en-US"/>
          </a:p>
          <a:p>
            <a:r>
              <a:rPr lang="en-US"/>
              <a:t>for (int i = 0; i &lt; 5; i++) {</a:t>
            </a:r>
          </a:p>
          <a:p>
            <a:r>
              <a:rPr lang="en-US"/>
              <a:t>    printf("Hello\n");</a:t>
            </a:r>
          </a:p>
          <a:p>
            <a:r>
              <a:rPr lang="en-US"/>
              <a:t>}</a:t>
            </a:r>
          </a:p>
          <a:p>
            <a:endParaRPr lang="en-US"/>
          </a:p>
          <a:p>
            <a:r>
              <a:rPr lang="en-US"/>
              <a:t>There is only one printf. The line above it says: do this 5 times. The screen shows exactly the same five Hello lines as on slide 12.</a:t>
            </a:r>
          </a:p>
          <a:p>
            <a:endParaRPr lang="en-US"/>
          </a:p>
          <a:p>
            <a:r>
              <a:rPr lang="en-US"/>
              <a:t>You do not need to understand the for line yet. Slides 62 to 70 explain every part of it. This is 02_hello_loop.c in the Class 5 code.</a:t>
            </a:r>
          </a:p>
        </p:txBody>
      </p:sp>
      <p:sp>
        <p:nvSpPr>
          <p:cNvPr id="4" name="Slide Number Placeholder 3"/>
          <p:cNvSpPr>
            <a:spLocks noGrp="1"/>
          </p:cNvSpPr>
          <p:nvPr>
            <p:ph type="sldNum" sz="quarter" idx="5"/>
          </p:nvPr>
        </p:nvSpPr>
        <p:spPr/>
        <p:txBody>
          <a:bodyPr/>
          <a:lstStyle/>
          <a:p>
            <a:fld id="{A2F93709-5EA0-4DB6-ADE5-5279DB3AC2D3}" type="slidenum">
              <a:rPr lang="en-US" smtClean="0"/>
              <a:t>14</a:t>
            </a:fld>
            <a:endParaRPr lang="en-US"/>
          </a:p>
        </p:txBody>
      </p:sp>
    </p:spTree>
    <p:extLst>
      <p:ext uri="{BB962C8B-B14F-4D97-AF65-F5344CB8AC3E}">
        <p14:creationId xmlns:p14="http://schemas.microsoft.com/office/powerpoint/2010/main" val="239559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copy and paste. Right: the loop.</a:t>
            </a:r>
          </a:p>
          <a:p>
            <a:endParaRPr lang="en-US"/>
          </a:p>
          <a:p>
            <a:r>
              <a:rPr lang="en-US"/>
              <a:t>To go from 5 to 1000, the left side needs 995 more lines. The right side needs a change of one number: 5 becomes 1000. That is the first reason for loops: you write the action once, and a number controls how often it runs.</a:t>
            </a:r>
          </a:p>
        </p:txBody>
      </p:sp>
      <p:sp>
        <p:nvSpPr>
          <p:cNvPr id="4" name="Slide Number Placeholder 3"/>
          <p:cNvSpPr>
            <a:spLocks noGrp="1"/>
          </p:cNvSpPr>
          <p:nvPr>
            <p:ph type="sldNum" sz="quarter" idx="5"/>
          </p:nvPr>
        </p:nvSpPr>
        <p:spPr/>
        <p:txBody>
          <a:bodyPr/>
          <a:lstStyle/>
          <a:p>
            <a:fld id="{A2F93709-5EA0-4DB6-ADE5-5279DB3AC2D3}" type="slidenum">
              <a:rPr lang="en-US" smtClean="0"/>
              <a:t>15</a:t>
            </a:fld>
            <a:endParaRPr lang="en-US"/>
          </a:p>
        </p:txBody>
      </p:sp>
    </p:spTree>
    <p:extLst>
      <p:ext uri="{BB962C8B-B14F-4D97-AF65-F5344CB8AC3E}">
        <p14:creationId xmlns:p14="http://schemas.microsoft.com/office/powerpoint/2010/main" val="998313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second reason, and it is the stronger one. "Print Hello as many times as the user says." When you write the program, you do not know the number yet. You cannot copy and paste a number you do not know.</a:t>
            </a:r>
          </a:p>
          <a:p>
            <a:endParaRPr lang="en-US"/>
          </a:p>
          <a:p>
            <a:r>
              <a:rPr lang="en-US"/>
              <a:t>With a loop it is easy, because the number can be a variable. The program asks, scanf puts the answer into n, and the loop runs n times:</a:t>
            </a:r>
          </a:p>
          <a:p>
            <a:endParaRPr lang="en-US"/>
          </a:p>
          <a:p>
            <a:r>
              <a:rPr lang="en-US"/>
              <a:t>for (int i = 0; i &lt; n; i++) {</a:t>
            </a:r>
          </a:p>
          <a:p>
            <a:r>
              <a:rPr lang="en-US"/>
              <a:t>    printf("Hello\n");</a:t>
            </a:r>
          </a:p>
          <a:p>
            <a:r>
              <a:rPr lang="en-US"/>
              <a:t>}</a:t>
            </a:r>
          </a:p>
          <a:p>
            <a:endParaRPr lang="en-US"/>
          </a:p>
          <a:p>
            <a:r>
              <a:rPr lang="en-US"/>
              <a:t>You type: The screen shows</a:t>
            </a:r>
          </a:p>
          <a:p>
            <a:r>
              <a:rPr lang="en-US"/>
              <a:t>3: Hello three times</a:t>
            </a:r>
          </a:p>
          <a:p>
            <a:r>
              <a:rPr lang="en-US"/>
              <a:t>0: nothing after the question</a:t>
            </a:r>
          </a:p>
          <a:p>
            <a:r>
              <a:rPr lang="en-US"/>
              <a:t>-2: nothing after the question</a:t>
            </a:r>
          </a:p>
          <a:p>
            <a:endParaRPr lang="en-US"/>
          </a:p>
          <a:p>
            <a:r>
              <a:rPr lang="en-US"/>
              <a:t>With 0 and with -2 the loop runs zero times. That is not an error: the loop asks "is i smaller than n?", the answer is no at once, and the program goes on. Slide 43 says more about this.</a:t>
            </a:r>
          </a:p>
          <a:p>
            <a:endParaRPr lang="en-US"/>
          </a:p>
          <a:p>
            <a:r>
              <a:rPr lang="en-US"/>
              <a:t>This is 03_hello_n_times.c in the Class 5 code. Run it and try 3, 10, 0 and -2.</a:t>
            </a:r>
          </a:p>
        </p:txBody>
      </p:sp>
      <p:sp>
        <p:nvSpPr>
          <p:cNvPr id="4" name="Slide Number Placeholder 3"/>
          <p:cNvSpPr>
            <a:spLocks noGrp="1"/>
          </p:cNvSpPr>
          <p:nvPr>
            <p:ph type="sldNum" sz="quarter" idx="5"/>
          </p:nvPr>
        </p:nvSpPr>
        <p:spPr/>
        <p:txBody>
          <a:bodyPr/>
          <a:lstStyle/>
          <a:p>
            <a:fld id="{A2F93709-5EA0-4DB6-ADE5-5279DB3AC2D3}" type="slidenum">
              <a:rPr lang="en-US" smtClean="0"/>
              <a:t>16</a:t>
            </a:fld>
            <a:endParaRPr lang="en-US"/>
          </a:p>
        </p:txBody>
      </p:sp>
    </p:spTree>
    <p:extLst>
      <p:ext uri="{BB962C8B-B14F-4D97-AF65-F5344CB8AC3E}">
        <p14:creationId xmlns:p14="http://schemas.microsoft.com/office/powerpoint/2010/main" val="313935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everyday jobs for a loop:</a:t>
            </a:r>
          </a:p>
          <a:p>
            <a:endParaRPr lang="en-US"/>
          </a:p>
          <a:p>
            <a:r>
              <a:rPr lang="en-US"/>
              <a:t>1. Count: 1, 2, 3, up to 100.</a:t>
            </a:r>
          </a:p>
          <a:p>
            <a:r>
              <a:rPr lang="en-US"/>
              <a:t>2. Read many values: 30 marks, one after another.</a:t>
            </a:r>
          </a:p>
          <a:p>
            <a:r>
              <a:rPr lang="en-US"/>
              <a:t>3. Search: look at every item until you find the one you want.</a:t>
            </a:r>
          </a:p>
          <a:p>
            <a:r>
              <a:rPr lang="en-US"/>
              <a:t>4. Ask again: until the input is right.</a:t>
            </a:r>
          </a:p>
          <a:p>
            <a:endParaRPr lang="en-US"/>
          </a:p>
          <a:p>
            <a:r>
              <a:rPr lang="en-US"/>
              <a:t>All four are "do the same thing again". Almost every real program has a loop in it.</a:t>
            </a:r>
          </a:p>
        </p:txBody>
      </p:sp>
      <p:sp>
        <p:nvSpPr>
          <p:cNvPr id="4" name="Slide Number Placeholder 3"/>
          <p:cNvSpPr>
            <a:spLocks noGrp="1"/>
          </p:cNvSpPr>
          <p:nvPr>
            <p:ph type="sldNum" sz="quarter" idx="5"/>
          </p:nvPr>
        </p:nvSpPr>
        <p:spPr/>
        <p:txBody>
          <a:bodyPr/>
          <a:lstStyle/>
          <a:p>
            <a:fld id="{A2F93709-5EA0-4DB6-ADE5-5279DB3AC2D3}" type="slidenum">
              <a:rPr lang="en-US" smtClean="0"/>
              <a:t>17</a:t>
            </a:fld>
            <a:endParaRPr lang="en-US"/>
          </a:p>
        </p:txBody>
      </p:sp>
    </p:spTree>
    <p:extLst>
      <p:ext uri="{BB962C8B-B14F-4D97-AF65-F5344CB8AC3E}">
        <p14:creationId xmlns:p14="http://schemas.microsoft.com/office/powerpoint/2010/main" val="1615025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second part of the class, slides 19 to 25. Every loop, in every programming language, has the same four parts: start, check, body, update. Learn these four words. They are the most important thing in this class.</a:t>
            </a:r>
          </a:p>
        </p:txBody>
      </p:sp>
      <p:sp>
        <p:nvSpPr>
          <p:cNvPr id="4" name="Slide Number Placeholder 3"/>
          <p:cNvSpPr>
            <a:spLocks noGrp="1"/>
          </p:cNvSpPr>
          <p:nvPr>
            <p:ph type="sldNum" sz="quarter" idx="5"/>
          </p:nvPr>
        </p:nvSpPr>
        <p:spPr/>
        <p:txBody>
          <a:bodyPr/>
          <a:lstStyle/>
          <a:p>
            <a:fld id="{A2F93709-5EA0-4DB6-ADE5-5279DB3AC2D3}" type="slidenum">
              <a:rPr lang="en-US" smtClean="0"/>
              <a:t>18</a:t>
            </a:fld>
            <a:endParaRPr lang="en-US"/>
          </a:p>
        </p:txBody>
      </p:sp>
    </p:spTree>
    <p:extLst>
      <p:ext uri="{BB962C8B-B14F-4D97-AF65-F5344CB8AC3E}">
        <p14:creationId xmlns:p14="http://schemas.microsoft.com/office/powerpoint/2010/main" val="3603759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make a variable and give it its first value.</a:t>
            </a:r>
          </a:p>
          <a:p>
            <a:endParaRPr lang="en-US"/>
          </a:p>
          <a:p>
            <a:r>
              <a:rPr lang="en-US"/>
              <a:t>int count = 1;</a:t>
            </a:r>
          </a:p>
          <a:p>
            <a:endParaRPr lang="en-US"/>
          </a:p>
          <a:p>
            <a:r>
              <a:rPr lang="en-US"/>
              <a:t>The start happens once, before the loop begins. It never runs again.</a:t>
            </a:r>
          </a:p>
        </p:txBody>
      </p:sp>
      <p:sp>
        <p:nvSpPr>
          <p:cNvPr id="4" name="Slide Number Placeholder 3"/>
          <p:cNvSpPr>
            <a:spLocks noGrp="1"/>
          </p:cNvSpPr>
          <p:nvPr>
            <p:ph type="sldNum" sz="quarter" idx="5"/>
          </p:nvPr>
        </p:nvSpPr>
        <p:spPr/>
        <p:txBody>
          <a:bodyPr/>
          <a:lstStyle/>
          <a:p>
            <a:fld id="{A2F93709-5EA0-4DB6-ADE5-5279DB3AC2D3}" type="slidenum">
              <a:rPr lang="en-US" smtClean="0"/>
              <a:t>19</a:t>
            </a:fld>
            <a:endParaRPr lang="en-US"/>
          </a:p>
        </p:txBody>
      </p:sp>
    </p:spTree>
    <p:extLst>
      <p:ext uri="{BB962C8B-B14F-4D97-AF65-F5344CB8AC3E}">
        <p14:creationId xmlns:p14="http://schemas.microsoft.com/office/powerpoint/2010/main" val="39381761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Check: a yes/no question, a condition, exactly like the one in an if.</a:t>
            </a:r>
          </a:p>
          <a:p>
            <a:endParaRPr lang="en-US"/>
          </a:p>
          <a:p>
            <a:r>
              <a:rPr lang="en-US"/>
              <a:t>count &lt;= 3</a:t>
            </a:r>
          </a:p>
          <a:p>
            <a:endParaRPr lang="en-US"/>
          </a:p>
          <a:p>
            <a:r>
              <a:rPr lang="en-US"/>
              <a:t>If the answer is yes, the loop goes on. If the answer is no, the loop is over.</a:t>
            </a:r>
          </a:p>
        </p:txBody>
      </p:sp>
      <p:sp>
        <p:nvSpPr>
          <p:cNvPr id="4" name="Slide Number Placeholder 3"/>
          <p:cNvSpPr>
            <a:spLocks noGrp="1"/>
          </p:cNvSpPr>
          <p:nvPr>
            <p:ph type="sldNum" sz="quarter" idx="5"/>
          </p:nvPr>
        </p:nvSpPr>
        <p:spPr/>
        <p:txBody>
          <a:bodyPr/>
          <a:lstStyle/>
          <a:p>
            <a:fld id="{A2F93709-5EA0-4DB6-ADE5-5279DB3AC2D3}" type="slidenum">
              <a:rPr lang="en-US" smtClean="0"/>
              <a:t>20</a:t>
            </a:fld>
            <a:endParaRPr lang="en-US"/>
          </a:p>
        </p:txBody>
      </p:sp>
    </p:spTree>
    <p:extLst>
      <p:ext uri="{BB962C8B-B14F-4D97-AF65-F5344CB8AC3E}">
        <p14:creationId xmlns:p14="http://schemas.microsoft.com/office/powerpoint/2010/main" val="3774435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Body: the work you want repeated. These are the lines inside { }, for example a printf. The body is the reason you wrote the loop.</a:t>
            </a:r>
          </a:p>
        </p:txBody>
      </p:sp>
      <p:sp>
        <p:nvSpPr>
          <p:cNvPr id="4" name="Slide Number Placeholder 3"/>
          <p:cNvSpPr>
            <a:spLocks noGrp="1"/>
          </p:cNvSpPr>
          <p:nvPr>
            <p:ph type="sldNum" sz="quarter" idx="5"/>
          </p:nvPr>
        </p:nvSpPr>
        <p:spPr/>
        <p:txBody>
          <a:bodyPr/>
          <a:lstStyle/>
          <a:p>
            <a:fld id="{A2F93709-5EA0-4DB6-ADE5-5279DB3AC2D3}" type="slidenum">
              <a:rPr lang="en-US" smtClean="0"/>
              <a:t>21</a:t>
            </a:fld>
            <a:endParaRPr lang="en-US"/>
          </a:p>
        </p:txBody>
      </p:sp>
    </p:spTree>
    <p:extLst>
      <p:ext uri="{BB962C8B-B14F-4D97-AF65-F5344CB8AC3E}">
        <p14:creationId xmlns:p14="http://schemas.microsoft.com/office/powerpoint/2010/main" val="28567797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Update: change the variable, so that one day the answer to the check is no.</a:t>
            </a:r>
          </a:p>
          <a:p>
            <a:endParaRPr lang="en-US"/>
          </a:p>
          <a:p>
            <a:r>
              <a:rPr lang="en-US"/>
              <a:t>count++;</a:t>
            </a:r>
          </a:p>
          <a:p>
            <a:endParaRPr lang="en-US"/>
          </a:p>
          <a:p>
            <a:r>
              <a:rPr lang="en-US"/>
              <a:t>count++ means "add 1 to count". Without an update, the check gives the same answer for ever, and the loop never stops (slide 56).</a:t>
            </a:r>
          </a:p>
        </p:txBody>
      </p:sp>
      <p:sp>
        <p:nvSpPr>
          <p:cNvPr id="4" name="Slide Number Placeholder 3"/>
          <p:cNvSpPr>
            <a:spLocks noGrp="1"/>
          </p:cNvSpPr>
          <p:nvPr>
            <p:ph type="sldNum" sz="quarter" idx="5"/>
          </p:nvPr>
        </p:nvSpPr>
        <p:spPr/>
        <p:txBody>
          <a:bodyPr/>
          <a:lstStyle/>
          <a:p>
            <a:fld id="{A2F93709-5EA0-4DB6-ADE5-5279DB3AC2D3}" type="slidenum">
              <a:rPr lang="en-US" smtClean="0"/>
              <a:t>22</a:t>
            </a:fld>
            <a:endParaRPr lang="en-US"/>
          </a:p>
        </p:txBody>
      </p:sp>
    </p:spTree>
    <p:extLst>
      <p:ext uri="{BB962C8B-B14F-4D97-AF65-F5344CB8AC3E}">
        <p14:creationId xmlns:p14="http://schemas.microsoft.com/office/powerpoint/2010/main" val="2071813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four together:</a:t>
            </a:r>
          </a:p>
          <a:p>
            <a:endParaRPr lang="en-US"/>
          </a:p>
          <a:p>
            <a:r>
              <a:rPr lang="en-US"/>
              <a:t>Part: What it does · Example</a:t>
            </a:r>
          </a:p>
          <a:p>
            <a:r>
              <a:rPr lang="en-US"/>
              <a:t>Start: Give a variable its first value. Once. · int count = 1;</a:t>
            </a:r>
          </a:p>
          <a:p>
            <a:r>
              <a:rPr lang="en-US"/>
              <a:t>Check: A yes/no question. No: the loop is over. · count &lt;= 3</a:t>
            </a:r>
          </a:p>
          <a:p>
            <a:r>
              <a:rPr lang="en-US"/>
              <a:t>Body: The work you want repeated. · printf(...);</a:t>
            </a:r>
          </a:p>
          <a:p>
            <a:r>
              <a:rPr lang="en-US"/>
              <a:t>Update: Change the variable. · count++;</a:t>
            </a:r>
          </a:p>
          <a:p>
            <a:endParaRPr lang="en-US"/>
          </a:p>
          <a:p>
            <a:r>
              <a:rPr lang="en-US"/>
              <a:t>The order. Start. Then: check, body, update. Check, body, update. And so on, until the check says no. After the update C goes back to the check, not to the start.</a:t>
            </a:r>
          </a:p>
        </p:txBody>
      </p:sp>
      <p:sp>
        <p:nvSpPr>
          <p:cNvPr id="4" name="Slide Number Placeholder 3"/>
          <p:cNvSpPr>
            <a:spLocks noGrp="1"/>
          </p:cNvSpPr>
          <p:nvPr>
            <p:ph type="sldNum" sz="quarter" idx="5"/>
          </p:nvPr>
        </p:nvSpPr>
        <p:spPr/>
        <p:txBody>
          <a:bodyPr/>
          <a:lstStyle/>
          <a:p>
            <a:fld id="{A2F93709-5EA0-4DB6-ADE5-5279DB3AC2D3}" type="slidenum">
              <a:rPr lang="en-US" smtClean="0"/>
              <a:t>23</a:t>
            </a:fld>
            <a:endParaRPr lang="en-US"/>
          </a:p>
        </p:txBody>
      </p:sp>
    </p:spTree>
    <p:extLst>
      <p:ext uri="{BB962C8B-B14F-4D97-AF65-F5344CB8AC3E}">
        <p14:creationId xmlns:p14="http://schemas.microsoft.com/office/powerpoint/2010/main" val="1260038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then check, body, update, check, body, update, check, and so on.</a:t>
            </a:r>
          </a:p>
          <a:p>
            <a:endParaRPr lang="en-US"/>
          </a:p>
          <a:p>
            <a:r>
              <a:rPr lang="en-US"/>
              <a:t>One trip through check, body, update is called a round. Books also call it an iteration. When these notes say "the loop ran 4 rounds", the body ran 4 times.</a:t>
            </a:r>
          </a:p>
        </p:txBody>
      </p:sp>
      <p:sp>
        <p:nvSpPr>
          <p:cNvPr id="4" name="Slide Number Placeholder 3"/>
          <p:cNvSpPr>
            <a:spLocks noGrp="1"/>
          </p:cNvSpPr>
          <p:nvPr>
            <p:ph type="sldNum" sz="quarter" idx="5"/>
          </p:nvPr>
        </p:nvSpPr>
        <p:spPr/>
        <p:txBody>
          <a:bodyPr/>
          <a:lstStyle/>
          <a:p>
            <a:fld id="{A2F93709-5EA0-4DB6-ADE5-5279DB3AC2D3}" type="slidenum">
              <a:rPr lang="en-US" smtClean="0"/>
              <a:t>24</a:t>
            </a:fld>
            <a:endParaRPr lang="en-US"/>
          </a:p>
        </p:txBody>
      </p:sp>
    </p:spTree>
    <p:extLst>
      <p:ext uri="{BB962C8B-B14F-4D97-AF65-F5344CB8AC3E}">
        <p14:creationId xmlns:p14="http://schemas.microsoft.com/office/powerpoint/2010/main" val="28625338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question on the slide: a loop never stops; which of the four parts is probably wrong? The answer: the update. It is missing, or it goes the wrong way. Sometimes it is the check.</a:t>
            </a:r>
          </a:p>
          <a:p>
            <a:endParaRPr lang="en-US"/>
          </a:p>
          <a:p>
            <a:r>
              <a:rPr lang="en-US"/>
              <a:t>When a loop does something wrong, one of the four parts is wrong:</a:t>
            </a:r>
          </a:p>
          <a:p>
            <a:endParaRPr lang="en-US"/>
          </a:p>
          <a:p>
            <a:r>
              <a:rPr lang="en-US"/>
              <a:t>What you see: Which part to look at</a:t>
            </a:r>
          </a:p>
          <a:p>
            <a:r>
              <a:rPr lang="en-US"/>
              <a:t>The loop never stops: The update is missing, or it goes the wrong way.</a:t>
            </a:r>
          </a:p>
          <a:p>
            <a:r>
              <a:rPr lang="en-US"/>
              <a:t>One round too many, or one too few: The check: &lt; or &lt;=?</a:t>
            </a:r>
          </a:p>
          <a:p>
            <a:r>
              <a:rPr lang="en-US"/>
              <a:t>The loop starts from the wrong number: The start.</a:t>
            </a:r>
          </a:p>
          <a:p>
            <a:r>
              <a:rPr lang="en-US"/>
              <a:t>The loop does nothing at all: The check is false at the very beginning.</a:t>
            </a:r>
          </a:p>
          <a:p>
            <a:endParaRPr lang="en-US"/>
          </a:p>
          <a:p>
            <a:r>
              <a:rPr lang="en-US"/>
              <a:t>The habit: before you run a loop, point at each of the four parts in your code and say its name.</a:t>
            </a:r>
          </a:p>
        </p:txBody>
      </p:sp>
      <p:sp>
        <p:nvSpPr>
          <p:cNvPr id="4" name="Slide Number Placeholder 3"/>
          <p:cNvSpPr>
            <a:spLocks noGrp="1"/>
          </p:cNvSpPr>
          <p:nvPr>
            <p:ph type="sldNum" sz="quarter" idx="5"/>
          </p:nvPr>
        </p:nvSpPr>
        <p:spPr/>
        <p:txBody>
          <a:bodyPr/>
          <a:lstStyle/>
          <a:p>
            <a:fld id="{A2F93709-5EA0-4DB6-ADE5-5279DB3AC2D3}" type="slidenum">
              <a:rPr lang="en-US" smtClean="0"/>
              <a:t>25</a:t>
            </a:fld>
            <a:endParaRPr lang="en-US"/>
          </a:p>
        </p:txBody>
      </p:sp>
    </p:spTree>
    <p:extLst>
      <p:ext uri="{BB962C8B-B14F-4D97-AF65-F5344CB8AC3E}">
        <p14:creationId xmlns:p14="http://schemas.microsoft.com/office/powerpoint/2010/main" val="5300460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third part of the class, slides 27 to 44: the first kind of loop in C, the while loop. In one sentence: a while is an if that keeps asking.</a:t>
            </a:r>
          </a:p>
        </p:txBody>
      </p:sp>
      <p:sp>
        <p:nvSpPr>
          <p:cNvPr id="4" name="Slide Number Placeholder 3"/>
          <p:cNvSpPr>
            <a:spLocks noGrp="1"/>
          </p:cNvSpPr>
          <p:nvPr>
            <p:ph type="sldNum" sz="quarter" idx="5"/>
          </p:nvPr>
        </p:nvSpPr>
        <p:spPr/>
        <p:txBody>
          <a:bodyPr/>
          <a:lstStyle/>
          <a:p>
            <a:fld id="{A2F93709-5EA0-4DB6-ADE5-5279DB3AC2D3}" type="slidenum">
              <a:rPr lang="en-US" smtClean="0"/>
              <a:t>26</a:t>
            </a:fld>
            <a:endParaRPr lang="en-US"/>
          </a:p>
        </p:txBody>
      </p:sp>
    </p:spTree>
    <p:extLst>
      <p:ext uri="{BB962C8B-B14F-4D97-AF65-F5344CB8AC3E}">
        <p14:creationId xmlns:p14="http://schemas.microsoft.com/office/powerpoint/2010/main" val="231120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shape.</a:t>
            </a:r>
          </a:p>
          <a:p>
            <a:endParaRPr lang="en-US"/>
          </a:p>
          <a:p>
            <a:r>
              <a:rPr lang="en-US"/>
              <a:t>while (condition) {</a:t>
            </a:r>
          </a:p>
          <a:p>
            <a:r>
              <a:rPr lang="en-US"/>
              <a:t>    // repeated lines</a:t>
            </a:r>
          </a:p>
          <a:p>
            <a:r>
              <a:rPr lang="en-US"/>
              <a:t>}</a:t>
            </a:r>
          </a:p>
          <a:p>
            <a:endParaRPr lang="en-US"/>
          </a:p>
          <a:p>
            <a:r>
              <a:rPr lang="en-US"/>
              <a:t>It looks like an if: a word, a condition in round brackets, a block in curly brackets. There is one difference. After an if block, C moves on. After a while block, C goes back up and asks the condition again. A while is an if that keeps asking.</a:t>
            </a:r>
          </a:p>
        </p:txBody>
      </p:sp>
      <p:sp>
        <p:nvSpPr>
          <p:cNvPr id="4" name="Slide Number Placeholder 3"/>
          <p:cNvSpPr>
            <a:spLocks noGrp="1"/>
          </p:cNvSpPr>
          <p:nvPr>
            <p:ph type="sldNum" sz="quarter" idx="5"/>
          </p:nvPr>
        </p:nvSpPr>
        <p:spPr/>
        <p:txBody>
          <a:bodyPr/>
          <a:lstStyle/>
          <a:p>
            <a:fld id="{A2F93709-5EA0-4DB6-ADE5-5279DB3AC2D3}" type="slidenum">
              <a:rPr lang="en-US" smtClean="0"/>
              <a:t>27</a:t>
            </a:fld>
            <a:endParaRPr lang="en-US"/>
          </a:p>
        </p:txBody>
      </p:sp>
    </p:spTree>
    <p:extLst>
      <p:ext uri="{BB962C8B-B14F-4D97-AF65-F5344CB8AC3E}">
        <p14:creationId xmlns:p14="http://schemas.microsoft.com/office/powerpoint/2010/main" val="14314921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steps:</a:t>
            </a:r>
          </a:p>
          <a:p>
            <a:endParaRPr lang="en-US"/>
          </a:p>
          <a:p>
            <a:r>
              <a:rPr lang="en-US"/>
              <a:t>1. Check the condition.</a:t>
            </a:r>
          </a:p>
          <a:p>
            <a:r>
              <a:rPr lang="en-US"/>
              <a:t>2. If it is true, run the body.</a:t>
            </a:r>
          </a:p>
          <a:p>
            <a:r>
              <a:rPr lang="en-US"/>
              <a:t>3. Go back to the condition. Check again.</a:t>
            </a:r>
          </a:p>
          <a:p>
            <a:r>
              <a:rPr lang="en-US"/>
              <a:t>4. If it is false, leave the loop. C goes on with the line after the closing }.</a:t>
            </a:r>
          </a:p>
        </p:txBody>
      </p:sp>
      <p:sp>
        <p:nvSpPr>
          <p:cNvPr id="4" name="Slide Number Placeholder 3"/>
          <p:cNvSpPr>
            <a:spLocks noGrp="1"/>
          </p:cNvSpPr>
          <p:nvPr>
            <p:ph type="sldNum" sz="quarter" idx="5"/>
          </p:nvPr>
        </p:nvSpPr>
        <p:spPr/>
        <p:txBody>
          <a:bodyPr/>
          <a:lstStyle/>
          <a:p>
            <a:fld id="{A2F93709-5EA0-4DB6-ADE5-5279DB3AC2D3}" type="slidenum">
              <a:rPr lang="en-US" smtClean="0"/>
              <a:t>28</a:t>
            </a:fld>
            <a:endParaRPr lang="en-US"/>
          </a:p>
        </p:txBody>
      </p:sp>
    </p:spTree>
    <p:extLst>
      <p:ext uri="{BB962C8B-B14F-4D97-AF65-F5344CB8AC3E}">
        <p14:creationId xmlns:p14="http://schemas.microsoft.com/office/powerpoint/2010/main" val="19029738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first loop typed in class, the whole program. It is 04_count_while.c in the Class 5 code; in class the file was called count.c.</a:t>
            </a:r>
          </a:p>
          <a:p>
            <a:endParaRPr lang="en-US"/>
          </a:p>
          <a:p>
            <a:r>
              <a:rPr lang="en-US"/>
              <a:t>#include &lt;stdio.h&gt;</a:t>
            </a:r>
          </a:p>
          <a:p>
            <a:endParaRPr lang="en-US"/>
          </a:p>
          <a:p>
            <a:r>
              <a:rPr lang="en-US"/>
              <a:t>int main(void) {</a:t>
            </a:r>
          </a:p>
          <a:p>
            <a:r>
              <a:rPr lang="en-US"/>
              <a:t>    int count = 1;</a:t>
            </a:r>
          </a:p>
          <a:p>
            <a:endParaRPr lang="en-US"/>
          </a:p>
          <a:p>
            <a:r>
              <a:rPr lang="en-US"/>
              <a:t>    while (count &lt;= 3) {</a:t>
            </a:r>
          </a:p>
          <a:p>
            <a:r>
              <a:rPr lang="en-US"/>
              <a:t>        printf("%d\n", count);</a:t>
            </a:r>
          </a:p>
          <a:p>
            <a:r>
              <a:rPr lang="en-US"/>
              <a:t>        count++;</a:t>
            </a:r>
          </a:p>
          <a:p>
            <a:r>
              <a:rPr lang="en-US"/>
              <a:t>    }</a:t>
            </a:r>
          </a:p>
          <a:p>
            <a:endParaRPr lang="en-US"/>
          </a:p>
          <a:p>
            <a:r>
              <a:rPr lang="en-US"/>
              <a:t>    printf("Done\n");</a:t>
            </a:r>
          </a:p>
          <a:p>
            <a:r>
              <a:rPr lang="en-US"/>
              <a:t>    return 0;</a:t>
            </a:r>
          </a:p>
          <a:p>
            <a:r>
              <a:rPr lang="en-US"/>
              <a:t>}</a:t>
            </a:r>
          </a:p>
          <a:p>
            <a:endParaRPr lang="en-US"/>
          </a:p>
          <a:p>
            <a:r>
              <a:rPr lang="en-US"/>
              <a:t>Type it yourself, do not copy it. The next slides go through it line by line.</a:t>
            </a:r>
          </a:p>
          <a:p>
            <a:endParaRPr lang="en-US"/>
          </a:p>
          <a:p>
            <a:r>
              <a:rPr lang="en-US"/>
              <a:t>If your program does not work, check:</a:t>
            </a:r>
          </a:p>
          <a:p>
            <a:endParaRPr lang="en-US"/>
          </a:p>
          <a:p>
            <a:r>
              <a:rPr lang="en-US"/>
              <a:t>1. There is no semicolon after while (count &lt;= 3). With a semicolon there, the program prints nothing and never ends (slide 61). Press Ctrl+C, delete the semicolon.</a:t>
            </a:r>
          </a:p>
          <a:p>
            <a:r>
              <a:rPr lang="en-US"/>
              <a:t>2. count++; is inside the braces.</a:t>
            </a:r>
          </a:p>
          <a:p>
            <a:r>
              <a:rPr lang="en-US"/>
              <a:t>3. You wrote &lt;= and not &lt;. With &lt; the screen shows only 1 and 2.</a:t>
            </a:r>
          </a:p>
        </p:txBody>
      </p:sp>
      <p:sp>
        <p:nvSpPr>
          <p:cNvPr id="4" name="Slide Number Placeholder 3"/>
          <p:cNvSpPr>
            <a:spLocks noGrp="1"/>
          </p:cNvSpPr>
          <p:nvPr>
            <p:ph type="sldNum" sz="quarter" idx="5"/>
          </p:nvPr>
        </p:nvSpPr>
        <p:spPr/>
        <p:txBody>
          <a:bodyPr/>
          <a:lstStyle/>
          <a:p>
            <a:fld id="{A2F93709-5EA0-4DB6-ADE5-5279DB3AC2D3}" type="slidenum">
              <a:rPr lang="en-US" smtClean="0"/>
              <a:t>29</a:t>
            </a:fld>
            <a:endParaRPr lang="en-US"/>
          </a:p>
        </p:txBody>
      </p:sp>
    </p:spTree>
    <p:extLst>
      <p:ext uri="{BB962C8B-B14F-4D97-AF65-F5344CB8AC3E}">
        <p14:creationId xmlns:p14="http://schemas.microsoft.com/office/powerpoint/2010/main" val="40577618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bright line is the start: int count = 1;. It makes one box, called count, and puts 1 in it. This line runs once.</a:t>
            </a:r>
          </a:p>
        </p:txBody>
      </p:sp>
      <p:sp>
        <p:nvSpPr>
          <p:cNvPr id="4" name="Slide Number Placeholder 3"/>
          <p:cNvSpPr>
            <a:spLocks noGrp="1"/>
          </p:cNvSpPr>
          <p:nvPr>
            <p:ph type="sldNum" sz="quarter" idx="5"/>
          </p:nvPr>
        </p:nvSpPr>
        <p:spPr/>
        <p:txBody>
          <a:bodyPr/>
          <a:lstStyle/>
          <a:p>
            <a:fld id="{A2F93709-5EA0-4DB6-ADE5-5279DB3AC2D3}" type="slidenum">
              <a:rPr lang="en-US" smtClean="0"/>
              <a:t>30</a:t>
            </a:fld>
            <a:endParaRPr lang="en-US"/>
          </a:p>
        </p:txBody>
      </p:sp>
    </p:spTree>
    <p:extLst>
      <p:ext uri="{BB962C8B-B14F-4D97-AF65-F5344CB8AC3E}">
        <p14:creationId xmlns:p14="http://schemas.microsoft.com/office/powerpoint/2010/main" val="27082773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bright line is the check: while (count &lt;= 3). It asks: is count at most 3? Yes: run the body. No: jump past the closing }.</a:t>
            </a:r>
          </a:p>
        </p:txBody>
      </p:sp>
      <p:sp>
        <p:nvSpPr>
          <p:cNvPr id="4" name="Slide Number Placeholder 3"/>
          <p:cNvSpPr>
            <a:spLocks noGrp="1"/>
          </p:cNvSpPr>
          <p:nvPr>
            <p:ph type="sldNum" sz="quarter" idx="5"/>
          </p:nvPr>
        </p:nvSpPr>
        <p:spPr/>
        <p:txBody>
          <a:bodyPr/>
          <a:lstStyle/>
          <a:p>
            <a:fld id="{A2F93709-5EA0-4DB6-ADE5-5279DB3AC2D3}" type="slidenum">
              <a:rPr lang="en-US" smtClean="0"/>
              <a:t>31</a:t>
            </a:fld>
            <a:endParaRPr lang="en-US"/>
          </a:p>
        </p:txBody>
      </p:sp>
    </p:spTree>
    <p:extLst>
      <p:ext uri="{BB962C8B-B14F-4D97-AF65-F5344CB8AC3E}">
        <p14:creationId xmlns:p14="http://schemas.microsoft.com/office/powerpoint/2010/main" val="13719139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two bright lines are the body: everything inside { }. They run once in every round. The first line prints what is in the box. The second line is also the update (next slide).</a:t>
            </a:r>
          </a:p>
        </p:txBody>
      </p:sp>
      <p:sp>
        <p:nvSpPr>
          <p:cNvPr id="4" name="Slide Number Placeholder 3"/>
          <p:cNvSpPr>
            <a:spLocks noGrp="1"/>
          </p:cNvSpPr>
          <p:nvPr>
            <p:ph type="sldNum" sz="quarter" idx="5"/>
          </p:nvPr>
        </p:nvSpPr>
        <p:spPr/>
        <p:txBody>
          <a:bodyPr/>
          <a:lstStyle/>
          <a:p>
            <a:fld id="{A2F93709-5EA0-4DB6-ADE5-5279DB3AC2D3}" type="slidenum">
              <a:rPr lang="en-US" smtClean="0"/>
              <a:t>32</a:t>
            </a:fld>
            <a:endParaRPr lang="en-US"/>
          </a:p>
        </p:txBody>
      </p:sp>
    </p:spTree>
    <p:extLst>
      <p:ext uri="{BB962C8B-B14F-4D97-AF65-F5344CB8AC3E}">
        <p14:creationId xmlns:p14="http://schemas.microsoft.com/office/powerpoint/2010/main" val="35752758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bright line is the update: count++;. It means "add 1 to count". It is short for count = count + 1. Without this line the loop never stops, because count stays 1 and 1 &lt;= 3 is always true.</a:t>
            </a:r>
          </a:p>
        </p:txBody>
      </p:sp>
      <p:sp>
        <p:nvSpPr>
          <p:cNvPr id="4" name="Slide Number Placeholder 3"/>
          <p:cNvSpPr>
            <a:spLocks noGrp="1"/>
          </p:cNvSpPr>
          <p:nvPr>
            <p:ph type="sldNum" sz="quarter" idx="5"/>
          </p:nvPr>
        </p:nvSpPr>
        <p:spPr/>
        <p:txBody>
          <a:bodyPr/>
          <a:lstStyle/>
          <a:p>
            <a:fld id="{A2F93709-5EA0-4DB6-ADE5-5279DB3AC2D3}" type="slidenum">
              <a:rPr lang="en-US" smtClean="0"/>
              <a:t>33</a:t>
            </a:fld>
            <a:endParaRPr lang="en-US"/>
          </a:p>
        </p:txBody>
      </p:sp>
    </p:spTree>
    <p:extLst>
      <p:ext uri="{BB962C8B-B14F-4D97-AF65-F5344CB8AC3E}">
        <p14:creationId xmlns:p14="http://schemas.microsoft.com/office/powerpoint/2010/main" val="23685380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C reaches the closing } of the loop, it goes back up to the check, the while line. It does not go back to int count = 1;. If it did, count would be 1 again every time and the loop would never end.</a:t>
            </a:r>
          </a:p>
        </p:txBody>
      </p:sp>
      <p:sp>
        <p:nvSpPr>
          <p:cNvPr id="4" name="Slide Number Placeholder 3"/>
          <p:cNvSpPr>
            <a:spLocks noGrp="1"/>
          </p:cNvSpPr>
          <p:nvPr>
            <p:ph type="sldNum" sz="quarter" idx="5"/>
          </p:nvPr>
        </p:nvSpPr>
        <p:spPr/>
        <p:txBody>
          <a:bodyPr/>
          <a:lstStyle/>
          <a:p>
            <a:fld id="{A2F93709-5EA0-4DB6-ADE5-5279DB3AC2D3}" type="slidenum">
              <a:rPr lang="en-US" smtClean="0"/>
              <a:t>34</a:t>
            </a:fld>
            <a:endParaRPr lang="en-US"/>
          </a:p>
        </p:txBody>
      </p:sp>
    </p:spTree>
    <p:extLst>
      <p:ext uri="{BB962C8B-B14F-4D97-AF65-F5344CB8AC3E}">
        <p14:creationId xmlns:p14="http://schemas.microsoft.com/office/powerpoint/2010/main" val="29595580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printf("Done\n"); is outside the loop, after the closing }. So it runs once, when the loop is over. The screen shows:</a:t>
            </a:r>
          </a:p>
          <a:p>
            <a:endParaRPr lang="en-US"/>
          </a:p>
          <a:p>
            <a:r>
              <a:rPr lang="en-US"/>
              <a:t>1</a:t>
            </a:r>
          </a:p>
          <a:p>
            <a:r>
              <a:rPr lang="en-US"/>
              <a:t>2</a:t>
            </a:r>
          </a:p>
          <a:p>
            <a:r>
              <a:rPr lang="en-US"/>
              <a:t>3</a:t>
            </a:r>
          </a:p>
          <a:p>
            <a:r>
              <a:rPr lang="en-US"/>
              <a:t>Done</a:t>
            </a:r>
          </a:p>
        </p:txBody>
      </p:sp>
      <p:sp>
        <p:nvSpPr>
          <p:cNvPr id="4" name="Slide Number Placeholder 3"/>
          <p:cNvSpPr>
            <a:spLocks noGrp="1"/>
          </p:cNvSpPr>
          <p:nvPr>
            <p:ph type="sldNum" sz="quarter" idx="5"/>
          </p:nvPr>
        </p:nvSpPr>
        <p:spPr/>
        <p:txBody>
          <a:bodyPr/>
          <a:lstStyle/>
          <a:p>
            <a:fld id="{A2F93709-5EA0-4DB6-ADE5-5279DB3AC2D3}" type="slidenum">
              <a:rPr lang="en-US" smtClean="0"/>
              <a:t>35</a:t>
            </a:fld>
            <a:endParaRPr lang="en-US"/>
          </a:p>
        </p:txBody>
      </p:sp>
    </p:spTree>
    <p:extLst>
      <p:ext uri="{BB962C8B-B14F-4D97-AF65-F5344CB8AC3E}">
        <p14:creationId xmlns:p14="http://schemas.microsoft.com/office/powerpoint/2010/main" val="17666774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terminal:</a:t>
            </a:r>
          </a:p>
          <a:p>
            <a:endParaRPr lang="en-US"/>
          </a:p>
          <a:p>
            <a:r>
              <a:rPr lang="en-US"/>
              <a:t>gcc -Wall count.c -o count</a:t>
            </a:r>
          </a:p>
          <a:p>
            <a:r>
              <a:rPr lang="en-US"/>
              <a:t>./count</a:t>
            </a:r>
          </a:p>
          <a:p>
            <a:endParaRPr lang="en-US"/>
          </a:p>
          <a:p>
            <a:r>
              <a:rPr lang="en-US"/>
              <a:t>In Windows PowerShell the second line is .\count. If the first line prints nothing, the program compiled without problems.</a:t>
            </a:r>
          </a:p>
          <a:p>
            <a:endParaRPr lang="en-US"/>
          </a:p>
          <a:p>
            <a:r>
              <a:rPr lang="en-US"/>
              <a:t>Try it yourself. Change the program so that it counts from 1 to 10. (You change one number.) Then change it so that it counts from 5 to 8. (You change two numbers. Expect 5, 6, 7, 8, Done.)</a:t>
            </a:r>
          </a:p>
        </p:txBody>
      </p:sp>
      <p:sp>
        <p:nvSpPr>
          <p:cNvPr id="4" name="Slide Number Placeholder 3"/>
          <p:cNvSpPr>
            <a:spLocks noGrp="1"/>
          </p:cNvSpPr>
          <p:nvPr>
            <p:ph type="sldNum" sz="quarter" idx="5"/>
          </p:nvPr>
        </p:nvSpPr>
        <p:spPr/>
        <p:txBody>
          <a:bodyPr/>
          <a:lstStyle/>
          <a:p>
            <a:fld id="{A2F93709-5EA0-4DB6-ADE5-5279DB3AC2D3}" type="slidenum">
              <a:rPr lang="en-US" smtClean="0"/>
              <a:t>36</a:t>
            </a:fld>
            <a:endParaRPr lang="en-US"/>
          </a:p>
        </p:txBody>
      </p:sp>
    </p:spTree>
    <p:extLst>
      <p:ext uri="{BB962C8B-B14F-4D97-AF65-F5344CB8AC3E}">
        <p14:creationId xmlns:p14="http://schemas.microsoft.com/office/powerpoint/2010/main" val="36491892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Slides 37 to 40 go through count.c the way C does it, one check at a time. The table on the right gets one new row on each slide.</a:t>
            </a:r>
          </a:p>
          <a:p>
            <a:endParaRPr lang="en-US"/>
          </a:p>
          <a:p>
            <a:r>
              <a:rPr lang="en-US"/>
              <a:t>Check 1: count is 1. Is 1 &lt;= 3? Yes. Print 1. count becomes 2. Go back up.</a:t>
            </a:r>
          </a:p>
        </p:txBody>
      </p:sp>
      <p:sp>
        <p:nvSpPr>
          <p:cNvPr id="4" name="Slide Number Placeholder 3"/>
          <p:cNvSpPr>
            <a:spLocks noGrp="1"/>
          </p:cNvSpPr>
          <p:nvPr>
            <p:ph type="sldNum" sz="quarter" idx="5"/>
          </p:nvPr>
        </p:nvSpPr>
        <p:spPr/>
        <p:txBody>
          <a:bodyPr/>
          <a:lstStyle/>
          <a:p>
            <a:fld id="{A2F93709-5EA0-4DB6-ADE5-5279DB3AC2D3}" type="slidenum">
              <a:rPr lang="en-US" smtClean="0"/>
              <a:t>37</a:t>
            </a:fld>
            <a:endParaRPr lang="en-US"/>
          </a:p>
        </p:txBody>
      </p:sp>
    </p:spTree>
    <p:extLst>
      <p:ext uri="{BB962C8B-B14F-4D97-AF65-F5344CB8AC3E}">
        <p14:creationId xmlns:p14="http://schemas.microsoft.com/office/powerpoint/2010/main" val="18466613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Check 2: count is 2. Is 2 &lt;= 3? Yes. Print 2. count becomes 3. Go back up.</a:t>
            </a:r>
          </a:p>
        </p:txBody>
      </p:sp>
      <p:sp>
        <p:nvSpPr>
          <p:cNvPr id="4" name="Slide Number Placeholder 3"/>
          <p:cNvSpPr>
            <a:spLocks noGrp="1"/>
          </p:cNvSpPr>
          <p:nvPr>
            <p:ph type="sldNum" sz="quarter" idx="5"/>
          </p:nvPr>
        </p:nvSpPr>
        <p:spPr/>
        <p:txBody>
          <a:bodyPr/>
          <a:lstStyle/>
          <a:p>
            <a:fld id="{A2F93709-5EA0-4DB6-ADE5-5279DB3AC2D3}" type="slidenum">
              <a:rPr lang="en-US" smtClean="0"/>
              <a:t>38</a:t>
            </a:fld>
            <a:endParaRPr lang="en-US"/>
          </a:p>
        </p:txBody>
      </p:sp>
    </p:spTree>
    <p:extLst>
      <p:ext uri="{BB962C8B-B14F-4D97-AF65-F5344CB8AC3E}">
        <p14:creationId xmlns:p14="http://schemas.microsoft.com/office/powerpoint/2010/main" val="36244244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Check 3: count is 3. Is 3 &lt;= 3? Yes, because &lt;= means "smaller or equal". Print 3. count becomes 4. Go back up.</a:t>
            </a:r>
          </a:p>
        </p:txBody>
      </p:sp>
      <p:sp>
        <p:nvSpPr>
          <p:cNvPr id="4" name="Slide Number Placeholder 3"/>
          <p:cNvSpPr>
            <a:spLocks noGrp="1"/>
          </p:cNvSpPr>
          <p:nvPr>
            <p:ph type="sldNum" sz="quarter" idx="5"/>
          </p:nvPr>
        </p:nvSpPr>
        <p:spPr/>
        <p:txBody>
          <a:bodyPr/>
          <a:lstStyle/>
          <a:p>
            <a:fld id="{A2F93709-5EA0-4DB6-ADE5-5279DB3AC2D3}" type="slidenum">
              <a:rPr lang="en-US" smtClean="0"/>
              <a:t>39</a:t>
            </a:fld>
            <a:endParaRPr lang="en-US"/>
          </a:p>
        </p:txBody>
      </p:sp>
    </p:spTree>
    <p:extLst>
      <p:ext uri="{BB962C8B-B14F-4D97-AF65-F5344CB8AC3E}">
        <p14:creationId xmlns:p14="http://schemas.microsoft.com/office/powerpoint/2010/main" val="7678116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Check 4: count is 4. Is 4 &lt;= 3? No. C leaves the loop and runs the line after it: print Done.</a:t>
            </a:r>
          </a:p>
          <a:p>
            <a:endParaRPr lang="en-US"/>
          </a:p>
          <a:p>
            <a:r>
              <a:rPr lang="en-US"/>
              <a:t>Count the rows: the check ran 4 times, the body ran 3 times. The last check is the one that says no.</a:t>
            </a:r>
          </a:p>
        </p:txBody>
      </p:sp>
      <p:sp>
        <p:nvSpPr>
          <p:cNvPr id="4" name="Slide Number Placeholder 3"/>
          <p:cNvSpPr>
            <a:spLocks noGrp="1"/>
          </p:cNvSpPr>
          <p:nvPr>
            <p:ph type="sldNum" sz="quarter" idx="5"/>
          </p:nvPr>
        </p:nvSpPr>
        <p:spPr/>
        <p:txBody>
          <a:bodyPr/>
          <a:lstStyle/>
          <a:p>
            <a:fld id="{A2F93709-5EA0-4DB6-ADE5-5279DB3AC2D3}" type="slidenum">
              <a:rPr lang="en-US" smtClean="0"/>
              <a:t>40</a:t>
            </a:fld>
            <a:endParaRPr lang="en-US"/>
          </a:p>
        </p:txBody>
      </p:sp>
    </p:spTree>
    <p:extLst>
      <p:ext uri="{BB962C8B-B14F-4D97-AF65-F5344CB8AC3E}">
        <p14:creationId xmlns:p14="http://schemas.microsoft.com/office/powerpoint/2010/main" val="9550121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same loop, but the start is now int count = 10;. Before you go to the next slide, decide: what is printed? This is 05_count_zero_times.c in the Class 5 code.</a:t>
            </a:r>
          </a:p>
        </p:txBody>
      </p:sp>
      <p:sp>
        <p:nvSpPr>
          <p:cNvPr id="4" name="Slide Number Placeholder 3"/>
          <p:cNvSpPr>
            <a:spLocks noGrp="1"/>
          </p:cNvSpPr>
          <p:nvPr>
            <p:ph type="sldNum" sz="quarter" idx="5"/>
          </p:nvPr>
        </p:nvSpPr>
        <p:spPr/>
        <p:txBody>
          <a:bodyPr/>
          <a:lstStyle/>
          <a:p>
            <a:fld id="{A2F93709-5EA0-4DB6-ADE5-5279DB3AC2D3}" type="slidenum">
              <a:rPr lang="en-US" smtClean="0"/>
              <a:t>41</a:t>
            </a:fld>
            <a:endParaRPr lang="en-US"/>
          </a:p>
        </p:txBody>
      </p:sp>
    </p:spTree>
    <p:extLst>
      <p:ext uri="{BB962C8B-B14F-4D97-AF65-F5344CB8AC3E}">
        <p14:creationId xmlns:p14="http://schemas.microsoft.com/office/powerpoint/2010/main" val="5904407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only:</a:t>
            </a:r>
          </a:p>
          <a:p>
            <a:endParaRPr lang="en-US"/>
          </a:p>
          <a:p>
            <a:r>
              <a:rPr lang="en-US"/>
              <a:t>Done</a:t>
            </a:r>
          </a:p>
          <a:p>
            <a:endParaRPr lang="en-US"/>
          </a:p>
          <a:p>
            <a:r>
              <a:rPr lang="en-US"/>
              <a:t>Is 10 &lt;= 3? No, at the very first check. So the body never runs, not even once. C jumps past the } and prints Done.</a:t>
            </a:r>
          </a:p>
        </p:txBody>
      </p:sp>
      <p:sp>
        <p:nvSpPr>
          <p:cNvPr id="4" name="Slide Number Placeholder 3"/>
          <p:cNvSpPr>
            <a:spLocks noGrp="1"/>
          </p:cNvSpPr>
          <p:nvPr>
            <p:ph type="sldNum" sz="quarter" idx="5"/>
          </p:nvPr>
        </p:nvSpPr>
        <p:spPr/>
        <p:txBody>
          <a:bodyPr/>
          <a:lstStyle/>
          <a:p>
            <a:fld id="{A2F93709-5EA0-4DB6-ADE5-5279DB3AC2D3}" type="slidenum">
              <a:rPr lang="en-US" smtClean="0"/>
              <a:t>42</a:t>
            </a:fld>
            <a:endParaRPr lang="en-US"/>
          </a:p>
        </p:txBody>
      </p:sp>
    </p:spTree>
    <p:extLst>
      <p:ext uri="{BB962C8B-B14F-4D97-AF65-F5344CB8AC3E}">
        <p14:creationId xmlns:p14="http://schemas.microsoft.com/office/powerpoint/2010/main" val="26909615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while loop checks before every round, also before the first one. If the check is false at the start, the body runs zero times. That is not an error. The program does not stop; it just goes on with the line after the loop.</a:t>
            </a:r>
          </a:p>
          <a:p>
            <a:endParaRPr lang="en-US"/>
          </a:p>
          <a:p>
            <a:r>
              <a:rPr lang="en-US"/>
              <a:t>You saw the same thing on slide 16: when the user typed 0, no Hello was printed.</a:t>
            </a:r>
          </a:p>
        </p:txBody>
      </p:sp>
      <p:sp>
        <p:nvSpPr>
          <p:cNvPr id="4" name="Slide Number Placeholder 3"/>
          <p:cNvSpPr>
            <a:spLocks noGrp="1"/>
          </p:cNvSpPr>
          <p:nvPr>
            <p:ph type="sldNum" sz="quarter" idx="5"/>
          </p:nvPr>
        </p:nvSpPr>
        <p:spPr/>
        <p:txBody>
          <a:bodyPr/>
          <a:lstStyle/>
          <a:p>
            <a:fld id="{A2F93709-5EA0-4DB6-ADE5-5279DB3AC2D3}" type="slidenum">
              <a:rPr lang="en-US" smtClean="0"/>
              <a:t>43</a:t>
            </a:fld>
            <a:endParaRPr lang="en-US"/>
          </a:p>
        </p:txBody>
      </p:sp>
    </p:spTree>
    <p:extLst>
      <p:ext uri="{BB962C8B-B14F-4D97-AF65-F5344CB8AC3E}">
        <p14:creationId xmlns:p14="http://schemas.microsoft.com/office/powerpoint/2010/main" val="28624047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loop does not have to count up. This one starts at 5, goes on while n &gt; 0, and takes 1 away in every round with n--. The screen shows:</a:t>
            </a:r>
          </a:p>
          <a:p>
            <a:endParaRPr lang="en-US"/>
          </a:p>
          <a:p>
            <a:r>
              <a:rPr lang="en-US"/>
              <a:t>5</a:t>
            </a:r>
          </a:p>
          <a:p>
            <a:r>
              <a:rPr lang="en-US"/>
              <a:t>4</a:t>
            </a:r>
          </a:p>
          <a:p>
            <a:r>
              <a:rPr lang="en-US"/>
              <a:t>3</a:t>
            </a:r>
          </a:p>
          <a:p>
            <a:r>
              <a:rPr lang="en-US"/>
              <a:t>2</a:t>
            </a:r>
          </a:p>
          <a:p>
            <a:r>
              <a:rPr lang="en-US"/>
              <a:t>1</a:t>
            </a:r>
          </a:p>
          <a:p>
            <a:r>
              <a:rPr lang="en-US"/>
              <a:t>Liftoff!</a:t>
            </a:r>
          </a:p>
          <a:p>
            <a:endParaRPr lang="en-US"/>
          </a:p>
          <a:p>
            <a:r>
              <a:rPr lang="en-US"/>
              <a:t>Find the four parts. Start: int n = 5;. Check: n &gt; 0. Body: the printf. Update: n--;. Liftoff! is after the loop, so it is printed once. When the loop ends, n is 0: that is the first value for which n &gt; 0 is false.</a:t>
            </a:r>
          </a:p>
          <a:p>
            <a:endParaRPr lang="en-US"/>
          </a:p>
          <a:p>
            <a:r>
              <a:rPr lang="en-US"/>
              <a:t>This is 09_countdown_while.c in the Class 5 code. Try: start at 10; change &gt; 0 to &gt;= 0 and see that the last number is now 0.</a:t>
            </a:r>
          </a:p>
        </p:txBody>
      </p:sp>
      <p:sp>
        <p:nvSpPr>
          <p:cNvPr id="4" name="Slide Number Placeholder 3"/>
          <p:cNvSpPr>
            <a:spLocks noGrp="1"/>
          </p:cNvSpPr>
          <p:nvPr>
            <p:ph type="sldNum" sz="quarter" idx="5"/>
          </p:nvPr>
        </p:nvSpPr>
        <p:spPr/>
        <p:txBody>
          <a:bodyPr/>
          <a:lstStyle/>
          <a:p>
            <a:fld id="{A2F93709-5EA0-4DB6-ADE5-5279DB3AC2D3}" type="slidenum">
              <a:rPr lang="en-US" smtClean="0"/>
              <a:t>44</a:t>
            </a:fld>
            <a:endParaRPr lang="en-US"/>
          </a:p>
        </p:txBody>
      </p:sp>
    </p:spTree>
    <p:extLst>
      <p:ext uri="{BB962C8B-B14F-4D97-AF65-F5344CB8AC3E}">
        <p14:creationId xmlns:p14="http://schemas.microsoft.com/office/powerpoint/2010/main" val="8868228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fourth part of the class, slides 46 to 54. Tracing means: you play the computer, with a pen. Do not guess the output. Track the values.</a:t>
            </a:r>
          </a:p>
        </p:txBody>
      </p:sp>
      <p:sp>
        <p:nvSpPr>
          <p:cNvPr id="4" name="Slide Number Placeholder 3"/>
          <p:cNvSpPr>
            <a:spLocks noGrp="1"/>
          </p:cNvSpPr>
          <p:nvPr>
            <p:ph type="sldNum" sz="quarter" idx="5"/>
          </p:nvPr>
        </p:nvSpPr>
        <p:spPr/>
        <p:txBody>
          <a:bodyPr/>
          <a:lstStyle/>
          <a:p>
            <a:fld id="{A2F93709-5EA0-4DB6-ADE5-5279DB3AC2D3}" type="slidenum">
              <a:rPr lang="en-US" smtClean="0"/>
              <a:t>45</a:t>
            </a:fld>
            <a:endParaRPr lang="en-US"/>
          </a:p>
        </p:txBody>
      </p:sp>
    </p:spTree>
    <p:extLst>
      <p:ext uri="{BB962C8B-B14F-4D97-AF65-F5344CB8AC3E}">
        <p14:creationId xmlns:p14="http://schemas.microsoft.com/office/powerpoint/2010/main" val="25549948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a quiz you have no compiler. You have a pen. Tracing is how you find the output.</a:t>
            </a:r>
          </a:p>
          <a:p>
            <a:endParaRPr lang="en-US"/>
          </a:p>
          <a:p>
            <a:r>
              <a:rPr lang="en-US"/>
              <a:t>Draw a table. One row per round. In each row write what the variable holds, the answer to the check, and what is printed.</a:t>
            </a:r>
          </a:p>
        </p:txBody>
      </p:sp>
      <p:sp>
        <p:nvSpPr>
          <p:cNvPr id="4" name="Slide Number Placeholder 3"/>
          <p:cNvSpPr>
            <a:spLocks noGrp="1"/>
          </p:cNvSpPr>
          <p:nvPr>
            <p:ph type="sldNum" sz="quarter" idx="5"/>
          </p:nvPr>
        </p:nvSpPr>
        <p:spPr/>
        <p:txBody>
          <a:bodyPr/>
          <a:lstStyle/>
          <a:p>
            <a:fld id="{A2F93709-5EA0-4DB6-ADE5-5279DB3AC2D3}" type="slidenum">
              <a:rPr lang="en-US" smtClean="0"/>
              <a:t>46</a:t>
            </a:fld>
            <a:endParaRPr lang="en-US"/>
          </a:p>
        </p:txBody>
      </p:sp>
    </p:spTree>
    <p:extLst>
      <p:ext uri="{BB962C8B-B14F-4D97-AF65-F5344CB8AC3E}">
        <p14:creationId xmlns:p14="http://schemas.microsoft.com/office/powerpoint/2010/main" val="2159444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it before you look at the next slides. Take pen and paper.</a:t>
            </a:r>
          </a:p>
          <a:p>
            <a:endParaRPr lang="en-US"/>
          </a:p>
          <a:p>
            <a:r>
              <a:rPr lang="en-US"/>
              <a:t>int x = 1;</a:t>
            </a:r>
          </a:p>
          <a:p>
            <a:endParaRPr lang="en-US"/>
          </a:p>
          <a:p>
            <a:r>
              <a:rPr lang="en-US"/>
              <a:t>while (x &lt;= 4) {</a:t>
            </a:r>
          </a:p>
          <a:p>
            <a:r>
              <a:rPr lang="en-US"/>
              <a:t>    printf("%d ", x);</a:t>
            </a:r>
          </a:p>
          <a:p>
            <a:r>
              <a:rPr lang="en-US"/>
              <a:t>    x = x + 1;</a:t>
            </a:r>
          </a:p>
          <a:p>
            <a:r>
              <a:rPr lang="en-US"/>
              <a:t>}</a:t>
            </a:r>
          </a:p>
          <a:p>
            <a:endParaRPr lang="en-US"/>
          </a:p>
          <a:p>
            <a:r>
              <a:rPr lang="en-US"/>
              <a:t>Two questions: what does it print, and what is x after the loop? (x = x + 1 does the same as x++.) This is 06_trace_while.c in the Class 5 code.</a:t>
            </a:r>
          </a:p>
        </p:txBody>
      </p:sp>
      <p:sp>
        <p:nvSpPr>
          <p:cNvPr id="4" name="Slide Number Placeholder 3"/>
          <p:cNvSpPr>
            <a:spLocks noGrp="1"/>
          </p:cNvSpPr>
          <p:nvPr>
            <p:ph type="sldNum" sz="quarter" idx="5"/>
          </p:nvPr>
        </p:nvSpPr>
        <p:spPr/>
        <p:txBody>
          <a:bodyPr/>
          <a:lstStyle/>
          <a:p>
            <a:fld id="{A2F93709-5EA0-4DB6-ADE5-5279DB3AC2D3}" type="slidenum">
              <a:rPr lang="en-US" smtClean="0"/>
              <a:t>47</a:t>
            </a:fld>
            <a:endParaRPr lang="en-US"/>
          </a:p>
        </p:txBody>
      </p:sp>
    </p:spTree>
    <p:extLst>
      <p:ext uri="{BB962C8B-B14F-4D97-AF65-F5344CB8AC3E}">
        <p14:creationId xmlns:p14="http://schemas.microsoft.com/office/powerpoint/2010/main" val="42504616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Slides 48 to 52 fill in the table one row at a time.</a:t>
            </a:r>
          </a:p>
          <a:p>
            <a:endParaRPr lang="en-US"/>
          </a:p>
          <a:p>
            <a:r>
              <a:rPr lang="en-US"/>
              <a:t>Round 1: x is 1. Is 1 &lt;= 4? True. Print 1. Then x becomes 2.</a:t>
            </a:r>
          </a:p>
        </p:txBody>
      </p:sp>
      <p:sp>
        <p:nvSpPr>
          <p:cNvPr id="4" name="Slide Number Placeholder 3"/>
          <p:cNvSpPr>
            <a:spLocks noGrp="1"/>
          </p:cNvSpPr>
          <p:nvPr>
            <p:ph type="sldNum" sz="quarter" idx="5"/>
          </p:nvPr>
        </p:nvSpPr>
        <p:spPr/>
        <p:txBody>
          <a:bodyPr/>
          <a:lstStyle/>
          <a:p>
            <a:fld id="{A2F93709-5EA0-4DB6-ADE5-5279DB3AC2D3}" type="slidenum">
              <a:rPr lang="en-US" smtClean="0"/>
              <a:t>48</a:t>
            </a:fld>
            <a:endParaRPr lang="en-US"/>
          </a:p>
        </p:txBody>
      </p:sp>
    </p:spTree>
    <p:extLst>
      <p:ext uri="{BB962C8B-B14F-4D97-AF65-F5344CB8AC3E}">
        <p14:creationId xmlns:p14="http://schemas.microsoft.com/office/powerpoint/2010/main" val="38809669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2: x is 2. True. Print 2. Then x becomes 3.</a:t>
            </a:r>
          </a:p>
        </p:txBody>
      </p:sp>
      <p:sp>
        <p:nvSpPr>
          <p:cNvPr id="4" name="Slide Number Placeholder 3"/>
          <p:cNvSpPr>
            <a:spLocks noGrp="1"/>
          </p:cNvSpPr>
          <p:nvPr>
            <p:ph type="sldNum" sz="quarter" idx="5"/>
          </p:nvPr>
        </p:nvSpPr>
        <p:spPr/>
        <p:txBody>
          <a:bodyPr/>
          <a:lstStyle/>
          <a:p>
            <a:fld id="{A2F93709-5EA0-4DB6-ADE5-5279DB3AC2D3}" type="slidenum">
              <a:rPr lang="en-US" smtClean="0"/>
              <a:t>49</a:t>
            </a:fld>
            <a:endParaRPr lang="en-US"/>
          </a:p>
        </p:txBody>
      </p:sp>
    </p:spTree>
    <p:extLst>
      <p:ext uri="{BB962C8B-B14F-4D97-AF65-F5344CB8AC3E}">
        <p14:creationId xmlns:p14="http://schemas.microsoft.com/office/powerpoint/2010/main" val="8592694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3: x is 3. True. Print 3. Then x becomes 4.</a:t>
            </a:r>
          </a:p>
        </p:txBody>
      </p:sp>
      <p:sp>
        <p:nvSpPr>
          <p:cNvPr id="4" name="Slide Number Placeholder 3"/>
          <p:cNvSpPr>
            <a:spLocks noGrp="1"/>
          </p:cNvSpPr>
          <p:nvPr>
            <p:ph type="sldNum" sz="quarter" idx="5"/>
          </p:nvPr>
        </p:nvSpPr>
        <p:spPr/>
        <p:txBody>
          <a:bodyPr/>
          <a:lstStyle/>
          <a:p>
            <a:fld id="{A2F93709-5EA0-4DB6-ADE5-5279DB3AC2D3}" type="slidenum">
              <a:rPr lang="en-US" smtClean="0"/>
              <a:t>50</a:t>
            </a:fld>
            <a:endParaRPr lang="en-US"/>
          </a:p>
        </p:txBody>
      </p:sp>
    </p:spTree>
    <p:extLst>
      <p:ext uri="{BB962C8B-B14F-4D97-AF65-F5344CB8AC3E}">
        <p14:creationId xmlns:p14="http://schemas.microsoft.com/office/powerpoint/2010/main" val="12569809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4: x is 4. Is 4 &lt;= 4? True, because of the = in &lt;=: 4 is equal to 4. Print 4. Then x becomes 5.</a:t>
            </a:r>
          </a:p>
        </p:txBody>
      </p:sp>
      <p:sp>
        <p:nvSpPr>
          <p:cNvPr id="4" name="Slide Number Placeholder 3"/>
          <p:cNvSpPr>
            <a:spLocks noGrp="1"/>
          </p:cNvSpPr>
          <p:nvPr>
            <p:ph type="sldNum" sz="quarter" idx="5"/>
          </p:nvPr>
        </p:nvSpPr>
        <p:spPr/>
        <p:txBody>
          <a:bodyPr/>
          <a:lstStyle/>
          <a:p>
            <a:fld id="{A2F93709-5EA0-4DB6-ADE5-5279DB3AC2D3}" type="slidenum">
              <a:rPr lang="en-US" smtClean="0"/>
              <a:t>51</a:t>
            </a:fld>
            <a:endParaRPr lang="en-US"/>
          </a:p>
        </p:txBody>
      </p:sp>
    </p:spTree>
    <p:extLst>
      <p:ext uri="{BB962C8B-B14F-4D97-AF65-F5344CB8AC3E}">
        <p14:creationId xmlns:p14="http://schemas.microsoft.com/office/powerpoint/2010/main" val="12515364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last row: x is 5. Is 5 &lt;= 4? False. The loop ends. Nothing is printed in this row. The complete table:</a:t>
            </a:r>
          </a:p>
          <a:p>
            <a:endParaRPr lang="en-US"/>
          </a:p>
          <a:p>
            <a:r>
              <a:rPr lang="en-US"/>
              <a:t>Round: x · x &lt;= 4 · prints · then x</a:t>
            </a:r>
          </a:p>
          <a:p>
            <a:r>
              <a:rPr lang="en-US"/>
              <a:t>1: 1 · true · 1 · 2</a:t>
            </a:r>
          </a:p>
          <a:p>
            <a:r>
              <a:rPr lang="en-US"/>
              <a:t>2: 2 · true · 2 · 3</a:t>
            </a:r>
          </a:p>
          <a:p>
            <a:r>
              <a:rPr lang="en-US"/>
              <a:t>3: 3 · true · 3 · 4</a:t>
            </a:r>
          </a:p>
          <a:p>
            <a:r>
              <a:rPr lang="en-US"/>
              <a:t>4: 4 · true · 4 · 5</a:t>
            </a:r>
          </a:p>
          <a:p>
            <a:r>
              <a:rPr lang="en-US"/>
              <a:t>: 5 · false ·  · </a:t>
            </a:r>
          </a:p>
        </p:txBody>
      </p:sp>
      <p:sp>
        <p:nvSpPr>
          <p:cNvPr id="4" name="Slide Number Placeholder 3"/>
          <p:cNvSpPr>
            <a:spLocks noGrp="1"/>
          </p:cNvSpPr>
          <p:nvPr>
            <p:ph type="sldNum" sz="quarter" idx="5"/>
          </p:nvPr>
        </p:nvSpPr>
        <p:spPr/>
        <p:txBody>
          <a:bodyPr/>
          <a:lstStyle/>
          <a:p>
            <a:fld id="{A2F93709-5EA0-4DB6-ADE5-5279DB3AC2D3}" type="slidenum">
              <a:rPr lang="en-US" smtClean="0"/>
              <a:t>52</a:t>
            </a:fld>
            <a:endParaRPr lang="en-US"/>
          </a:p>
        </p:txBody>
      </p:sp>
    </p:spTree>
    <p:extLst>
      <p:ext uri="{BB962C8B-B14F-4D97-AF65-F5344CB8AC3E}">
        <p14:creationId xmlns:p14="http://schemas.microsoft.com/office/powerpoint/2010/main" val="20984002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screen shows 1 2 3 4.</a:t>
            </a:r>
          </a:p>
          <a:p>
            <a:r>
              <a:rPr lang="en-US"/>
              <a:t>- After the loop, x is 5, not 4.</a:t>
            </a:r>
          </a:p>
          <a:p>
            <a:r>
              <a:rPr lang="en-US"/>
              <a:t>- The body ran 4 times.</a:t>
            </a:r>
          </a:p>
          <a:p>
            <a:r>
              <a:rPr lang="en-US"/>
              <a:t>- The check ran 5 times: four times true, one time false. The check always runs one more time than the body.</a:t>
            </a:r>
          </a:p>
        </p:txBody>
      </p:sp>
      <p:sp>
        <p:nvSpPr>
          <p:cNvPr id="4" name="Slide Number Placeholder 3"/>
          <p:cNvSpPr>
            <a:spLocks noGrp="1"/>
          </p:cNvSpPr>
          <p:nvPr>
            <p:ph type="sldNum" sz="quarter" idx="5"/>
          </p:nvPr>
        </p:nvSpPr>
        <p:spPr/>
        <p:txBody>
          <a:bodyPr/>
          <a:lstStyle/>
          <a:p>
            <a:fld id="{A2F93709-5EA0-4DB6-ADE5-5279DB3AC2D3}" type="slidenum">
              <a:rPr lang="en-US" smtClean="0"/>
              <a:t>53</a:t>
            </a:fld>
            <a:endParaRPr lang="en-US"/>
          </a:p>
        </p:txBody>
      </p:sp>
    </p:spTree>
    <p:extLst>
      <p:ext uri="{BB962C8B-B14F-4D97-AF65-F5344CB8AC3E}">
        <p14:creationId xmlns:p14="http://schemas.microsoft.com/office/powerpoint/2010/main" val="16569107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x after the loop?" It is not the last number printed. It is the first number that failed the check.</a:t>
            </a:r>
          </a:p>
          <a:p>
            <a:endParaRPr lang="en-US"/>
          </a:p>
          <a:p>
            <a:r>
              <a:rPr lang="en-US"/>
              <a:t>Why 5? The loop only ends when the condition is false. For x &lt;= 4 to be false, x had to become 5.</a:t>
            </a:r>
          </a:p>
          <a:p>
            <a:endParaRPr lang="en-US"/>
          </a:p>
          <a:p>
            <a:r>
              <a:rPr lang="en-US"/>
              <a:t>You can see it yourself. 06_trace_while.c has this line after the loop:</a:t>
            </a:r>
          </a:p>
          <a:p>
            <a:endParaRPr lang="en-US"/>
          </a:p>
          <a:p>
            <a:r>
              <a:rPr lang="en-US"/>
              <a:t>printf("\nAfter the loop x is %d\n", x);</a:t>
            </a:r>
          </a:p>
          <a:p>
            <a:endParaRPr lang="en-US"/>
          </a:p>
          <a:p>
            <a:r>
              <a:rPr lang="en-US"/>
              <a:t>The screen shows:</a:t>
            </a:r>
          </a:p>
          <a:p>
            <a:endParaRPr lang="en-US"/>
          </a:p>
          <a:p>
            <a:r>
              <a:rPr lang="en-US"/>
              <a:t>1 2 3 4 </a:t>
            </a:r>
          </a:p>
          <a:p>
            <a:r>
              <a:rPr lang="en-US"/>
              <a:t>After the loop x is 5</a:t>
            </a:r>
          </a:p>
          <a:p>
            <a:endParaRPr lang="en-US"/>
          </a:p>
          <a:p>
            <a:r>
              <a:rPr lang="en-US"/>
              <a:t>Try it yourself. Trace this on paper first, then run it:</a:t>
            </a:r>
          </a:p>
          <a:p>
            <a:endParaRPr lang="en-US"/>
          </a:p>
          <a:p>
            <a:r>
              <a:rPr lang="en-US"/>
              <a:t>int x = 3;</a:t>
            </a:r>
          </a:p>
          <a:p>
            <a:r>
              <a:rPr lang="en-US"/>
              <a:t>while (x &lt;= 9) {</a:t>
            </a:r>
          </a:p>
          <a:p>
            <a:r>
              <a:rPr lang="en-US"/>
              <a:t>    printf("%d ", x);</a:t>
            </a:r>
          </a:p>
          <a:p>
            <a:r>
              <a:rPr lang="en-US"/>
              <a:t>    x = x + 3;</a:t>
            </a:r>
          </a:p>
          <a:p>
            <a:r>
              <a:rPr lang="en-US"/>
              <a:t>}</a:t>
            </a:r>
          </a:p>
          <a:p>
            <a:r>
              <a:rPr lang="en-US"/>
              <a:t>printf("\nx is %d\n", x);</a:t>
            </a:r>
          </a:p>
          <a:p>
            <a:endParaRPr lang="en-US"/>
          </a:p>
          <a:p>
            <a:r>
              <a:rPr lang="en-US"/>
              <a:t>(Answer: the screen shows 3 6 9 and then x is 12. The body runs 3 times.)</a:t>
            </a:r>
          </a:p>
        </p:txBody>
      </p:sp>
      <p:sp>
        <p:nvSpPr>
          <p:cNvPr id="4" name="Slide Number Placeholder 3"/>
          <p:cNvSpPr>
            <a:spLocks noGrp="1"/>
          </p:cNvSpPr>
          <p:nvPr>
            <p:ph type="sldNum" sz="quarter" idx="5"/>
          </p:nvPr>
        </p:nvSpPr>
        <p:spPr/>
        <p:txBody>
          <a:bodyPr/>
          <a:lstStyle/>
          <a:p>
            <a:fld id="{A2F93709-5EA0-4DB6-ADE5-5279DB3AC2D3}" type="slidenum">
              <a:rPr lang="en-US" smtClean="0"/>
              <a:t>54</a:t>
            </a:fld>
            <a:endParaRPr lang="en-US"/>
          </a:p>
        </p:txBody>
      </p:sp>
    </p:spTree>
    <p:extLst>
      <p:ext uri="{BB962C8B-B14F-4D97-AF65-F5344CB8AC3E}">
        <p14:creationId xmlns:p14="http://schemas.microsoft.com/office/powerpoint/2010/main" val="2251186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fifth part of the class, slides 56 to 61. You will write a loop that never stops, by accident. Everyone does. After these slides you know what it looks like and how to get out.</a:t>
            </a:r>
          </a:p>
        </p:txBody>
      </p:sp>
      <p:sp>
        <p:nvSpPr>
          <p:cNvPr id="4" name="Slide Number Placeholder 3"/>
          <p:cNvSpPr>
            <a:spLocks noGrp="1"/>
          </p:cNvSpPr>
          <p:nvPr>
            <p:ph type="sldNum" sz="quarter" idx="5"/>
          </p:nvPr>
        </p:nvSpPr>
        <p:spPr/>
        <p:txBody>
          <a:bodyPr/>
          <a:lstStyle/>
          <a:p>
            <a:fld id="{A2F93709-5EA0-4DB6-ADE5-5279DB3AC2D3}" type="slidenum">
              <a:rPr lang="en-US" smtClean="0"/>
              <a:t>55</a:t>
            </a:fld>
            <a:endParaRPr lang="en-US"/>
          </a:p>
        </p:txBody>
      </p:sp>
    </p:spTree>
    <p:extLst>
      <p:ext uri="{BB962C8B-B14F-4D97-AF65-F5344CB8AC3E}">
        <p14:creationId xmlns:p14="http://schemas.microsoft.com/office/powerpoint/2010/main" val="2648979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loop must, one day, make its condition false. If it never does, the loop never ends. That is called an infinite loop.</a:t>
            </a:r>
          </a:p>
          <a:p>
            <a:endParaRPr lang="en-US"/>
          </a:p>
          <a:p>
            <a:r>
              <a:rPr lang="en-US"/>
              <a:t>On the slide the update is gone; there is only a comment in its place. count is 1. Is 1 &lt;= 3? Yes. Print 1. Go back up. count is still 1. Yes. Print 1. Still 1. For ever. The screen fills with 1, line after line, very fast, and Done is never printed.</a:t>
            </a:r>
          </a:p>
          <a:p>
            <a:endParaRPr lang="en-US"/>
          </a:p>
          <a:p>
            <a:r>
              <a:rPr lang="en-US"/>
              <a:t>This is 07_infinite_loop.c in the Class 5 code. Read slide 58 before you run it.</a:t>
            </a:r>
          </a:p>
        </p:txBody>
      </p:sp>
      <p:sp>
        <p:nvSpPr>
          <p:cNvPr id="4" name="Slide Number Placeholder 3"/>
          <p:cNvSpPr>
            <a:spLocks noGrp="1"/>
          </p:cNvSpPr>
          <p:nvPr>
            <p:ph type="sldNum" sz="quarter" idx="5"/>
          </p:nvPr>
        </p:nvSpPr>
        <p:spPr/>
        <p:txBody>
          <a:bodyPr/>
          <a:lstStyle/>
          <a:p>
            <a:fld id="{A2F93709-5EA0-4DB6-ADE5-5279DB3AC2D3}" type="slidenum">
              <a:rPr lang="en-US" smtClean="0"/>
              <a:t>56</a:t>
            </a:fld>
            <a:endParaRPr lang="en-US"/>
          </a:p>
        </p:txBody>
      </p:sp>
    </p:spTree>
    <p:extLst>
      <p:ext uri="{BB962C8B-B14F-4D97-AF65-F5344CB8AC3E}">
        <p14:creationId xmlns:p14="http://schemas.microsoft.com/office/powerpoint/2010/main" val="2509503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program compiles with gcc -Wall and no message at all. A loop that never ends is perfectly spelled C. The compiler checks your spelling, not your thinking. So "it compiled without warnings" does not mean "it is right".</a:t>
            </a:r>
          </a:p>
        </p:txBody>
      </p:sp>
      <p:sp>
        <p:nvSpPr>
          <p:cNvPr id="4" name="Slide Number Placeholder 3"/>
          <p:cNvSpPr>
            <a:spLocks noGrp="1"/>
          </p:cNvSpPr>
          <p:nvPr>
            <p:ph type="sldNum" sz="quarter" idx="5"/>
          </p:nvPr>
        </p:nvSpPr>
        <p:spPr/>
        <p:txBody>
          <a:bodyPr/>
          <a:lstStyle/>
          <a:p>
            <a:fld id="{A2F93709-5EA0-4DB6-ADE5-5279DB3AC2D3}" type="slidenum">
              <a:rPr lang="en-US" smtClean="0"/>
              <a:t>57</a:t>
            </a:fld>
            <a:endParaRPr lang="en-US"/>
          </a:p>
        </p:txBody>
      </p:sp>
    </p:spTree>
    <p:extLst>
      <p:ext uri="{BB962C8B-B14F-4D97-AF65-F5344CB8AC3E}">
        <p14:creationId xmlns:p14="http://schemas.microsoft.com/office/powerpoint/2010/main" val="296723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Click once inside the terminal.</a:t>
            </a:r>
          </a:p>
          <a:p>
            <a:r>
              <a:rPr lang="en-US"/>
              <a:t>2. Hold the Ctrl key.</a:t>
            </a:r>
          </a:p>
          <a:p>
            <a:r>
              <a:rPr lang="en-US"/>
              <a:t>3. Press C. Once.</a:t>
            </a:r>
          </a:p>
          <a:p>
            <a:endParaRPr lang="en-US"/>
          </a:p>
          <a:p>
            <a:r>
              <a:rPr lang="en-US"/>
              <a:t>The program stops and the terminal is ready for your next command. This is written Ctrl+C. It works on Windows, macOS and Linux. On a Mac it is the Control key too, not Command.</a:t>
            </a:r>
          </a:p>
          <a:p>
            <a:endParaRPr lang="en-US"/>
          </a:p>
          <a:p>
            <a:r>
              <a:rPr lang="en-US"/>
              <a:t>If nothing happens, click inside the terminal and press Ctrl+C again. If that still does not work, click the small dustbin icon at the top right of the terminal panel in VS Code, then click View, then Terminal to open a new one.</a:t>
            </a:r>
          </a:p>
          <a:p>
            <a:endParaRPr lang="en-US"/>
          </a:p>
          <a:p>
            <a:r>
              <a:rPr lang="en-US"/>
              <a:t>Do not close VS Code and do not switch off the laptop. Ctrl+C is enough.</a:t>
            </a:r>
          </a:p>
        </p:txBody>
      </p:sp>
      <p:sp>
        <p:nvSpPr>
          <p:cNvPr id="4" name="Slide Number Placeholder 3"/>
          <p:cNvSpPr>
            <a:spLocks noGrp="1"/>
          </p:cNvSpPr>
          <p:nvPr>
            <p:ph type="sldNum" sz="quarter" idx="5"/>
          </p:nvPr>
        </p:nvSpPr>
        <p:spPr/>
        <p:txBody>
          <a:bodyPr/>
          <a:lstStyle/>
          <a:p>
            <a:fld id="{A2F93709-5EA0-4DB6-ADE5-5279DB3AC2D3}" type="slidenum">
              <a:rPr lang="en-US" smtClean="0"/>
              <a:t>58</a:t>
            </a:fld>
            <a:endParaRPr lang="en-US"/>
          </a:p>
        </p:txBody>
      </p:sp>
    </p:spTree>
    <p:extLst>
      <p:ext uri="{BB962C8B-B14F-4D97-AF65-F5344CB8AC3E}">
        <p14:creationId xmlns:p14="http://schemas.microsoft.com/office/powerpoint/2010/main" val="16460900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this once, calmly, so that it will not frighten you later:</a:t>
            </a:r>
          </a:p>
          <a:p>
            <a:endParaRPr lang="en-US"/>
          </a:p>
          <a:p>
            <a:r>
              <a:rPr lang="en-US"/>
              <a:t>1. Open your count.c. Put // in front of count++;. The line is now a comment.</a:t>
            </a:r>
          </a:p>
          <a:p>
            <a:r>
              <a:rPr lang="en-US"/>
              <a:t>2. Compile with -Wall. There is no warning.</a:t>
            </a:r>
          </a:p>
          <a:p>
            <a:r>
              <a:rPr lang="en-US"/>
              <a:t>3. Run it. A wall of 1s.</a:t>
            </a:r>
          </a:p>
          <a:p>
            <a:r>
              <a:rPr lang="en-US"/>
              <a:t>4. Stop it with Ctrl+C.</a:t>
            </a:r>
          </a:p>
          <a:p>
            <a:r>
              <a:rPr lang="en-US"/>
              <a:t>5. Take the // away again. Compile. Run. The screen shows 1, 2, 3, Done.</a:t>
            </a:r>
          </a:p>
        </p:txBody>
      </p:sp>
      <p:sp>
        <p:nvSpPr>
          <p:cNvPr id="4" name="Slide Number Placeholder 3"/>
          <p:cNvSpPr>
            <a:spLocks noGrp="1"/>
          </p:cNvSpPr>
          <p:nvPr>
            <p:ph type="sldNum" sz="quarter" idx="5"/>
          </p:nvPr>
        </p:nvSpPr>
        <p:spPr/>
        <p:txBody>
          <a:bodyPr/>
          <a:lstStyle/>
          <a:p>
            <a:fld id="{A2F93709-5EA0-4DB6-ADE5-5279DB3AC2D3}" type="slidenum">
              <a:rPr lang="en-US" smtClean="0"/>
              <a:t>59</a:t>
            </a:fld>
            <a:endParaRPr lang="en-US"/>
          </a:p>
        </p:txBody>
      </p:sp>
    </p:spTree>
    <p:extLst>
      <p:ext uri="{BB962C8B-B14F-4D97-AF65-F5344CB8AC3E}">
        <p14:creationId xmlns:p14="http://schemas.microsoft.com/office/powerpoint/2010/main" val="139945577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the loop without an update. Right: the same loop with count++; back in its place. One line is the whole difference.</a:t>
            </a:r>
          </a:p>
          <a:p>
            <a:endParaRPr lang="en-US"/>
          </a:p>
          <a:p>
            <a:r>
              <a:rPr lang="en-US"/>
              <a:t>The habit. Before you run a loop, put your finger on the update: the line that changes the variable in the condition. If you cannot find one, do not run it.</a:t>
            </a:r>
          </a:p>
        </p:txBody>
      </p:sp>
      <p:sp>
        <p:nvSpPr>
          <p:cNvPr id="4" name="Slide Number Placeholder 3"/>
          <p:cNvSpPr>
            <a:spLocks noGrp="1"/>
          </p:cNvSpPr>
          <p:nvPr>
            <p:ph type="sldNum" sz="quarter" idx="5"/>
          </p:nvPr>
        </p:nvSpPr>
        <p:spPr/>
        <p:txBody>
          <a:bodyPr/>
          <a:lstStyle/>
          <a:p>
            <a:fld id="{A2F93709-5EA0-4DB6-ADE5-5279DB3AC2D3}" type="slidenum">
              <a:rPr lang="en-US" smtClean="0"/>
              <a:t>60</a:t>
            </a:fld>
            <a:endParaRPr lang="en-US"/>
          </a:p>
        </p:txBody>
      </p:sp>
    </p:spTree>
    <p:extLst>
      <p:ext uri="{BB962C8B-B14F-4D97-AF65-F5344CB8AC3E}">
        <p14:creationId xmlns:p14="http://schemas.microsoft.com/office/powerpoint/2010/main" val="12602494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 at the end of the bright line: while (count &lt;= 3);. That semicolon is an empty body. The loop is while (count &lt;= 3); and nothing else. The block in { } under it is no longer part of the loop.</a:t>
            </a:r>
          </a:p>
          <a:p>
            <a:endParaRPr lang="en-US"/>
          </a:p>
          <a:p>
            <a:r>
              <a:rPr lang="en-US"/>
              <a:t>count never changes, so the loop never ends, and it prints nothing. The program just seems frozen.</a:t>
            </a:r>
          </a:p>
          <a:p>
            <a:endParaRPr lang="en-US"/>
          </a:p>
          <a:p>
            <a:r>
              <a:rPr lang="en-US"/>
              <a:t>This time the compiler helps. With -Wall it says:</a:t>
            </a:r>
          </a:p>
          <a:p>
            <a:endParaRPr lang="en-US"/>
          </a:p>
          <a:p>
            <a:r>
              <a:rPr lang="en-US"/>
              <a:t>warning: this 'while' clause does not guard...</a:t>
            </a:r>
          </a:p>
          <a:p>
            <a:endParaRPr lang="en-US"/>
          </a:p>
          <a:p>
            <a:r>
              <a:rPr lang="en-US"/>
              <a:t>If your program seems frozen: press Ctrl+C, then look for a semicolon straight after while (...), and delete it.</a:t>
            </a:r>
          </a:p>
          <a:p>
            <a:endParaRPr lang="en-US"/>
          </a:p>
          <a:p>
            <a:r>
              <a:rPr lang="en-US"/>
              <a:t>This is 08_while_semicolon_bug.c in the Class 5 code. Compile it and read the warning. If you run it, stop it with Ctrl+C.</a:t>
            </a:r>
          </a:p>
        </p:txBody>
      </p:sp>
      <p:sp>
        <p:nvSpPr>
          <p:cNvPr id="4" name="Slide Number Placeholder 3"/>
          <p:cNvSpPr>
            <a:spLocks noGrp="1"/>
          </p:cNvSpPr>
          <p:nvPr>
            <p:ph type="sldNum" sz="quarter" idx="5"/>
          </p:nvPr>
        </p:nvSpPr>
        <p:spPr/>
        <p:txBody>
          <a:bodyPr/>
          <a:lstStyle/>
          <a:p>
            <a:fld id="{A2F93709-5EA0-4DB6-ADE5-5279DB3AC2D3}" type="slidenum">
              <a:rPr lang="en-US" smtClean="0"/>
              <a:t>61</a:t>
            </a:fld>
            <a:endParaRPr lang="en-US"/>
          </a:p>
        </p:txBody>
      </p:sp>
    </p:spTree>
    <p:extLst>
      <p:ext uri="{BB962C8B-B14F-4D97-AF65-F5344CB8AC3E}">
        <p14:creationId xmlns:p14="http://schemas.microsoft.com/office/powerpoint/2010/main" val="10016030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sixth part of the class, slides 63 to 76: the second kind of loop. A for loop puts the start, the check and the update on one line.</a:t>
            </a:r>
          </a:p>
        </p:txBody>
      </p:sp>
      <p:sp>
        <p:nvSpPr>
          <p:cNvPr id="4" name="Slide Number Placeholder 3"/>
          <p:cNvSpPr>
            <a:spLocks noGrp="1"/>
          </p:cNvSpPr>
          <p:nvPr>
            <p:ph type="sldNum" sz="quarter" idx="5"/>
          </p:nvPr>
        </p:nvSpPr>
        <p:spPr/>
        <p:txBody>
          <a:bodyPr/>
          <a:lstStyle/>
          <a:p>
            <a:fld id="{A2F93709-5EA0-4DB6-ADE5-5279DB3AC2D3}" type="slidenum">
              <a:rPr lang="en-US" smtClean="0"/>
              <a:t>62</a:t>
            </a:fld>
            <a:endParaRPr lang="en-US"/>
          </a:p>
        </p:txBody>
      </p:sp>
    </p:spTree>
    <p:extLst>
      <p:ext uri="{BB962C8B-B14F-4D97-AF65-F5344CB8AC3E}">
        <p14:creationId xmlns:p14="http://schemas.microsoft.com/office/powerpoint/2010/main" val="33873061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 at the while loop again. The start is on a line above the loop. The check is in the brackets. The update is at the bottom of the body, where it is easy to forget, as you saw on slide 56.</a:t>
            </a:r>
          </a:p>
          <a:p>
            <a:endParaRPr lang="en-US"/>
          </a:p>
          <a:p>
            <a:r>
              <a:rPr lang="en-US"/>
              <a:t>Counting loops are so common that C has a second shape for them.</a:t>
            </a:r>
          </a:p>
        </p:txBody>
      </p:sp>
      <p:sp>
        <p:nvSpPr>
          <p:cNvPr id="4" name="Slide Number Placeholder 3"/>
          <p:cNvSpPr>
            <a:spLocks noGrp="1"/>
          </p:cNvSpPr>
          <p:nvPr>
            <p:ph type="sldNum" sz="quarter" idx="5"/>
          </p:nvPr>
        </p:nvSpPr>
        <p:spPr/>
        <p:txBody>
          <a:bodyPr/>
          <a:lstStyle/>
          <a:p>
            <a:fld id="{A2F93709-5EA0-4DB6-ADE5-5279DB3AC2D3}" type="slidenum">
              <a:rPr lang="en-US" smtClean="0"/>
              <a:t>63</a:t>
            </a:fld>
            <a:endParaRPr lang="en-US"/>
          </a:p>
        </p:txBody>
      </p:sp>
    </p:spTree>
    <p:extLst>
      <p:ext uri="{BB962C8B-B14F-4D97-AF65-F5344CB8AC3E}">
        <p14:creationId xmlns:p14="http://schemas.microsoft.com/office/powerpoint/2010/main" val="20390491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(start; check; update) {</a:t>
            </a:r>
          </a:p>
          <a:p>
            <a:r>
              <a:rPr lang="en-US"/>
              <a:t>    body</a:t>
            </a:r>
          </a:p>
          <a:p>
            <a:r>
              <a:rPr lang="en-US"/>
              <a:t>}</a:t>
            </a:r>
          </a:p>
          <a:p>
            <a:endParaRPr lang="en-US"/>
          </a:p>
          <a:p>
            <a:r>
              <a:rPr lang="en-US"/>
              <a:t>Books call the three parts initialization, condition and update. Same three things.</a:t>
            </a:r>
          </a:p>
          <a:p>
            <a:endParaRPr lang="en-US"/>
          </a:p>
          <a:p>
            <a:r>
              <a:rPr lang="en-US"/>
              <a:t>Two spelling rules.</a:t>
            </a:r>
          </a:p>
          <a:p>
            <a:endParaRPr lang="en-US"/>
          </a:p>
          <a:p>
            <a:r>
              <a:rPr lang="en-US"/>
              <a:t>1. Between the three parts there are semicolons ;, not commas.</a:t>
            </a:r>
          </a:p>
          <a:p>
            <a:r>
              <a:rPr lang="en-US"/>
              <a:t>2. After the closing round bracket there is no semicolon. for (...) ; is an empty loop, the same trap as on slide 61.</a:t>
            </a:r>
          </a:p>
        </p:txBody>
      </p:sp>
      <p:sp>
        <p:nvSpPr>
          <p:cNvPr id="4" name="Slide Number Placeholder 3"/>
          <p:cNvSpPr>
            <a:spLocks noGrp="1"/>
          </p:cNvSpPr>
          <p:nvPr>
            <p:ph type="sldNum" sz="quarter" idx="5"/>
          </p:nvPr>
        </p:nvSpPr>
        <p:spPr/>
        <p:txBody>
          <a:bodyPr/>
          <a:lstStyle/>
          <a:p>
            <a:fld id="{A2F93709-5EA0-4DB6-ADE5-5279DB3AC2D3}" type="slidenum">
              <a:rPr lang="en-US" smtClean="0"/>
              <a:t>64</a:t>
            </a:fld>
            <a:endParaRPr lang="en-US"/>
          </a:p>
        </p:txBody>
      </p:sp>
    </p:spTree>
    <p:extLst>
      <p:ext uri="{BB962C8B-B14F-4D97-AF65-F5344CB8AC3E}">
        <p14:creationId xmlns:p14="http://schemas.microsoft.com/office/powerpoint/2010/main" val="50426897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the line for (int i = 1; i &lt;= 5; i++):</a:t>
            </a:r>
          </a:p>
          <a:p>
            <a:endParaRPr lang="en-US"/>
          </a:p>
          <a:p>
            <a:r>
              <a:rPr lang="en-US"/>
              <a:t>Part: When it runs</a:t>
            </a:r>
          </a:p>
          <a:p>
            <a:r>
              <a:rPr lang="en-US"/>
              <a:t>start, int i = 1: once, at the beginning</a:t>
            </a:r>
          </a:p>
          <a:p>
            <a:r>
              <a:rPr lang="en-US"/>
              <a:t>check, i &lt;= 5: before each round. Yes: run the body. No: the loop is over.</a:t>
            </a:r>
          </a:p>
          <a:p>
            <a:r>
              <a:rPr lang="en-US"/>
              <a:t>update, i++: after each round, after the body</a:t>
            </a:r>
          </a:p>
          <a:p>
            <a:endParaRPr lang="en-US"/>
          </a:p>
          <a:p>
            <a:r>
              <a:rPr lang="en-US"/>
              <a:t>Read the line aloud: start i at 1; go on while i is at most 5; after each round, add 1 to i.</a:t>
            </a:r>
          </a:p>
          <a:p>
            <a:endParaRPr lang="en-US"/>
          </a:p>
          <a:p>
            <a:r>
              <a:rPr lang="en-US"/>
              <a:t>Why the name i? Tradition. It is short for "index". You may use any name, for example count.</a:t>
            </a:r>
          </a:p>
        </p:txBody>
      </p:sp>
      <p:sp>
        <p:nvSpPr>
          <p:cNvPr id="4" name="Slide Number Placeholder 3"/>
          <p:cNvSpPr>
            <a:spLocks noGrp="1"/>
          </p:cNvSpPr>
          <p:nvPr>
            <p:ph type="sldNum" sz="quarter" idx="5"/>
          </p:nvPr>
        </p:nvSpPr>
        <p:spPr/>
        <p:txBody>
          <a:bodyPr/>
          <a:lstStyle/>
          <a:p>
            <a:fld id="{A2F93709-5EA0-4DB6-ADE5-5279DB3AC2D3}" type="slidenum">
              <a:rPr lang="en-US" smtClean="0"/>
              <a:t>65</a:t>
            </a:fld>
            <a:endParaRPr lang="en-US"/>
          </a:p>
        </p:txBody>
      </p:sp>
    </p:spTree>
    <p:extLst>
      <p:ext uri="{BB962C8B-B14F-4D97-AF65-F5344CB8AC3E}">
        <p14:creationId xmlns:p14="http://schemas.microsoft.com/office/powerpoint/2010/main" val="42921299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second program typed in class. It is 10_for_count.c in the Class 5 code; in class the file was called for.c.</a:t>
            </a:r>
          </a:p>
          <a:p>
            <a:endParaRPr lang="en-US"/>
          </a:p>
          <a:p>
            <a:r>
              <a:rPr lang="en-US"/>
              <a:t>#include &lt;stdio.h&gt;</a:t>
            </a:r>
          </a:p>
          <a:p>
            <a:endParaRPr lang="en-US"/>
          </a:p>
          <a:p>
            <a:r>
              <a:rPr lang="en-US"/>
              <a:t>int main(void) {</a:t>
            </a:r>
          </a:p>
          <a:p>
            <a:r>
              <a:rPr lang="en-US"/>
              <a:t>    for (int i = 1; i &lt;= 5; i++) {</a:t>
            </a:r>
          </a:p>
          <a:p>
            <a:r>
              <a:rPr lang="en-US"/>
              <a:t>        printf("%d ", i);</a:t>
            </a:r>
          </a:p>
          <a:p>
            <a:r>
              <a:rPr lang="en-US"/>
              <a:t>    }</a:t>
            </a:r>
          </a:p>
          <a:p>
            <a:endParaRPr lang="en-US"/>
          </a:p>
          <a:p>
            <a:r>
              <a:rPr lang="en-US"/>
              <a:t>    printf("\n");</a:t>
            </a:r>
          </a:p>
          <a:p>
            <a:r>
              <a:rPr lang="en-US"/>
              <a:t>    return 0;</a:t>
            </a:r>
          </a:p>
          <a:p>
            <a:r>
              <a:rPr lang="en-US"/>
              <a:t>}</a:t>
            </a:r>
          </a:p>
          <a:p>
            <a:endParaRPr lang="en-US"/>
          </a:p>
          <a:p>
            <a:r>
              <a:rPr lang="en-US"/>
              <a:t>The screen shows:</a:t>
            </a:r>
          </a:p>
          <a:p>
            <a:endParaRPr lang="en-US"/>
          </a:p>
          <a:p>
            <a:r>
              <a:rPr lang="en-US"/>
              <a:t>1 2 3 4 5 </a:t>
            </a:r>
          </a:p>
          <a:p>
            <a:endParaRPr lang="en-US"/>
          </a:p>
          <a:p>
            <a:r>
              <a:rPr lang="en-US"/>
              <a:t>The printf("\n"); after the loop only moves to a new line, so that the terminal prompt does not stick to the 5.</a:t>
            </a:r>
          </a:p>
        </p:txBody>
      </p:sp>
      <p:sp>
        <p:nvSpPr>
          <p:cNvPr id="4" name="Slide Number Placeholder 3"/>
          <p:cNvSpPr>
            <a:spLocks noGrp="1"/>
          </p:cNvSpPr>
          <p:nvPr>
            <p:ph type="sldNum" sz="quarter" idx="5"/>
          </p:nvPr>
        </p:nvSpPr>
        <p:spPr/>
        <p:txBody>
          <a:bodyPr/>
          <a:lstStyle/>
          <a:p>
            <a:fld id="{A2F93709-5EA0-4DB6-ADE5-5279DB3AC2D3}" type="slidenum">
              <a:rPr lang="en-US" smtClean="0"/>
              <a:t>66</a:t>
            </a:fld>
            <a:endParaRPr lang="en-US"/>
          </a:p>
        </p:txBody>
      </p:sp>
    </p:spTree>
    <p:extLst>
      <p:ext uri="{BB962C8B-B14F-4D97-AF65-F5344CB8AC3E}">
        <p14:creationId xmlns:p14="http://schemas.microsoft.com/office/powerpoint/2010/main" val="16823963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Slides 67 to 69 show the order with a table, like the one on slides 48 to 52.</a:t>
            </a:r>
          </a:p>
          <a:p>
            <a:endParaRPr lang="en-US"/>
          </a:p>
          <a:p>
            <a:r>
              <a:rPr lang="en-US"/>
              <a:t>First row: the start makes i and puts 1 in it. Check: 1 &lt;= 5 is true. Body: print 1. Update: i becomes 2.</a:t>
            </a:r>
          </a:p>
        </p:txBody>
      </p:sp>
      <p:sp>
        <p:nvSpPr>
          <p:cNvPr id="4" name="Slide Number Placeholder 3"/>
          <p:cNvSpPr>
            <a:spLocks noGrp="1"/>
          </p:cNvSpPr>
          <p:nvPr>
            <p:ph type="sldNum" sz="quarter" idx="5"/>
          </p:nvPr>
        </p:nvSpPr>
        <p:spPr/>
        <p:txBody>
          <a:bodyPr/>
          <a:lstStyle/>
          <a:p>
            <a:fld id="{A2F93709-5EA0-4DB6-ADE5-5279DB3AC2D3}" type="slidenum">
              <a:rPr lang="en-US" smtClean="0"/>
              <a:t>67</a:t>
            </a:fld>
            <a:endParaRPr lang="en-US"/>
          </a:p>
        </p:txBody>
      </p:sp>
    </p:spTree>
    <p:extLst>
      <p:ext uri="{BB962C8B-B14F-4D97-AF65-F5344CB8AC3E}">
        <p14:creationId xmlns:p14="http://schemas.microsoft.com/office/powerpoint/2010/main" val="2631495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Second row: check again. i is 2, 2 &lt;= 5 is true. Print 2. i becomes 3. The start does not run again.</a:t>
            </a:r>
          </a:p>
        </p:txBody>
      </p:sp>
      <p:sp>
        <p:nvSpPr>
          <p:cNvPr id="4" name="Slide Number Placeholder 3"/>
          <p:cNvSpPr>
            <a:spLocks noGrp="1"/>
          </p:cNvSpPr>
          <p:nvPr>
            <p:ph type="sldNum" sz="quarter" idx="5"/>
          </p:nvPr>
        </p:nvSpPr>
        <p:spPr/>
        <p:txBody>
          <a:bodyPr/>
          <a:lstStyle/>
          <a:p>
            <a:fld id="{A2F93709-5EA0-4DB6-ADE5-5279DB3AC2D3}" type="slidenum">
              <a:rPr lang="en-US" smtClean="0"/>
              <a:t>68</a:t>
            </a:fld>
            <a:endParaRPr lang="en-US"/>
          </a:p>
        </p:txBody>
      </p:sp>
    </p:spTree>
    <p:extLst>
      <p:ext uri="{BB962C8B-B14F-4D97-AF65-F5344CB8AC3E}">
        <p14:creationId xmlns:p14="http://schemas.microsoft.com/office/powerpoint/2010/main" val="34632865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whole table. The rounds go on until i is 6. Is 6 &lt;= 5? False. The loop ends. The body ran 5 times, the check ran 6 times: the same rule as on slide 53.</a:t>
            </a:r>
          </a:p>
          <a:p>
            <a:endParaRPr lang="en-US"/>
          </a:p>
          <a:p>
            <a:r>
              <a:rPr lang="en-US"/>
              <a:t>So the order is: start, check, body, update, check, body, update, and so on. That is why the first number printed is 1 and not 2: the update runs after the body.</a:t>
            </a:r>
          </a:p>
        </p:txBody>
      </p:sp>
      <p:sp>
        <p:nvSpPr>
          <p:cNvPr id="4" name="Slide Number Placeholder 3"/>
          <p:cNvSpPr>
            <a:spLocks noGrp="1"/>
          </p:cNvSpPr>
          <p:nvPr>
            <p:ph type="sldNum" sz="quarter" idx="5"/>
          </p:nvPr>
        </p:nvSpPr>
        <p:spPr/>
        <p:txBody>
          <a:bodyPr/>
          <a:lstStyle/>
          <a:p>
            <a:fld id="{A2F93709-5EA0-4DB6-ADE5-5279DB3AC2D3}" type="slidenum">
              <a:rPr lang="en-US" smtClean="0"/>
              <a:t>69</a:t>
            </a:fld>
            <a:endParaRPr lang="en-US"/>
          </a:p>
        </p:txBody>
      </p:sp>
    </p:spTree>
    <p:extLst>
      <p:ext uri="{BB962C8B-B14F-4D97-AF65-F5344CB8AC3E}">
        <p14:creationId xmlns:p14="http://schemas.microsoft.com/office/powerpoint/2010/main" val="2275859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three lines on slide 1 print 1, 2, 3, 4, 5. Now you can read every part of the first line.</a:t>
            </a:r>
          </a:p>
          <a:p>
            <a:endParaRPr lang="en-US"/>
          </a:p>
          <a:p>
            <a:r>
              <a:rPr lang="en-US"/>
              <a:t>The question on the slide: which part changes i after each round? The third one, i++.</a:t>
            </a:r>
          </a:p>
        </p:txBody>
      </p:sp>
      <p:sp>
        <p:nvSpPr>
          <p:cNvPr id="4" name="Slide Number Placeholder 3"/>
          <p:cNvSpPr>
            <a:spLocks noGrp="1"/>
          </p:cNvSpPr>
          <p:nvPr>
            <p:ph type="sldNum" sz="quarter" idx="5"/>
          </p:nvPr>
        </p:nvSpPr>
        <p:spPr/>
        <p:txBody>
          <a:bodyPr/>
          <a:lstStyle/>
          <a:p>
            <a:fld id="{A2F93709-5EA0-4DB6-ADE5-5279DB3AC2D3}" type="slidenum">
              <a:rPr lang="en-US" smtClean="0"/>
              <a:t>70</a:t>
            </a:fld>
            <a:endParaRPr lang="en-US"/>
          </a:p>
        </p:txBody>
      </p:sp>
    </p:spTree>
    <p:extLst>
      <p:ext uri="{BB962C8B-B14F-4D97-AF65-F5344CB8AC3E}">
        <p14:creationId xmlns:p14="http://schemas.microsoft.com/office/powerpoint/2010/main" val="173823408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bright line tries to use i after the loop. This does not compile:</a:t>
            </a:r>
          </a:p>
          <a:p>
            <a:endParaRPr lang="en-US"/>
          </a:p>
          <a:p>
            <a:r>
              <a:rPr lang="en-US"/>
              <a:t>error: 'i' undeclared (first use in this function)</a:t>
            </a:r>
          </a:p>
          <a:p>
            <a:endParaRPr lang="en-US"/>
          </a:p>
          <a:p>
            <a:r>
              <a:rPr lang="en-US"/>
              <a:t>The box i was made on the for line, so it exists only inside the loop. When the loop ends, the box is gone.</a:t>
            </a:r>
          </a:p>
          <a:p>
            <a:endParaRPr lang="en-US"/>
          </a:p>
          <a:p>
            <a:r>
              <a:rPr lang="en-US"/>
              <a:t>This is 11_for_scope_error.c in the Class 5 code. It does not compile on purpose. Its "Try" list shows two ways to fix it.</a:t>
            </a:r>
          </a:p>
        </p:txBody>
      </p:sp>
      <p:sp>
        <p:nvSpPr>
          <p:cNvPr id="4" name="Slide Number Placeholder 3"/>
          <p:cNvSpPr>
            <a:spLocks noGrp="1"/>
          </p:cNvSpPr>
          <p:nvPr>
            <p:ph type="sldNum" sz="quarter" idx="5"/>
          </p:nvPr>
        </p:nvSpPr>
        <p:spPr/>
        <p:txBody>
          <a:bodyPr/>
          <a:lstStyle/>
          <a:p>
            <a:fld id="{A2F93709-5EA0-4DB6-ADE5-5279DB3AC2D3}" type="slidenum">
              <a:rPr lang="en-US" smtClean="0"/>
              <a:t>71</a:t>
            </a:fld>
            <a:endParaRPr lang="en-US"/>
          </a:p>
        </p:txBody>
      </p:sp>
    </p:spTree>
    <p:extLst>
      <p:ext uri="{BB962C8B-B14F-4D97-AF65-F5344CB8AC3E}">
        <p14:creationId xmlns:p14="http://schemas.microsoft.com/office/powerpoint/2010/main" val="31440677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Change for.c so that it prints 1 to 10. How many characters did you change?</a:t>
            </a:r>
          </a:p>
          <a:p>
            <a:endParaRPr lang="en-US"/>
          </a:p>
          <a:p>
            <a:r>
              <a:rPr lang="en-US"/>
              <a:t>(Answer: change i &lt;= 5 to i &lt;= 10. One number. The screen shows 1 2 3 4 5 6 7 8 9 10. This is slide 15 again, in your own hands.)</a:t>
            </a:r>
          </a:p>
        </p:txBody>
      </p:sp>
      <p:sp>
        <p:nvSpPr>
          <p:cNvPr id="4" name="Slide Number Placeholder 3"/>
          <p:cNvSpPr>
            <a:spLocks noGrp="1"/>
          </p:cNvSpPr>
          <p:nvPr>
            <p:ph type="sldNum" sz="quarter" idx="5"/>
          </p:nvPr>
        </p:nvSpPr>
        <p:spPr/>
        <p:txBody>
          <a:bodyPr/>
          <a:lstStyle/>
          <a:p>
            <a:fld id="{A2F93709-5EA0-4DB6-ADE5-5279DB3AC2D3}" type="slidenum">
              <a:rPr lang="en-US" smtClean="0"/>
              <a:t>72</a:t>
            </a:fld>
            <a:endParaRPr lang="en-US"/>
          </a:p>
        </p:txBody>
      </p:sp>
    </p:spTree>
    <p:extLst>
      <p:ext uri="{BB962C8B-B14F-4D97-AF65-F5344CB8AC3E}">
        <p14:creationId xmlns:p14="http://schemas.microsoft.com/office/powerpoint/2010/main" val="33537239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body can do more than print i. It can calculate with it. The bright line prints i and i * i:</a:t>
            </a:r>
          </a:p>
          <a:p>
            <a:endParaRPr lang="en-US"/>
          </a:p>
          <a:p>
            <a:r>
              <a:rPr lang="en-US"/>
              <a:t>1 squared is 1</a:t>
            </a:r>
          </a:p>
          <a:p>
            <a:r>
              <a:rPr lang="en-US"/>
              <a:t>2 squared is 4</a:t>
            </a:r>
          </a:p>
          <a:p>
            <a:r>
              <a:rPr lang="en-US"/>
              <a:t>3 squared is 9</a:t>
            </a:r>
          </a:p>
          <a:p>
            <a:r>
              <a:rPr lang="en-US"/>
              <a:t>4 squared is 16</a:t>
            </a:r>
          </a:p>
          <a:p>
            <a:r>
              <a:rPr lang="en-US"/>
              <a:t>5 squared is 25</a:t>
            </a:r>
          </a:p>
          <a:p>
            <a:endParaRPr lang="en-US"/>
          </a:p>
          <a:p>
            <a:r>
              <a:rPr lang="en-US"/>
              <a:t>In round 1, i is 1, so i * i is 1. In round 4, i is 4, so i * i is 16. Same line of code, a different value of i in every round.</a:t>
            </a:r>
          </a:p>
          <a:p>
            <a:endParaRPr lang="en-US"/>
          </a:p>
          <a:p>
            <a:r>
              <a:rPr lang="en-US"/>
              <a:t>This is 12_for_squares.c in the Class 5 code. Try: print the squares up to 10; print 7 * i instead, and you have the 7 times table.</a:t>
            </a:r>
          </a:p>
        </p:txBody>
      </p:sp>
      <p:sp>
        <p:nvSpPr>
          <p:cNvPr id="4" name="Slide Number Placeholder 3"/>
          <p:cNvSpPr>
            <a:spLocks noGrp="1"/>
          </p:cNvSpPr>
          <p:nvPr>
            <p:ph type="sldNum" sz="quarter" idx="5"/>
          </p:nvPr>
        </p:nvSpPr>
        <p:spPr/>
        <p:txBody>
          <a:bodyPr/>
          <a:lstStyle/>
          <a:p>
            <a:fld id="{A2F93709-5EA0-4DB6-ADE5-5279DB3AC2D3}" type="slidenum">
              <a:rPr lang="en-US" smtClean="0"/>
              <a:t>73</a:t>
            </a:fld>
            <a:endParaRPr lang="en-US"/>
          </a:p>
        </p:txBody>
      </p:sp>
    </p:spTree>
    <p:extLst>
      <p:ext uri="{BB962C8B-B14F-4D97-AF65-F5344CB8AC3E}">
        <p14:creationId xmlns:p14="http://schemas.microsoft.com/office/powerpoint/2010/main" val="159434815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a while. Right, a for. Both show 1 2 3 4 5 on the screen.</a:t>
            </a:r>
          </a:p>
          <a:p>
            <a:endParaRPr lang="en-US"/>
          </a:p>
          <a:p>
            <a:r>
              <a:rPr lang="en-US"/>
              <a:t>Find the four parts in each one.</a:t>
            </a:r>
          </a:p>
          <a:p>
            <a:endParaRPr lang="en-US"/>
          </a:p>
          <a:p>
            <a:r>
              <a:rPr lang="en-US"/>
              <a:t>Part: In the while · In the for</a:t>
            </a:r>
          </a:p>
          <a:p>
            <a:r>
              <a:rPr lang="en-US"/>
              <a:t>Start: int i = 1; above the loop · first thing in the brackets</a:t>
            </a:r>
          </a:p>
          <a:p>
            <a:r>
              <a:rPr lang="en-US"/>
              <a:t>Check: i &lt;= 5 in the brackets · second thing in the brackets</a:t>
            </a:r>
          </a:p>
          <a:p>
            <a:r>
              <a:rPr lang="en-US"/>
              <a:t>Body: inside { } · inside { }</a:t>
            </a:r>
          </a:p>
          <a:p>
            <a:r>
              <a:rPr lang="en-US"/>
              <a:t>Update: i++; at the bottom of the body · third thing in the brackets</a:t>
            </a:r>
          </a:p>
          <a:p>
            <a:endParaRPr lang="en-US"/>
          </a:p>
          <a:p>
            <a:r>
              <a:rPr lang="en-US"/>
              <a:t>Same four parts, in different places. Anything you can write with one, you can write with the other.</a:t>
            </a:r>
          </a:p>
          <a:p>
            <a:endParaRPr lang="en-US"/>
          </a:p>
          <a:p>
            <a:r>
              <a:rPr lang="en-US"/>
              <a:t>One small difference. In the while version, i was made above the loop, so it still exists afterwards, and it holds 6. In the for version, i is gone after the loop (slide 71).</a:t>
            </a:r>
          </a:p>
          <a:p>
            <a:endParaRPr lang="en-US"/>
          </a:p>
          <a:p>
            <a:r>
              <a:rPr lang="en-US"/>
              <a:t>13_same_loop_two_ways.c in the Class 5 code has both loops in one program.</a:t>
            </a:r>
          </a:p>
        </p:txBody>
      </p:sp>
      <p:sp>
        <p:nvSpPr>
          <p:cNvPr id="4" name="Slide Number Placeholder 3"/>
          <p:cNvSpPr>
            <a:spLocks noGrp="1"/>
          </p:cNvSpPr>
          <p:nvPr>
            <p:ph type="sldNum" sz="quarter" idx="5"/>
          </p:nvPr>
        </p:nvSpPr>
        <p:spPr/>
        <p:txBody>
          <a:bodyPr/>
          <a:lstStyle/>
          <a:p>
            <a:fld id="{A2F93709-5EA0-4DB6-ADE5-5279DB3AC2D3}" type="slidenum">
              <a:rPr lang="en-US" smtClean="0"/>
              <a:t>74</a:t>
            </a:fld>
            <a:endParaRPr lang="en-US"/>
          </a:p>
        </p:txBody>
      </p:sp>
    </p:spTree>
    <p:extLst>
      <p:ext uri="{BB962C8B-B14F-4D97-AF65-F5344CB8AC3E}">
        <p14:creationId xmlns:p14="http://schemas.microsoft.com/office/powerpoint/2010/main" val="380171309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for: you know how many rounds. "5 times", "n times", "from 1 to 100".</a:t>
            </a:r>
          </a:p>
          <a:p>
            <a:r>
              <a:rPr lang="en-US"/>
              <a:t>- while: you do not know how many rounds. "Keep going until something happens."</a:t>
            </a:r>
          </a:p>
        </p:txBody>
      </p:sp>
      <p:sp>
        <p:nvSpPr>
          <p:cNvPr id="4" name="Slide Number Placeholder 3"/>
          <p:cNvSpPr>
            <a:spLocks noGrp="1"/>
          </p:cNvSpPr>
          <p:nvPr>
            <p:ph type="sldNum" sz="quarter" idx="5"/>
          </p:nvPr>
        </p:nvSpPr>
        <p:spPr/>
        <p:txBody>
          <a:bodyPr/>
          <a:lstStyle/>
          <a:p>
            <a:fld id="{A2F93709-5EA0-4DB6-ADE5-5279DB3AC2D3}" type="slidenum">
              <a:rPr lang="en-US" smtClean="0"/>
              <a:t>75</a:t>
            </a:fld>
            <a:endParaRPr lang="en-US"/>
          </a:p>
        </p:txBody>
      </p:sp>
    </p:spTree>
    <p:extLst>
      <p:ext uri="{BB962C8B-B14F-4D97-AF65-F5344CB8AC3E}">
        <p14:creationId xmlns:p14="http://schemas.microsoft.com/office/powerpoint/2010/main" val="29579274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 Which loop · Why</a:t>
            </a:r>
          </a:p>
          <a:p>
            <a:r>
              <a:rPr lang="en-US"/>
              <a:t>Print the names of the 12 months: for · You know it is 12.</a:t>
            </a:r>
          </a:p>
          <a:p>
            <a:r>
              <a:rPr lang="en-US"/>
              <a:t>Keep asking for the password until it is right: while · It may take 1 try or 20. You do not know.</a:t>
            </a:r>
          </a:p>
          <a:p>
            <a:r>
              <a:rPr lang="en-US"/>
              <a:t>Add up the numbers from 1 to 100: for · You know the range.</a:t>
            </a:r>
          </a:p>
          <a:p>
            <a:endParaRPr lang="en-US"/>
          </a:p>
          <a:p>
            <a:r>
              <a:rPr lang="en-US"/>
              <a:t>Try it yourself. Here is a for loop. Write it again as a while loop. Both must show 10 20 30 40 50.</a:t>
            </a:r>
          </a:p>
          <a:p>
            <a:endParaRPr lang="en-US"/>
          </a:p>
          <a:p>
            <a:r>
              <a:rPr lang="en-US"/>
              <a:t>for (int i = 10; i &lt;= 50; i += 10) {</a:t>
            </a:r>
          </a:p>
          <a:p>
            <a:r>
              <a:rPr lang="en-US"/>
              <a:t>    printf("%d ", i);</a:t>
            </a:r>
          </a:p>
          <a:p>
            <a:r>
              <a:rPr lang="en-US"/>
              <a:t>}</a:t>
            </a:r>
          </a:p>
          <a:p>
            <a:endParaRPr lang="en-US"/>
          </a:p>
          <a:p>
            <a:r>
              <a:rPr lang="en-US"/>
              <a:t>(i += 10 means "add 10 to i". Slide 90 explains it. In your while version the start goes above the loop and the update goes at the bottom of the body.)</a:t>
            </a:r>
          </a:p>
        </p:txBody>
      </p:sp>
      <p:sp>
        <p:nvSpPr>
          <p:cNvPr id="4" name="Slide Number Placeholder 3"/>
          <p:cNvSpPr>
            <a:spLocks noGrp="1"/>
          </p:cNvSpPr>
          <p:nvPr>
            <p:ph type="sldNum" sz="quarter" idx="5"/>
          </p:nvPr>
        </p:nvSpPr>
        <p:spPr/>
        <p:txBody>
          <a:bodyPr/>
          <a:lstStyle/>
          <a:p>
            <a:fld id="{A2F93709-5EA0-4DB6-ADE5-5279DB3AC2D3}" type="slidenum">
              <a:rPr lang="en-US" smtClean="0"/>
              <a:t>76</a:t>
            </a:fld>
            <a:endParaRPr lang="en-US"/>
          </a:p>
        </p:txBody>
      </p:sp>
    </p:spTree>
    <p:extLst>
      <p:ext uri="{BB962C8B-B14F-4D97-AF65-F5344CB8AC3E}">
        <p14:creationId xmlns:p14="http://schemas.microsoft.com/office/powerpoint/2010/main" val="271391233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seventh part of the class, slides 78 to 88. ++ adds one. -- takes one away. You have used count++ all through this class; now the details.</a:t>
            </a:r>
          </a:p>
        </p:txBody>
      </p:sp>
      <p:sp>
        <p:nvSpPr>
          <p:cNvPr id="4" name="Slide Number Placeholder 3"/>
          <p:cNvSpPr>
            <a:spLocks noGrp="1"/>
          </p:cNvSpPr>
          <p:nvPr>
            <p:ph type="sldNum" sz="quarter" idx="5"/>
          </p:nvPr>
        </p:nvSpPr>
        <p:spPr/>
        <p:txBody>
          <a:bodyPr/>
          <a:lstStyle/>
          <a:p>
            <a:fld id="{A2F93709-5EA0-4DB6-ADE5-5279DB3AC2D3}" type="slidenum">
              <a:rPr lang="en-US" smtClean="0"/>
              <a:t>77</a:t>
            </a:fld>
            <a:endParaRPr lang="en-US"/>
          </a:p>
        </p:txBody>
      </p:sp>
    </p:spTree>
    <p:extLst>
      <p:ext uri="{BB962C8B-B14F-4D97-AF65-F5344CB8AC3E}">
        <p14:creationId xmlns:p14="http://schemas.microsoft.com/office/powerpoint/2010/main" val="261623395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write: It means · Say it as</a:t>
            </a:r>
          </a:p>
          <a:p>
            <a:r>
              <a:rPr lang="en-US"/>
              <a:t>i++; or ++i;: i = i + 1; · add 1 to i</a:t>
            </a:r>
          </a:p>
          <a:p>
            <a:r>
              <a:rPr lang="en-US"/>
              <a:t>j--; or --j;: j = j - 1; · take 1 from j</a:t>
            </a:r>
          </a:p>
          <a:p>
            <a:endParaRPr lang="en-US"/>
          </a:p>
          <a:p>
            <a:r>
              <a:rPr lang="en-US"/>
              <a:t>On a line of their own, i++ and ++i do exactly the same thing. (Slides 83 to 87 show the one case where they differ.)</a:t>
            </a:r>
          </a:p>
          <a:p>
            <a:endParaRPr lang="en-US"/>
          </a:p>
          <a:p>
            <a:r>
              <a:rPr lang="en-US"/>
              <a:t>int a = 5;</a:t>
            </a:r>
          </a:p>
          <a:p>
            <a:r>
              <a:rPr lang="en-US"/>
              <a:t>a++;</a:t>
            </a:r>
          </a:p>
          <a:p>
            <a:r>
              <a:rPr lang="en-US"/>
              <a:t>++a;</a:t>
            </a:r>
          </a:p>
          <a:p>
            <a:r>
              <a:rPr lang="en-US"/>
              <a:t>printf("%d\n", a);</a:t>
            </a:r>
          </a:p>
          <a:p>
            <a:endParaRPr lang="en-US"/>
          </a:p>
          <a:p>
            <a:r>
              <a:rPr lang="en-US"/>
              <a:t>The screen shows 7. Each of the two lines added 1.</a:t>
            </a:r>
          </a:p>
        </p:txBody>
      </p:sp>
      <p:sp>
        <p:nvSpPr>
          <p:cNvPr id="4" name="Slide Number Placeholder 3"/>
          <p:cNvSpPr>
            <a:spLocks noGrp="1"/>
          </p:cNvSpPr>
          <p:nvPr>
            <p:ph type="sldNum" sz="quarter" idx="5"/>
          </p:nvPr>
        </p:nvSpPr>
        <p:spPr/>
        <p:txBody>
          <a:bodyPr/>
          <a:lstStyle/>
          <a:p>
            <a:fld id="{A2F93709-5EA0-4DB6-ADE5-5279DB3AC2D3}" type="slidenum">
              <a:rPr lang="en-US" smtClean="0"/>
              <a:t>78</a:t>
            </a:fld>
            <a:endParaRPr lang="en-US"/>
          </a:p>
        </p:txBody>
      </p:sp>
    </p:spTree>
    <p:extLst>
      <p:ext uri="{BB962C8B-B14F-4D97-AF65-F5344CB8AC3E}">
        <p14:creationId xmlns:p14="http://schemas.microsoft.com/office/powerpoint/2010/main" val="3708355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(int i = 5; i &gt;= 1; i--) {</a:t>
            </a:r>
          </a:p>
          <a:p>
            <a:r>
              <a:rPr lang="en-US"/>
              <a:t>    printf("%d ", i);</a:t>
            </a:r>
          </a:p>
          <a:p>
            <a:r>
              <a:rPr lang="en-US"/>
              <a:t>}</a:t>
            </a:r>
          </a:p>
          <a:p>
            <a:endParaRPr lang="en-US"/>
          </a:p>
          <a:p>
            <a:r>
              <a:rPr lang="en-US"/>
              <a:t>The screen shows 5 4 3 2 1. Start at 5; go on while i is at least 1; after each round, take 1 away. This is 14_countdown_for.c in the Class 5 code.</a:t>
            </a:r>
          </a:p>
        </p:txBody>
      </p:sp>
      <p:sp>
        <p:nvSpPr>
          <p:cNvPr id="4" name="Slide Number Placeholder 3"/>
          <p:cNvSpPr>
            <a:spLocks noGrp="1"/>
          </p:cNvSpPr>
          <p:nvPr>
            <p:ph type="sldNum" sz="quarter" idx="5"/>
          </p:nvPr>
        </p:nvSpPr>
        <p:spPr/>
        <p:txBody>
          <a:bodyPr/>
          <a:lstStyle/>
          <a:p>
            <a:fld id="{A2F93709-5EA0-4DB6-ADE5-5279DB3AC2D3}" type="slidenum">
              <a:rPr lang="en-US" smtClean="0"/>
              <a:t>79</a:t>
            </a:fld>
            <a:endParaRPr lang="en-US"/>
          </a:p>
        </p:txBody>
      </p:sp>
    </p:spTree>
    <p:extLst>
      <p:ext uri="{BB962C8B-B14F-4D97-AF65-F5344CB8AC3E}">
        <p14:creationId xmlns:p14="http://schemas.microsoft.com/office/powerpoint/2010/main" val="126025064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Counting up · Counting down</a:t>
            </a:r>
          </a:p>
          <a:p>
            <a:r>
              <a:rPr lang="en-US"/>
              <a:t>Start: the small number: i = 1 · the big number: i = 5</a:t>
            </a:r>
          </a:p>
          <a:p>
            <a:r>
              <a:rPr lang="en-US"/>
              <a:t>Check: i &lt;= 5 · i &gt;= 1</a:t>
            </a:r>
          </a:p>
          <a:p>
            <a:r>
              <a:rPr lang="en-US"/>
              <a:t>Update: i++ · i--</a:t>
            </a:r>
          </a:p>
          <a:p>
            <a:endParaRPr lang="en-US"/>
          </a:p>
          <a:p>
            <a:r>
              <a:rPr lang="en-US"/>
              <a:t>All three parts change. If you change only one or two of them, you have a bug.</a:t>
            </a:r>
          </a:p>
        </p:txBody>
      </p:sp>
      <p:sp>
        <p:nvSpPr>
          <p:cNvPr id="4" name="Slide Number Placeholder 3"/>
          <p:cNvSpPr>
            <a:spLocks noGrp="1"/>
          </p:cNvSpPr>
          <p:nvPr>
            <p:ph type="sldNum" sz="quarter" idx="5"/>
          </p:nvPr>
        </p:nvSpPr>
        <p:spPr/>
        <p:txBody>
          <a:bodyPr/>
          <a:lstStyle/>
          <a:p>
            <a:fld id="{A2F93709-5EA0-4DB6-ADE5-5279DB3AC2D3}" type="slidenum">
              <a:rPr lang="en-US" smtClean="0"/>
              <a:t>80</a:t>
            </a:fld>
            <a:endParaRPr lang="en-US"/>
          </a:p>
        </p:txBody>
      </p:sp>
    </p:spTree>
    <p:extLst>
      <p:ext uri="{BB962C8B-B14F-4D97-AF65-F5344CB8AC3E}">
        <p14:creationId xmlns:p14="http://schemas.microsoft.com/office/powerpoint/2010/main" val="34832832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change the start and the check for counting down, and by habit you still type i++. Before you look at the next slide: what happens? Which of the four parts is wrong?</a:t>
            </a:r>
          </a:p>
        </p:txBody>
      </p:sp>
      <p:sp>
        <p:nvSpPr>
          <p:cNvPr id="4" name="Slide Number Placeholder 3"/>
          <p:cNvSpPr>
            <a:spLocks noGrp="1"/>
          </p:cNvSpPr>
          <p:nvPr>
            <p:ph type="sldNum" sz="quarter" idx="5"/>
          </p:nvPr>
        </p:nvSpPr>
        <p:spPr/>
        <p:txBody>
          <a:bodyPr/>
          <a:lstStyle/>
          <a:p>
            <a:fld id="{A2F93709-5EA0-4DB6-ADE5-5279DB3AC2D3}" type="slidenum">
              <a:rPr lang="en-US" smtClean="0"/>
              <a:t>81</a:t>
            </a:fld>
            <a:endParaRPr lang="en-US"/>
          </a:p>
        </p:txBody>
      </p:sp>
    </p:spTree>
    <p:extLst>
      <p:ext uri="{BB962C8B-B14F-4D97-AF65-F5344CB8AC3E}">
        <p14:creationId xmlns:p14="http://schemas.microsoft.com/office/powerpoint/2010/main" val="407988843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5 6 7 8 9 10 11 ... and never stops. i gets bigger and bigger, so i &gt;= 1 is always true. The update goes the wrong way. Stop it with Ctrl+C (slide 58), then change i++ to i--.</a:t>
            </a:r>
          </a:p>
          <a:p>
            <a:endParaRPr lang="en-US"/>
          </a:p>
          <a:p>
            <a:r>
              <a:rPr lang="en-US"/>
              <a:t>This is 15_countdown_wrong_update.c in the Class 5 code. It does not stop by itself.</a:t>
            </a:r>
          </a:p>
        </p:txBody>
      </p:sp>
      <p:sp>
        <p:nvSpPr>
          <p:cNvPr id="4" name="Slide Number Placeholder 3"/>
          <p:cNvSpPr>
            <a:spLocks noGrp="1"/>
          </p:cNvSpPr>
          <p:nvPr>
            <p:ph type="sldNum" sz="quarter" idx="5"/>
          </p:nvPr>
        </p:nvSpPr>
        <p:spPr/>
        <p:txBody>
          <a:bodyPr/>
          <a:lstStyle/>
          <a:p>
            <a:fld id="{A2F93709-5EA0-4DB6-ADE5-5279DB3AC2D3}" type="slidenum">
              <a:rPr lang="en-US" smtClean="0"/>
              <a:t>82</a:t>
            </a:fld>
            <a:endParaRPr lang="en-US"/>
          </a:p>
        </p:txBody>
      </p:sp>
    </p:spTree>
    <p:extLst>
      <p:ext uri="{BB962C8B-B14F-4D97-AF65-F5344CB8AC3E}">
        <p14:creationId xmlns:p14="http://schemas.microsoft.com/office/powerpoint/2010/main" val="325963826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and ++a both add 1 to a. On a line of their own they are the same. The difference shows only when you use the value in the same line, for example int b = a++;. The next two slides show both cases.</a:t>
            </a:r>
          </a:p>
        </p:txBody>
      </p:sp>
      <p:sp>
        <p:nvSpPr>
          <p:cNvPr id="4" name="Slide Number Placeholder 3"/>
          <p:cNvSpPr>
            <a:spLocks noGrp="1"/>
          </p:cNvSpPr>
          <p:nvPr>
            <p:ph type="sldNum" sz="quarter" idx="5"/>
          </p:nvPr>
        </p:nvSpPr>
        <p:spPr/>
        <p:txBody>
          <a:bodyPr/>
          <a:lstStyle/>
          <a:p>
            <a:fld id="{A2F93709-5EA0-4DB6-ADE5-5279DB3AC2D3}" type="slidenum">
              <a:rPr lang="en-US" smtClean="0"/>
              <a:t>83</a:t>
            </a:fld>
            <a:endParaRPr lang="en-US"/>
          </a:p>
        </p:txBody>
      </p:sp>
    </p:spTree>
    <p:extLst>
      <p:ext uri="{BB962C8B-B14F-4D97-AF65-F5344CB8AC3E}">
        <p14:creationId xmlns:p14="http://schemas.microsoft.com/office/powerpoint/2010/main" val="96617145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a = 5;</a:t>
            </a:r>
          </a:p>
          <a:p>
            <a:r>
              <a:rPr lang="en-US"/>
              <a:t>int b = a++;</a:t>
            </a:r>
          </a:p>
          <a:p>
            <a:r>
              <a:rPr lang="en-US"/>
              <a:t>printf("a is %d, b is %d\n", a, b);</a:t>
            </a:r>
          </a:p>
          <a:p>
            <a:endParaRPr lang="en-US"/>
          </a:p>
          <a:p>
            <a:r>
              <a:rPr lang="en-US"/>
              <a:t>The screen shows a is 6, b is 5. The ++ is after the a. So C first uses a: b gets the old value, 5. After that, a becomes 6.</a:t>
            </a:r>
          </a:p>
        </p:txBody>
      </p:sp>
      <p:sp>
        <p:nvSpPr>
          <p:cNvPr id="4" name="Slide Number Placeholder 3"/>
          <p:cNvSpPr>
            <a:spLocks noGrp="1"/>
          </p:cNvSpPr>
          <p:nvPr>
            <p:ph type="sldNum" sz="quarter" idx="5"/>
          </p:nvPr>
        </p:nvSpPr>
        <p:spPr/>
        <p:txBody>
          <a:bodyPr/>
          <a:lstStyle/>
          <a:p>
            <a:fld id="{A2F93709-5EA0-4DB6-ADE5-5279DB3AC2D3}" type="slidenum">
              <a:rPr lang="en-US" smtClean="0"/>
              <a:t>84</a:t>
            </a:fld>
            <a:endParaRPr lang="en-US"/>
          </a:p>
        </p:txBody>
      </p:sp>
    </p:spTree>
    <p:extLst>
      <p:ext uri="{BB962C8B-B14F-4D97-AF65-F5344CB8AC3E}">
        <p14:creationId xmlns:p14="http://schemas.microsoft.com/office/powerpoint/2010/main" val="30006039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a = 5;</a:t>
            </a:r>
          </a:p>
          <a:p>
            <a:r>
              <a:rPr lang="en-US"/>
              <a:t>int b = ++a;</a:t>
            </a:r>
          </a:p>
          <a:p>
            <a:r>
              <a:rPr lang="en-US"/>
              <a:t>printf("a is %d, b is %d\n", a, b);</a:t>
            </a:r>
          </a:p>
          <a:p>
            <a:endParaRPr lang="en-US"/>
          </a:p>
          <a:p>
            <a:r>
              <a:rPr lang="en-US"/>
              <a:t>The screen shows a is 6, b is 6. The ++ is before the a. So C first adds: a becomes 6. Then b gets 6.</a:t>
            </a:r>
          </a:p>
          <a:p>
            <a:endParaRPr lang="en-US"/>
          </a:p>
          <a:p>
            <a:r>
              <a:rPr lang="en-US"/>
              <a:t>How to remember it. Read from left to right. In a++ you see the a first: the value is taken first. In ++a you see the ++ first: the adding happens first. In both cases a ends up as 6. Only b is different.</a:t>
            </a:r>
          </a:p>
          <a:p>
            <a:endParaRPr lang="en-US"/>
          </a:p>
          <a:p>
            <a:r>
              <a:rPr lang="en-US"/>
              <a:t>16_post_and_pre_increment.c in the Class 5 code shows both cases in one program.</a:t>
            </a:r>
          </a:p>
        </p:txBody>
      </p:sp>
      <p:sp>
        <p:nvSpPr>
          <p:cNvPr id="4" name="Slide Number Placeholder 3"/>
          <p:cNvSpPr>
            <a:spLocks noGrp="1"/>
          </p:cNvSpPr>
          <p:nvPr>
            <p:ph type="sldNum" sz="quarter" idx="5"/>
          </p:nvPr>
        </p:nvSpPr>
        <p:spPr/>
        <p:txBody>
          <a:bodyPr/>
          <a:lstStyle/>
          <a:p>
            <a:fld id="{A2F93709-5EA0-4DB6-ADE5-5279DB3AC2D3}" type="slidenum">
              <a:rPr lang="en-US" smtClean="0"/>
              <a:t>85</a:t>
            </a:fld>
            <a:endParaRPr lang="en-US"/>
          </a:p>
        </p:txBody>
      </p:sp>
    </p:spTree>
    <p:extLst>
      <p:ext uri="{BB962C8B-B14F-4D97-AF65-F5344CB8AC3E}">
        <p14:creationId xmlns:p14="http://schemas.microsoft.com/office/powerpoint/2010/main" val="366135930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x = 5;</a:t>
            </a:r>
          </a:p>
          <a:p>
            <a:endParaRPr lang="en-US"/>
          </a:p>
          <a:p>
            <a:r>
              <a:rPr lang="en-US"/>
              <a:t>printf("%d ", x++);</a:t>
            </a:r>
          </a:p>
          <a:p>
            <a:r>
              <a:rPr lang="en-US"/>
              <a:t>printf("%d\n", x);</a:t>
            </a:r>
          </a:p>
          <a:p>
            <a:endParaRPr lang="en-US"/>
          </a:p>
          <a:p>
            <a:r>
              <a:rPr lang="en-US"/>
              <a:t>What is printed: 5 6, 6 6 or 5 5? Decide before you go on. This is 17_predict_x_plus_plus.c in the Class 5 code.</a:t>
            </a:r>
          </a:p>
        </p:txBody>
      </p:sp>
      <p:sp>
        <p:nvSpPr>
          <p:cNvPr id="4" name="Slide Number Placeholder 3"/>
          <p:cNvSpPr>
            <a:spLocks noGrp="1"/>
          </p:cNvSpPr>
          <p:nvPr>
            <p:ph type="sldNum" sz="quarter" idx="5"/>
          </p:nvPr>
        </p:nvSpPr>
        <p:spPr/>
        <p:txBody>
          <a:bodyPr/>
          <a:lstStyle/>
          <a:p>
            <a:fld id="{A2F93709-5EA0-4DB6-ADE5-5279DB3AC2D3}" type="slidenum">
              <a:rPr lang="en-US" smtClean="0"/>
              <a:t>86</a:t>
            </a:fld>
            <a:endParaRPr lang="en-US"/>
          </a:p>
        </p:txBody>
      </p:sp>
    </p:spTree>
    <p:extLst>
      <p:ext uri="{BB962C8B-B14F-4D97-AF65-F5344CB8AC3E}">
        <p14:creationId xmlns:p14="http://schemas.microsoft.com/office/powerpoint/2010/main" val="103139355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5 6. The first printf gets the old value, 5. Then x becomes 6. The second printf shows 6.</a:t>
            </a:r>
          </a:p>
          <a:p>
            <a:endParaRPr lang="en-US"/>
          </a:p>
          <a:p>
            <a:r>
              <a:rPr lang="en-US"/>
              <a:t>With ++x in the first printf, the screen shows 6 6.</a:t>
            </a:r>
          </a:p>
        </p:txBody>
      </p:sp>
      <p:sp>
        <p:nvSpPr>
          <p:cNvPr id="4" name="Slide Number Placeholder 3"/>
          <p:cNvSpPr>
            <a:spLocks noGrp="1"/>
          </p:cNvSpPr>
          <p:nvPr>
            <p:ph type="sldNum" sz="quarter" idx="5"/>
          </p:nvPr>
        </p:nvSpPr>
        <p:spPr/>
        <p:txBody>
          <a:bodyPr/>
          <a:lstStyle/>
          <a:p>
            <a:fld id="{A2F93709-5EA0-4DB6-ADE5-5279DB3AC2D3}" type="slidenum">
              <a:rPr lang="en-US" smtClean="0"/>
              <a:t>87</a:t>
            </a:fld>
            <a:endParaRPr lang="en-US"/>
          </a:p>
        </p:txBody>
      </p:sp>
    </p:spTree>
    <p:extLst>
      <p:ext uri="{BB962C8B-B14F-4D97-AF65-F5344CB8AC3E}">
        <p14:creationId xmlns:p14="http://schemas.microsoft.com/office/powerpoint/2010/main" val="419806031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Write i++ on a line of its own, or as the third part of a for. Do not put ++ inside a printf or inside a calculation. You must be able to read lines like b = a++, because they can be on a quiz. You never need to write them.</a:t>
            </a:r>
          </a:p>
          <a:p>
            <a:endParaRPr lang="en-US"/>
          </a:p>
          <a:p>
            <a:r>
              <a:rPr lang="en-US"/>
              <a:t>A line you should never write: printf("%d", i++ + ++i);. It changes i twice in one line. Even the compiler objects: with -Wall it says warning: operation on 'i' may be undefined. Different compilers may print different numbers for it. Rule: change a variable only once in a line.</a:t>
            </a:r>
          </a:p>
          <a:p>
            <a:endParaRPr lang="en-US"/>
          </a:p>
          <a:p>
            <a:r>
              <a:rPr lang="en-US"/>
              <a:t>Try it yourself. Before you run it, say what this shows:</a:t>
            </a:r>
          </a:p>
          <a:p>
            <a:endParaRPr lang="en-US"/>
          </a:p>
          <a:p>
            <a:r>
              <a:rPr lang="en-US"/>
              <a:t>int j = 3;</a:t>
            </a:r>
          </a:p>
          <a:p>
            <a:r>
              <a:rPr lang="en-US"/>
              <a:t>j--;</a:t>
            </a:r>
          </a:p>
          <a:p>
            <a:r>
              <a:rPr lang="en-US"/>
              <a:t>printf("%d\n", j);</a:t>
            </a:r>
          </a:p>
          <a:p>
            <a:endParaRPr lang="en-US"/>
          </a:p>
          <a:p>
            <a:r>
              <a:rPr lang="en-US"/>
              <a:t>(Answer: 2. j-- on its own line just takes 1 away.)</a:t>
            </a:r>
          </a:p>
        </p:txBody>
      </p:sp>
      <p:sp>
        <p:nvSpPr>
          <p:cNvPr id="4" name="Slide Number Placeholder 3"/>
          <p:cNvSpPr>
            <a:spLocks noGrp="1"/>
          </p:cNvSpPr>
          <p:nvPr>
            <p:ph type="sldNum" sz="quarter" idx="5"/>
          </p:nvPr>
        </p:nvSpPr>
        <p:spPr/>
        <p:txBody>
          <a:bodyPr/>
          <a:lstStyle/>
          <a:p>
            <a:fld id="{A2F93709-5EA0-4DB6-ADE5-5279DB3AC2D3}" type="slidenum">
              <a:rPr lang="en-US" smtClean="0"/>
              <a:t>88</a:t>
            </a:fld>
            <a:endParaRPr lang="en-US"/>
          </a:p>
        </p:txBody>
      </p:sp>
    </p:spTree>
    <p:extLst>
      <p:ext uri="{BB962C8B-B14F-4D97-AF65-F5344CB8AC3E}">
        <p14:creationId xmlns:p14="http://schemas.microsoft.com/office/powerpoint/2010/main" val="194149611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last part of the class, slides 90 to 100: a shorter way to write lines like x = x + 3.</a:t>
            </a:r>
          </a:p>
        </p:txBody>
      </p:sp>
      <p:sp>
        <p:nvSpPr>
          <p:cNvPr id="4" name="Slide Number Placeholder 3"/>
          <p:cNvSpPr>
            <a:spLocks noGrp="1"/>
          </p:cNvSpPr>
          <p:nvPr>
            <p:ph type="sldNum" sz="quarter" idx="5"/>
          </p:nvPr>
        </p:nvSpPr>
        <p:spPr/>
        <p:txBody>
          <a:bodyPr/>
          <a:lstStyle/>
          <a:p>
            <a:fld id="{A2F93709-5EA0-4DB6-ADE5-5279DB3AC2D3}" type="slidenum">
              <a:rPr lang="en-US" smtClean="0"/>
              <a:t>89</a:t>
            </a:fld>
            <a:endParaRPr lang="en-US"/>
          </a:p>
        </p:txBody>
      </p:sp>
    </p:spTree>
    <p:extLst>
      <p:ext uri="{BB962C8B-B14F-4D97-AF65-F5344CB8AC3E}">
        <p14:creationId xmlns:p14="http://schemas.microsoft.com/office/powerpoint/2010/main" val="51003461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x = x + 3; means: take what is in the box x, add 3, put the result back in the box. You write this so often that C has a short form: x += 3;. Say it as "add 3 to x". Both lines do exactly the same thing.</a:t>
            </a:r>
          </a:p>
        </p:txBody>
      </p:sp>
      <p:sp>
        <p:nvSpPr>
          <p:cNvPr id="4" name="Slide Number Placeholder 3"/>
          <p:cNvSpPr>
            <a:spLocks noGrp="1"/>
          </p:cNvSpPr>
          <p:nvPr>
            <p:ph type="sldNum" sz="quarter" idx="5"/>
          </p:nvPr>
        </p:nvSpPr>
        <p:spPr/>
        <p:txBody>
          <a:bodyPr/>
          <a:lstStyle/>
          <a:p>
            <a:fld id="{A2F93709-5EA0-4DB6-ADE5-5279DB3AC2D3}" type="slidenum">
              <a:rPr lang="en-US" smtClean="0"/>
              <a:t>90</a:t>
            </a:fld>
            <a:endParaRPr lang="en-US"/>
          </a:p>
        </p:txBody>
      </p:sp>
    </p:spTree>
    <p:extLst>
      <p:ext uri="{BB962C8B-B14F-4D97-AF65-F5344CB8AC3E}">
        <p14:creationId xmlns:p14="http://schemas.microsoft.com/office/powerpoint/2010/main" val="350932159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Short form: Long form · Say it as</a:t>
            </a:r>
          </a:p>
          <a:p>
            <a:r>
              <a:rPr lang="en-US"/>
              <a:t>x += 3;: x = x + 3; · add 3 to x</a:t>
            </a:r>
          </a:p>
          <a:p>
            <a:r>
              <a:rPr lang="en-US"/>
              <a:t>x -= 2;: x = x - 2; · take 2 from x</a:t>
            </a:r>
          </a:p>
          <a:p>
            <a:r>
              <a:rPr lang="en-US"/>
              <a:t>x *= 4;: x = x * 4; · multiply x by 4</a:t>
            </a:r>
          </a:p>
          <a:p>
            <a:r>
              <a:rPr lang="en-US"/>
              <a:t>x /= 5;: x = x / 5; · divide x by 5</a:t>
            </a:r>
          </a:p>
          <a:p>
            <a:r>
              <a:rPr lang="en-US"/>
              <a:t>x %= 2;: x = x % 2; · keep the remainder of x divided by 2</a:t>
            </a:r>
          </a:p>
          <a:p>
            <a:endParaRPr lang="en-US"/>
          </a:p>
          <a:p>
            <a:r>
              <a:rPr lang="en-US"/>
              <a:t>So x++ is the same as x += 1, which is the same as x = x + 1. Three ways to write one thing.</a:t>
            </a:r>
          </a:p>
          <a:p>
            <a:endParaRPr lang="en-US"/>
          </a:p>
          <a:p>
            <a:r>
              <a:rPr lang="en-US"/>
              <a:t>It works for double too.</a:t>
            </a:r>
          </a:p>
          <a:p>
            <a:endParaRPr lang="en-US"/>
          </a:p>
          <a:p>
            <a:r>
              <a:rPr lang="en-US"/>
              <a:t>double price = 80.0;</a:t>
            </a:r>
          </a:p>
          <a:p>
            <a:r>
              <a:rPr lang="en-US"/>
              <a:t>price *= 1.25;</a:t>
            </a:r>
          </a:p>
          <a:p>
            <a:r>
              <a:rPr lang="en-US"/>
              <a:t>printf("%.2f\n", price);</a:t>
            </a:r>
          </a:p>
          <a:p>
            <a:endParaRPr lang="en-US"/>
          </a:p>
          <a:p>
            <a:r>
              <a:rPr lang="en-US"/>
              <a:t>The screen shows 100.00. The price went up by a quarter.</a:t>
            </a:r>
          </a:p>
        </p:txBody>
      </p:sp>
      <p:sp>
        <p:nvSpPr>
          <p:cNvPr id="4" name="Slide Number Placeholder 3"/>
          <p:cNvSpPr>
            <a:spLocks noGrp="1"/>
          </p:cNvSpPr>
          <p:nvPr>
            <p:ph type="sldNum" sz="quarter" idx="5"/>
          </p:nvPr>
        </p:nvSpPr>
        <p:spPr/>
        <p:txBody>
          <a:bodyPr/>
          <a:lstStyle/>
          <a:p>
            <a:fld id="{A2F93709-5EA0-4DB6-ADE5-5279DB3AC2D3}" type="slidenum">
              <a:rPr lang="en-US" smtClean="0"/>
              <a:t>91</a:t>
            </a:fld>
            <a:endParaRPr lang="en-US"/>
          </a:p>
        </p:txBody>
      </p:sp>
    </p:spTree>
    <p:extLst>
      <p:ext uri="{BB962C8B-B14F-4D97-AF65-F5344CB8AC3E}">
        <p14:creationId xmlns:p14="http://schemas.microsoft.com/office/powerpoint/2010/main" val="14176103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x starts at 10. Then five lines change it, one after another. Write down what x holds after each line before you go to the next slide. Remember: each line uses the value x has at that moment.</a:t>
            </a:r>
          </a:p>
        </p:txBody>
      </p:sp>
      <p:sp>
        <p:nvSpPr>
          <p:cNvPr id="4" name="Slide Number Placeholder 3"/>
          <p:cNvSpPr>
            <a:spLocks noGrp="1"/>
          </p:cNvSpPr>
          <p:nvPr>
            <p:ph type="sldNum" sz="quarter" idx="5"/>
          </p:nvPr>
        </p:nvSpPr>
        <p:spPr/>
        <p:txBody>
          <a:bodyPr/>
          <a:lstStyle/>
          <a:p>
            <a:fld id="{A2F93709-5EA0-4DB6-ADE5-5279DB3AC2D3}" type="slidenum">
              <a:rPr lang="en-US" smtClean="0"/>
              <a:t>92</a:t>
            </a:fld>
            <a:endParaRPr lang="en-US"/>
          </a:p>
        </p:txBody>
      </p:sp>
    </p:spTree>
    <p:extLst>
      <p:ext uri="{BB962C8B-B14F-4D97-AF65-F5344CB8AC3E}">
        <p14:creationId xmlns:p14="http://schemas.microsoft.com/office/powerpoint/2010/main" val="384015138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Line: The sum · x becomes</a:t>
            </a:r>
          </a:p>
          <a:p>
            <a:r>
              <a:rPr lang="en-US"/>
              <a:t>x += 3;: 10 + 3 · 13</a:t>
            </a:r>
          </a:p>
          <a:p>
            <a:r>
              <a:rPr lang="en-US"/>
              <a:t>x -= 2;: 13 − 2 · 11</a:t>
            </a:r>
          </a:p>
          <a:p>
            <a:r>
              <a:rPr lang="en-US"/>
              <a:t>x *= 4;: 11 × 4 · 44</a:t>
            </a:r>
          </a:p>
          <a:p>
            <a:r>
              <a:rPr lang="en-US"/>
              <a:t>x /= 5;: 44 ÷ 5 · 8</a:t>
            </a:r>
          </a:p>
          <a:p>
            <a:r>
              <a:rPr lang="en-US"/>
              <a:t>x %= 2;: remainder of 8 ÷ 2 · 0</a:t>
            </a:r>
          </a:p>
          <a:p>
            <a:endParaRPr lang="en-US"/>
          </a:p>
          <a:p>
            <a:r>
              <a:rPr lang="en-US"/>
              <a:t>44 / 5 is 8, not 8.8: x is an int, and int divided by int throws the decimals away (week 2).</a:t>
            </a:r>
          </a:p>
          <a:p>
            <a:endParaRPr lang="en-US"/>
          </a:p>
          <a:p>
            <a:r>
              <a:rPr lang="en-US"/>
              <a:t>18_compound_assignment.c in the Class 5 code prints x after every line: 13, 11, 44, 8, 0.</a:t>
            </a:r>
          </a:p>
          <a:p>
            <a:endParaRPr lang="en-US"/>
          </a:p>
          <a:p>
            <a:r>
              <a:rPr lang="en-US"/>
              <a:t>Where you use these: adding up totals, changing a score, changing a bank balance.</a:t>
            </a:r>
          </a:p>
          <a:p>
            <a:endParaRPr lang="en-US"/>
          </a:p>
          <a:p>
            <a:r>
              <a:rPr lang="en-US"/>
              <a:t>int total = 100;</a:t>
            </a:r>
          </a:p>
          <a:p>
            <a:r>
              <a:rPr lang="en-US"/>
              <a:t>total -= 30;</a:t>
            </a:r>
          </a:p>
          <a:p>
            <a:r>
              <a:rPr lang="en-US"/>
              <a:t>total -= 45;</a:t>
            </a:r>
          </a:p>
          <a:p>
            <a:r>
              <a:rPr lang="en-US"/>
              <a:t>printf("Left: %d\n", total);</a:t>
            </a:r>
          </a:p>
          <a:p>
            <a:endParaRPr lang="en-US"/>
          </a:p>
          <a:p>
            <a:r>
              <a:rPr lang="en-US"/>
              <a:t>The screen shows Left: 25.</a:t>
            </a:r>
          </a:p>
        </p:txBody>
      </p:sp>
      <p:sp>
        <p:nvSpPr>
          <p:cNvPr id="4" name="Slide Number Placeholder 3"/>
          <p:cNvSpPr>
            <a:spLocks noGrp="1"/>
          </p:cNvSpPr>
          <p:nvPr>
            <p:ph type="sldNum" sz="quarter" idx="5"/>
          </p:nvPr>
        </p:nvSpPr>
        <p:spPr/>
        <p:txBody>
          <a:bodyPr/>
          <a:lstStyle/>
          <a:p>
            <a:fld id="{A2F93709-5EA0-4DB6-ADE5-5279DB3AC2D3}" type="slidenum">
              <a:rPr lang="en-US" smtClean="0"/>
              <a:t>93</a:t>
            </a:fld>
            <a:endParaRPr lang="en-US"/>
          </a:p>
        </p:txBody>
      </p:sp>
    </p:spTree>
    <p:extLst>
      <p:ext uri="{BB962C8B-B14F-4D97-AF65-F5344CB8AC3E}">
        <p14:creationId xmlns:p14="http://schemas.microsoft.com/office/powerpoint/2010/main" val="285687940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update of a loop can be any line that changes the variable. Here it is i += 2: add 2 after each round.</a:t>
            </a:r>
          </a:p>
          <a:p>
            <a:endParaRPr lang="en-US"/>
          </a:p>
          <a:p>
            <a:r>
              <a:rPr lang="en-US"/>
              <a:t>for (int i = 0; i &lt;= 10; i += 2) {</a:t>
            </a:r>
          </a:p>
          <a:p>
            <a:r>
              <a:rPr lang="en-US"/>
              <a:t>    printf("%d ", i);</a:t>
            </a:r>
          </a:p>
          <a:p>
            <a:r>
              <a:rPr lang="en-US"/>
              <a:t>}</a:t>
            </a:r>
          </a:p>
          <a:p>
            <a:endParaRPr lang="en-US"/>
          </a:p>
          <a:p>
            <a:r>
              <a:rPr lang="en-US"/>
              <a:t>The screen shows 0 2 4 6 8 10. i goes 0, 2, 4, 6, 8, 10, and then 12, and 12 &lt;= 10 is false, so the loop ends.</a:t>
            </a:r>
          </a:p>
          <a:p>
            <a:endParaRPr lang="en-US"/>
          </a:p>
          <a:p>
            <a:r>
              <a:rPr lang="en-US"/>
              <a:t>This is 19_count_by_twos.c in the Class 5 code. Try: count by fives from 0 to 50; print the odd numbers from 1 to 9 (start at 1).</a:t>
            </a:r>
          </a:p>
          <a:p>
            <a:endParaRPr lang="en-US"/>
          </a:p>
          <a:p>
            <a:r>
              <a:rPr lang="en-US"/>
              <a:t>Try it yourself. Predict the output first, then run it:</a:t>
            </a:r>
          </a:p>
          <a:p>
            <a:endParaRPr lang="en-US"/>
          </a:p>
          <a:p>
            <a:r>
              <a:rPr lang="en-US"/>
              <a:t>int x = 1;</a:t>
            </a:r>
          </a:p>
          <a:p>
            <a:r>
              <a:rPr lang="en-US"/>
              <a:t>while (x &lt; 100) {</a:t>
            </a:r>
          </a:p>
          <a:p>
            <a:r>
              <a:rPr lang="en-US"/>
              <a:t>    printf("%d ", x);</a:t>
            </a:r>
          </a:p>
          <a:p>
            <a:r>
              <a:rPr lang="en-US"/>
              <a:t>    x *= 2;</a:t>
            </a:r>
          </a:p>
          <a:p>
            <a:r>
              <a:rPr lang="en-US"/>
              <a:t>}</a:t>
            </a:r>
          </a:p>
          <a:p>
            <a:endParaRPr lang="en-US"/>
          </a:p>
          <a:p>
            <a:r>
              <a:rPr lang="en-US"/>
              <a:t>(Answer: 1 2 4 8 16 32 64. Each round doubles x. After 64 comes 128, and 128 &lt; 100 is false, so the loop ends.)</a:t>
            </a:r>
          </a:p>
        </p:txBody>
      </p:sp>
      <p:sp>
        <p:nvSpPr>
          <p:cNvPr id="4" name="Slide Number Placeholder 3"/>
          <p:cNvSpPr>
            <a:spLocks noGrp="1"/>
          </p:cNvSpPr>
          <p:nvPr>
            <p:ph type="sldNum" sz="quarter" idx="5"/>
          </p:nvPr>
        </p:nvSpPr>
        <p:spPr/>
        <p:txBody>
          <a:bodyPr/>
          <a:lstStyle/>
          <a:p>
            <a:fld id="{A2F93709-5EA0-4DB6-ADE5-5279DB3AC2D3}" type="slidenum">
              <a:rPr lang="en-US" smtClean="0"/>
              <a:t>94</a:t>
            </a:fld>
            <a:endParaRPr lang="en-US"/>
          </a:p>
        </p:txBody>
      </p:sp>
    </p:spTree>
    <p:extLst>
      <p:ext uri="{BB962C8B-B14F-4D97-AF65-F5344CB8AC3E}">
        <p14:creationId xmlns:p14="http://schemas.microsoft.com/office/powerpoint/2010/main" val="152968873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sum = 0;</a:t>
            </a:r>
          </a:p>
          <a:p>
            <a:endParaRPr lang="en-US"/>
          </a:p>
          <a:p>
            <a:r>
              <a:rPr lang="en-US"/>
              <a:t>for (int i = 1; i &lt;= 4; i++) {</a:t>
            </a:r>
          </a:p>
          <a:p>
            <a:r>
              <a:rPr lang="en-US"/>
              <a:t>    sum += i;</a:t>
            </a:r>
          </a:p>
          <a:p>
            <a:r>
              <a:rPr lang="en-US"/>
              <a:t>}</a:t>
            </a:r>
          </a:p>
          <a:p>
            <a:endParaRPr lang="en-US"/>
          </a:p>
          <a:p>
            <a:r>
              <a:rPr lang="en-US"/>
              <a:t>printf("%d\n", sum);</a:t>
            </a:r>
          </a:p>
          <a:p>
            <a:endParaRPr lang="en-US"/>
          </a:p>
          <a:p>
            <a:r>
              <a:rPr lang="en-US"/>
              <a:t>The screen shows 10. The box sum starts at 0. In each round, sum += i adds the current i to it. This is 20_sum_1_to_4.c in the Class 5 code. The next four slides trace it.</a:t>
            </a:r>
          </a:p>
        </p:txBody>
      </p:sp>
      <p:sp>
        <p:nvSpPr>
          <p:cNvPr id="4" name="Slide Number Placeholder 3"/>
          <p:cNvSpPr>
            <a:spLocks noGrp="1"/>
          </p:cNvSpPr>
          <p:nvPr>
            <p:ph type="sldNum" sz="quarter" idx="5"/>
          </p:nvPr>
        </p:nvSpPr>
        <p:spPr/>
        <p:txBody>
          <a:bodyPr/>
          <a:lstStyle/>
          <a:p>
            <a:fld id="{A2F93709-5EA0-4DB6-ADE5-5279DB3AC2D3}" type="slidenum">
              <a:rPr lang="en-US" smtClean="0"/>
              <a:t>95</a:t>
            </a:fld>
            <a:endParaRPr lang="en-US"/>
          </a:p>
        </p:txBody>
      </p:sp>
    </p:spTree>
    <p:extLst>
      <p:ext uri="{BB962C8B-B14F-4D97-AF65-F5344CB8AC3E}">
        <p14:creationId xmlns:p14="http://schemas.microsoft.com/office/powerpoint/2010/main" val="169497494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1: i is 1. sum was 0. 0 + 1 is 1. sum is now 1.</a:t>
            </a:r>
          </a:p>
        </p:txBody>
      </p:sp>
      <p:sp>
        <p:nvSpPr>
          <p:cNvPr id="4" name="Slide Number Placeholder 3"/>
          <p:cNvSpPr>
            <a:spLocks noGrp="1"/>
          </p:cNvSpPr>
          <p:nvPr>
            <p:ph type="sldNum" sz="quarter" idx="5"/>
          </p:nvPr>
        </p:nvSpPr>
        <p:spPr/>
        <p:txBody>
          <a:bodyPr/>
          <a:lstStyle/>
          <a:p>
            <a:fld id="{A2F93709-5EA0-4DB6-ADE5-5279DB3AC2D3}" type="slidenum">
              <a:rPr lang="en-US" smtClean="0"/>
              <a:t>96</a:t>
            </a:fld>
            <a:endParaRPr lang="en-US"/>
          </a:p>
        </p:txBody>
      </p:sp>
    </p:spTree>
    <p:extLst>
      <p:ext uri="{BB962C8B-B14F-4D97-AF65-F5344CB8AC3E}">
        <p14:creationId xmlns:p14="http://schemas.microsoft.com/office/powerpoint/2010/main" val="285478226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2: i is 2. sum was 1. 1 + 2 is 3. sum is now 3.</a:t>
            </a:r>
          </a:p>
        </p:txBody>
      </p:sp>
      <p:sp>
        <p:nvSpPr>
          <p:cNvPr id="4" name="Slide Number Placeholder 3"/>
          <p:cNvSpPr>
            <a:spLocks noGrp="1"/>
          </p:cNvSpPr>
          <p:nvPr>
            <p:ph type="sldNum" sz="quarter" idx="5"/>
          </p:nvPr>
        </p:nvSpPr>
        <p:spPr/>
        <p:txBody>
          <a:bodyPr/>
          <a:lstStyle/>
          <a:p>
            <a:fld id="{A2F93709-5EA0-4DB6-ADE5-5279DB3AC2D3}" type="slidenum">
              <a:rPr lang="en-US" smtClean="0"/>
              <a:t>97</a:t>
            </a:fld>
            <a:endParaRPr lang="en-US"/>
          </a:p>
        </p:txBody>
      </p:sp>
    </p:spTree>
    <p:extLst>
      <p:ext uri="{BB962C8B-B14F-4D97-AF65-F5344CB8AC3E}">
        <p14:creationId xmlns:p14="http://schemas.microsoft.com/office/powerpoint/2010/main" val="402843832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3: i is 3. sum was 3. 3 + 3 is 6. sum is now 6.</a:t>
            </a:r>
          </a:p>
        </p:txBody>
      </p:sp>
      <p:sp>
        <p:nvSpPr>
          <p:cNvPr id="4" name="Slide Number Placeholder 3"/>
          <p:cNvSpPr>
            <a:spLocks noGrp="1"/>
          </p:cNvSpPr>
          <p:nvPr>
            <p:ph type="sldNum" sz="quarter" idx="5"/>
          </p:nvPr>
        </p:nvSpPr>
        <p:spPr/>
        <p:txBody>
          <a:bodyPr/>
          <a:lstStyle/>
          <a:p>
            <a:fld id="{A2F93709-5EA0-4DB6-ADE5-5279DB3AC2D3}" type="slidenum">
              <a:rPr lang="en-US" smtClean="0"/>
              <a:t>98</a:t>
            </a:fld>
            <a:endParaRPr lang="en-US"/>
          </a:p>
        </p:txBody>
      </p:sp>
    </p:spTree>
    <p:extLst>
      <p:ext uri="{BB962C8B-B14F-4D97-AF65-F5344CB8AC3E}">
        <p14:creationId xmlns:p14="http://schemas.microsoft.com/office/powerpoint/2010/main" val="56121512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4: i is 4. sum was 6. 6 + 4 is 10. sum is now 10. Then i becomes 5, 5 &lt;= 4 is false, the loop ends, and the printf shows 10.</a:t>
            </a:r>
          </a:p>
          <a:p>
            <a:endParaRPr lang="en-US"/>
          </a:p>
          <a:p>
            <a:r>
              <a:rPr lang="en-US"/>
              <a:t>Round: i · sum += i · sum becomes</a:t>
            </a:r>
          </a:p>
          <a:p>
            <a:r>
              <a:rPr lang="en-US"/>
              <a:t>(start):  ·  · 0</a:t>
            </a:r>
          </a:p>
          <a:p>
            <a:r>
              <a:rPr lang="en-US"/>
              <a:t>1: 1 · 0 + 1 · 1</a:t>
            </a:r>
          </a:p>
          <a:p>
            <a:r>
              <a:rPr lang="en-US"/>
              <a:t>2: 2 · 1 + 2 · 3</a:t>
            </a:r>
          </a:p>
          <a:p>
            <a:r>
              <a:rPr lang="en-US"/>
              <a:t>3: 3 · 3 + 3 · 6</a:t>
            </a:r>
          </a:p>
          <a:p>
            <a:r>
              <a:rPr lang="en-US"/>
              <a:t>4: 4 · 6 + 4 · 10</a:t>
            </a:r>
          </a:p>
          <a:p>
            <a:endParaRPr lang="en-US"/>
          </a:p>
          <a:p>
            <a:r>
              <a:rPr lang="en-US"/>
              <a:t>1 + 2 + 3 + 4 is 10.</a:t>
            </a:r>
          </a:p>
        </p:txBody>
      </p:sp>
      <p:sp>
        <p:nvSpPr>
          <p:cNvPr id="4" name="Slide Number Placeholder 3"/>
          <p:cNvSpPr>
            <a:spLocks noGrp="1"/>
          </p:cNvSpPr>
          <p:nvPr>
            <p:ph type="sldNum" sz="quarter" idx="5"/>
          </p:nvPr>
        </p:nvSpPr>
        <p:spPr/>
        <p:txBody>
          <a:bodyPr/>
          <a:lstStyle/>
          <a:p>
            <a:fld id="{A2F93709-5EA0-4DB6-ADE5-5279DB3AC2D3}" type="slidenum">
              <a:rPr lang="en-US" smtClean="0"/>
              <a:t>99</a:t>
            </a:fld>
            <a:endParaRPr lang="en-US"/>
          </a:p>
        </p:txBody>
      </p:sp>
    </p:spTree>
    <p:extLst>
      <p:ext uri="{BB962C8B-B14F-4D97-AF65-F5344CB8AC3E}">
        <p14:creationId xmlns:p14="http://schemas.microsoft.com/office/powerpoint/2010/main" val="278568392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box that collects a little more in every round has a name: the accumulator. It is the most useful idea in all of loops, and the next class starts with it.</a:t>
            </a:r>
          </a:p>
          <a:p>
            <a:endParaRPr lang="en-US"/>
          </a:p>
          <a:p>
            <a:r>
              <a:rPr lang="en-US"/>
              <a:t>Try the "Try" list of 20_sum_1_to_4.c: add up 1 to 10 (the answer is 55), then 1 to 100 (5050).</a:t>
            </a:r>
          </a:p>
        </p:txBody>
      </p:sp>
      <p:sp>
        <p:nvSpPr>
          <p:cNvPr id="4" name="Slide Number Placeholder 3"/>
          <p:cNvSpPr>
            <a:spLocks noGrp="1"/>
          </p:cNvSpPr>
          <p:nvPr>
            <p:ph type="sldNum" sz="quarter" idx="5"/>
          </p:nvPr>
        </p:nvSpPr>
        <p:spPr/>
        <p:txBody>
          <a:bodyPr/>
          <a:lstStyle/>
          <a:p>
            <a:fld id="{A2F93709-5EA0-4DB6-ADE5-5279DB3AC2D3}" type="slidenum">
              <a:rPr lang="en-US" smtClean="0"/>
              <a:t>100</a:t>
            </a:fld>
            <a:endParaRPr lang="en-US"/>
          </a:p>
        </p:txBody>
      </p:sp>
    </p:spTree>
    <p:extLst>
      <p:ext uri="{BB962C8B-B14F-4D97-AF65-F5344CB8AC3E}">
        <p14:creationId xmlns:p14="http://schemas.microsoft.com/office/powerpoint/2010/main" val="59625089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 loop has four parts: start, check, body, update.</a:t>
            </a:r>
          </a:p>
          <a:p>
            <a:r>
              <a:rPr lang="en-US"/>
              <a:t>2. while puts them in three places.</a:t>
            </a:r>
          </a:p>
          <a:p>
            <a:r>
              <a:rPr lang="en-US"/>
              <a:t>3. for puts three of them on one line.</a:t>
            </a:r>
          </a:p>
          <a:p>
            <a:r>
              <a:rPr lang="en-US"/>
              <a:t>4. No update: the loop never stops. Ctrl+C.</a:t>
            </a:r>
          </a:p>
          <a:p>
            <a:r>
              <a:rPr lang="en-US"/>
              <a:t>5. i++ adds one. sum += i adds i.</a:t>
            </a:r>
          </a:p>
          <a:p>
            <a:r>
              <a:rPr lang="en-US"/>
              <a:t>6. Do not guess the output. Trace it.</a:t>
            </a:r>
          </a:p>
          <a:p>
            <a:endParaRPr lang="en-US"/>
          </a:p>
          <a:p>
            <a:r>
              <a:rPr lang="en-US"/>
              <a:t>After this class you can:</a:t>
            </a:r>
          </a:p>
          <a:p>
            <a:endParaRPr lang="en-US"/>
          </a:p>
          <a:p>
            <a:r>
              <a:rPr lang="en-US"/>
              <a:t>- Name the four parts of a loop.</a:t>
            </a:r>
          </a:p>
          <a:p>
            <a:r>
              <a:rPr lang="en-US"/>
              <a:t>- Write a while loop and a for loop that count up or down.</a:t>
            </a:r>
          </a:p>
          <a:p>
            <a:r>
              <a:rPr lang="en-US"/>
              <a:t>- Trace a loop with a table, and say what x holds after the loop.</a:t>
            </a:r>
          </a:p>
          <a:p>
            <a:r>
              <a:rPr lang="en-US"/>
              <a:t>- Stop a program that never ends with Ctrl+C, and find the missing update.</a:t>
            </a:r>
          </a:p>
          <a:p>
            <a:r>
              <a:rPr lang="en-US"/>
              <a:t>- Read i++, i--, b = a++, b = ++a, and +=, -=, *=, /=, %=.</a:t>
            </a:r>
          </a:p>
        </p:txBody>
      </p:sp>
      <p:sp>
        <p:nvSpPr>
          <p:cNvPr id="4" name="Slide Number Placeholder 3"/>
          <p:cNvSpPr>
            <a:spLocks noGrp="1"/>
          </p:cNvSpPr>
          <p:nvPr>
            <p:ph type="sldNum" sz="quarter" idx="5"/>
          </p:nvPr>
        </p:nvSpPr>
        <p:spPr/>
        <p:txBody>
          <a:bodyPr/>
          <a:lstStyle/>
          <a:p>
            <a:fld id="{A2F93709-5EA0-4DB6-ADE5-5279DB3AC2D3}" type="slidenum">
              <a:rPr lang="en-US" smtClean="0"/>
              <a:t>101</a:t>
            </a:fld>
            <a:endParaRPr lang="en-US"/>
          </a:p>
        </p:txBody>
      </p:sp>
    </p:spTree>
    <p:extLst>
      <p:ext uri="{BB962C8B-B14F-4D97-AF65-F5344CB8AC3E}">
        <p14:creationId xmlns:p14="http://schemas.microsoft.com/office/powerpoint/2010/main" val="267416348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Do Knowledge check 5 on Blackboard, in the Week 3 module: this class's slides. Six questions, three attempts, best kept, worth 0%.</a:t>
            </a:r>
          </a:p>
          <a:p>
            <a:r>
              <a:rPr lang="en-US"/>
              <a:t>2. Vote on Blackboard about the number of quizzes. The vote closes on Thursday at 23:59. The announcement explains it.</a:t>
            </a:r>
          </a:p>
          <a:p>
            <a:r>
              <a:rPr lang="en-US"/>
              <a:t>3. Type count.c and for.c again, without looking (slides 29 and 66).</a:t>
            </a:r>
          </a:p>
          <a:p>
            <a:r>
              <a:rPr lang="en-US"/>
              <a:t>4. Make each of them count from 10 down to 1.</a:t>
            </a:r>
          </a:p>
          <a:p>
            <a:r>
              <a:rPr lang="en-US"/>
              <a:t>5. Download Class 5 code from Blackboard: Week 3 module, item Class 5 code. Unzip it, open the folder in VS Code, and work through the files in order. Each file has a "Try" list at the top. Three of the programs never stop by themselves (07, 08 and 15); the comment at the top says so. Ctrl+C stops them.</a:t>
            </a:r>
          </a:p>
          <a:p>
            <a:endParaRPr lang="en-US"/>
          </a:p>
          <a:p>
            <a:r>
              <a:rPr lang="en-US"/>
              <a:t>Next class: what loops are for. Totals, counters, and asking again until the input is right.</a:t>
            </a:r>
          </a:p>
        </p:txBody>
      </p:sp>
      <p:sp>
        <p:nvSpPr>
          <p:cNvPr id="4" name="Slide Number Placeholder 3"/>
          <p:cNvSpPr>
            <a:spLocks noGrp="1"/>
          </p:cNvSpPr>
          <p:nvPr>
            <p:ph type="sldNum" sz="quarter" idx="5"/>
          </p:nvPr>
        </p:nvSpPr>
        <p:spPr/>
        <p:txBody>
          <a:bodyPr/>
          <a:lstStyle/>
          <a:p>
            <a:fld id="{A2F93709-5EA0-4DB6-ADE5-5279DB3AC2D3}" type="slidenum">
              <a:rPr lang="en-US" smtClean="0"/>
              <a:t>102</a:t>
            </a:fld>
            <a:endParaRPr lang="en-US"/>
          </a:p>
        </p:txBody>
      </p:sp>
    </p:spTree>
    <p:extLst>
      <p:ext uri="{BB962C8B-B14F-4D97-AF65-F5344CB8AC3E}">
        <p14:creationId xmlns:p14="http://schemas.microsoft.com/office/powerpoint/2010/main" val="214687493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Name the four parts of a loop. (Answer: start, check, body, update. If you could not say them at once, read slide 23 again.)</a:t>
            </a:r>
          </a:p>
        </p:txBody>
      </p:sp>
      <p:sp>
        <p:nvSpPr>
          <p:cNvPr id="4" name="Slide Number Placeholder 3"/>
          <p:cNvSpPr>
            <a:spLocks noGrp="1"/>
          </p:cNvSpPr>
          <p:nvPr>
            <p:ph type="sldNum" sz="quarter" idx="5"/>
          </p:nvPr>
        </p:nvSpPr>
        <p:spPr/>
        <p:txBody>
          <a:bodyPr/>
          <a:lstStyle/>
          <a:p>
            <a:fld id="{A2F93709-5EA0-4DB6-ADE5-5279DB3AC2D3}" type="slidenum">
              <a:rPr lang="en-US" smtClean="0"/>
              <a:t>103</a:t>
            </a:fld>
            <a:endParaRPr lang="en-US"/>
          </a:p>
        </p:txBody>
      </p:sp>
    </p:spTree>
    <p:extLst>
      <p:ext uri="{BB962C8B-B14F-4D97-AF65-F5344CB8AC3E}">
        <p14:creationId xmlns:p14="http://schemas.microsoft.com/office/powerpoint/2010/main" val="2037710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822960"/>
            <a:ext cx="10058400" cy="365760"/>
          </a:xfrm>
          <a:prstGeom prst="rect">
            <a:avLst/>
          </a:prstGeom>
          <a:noFill/>
          <a:ln>
            <a:noFill/>
          </a:ln>
        </p:spPr>
        <p:txBody>
          <a:bodyPr wrap="square" lIns="0" tIns="0" rIns="0" bIns="0" rtlCol="0" anchor="t"/>
          <a:lstStyle/>
          <a:p>
            <a:pPr marL="0" indent="0" algn="l">
              <a:buNone/>
            </a:pPr>
            <a:r>
              <a:rPr lang="en-US" sz="1600" b="1" dirty="0">
                <a:solidFill>
                  <a:srgbClr val="31C48D"/>
                </a:solidFill>
              </a:rPr>
              <a:t>Programming Principles I</a:t>
            </a:r>
            <a:endParaRPr lang="en-US" sz="1600" dirty="0"/>
          </a:p>
        </p:txBody>
      </p:sp>
      <p:sp>
        <p:nvSpPr>
          <p:cNvPr id="3" name="Shape 3"/>
          <p:cNvSpPr/>
          <p:nvPr/>
        </p:nvSpPr>
        <p:spPr>
          <a:xfrm>
            <a:off x="731520" y="1554480"/>
            <a:ext cx="10515600" cy="548640"/>
          </a:xfrm>
          <a:prstGeom prst="rect">
            <a:avLst/>
          </a:prstGeom>
          <a:noFill/>
          <a:ln>
            <a:noFill/>
          </a:ln>
        </p:spPr>
        <p:txBody>
          <a:bodyPr wrap="square" lIns="0" tIns="0" rIns="0" bIns="0" rtlCol="0" anchor="t"/>
          <a:lstStyle/>
          <a:p>
            <a:pPr marL="0" indent="0" algn="l">
              <a:buNone/>
            </a:pPr>
            <a:r>
              <a:rPr lang="en-US" sz="2600" b="1" dirty="0">
                <a:solidFill>
                  <a:srgbClr val="FFFFFF"/>
                </a:solidFill>
              </a:rPr>
              <a:t>Week 3 · Class 5</a:t>
            </a:r>
            <a:endParaRPr lang="en-US" sz="2600" dirty="0"/>
          </a:p>
        </p:txBody>
      </p:sp>
      <p:sp>
        <p:nvSpPr>
          <p:cNvPr id="4" name="Shape 4"/>
          <p:cNvSpPr/>
          <p:nvPr/>
        </p:nvSpPr>
        <p:spPr>
          <a:xfrm>
            <a:off x="731520" y="2194560"/>
            <a:ext cx="10789920" cy="1005840"/>
          </a:xfrm>
          <a:prstGeom prst="rect">
            <a:avLst/>
          </a:prstGeom>
          <a:noFill/>
          <a:ln>
            <a:noFill/>
          </a:ln>
        </p:spPr>
        <p:txBody>
          <a:bodyPr wrap="square" lIns="0" tIns="0" rIns="0" bIns="0" rtlCol="0" anchor="ctr"/>
          <a:lstStyle/>
          <a:p>
            <a:pPr marL="0" indent="0" algn="l">
              <a:buNone/>
            </a:pPr>
            <a:r>
              <a:rPr lang="en-US" sz="4800" b="1" dirty="0">
                <a:solidFill>
                  <a:srgbClr val="FFFFFF"/>
                </a:solidFill>
              </a:rPr>
              <a:t>Loops in C: while and for</a:t>
            </a:r>
            <a:endParaRPr lang="en-US" sz="4800" dirty="0"/>
          </a:p>
        </p:txBody>
      </p:sp>
      <p:sp>
        <p:nvSpPr>
          <p:cNvPr id="5" name="Shape 5"/>
          <p:cNvSpPr/>
          <p:nvPr/>
        </p:nvSpPr>
        <p:spPr>
          <a:xfrm>
            <a:off x="731520" y="3291840"/>
            <a:ext cx="10515600" cy="548640"/>
          </a:xfrm>
          <a:prstGeom prst="rect">
            <a:avLst/>
          </a:prstGeom>
          <a:noFill/>
          <a:ln>
            <a:noFill/>
          </a:ln>
        </p:spPr>
        <p:txBody>
          <a:bodyPr wrap="square" lIns="0" tIns="0" rIns="0" bIns="0" rtlCol="0" anchor="t"/>
          <a:lstStyle/>
          <a:p>
            <a:pPr marL="0" indent="0" algn="l">
              <a:buNone/>
            </a:pPr>
            <a:r>
              <a:rPr lang="en-US" sz="2200" dirty="0">
                <a:solidFill>
                  <a:srgbClr val="D7E3F0"/>
                </a:solidFill>
              </a:rPr>
              <a:t>Repeating work · while and for · ++, -- and +=</a:t>
            </a:r>
            <a:endParaRPr lang="en-US" sz="2200" dirty="0"/>
          </a:p>
        </p:txBody>
      </p:sp>
      <p:sp>
        <p:nvSpPr>
          <p:cNvPr id="6" name="Shape 6"/>
          <p:cNvSpPr/>
          <p:nvPr/>
        </p:nvSpPr>
        <p:spPr>
          <a:xfrm>
            <a:off x="731520" y="4114800"/>
            <a:ext cx="7863840" cy="16992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731520" y="4114800"/>
            <a:ext cx="7863840" cy="16992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for (int i = 1; i &lt;= 5; i++) {</a:t>
            </a:r>
            <a:endParaRPr lang="en-US" sz="2800" dirty="0"/>
          </a:p>
          <a:p>
            <a:pPr marL="0" indent="0" algn="l">
              <a:lnSpc>
                <a:spcPts val="3500"/>
              </a:lnSpc>
              <a:buNone/>
            </a:pPr>
            <a:r>
              <a:rPr lang="en-US" sz="2800" dirty="0">
                <a:solidFill>
                  <a:srgbClr val="E5E7EB"/>
                </a:solidFill>
                <a:latin typeface="Consolas"/>
                <a:ea typeface="Consolas"/>
                <a:cs typeface="Consolas"/>
              </a:rPr>
              <a:t>    printf("%d\n", i);</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p:txBody>
      </p:sp>
      <p:sp>
        <p:nvSpPr>
          <p:cNvPr id="8" name="Shape 8"/>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ADA University · Fall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Quiz 1 is back</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a:t>
            </a:r>
            <a:endParaRPr lang="en-US" sz="1400" dirty="0"/>
          </a:p>
        </p:txBody>
      </p:sp>
      <p:sp>
        <p:nvSpPr>
          <p:cNvPr id="6" name="Shape 6"/>
          <p:cNvSpPr/>
          <p:nvPr/>
        </p:nvSpPr>
        <p:spPr>
          <a:xfrm>
            <a:off x="548640" y="1399032"/>
            <a:ext cx="109728" cy="14020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Three mistakes cost most of the marks in this room.</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None of them is hard. All three are </a:t>
            </a:r>
            <a:r>
              <a:rPr lang="en-US" sz="3000" b="1" dirty="0">
                <a:solidFill>
                  <a:srgbClr val="18324A"/>
                </a:solidFill>
              </a:rPr>
              <a:t>habits</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Five minutes now, and they stop costing you marks.</a:t>
            </a:r>
            <a:endParaRPr lang="en-US" sz="3000" dirty="0"/>
          </a:p>
        </p:txBody>
      </p:sp>
      <p:sp>
        <p:nvSpPr>
          <p:cNvPr id="9" name="Shape 9"/>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0" name="Shape 10"/>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11"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Your mark is on the paper and in Blackboard. Read my comments at home, not now.</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Mistake 1: </a:t>
            </a:r>
            <a:r>
              <a:rPr lang="en-US" sz="3400" b="1" dirty="0">
                <a:solidFill>
                  <a:srgbClr val="2F80ED"/>
                </a:solidFill>
                <a:latin typeface="Consolas"/>
                <a:ea typeface="Consolas"/>
                <a:cs typeface="Consolas"/>
              </a:rPr>
              <a:t>%f</a:t>
            </a:r>
            <a:r>
              <a:rPr lang="en-US" sz="3400" b="1" dirty="0">
                <a:solidFill>
                  <a:srgbClr val="18324A"/>
                </a:solidFill>
              </a:rPr>
              <a:t> always prints six decimals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F59E0B"/>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This one line cost marks on more papers than anything else in the quiz.</a:t>
            </a:r>
            <a:endParaRPr lang="en-US" sz="2400" dirty="0"/>
          </a:p>
        </p:txBody>
      </p:sp>
      <p:sp>
        <p:nvSpPr>
          <p:cNvPr id="9" name="Shape 9"/>
          <p:cNvSpPr/>
          <p:nvPr/>
        </p:nvSpPr>
        <p:spPr>
          <a:xfrm>
            <a:off x="548640" y="1261872"/>
            <a:ext cx="6035040" cy="2397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511552"/>
            <a:ext cx="6035040" cy="508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511552"/>
            <a:ext cx="82296" cy="508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035040" cy="2397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double x = 6.25;</a:t>
            </a:r>
            <a:endParaRPr lang="en-US" sz="3200" dirty="0"/>
          </a:p>
          <a:p>
            <a:pPr marL="0" indent="0" algn="l">
              <a:lnSpc>
                <a:spcPts val="4000"/>
              </a:lnSpc>
              <a:buNone/>
            </a:pPr>
            <a:r>
              <a:rPr lang="en-US" sz="3200" dirty="0">
                <a:solidFill>
                  <a:srgbClr val="64748B"/>
                </a:solidFill>
                <a:latin typeface="Consolas"/>
                <a:ea typeface="Consolas"/>
                <a:cs typeface="Consolas"/>
              </a:rPr>
              <a:t>printf("%.2f\n", x);</a:t>
            </a:r>
            <a:endParaRPr lang="en-US" sz="3200" dirty="0"/>
          </a:p>
          <a:p>
            <a:pPr marL="0" indent="0" algn="l">
              <a:lnSpc>
                <a:spcPts val="4000"/>
              </a:lnSpc>
              <a:buNone/>
            </a:pPr>
            <a:r>
              <a:rPr lang="en-US" sz="3200" dirty="0">
                <a:solidFill>
                  <a:srgbClr val="FFFFFF"/>
                </a:solidFill>
                <a:latin typeface="Consolas"/>
                <a:ea typeface="Consolas"/>
                <a:cs typeface="Consolas"/>
              </a:rPr>
              <a:t>printf("%f\n", x);</a:t>
            </a:r>
            <a:endParaRPr lang="en-US" sz="3200" dirty="0"/>
          </a:p>
          <a:p>
            <a:pPr marL="0" indent="0" algn="l">
              <a:lnSpc>
                <a:spcPts val="4000"/>
              </a:lnSpc>
              <a:buNone/>
            </a:pPr>
            <a:r>
              <a:rPr lang="en-US" sz="3200" dirty="0">
                <a:solidFill>
                  <a:srgbClr val="64748B"/>
                </a:solidFill>
                <a:latin typeface="Consolas"/>
                <a:ea typeface="Consolas"/>
                <a:cs typeface="Consolas"/>
              </a:rPr>
              <a:t>printf("%.0f\n", x);</a:t>
            </a:r>
            <a:endParaRPr lang="en-US" sz="3200" dirty="0"/>
          </a:p>
        </p:txBody>
      </p:sp>
      <p:sp>
        <p:nvSpPr>
          <p:cNvPr id="13" name="Shape 13"/>
          <p:cNvSpPr/>
          <p:nvPr/>
        </p:nvSpPr>
        <p:spPr>
          <a:xfrm>
            <a:off x="6858000" y="1261872"/>
            <a:ext cx="478505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4" name="Shape 14"/>
          <p:cNvSpPr/>
          <p:nvPr/>
        </p:nvSpPr>
        <p:spPr>
          <a:xfrm>
            <a:off x="6858000" y="1645920"/>
            <a:ext cx="4785055" cy="1508760"/>
          </a:xfrm>
          <a:prstGeom prst="rect">
            <a:avLst/>
          </a:prstGeom>
          <a:solidFill>
            <a:srgbClr val="000000"/>
          </a:solidFill>
          <a:ln>
            <a:noFill/>
          </a:ln>
        </p:spPr>
        <p:txBody>
          <a:bodyPr wrap="square" lIns="0" tIns="0" rIns="0" bIns="0" rtlCol="0" anchor="t"/>
          <a:lstStyle/>
          <a:p>
            <a:endParaRPr lang="en-US"/>
          </a:p>
        </p:txBody>
      </p:sp>
      <p:sp>
        <p:nvSpPr>
          <p:cNvPr id="15" name="Code"/>
          <p:cNvSpPr/>
          <p:nvPr/>
        </p:nvSpPr>
        <p:spPr>
          <a:xfrm>
            <a:off x="6858000" y="1645920"/>
            <a:ext cx="4785055" cy="1508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6.25</a:t>
            </a:r>
            <a:endParaRPr lang="en-US" sz="2400" dirty="0"/>
          </a:p>
          <a:p>
            <a:pPr marL="0" indent="0" algn="l">
              <a:lnSpc>
                <a:spcPts val="3000"/>
              </a:lnSpc>
              <a:buNone/>
            </a:pPr>
            <a:r>
              <a:rPr lang="en-US" sz="2400" dirty="0">
                <a:solidFill>
                  <a:srgbClr val="D1FAE5"/>
                </a:solidFill>
                <a:latin typeface="Consolas"/>
                <a:ea typeface="Consolas"/>
                <a:cs typeface="Consolas"/>
              </a:rPr>
              <a:t>6.250000</a:t>
            </a:r>
            <a:endParaRPr lang="en-US" sz="2400" dirty="0"/>
          </a:p>
          <a:p>
            <a:pPr marL="0" indent="0" algn="l">
              <a:lnSpc>
                <a:spcPts val="3000"/>
              </a:lnSpc>
              <a:buNone/>
            </a:pPr>
            <a:r>
              <a:rPr lang="en-US" sz="2400" dirty="0">
                <a:solidFill>
                  <a:srgbClr val="D1FAE5"/>
                </a:solidFill>
                <a:latin typeface="Consolas"/>
                <a:ea typeface="Consolas"/>
                <a:cs typeface="Consolas"/>
              </a:rPr>
              <a:t>6</a:t>
            </a:r>
            <a:endParaRPr lang="en-US" sz="2400" dirty="0"/>
          </a:p>
        </p:txBody>
      </p:sp>
      <p:sp>
        <p:nvSpPr>
          <p:cNvPr id="16" name="Shape 16"/>
          <p:cNvSpPr/>
          <p:nvPr/>
        </p:nvSpPr>
        <p:spPr>
          <a:xfrm>
            <a:off x="6858000" y="3429000"/>
            <a:ext cx="4785055" cy="68580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6858000" y="3429000"/>
            <a:ext cx="109728" cy="68580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6967728" y="3429000"/>
            <a:ext cx="467532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%f</a:t>
            </a:r>
            <a:r>
              <a:rPr lang="en-US" sz="2400" dirty="0">
                <a:solidFill>
                  <a:srgbClr val="18324A"/>
                </a:solidFill>
              </a:rPr>
              <a:t> — always </a:t>
            </a:r>
            <a:r>
              <a:rPr lang="en-US" sz="2400" b="1" dirty="0">
                <a:solidFill>
                  <a:srgbClr val="18324A"/>
                </a:solidFill>
              </a:rPr>
              <a:t>six</a:t>
            </a:r>
            <a:r>
              <a:rPr lang="en-US" sz="2400" dirty="0">
                <a:solidFill>
                  <a:srgbClr val="18324A"/>
                </a:solidFill>
              </a:rPr>
              <a:t>.</a:t>
            </a:r>
            <a:endParaRPr lang="en-US" sz="2400" dirty="0"/>
          </a:p>
        </p:txBody>
      </p:sp>
      <p:sp>
        <p:nvSpPr>
          <p:cNvPr id="19" name="Shape 19"/>
          <p:cNvSpPr/>
          <p:nvPr/>
        </p:nvSpPr>
        <p:spPr>
          <a:xfrm>
            <a:off x="6858000" y="4315968"/>
            <a:ext cx="478505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0" name="Shape 20"/>
          <p:cNvSpPr/>
          <p:nvPr/>
        </p:nvSpPr>
        <p:spPr>
          <a:xfrm>
            <a:off x="6858000" y="4315968"/>
            <a:ext cx="109728" cy="685800"/>
          </a:xfrm>
          <a:prstGeom prst="rect">
            <a:avLst/>
          </a:prstGeom>
          <a:solidFill>
            <a:srgbClr val="31C48D"/>
          </a:solidFill>
          <a:ln>
            <a:noFill/>
          </a:ln>
        </p:spPr>
        <p:txBody>
          <a:bodyPr wrap="square" lIns="0" tIns="0" rIns="0" bIns="0" rtlCol="0" anchor="t"/>
          <a:lstStyle/>
          <a:p>
            <a:endParaRPr lang="en-US"/>
          </a:p>
        </p:txBody>
      </p:sp>
      <p:sp>
        <p:nvSpPr>
          <p:cNvPr id="21" name="Callout"/>
          <p:cNvSpPr/>
          <p:nvPr/>
        </p:nvSpPr>
        <p:spPr>
          <a:xfrm>
            <a:off x="6967728" y="4315968"/>
            <a:ext cx="467532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%.2f</a:t>
            </a:r>
            <a:r>
              <a:rPr lang="en-US" sz="2400" dirty="0">
                <a:solidFill>
                  <a:srgbClr val="18324A"/>
                </a:solidFill>
              </a:rPr>
              <a:t> — you choose.</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2F80ED"/>
                </a:solidFill>
                <a:latin typeface="Consolas"/>
                <a:ea typeface="Consolas"/>
                <a:cs typeface="Consolas"/>
              </a:rPr>
              <a:t>%.0f</a:t>
            </a:r>
            <a:r>
              <a:rPr lang="en-US" sz="3400" b="1" dirty="0">
                <a:solidFill>
                  <a:srgbClr val="18324A"/>
                </a:solidFill>
              </a:rPr>
              <a:t> rounds. It does not cut.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6.25 rounds </a:t>
            </a:r>
            <a:r>
              <a:rPr lang="en-US" sz="2400" b="1" dirty="0">
                <a:solidFill>
                  <a:srgbClr val="18324A"/>
                </a:solidFill>
              </a:rPr>
              <a:t>down</a:t>
            </a:r>
            <a:r>
              <a:rPr lang="en-US" sz="2400" dirty="0">
                <a:solidFill>
                  <a:srgbClr val="18324A"/>
                </a:solidFill>
              </a:rPr>
              <a:t> to 6. 2.75 rounds </a:t>
            </a:r>
            <a:r>
              <a:rPr lang="en-US" sz="2400" b="1" dirty="0">
                <a:solidFill>
                  <a:srgbClr val="18324A"/>
                </a:solidFill>
              </a:rPr>
              <a:t>up</a:t>
            </a:r>
            <a:r>
              <a:rPr lang="en-US" sz="2400" dirty="0">
                <a:solidFill>
                  <a:srgbClr val="18324A"/>
                </a:solidFill>
              </a:rPr>
              <a:t> to 3. It never just drops the digits.</a:t>
            </a:r>
            <a:endParaRPr lang="en-US" sz="2400" dirty="0"/>
          </a:p>
        </p:txBody>
      </p:sp>
      <p:sp>
        <p:nvSpPr>
          <p:cNvPr id="9" name="Shape 9"/>
          <p:cNvSpPr/>
          <p:nvPr/>
        </p:nvSpPr>
        <p:spPr>
          <a:xfrm>
            <a:off x="548640" y="1261872"/>
            <a:ext cx="27736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r>
              <a:rPr lang="en-US" sz="1800" b="1" dirty="0">
                <a:solidFill>
                  <a:srgbClr val="FFFFFF"/>
                </a:solidFill>
              </a:rPr>
              <a:t> holds</a:t>
            </a:r>
            <a:endParaRPr lang="en-US" sz="1800" dirty="0"/>
          </a:p>
        </p:txBody>
      </p:sp>
      <p:sp>
        <p:nvSpPr>
          <p:cNvPr id="10" name="Shape 10"/>
          <p:cNvSpPr/>
          <p:nvPr/>
        </p:nvSpPr>
        <p:spPr>
          <a:xfrm>
            <a:off x="3322244" y="1261872"/>
            <a:ext cx="27736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%.2f</a:t>
            </a:r>
            <a:endParaRPr lang="en-US" sz="1800" dirty="0"/>
          </a:p>
        </p:txBody>
      </p:sp>
      <p:sp>
        <p:nvSpPr>
          <p:cNvPr id="11" name="Shape 11"/>
          <p:cNvSpPr/>
          <p:nvPr/>
        </p:nvSpPr>
        <p:spPr>
          <a:xfrm>
            <a:off x="6095848" y="1261872"/>
            <a:ext cx="27736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%f</a:t>
            </a:r>
            <a:endParaRPr lang="en-US" sz="1800" dirty="0"/>
          </a:p>
        </p:txBody>
      </p:sp>
      <p:sp>
        <p:nvSpPr>
          <p:cNvPr id="12" name="Shape 12"/>
          <p:cNvSpPr/>
          <p:nvPr/>
        </p:nvSpPr>
        <p:spPr>
          <a:xfrm>
            <a:off x="8869451" y="1261872"/>
            <a:ext cx="27736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%.0f</a:t>
            </a:r>
            <a:endParaRPr lang="en-US" sz="1800" dirty="0"/>
          </a:p>
        </p:txBody>
      </p:sp>
      <p:sp>
        <p:nvSpPr>
          <p:cNvPr id="13" name="Shape 13"/>
          <p:cNvSpPr/>
          <p:nvPr/>
        </p:nvSpPr>
        <p:spPr>
          <a:xfrm>
            <a:off x="548640" y="1920240"/>
            <a:ext cx="27736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6.25</a:t>
            </a:r>
            <a:endParaRPr lang="en-US" sz="2600" dirty="0"/>
          </a:p>
        </p:txBody>
      </p:sp>
      <p:sp>
        <p:nvSpPr>
          <p:cNvPr id="14" name="Shape 14"/>
          <p:cNvSpPr/>
          <p:nvPr/>
        </p:nvSpPr>
        <p:spPr>
          <a:xfrm>
            <a:off x="3322244" y="1920240"/>
            <a:ext cx="27736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6.25</a:t>
            </a:r>
            <a:endParaRPr lang="en-US" sz="2600" dirty="0"/>
          </a:p>
        </p:txBody>
      </p:sp>
      <p:sp>
        <p:nvSpPr>
          <p:cNvPr id="15" name="Shape 15"/>
          <p:cNvSpPr/>
          <p:nvPr/>
        </p:nvSpPr>
        <p:spPr>
          <a:xfrm>
            <a:off x="6095848" y="1920240"/>
            <a:ext cx="27736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6.250000</a:t>
            </a:r>
            <a:endParaRPr lang="en-US" sz="2600" dirty="0"/>
          </a:p>
        </p:txBody>
      </p:sp>
      <p:sp>
        <p:nvSpPr>
          <p:cNvPr id="16" name="Shape 16"/>
          <p:cNvSpPr/>
          <p:nvPr/>
        </p:nvSpPr>
        <p:spPr>
          <a:xfrm>
            <a:off x="8869451" y="1920240"/>
            <a:ext cx="27736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6</a:t>
            </a:r>
            <a:endParaRPr lang="en-US" sz="2600" dirty="0"/>
          </a:p>
        </p:txBody>
      </p:sp>
      <p:sp>
        <p:nvSpPr>
          <p:cNvPr id="17" name="Shape 17"/>
          <p:cNvSpPr/>
          <p:nvPr/>
        </p:nvSpPr>
        <p:spPr>
          <a:xfrm>
            <a:off x="548640" y="2578608"/>
            <a:ext cx="27736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2.75</a:t>
            </a:r>
            <a:endParaRPr lang="en-US" sz="2600" dirty="0"/>
          </a:p>
        </p:txBody>
      </p:sp>
      <p:sp>
        <p:nvSpPr>
          <p:cNvPr id="18" name="Shape 18"/>
          <p:cNvSpPr/>
          <p:nvPr/>
        </p:nvSpPr>
        <p:spPr>
          <a:xfrm>
            <a:off x="3322244" y="2578608"/>
            <a:ext cx="27736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2.75</a:t>
            </a:r>
            <a:endParaRPr lang="en-US" sz="2600" dirty="0"/>
          </a:p>
        </p:txBody>
      </p:sp>
      <p:sp>
        <p:nvSpPr>
          <p:cNvPr id="19" name="Shape 19"/>
          <p:cNvSpPr/>
          <p:nvPr/>
        </p:nvSpPr>
        <p:spPr>
          <a:xfrm>
            <a:off x="6095848" y="2578608"/>
            <a:ext cx="27736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2.750000</a:t>
            </a:r>
            <a:endParaRPr lang="en-US" sz="2600" dirty="0"/>
          </a:p>
        </p:txBody>
      </p:sp>
      <p:sp>
        <p:nvSpPr>
          <p:cNvPr id="20" name="Shape 20"/>
          <p:cNvSpPr/>
          <p:nvPr/>
        </p:nvSpPr>
        <p:spPr>
          <a:xfrm>
            <a:off x="8869451" y="2578608"/>
            <a:ext cx="27736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3</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Mistake 2: </a:t>
            </a:r>
            <a:r>
              <a:rPr lang="en-US" sz="3400" b="1" dirty="0">
                <a:solidFill>
                  <a:srgbClr val="2F80ED"/>
                </a:solidFill>
                <a:latin typeface="Consolas"/>
                <a:ea typeface="Consolas"/>
                <a:cs typeface="Consolas"/>
              </a:rPr>
              <a:t>scanf</a:t>
            </a:r>
            <a:r>
              <a:rPr lang="en-US" sz="3400" b="1" dirty="0">
                <a:solidFill>
                  <a:srgbClr val="18324A"/>
                </a:solidFill>
              </a:rPr>
              <a:t> needs </a:t>
            </a:r>
            <a:r>
              <a:rPr lang="en-US" sz="3400" b="1" dirty="0">
                <a:solidFill>
                  <a:srgbClr val="2F80ED"/>
                </a:solidFill>
                <a:latin typeface="Consolas"/>
                <a:ea typeface="Consolas"/>
                <a:cs typeface="Consolas"/>
              </a:rPr>
              <a:t>%lf</a:t>
            </a:r>
            <a:r>
              <a:rPr lang="en-US" sz="3400" b="1" dirty="0">
                <a:solidFill>
                  <a:srgbClr val="18324A"/>
                </a:solidFill>
              </a:rPr>
              <a:t> and </a:t>
            </a:r>
            <a:r>
              <a:rPr lang="en-US" sz="3400" b="1" dirty="0">
                <a:solidFill>
                  <a:srgbClr val="2F80ED"/>
                </a:solidFill>
                <a:latin typeface="Consolas"/>
                <a:ea typeface="Consolas"/>
                <a:cs typeface="Consolas"/>
              </a:rPr>
              <a:t>&amp;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For a </a:t>
            </a:r>
            <a:r>
              <a:rPr lang="en-US" sz="2400" dirty="0">
                <a:solidFill>
                  <a:srgbClr val="18324A"/>
                </a:solidFill>
                <a:latin typeface="Consolas"/>
                <a:ea typeface="Consolas"/>
                <a:cs typeface="Consolas"/>
              </a:rPr>
              <a:t>double</a:t>
            </a:r>
            <a:r>
              <a:rPr lang="en-US" sz="2400" dirty="0">
                <a:solidFill>
                  <a:srgbClr val="18324A"/>
                </a:solidFill>
              </a:rPr>
              <a:t>: </a:t>
            </a:r>
            <a:r>
              <a:rPr lang="en-US" sz="2400" dirty="0">
                <a:solidFill>
                  <a:srgbClr val="18324A"/>
                </a:solidFill>
                <a:latin typeface="Consolas"/>
                <a:ea typeface="Consolas"/>
                <a:cs typeface="Consolas"/>
              </a:rPr>
              <a:t>printf</a:t>
            </a:r>
            <a:r>
              <a:rPr lang="en-US" sz="2400" dirty="0">
                <a:solidFill>
                  <a:srgbClr val="18324A"/>
                </a:solidFill>
              </a:rPr>
              <a:t> takes </a:t>
            </a:r>
            <a:r>
              <a:rPr lang="en-US" sz="2400" dirty="0">
                <a:solidFill>
                  <a:srgbClr val="18324A"/>
                </a:solidFill>
                <a:latin typeface="Consolas"/>
                <a:ea typeface="Consolas"/>
                <a:cs typeface="Consolas"/>
              </a:rPr>
              <a:t>%f</a:t>
            </a:r>
            <a:r>
              <a:rPr lang="en-US" sz="2400" dirty="0">
                <a:solidFill>
                  <a:srgbClr val="18324A"/>
                </a:solidFill>
              </a:rPr>
              <a:t>, </a:t>
            </a:r>
            <a:r>
              <a:rPr lang="en-US" sz="2400" dirty="0">
                <a:solidFill>
                  <a:srgbClr val="18324A"/>
                </a:solidFill>
                <a:latin typeface="Consolas"/>
                <a:ea typeface="Consolas"/>
                <a:cs typeface="Consolas"/>
              </a:rPr>
              <a:t>scanf</a:t>
            </a:r>
            <a:r>
              <a:rPr lang="en-US" sz="2400" dirty="0">
                <a:solidFill>
                  <a:srgbClr val="18324A"/>
                </a:solidFill>
              </a:rPr>
              <a:t> takes </a:t>
            </a:r>
            <a:r>
              <a:rPr lang="en-US" sz="2400" dirty="0">
                <a:solidFill>
                  <a:srgbClr val="18324A"/>
                </a:solidFill>
                <a:latin typeface="Consolas"/>
                <a:ea typeface="Consolas"/>
                <a:cs typeface="Consolas"/>
              </a:rPr>
              <a:t>%lf</a:t>
            </a:r>
            <a:r>
              <a:rPr lang="en-US" sz="2400" dirty="0">
                <a:solidFill>
                  <a:srgbClr val="18324A"/>
                </a:solidFill>
              </a:rPr>
              <a:t>. And </a:t>
            </a:r>
            <a:r>
              <a:rPr lang="en-US" sz="2400" dirty="0">
                <a:solidFill>
                  <a:srgbClr val="18324A"/>
                </a:solidFill>
                <a:latin typeface="Consolas"/>
                <a:ea typeface="Consolas"/>
                <a:cs typeface="Consolas"/>
              </a:rPr>
              <a:t>scanf</a:t>
            </a:r>
            <a:r>
              <a:rPr lang="en-US" sz="2400" dirty="0">
                <a:solidFill>
                  <a:srgbClr val="18324A"/>
                </a:solidFill>
              </a:rPr>
              <a:t> always needs the </a:t>
            </a:r>
            <a:r>
              <a:rPr lang="en-US" sz="2400" dirty="0">
                <a:solidFill>
                  <a:srgbClr val="18324A"/>
                </a:solidFill>
                <a:latin typeface="Consolas"/>
                <a:ea typeface="Consolas"/>
                <a:cs typeface="Consolas"/>
              </a:rPr>
              <a:t>&amp;</a:t>
            </a:r>
            <a:r>
              <a:rPr lang="en-US" sz="2400" dirty="0">
                <a:solidFill>
                  <a:srgbClr val="18324A"/>
                </a:solidFill>
              </a:rPr>
              <a:t>.</a:t>
            </a:r>
            <a:endParaRPr lang="en-US" sz="2400" dirty="0"/>
          </a:p>
        </p:txBody>
      </p:sp>
      <p:sp>
        <p:nvSpPr>
          <p:cNvPr id="9" name="Shape 9"/>
          <p:cNvSpPr/>
          <p:nvPr/>
        </p:nvSpPr>
        <p:spPr>
          <a:xfrm>
            <a:off x="548640" y="1261872"/>
            <a:ext cx="5364328" cy="384048"/>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What many of you wrote</a:t>
            </a:r>
            <a:endParaRPr lang="en-US" sz="1800" dirty="0"/>
          </a:p>
        </p:txBody>
      </p:sp>
      <p:sp>
        <p:nvSpPr>
          <p:cNvPr id="10" name="Shape 10"/>
          <p:cNvSpPr/>
          <p:nvPr/>
        </p:nvSpPr>
        <p:spPr>
          <a:xfrm>
            <a:off x="548640" y="1645920"/>
            <a:ext cx="5364328" cy="2905760"/>
          </a:xfrm>
          <a:prstGeom prst="rect">
            <a:avLst/>
          </a:prstGeom>
          <a:solidFill>
            <a:srgbClr val="0F172A"/>
          </a:solidFill>
          <a:ln>
            <a:noFill/>
          </a:ln>
        </p:spPr>
        <p:txBody>
          <a:bodyPr wrap="square" lIns="0" tIns="0" rIns="0" bIns="0" rtlCol="0" anchor="t"/>
          <a:lstStyle/>
          <a:p>
            <a:endParaRPr lang="en-US"/>
          </a:p>
        </p:txBody>
      </p:sp>
      <p:sp>
        <p:nvSpPr>
          <p:cNvPr id="11" name="Shape 11"/>
          <p:cNvSpPr/>
          <p:nvPr/>
        </p:nvSpPr>
        <p:spPr>
          <a:xfrm>
            <a:off x="548640" y="2387600"/>
            <a:ext cx="5364328" cy="5080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2387600"/>
            <a:ext cx="82296" cy="508000"/>
          </a:xfrm>
          <a:prstGeom prst="rect">
            <a:avLst/>
          </a:prstGeom>
          <a:solidFill>
            <a:srgbClr val="F59E0B"/>
          </a:solidFill>
          <a:ln>
            <a:noFill/>
          </a:ln>
        </p:spPr>
        <p:txBody>
          <a:bodyPr wrap="square" lIns="0" tIns="0" rIns="0" bIns="0" rtlCol="0" anchor="t"/>
          <a:lstStyle/>
          <a:p>
            <a:endParaRPr lang="en-US"/>
          </a:p>
        </p:txBody>
      </p:sp>
      <p:sp>
        <p:nvSpPr>
          <p:cNvPr id="13" name="Shape 13"/>
          <p:cNvSpPr/>
          <p:nvPr/>
        </p:nvSpPr>
        <p:spPr>
          <a:xfrm>
            <a:off x="548640" y="3911600"/>
            <a:ext cx="5364328" cy="508000"/>
          </a:xfrm>
          <a:prstGeom prst="rect">
            <a:avLst/>
          </a:prstGeom>
          <a:solidFill>
            <a:srgbClr val="25406B"/>
          </a:solidFill>
          <a:ln>
            <a:noFill/>
          </a:ln>
        </p:spPr>
        <p:txBody>
          <a:bodyPr wrap="square" lIns="0" tIns="0" rIns="0" bIns="0" rtlCol="0" anchor="t"/>
          <a:lstStyle/>
          <a:p>
            <a:endParaRPr lang="en-US"/>
          </a:p>
        </p:txBody>
      </p:sp>
      <p:sp>
        <p:nvSpPr>
          <p:cNvPr id="14" name="Shape 14"/>
          <p:cNvSpPr/>
          <p:nvPr/>
        </p:nvSpPr>
        <p:spPr>
          <a:xfrm>
            <a:off x="548640" y="3911600"/>
            <a:ext cx="82296" cy="508000"/>
          </a:xfrm>
          <a:prstGeom prst="rect">
            <a:avLst/>
          </a:prstGeom>
          <a:solidFill>
            <a:srgbClr val="F59E0B"/>
          </a:solidFill>
          <a:ln>
            <a:noFill/>
          </a:ln>
        </p:spPr>
        <p:txBody>
          <a:bodyPr wrap="square" lIns="0" tIns="0" rIns="0" bIns="0" rtlCol="0" anchor="t"/>
          <a:lstStyle/>
          <a:p>
            <a:endParaRPr lang="en-US"/>
          </a:p>
        </p:txBody>
      </p:sp>
      <p:sp>
        <p:nvSpPr>
          <p:cNvPr id="15" name="Code"/>
          <p:cNvSpPr/>
          <p:nvPr/>
        </p:nvSpPr>
        <p:spPr>
          <a:xfrm>
            <a:off x="548640" y="1645920"/>
            <a:ext cx="5364328" cy="2905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double price;</a:t>
            </a:r>
            <a:endParaRPr lang="en-US" sz="3200" dirty="0"/>
          </a:p>
          <a:p>
            <a:pPr marL="0" indent="0" algn="l">
              <a:lnSpc>
                <a:spcPts val="4000"/>
              </a:lnSpc>
              <a:buNone/>
            </a:pPr>
            <a:r>
              <a:rPr lang="en-US" sz="3200" dirty="0">
                <a:solidFill>
                  <a:srgbClr val="FFFFFF"/>
                </a:solidFill>
                <a:latin typeface="Consolas"/>
                <a:ea typeface="Consolas"/>
                <a:cs typeface="Consolas"/>
              </a:rPr>
              <a:t>scanf("%f", &amp;price);</a:t>
            </a:r>
            <a:endParaRPr lang="en-US" sz="3200" dirty="0"/>
          </a:p>
          <a:p>
            <a:pPr marL="0" indent="0" algn="l">
              <a:lnSpc>
                <a:spcPts val="4000"/>
              </a:lnSpc>
              <a:buNone/>
            </a:pPr>
            <a:r>
              <a:rPr lang="en-US" sz="3200" dirty="0">
                <a:solidFill>
                  <a:srgbClr val="64748B"/>
                </a:solidFill>
                <a:latin typeface="Consolas"/>
                <a:ea typeface="Consolas"/>
                <a:cs typeface="Consolas"/>
              </a:rPr>
              <a:t> </a:t>
            </a:r>
            <a:endParaRPr lang="en-US" sz="3200" dirty="0"/>
          </a:p>
          <a:p>
            <a:pPr marL="0" indent="0" algn="l">
              <a:lnSpc>
                <a:spcPts val="4000"/>
              </a:lnSpc>
              <a:buNone/>
            </a:pPr>
            <a:r>
              <a:rPr lang="en-US" sz="3200" dirty="0">
                <a:solidFill>
                  <a:srgbClr val="64748B"/>
                </a:solidFill>
                <a:latin typeface="Consolas"/>
                <a:ea typeface="Consolas"/>
                <a:cs typeface="Consolas"/>
              </a:rPr>
              <a:t>double kg;</a:t>
            </a:r>
            <a:endParaRPr lang="en-US" sz="3200" dirty="0"/>
          </a:p>
          <a:p>
            <a:pPr marL="0" indent="0" algn="l">
              <a:lnSpc>
                <a:spcPts val="4000"/>
              </a:lnSpc>
              <a:buNone/>
            </a:pPr>
            <a:r>
              <a:rPr lang="en-US" sz="3200" dirty="0">
                <a:solidFill>
                  <a:srgbClr val="FFFFFF"/>
                </a:solidFill>
                <a:latin typeface="Consolas"/>
                <a:ea typeface="Consolas"/>
                <a:cs typeface="Consolas"/>
              </a:rPr>
              <a:t>scanf("%lf", kg);</a:t>
            </a:r>
            <a:endParaRPr lang="en-US" sz="3200" dirty="0"/>
          </a:p>
        </p:txBody>
      </p:sp>
      <p:sp>
        <p:nvSpPr>
          <p:cNvPr id="16" name="Shape 16"/>
          <p:cNvSpPr/>
          <p:nvPr/>
        </p:nvSpPr>
        <p:spPr>
          <a:xfrm>
            <a:off x="6278728" y="1261872"/>
            <a:ext cx="5364328" cy="384048"/>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What it has to be</a:t>
            </a:r>
            <a:endParaRPr lang="en-US" sz="1800" dirty="0"/>
          </a:p>
        </p:txBody>
      </p:sp>
      <p:sp>
        <p:nvSpPr>
          <p:cNvPr id="17" name="Shape 17"/>
          <p:cNvSpPr/>
          <p:nvPr/>
        </p:nvSpPr>
        <p:spPr>
          <a:xfrm>
            <a:off x="6278728" y="1645920"/>
            <a:ext cx="5364328" cy="2905760"/>
          </a:xfrm>
          <a:prstGeom prst="rect">
            <a:avLst/>
          </a:prstGeom>
          <a:solidFill>
            <a:srgbClr val="0F172A"/>
          </a:solidFill>
          <a:ln>
            <a:noFill/>
          </a:ln>
        </p:spPr>
        <p:txBody>
          <a:bodyPr wrap="square" lIns="0" tIns="0" rIns="0" bIns="0" rtlCol="0" anchor="t"/>
          <a:lstStyle/>
          <a:p>
            <a:endParaRPr lang="en-US"/>
          </a:p>
        </p:txBody>
      </p:sp>
      <p:sp>
        <p:nvSpPr>
          <p:cNvPr id="18" name="Shape 18"/>
          <p:cNvSpPr/>
          <p:nvPr/>
        </p:nvSpPr>
        <p:spPr>
          <a:xfrm>
            <a:off x="6278728" y="2387600"/>
            <a:ext cx="5364328" cy="508000"/>
          </a:xfrm>
          <a:prstGeom prst="rect">
            <a:avLst/>
          </a:prstGeom>
          <a:solidFill>
            <a:srgbClr val="25406B"/>
          </a:solidFill>
          <a:ln>
            <a:noFill/>
          </a:ln>
        </p:spPr>
        <p:txBody>
          <a:bodyPr wrap="square" lIns="0" tIns="0" rIns="0" bIns="0" rtlCol="0" anchor="t"/>
          <a:lstStyle/>
          <a:p>
            <a:endParaRPr lang="en-US"/>
          </a:p>
        </p:txBody>
      </p:sp>
      <p:sp>
        <p:nvSpPr>
          <p:cNvPr id="19" name="Shape 19"/>
          <p:cNvSpPr/>
          <p:nvPr/>
        </p:nvSpPr>
        <p:spPr>
          <a:xfrm>
            <a:off x="6278728" y="2387600"/>
            <a:ext cx="82296" cy="508000"/>
          </a:xfrm>
          <a:prstGeom prst="rect">
            <a:avLst/>
          </a:prstGeom>
          <a:solidFill>
            <a:srgbClr val="F59E0B"/>
          </a:solidFill>
          <a:ln>
            <a:noFill/>
          </a:ln>
        </p:spPr>
        <p:txBody>
          <a:bodyPr wrap="square" lIns="0" tIns="0" rIns="0" bIns="0" rtlCol="0" anchor="t"/>
          <a:lstStyle/>
          <a:p>
            <a:endParaRPr lang="en-US"/>
          </a:p>
        </p:txBody>
      </p:sp>
      <p:sp>
        <p:nvSpPr>
          <p:cNvPr id="20" name="Shape 20"/>
          <p:cNvSpPr/>
          <p:nvPr/>
        </p:nvSpPr>
        <p:spPr>
          <a:xfrm>
            <a:off x="6278728" y="3911600"/>
            <a:ext cx="5364328" cy="508000"/>
          </a:xfrm>
          <a:prstGeom prst="rect">
            <a:avLst/>
          </a:prstGeom>
          <a:solidFill>
            <a:srgbClr val="25406B"/>
          </a:solidFill>
          <a:ln>
            <a:noFill/>
          </a:ln>
        </p:spPr>
        <p:txBody>
          <a:bodyPr wrap="square" lIns="0" tIns="0" rIns="0" bIns="0" rtlCol="0" anchor="t"/>
          <a:lstStyle/>
          <a:p>
            <a:endParaRPr lang="en-US"/>
          </a:p>
        </p:txBody>
      </p:sp>
      <p:sp>
        <p:nvSpPr>
          <p:cNvPr id="21" name="Shape 21"/>
          <p:cNvSpPr/>
          <p:nvPr/>
        </p:nvSpPr>
        <p:spPr>
          <a:xfrm>
            <a:off x="6278728" y="3911600"/>
            <a:ext cx="82296" cy="508000"/>
          </a:xfrm>
          <a:prstGeom prst="rect">
            <a:avLst/>
          </a:prstGeom>
          <a:solidFill>
            <a:srgbClr val="F59E0B"/>
          </a:solidFill>
          <a:ln>
            <a:noFill/>
          </a:ln>
        </p:spPr>
        <p:txBody>
          <a:bodyPr wrap="square" lIns="0" tIns="0" rIns="0" bIns="0" rtlCol="0" anchor="t"/>
          <a:lstStyle/>
          <a:p>
            <a:endParaRPr lang="en-US"/>
          </a:p>
        </p:txBody>
      </p:sp>
      <p:sp>
        <p:nvSpPr>
          <p:cNvPr id="22" name="Code"/>
          <p:cNvSpPr/>
          <p:nvPr/>
        </p:nvSpPr>
        <p:spPr>
          <a:xfrm>
            <a:off x="6278728" y="1645920"/>
            <a:ext cx="5364328" cy="2905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double price;</a:t>
            </a:r>
            <a:endParaRPr lang="en-US" sz="3200" dirty="0"/>
          </a:p>
          <a:p>
            <a:pPr marL="0" indent="0" algn="l">
              <a:lnSpc>
                <a:spcPts val="4000"/>
              </a:lnSpc>
              <a:buNone/>
            </a:pPr>
            <a:r>
              <a:rPr lang="en-US" sz="3200" dirty="0">
                <a:solidFill>
                  <a:srgbClr val="FFFFFF"/>
                </a:solidFill>
                <a:latin typeface="Consolas"/>
                <a:ea typeface="Consolas"/>
                <a:cs typeface="Consolas"/>
              </a:rPr>
              <a:t>scanf("%lf", &amp;price);</a:t>
            </a:r>
            <a:endParaRPr lang="en-US" sz="3200" dirty="0"/>
          </a:p>
          <a:p>
            <a:pPr marL="0" indent="0" algn="l">
              <a:lnSpc>
                <a:spcPts val="4000"/>
              </a:lnSpc>
              <a:buNone/>
            </a:pPr>
            <a:r>
              <a:rPr lang="en-US" sz="3200" dirty="0">
                <a:solidFill>
                  <a:srgbClr val="64748B"/>
                </a:solidFill>
                <a:latin typeface="Consolas"/>
                <a:ea typeface="Consolas"/>
                <a:cs typeface="Consolas"/>
              </a:rPr>
              <a:t> </a:t>
            </a:r>
            <a:endParaRPr lang="en-US" sz="3200" dirty="0"/>
          </a:p>
          <a:p>
            <a:pPr marL="0" indent="0" algn="l">
              <a:lnSpc>
                <a:spcPts val="4000"/>
              </a:lnSpc>
              <a:buNone/>
            </a:pPr>
            <a:r>
              <a:rPr lang="en-US" sz="3200" dirty="0">
                <a:solidFill>
                  <a:srgbClr val="64748B"/>
                </a:solidFill>
                <a:latin typeface="Consolas"/>
                <a:ea typeface="Consolas"/>
                <a:cs typeface="Consolas"/>
              </a:rPr>
              <a:t>double kg;</a:t>
            </a:r>
            <a:endParaRPr lang="en-US" sz="3200" dirty="0"/>
          </a:p>
          <a:p>
            <a:pPr marL="0" indent="0" algn="l">
              <a:lnSpc>
                <a:spcPts val="4000"/>
              </a:lnSpc>
              <a:buNone/>
            </a:pPr>
            <a:r>
              <a:rPr lang="en-US" sz="3200" dirty="0">
                <a:solidFill>
                  <a:srgbClr val="FFFFFF"/>
                </a:solidFill>
                <a:latin typeface="Consolas"/>
                <a:ea typeface="Consolas"/>
                <a:cs typeface="Consolas"/>
              </a:rPr>
              <a:t>scanf("%lf", &amp;kg);</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compiler did tell you</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Compile with </a:t>
            </a:r>
            <a:r>
              <a:rPr lang="en-US" sz="2400" dirty="0">
                <a:solidFill>
                  <a:srgbClr val="18324A"/>
                </a:solidFill>
                <a:latin typeface="Consolas"/>
                <a:ea typeface="Consolas"/>
                <a:cs typeface="Consolas"/>
              </a:rPr>
              <a:t>-Wall</a:t>
            </a:r>
            <a:r>
              <a:rPr lang="en-US" sz="2400" dirty="0">
                <a:solidFill>
                  <a:srgbClr val="18324A"/>
                </a:solidFill>
              </a:rPr>
              <a:t> and read what it says. This one was free to find.</a:t>
            </a:r>
            <a:endParaRPr lang="en-US" sz="2400" dirty="0"/>
          </a:p>
        </p:txBody>
      </p:sp>
      <p:sp>
        <p:nvSpPr>
          <p:cNvPr id="9" name="Shape 9"/>
          <p:cNvSpPr/>
          <p:nvPr/>
        </p:nvSpPr>
        <p:spPr>
          <a:xfrm>
            <a:off x="548640" y="1261872"/>
            <a:ext cx="5120640" cy="2905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003552"/>
            <a:ext cx="5120640" cy="508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003552"/>
            <a:ext cx="82296" cy="508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120640" cy="2905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double price;</a:t>
            </a:r>
            <a:endParaRPr lang="en-US" sz="3200" dirty="0"/>
          </a:p>
          <a:p>
            <a:pPr marL="0" indent="0" algn="l">
              <a:lnSpc>
                <a:spcPts val="4000"/>
              </a:lnSpc>
              <a:buNone/>
            </a:pPr>
            <a:r>
              <a:rPr lang="en-US" sz="3200" dirty="0">
                <a:solidFill>
                  <a:srgbClr val="FFFFFF"/>
                </a:solidFill>
                <a:latin typeface="Consolas"/>
                <a:ea typeface="Consolas"/>
                <a:cs typeface="Consolas"/>
              </a:rPr>
              <a:t>scanf("%f", &amp;price);</a:t>
            </a:r>
            <a:endParaRPr lang="en-US" sz="3200" dirty="0"/>
          </a:p>
          <a:p>
            <a:pPr marL="0" indent="0" algn="l">
              <a:lnSpc>
                <a:spcPts val="4000"/>
              </a:lnSpc>
              <a:buNone/>
            </a:pPr>
            <a:r>
              <a:rPr lang="en-US" sz="3200" dirty="0">
                <a:solidFill>
                  <a:srgbClr val="64748B"/>
                </a:solidFill>
                <a:latin typeface="Consolas"/>
                <a:ea typeface="Consolas"/>
                <a:cs typeface="Consolas"/>
              </a:rPr>
              <a:t> </a:t>
            </a:r>
            <a:endParaRPr lang="en-US" sz="3200" dirty="0"/>
          </a:p>
          <a:p>
            <a:pPr marL="0" indent="0" algn="l">
              <a:lnSpc>
                <a:spcPts val="4000"/>
              </a:lnSpc>
              <a:buNone/>
            </a:pPr>
            <a:r>
              <a:rPr lang="en-US" sz="3200" dirty="0">
                <a:solidFill>
                  <a:srgbClr val="64748B"/>
                </a:solidFill>
                <a:latin typeface="Consolas"/>
                <a:ea typeface="Consolas"/>
                <a:cs typeface="Consolas"/>
              </a:rPr>
              <a:t>double kg;</a:t>
            </a:r>
            <a:endParaRPr lang="en-US" sz="3200" dirty="0"/>
          </a:p>
          <a:p>
            <a:pPr marL="0" indent="0" algn="l">
              <a:lnSpc>
                <a:spcPts val="4000"/>
              </a:lnSpc>
              <a:buNone/>
            </a:pPr>
            <a:r>
              <a:rPr lang="en-US" sz="3200" dirty="0">
                <a:solidFill>
                  <a:srgbClr val="64748B"/>
                </a:solidFill>
                <a:latin typeface="Consolas"/>
                <a:ea typeface="Consolas"/>
                <a:cs typeface="Consolas"/>
              </a:rPr>
              <a:t>scanf("%lf", kg);</a:t>
            </a:r>
            <a:endParaRPr lang="en-US" sz="3200" dirty="0"/>
          </a:p>
        </p:txBody>
      </p:sp>
      <p:sp>
        <p:nvSpPr>
          <p:cNvPr id="13" name="Shape 13"/>
          <p:cNvSpPr/>
          <p:nvPr/>
        </p:nvSpPr>
        <p:spPr>
          <a:xfrm>
            <a:off x="5943600" y="1261872"/>
            <a:ext cx="569945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gcc -Wall says</a:t>
            </a:r>
            <a:endParaRPr lang="en-US" sz="1600" dirty="0"/>
          </a:p>
        </p:txBody>
      </p:sp>
      <p:sp>
        <p:nvSpPr>
          <p:cNvPr id="14" name="Shape 14"/>
          <p:cNvSpPr/>
          <p:nvPr/>
        </p:nvSpPr>
        <p:spPr>
          <a:xfrm>
            <a:off x="5943600" y="1645920"/>
            <a:ext cx="5699455" cy="1413510"/>
          </a:xfrm>
          <a:prstGeom prst="rect">
            <a:avLst/>
          </a:prstGeom>
          <a:solidFill>
            <a:srgbClr val="000000"/>
          </a:solidFill>
          <a:ln>
            <a:noFill/>
          </a:ln>
        </p:spPr>
        <p:txBody>
          <a:bodyPr wrap="square" lIns="0" tIns="0" rIns="0" bIns="0" rtlCol="0" anchor="t"/>
          <a:lstStyle/>
          <a:p>
            <a:endParaRPr lang="en-US"/>
          </a:p>
        </p:txBody>
      </p:sp>
      <p:sp>
        <p:nvSpPr>
          <p:cNvPr id="15" name="Code"/>
          <p:cNvSpPr/>
          <p:nvPr/>
        </p:nvSpPr>
        <p:spPr>
          <a:xfrm>
            <a:off x="5943600" y="1645920"/>
            <a:ext cx="5699455" cy="1413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D1FAE5"/>
                </a:solidFill>
                <a:latin typeface="Consolas"/>
                <a:ea typeface="Consolas"/>
                <a:cs typeface="Consolas"/>
              </a:rPr>
              <a:t>warning: format '%f' expects</a:t>
            </a:r>
            <a:endParaRPr lang="en-US" sz="2200" dirty="0"/>
          </a:p>
          <a:p>
            <a:pPr marL="0" indent="0" algn="l">
              <a:lnSpc>
                <a:spcPts val="2750"/>
              </a:lnSpc>
              <a:buNone/>
            </a:pPr>
            <a:r>
              <a:rPr lang="en-US" sz="2200" dirty="0">
                <a:solidFill>
                  <a:srgbClr val="D1FAE5"/>
                </a:solidFill>
                <a:latin typeface="Consolas"/>
                <a:ea typeface="Consolas"/>
                <a:cs typeface="Consolas"/>
              </a:rPr>
              <a:t>argument of type 'float *',</a:t>
            </a:r>
            <a:endParaRPr lang="en-US" sz="2200" dirty="0"/>
          </a:p>
          <a:p>
            <a:pPr marL="0" indent="0" algn="l">
              <a:lnSpc>
                <a:spcPts val="2750"/>
              </a:lnSpc>
              <a:buNone/>
            </a:pPr>
            <a:r>
              <a:rPr lang="en-US" sz="2200" dirty="0">
                <a:solidFill>
                  <a:srgbClr val="D1FAE5"/>
                </a:solidFill>
                <a:latin typeface="Consolas"/>
                <a:ea typeface="Consolas"/>
                <a:cs typeface="Consolas"/>
              </a:rPr>
              <a:t>but argument 2 has type 'double *'</a:t>
            </a:r>
            <a:endParaRPr lang="en-US" sz="2200" dirty="0"/>
          </a:p>
        </p:txBody>
      </p:sp>
      <p:sp>
        <p:nvSpPr>
          <p:cNvPr id="16" name="Shape 16"/>
          <p:cNvSpPr/>
          <p:nvPr/>
        </p:nvSpPr>
        <p:spPr>
          <a:xfrm>
            <a:off x="5943600" y="3333750"/>
            <a:ext cx="569945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7" name="Shape 17"/>
          <p:cNvSpPr/>
          <p:nvPr/>
        </p:nvSpPr>
        <p:spPr>
          <a:xfrm>
            <a:off x="5943600" y="3333750"/>
            <a:ext cx="109728" cy="685800"/>
          </a:xfrm>
          <a:prstGeom prst="rect">
            <a:avLst/>
          </a:prstGeom>
          <a:solidFill>
            <a:srgbClr val="F59E0B"/>
          </a:solidFill>
          <a:ln>
            <a:noFill/>
          </a:ln>
        </p:spPr>
        <p:txBody>
          <a:bodyPr wrap="square" lIns="0" tIns="0" rIns="0" bIns="0" rtlCol="0" anchor="t"/>
          <a:lstStyle/>
          <a:p>
            <a:endParaRPr lang="en-US"/>
          </a:p>
        </p:txBody>
      </p:sp>
      <p:sp>
        <p:nvSpPr>
          <p:cNvPr id="18" name="Callout"/>
          <p:cNvSpPr/>
          <p:nvPr/>
        </p:nvSpPr>
        <p:spPr>
          <a:xfrm>
            <a:off x="6053328" y="3333750"/>
            <a:ext cx="558972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still builds.</a:t>
            </a:r>
            <a:endParaRPr lang="en-US" sz="2400" dirty="0"/>
          </a:p>
        </p:txBody>
      </p:sp>
      <p:sp>
        <p:nvSpPr>
          <p:cNvPr id="19" name="Shape 19"/>
          <p:cNvSpPr/>
          <p:nvPr/>
        </p:nvSpPr>
        <p:spPr>
          <a:xfrm>
            <a:off x="5943600" y="4220718"/>
            <a:ext cx="5699455" cy="68580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20" name="Shape 20"/>
          <p:cNvSpPr/>
          <p:nvPr/>
        </p:nvSpPr>
        <p:spPr>
          <a:xfrm>
            <a:off x="5943600" y="4220718"/>
            <a:ext cx="109728" cy="685800"/>
          </a:xfrm>
          <a:prstGeom prst="rect">
            <a:avLst/>
          </a:prstGeom>
          <a:solidFill>
            <a:srgbClr val="FF6B6B"/>
          </a:solidFill>
          <a:ln>
            <a:noFill/>
          </a:ln>
        </p:spPr>
        <p:txBody>
          <a:bodyPr wrap="square" lIns="0" tIns="0" rIns="0" bIns="0" rtlCol="0" anchor="t"/>
          <a:lstStyle/>
          <a:p>
            <a:endParaRPr lang="en-US"/>
          </a:p>
        </p:txBody>
      </p:sp>
      <p:sp>
        <p:nvSpPr>
          <p:cNvPr id="21" name="Callout"/>
          <p:cNvSpPr/>
          <p:nvPr/>
        </p:nvSpPr>
        <p:spPr>
          <a:xfrm>
            <a:off x="6053328" y="4220718"/>
            <a:ext cx="558972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printed </a:t>
            </a:r>
            <a:r>
              <a:rPr lang="en-US" sz="2400" dirty="0">
                <a:solidFill>
                  <a:srgbClr val="18324A"/>
                </a:solidFill>
                <a:latin typeface="Consolas"/>
                <a:ea typeface="Consolas"/>
                <a:cs typeface="Consolas"/>
              </a:rPr>
              <a:t>Total: 0.00</a:t>
            </a:r>
            <a:r>
              <a:rPr lang="en-US" sz="2400" dirty="0">
                <a:solidFill>
                  <a:srgbClr val="18324A"/>
                </a:solidFill>
              </a:rPr>
              <a: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Mistake 3: the small things that stop a program</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Every statement ends with </a:t>
            </a:r>
            <a:r>
              <a:rPr lang="en-US" sz="2800" dirty="0">
                <a:solidFill>
                  <a:srgbClr val="2F80ED"/>
                </a:solidFill>
                <a:latin typeface="Consolas"/>
                <a:ea typeface="Consolas"/>
                <a:cs typeface="Consolas"/>
              </a:rPr>
              <a:t>;</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main</a:t>
            </a:r>
            <a:r>
              <a:rPr lang="en-US" sz="2800" dirty="0">
                <a:solidFill>
                  <a:srgbClr val="18324A"/>
                </a:solidFill>
              </a:rPr>
              <a:t> ends with </a:t>
            </a:r>
            <a:r>
              <a:rPr lang="en-US" sz="2800" dirty="0">
                <a:solidFill>
                  <a:srgbClr val="2F80ED"/>
                </a:solidFill>
                <a:latin typeface="Consolas"/>
                <a:ea typeface="Consolas"/>
                <a:cs typeface="Consolas"/>
              </a:rPr>
              <a:t>return 0;</a:t>
            </a:r>
            <a:r>
              <a:rPr lang="en-US" sz="2800" dirty="0">
                <a:solidFill>
                  <a:srgbClr val="18324A"/>
                </a:solidFill>
              </a:rPr>
              <a:t> and a closing </a:t>
            </a:r>
            <a:r>
              <a:rPr lang="en-US" sz="2800" dirty="0">
                <a:solidFill>
                  <a:srgbClr val="2F80ED"/>
                </a:solidFill>
                <a:latin typeface="Consolas"/>
                <a:ea typeface="Consolas"/>
                <a:cs typeface="Consolas"/>
              </a:rPr>
              <a:t>}</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It is </a:t>
            </a:r>
            <a:r>
              <a:rPr lang="en-US" sz="2800" dirty="0">
                <a:solidFill>
                  <a:srgbClr val="2F80ED"/>
                </a:solidFill>
                <a:latin typeface="Consolas"/>
                <a:ea typeface="Consolas"/>
                <a:cs typeface="Consolas"/>
              </a:rPr>
              <a:t>#include &lt;stdio.h&gt;</a:t>
            </a:r>
            <a:r>
              <a:rPr lang="en-US" sz="2800" dirty="0">
                <a:solidFill>
                  <a:srgbClr val="18324A"/>
                </a:solidFill>
              </a:rPr>
              <a:t> — not </a:t>
            </a:r>
            <a:r>
              <a:rPr lang="en-US" sz="2800" dirty="0">
                <a:solidFill>
                  <a:srgbClr val="2F80ED"/>
                </a:solidFill>
                <a:latin typeface="Consolas"/>
                <a:ea typeface="Consolas"/>
                <a:cs typeface="Consolas"/>
              </a:rPr>
              <a:t>studio.h</a:t>
            </a:r>
            <a:r>
              <a:rPr lang="en-US" sz="2800" dirty="0">
                <a:solidFill>
                  <a:srgbClr val="18324A"/>
                </a:solidFill>
              </a:rPr>
              <a:t>, not </a:t>
            </a:r>
            <a:r>
              <a:rPr lang="en-US" sz="2800" dirty="0">
                <a:solidFill>
                  <a:srgbClr val="2F80ED"/>
                </a:solidFill>
                <a:latin typeface="Consolas"/>
                <a:ea typeface="Consolas"/>
                <a:cs typeface="Consolas"/>
              </a:rPr>
              <a:t># insert</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C is case sensitive: </a:t>
            </a:r>
            <a:r>
              <a:rPr lang="en-US" sz="2800" dirty="0">
                <a:solidFill>
                  <a:srgbClr val="2F80ED"/>
                </a:solidFill>
                <a:latin typeface="Consolas"/>
                <a:ea typeface="Consolas"/>
                <a:cs typeface="Consolas"/>
              </a:rPr>
              <a:t>printf</a:t>
            </a:r>
            <a:r>
              <a:rPr lang="en-US" sz="2800" dirty="0">
                <a:solidFill>
                  <a:srgbClr val="18324A"/>
                </a:solidFill>
              </a:rPr>
              <a:t>, never </a:t>
            </a:r>
            <a:r>
              <a:rPr lang="en-US" sz="2800" dirty="0">
                <a:solidFill>
                  <a:srgbClr val="2F80ED"/>
                </a:solidFill>
                <a:latin typeface="Consolas"/>
                <a:ea typeface="Consolas"/>
                <a:cs typeface="Consolas"/>
              </a:rPr>
              <a:t>Printf</a:t>
            </a:r>
            <a:endParaRPr lang="en-US" sz="2800" dirty="0"/>
          </a:p>
        </p:txBody>
      </p:sp>
      <p:sp>
        <p:nvSpPr>
          <p:cNvPr id="14" name="Shape 14"/>
          <p:cNvSpPr/>
          <p:nvPr/>
        </p:nvSpPr>
        <p:spPr>
          <a:xfrm>
            <a:off x="548640" y="5486400"/>
            <a:ext cx="11094415" cy="77724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548640" y="5486400"/>
            <a:ext cx="109728" cy="77724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658368" y="5486400"/>
            <a:ext cx="10984687" cy="77724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Each of these is half a point. The compiler finds every one of them for you.</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All three come back today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a:t>
            </a:r>
            <a:endParaRPr lang="en-US" sz="1400" dirty="0"/>
          </a:p>
        </p:txBody>
      </p:sp>
      <p:sp>
        <p:nvSpPr>
          <p:cNvPr id="6" name="Shape 6"/>
          <p:cNvSpPr/>
          <p:nvPr/>
        </p:nvSpPr>
        <p:spPr>
          <a:xfrm>
            <a:off x="548640" y="1399032"/>
            <a:ext cx="109728" cy="1402080"/>
          </a:xfrm>
          <a:prstGeom prst="rect">
            <a:avLst/>
          </a:prstGeom>
          <a:solidFill>
            <a:srgbClr val="31C48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Every loop you write today reads a number, counts, and prints a result.</a:t>
            </a:r>
            <a:endParaRPr lang="en-US" sz="4000" dirty="0"/>
          </a:p>
        </p:txBody>
      </p:sp>
      <p:sp>
        <p:nvSpPr>
          <p:cNvPr id="8" name="Shape 8"/>
          <p:cNvSpPr/>
          <p:nvPr/>
        </p:nvSpPr>
        <p:spPr>
          <a:xfrm>
            <a:off x="914400" y="3212592"/>
            <a:ext cx="10728655" cy="18288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The same </a:t>
            </a:r>
            <a:r>
              <a:rPr lang="en-US" sz="3000" dirty="0">
                <a:solidFill>
                  <a:srgbClr val="2F80ED"/>
                </a:solidFill>
                <a:latin typeface="Consolas"/>
                <a:ea typeface="Consolas"/>
                <a:cs typeface="Consolas"/>
              </a:rPr>
              <a:t>scanf</a:t>
            </a:r>
            <a:r>
              <a:rPr lang="en-US" sz="3000" dirty="0">
                <a:solidFill>
                  <a:srgbClr val="18324A"/>
                </a:solidFill>
              </a:rPr>
              <a:t>. The same </a:t>
            </a:r>
            <a:r>
              <a:rPr lang="en-US" sz="3000" dirty="0">
                <a:solidFill>
                  <a:srgbClr val="2F80ED"/>
                </a:solidFill>
                <a:latin typeface="Consolas"/>
                <a:ea typeface="Consolas"/>
                <a:cs typeface="Consolas"/>
              </a:rPr>
              <a:t>%.2f</a:t>
            </a:r>
            <a:r>
              <a:rPr lang="en-US" sz="3000" dirty="0">
                <a:solidFill>
                  <a:srgbClr val="18324A"/>
                </a:solidFill>
              </a:rPr>
              <a:t>. The same </a:t>
            </a:r>
            <a:r>
              <a:rPr lang="en-US" sz="3000" dirty="0">
                <a:solidFill>
                  <a:srgbClr val="2F80ED"/>
                </a:solidFill>
                <a:latin typeface="Consolas"/>
                <a:ea typeface="Consolas"/>
                <a:cs typeface="Consolas"/>
              </a:rPr>
              <a:t>;</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A quiz is small. Its job is to tell you </a:t>
            </a:r>
            <a:r>
              <a:rPr lang="en-US" sz="3000" b="1" dirty="0">
                <a:solidFill>
                  <a:srgbClr val="18324A"/>
                </a:solidFill>
              </a:rPr>
              <a:t>early</a:t>
            </a:r>
            <a:r>
              <a:rPr lang="en-US" sz="3000" dirty="0">
                <a:solidFill>
                  <a:srgbClr val="18324A"/>
                </a:solidFill>
              </a:rPr>
              <a:t> what to practise.</a:t>
            </a:r>
            <a:endParaRPr lang="en-US" sz="3000" dirty="0"/>
          </a:p>
        </p:txBody>
      </p:sp>
      <p:sp>
        <p:nvSpPr>
          <p:cNvPr id="9" name="Shape 9"/>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0" name="Shape 10"/>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11"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practice test on Blackboard asks the same kind of question, as often as you like.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Today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a:t>
            </a:r>
            <a:endParaRPr lang="en-US" sz="1400" dirty="0"/>
          </a:p>
        </p:txBody>
      </p:sp>
      <p:sp>
        <p:nvSpPr>
          <p:cNvPr id="6" name="Shape 6"/>
          <p:cNvSpPr/>
          <p:nvPr/>
        </p:nvSpPr>
        <p:spPr>
          <a:xfrm>
            <a:off x="731520" y="1307592"/>
            <a:ext cx="488061" cy="488061"/>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539621" y="1307592"/>
            <a:ext cx="10057714" cy="488061"/>
          </a:xfrm>
          <a:prstGeom prst="rect">
            <a:avLst/>
          </a:prstGeom>
          <a:noFill/>
          <a:ln>
            <a:noFill/>
          </a:ln>
        </p:spPr>
        <p:txBody>
          <a:bodyPr wrap="square" lIns="0" tIns="0" rIns="0" bIns="0" rtlCol="0" anchor="ctr"/>
          <a:lstStyle/>
          <a:p>
            <a:pPr marL="0" indent="0" algn="l">
              <a:buNone/>
            </a:pPr>
            <a:r>
              <a:rPr lang="en-US" sz="2800" dirty="0">
                <a:solidFill>
                  <a:srgbClr val="18324A"/>
                </a:solidFill>
              </a:rPr>
              <a:t>Why loops exist</a:t>
            </a:r>
            <a:endParaRPr lang="en-US" sz="2800" dirty="0"/>
          </a:p>
        </p:txBody>
      </p:sp>
      <p:sp>
        <p:nvSpPr>
          <p:cNvPr id="8" name="Shape 8"/>
          <p:cNvSpPr/>
          <p:nvPr/>
        </p:nvSpPr>
        <p:spPr>
          <a:xfrm>
            <a:off x="731520" y="1932813"/>
            <a:ext cx="488061" cy="488061"/>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539621" y="1932813"/>
            <a:ext cx="10057714" cy="488061"/>
          </a:xfrm>
          <a:prstGeom prst="rect">
            <a:avLst/>
          </a:prstGeom>
          <a:noFill/>
          <a:ln>
            <a:noFill/>
          </a:ln>
        </p:spPr>
        <p:txBody>
          <a:bodyPr wrap="square" lIns="0" tIns="0" rIns="0" bIns="0" rtlCol="0" anchor="ctr"/>
          <a:lstStyle/>
          <a:p>
            <a:pPr marL="0" indent="0" algn="l">
              <a:buNone/>
            </a:pPr>
            <a:r>
              <a:rPr lang="en-US" sz="2800" dirty="0">
                <a:solidFill>
                  <a:srgbClr val="18324A"/>
                </a:solidFill>
              </a:rPr>
              <a:t>The four parts of a loop</a:t>
            </a:r>
            <a:endParaRPr lang="en-US" sz="2800" dirty="0"/>
          </a:p>
        </p:txBody>
      </p:sp>
      <p:sp>
        <p:nvSpPr>
          <p:cNvPr id="10" name="Shape 10"/>
          <p:cNvSpPr/>
          <p:nvPr/>
        </p:nvSpPr>
        <p:spPr>
          <a:xfrm>
            <a:off x="731520" y="2558034"/>
            <a:ext cx="488061" cy="488061"/>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539621" y="2558034"/>
            <a:ext cx="10057714" cy="488061"/>
          </a:xfrm>
          <a:prstGeom prst="rect">
            <a:avLst/>
          </a:prstGeom>
          <a:noFill/>
          <a:ln>
            <a:noFill/>
          </a:ln>
        </p:spPr>
        <p:txBody>
          <a:bodyPr wrap="square" lIns="0" tIns="0" rIns="0" bIns="0" rtlCol="0" anchor="ctr"/>
          <a:lstStyle/>
          <a:p>
            <a:pPr marL="0" indent="0" algn="l">
              <a:buNone/>
            </a:pPr>
            <a:r>
              <a:rPr lang="en-US" sz="2800" dirty="0">
                <a:solidFill>
                  <a:srgbClr val="18324A"/>
                </a:solidFill>
              </a:rPr>
              <a:t>The </a:t>
            </a:r>
            <a:r>
              <a:rPr lang="en-US" sz="2800" dirty="0">
                <a:solidFill>
                  <a:srgbClr val="2F80ED"/>
                </a:solidFill>
                <a:latin typeface="Consolas"/>
                <a:ea typeface="Consolas"/>
                <a:cs typeface="Consolas"/>
              </a:rPr>
              <a:t>while</a:t>
            </a:r>
            <a:r>
              <a:rPr lang="en-US" sz="2800" dirty="0">
                <a:solidFill>
                  <a:srgbClr val="18324A"/>
                </a:solidFill>
              </a:rPr>
              <a:t> loop</a:t>
            </a:r>
            <a:endParaRPr lang="en-US" sz="2800" dirty="0"/>
          </a:p>
        </p:txBody>
      </p:sp>
      <p:sp>
        <p:nvSpPr>
          <p:cNvPr id="12" name="Shape 12"/>
          <p:cNvSpPr/>
          <p:nvPr/>
        </p:nvSpPr>
        <p:spPr>
          <a:xfrm>
            <a:off x="731520" y="3183255"/>
            <a:ext cx="488061" cy="488061"/>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539621" y="3183255"/>
            <a:ext cx="10057714" cy="488061"/>
          </a:xfrm>
          <a:prstGeom prst="rect">
            <a:avLst/>
          </a:prstGeom>
          <a:noFill/>
          <a:ln>
            <a:noFill/>
          </a:ln>
        </p:spPr>
        <p:txBody>
          <a:bodyPr wrap="square" lIns="0" tIns="0" rIns="0" bIns="0" rtlCol="0" anchor="ctr"/>
          <a:lstStyle/>
          <a:p>
            <a:pPr marL="0" indent="0" algn="l">
              <a:buNone/>
            </a:pPr>
            <a:r>
              <a:rPr lang="en-US" sz="2800" dirty="0">
                <a:solidFill>
                  <a:srgbClr val="18324A"/>
                </a:solidFill>
              </a:rPr>
              <a:t>Tracing a loop with a pen</a:t>
            </a:r>
            <a:endParaRPr lang="en-US" sz="2800" dirty="0"/>
          </a:p>
        </p:txBody>
      </p:sp>
      <p:sp>
        <p:nvSpPr>
          <p:cNvPr id="14" name="Shape 14"/>
          <p:cNvSpPr/>
          <p:nvPr/>
        </p:nvSpPr>
        <p:spPr>
          <a:xfrm>
            <a:off x="731520" y="3808476"/>
            <a:ext cx="488061" cy="488061"/>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539621" y="3808476"/>
            <a:ext cx="10057714" cy="488061"/>
          </a:xfrm>
          <a:prstGeom prst="rect">
            <a:avLst/>
          </a:prstGeom>
          <a:noFill/>
          <a:ln>
            <a:noFill/>
          </a:ln>
        </p:spPr>
        <p:txBody>
          <a:bodyPr wrap="square" lIns="0" tIns="0" rIns="0" bIns="0" rtlCol="0" anchor="ctr"/>
          <a:lstStyle/>
          <a:p>
            <a:pPr marL="0" indent="0" algn="l">
              <a:buNone/>
            </a:pPr>
            <a:r>
              <a:rPr lang="en-US" sz="2800" dirty="0">
                <a:solidFill>
                  <a:srgbClr val="18324A"/>
                </a:solidFill>
              </a:rPr>
              <a:t>The loop that never stops</a:t>
            </a:r>
            <a:endParaRPr lang="en-US" sz="2800" dirty="0"/>
          </a:p>
        </p:txBody>
      </p:sp>
      <p:sp>
        <p:nvSpPr>
          <p:cNvPr id="16" name="Shape 16"/>
          <p:cNvSpPr/>
          <p:nvPr/>
        </p:nvSpPr>
        <p:spPr>
          <a:xfrm>
            <a:off x="731520" y="4433697"/>
            <a:ext cx="488061" cy="488061"/>
          </a:xfrm>
          <a:prstGeom prst="rect">
            <a:avLst/>
          </a:prstGeom>
          <a:solidFill>
            <a:srgbClr val="06B6D4"/>
          </a:solidFill>
          <a:ln>
            <a:noFill/>
          </a:ln>
        </p:spPr>
        <p:txBody>
          <a:bodyPr wrap="square" lIns="0" tIns="0" rIns="0" bIns="0" rtlCol="0" anchor="ctr"/>
          <a:lstStyle/>
          <a:p>
            <a:pPr marL="0" indent="0" algn="ctr">
              <a:buNone/>
            </a:pPr>
            <a:r>
              <a:rPr lang="en-US" sz="2400" b="1" dirty="0">
                <a:solidFill>
                  <a:srgbClr val="FFFFFF"/>
                </a:solidFill>
              </a:rPr>
              <a:t>6</a:t>
            </a:r>
            <a:endParaRPr lang="en-US" sz="2400" dirty="0"/>
          </a:p>
        </p:txBody>
      </p:sp>
      <p:sp>
        <p:nvSpPr>
          <p:cNvPr id="17" name="Shape 17"/>
          <p:cNvSpPr/>
          <p:nvPr/>
        </p:nvSpPr>
        <p:spPr>
          <a:xfrm>
            <a:off x="1539621" y="4433697"/>
            <a:ext cx="10057714" cy="488061"/>
          </a:xfrm>
          <a:prstGeom prst="rect">
            <a:avLst/>
          </a:prstGeom>
          <a:noFill/>
          <a:ln>
            <a:noFill/>
          </a:ln>
        </p:spPr>
        <p:txBody>
          <a:bodyPr wrap="square" lIns="0" tIns="0" rIns="0" bIns="0" rtlCol="0" anchor="ctr"/>
          <a:lstStyle/>
          <a:p>
            <a:pPr marL="0" indent="0" algn="l">
              <a:buNone/>
            </a:pPr>
            <a:r>
              <a:rPr lang="en-US" sz="2800" dirty="0">
                <a:solidFill>
                  <a:srgbClr val="18324A"/>
                </a:solidFill>
              </a:rPr>
              <a:t>The </a:t>
            </a:r>
            <a:r>
              <a:rPr lang="en-US" sz="2800" dirty="0">
                <a:solidFill>
                  <a:srgbClr val="2F80ED"/>
                </a:solidFill>
                <a:latin typeface="Consolas"/>
                <a:ea typeface="Consolas"/>
                <a:cs typeface="Consolas"/>
              </a:rPr>
              <a:t>for</a:t>
            </a:r>
            <a:r>
              <a:rPr lang="en-US" sz="2800" dirty="0">
                <a:solidFill>
                  <a:srgbClr val="18324A"/>
                </a:solidFill>
              </a:rPr>
              <a:t> loop</a:t>
            </a:r>
            <a:endParaRPr lang="en-US" sz="2800" dirty="0"/>
          </a:p>
        </p:txBody>
      </p:sp>
      <p:sp>
        <p:nvSpPr>
          <p:cNvPr id="18" name="Shape 18"/>
          <p:cNvSpPr/>
          <p:nvPr/>
        </p:nvSpPr>
        <p:spPr>
          <a:xfrm>
            <a:off x="731520" y="5058918"/>
            <a:ext cx="488061" cy="488061"/>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7</a:t>
            </a:r>
            <a:endParaRPr lang="en-US" sz="2400" dirty="0"/>
          </a:p>
        </p:txBody>
      </p:sp>
      <p:sp>
        <p:nvSpPr>
          <p:cNvPr id="19" name="Shape 19"/>
          <p:cNvSpPr/>
          <p:nvPr/>
        </p:nvSpPr>
        <p:spPr>
          <a:xfrm>
            <a:off x="1539621" y="5058918"/>
            <a:ext cx="10057714" cy="488061"/>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a:t>
            </a:r>
            <a:r>
              <a:rPr lang="en-US" sz="2800" dirty="0">
                <a:solidFill>
                  <a:srgbClr val="18324A"/>
                </a:solidFill>
              </a:rPr>
              <a:t> and </a:t>
            </a:r>
            <a:r>
              <a:rPr lang="en-US" sz="2800" dirty="0">
                <a:solidFill>
                  <a:srgbClr val="2F80ED"/>
                </a:solidFill>
                <a:latin typeface="Consolas"/>
                <a:ea typeface="Consolas"/>
                <a:cs typeface="Consolas"/>
              </a:rPr>
              <a:t>--</a:t>
            </a:r>
            <a:endParaRPr lang="en-US" sz="2800" dirty="0"/>
          </a:p>
        </p:txBody>
      </p:sp>
      <p:sp>
        <p:nvSpPr>
          <p:cNvPr id="20" name="Shape 20"/>
          <p:cNvSpPr/>
          <p:nvPr/>
        </p:nvSpPr>
        <p:spPr>
          <a:xfrm>
            <a:off x="731520" y="5684139"/>
            <a:ext cx="488061" cy="488061"/>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8</a:t>
            </a:r>
            <a:endParaRPr lang="en-US" sz="2400" dirty="0"/>
          </a:p>
        </p:txBody>
      </p:sp>
      <p:sp>
        <p:nvSpPr>
          <p:cNvPr id="21" name="Shape 21"/>
          <p:cNvSpPr/>
          <p:nvPr/>
        </p:nvSpPr>
        <p:spPr>
          <a:xfrm>
            <a:off x="1539621" y="5684139"/>
            <a:ext cx="10057714" cy="488061"/>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a:t>
            </a:r>
            <a:r>
              <a:rPr lang="en-US" sz="2800" dirty="0">
                <a:solidFill>
                  <a:srgbClr val="18324A"/>
                </a:solidFill>
              </a:rPr>
              <a:t>, </a:t>
            </a:r>
            <a:r>
              <a:rPr lang="en-US" sz="2800" dirty="0">
                <a:solidFill>
                  <a:srgbClr val="2F80ED"/>
                </a:solidFill>
                <a:latin typeface="Consolas"/>
                <a:ea typeface="Consolas"/>
                <a:cs typeface="Consolas"/>
              </a:rPr>
              <a:t>-=</a:t>
            </a:r>
            <a:r>
              <a:rPr lang="en-US" sz="2800" dirty="0">
                <a:solidFill>
                  <a:srgbClr val="18324A"/>
                </a:solidFill>
              </a:rPr>
              <a:t>, </a:t>
            </a:r>
            <a:r>
              <a:rPr lang="en-US" sz="2800" dirty="0">
                <a:solidFill>
                  <a:srgbClr val="2F80ED"/>
                </a:solidFill>
                <a:latin typeface="Consolas"/>
                <a:ea typeface="Consolas"/>
                <a:cs typeface="Consolas"/>
              </a:rPr>
              <a:t>*=</a:t>
            </a:r>
            <a:r>
              <a:rPr lang="en-US" sz="2800" dirty="0">
                <a:solidFill>
                  <a:srgbClr val="18324A"/>
                </a:solidFill>
              </a:rPr>
              <a:t>, </a:t>
            </a:r>
            <a:r>
              <a:rPr lang="en-US" sz="2800" dirty="0">
                <a:solidFill>
                  <a:srgbClr val="2F80ED"/>
                </a:solidFill>
                <a:latin typeface="Consolas"/>
                <a:ea typeface="Consolas"/>
                <a:cs typeface="Consolas"/>
              </a:rPr>
              <a:t>/=</a:t>
            </a:r>
            <a:r>
              <a:rPr lang="en-US" sz="2800" dirty="0">
                <a:solidFill>
                  <a:srgbClr val="18324A"/>
                </a:solidFill>
              </a:rPr>
              <a:t>, </a:t>
            </a:r>
            <a:r>
              <a:rPr lang="en-US" sz="2800" dirty="0">
                <a:solidFill>
                  <a:srgbClr val="2F80ED"/>
                </a:solidFill>
                <a:latin typeface="Consolas"/>
                <a:ea typeface="Consolas"/>
                <a:cs typeface="Consolas"/>
              </a:rPr>
              <a:t>%=</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2F80ED"/>
          </a:solidFill>
          <a:ln>
            <a:noFill/>
          </a:ln>
        </p:spPr>
        <p:txBody>
          <a:bodyPr wrap="square" lIns="0" tIns="0" rIns="0" bIns="0" rtlCol="0" anchor="ctr"/>
          <a:lstStyle/>
          <a:p>
            <a:pPr marL="0" indent="0" algn="ctr">
              <a:buNone/>
            </a:pPr>
            <a:r>
              <a:rPr lang="en-US" sz="5400" b="1" dirty="0">
                <a:solidFill>
                  <a:srgbClr val="FFFFFF"/>
                </a:solidFill>
              </a:rPr>
              <a:t>1</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Why loops exist</a:t>
            </a:r>
            <a:endParaRPr lang="en-US" sz="4800" dirty="0"/>
          </a:p>
        </p:txBody>
      </p:sp>
      <p:sp>
        <p:nvSpPr>
          <p:cNvPr id="4" name="Shape 4"/>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From choosing to repeating</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11</a:t>
            </a:r>
            <a:endParaRPr lang="en-US" sz="1400" dirty="0"/>
          </a:p>
        </p:txBody>
      </p:sp>
      <p:sp>
        <p:nvSpPr>
          <p:cNvPr id="6" name="Shape 6"/>
          <p:cNvSpPr/>
          <p:nvPr/>
        </p:nvSpPr>
        <p:spPr>
          <a:xfrm>
            <a:off x="548640" y="1399032"/>
            <a:ext cx="109728" cy="7924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Last week your program learned to choose.</a:t>
            </a:r>
            <a:endParaRPr lang="en-US" sz="4000" dirty="0"/>
          </a:p>
        </p:txBody>
      </p:sp>
      <p:sp>
        <p:nvSpPr>
          <p:cNvPr id="8" name="Shape 8"/>
          <p:cNvSpPr/>
          <p:nvPr/>
        </p:nvSpPr>
        <p:spPr>
          <a:xfrm>
            <a:off x="914400" y="26029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2F80ED"/>
                </a:solidFill>
                <a:latin typeface="Consolas"/>
                <a:ea typeface="Consolas"/>
                <a:cs typeface="Consolas"/>
              </a:rPr>
              <a:t>if</a:t>
            </a:r>
            <a:r>
              <a:rPr lang="en-US" sz="3000" dirty="0">
                <a:solidFill>
                  <a:srgbClr val="18324A"/>
                </a:solidFill>
              </a:rPr>
              <a:t> this, </a:t>
            </a:r>
            <a:r>
              <a:rPr lang="en-US" sz="3000" dirty="0">
                <a:solidFill>
                  <a:srgbClr val="2F80ED"/>
                </a:solidFill>
                <a:latin typeface="Consolas"/>
                <a:ea typeface="Consolas"/>
                <a:cs typeface="Consolas"/>
              </a:rPr>
              <a:t>else</a:t>
            </a:r>
            <a:r>
              <a:rPr lang="en-US" sz="3000" dirty="0">
                <a:solidFill>
                  <a:srgbClr val="18324A"/>
                </a:solidFill>
              </a:rPr>
              <a:t> that. Then it ran to the end, once.</a:t>
            </a:r>
            <a:endParaRPr lang="en-US" sz="3000" dirty="0"/>
          </a:p>
          <a:p>
            <a:pPr marL="0" indent="0" algn="l">
              <a:spcAft>
                <a:spcPts val="1600"/>
              </a:spcAft>
              <a:buNone/>
            </a:pPr>
            <a:r>
              <a:rPr lang="en-US" sz="3000" dirty="0">
                <a:solidFill>
                  <a:srgbClr val="18324A"/>
                </a:solidFill>
              </a:rPr>
              <a:t>This week it learns to go </a:t>
            </a:r>
            <a:r>
              <a:rPr lang="en-US" sz="3000" b="1" dirty="0">
                <a:solidFill>
                  <a:srgbClr val="18324A"/>
                </a:solidFill>
              </a:rPr>
              <a:t>back</a:t>
            </a:r>
            <a:r>
              <a:rPr lang="en-US" sz="3000" dirty="0">
                <a:solidFill>
                  <a:srgbClr val="18324A"/>
                </a:solidFill>
              </a:rPr>
              <a:t> and do something </a:t>
            </a:r>
            <a:r>
              <a:rPr lang="en-US" sz="3000" b="1" dirty="0">
                <a:solidFill>
                  <a:srgbClr val="18324A"/>
                </a:solidFill>
              </a:rPr>
              <a:t>again</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That is called a </a:t>
            </a:r>
            <a:r>
              <a:rPr lang="en-US" sz="3000" b="1" dirty="0">
                <a:solidFill>
                  <a:srgbClr val="18324A"/>
                </a:solidFill>
              </a:rPr>
              <a:t>loop</a:t>
            </a:r>
            <a:r>
              <a:rPr lang="en-US" sz="3000" dirty="0">
                <a:solidFill>
                  <a:srgbClr val="18324A"/>
                </a:solidFill>
              </a:rPr>
              <a:t>.</a:t>
            </a:r>
            <a:endParaRPr lang="en-US"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Print Hello five times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12</a:t>
            </a:r>
            <a:endParaRPr lang="en-US" sz="1400" dirty="0"/>
          </a:p>
        </p:txBody>
      </p:sp>
      <p:sp>
        <p:nvSpPr>
          <p:cNvPr id="6" name="Shape 6"/>
          <p:cNvSpPr/>
          <p:nvPr/>
        </p:nvSpPr>
        <p:spPr>
          <a:xfrm>
            <a:off x="548640" y="1261872"/>
            <a:ext cx="6766560" cy="48107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6766560" cy="4810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#include &lt;stdio.h&gt;</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int main(void) {</a:t>
            </a:r>
            <a:endParaRPr lang="en-US" sz="2800" dirty="0"/>
          </a:p>
          <a:p>
            <a:pPr marL="0" indent="0" algn="l">
              <a:lnSpc>
                <a:spcPts val="3500"/>
              </a:lnSpc>
              <a:buNone/>
            </a:pPr>
            <a:r>
              <a:rPr lang="en-US" sz="2800" dirty="0">
                <a:solidFill>
                  <a:srgbClr val="E5E7EB"/>
                </a:solidFill>
                <a:latin typeface="Consolas"/>
                <a:ea typeface="Consolas"/>
                <a:cs typeface="Consolas"/>
              </a:rPr>
              <a:t>    printf("Hello\n");</a:t>
            </a:r>
            <a:endParaRPr lang="en-US" sz="2800" dirty="0"/>
          </a:p>
          <a:p>
            <a:pPr marL="0" indent="0" algn="l">
              <a:lnSpc>
                <a:spcPts val="3500"/>
              </a:lnSpc>
              <a:buNone/>
            </a:pPr>
            <a:r>
              <a:rPr lang="en-US" sz="2800" dirty="0">
                <a:solidFill>
                  <a:srgbClr val="E5E7EB"/>
                </a:solidFill>
                <a:latin typeface="Consolas"/>
                <a:ea typeface="Consolas"/>
                <a:cs typeface="Consolas"/>
              </a:rPr>
              <a:t>    printf("Hello\n");</a:t>
            </a:r>
            <a:endParaRPr lang="en-US" sz="2800" dirty="0"/>
          </a:p>
          <a:p>
            <a:pPr marL="0" indent="0" algn="l">
              <a:lnSpc>
                <a:spcPts val="3500"/>
              </a:lnSpc>
              <a:buNone/>
            </a:pPr>
            <a:r>
              <a:rPr lang="en-US" sz="2800" dirty="0">
                <a:solidFill>
                  <a:srgbClr val="E5E7EB"/>
                </a:solidFill>
                <a:latin typeface="Consolas"/>
                <a:ea typeface="Consolas"/>
                <a:cs typeface="Consolas"/>
              </a:rPr>
              <a:t>    printf("Hello\n");</a:t>
            </a:r>
            <a:endParaRPr lang="en-US" sz="2800" dirty="0"/>
          </a:p>
          <a:p>
            <a:pPr marL="0" indent="0" algn="l">
              <a:lnSpc>
                <a:spcPts val="3500"/>
              </a:lnSpc>
              <a:buNone/>
            </a:pPr>
            <a:r>
              <a:rPr lang="en-US" sz="2800" dirty="0">
                <a:solidFill>
                  <a:srgbClr val="E5E7EB"/>
                </a:solidFill>
                <a:latin typeface="Consolas"/>
                <a:ea typeface="Consolas"/>
                <a:cs typeface="Consolas"/>
              </a:rPr>
              <a:t>    printf("Hello\n");</a:t>
            </a:r>
            <a:endParaRPr lang="en-US" sz="2800" dirty="0"/>
          </a:p>
          <a:p>
            <a:pPr marL="0" indent="0" algn="l">
              <a:lnSpc>
                <a:spcPts val="3500"/>
              </a:lnSpc>
              <a:buNone/>
            </a:pPr>
            <a:r>
              <a:rPr lang="en-US" sz="2800" dirty="0">
                <a:solidFill>
                  <a:srgbClr val="E5E7EB"/>
                </a:solidFill>
                <a:latin typeface="Consolas"/>
                <a:ea typeface="Consolas"/>
                <a:cs typeface="Consolas"/>
              </a:rPr>
              <a:t>    printf("Hello\n");</a:t>
            </a:r>
            <a:endParaRPr lang="en-US" sz="2800" dirty="0"/>
          </a:p>
          <a:p>
            <a:pPr marL="0" indent="0" algn="l">
              <a:lnSpc>
                <a:spcPts val="3500"/>
              </a:lnSpc>
              <a:buNone/>
            </a:pPr>
            <a:r>
              <a:rPr lang="en-US" sz="2800" dirty="0">
                <a:solidFill>
                  <a:srgbClr val="E5E7EB"/>
                </a:solidFill>
                <a:latin typeface="Consolas"/>
                <a:ea typeface="Consolas"/>
                <a:cs typeface="Consolas"/>
              </a:rPr>
              <a:t>    return 0;</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p:txBody>
      </p:sp>
      <p:sp>
        <p:nvSpPr>
          <p:cNvPr id="8" name="Shape 8"/>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9" name="Shape 9"/>
          <p:cNvSpPr/>
          <p:nvPr/>
        </p:nvSpPr>
        <p:spPr>
          <a:xfrm>
            <a:off x="7589520" y="1645920"/>
            <a:ext cx="4053535" cy="2270760"/>
          </a:xfrm>
          <a:prstGeom prst="rect">
            <a:avLst/>
          </a:prstGeom>
          <a:solidFill>
            <a:srgbClr val="000000"/>
          </a:solidFill>
          <a:ln>
            <a:noFill/>
          </a:ln>
        </p:spPr>
        <p:txBody>
          <a:bodyPr wrap="square" lIns="0" tIns="0" rIns="0" bIns="0" rtlCol="0" anchor="t"/>
          <a:lstStyle/>
          <a:p>
            <a:endParaRPr lang="en-US"/>
          </a:p>
        </p:txBody>
      </p:sp>
      <p:sp>
        <p:nvSpPr>
          <p:cNvPr id="10" name="Code"/>
          <p:cNvSpPr/>
          <p:nvPr/>
        </p:nvSpPr>
        <p:spPr>
          <a:xfrm>
            <a:off x="7589520" y="1645920"/>
            <a:ext cx="4053535" cy="2270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Hello</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p:txBody>
      </p:sp>
      <p:sp>
        <p:nvSpPr>
          <p:cNvPr id="11" name="Shape 11"/>
          <p:cNvSpPr/>
          <p:nvPr/>
        </p:nvSpPr>
        <p:spPr>
          <a:xfrm>
            <a:off x="7589520" y="4191000"/>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2" name="Shape 12"/>
          <p:cNvSpPr/>
          <p:nvPr/>
        </p:nvSpPr>
        <p:spPr>
          <a:xfrm>
            <a:off x="7589520" y="4191000"/>
            <a:ext cx="109728" cy="1051560"/>
          </a:xfrm>
          <a:prstGeom prst="rect">
            <a:avLst/>
          </a:prstGeom>
          <a:solidFill>
            <a:srgbClr val="2F80ED"/>
          </a:solidFill>
          <a:ln>
            <a:noFill/>
          </a:ln>
        </p:spPr>
        <p:txBody>
          <a:bodyPr wrap="square" lIns="0" tIns="0" rIns="0" bIns="0" rtlCol="0" anchor="t"/>
          <a:lstStyle/>
          <a:p>
            <a:endParaRPr lang="en-US"/>
          </a:p>
        </p:txBody>
      </p:sp>
      <p:sp>
        <p:nvSpPr>
          <p:cNvPr id="13" name="Callout"/>
          <p:cNvSpPr/>
          <p:nvPr/>
        </p:nvSpPr>
        <p:spPr>
          <a:xfrm>
            <a:off x="7699248" y="4191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Copy, paste, paste, paste, paste. It works.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new request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13</a:t>
            </a:r>
            <a:endParaRPr lang="en-US" sz="1400" dirty="0"/>
          </a:p>
        </p:txBody>
      </p:sp>
      <p:sp>
        <p:nvSpPr>
          <p:cNvPr id="6" name="Shape 6"/>
          <p:cNvSpPr/>
          <p:nvPr/>
        </p:nvSpPr>
        <p:spPr>
          <a:xfrm>
            <a:off x="548640" y="1261872"/>
            <a:ext cx="2377440" cy="457200"/>
          </a:xfrm>
          <a:prstGeom prst="rect">
            <a:avLst/>
          </a:prstGeom>
          <a:solidFill>
            <a:srgbClr val="8B5CF6"/>
          </a:solidFill>
          <a:ln>
            <a:noFill/>
          </a:ln>
        </p:spPr>
        <p:txBody>
          <a:bodyPr wrap="square" lIns="0" tIns="0" rIns="0" bIns="0" rtlCol="0" anchor="ctr"/>
          <a:lstStyle/>
          <a:p>
            <a:pPr marL="0" indent="0" algn="ctr">
              <a:buNone/>
            </a:pPr>
            <a:r>
              <a:rPr lang="en-US" sz="1800" b="1" dirty="0">
                <a:solidFill>
                  <a:srgbClr val="FFFFFF"/>
                </a:solidFill>
              </a:rPr>
              <a:t>QUESTION</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Not 5 times.</a:t>
            </a:r>
            <a:endParaRPr lang="en-US" sz="3200" dirty="0"/>
          </a:p>
          <a:p>
            <a:pPr marL="0" indent="0" algn="l">
              <a:spcAft>
                <a:spcPts val="600"/>
              </a:spcAft>
              <a:buNone/>
            </a:pPr>
            <a:r>
              <a:rPr lang="en-US" sz="3200" b="1" dirty="0">
                <a:solidFill>
                  <a:srgbClr val="18324A"/>
                </a:solidFill>
              </a:rPr>
              <a:t>1000 times.</a:t>
            </a:r>
            <a:endParaRPr lang="en-US" sz="3200" dirty="0"/>
          </a:p>
          <a:p>
            <a:pPr marL="0" indent="0" algn="l">
              <a:spcAft>
                <a:spcPts val="600"/>
              </a:spcAft>
              <a:buNone/>
            </a:pPr>
            <a:r>
              <a:rPr lang="en-US" sz="3200" dirty="0">
                <a:solidFill>
                  <a:srgbClr val="18324A"/>
                </a:solidFill>
              </a:rPr>
              <a:t>What do you do now?</a:t>
            </a:r>
            <a:endParaRPr lang="en-US" sz="3200" dirty="0"/>
          </a:p>
        </p:txBody>
      </p:sp>
      <p:sp>
        <p:nvSpPr>
          <p:cNvPr id="8" name="Shape 8"/>
          <p:cNvSpPr/>
          <p:nvPr/>
        </p:nvSpPr>
        <p:spPr>
          <a:xfrm>
            <a:off x="5760720" y="1261872"/>
            <a:ext cx="5882335" cy="2905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905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printf("Hello\n");</a:t>
            </a:r>
            <a:endParaRPr lang="en-US" sz="3200" dirty="0"/>
          </a:p>
          <a:p>
            <a:pPr marL="0" indent="0" algn="l">
              <a:lnSpc>
                <a:spcPts val="4000"/>
              </a:lnSpc>
              <a:buNone/>
            </a:pPr>
            <a:r>
              <a:rPr lang="en-US" sz="3200" dirty="0">
                <a:solidFill>
                  <a:srgbClr val="E5E7EB"/>
                </a:solidFill>
                <a:latin typeface="Consolas"/>
                <a:ea typeface="Consolas"/>
                <a:cs typeface="Consolas"/>
              </a:rPr>
              <a:t>printf("Hello\n");</a:t>
            </a:r>
            <a:endParaRPr lang="en-US" sz="3200" dirty="0"/>
          </a:p>
          <a:p>
            <a:pPr marL="0" indent="0" algn="l">
              <a:lnSpc>
                <a:spcPts val="4000"/>
              </a:lnSpc>
              <a:buNone/>
            </a:pPr>
            <a:r>
              <a:rPr lang="en-US" sz="3200" dirty="0">
                <a:solidFill>
                  <a:srgbClr val="E5E7EB"/>
                </a:solidFill>
                <a:latin typeface="Consolas"/>
                <a:ea typeface="Consolas"/>
                <a:cs typeface="Consolas"/>
              </a:rPr>
              <a:t>printf("Hello\n");</a:t>
            </a:r>
            <a:endParaRPr lang="en-US" sz="3200" dirty="0"/>
          </a:p>
          <a:p>
            <a:pPr marL="0" indent="0" algn="l">
              <a:lnSpc>
                <a:spcPts val="4000"/>
              </a:lnSpc>
              <a:buNone/>
            </a:pPr>
            <a:r>
              <a:rPr lang="en-US" sz="3200" dirty="0">
                <a:solidFill>
                  <a:srgbClr val="E5E7EB"/>
                </a:solidFill>
                <a:latin typeface="Consolas"/>
                <a:ea typeface="Consolas"/>
                <a:cs typeface="Consolas"/>
              </a:rPr>
              <a:t>printf("Hello\n");</a:t>
            </a:r>
            <a:endParaRPr lang="en-US" sz="3200" dirty="0"/>
          </a:p>
          <a:p>
            <a:pPr marL="0" indent="0" algn="l">
              <a:lnSpc>
                <a:spcPts val="4000"/>
              </a:lnSpc>
              <a:buNone/>
            </a:pPr>
            <a:r>
              <a:rPr lang="en-US" sz="3200" dirty="0">
                <a:solidFill>
                  <a:srgbClr val="E5E7EB"/>
                </a:solidFill>
                <a:latin typeface="Consolas"/>
                <a:ea typeface="Consolas"/>
                <a:cs typeface="Consolas"/>
              </a:rPr>
              <a:t>printf("Hello\n");</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same five Hellos, with a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14</a:t>
            </a:r>
            <a:endParaRPr lang="en-US" sz="1400" dirty="0"/>
          </a:p>
        </p:txBody>
      </p:sp>
      <p:sp>
        <p:nvSpPr>
          <p:cNvPr id="6" name="Shape 6"/>
          <p:cNvSpPr/>
          <p:nvPr/>
        </p:nvSpPr>
        <p:spPr>
          <a:xfrm>
            <a:off x="548640" y="1261872"/>
            <a:ext cx="6766560" cy="366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72427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724277"/>
            <a:ext cx="82296" cy="4127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137027"/>
            <a:ext cx="6766560"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137027"/>
            <a:ext cx="82296" cy="4127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549777"/>
            <a:ext cx="6766560" cy="4127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549777"/>
            <a:ext cx="82296" cy="4127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36677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#include &lt;stdio.h&gt;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int main(void) {</a:t>
            </a:r>
            <a:endParaRPr lang="en-US" sz="2600" dirty="0"/>
          </a:p>
          <a:p>
            <a:pPr marL="0" indent="0" algn="l">
              <a:lnSpc>
                <a:spcPts val="3250"/>
              </a:lnSpc>
              <a:buNone/>
            </a:pPr>
            <a:r>
              <a:rPr lang="en-US" sz="2600" dirty="0">
                <a:solidFill>
                  <a:srgbClr val="FFFFFF"/>
                </a:solidFill>
                <a:latin typeface="Consolas"/>
                <a:ea typeface="Consolas"/>
                <a:cs typeface="Consolas"/>
              </a:rPr>
              <a:t>    for (int i = 0; i &lt; 5; i++) {</a:t>
            </a:r>
            <a:endParaRPr lang="en-US" sz="2600" dirty="0"/>
          </a:p>
          <a:p>
            <a:pPr marL="0" indent="0" algn="l">
              <a:lnSpc>
                <a:spcPts val="3250"/>
              </a:lnSpc>
              <a:buNone/>
            </a:pPr>
            <a:r>
              <a:rPr lang="en-US" sz="2600" dirty="0">
                <a:solidFill>
                  <a:srgbClr val="FFFFFF"/>
                </a:solidFill>
                <a:latin typeface="Consolas"/>
                <a:ea typeface="Consolas"/>
                <a:cs typeface="Consolas"/>
              </a:rPr>
              <a:t>        printf("Hello\n");</a:t>
            </a:r>
            <a:endParaRPr lang="en-US" sz="2600" dirty="0"/>
          </a:p>
          <a:p>
            <a:pPr marL="0" indent="0" algn="l">
              <a:lnSpc>
                <a:spcPts val="3250"/>
              </a:lnSpc>
              <a:buNone/>
            </a:pPr>
            <a:r>
              <a:rPr lang="en-US" sz="2600" dirty="0">
                <a:solidFill>
                  <a:srgbClr val="FFFFFF"/>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    return 0;</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2270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2270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Hello</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p:txBody>
      </p:sp>
      <p:sp>
        <p:nvSpPr>
          <p:cNvPr id="17" name="Shape 17"/>
          <p:cNvSpPr/>
          <p:nvPr/>
        </p:nvSpPr>
        <p:spPr>
          <a:xfrm>
            <a:off x="7589520" y="4191000"/>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8" name="Shape 18"/>
          <p:cNvSpPr/>
          <p:nvPr/>
        </p:nvSpPr>
        <p:spPr>
          <a:xfrm>
            <a:off x="7589520" y="4191000"/>
            <a:ext cx="109728" cy="685800"/>
          </a:xfrm>
          <a:prstGeom prst="rect">
            <a:avLst/>
          </a:prstGeom>
          <a:solidFill>
            <a:srgbClr val="2F80ED"/>
          </a:solidFill>
          <a:ln>
            <a:noFill/>
          </a:ln>
        </p:spPr>
        <p:txBody>
          <a:bodyPr wrap="square" lIns="0" tIns="0" rIns="0" bIns="0" rtlCol="0" anchor="t"/>
          <a:lstStyle/>
          <a:p>
            <a:endParaRPr lang="en-US"/>
          </a:p>
        </p:txBody>
      </p:sp>
      <p:sp>
        <p:nvSpPr>
          <p:cNvPr id="19" name="Callout"/>
          <p:cNvSpPr/>
          <p:nvPr/>
        </p:nvSpPr>
        <p:spPr>
          <a:xfrm>
            <a:off x="7699248" y="4191000"/>
            <a:ext cx="3943807" cy="685800"/>
          </a:xfrm>
          <a:prstGeom prst="rect">
            <a:avLst/>
          </a:prstGeom>
          <a:noFill/>
          <a:ln>
            <a:noFill/>
          </a:ln>
        </p:spPr>
        <p:txBody>
          <a:bodyPr wrap="square" lIns="201168" tIns="73152" rIns="182880" bIns="73152" rtlCol="0" anchor="ctr"/>
          <a:lstStyle/>
          <a:p>
            <a:pPr marL="0" indent="0" algn="l">
              <a:buNone/>
            </a:pPr>
            <a:r>
              <a:rPr lang="en-US" sz="2400" b="1" dirty="0">
                <a:solidFill>
                  <a:srgbClr val="18324A"/>
                </a:solidFill>
              </a:rPr>
              <a:t>One</a:t>
            </a:r>
            <a:r>
              <a:rPr lang="en-US" sz="2400" dirty="0">
                <a:solidFill>
                  <a:srgbClr val="18324A"/>
                </a:solidFill>
              </a:rPr>
              <a:t> </a:t>
            </a:r>
            <a:r>
              <a:rPr lang="en-US" sz="2400" dirty="0">
                <a:solidFill>
                  <a:srgbClr val="18324A"/>
                </a:solidFill>
                <a:latin typeface="Consolas"/>
                <a:ea typeface="Consolas"/>
                <a:cs typeface="Consolas"/>
              </a:rPr>
              <a:t>printf</a:t>
            </a:r>
            <a:r>
              <a:rPr lang="en-US" sz="2400" dirty="0">
                <a:solidFill>
                  <a:srgbClr val="18324A"/>
                </a:solidFill>
              </a:rPr>
              <a:t>.</a:t>
            </a:r>
            <a:endParaRPr lang="en-US" sz="2400" dirty="0"/>
          </a:p>
        </p:txBody>
      </p:sp>
      <p:sp>
        <p:nvSpPr>
          <p:cNvPr id="20" name="Shape 20"/>
          <p:cNvSpPr/>
          <p:nvPr/>
        </p:nvSpPr>
        <p:spPr>
          <a:xfrm>
            <a:off x="7589520" y="5077968"/>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1" name="Shape 21"/>
          <p:cNvSpPr/>
          <p:nvPr/>
        </p:nvSpPr>
        <p:spPr>
          <a:xfrm>
            <a:off x="7589520" y="5077968"/>
            <a:ext cx="109728" cy="1051560"/>
          </a:xfrm>
          <a:prstGeom prst="rect">
            <a:avLst/>
          </a:prstGeom>
          <a:solidFill>
            <a:srgbClr val="31C48D"/>
          </a:solidFill>
          <a:ln>
            <a:noFill/>
          </a:ln>
        </p:spPr>
        <p:txBody>
          <a:bodyPr wrap="square" lIns="0" tIns="0" rIns="0" bIns="0" rtlCol="0" anchor="t"/>
          <a:lstStyle/>
          <a:p>
            <a:endParaRPr lang="en-US"/>
          </a:p>
        </p:txBody>
      </p:sp>
      <p:sp>
        <p:nvSpPr>
          <p:cNvPr id="22" name="Callout"/>
          <p:cNvSpPr/>
          <p:nvPr/>
        </p:nvSpPr>
        <p:spPr>
          <a:xfrm>
            <a:off x="7699248" y="507796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line above it says: do this 5 times.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From 5 to 1000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15</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Copy and paste: 995 more lines. Loop: change </a:t>
            </a:r>
            <a:r>
              <a:rPr lang="en-US" sz="2400" b="1" dirty="0">
                <a:solidFill>
                  <a:srgbClr val="18324A"/>
                </a:solidFill>
              </a:rPr>
              <a:t>one number</a:t>
            </a:r>
            <a:r>
              <a:rPr lang="en-US" sz="2400" dirty="0">
                <a:solidFill>
                  <a:srgbClr val="18324A"/>
                </a:solidFill>
              </a:rPr>
              <a:t>.</a:t>
            </a:r>
            <a:endParaRPr lang="en-US" sz="2400" dirty="0"/>
          </a:p>
        </p:txBody>
      </p:sp>
      <p:sp>
        <p:nvSpPr>
          <p:cNvPr id="9" name="Shape 9"/>
          <p:cNvSpPr/>
          <p:nvPr/>
        </p:nvSpPr>
        <p:spPr>
          <a:xfrm>
            <a:off x="548640" y="1261872"/>
            <a:ext cx="5364328" cy="384048"/>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Copy and paste</a:t>
            </a:r>
            <a:endParaRPr lang="en-US" sz="1800" dirty="0"/>
          </a:p>
        </p:txBody>
      </p:sp>
      <p:sp>
        <p:nvSpPr>
          <p:cNvPr id="10" name="Shape 10"/>
          <p:cNvSpPr/>
          <p:nvPr/>
        </p:nvSpPr>
        <p:spPr>
          <a:xfrm>
            <a:off x="548640" y="1645920"/>
            <a:ext cx="5364328" cy="2112010"/>
          </a:xfrm>
          <a:prstGeom prst="rect">
            <a:avLst/>
          </a:prstGeom>
          <a:solidFill>
            <a:srgbClr val="0F172A"/>
          </a:solidFill>
          <a:ln>
            <a:noFill/>
          </a:ln>
        </p:spPr>
        <p:txBody>
          <a:bodyPr wrap="square" lIns="0" tIns="0" rIns="0" bIns="0" rtlCol="0" anchor="t"/>
          <a:lstStyle/>
          <a:p>
            <a:endParaRPr lang="en-US"/>
          </a:p>
        </p:txBody>
      </p:sp>
      <p:sp>
        <p:nvSpPr>
          <p:cNvPr id="11" name="Code"/>
          <p:cNvSpPr/>
          <p:nvPr/>
        </p:nvSpPr>
        <p:spPr>
          <a:xfrm>
            <a:off x="548640" y="1645920"/>
            <a:ext cx="5364328" cy="2112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printf("Hello\n");</a:t>
            </a:r>
            <a:endParaRPr lang="en-US" sz="2200" dirty="0"/>
          </a:p>
          <a:p>
            <a:pPr marL="0" indent="0" algn="l">
              <a:lnSpc>
                <a:spcPts val="2750"/>
              </a:lnSpc>
              <a:buNone/>
            </a:pPr>
            <a:r>
              <a:rPr lang="en-US" sz="2200" dirty="0">
                <a:solidFill>
                  <a:srgbClr val="E5E7EB"/>
                </a:solidFill>
                <a:latin typeface="Consolas"/>
                <a:ea typeface="Consolas"/>
                <a:cs typeface="Consolas"/>
              </a:rPr>
              <a:t>printf("Hello\n");</a:t>
            </a:r>
            <a:endParaRPr lang="en-US" sz="2200" dirty="0"/>
          </a:p>
          <a:p>
            <a:pPr marL="0" indent="0" algn="l">
              <a:lnSpc>
                <a:spcPts val="2750"/>
              </a:lnSpc>
              <a:buNone/>
            </a:pPr>
            <a:r>
              <a:rPr lang="en-US" sz="2200" dirty="0">
                <a:solidFill>
                  <a:srgbClr val="E5E7EB"/>
                </a:solidFill>
                <a:latin typeface="Consolas"/>
                <a:ea typeface="Consolas"/>
                <a:cs typeface="Consolas"/>
              </a:rPr>
              <a:t>printf("Hello\n");</a:t>
            </a:r>
            <a:endParaRPr lang="en-US" sz="2200" dirty="0"/>
          </a:p>
          <a:p>
            <a:pPr marL="0" indent="0" algn="l">
              <a:lnSpc>
                <a:spcPts val="2750"/>
              </a:lnSpc>
              <a:buNone/>
            </a:pPr>
            <a:r>
              <a:rPr lang="en-US" sz="2200" dirty="0">
                <a:solidFill>
                  <a:srgbClr val="E5E7EB"/>
                </a:solidFill>
                <a:latin typeface="Consolas"/>
                <a:ea typeface="Consolas"/>
                <a:cs typeface="Consolas"/>
              </a:rPr>
              <a:t>printf("Hello\n");</a:t>
            </a:r>
            <a:endParaRPr lang="en-US" sz="2200" dirty="0"/>
          </a:p>
          <a:p>
            <a:pPr marL="0" indent="0" algn="l">
              <a:lnSpc>
                <a:spcPts val="2750"/>
              </a:lnSpc>
              <a:buNone/>
            </a:pPr>
            <a:r>
              <a:rPr lang="en-US" sz="2200" dirty="0">
                <a:solidFill>
                  <a:srgbClr val="E5E7EB"/>
                </a:solidFill>
                <a:latin typeface="Consolas"/>
                <a:ea typeface="Consolas"/>
                <a:cs typeface="Consolas"/>
              </a:rPr>
              <a:t>printf("Hello\n");</a:t>
            </a:r>
            <a:endParaRPr lang="en-US" sz="2200" dirty="0"/>
          </a:p>
        </p:txBody>
      </p:sp>
      <p:sp>
        <p:nvSpPr>
          <p:cNvPr id="12" name="Shape 12"/>
          <p:cNvSpPr/>
          <p:nvPr/>
        </p:nvSpPr>
        <p:spPr>
          <a:xfrm>
            <a:off x="6278728" y="1261872"/>
            <a:ext cx="5364328" cy="384048"/>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Loop</a:t>
            </a:r>
            <a:endParaRPr lang="en-US" sz="1800" dirty="0"/>
          </a:p>
        </p:txBody>
      </p:sp>
      <p:sp>
        <p:nvSpPr>
          <p:cNvPr id="13" name="Shape 13"/>
          <p:cNvSpPr/>
          <p:nvPr/>
        </p:nvSpPr>
        <p:spPr>
          <a:xfrm>
            <a:off x="6278728" y="1645920"/>
            <a:ext cx="5364328" cy="1413510"/>
          </a:xfrm>
          <a:prstGeom prst="rect">
            <a:avLst/>
          </a:prstGeom>
          <a:solidFill>
            <a:srgbClr val="0F172A"/>
          </a:solidFill>
          <a:ln>
            <a:noFill/>
          </a:ln>
        </p:spPr>
        <p:txBody>
          <a:bodyPr wrap="square" lIns="0" tIns="0" rIns="0" bIns="0" rtlCol="0" anchor="t"/>
          <a:lstStyle/>
          <a:p>
            <a:endParaRPr lang="en-US"/>
          </a:p>
        </p:txBody>
      </p:sp>
      <p:sp>
        <p:nvSpPr>
          <p:cNvPr id="14" name="Code"/>
          <p:cNvSpPr/>
          <p:nvPr/>
        </p:nvSpPr>
        <p:spPr>
          <a:xfrm>
            <a:off x="6278728" y="1645920"/>
            <a:ext cx="5364328" cy="1413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for (int i = 0; i &lt; 1000; i++) {</a:t>
            </a:r>
            <a:endParaRPr lang="en-US" sz="2200" dirty="0"/>
          </a:p>
          <a:p>
            <a:pPr marL="0" indent="0" algn="l">
              <a:lnSpc>
                <a:spcPts val="2750"/>
              </a:lnSpc>
              <a:buNone/>
            </a:pPr>
            <a:r>
              <a:rPr lang="en-US" sz="2200" dirty="0">
                <a:solidFill>
                  <a:srgbClr val="E5E7EB"/>
                </a:solidFill>
                <a:latin typeface="Consolas"/>
                <a:ea typeface="Consolas"/>
                <a:cs typeface="Consolas"/>
              </a:rPr>
              <a:t>    printf("Hello\n");</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When you do not know the number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16</a:t>
            </a:r>
            <a:endParaRPr lang="en-US" sz="1400" dirty="0"/>
          </a:p>
        </p:txBody>
      </p:sp>
      <p:sp>
        <p:nvSpPr>
          <p:cNvPr id="6" name="Shape 6"/>
          <p:cNvSpPr/>
          <p:nvPr/>
        </p:nvSpPr>
        <p:spPr>
          <a:xfrm>
            <a:off x="548640" y="1261872"/>
            <a:ext cx="58521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4273677"/>
            <a:ext cx="58521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427367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622927"/>
            <a:ext cx="58521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622927"/>
            <a:ext cx="82296" cy="3492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4972177"/>
            <a:ext cx="5852160" cy="3492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4972177"/>
            <a:ext cx="82296" cy="3492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58521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#include &lt;stdio.h&gt;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n;</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printf("How many times? ");</a:t>
            </a:r>
            <a:endParaRPr lang="en-US" sz="2200" dirty="0"/>
          </a:p>
          <a:p>
            <a:pPr marL="0" indent="0" algn="l">
              <a:lnSpc>
                <a:spcPts val="2750"/>
              </a:lnSpc>
              <a:buNone/>
            </a:pPr>
            <a:r>
              <a:rPr lang="en-US" sz="2200" dirty="0">
                <a:solidFill>
                  <a:srgbClr val="64748B"/>
                </a:solidFill>
                <a:latin typeface="Consolas"/>
                <a:ea typeface="Consolas"/>
                <a:cs typeface="Consolas"/>
              </a:rPr>
              <a:t>    scanf("%d", &amp;n);</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    for (int i = 0; i &lt; n; i++) {</a:t>
            </a:r>
            <a:endParaRPr lang="en-US" sz="2200" dirty="0"/>
          </a:p>
          <a:p>
            <a:pPr marL="0" indent="0" algn="l">
              <a:lnSpc>
                <a:spcPts val="2750"/>
              </a:lnSpc>
              <a:buNone/>
            </a:pPr>
            <a:r>
              <a:rPr lang="en-US" sz="2200" dirty="0">
                <a:solidFill>
                  <a:srgbClr val="FFFFFF"/>
                </a:solidFill>
                <a:latin typeface="Consolas"/>
                <a:ea typeface="Consolas"/>
                <a:cs typeface="Consolas"/>
              </a:rPr>
              <a:t>        printf("Hello\n");</a:t>
            </a:r>
            <a:endParaRPr lang="en-US" sz="2200" dirty="0"/>
          </a:p>
          <a:p>
            <a:pPr marL="0" indent="0" algn="l">
              <a:lnSpc>
                <a:spcPts val="2750"/>
              </a:lnSpc>
              <a:buNone/>
            </a:pPr>
            <a:r>
              <a:rPr lang="en-US" sz="2200" dirty="0">
                <a:solidFill>
                  <a:srgbClr val="FFFFFF"/>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4" name="Shape 14"/>
          <p:cNvSpPr/>
          <p:nvPr/>
        </p:nvSpPr>
        <p:spPr>
          <a:xfrm>
            <a:off x="6675120" y="1261872"/>
            <a:ext cx="49679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6675120" y="1645920"/>
            <a:ext cx="4967935" cy="1889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6675120" y="1645920"/>
            <a:ext cx="4967935" cy="1889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How many times? 3</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a:p>
            <a:pPr marL="0" indent="0" algn="l">
              <a:lnSpc>
                <a:spcPts val="3000"/>
              </a:lnSpc>
              <a:buNone/>
            </a:pPr>
            <a:r>
              <a:rPr lang="en-US" sz="2400" dirty="0">
                <a:solidFill>
                  <a:srgbClr val="D1FAE5"/>
                </a:solidFill>
                <a:latin typeface="Consolas"/>
                <a:ea typeface="Consolas"/>
                <a:cs typeface="Consolas"/>
              </a:rPr>
              <a:t>Hello</a:t>
            </a:r>
            <a:endParaRPr lang="en-US" sz="2400" dirty="0"/>
          </a:p>
        </p:txBody>
      </p:sp>
      <p:sp>
        <p:nvSpPr>
          <p:cNvPr id="17" name="Shape 17"/>
          <p:cNvSpPr/>
          <p:nvPr/>
        </p:nvSpPr>
        <p:spPr>
          <a:xfrm>
            <a:off x="6675120" y="3810000"/>
            <a:ext cx="49679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8" name="Shape 18"/>
          <p:cNvSpPr/>
          <p:nvPr/>
        </p:nvSpPr>
        <p:spPr>
          <a:xfrm>
            <a:off x="6675120" y="3810000"/>
            <a:ext cx="109728" cy="685800"/>
          </a:xfrm>
          <a:prstGeom prst="rect">
            <a:avLst/>
          </a:prstGeom>
          <a:solidFill>
            <a:srgbClr val="2F80ED"/>
          </a:solidFill>
          <a:ln>
            <a:noFill/>
          </a:ln>
        </p:spPr>
        <p:txBody>
          <a:bodyPr wrap="square" lIns="0" tIns="0" rIns="0" bIns="0" rtlCol="0" anchor="t"/>
          <a:lstStyle/>
          <a:p>
            <a:endParaRPr lang="en-US"/>
          </a:p>
        </p:txBody>
      </p:sp>
      <p:sp>
        <p:nvSpPr>
          <p:cNvPr id="19" name="Callout"/>
          <p:cNvSpPr/>
          <p:nvPr/>
        </p:nvSpPr>
        <p:spPr>
          <a:xfrm>
            <a:off x="6784848" y="3810000"/>
            <a:ext cx="48582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user decides how many.</a:t>
            </a:r>
            <a:endParaRPr lang="en-US" sz="2400" dirty="0"/>
          </a:p>
        </p:txBody>
      </p:sp>
      <p:sp>
        <p:nvSpPr>
          <p:cNvPr id="20" name="Shape 20"/>
          <p:cNvSpPr/>
          <p:nvPr/>
        </p:nvSpPr>
        <p:spPr>
          <a:xfrm>
            <a:off x="6675120" y="4696968"/>
            <a:ext cx="49679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21" name="Shape 21"/>
          <p:cNvSpPr/>
          <p:nvPr/>
        </p:nvSpPr>
        <p:spPr>
          <a:xfrm>
            <a:off x="6675120" y="4696968"/>
            <a:ext cx="109728" cy="1051560"/>
          </a:xfrm>
          <a:prstGeom prst="rect">
            <a:avLst/>
          </a:prstGeom>
          <a:solidFill>
            <a:srgbClr val="FF6B6B"/>
          </a:solidFill>
          <a:ln>
            <a:noFill/>
          </a:ln>
        </p:spPr>
        <p:txBody>
          <a:bodyPr wrap="square" lIns="0" tIns="0" rIns="0" bIns="0" rtlCol="0" anchor="t"/>
          <a:lstStyle/>
          <a:p>
            <a:endParaRPr lang="en-US"/>
          </a:p>
        </p:txBody>
      </p:sp>
      <p:sp>
        <p:nvSpPr>
          <p:cNvPr id="22" name="Callout"/>
          <p:cNvSpPr/>
          <p:nvPr/>
        </p:nvSpPr>
        <p:spPr>
          <a:xfrm>
            <a:off x="6784848" y="4696968"/>
            <a:ext cx="48582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You cannot copy and paste a number you do not know yet.</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What loops are for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17</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Count:</a:t>
            </a:r>
            <a:r>
              <a:rPr lang="en-US" sz="2800" dirty="0">
                <a:solidFill>
                  <a:srgbClr val="18324A"/>
                </a:solidFill>
              </a:rPr>
              <a:t> 1, 2, 3, ... 100</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Read many values:</a:t>
            </a:r>
            <a:r>
              <a:rPr lang="en-US" sz="2800" dirty="0">
                <a:solidFill>
                  <a:srgbClr val="18324A"/>
                </a:solidFill>
              </a:rPr>
              <a:t> 30 marks, one after another</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Search:</a:t>
            </a:r>
            <a:r>
              <a:rPr lang="en-US" sz="2800" dirty="0">
                <a:solidFill>
                  <a:srgbClr val="18324A"/>
                </a:solidFill>
              </a:rPr>
              <a:t> look at every item until you find it</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Ask again:</a:t>
            </a:r>
            <a:r>
              <a:rPr lang="en-US" sz="2800" dirty="0">
                <a:solidFill>
                  <a:srgbClr val="18324A"/>
                </a:solidFill>
              </a:rPr>
              <a:t> until the input is right</a:t>
            </a:r>
            <a:endParaRPr lang="en-US" sz="2800" dirty="0"/>
          </a:p>
        </p:txBody>
      </p:sp>
      <p:sp>
        <p:nvSpPr>
          <p:cNvPr id="14" name="Shape 14"/>
          <p:cNvSpPr/>
          <p:nvPr/>
        </p:nvSpPr>
        <p:spPr>
          <a:xfrm>
            <a:off x="548640" y="5486400"/>
            <a:ext cx="11094415" cy="77724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548640" y="5486400"/>
            <a:ext cx="109728" cy="77724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658368" y="5486400"/>
            <a:ext cx="10984687" cy="77724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Almost every real program has a loop in it.</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31C48D"/>
          </a:solidFill>
          <a:ln>
            <a:noFill/>
          </a:ln>
        </p:spPr>
        <p:txBody>
          <a:bodyPr wrap="square" lIns="0" tIns="0" rIns="0" bIns="0" rtlCol="0" anchor="ctr"/>
          <a:lstStyle/>
          <a:p>
            <a:pPr marL="0" indent="0" algn="ctr">
              <a:buNone/>
            </a:pPr>
            <a:r>
              <a:rPr lang="en-US" sz="5400" b="1" dirty="0">
                <a:solidFill>
                  <a:srgbClr val="FFFFFF"/>
                </a:solidFill>
              </a:rPr>
              <a:t>2</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The four parts of a loop</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Every loop, in every language, has the same four parts</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four parts: start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19</a:t>
            </a:r>
            <a:endParaRPr lang="en-US" sz="1400" dirty="0"/>
          </a:p>
        </p:txBody>
      </p:sp>
      <p:sp>
        <p:nvSpPr>
          <p:cNvPr id="6" name="Shape 6"/>
          <p:cNvSpPr/>
          <p:nvPr/>
        </p:nvSpPr>
        <p:spPr>
          <a:xfrm>
            <a:off x="548640" y="1536192"/>
            <a:ext cx="2602154"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rPr>
              <a:t>Start</a:t>
            </a:r>
            <a:endParaRPr lang="en-US" sz="2600" dirty="0"/>
          </a:p>
        </p:txBody>
      </p:sp>
      <p:sp>
        <p:nvSpPr>
          <p:cNvPr id="7" name="Shape 7"/>
          <p:cNvSpPr/>
          <p:nvPr/>
        </p:nvSpPr>
        <p:spPr>
          <a:xfrm>
            <a:off x="548640" y="2267712"/>
            <a:ext cx="2602154"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dirty="0">
                <a:solidFill>
                  <a:srgbClr val="18324A"/>
                </a:solidFill>
              </a:rPr>
              <a:t>Give a variable its first value.</a:t>
            </a:r>
            <a:endParaRPr lang="en-US" sz="2400" dirty="0"/>
          </a:p>
          <a:p>
            <a:pPr marL="0" indent="0" algn="ctr">
              <a:spcAft>
                <a:spcPts val="600"/>
              </a:spcAft>
              <a:buNone/>
            </a:pPr>
            <a:r>
              <a:rPr lang="en-US" sz="2400" dirty="0">
                <a:solidFill>
                  <a:srgbClr val="2F80ED"/>
                </a:solidFill>
                <a:latin typeface="Consolas"/>
                <a:ea typeface="Consolas"/>
                <a:cs typeface="Consolas"/>
              </a:rPr>
              <a:t>int count = 1;</a:t>
            </a:r>
            <a:endParaRPr lang="en-US" sz="2400" dirty="0"/>
          </a:p>
        </p:txBody>
      </p:sp>
      <p:sp>
        <p:nvSpPr>
          <p:cNvPr id="8" name="Shape 8"/>
          <p:cNvSpPr/>
          <p:nvPr/>
        </p:nvSpPr>
        <p:spPr>
          <a:xfrm>
            <a:off x="3379394"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Check</a:t>
            </a:r>
            <a:endParaRPr lang="en-US" sz="2600" dirty="0"/>
          </a:p>
        </p:txBody>
      </p:sp>
      <p:sp>
        <p:nvSpPr>
          <p:cNvPr id="9" name="Shape 9"/>
          <p:cNvSpPr/>
          <p:nvPr/>
        </p:nvSpPr>
        <p:spPr>
          <a:xfrm>
            <a:off x="3379394"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A yes/no question, as in an </a:t>
            </a:r>
            <a:r>
              <a:rPr lang="en-US" sz="2400" dirty="0">
                <a:solidFill>
                  <a:srgbClr val="94A3B8"/>
                </a:solidFill>
                <a:latin typeface="Consolas"/>
                <a:ea typeface="Consolas"/>
                <a:cs typeface="Consolas"/>
              </a:rPr>
              <a:t>if</a:t>
            </a:r>
            <a:r>
              <a:rPr lang="en-US" sz="2400" dirty="0">
                <a:solidFill>
                  <a:srgbClr val="94A3B8"/>
                </a:solidFill>
              </a:rPr>
              <a:t>.</a:t>
            </a:r>
            <a:endParaRPr lang="en-US" sz="2400" dirty="0"/>
          </a:p>
          <a:p>
            <a:pPr marL="0" indent="0" algn="ctr">
              <a:spcAft>
                <a:spcPts val="600"/>
              </a:spcAft>
              <a:buNone/>
            </a:pPr>
            <a:r>
              <a:rPr lang="en-US" sz="2400" dirty="0">
                <a:solidFill>
                  <a:srgbClr val="94A3B8"/>
                </a:solidFill>
                <a:latin typeface="Consolas"/>
                <a:ea typeface="Consolas"/>
                <a:cs typeface="Consolas"/>
              </a:rPr>
              <a:t>count &lt;= 3</a:t>
            </a:r>
            <a:endParaRPr lang="en-US" sz="2400" dirty="0"/>
          </a:p>
        </p:txBody>
      </p:sp>
      <p:sp>
        <p:nvSpPr>
          <p:cNvPr id="10" name="Shape 10"/>
          <p:cNvSpPr/>
          <p:nvPr/>
        </p:nvSpPr>
        <p:spPr>
          <a:xfrm>
            <a:off x="6210148"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Body</a:t>
            </a:r>
            <a:endParaRPr lang="en-US" sz="2600" dirty="0"/>
          </a:p>
        </p:txBody>
      </p:sp>
      <p:sp>
        <p:nvSpPr>
          <p:cNvPr id="11" name="Shape 11"/>
          <p:cNvSpPr/>
          <p:nvPr/>
        </p:nvSpPr>
        <p:spPr>
          <a:xfrm>
            <a:off x="6210148"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The work you want repeated.</a:t>
            </a:r>
            <a:endParaRPr lang="en-US" sz="2400" dirty="0"/>
          </a:p>
          <a:p>
            <a:pPr marL="0" indent="0" algn="ctr">
              <a:spcAft>
                <a:spcPts val="600"/>
              </a:spcAft>
              <a:buNone/>
            </a:pPr>
            <a:r>
              <a:rPr lang="en-US" sz="2400" dirty="0">
                <a:solidFill>
                  <a:srgbClr val="94A3B8"/>
                </a:solidFill>
                <a:latin typeface="Consolas"/>
                <a:ea typeface="Consolas"/>
                <a:cs typeface="Consolas"/>
              </a:rPr>
              <a:t>printf(...);</a:t>
            </a:r>
            <a:endParaRPr lang="en-US" sz="2400" dirty="0"/>
          </a:p>
        </p:txBody>
      </p:sp>
      <p:sp>
        <p:nvSpPr>
          <p:cNvPr id="12" name="Shape 12"/>
          <p:cNvSpPr/>
          <p:nvPr/>
        </p:nvSpPr>
        <p:spPr>
          <a:xfrm>
            <a:off x="9040901"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Update</a:t>
            </a:r>
            <a:endParaRPr lang="en-US" sz="2600" dirty="0"/>
          </a:p>
        </p:txBody>
      </p:sp>
      <p:sp>
        <p:nvSpPr>
          <p:cNvPr id="13" name="Shape 13"/>
          <p:cNvSpPr/>
          <p:nvPr/>
        </p:nvSpPr>
        <p:spPr>
          <a:xfrm>
            <a:off x="9040901"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Change the variable.</a:t>
            </a:r>
            <a:endParaRPr lang="en-US" sz="2400" dirty="0"/>
          </a:p>
          <a:p>
            <a:pPr marL="0" indent="0" algn="ctr">
              <a:spcAft>
                <a:spcPts val="600"/>
              </a:spcAft>
              <a:buNone/>
            </a:pPr>
            <a:r>
              <a:rPr lang="en-US" sz="2400" dirty="0">
                <a:solidFill>
                  <a:srgbClr val="94A3B8"/>
                </a:solidFill>
                <a:latin typeface="Consolas"/>
                <a:ea typeface="Consolas"/>
                <a:cs typeface="Consolas"/>
              </a:rPr>
              <a:t>count++;</a:t>
            </a:r>
            <a:endParaRPr lang="en-US" sz="2400" dirty="0"/>
          </a:p>
        </p:txBody>
      </p:sp>
      <p:sp>
        <p:nvSpPr>
          <p:cNvPr id="14" name="Shape 14"/>
          <p:cNvSpPr/>
          <p:nvPr/>
        </p:nvSpPr>
        <p:spPr>
          <a:xfrm>
            <a:off x="548640" y="5166360"/>
            <a:ext cx="11094415" cy="9144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548640" y="5166360"/>
            <a:ext cx="109728" cy="91440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start happens </a:t>
            </a:r>
            <a:r>
              <a:rPr lang="en-US" sz="2400" b="1" dirty="0">
                <a:solidFill>
                  <a:srgbClr val="18324A"/>
                </a:solidFill>
              </a:rPr>
              <a:t>once</a:t>
            </a:r>
            <a:r>
              <a:rPr lang="en-US" sz="2400" dirty="0">
                <a:solidFill>
                  <a:srgbClr val="18324A"/>
                </a:solidFill>
              </a:rPr>
              <a:t>.</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four parts: check</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20</a:t>
            </a:r>
            <a:endParaRPr lang="en-US" sz="1400" dirty="0"/>
          </a:p>
        </p:txBody>
      </p:sp>
      <p:sp>
        <p:nvSpPr>
          <p:cNvPr id="6" name="Shape 6"/>
          <p:cNvSpPr/>
          <p:nvPr/>
        </p:nvSpPr>
        <p:spPr>
          <a:xfrm>
            <a:off x="548640"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Start</a:t>
            </a:r>
            <a:endParaRPr lang="en-US" sz="2600" dirty="0"/>
          </a:p>
        </p:txBody>
      </p:sp>
      <p:sp>
        <p:nvSpPr>
          <p:cNvPr id="7" name="Shape 7"/>
          <p:cNvSpPr/>
          <p:nvPr/>
        </p:nvSpPr>
        <p:spPr>
          <a:xfrm>
            <a:off x="548640"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Give a variable its first value.</a:t>
            </a:r>
            <a:endParaRPr lang="en-US" sz="2400" dirty="0"/>
          </a:p>
          <a:p>
            <a:pPr marL="0" indent="0" algn="ctr">
              <a:spcAft>
                <a:spcPts val="600"/>
              </a:spcAft>
              <a:buNone/>
            </a:pPr>
            <a:r>
              <a:rPr lang="en-US" sz="2400" dirty="0">
                <a:solidFill>
                  <a:srgbClr val="94A3B8"/>
                </a:solidFill>
                <a:latin typeface="Consolas"/>
                <a:ea typeface="Consolas"/>
                <a:cs typeface="Consolas"/>
              </a:rPr>
              <a:t>int count = 1;</a:t>
            </a:r>
            <a:endParaRPr lang="en-US" sz="2400" dirty="0"/>
          </a:p>
        </p:txBody>
      </p:sp>
      <p:sp>
        <p:nvSpPr>
          <p:cNvPr id="8" name="Shape 8"/>
          <p:cNvSpPr/>
          <p:nvPr/>
        </p:nvSpPr>
        <p:spPr>
          <a:xfrm>
            <a:off x="3379394" y="1536192"/>
            <a:ext cx="2602154"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rPr>
              <a:t>Check</a:t>
            </a:r>
            <a:endParaRPr lang="en-US" sz="2600" dirty="0"/>
          </a:p>
        </p:txBody>
      </p:sp>
      <p:sp>
        <p:nvSpPr>
          <p:cNvPr id="9" name="Shape 9"/>
          <p:cNvSpPr/>
          <p:nvPr/>
        </p:nvSpPr>
        <p:spPr>
          <a:xfrm>
            <a:off x="3379394" y="2267712"/>
            <a:ext cx="2602154"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dirty="0">
                <a:solidFill>
                  <a:srgbClr val="18324A"/>
                </a:solidFill>
              </a:rPr>
              <a:t>A yes/no question, as in an </a:t>
            </a:r>
            <a:r>
              <a:rPr lang="en-US" sz="2400" dirty="0">
                <a:solidFill>
                  <a:srgbClr val="2F80ED"/>
                </a:solidFill>
                <a:latin typeface="Consolas"/>
                <a:ea typeface="Consolas"/>
                <a:cs typeface="Consolas"/>
              </a:rPr>
              <a:t>if</a:t>
            </a:r>
            <a:r>
              <a:rPr lang="en-US" sz="2400" dirty="0">
                <a:solidFill>
                  <a:srgbClr val="18324A"/>
                </a:solidFill>
              </a:rPr>
              <a:t>.</a:t>
            </a:r>
            <a:endParaRPr lang="en-US" sz="2400" dirty="0"/>
          </a:p>
          <a:p>
            <a:pPr marL="0" indent="0" algn="ctr">
              <a:spcAft>
                <a:spcPts val="600"/>
              </a:spcAft>
              <a:buNone/>
            </a:pPr>
            <a:r>
              <a:rPr lang="en-US" sz="2400" dirty="0">
                <a:solidFill>
                  <a:srgbClr val="2F80ED"/>
                </a:solidFill>
                <a:latin typeface="Consolas"/>
                <a:ea typeface="Consolas"/>
                <a:cs typeface="Consolas"/>
              </a:rPr>
              <a:t>count &lt;= 3</a:t>
            </a:r>
            <a:endParaRPr lang="en-US" sz="2400" dirty="0"/>
          </a:p>
        </p:txBody>
      </p:sp>
      <p:sp>
        <p:nvSpPr>
          <p:cNvPr id="10" name="Shape 10"/>
          <p:cNvSpPr/>
          <p:nvPr/>
        </p:nvSpPr>
        <p:spPr>
          <a:xfrm>
            <a:off x="6210148"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Body</a:t>
            </a:r>
            <a:endParaRPr lang="en-US" sz="2600" dirty="0"/>
          </a:p>
        </p:txBody>
      </p:sp>
      <p:sp>
        <p:nvSpPr>
          <p:cNvPr id="11" name="Shape 11"/>
          <p:cNvSpPr/>
          <p:nvPr/>
        </p:nvSpPr>
        <p:spPr>
          <a:xfrm>
            <a:off x="6210148"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The work you want repeated.</a:t>
            </a:r>
            <a:endParaRPr lang="en-US" sz="2400" dirty="0"/>
          </a:p>
          <a:p>
            <a:pPr marL="0" indent="0" algn="ctr">
              <a:spcAft>
                <a:spcPts val="600"/>
              </a:spcAft>
              <a:buNone/>
            </a:pPr>
            <a:r>
              <a:rPr lang="en-US" sz="2400" dirty="0">
                <a:solidFill>
                  <a:srgbClr val="94A3B8"/>
                </a:solidFill>
                <a:latin typeface="Consolas"/>
                <a:ea typeface="Consolas"/>
                <a:cs typeface="Consolas"/>
              </a:rPr>
              <a:t>printf(...);</a:t>
            </a:r>
            <a:endParaRPr lang="en-US" sz="2400" dirty="0"/>
          </a:p>
        </p:txBody>
      </p:sp>
      <p:sp>
        <p:nvSpPr>
          <p:cNvPr id="12" name="Shape 12"/>
          <p:cNvSpPr/>
          <p:nvPr/>
        </p:nvSpPr>
        <p:spPr>
          <a:xfrm>
            <a:off x="9040901"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Update</a:t>
            </a:r>
            <a:endParaRPr lang="en-US" sz="2600" dirty="0"/>
          </a:p>
        </p:txBody>
      </p:sp>
      <p:sp>
        <p:nvSpPr>
          <p:cNvPr id="13" name="Shape 13"/>
          <p:cNvSpPr/>
          <p:nvPr/>
        </p:nvSpPr>
        <p:spPr>
          <a:xfrm>
            <a:off x="9040901"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Change the variable.</a:t>
            </a:r>
            <a:endParaRPr lang="en-US" sz="2400" dirty="0"/>
          </a:p>
          <a:p>
            <a:pPr marL="0" indent="0" algn="ctr">
              <a:spcAft>
                <a:spcPts val="600"/>
              </a:spcAft>
              <a:buNone/>
            </a:pPr>
            <a:r>
              <a:rPr lang="en-US" sz="2400" dirty="0">
                <a:solidFill>
                  <a:srgbClr val="94A3B8"/>
                </a:solidFill>
                <a:latin typeface="Consolas"/>
                <a:ea typeface="Consolas"/>
                <a:cs typeface="Consolas"/>
              </a:rPr>
              <a:t>count++;</a:t>
            </a:r>
            <a:endParaRPr lang="en-US" sz="2400" dirty="0"/>
          </a:p>
        </p:txBody>
      </p:sp>
      <p:sp>
        <p:nvSpPr>
          <p:cNvPr id="14" name="Shape 14"/>
          <p:cNvSpPr/>
          <p:nvPr/>
        </p:nvSpPr>
        <p:spPr>
          <a:xfrm>
            <a:off x="548640" y="5166360"/>
            <a:ext cx="11094415" cy="9144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5" name="Shape 15"/>
          <p:cNvSpPr/>
          <p:nvPr/>
        </p:nvSpPr>
        <p:spPr>
          <a:xfrm>
            <a:off x="548640" y="5166360"/>
            <a:ext cx="109728" cy="914400"/>
          </a:xfrm>
          <a:prstGeom prst="rect">
            <a:avLst/>
          </a:prstGeom>
          <a:solidFill>
            <a:srgbClr val="31C48D"/>
          </a:solidFill>
          <a:ln>
            <a:noFill/>
          </a:ln>
        </p:spPr>
        <p:txBody>
          <a:bodyPr wrap="square" lIns="0" tIns="0" rIns="0" bIns="0" rtlCol="0" anchor="t"/>
          <a:lstStyle/>
          <a:p>
            <a:endParaRPr lang="en-US"/>
          </a:p>
        </p:txBody>
      </p:sp>
      <p:sp>
        <p:nvSpPr>
          <p:cNvPr id="16"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Yes: go on. No: the loop is over.</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four parts: body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21</a:t>
            </a:r>
            <a:endParaRPr lang="en-US" sz="1400" dirty="0"/>
          </a:p>
        </p:txBody>
      </p:sp>
      <p:sp>
        <p:nvSpPr>
          <p:cNvPr id="6" name="Shape 6"/>
          <p:cNvSpPr/>
          <p:nvPr/>
        </p:nvSpPr>
        <p:spPr>
          <a:xfrm>
            <a:off x="548640"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Start</a:t>
            </a:r>
            <a:endParaRPr lang="en-US" sz="2600" dirty="0"/>
          </a:p>
        </p:txBody>
      </p:sp>
      <p:sp>
        <p:nvSpPr>
          <p:cNvPr id="7" name="Shape 7"/>
          <p:cNvSpPr/>
          <p:nvPr/>
        </p:nvSpPr>
        <p:spPr>
          <a:xfrm>
            <a:off x="548640"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Give a variable its first value.</a:t>
            </a:r>
            <a:endParaRPr lang="en-US" sz="2400" dirty="0"/>
          </a:p>
          <a:p>
            <a:pPr marL="0" indent="0" algn="ctr">
              <a:spcAft>
                <a:spcPts val="600"/>
              </a:spcAft>
              <a:buNone/>
            </a:pPr>
            <a:r>
              <a:rPr lang="en-US" sz="2400" dirty="0">
                <a:solidFill>
                  <a:srgbClr val="94A3B8"/>
                </a:solidFill>
                <a:latin typeface="Consolas"/>
                <a:ea typeface="Consolas"/>
                <a:cs typeface="Consolas"/>
              </a:rPr>
              <a:t>int count = 1;</a:t>
            </a:r>
            <a:endParaRPr lang="en-US" sz="2400" dirty="0"/>
          </a:p>
        </p:txBody>
      </p:sp>
      <p:sp>
        <p:nvSpPr>
          <p:cNvPr id="8" name="Shape 8"/>
          <p:cNvSpPr/>
          <p:nvPr/>
        </p:nvSpPr>
        <p:spPr>
          <a:xfrm>
            <a:off x="3379394"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Check</a:t>
            </a:r>
            <a:endParaRPr lang="en-US" sz="2600" dirty="0"/>
          </a:p>
        </p:txBody>
      </p:sp>
      <p:sp>
        <p:nvSpPr>
          <p:cNvPr id="9" name="Shape 9"/>
          <p:cNvSpPr/>
          <p:nvPr/>
        </p:nvSpPr>
        <p:spPr>
          <a:xfrm>
            <a:off x="3379394"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A yes/no question, as in an </a:t>
            </a:r>
            <a:r>
              <a:rPr lang="en-US" sz="2400" dirty="0">
                <a:solidFill>
                  <a:srgbClr val="94A3B8"/>
                </a:solidFill>
                <a:latin typeface="Consolas"/>
                <a:ea typeface="Consolas"/>
                <a:cs typeface="Consolas"/>
              </a:rPr>
              <a:t>if</a:t>
            </a:r>
            <a:r>
              <a:rPr lang="en-US" sz="2400" dirty="0">
                <a:solidFill>
                  <a:srgbClr val="94A3B8"/>
                </a:solidFill>
              </a:rPr>
              <a:t>.</a:t>
            </a:r>
            <a:endParaRPr lang="en-US" sz="2400" dirty="0"/>
          </a:p>
          <a:p>
            <a:pPr marL="0" indent="0" algn="ctr">
              <a:spcAft>
                <a:spcPts val="600"/>
              </a:spcAft>
              <a:buNone/>
            </a:pPr>
            <a:r>
              <a:rPr lang="en-US" sz="2400" dirty="0">
                <a:solidFill>
                  <a:srgbClr val="94A3B8"/>
                </a:solidFill>
                <a:latin typeface="Consolas"/>
                <a:ea typeface="Consolas"/>
                <a:cs typeface="Consolas"/>
              </a:rPr>
              <a:t>count &lt;= 3</a:t>
            </a:r>
            <a:endParaRPr lang="en-US" sz="2400" dirty="0"/>
          </a:p>
        </p:txBody>
      </p:sp>
      <p:sp>
        <p:nvSpPr>
          <p:cNvPr id="10" name="Shape 10"/>
          <p:cNvSpPr/>
          <p:nvPr/>
        </p:nvSpPr>
        <p:spPr>
          <a:xfrm>
            <a:off x="6210148" y="1536192"/>
            <a:ext cx="2602154" cy="731520"/>
          </a:xfrm>
          <a:prstGeom prst="rect">
            <a:avLst/>
          </a:prstGeom>
          <a:solidFill>
            <a:srgbClr val="F59E0B"/>
          </a:solidFill>
          <a:ln>
            <a:noFill/>
          </a:ln>
        </p:spPr>
        <p:txBody>
          <a:bodyPr wrap="square" lIns="0" tIns="0" rIns="0" bIns="0" rtlCol="0" anchor="ctr"/>
          <a:lstStyle/>
          <a:p>
            <a:pPr marL="0" indent="0" algn="ctr">
              <a:buNone/>
            </a:pPr>
            <a:r>
              <a:rPr lang="en-US" sz="2600" b="1" dirty="0">
                <a:solidFill>
                  <a:srgbClr val="FFFFFF"/>
                </a:solidFill>
              </a:rPr>
              <a:t>Body</a:t>
            </a:r>
            <a:endParaRPr lang="en-US" sz="2600" dirty="0"/>
          </a:p>
        </p:txBody>
      </p:sp>
      <p:sp>
        <p:nvSpPr>
          <p:cNvPr id="11" name="Shape 11"/>
          <p:cNvSpPr/>
          <p:nvPr/>
        </p:nvSpPr>
        <p:spPr>
          <a:xfrm>
            <a:off x="6210148" y="2267712"/>
            <a:ext cx="2602154" cy="2377440"/>
          </a:xfrm>
          <a:prstGeom prst="rect">
            <a:avLst/>
          </a:prstGeom>
          <a:solidFill>
            <a:srgbClr val="FFFFFF"/>
          </a:solidFill>
          <a:ln w="19050">
            <a:solidFill>
              <a:srgbClr val="F59E0B"/>
            </a:solidFill>
          </a:ln>
        </p:spPr>
        <p:txBody>
          <a:bodyPr wrap="square" lIns="73152" tIns="91440" rIns="73152" bIns="91440" rtlCol="0" anchor="ctr"/>
          <a:lstStyle/>
          <a:p>
            <a:pPr marL="0" indent="0" algn="ctr">
              <a:spcAft>
                <a:spcPts val="600"/>
              </a:spcAft>
              <a:buNone/>
            </a:pPr>
            <a:r>
              <a:rPr lang="en-US" sz="2400" dirty="0">
                <a:solidFill>
                  <a:srgbClr val="18324A"/>
                </a:solidFill>
              </a:rPr>
              <a:t>The work you want repeated.</a:t>
            </a:r>
            <a:endParaRPr lang="en-US" sz="2400" dirty="0"/>
          </a:p>
          <a:p>
            <a:pPr marL="0" indent="0" algn="ctr">
              <a:spcAft>
                <a:spcPts val="600"/>
              </a:spcAft>
              <a:buNone/>
            </a:pPr>
            <a:r>
              <a:rPr lang="en-US" sz="2400" dirty="0">
                <a:solidFill>
                  <a:srgbClr val="2F80ED"/>
                </a:solidFill>
                <a:latin typeface="Consolas"/>
                <a:ea typeface="Consolas"/>
                <a:cs typeface="Consolas"/>
              </a:rPr>
              <a:t>printf(...);</a:t>
            </a:r>
            <a:endParaRPr lang="en-US" sz="2400" dirty="0"/>
          </a:p>
        </p:txBody>
      </p:sp>
      <p:sp>
        <p:nvSpPr>
          <p:cNvPr id="12" name="Shape 12"/>
          <p:cNvSpPr/>
          <p:nvPr/>
        </p:nvSpPr>
        <p:spPr>
          <a:xfrm>
            <a:off x="9040901"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Update</a:t>
            </a:r>
            <a:endParaRPr lang="en-US" sz="2600" dirty="0"/>
          </a:p>
        </p:txBody>
      </p:sp>
      <p:sp>
        <p:nvSpPr>
          <p:cNvPr id="13" name="Shape 13"/>
          <p:cNvSpPr/>
          <p:nvPr/>
        </p:nvSpPr>
        <p:spPr>
          <a:xfrm>
            <a:off x="9040901"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Change the variable.</a:t>
            </a:r>
            <a:endParaRPr lang="en-US" sz="2400" dirty="0"/>
          </a:p>
          <a:p>
            <a:pPr marL="0" indent="0" algn="ctr">
              <a:spcAft>
                <a:spcPts val="600"/>
              </a:spcAft>
              <a:buNone/>
            </a:pPr>
            <a:r>
              <a:rPr lang="en-US" sz="2400" dirty="0">
                <a:solidFill>
                  <a:srgbClr val="94A3B8"/>
                </a:solidFill>
                <a:latin typeface="Consolas"/>
                <a:ea typeface="Consolas"/>
                <a:cs typeface="Consolas"/>
              </a:rPr>
              <a:t>count++;</a:t>
            </a:r>
            <a:endParaRPr lang="en-US" sz="2400" dirty="0"/>
          </a:p>
        </p:txBody>
      </p:sp>
      <p:sp>
        <p:nvSpPr>
          <p:cNvPr id="14" name="Shape 14"/>
          <p:cNvSpPr/>
          <p:nvPr/>
        </p:nvSpPr>
        <p:spPr>
          <a:xfrm>
            <a:off x="548640" y="5166360"/>
            <a:ext cx="11094415" cy="9144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5" name="Shape 15"/>
          <p:cNvSpPr/>
          <p:nvPr/>
        </p:nvSpPr>
        <p:spPr>
          <a:xfrm>
            <a:off x="548640" y="5166360"/>
            <a:ext cx="109728" cy="914400"/>
          </a:xfrm>
          <a:prstGeom prst="rect">
            <a:avLst/>
          </a:prstGeom>
          <a:solidFill>
            <a:srgbClr val="F59E0B"/>
          </a:solidFill>
          <a:ln>
            <a:noFill/>
          </a:ln>
        </p:spPr>
        <p:txBody>
          <a:bodyPr wrap="square" lIns="0" tIns="0" rIns="0" bIns="0" rtlCol="0" anchor="t"/>
          <a:lstStyle/>
          <a:p>
            <a:endParaRPr lang="en-US"/>
          </a:p>
        </p:txBody>
      </p:sp>
      <p:sp>
        <p:nvSpPr>
          <p:cNvPr id="16"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This is why you wrote the loop.</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four parts: update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22</a:t>
            </a:r>
            <a:endParaRPr lang="en-US" sz="1400" dirty="0"/>
          </a:p>
        </p:txBody>
      </p:sp>
      <p:sp>
        <p:nvSpPr>
          <p:cNvPr id="6" name="Shape 6"/>
          <p:cNvSpPr/>
          <p:nvPr/>
        </p:nvSpPr>
        <p:spPr>
          <a:xfrm>
            <a:off x="548640"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Start</a:t>
            </a:r>
            <a:endParaRPr lang="en-US" sz="2600" dirty="0"/>
          </a:p>
        </p:txBody>
      </p:sp>
      <p:sp>
        <p:nvSpPr>
          <p:cNvPr id="7" name="Shape 7"/>
          <p:cNvSpPr/>
          <p:nvPr/>
        </p:nvSpPr>
        <p:spPr>
          <a:xfrm>
            <a:off x="548640"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Give a variable its first value.</a:t>
            </a:r>
            <a:endParaRPr lang="en-US" sz="2400" dirty="0"/>
          </a:p>
          <a:p>
            <a:pPr marL="0" indent="0" algn="ctr">
              <a:spcAft>
                <a:spcPts val="600"/>
              </a:spcAft>
              <a:buNone/>
            </a:pPr>
            <a:r>
              <a:rPr lang="en-US" sz="2400" dirty="0">
                <a:solidFill>
                  <a:srgbClr val="94A3B8"/>
                </a:solidFill>
                <a:latin typeface="Consolas"/>
                <a:ea typeface="Consolas"/>
                <a:cs typeface="Consolas"/>
              </a:rPr>
              <a:t>int count = 1;</a:t>
            </a:r>
            <a:endParaRPr lang="en-US" sz="2400" dirty="0"/>
          </a:p>
        </p:txBody>
      </p:sp>
      <p:sp>
        <p:nvSpPr>
          <p:cNvPr id="8" name="Shape 8"/>
          <p:cNvSpPr/>
          <p:nvPr/>
        </p:nvSpPr>
        <p:spPr>
          <a:xfrm>
            <a:off x="3379394"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Check</a:t>
            </a:r>
            <a:endParaRPr lang="en-US" sz="2600" dirty="0"/>
          </a:p>
        </p:txBody>
      </p:sp>
      <p:sp>
        <p:nvSpPr>
          <p:cNvPr id="9" name="Shape 9"/>
          <p:cNvSpPr/>
          <p:nvPr/>
        </p:nvSpPr>
        <p:spPr>
          <a:xfrm>
            <a:off x="3379394"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A yes/no question, as in an </a:t>
            </a:r>
            <a:r>
              <a:rPr lang="en-US" sz="2400" dirty="0">
                <a:solidFill>
                  <a:srgbClr val="94A3B8"/>
                </a:solidFill>
                <a:latin typeface="Consolas"/>
                <a:ea typeface="Consolas"/>
                <a:cs typeface="Consolas"/>
              </a:rPr>
              <a:t>if</a:t>
            </a:r>
            <a:r>
              <a:rPr lang="en-US" sz="2400" dirty="0">
                <a:solidFill>
                  <a:srgbClr val="94A3B8"/>
                </a:solidFill>
              </a:rPr>
              <a:t>.</a:t>
            </a:r>
            <a:endParaRPr lang="en-US" sz="2400" dirty="0"/>
          </a:p>
          <a:p>
            <a:pPr marL="0" indent="0" algn="ctr">
              <a:spcAft>
                <a:spcPts val="600"/>
              </a:spcAft>
              <a:buNone/>
            </a:pPr>
            <a:r>
              <a:rPr lang="en-US" sz="2400" dirty="0">
                <a:solidFill>
                  <a:srgbClr val="94A3B8"/>
                </a:solidFill>
                <a:latin typeface="Consolas"/>
                <a:ea typeface="Consolas"/>
                <a:cs typeface="Consolas"/>
              </a:rPr>
              <a:t>count &lt;= 3</a:t>
            </a:r>
            <a:endParaRPr lang="en-US" sz="2400" dirty="0"/>
          </a:p>
        </p:txBody>
      </p:sp>
      <p:sp>
        <p:nvSpPr>
          <p:cNvPr id="10" name="Shape 10"/>
          <p:cNvSpPr/>
          <p:nvPr/>
        </p:nvSpPr>
        <p:spPr>
          <a:xfrm>
            <a:off x="6210148" y="1536192"/>
            <a:ext cx="2602154" cy="731520"/>
          </a:xfrm>
          <a:prstGeom prst="rect">
            <a:avLst/>
          </a:prstGeom>
          <a:solidFill>
            <a:srgbClr val="CBD5E1"/>
          </a:solidFill>
          <a:ln>
            <a:noFill/>
          </a:ln>
        </p:spPr>
        <p:txBody>
          <a:bodyPr wrap="square" lIns="0" tIns="0" rIns="0" bIns="0" rtlCol="0" anchor="ctr"/>
          <a:lstStyle/>
          <a:p>
            <a:pPr marL="0" indent="0" algn="ctr">
              <a:buNone/>
            </a:pPr>
            <a:r>
              <a:rPr lang="en-US" sz="2600" b="1" dirty="0">
                <a:solidFill>
                  <a:srgbClr val="FFFFFF"/>
                </a:solidFill>
              </a:rPr>
              <a:t>Body</a:t>
            </a:r>
            <a:endParaRPr lang="en-US" sz="2600" dirty="0"/>
          </a:p>
        </p:txBody>
      </p:sp>
      <p:sp>
        <p:nvSpPr>
          <p:cNvPr id="11" name="Shape 11"/>
          <p:cNvSpPr/>
          <p:nvPr/>
        </p:nvSpPr>
        <p:spPr>
          <a:xfrm>
            <a:off x="6210148" y="2267712"/>
            <a:ext cx="2602154" cy="2377440"/>
          </a:xfrm>
          <a:prstGeom prst="rect">
            <a:avLst/>
          </a:prstGeom>
          <a:solidFill>
            <a:srgbClr val="FFFFFF"/>
          </a:solidFill>
          <a:ln w="19050">
            <a:solidFill>
              <a:srgbClr val="CBD5E1"/>
            </a:solidFill>
          </a:ln>
        </p:spPr>
        <p:txBody>
          <a:bodyPr wrap="square" lIns="73152" tIns="91440" rIns="73152" bIns="91440" rtlCol="0" anchor="ctr"/>
          <a:lstStyle/>
          <a:p>
            <a:pPr marL="0" indent="0" algn="ctr">
              <a:spcAft>
                <a:spcPts val="600"/>
              </a:spcAft>
              <a:buNone/>
            </a:pPr>
            <a:r>
              <a:rPr lang="en-US" sz="2400" dirty="0">
                <a:solidFill>
                  <a:srgbClr val="94A3B8"/>
                </a:solidFill>
              </a:rPr>
              <a:t>The work you want repeated.</a:t>
            </a:r>
            <a:endParaRPr lang="en-US" sz="2400" dirty="0"/>
          </a:p>
          <a:p>
            <a:pPr marL="0" indent="0" algn="ctr">
              <a:spcAft>
                <a:spcPts val="600"/>
              </a:spcAft>
              <a:buNone/>
            </a:pPr>
            <a:r>
              <a:rPr lang="en-US" sz="2400" dirty="0">
                <a:solidFill>
                  <a:srgbClr val="94A3B8"/>
                </a:solidFill>
                <a:latin typeface="Consolas"/>
                <a:ea typeface="Consolas"/>
                <a:cs typeface="Consolas"/>
              </a:rPr>
              <a:t>printf(...);</a:t>
            </a:r>
            <a:endParaRPr lang="en-US" sz="2400" dirty="0"/>
          </a:p>
        </p:txBody>
      </p:sp>
      <p:sp>
        <p:nvSpPr>
          <p:cNvPr id="12" name="Shape 12"/>
          <p:cNvSpPr/>
          <p:nvPr/>
        </p:nvSpPr>
        <p:spPr>
          <a:xfrm>
            <a:off x="9040901" y="1536192"/>
            <a:ext cx="2602154" cy="731520"/>
          </a:xfrm>
          <a:prstGeom prst="rect">
            <a:avLst/>
          </a:prstGeom>
          <a:solidFill>
            <a:srgbClr val="8B5CF6"/>
          </a:solidFill>
          <a:ln>
            <a:noFill/>
          </a:ln>
        </p:spPr>
        <p:txBody>
          <a:bodyPr wrap="square" lIns="0" tIns="0" rIns="0" bIns="0" rtlCol="0" anchor="ctr"/>
          <a:lstStyle/>
          <a:p>
            <a:pPr marL="0" indent="0" algn="ctr">
              <a:buNone/>
            </a:pPr>
            <a:r>
              <a:rPr lang="en-US" sz="2600" b="1" dirty="0">
                <a:solidFill>
                  <a:srgbClr val="FFFFFF"/>
                </a:solidFill>
              </a:rPr>
              <a:t>Update</a:t>
            </a:r>
            <a:endParaRPr lang="en-US" sz="2600" dirty="0"/>
          </a:p>
        </p:txBody>
      </p:sp>
      <p:sp>
        <p:nvSpPr>
          <p:cNvPr id="13" name="Shape 13"/>
          <p:cNvSpPr/>
          <p:nvPr/>
        </p:nvSpPr>
        <p:spPr>
          <a:xfrm>
            <a:off x="9040901" y="2267712"/>
            <a:ext cx="2602154" cy="2377440"/>
          </a:xfrm>
          <a:prstGeom prst="rect">
            <a:avLst/>
          </a:prstGeom>
          <a:solidFill>
            <a:srgbClr val="FFFFFF"/>
          </a:solidFill>
          <a:ln w="19050">
            <a:solidFill>
              <a:srgbClr val="8B5CF6"/>
            </a:solidFill>
          </a:ln>
        </p:spPr>
        <p:txBody>
          <a:bodyPr wrap="square" lIns="73152" tIns="91440" rIns="73152" bIns="91440" rtlCol="0" anchor="ctr"/>
          <a:lstStyle/>
          <a:p>
            <a:pPr marL="0" indent="0" algn="ctr">
              <a:spcAft>
                <a:spcPts val="600"/>
              </a:spcAft>
              <a:buNone/>
            </a:pPr>
            <a:r>
              <a:rPr lang="en-US" sz="2400" dirty="0">
                <a:solidFill>
                  <a:srgbClr val="18324A"/>
                </a:solidFill>
              </a:rPr>
              <a:t>Change the variable.</a:t>
            </a:r>
            <a:endParaRPr lang="en-US" sz="2400" dirty="0"/>
          </a:p>
          <a:p>
            <a:pPr marL="0" indent="0" algn="ctr">
              <a:spcAft>
                <a:spcPts val="600"/>
              </a:spcAft>
              <a:buNone/>
            </a:pPr>
            <a:r>
              <a:rPr lang="en-US" sz="2400" dirty="0">
                <a:solidFill>
                  <a:srgbClr val="2F80ED"/>
                </a:solidFill>
                <a:latin typeface="Consolas"/>
                <a:ea typeface="Consolas"/>
                <a:cs typeface="Consolas"/>
              </a:rPr>
              <a:t>count++;</a:t>
            </a:r>
            <a:endParaRPr lang="en-US" sz="2400" dirty="0"/>
          </a:p>
        </p:txBody>
      </p:sp>
      <p:sp>
        <p:nvSpPr>
          <p:cNvPr id="14" name="Shape 14"/>
          <p:cNvSpPr/>
          <p:nvPr/>
        </p:nvSpPr>
        <p:spPr>
          <a:xfrm>
            <a:off x="548640" y="5166360"/>
            <a:ext cx="11094415" cy="91440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5" name="Shape 15"/>
          <p:cNvSpPr/>
          <p:nvPr/>
        </p:nvSpPr>
        <p:spPr>
          <a:xfrm>
            <a:off x="548640" y="5166360"/>
            <a:ext cx="109728" cy="914400"/>
          </a:xfrm>
          <a:prstGeom prst="rect">
            <a:avLst/>
          </a:prstGeom>
          <a:solidFill>
            <a:srgbClr val="8B5CF6"/>
          </a:solidFill>
          <a:ln>
            <a:noFill/>
          </a:ln>
        </p:spPr>
        <p:txBody>
          <a:bodyPr wrap="square" lIns="0" tIns="0" rIns="0" bIns="0" rtlCol="0" anchor="t"/>
          <a:lstStyle/>
          <a:p>
            <a:endParaRPr lang="en-US"/>
          </a:p>
        </p:txBody>
      </p:sp>
      <p:sp>
        <p:nvSpPr>
          <p:cNvPr id="16"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So that one day the answer to the check is </a:t>
            </a:r>
            <a:r>
              <a:rPr lang="en-US" sz="2400" b="1" dirty="0">
                <a:solidFill>
                  <a:srgbClr val="18324A"/>
                </a:solidFill>
              </a:rPr>
              <a:t>no</a:t>
            </a:r>
            <a:r>
              <a:rPr lang="en-US" sz="2400" dirty="0">
                <a:solidFill>
                  <a:srgbClr val="18324A"/>
                </a:solidFill>
              </a:rPr>
              <a:t>.</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Start, check, body, update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23</a:t>
            </a:r>
            <a:endParaRPr lang="en-US" sz="1400" dirty="0"/>
          </a:p>
        </p:txBody>
      </p:sp>
      <p:sp>
        <p:nvSpPr>
          <p:cNvPr id="6" name="Shape 6"/>
          <p:cNvSpPr/>
          <p:nvPr/>
        </p:nvSpPr>
        <p:spPr>
          <a:xfrm>
            <a:off x="548640" y="1536192"/>
            <a:ext cx="2602154"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rPr>
              <a:t>Start</a:t>
            </a:r>
            <a:endParaRPr lang="en-US" sz="2600" dirty="0"/>
          </a:p>
        </p:txBody>
      </p:sp>
      <p:sp>
        <p:nvSpPr>
          <p:cNvPr id="7" name="Shape 7"/>
          <p:cNvSpPr/>
          <p:nvPr/>
        </p:nvSpPr>
        <p:spPr>
          <a:xfrm>
            <a:off x="548640" y="2267712"/>
            <a:ext cx="2602154"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dirty="0">
                <a:solidFill>
                  <a:srgbClr val="18324A"/>
                </a:solidFill>
              </a:rPr>
              <a:t>Give a variable its first value.</a:t>
            </a:r>
            <a:endParaRPr lang="en-US" sz="2400" dirty="0"/>
          </a:p>
          <a:p>
            <a:pPr marL="0" indent="0" algn="ctr">
              <a:spcAft>
                <a:spcPts val="600"/>
              </a:spcAft>
              <a:buNone/>
            </a:pPr>
            <a:r>
              <a:rPr lang="en-US" sz="2400" dirty="0">
                <a:solidFill>
                  <a:srgbClr val="2F80ED"/>
                </a:solidFill>
                <a:latin typeface="Consolas"/>
                <a:ea typeface="Consolas"/>
                <a:cs typeface="Consolas"/>
              </a:rPr>
              <a:t>int count = 1;</a:t>
            </a:r>
            <a:endParaRPr lang="en-US" sz="2400" dirty="0"/>
          </a:p>
        </p:txBody>
      </p:sp>
      <p:sp>
        <p:nvSpPr>
          <p:cNvPr id="8" name="Shape 8"/>
          <p:cNvSpPr/>
          <p:nvPr/>
        </p:nvSpPr>
        <p:spPr>
          <a:xfrm>
            <a:off x="3379394" y="1536192"/>
            <a:ext cx="2602154"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rPr>
              <a:t>Check</a:t>
            </a:r>
            <a:endParaRPr lang="en-US" sz="2600" dirty="0"/>
          </a:p>
        </p:txBody>
      </p:sp>
      <p:sp>
        <p:nvSpPr>
          <p:cNvPr id="9" name="Shape 9"/>
          <p:cNvSpPr/>
          <p:nvPr/>
        </p:nvSpPr>
        <p:spPr>
          <a:xfrm>
            <a:off x="3379394" y="2267712"/>
            <a:ext cx="2602154"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dirty="0">
                <a:solidFill>
                  <a:srgbClr val="18324A"/>
                </a:solidFill>
              </a:rPr>
              <a:t>A yes/no question, as in an </a:t>
            </a:r>
            <a:r>
              <a:rPr lang="en-US" sz="2400" dirty="0">
                <a:solidFill>
                  <a:srgbClr val="2F80ED"/>
                </a:solidFill>
                <a:latin typeface="Consolas"/>
                <a:ea typeface="Consolas"/>
                <a:cs typeface="Consolas"/>
              </a:rPr>
              <a:t>if</a:t>
            </a:r>
            <a:r>
              <a:rPr lang="en-US" sz="2400" dirty="0">
                <a:solidFill>
                  <a:srgbClr val="18324A"/>
                </a:solidFill>
              </a:rPr>
              <a:t>.</a:t>
            </a:r>
            <a:endParaRPr lang="en-US" sz="2400" dirty="0"/>
          </a:p>
          <a:p>
            <a:pPr marL="0" indent="0" algn="ctr">
              <a:spcAft>
                <a:spcPts val="600"/>
              </a:spcAft>
              <a:buNone/>
            </a:pPr>
            <a:r>
              <a:rPr lang="en-US" sz="2400" dirty="0">
                <a:solidFill>
                  <a:srgbClr val="2F80ED"/>
                </a:solidFill>
                <a:latin typeface="Consolas"/>
                <a:ea typeface="Consolas"/>
                <a:cs typeface="Consolas"/>
              </a:rPr>
              <a:t>count &lt;= 3</a:t>
            </a:r>
            <a:endParaRPr lang="en-US" sz="2400" dirty="0"/>
          </a:p>
        </p:txBody>
      </p:sp>
      <p:sp>
        <p:nvSpPr>
          <p:cNvPr id="10" name="Shape 10"/>
          <p:cNvSpPr/>
          <p:nvPr/>
        </p:nvSpPr>
        <p:spPr>
          <a:xfrm>
            <a:off x="6210148" y="1536192"/>
            <a:ext cx="2602154" cy="731520"/>
          </a:xfrm>
          <a:prstGeom prst="rect">
            <a:avLst/>
          </a:prstGeom>
          <a:solidFill>
            <a:srgbClr val="F59E0B"/>
          </a:solidFill>
          <a:ln>
            <a:noFill/>
          </a:ln>
        </p:spPr>
        <p:txBody>
          <a:bodyPr wrap="square" lIns="0" tIns="0" rIns="0" bIns="0" rtlCol="0" anchor="ctr"/>
          <a:lstStyle/>
          <a:p>
            <a:pPr marL="0" indent="0" algn="ctr">
              <a:buNone/>
            </a:pPr>
            <a:r>
              <a:rPr lang="en-US" sz="2600" b="1" dirty="0">
                <a:solidFill>
                  <a:srgbClr val="FFFFFF"/>
                </a:solidFill>
              </a:rPr>
              <a:t>Body</a:t>
            </a:r>
            <a:endParaRPr lang="en-US" sz="2600" dirty="0"/>
          </a:p>
        </p:txBody>
      </p:sp>
      <p:sp>
        <p:nvSpPr>
          <p:cNvPr id="11" name="Shape 11"/>
          <p:cNvSpPr/>
          <p:nvPr/>
        </p:nvSpPr>
        <p:spPr>
          <a:xfrm>
            <a:off x="6210148" y="2267712"/>
            <a:ext cx="2602154" cy="2377440"/>
          </a:xfrm>
          <a:prstGeom prst="rect">
            <a:avLst/>
          </a:prstGeom>
          <a:solidFill>
            <a:srgbClr val="FFFFFF"/>
          </a:solidFill>
          <a:ln w="19050">
            <a:solidFill>
              <a:srgbClr val="F59E0B"/>
            </a:solidFill>
          </a:ln>
        </p:spPr>
        <p:txBody>
          <a:bodyPr wrap="square" lIns="73152" tIns="91440" rIns="73152" bIns="91440" rtlCol="0" anchor="ctr"/>
          <a:lstStyle/>
          <a:p>
            <a:pPr marL="0" indent="0" algn="ctr">
              <a:spcAft>
                <a:spcPts val="600"/>
              </a:spcAft>
              <a:buNone/>
            </a:pPr>
            <a:r>
              <a:rPr lang="en-US" sz="2400" dirty="0">
                <a:solidFill>
                  <a:srgbClr val="18324A"/>
                </a:solidFill>
              </a:rPr>
              <a:t>The work you want repeated.</a:t>
            </a:r>
            <a:endParaRPr lang="en-US" sz="2400" dirty="0"/>
          </a:p>
          <a:p>
            <a:pPr marL="0" indent="0" algn="ctr">
              <a:spcAft>
                <a:spcPts val="600"/>
              </a:spcAft>
              <a:buNone/>
            </a:pPr>
            <a:r>
              <a:rPr lang="en-US" sz="2400" dirty="0">
                <a:solidFill>
                  <a:srgbClr val="2F80ED"/>
                </a:solidFill>
                <a:latin typeface="Consolas"/>
                <a:ea typeface="Consolas"/>
                <a:cs typeface="Consolas"/>
              </a:rPr>
              <a:t>printf(...);</a:t>
            </a:r>
            <a:endParaRPr lang="en-US" sz="2400" dirty="0"/>
          </a:p>
        </p:txBody>
      </p:sp>
      <p:sp>
        <p:nvSpPr>
          <p:cNvPr id="12" name="Shape 12"/>
          <p:cNvSpPr/>
          <p:nvPr/>
        </p:nvSpPr>
        <p:spPr>
          <a:xfrm>
            <a:off x="9040901" y="1536192"/>
            <a:ext cx="2602154" cy="731520"/>
          </a:xfrm>
          <a:prstGeom prst="rect">
            <a:avLst/>
          </a:prstGeom>
          <a:solidFill>
            <a:srgbClr val="8B5CF6"/>
          </a:solidFill>
          <a:ln>
            <a:noFill/>
          </a:ln>
        </p:spPr>
        <p:txBody>
          <a:bodyPr wrap="square" lIns="0" tIns="0" rIns="0" bIns="0" rtlCol="0" anchor="ctr"/>
          <a:lstStyle/>
          <a:p>
            <a:pPr marL="0" indent="0" algn="ctr">
              <a:buNone/>
            </a:pPr>
            <a:r>
              <a:rPr lang="en-US" sz="2600" b="1" dirty="0">
                <a:solidFill>
                  <a:srgbClr val="FFFFFF"/>
                </a:solidFill>
              </a:rPr>
              <a:t>Update</a:t>
            </a:r>
            <a:endParaRPr lang="en-US" sz="2600" dirty="0"/>
          </a:p>
        </p:txBody>
      </p:sp>
      <p:sp>
        <p:nvSpPr>
          <p:cNvPr id="13" name="Shape 13"/>
          <p:cNvSpPr/>
          <p:nvPr/>
        </p:nvSpPr>
        <p:spPr>
          <a:xfrm>
            <a:off x="9040901" y="2267712"/>
            <a:ext cx="2602154" cy="2377440"/>
          </a:xfrm>
          <a:prstGeom prst="rect">
            <a:avLst/>
          </a:prstGeom>
          <a:solidFill>
            <a:srgbClr val="FFFFFF"/>
          </a:solidFill>
          <a:ln w="19050">
            <a:solidFill>
              <a:srgbClr val="8B5CF6"/>
            </a:solidFill>
          </a:ln>
        </p:spPr>
        <p:txBody>
          <a:bodyPr wrap="square" lIns="73152" tIns="91440" rIns="73152" bIns="91440" rtlCol="0" anchor="ctr"/>
          <a:lstStyle/>
          <a:p>
            <a:pPr marL="0" indent="0" algn="ctr">
              <a:spcAft>
                <a:spcPts val="600"/>
              </a:spcAft>
              <a:buNone/>
            </a:pPr>
            <a:r>
              <a:rPr lang="en-US" sz="2400" dirty="0">
                <a:solidFill>
                  <a:srgbClr val="18324A"/>
                </a:solidFill>
              </a:rPr>
              <a:t>Change the variable.</a:t>
            </a:r>
            <a:endParaRPr lang="en-US" sz="2400" dirty="0"/>
          </a:p>
          <a:p>
            <a:pPr marL="0" indent="0" algn="ctr">
              <a:spcAft>
                <a:spcPts val="600"/>
              </a:spcAft>
              <a:buNone/>
            </a:pPr>
            <a:r>
              <a:rPr lang="en-US" sz="2400" dirty="0">
                <a:solidFill>
                  <a:srgbClr val="2F80ED"/>
                </a:solidFill>
                <a:latin typeface="Consolas"/>
                <a:ea typeface="Consolas"/>
                <a:cs typeface="Consolas"/>
              </a:rPr>
              <a:t>count++;</a:t>
            </a:r>
            <a:endParaRPr lang="en-US" sz="2400" dirty="0"/>
          </a:p>
        </p:txBody>
      </p:sp>
      <p:sp>
        <p:nvSpPr>
          <p:cNvPr id="14" name="Shape 14"/>
          <p:cNvSpPr/>
          <p:nvPr/>
        </p:nvSpPr>
        <p:spPr>
          <a:xfrm>
            <a:off x="548640" y="5166360"/>
            <a:ext cx="11094415" cy="9144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548640" y="5166360"/>
            <a:ext cx="109728" cy="91440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After the update: back to the </a:t>
            </a:r>
            <a:r>
              <a:rPr lang="en-US" sz="2400" b="1" dirty="0">
                <a:solidFill>
                  <a:srgbClr val="18324A"/>
                </a:solidFill>
              </a:rPr>
              <a:t>check</a:t>
            </a:r>
            <a:r>
              <a:rPr lang="en-US" sz="2400" dirty="0">
                <a:solidFill>
                  <a:srgbClr val="18324A"/>
                </a:solidFill>
              </a:rPr>
              <a:t>. Not back to the start.</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trip around is one round</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24</a:t>
            </a:r>
            <a:endParaRPr lang="en-US" sz="1400" dirty="0"/>
          </a:p>
        </p:txBody>
      </p:sp>
      <p:sp>
        <p:nvSpPr>
          <p:cNvPr id="6" name="Shape 6"/>
          <p:cNvSpPr/>
          <p:nvPr/>
        </p:nvSpPr>
        <p:spPr>
          <a:xfrm>
            <a:off x="548640" y="1399032"/>
            <a:ext cx="109728" cy="14020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Start → check → body → update → check → body → update → check ...</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One trip around the circle is one </a:t>
            </a:r>
            <a:r>
              <a:rPr lang="en-US" sz="3000" b="1" dirty="0">
                <a:solidFill>
                  <a:srgbClr val="18324A"/>
                </a:solidFill>
              </a:rPr>
              <a:t>round</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Books call it an </a:t>
            </a:r>
            <a:r>
              <a:rPr lang="en-US" sz="3000" b="1" dirty="0">
                <a:solidFill>
                  <a:srgbClr val="18324A"/>
                </a:solidFill>
              </a:rPr>
              <a:t>iteration</a:t>
            </a:r>
            <a:r>
              <a:rPr lang="en-US" sz="3000" dirty="0">
                <a:solidFill>
                  <a:srgbClr val="18324A"/>
                </a:solidFill>
              </a:rPr>
              <a:t>.</a:t>
            </a:r>
            <a:endParaRPr lang="en-US" sz="3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When a loop never stops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25</a:t>
            </a:r>
            <a:endParaRPr lang="en-US" sz="1400" dirty="0"/>
          </a:p>
        </p:txBody>
      </p:sp>
      <p:sp>
        <p:nvSpPr>
          <p:cNvPr id="6" name="Shape 6"/>
          <p:cNvSpPr/>
          <p:nvPr/>
        </p:nvSpPr>
        <p:spPr>
          <a:xfrm>
            <a:off x="548640" y="1261872"/>
            <a:ext cx="2377440" cy="457200"/>
          </a:xfrm>
          <a:prstGeom prst="rect">
            <a:avLst/>
          </a:prstGeom>
          <a:solidFill>
            <a:srgbClr val="8B5CF6"/>
          </a:solidFill>
          <a:ln>
            <a:noFill/>
          </a:ln>
        </p:spPr>
        <p:txBody>
          <a:bodyPr wrap="square" lIns="0" tIns="0" rIns="0" bIns="0" rtlCol="0" anchor="ctr"/>
          <a:lstStyle/>
          <a:p>
            <a:pPr marL="0" indent="0" algn="ctr">
              <a:buNone/>
            </a:pPr>
            <a:r>
              <a:rPr lang="en-US" sz="1800" b="1" dirty="0">
                <a:solidFill>
                  <a:srgbClr val="FFFFFF"/>
                </a:solidFill>
              </a:rPr>
              <a:t>QUESTION</a:t>
            </a:r>
            <a:endParaRPr lang="en-US" sz="1800" dirty="0"/>
          </a:p>
        </p:txBody>
      </p:sp>
      <p:sp>
        <p:nvSpPr>
          <p:cNvPr id="7" name="Shape 7"/>
          <p:cNvSpPr/>
          <p:nvPr/>
        </p:nvSpPr>
        <p:spPr>
          <a:xfrm>
            <a:off x="548640" y="1947672"/>
            <a:ext cx="11094415" cy="115824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A loop never stops.</a:t>
            </a:r>
            <a:endParaRPr lang="en-US" sz="3200" dirty="0"/>
          </a:p>
          <a:p>
            <a:pPr marL="0" indent="0" algn="l">
              <a:spcAft>
                <a:spcPts val="600"/>
              </a:spcAft>
              <a:buNone/>
            </a:pPr>
            <a:r>
              <a:rPr lang="en-US" sz="3200" dirty="0">
                <a:solidFill>
                  <a:srgbClr val="18324A"/>
                </a:solidFill>
              </a:rPr>
              <a:t>Which of the four parts is probably wrong?</a:t>
            </a:r>
            <a:endParaRPr lang="en-US"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F59E0B"/>
          </a:solidFill>
          <a:ln>
            <a:noFill/>
          </a:ln>
        </p:spPr>
        <p:txBody>
          <a:bodyPr wrap="square" lIns="0" tIns="0" rIns="0" bIns="0" rtlCol="0" anchor="ctr"/>
          <a:lstStyle/>
          <a:p>
            <a:pPr marL="0" indent="0" algn="ctr">
              <a:buNone/>
            </a:pPr>
            <a:r>
              <a:rPr lang="en-US" sz="5400" b="1" dirty="0">
                <a:solidFill>
                  <a:srgbClr val="FFFFFF"/>
                </a:solidFill>
              </a:rPr>
              <a:t>3</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The </a:t>
            </a:r>
            <a:r>
              <a:rPr lang="en-US" sz="4800" b="1" dirty="0">
                <a:solidFill>
                  <a:srgbClr val="FFFFFF"/>
                </a:solidFill>
                <a:latin typeface="Consolas"/>
                <a:ea typeface="Consolas"/>
                <a:cs typeface="Consolas"/>
              </a:rPr>
              <a:t>while</a:t>
            </a:r>
            <a:r>
              <a:rPr lang="en-US" sz="4800" b="1" dirty="0">
                <a:solidFill>
                  <a:srgbClr val="FFFFFF"/>
                </a:solidFill>
              </a:rPr>
              <a:t> loop</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An </a:t>
            </a:r>
            <a:r>
              <a:rPr lang="en-US" sz="2600" dirty="0">
                <a:solidFill>
                  <a:srgbClr val="FFFFFF"/>
                </a:solidFill>
                <a:latin typeface="Consolas"/>
                <a:ea typeface="Consolas"/>
                <a:cs typeface="Consolas"/>
              </a:rPr>
              <a:t>if</a:t>
            </a:r>
            <a:r>
              <a:rPr lang="en-US" sz="2600" dirty="0">
                <a:solidFill>
                  <a:srgbClr val="D7E3F0"/>
                </a:solidFill>
              </a:rPr>
              <a:t> that keeps asking</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5</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2F80ED"/>
                </a:solidFill>
                <a:latin typeface="Consolas"/>
                <a:ea typeface="Consolas"/>
                <a:cs typeface="Consolas"/>
              </a:rPr>
              <a:t>while</a:t>
            </a:r>
            <a:r>
              <a:rPr lang="en-US" sz="3400" b="1" dirty="0">
                <a:solidFill>
                  <a:srgbClr val="18324A"/>
                </a:solidFill>
              </a:rPr>
              <a:t> looks like </a:t>
            </a:r>
            <a:r>
              <a:rPr lang="en-US" sz="3400" b="1" dirty="0">
                <a:solidFill>
                  <a:srgbClr val="2F80ED"/>
                </a:solidFill>
                <a:latin typeface="Consolas"/>
                <a:ea typeface="Consolas"/>
                <a:cs typeface="Consolas"/>
              </a:rPr>
              <a:t>if</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27</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After an </a:t>
            </a:r>
            <a:r>
              <a:rPr lang="en-US" sz="2400" dirty="0">
                <a:solidFill>
                  <a:srgbClr val="18324A"/>
                </a:solidFill>
                <a:latin typeface="Consolas"/>
                <a:ea typeface="Consolas"/>
                <a:cs typeface="Consolas"/>
              </a:rPr>
              <a:t>if</a:t>
            </a:r>
            <a:r>
              <a:rPr lang="en-US" sz="2400" dirty="0">
                <a:solidFill>
                  <a:srgbClr val="18324A"/>
                </a:solidFill>
              </a:rPr>
              <a:t> block, C moves on. After a </a:t>
            </a:r>
            <a:r>
              <a:rPr lang="en-US" sz="2400" dirty="0">
                <a:solidFill>
                  <a:srgbClr val="18324A"/>
                </a:solidFill>
                <a:latin typeface="Consolas"/>
                <a:ea typeface="Consolas"/>
                <a:cs typeface="Consolas"/>
              </a:rPr>
              <a:t>while</a:t>
            </a:r>
            <a:r>
              <a:rPr lang="en-US" sz="2400" dirty="0">
                <a:solidFill>
                  <a:srgbClr val="18324A"/>
                </a:solidFill>
              </a:rPr>
              <a:t> block, C goes </a:t>
            </a:r>
            <a:r>
              <a:rPr lang="en-US" sz="2400" b="1" dirty="0">
                <a:solidFill>
                  <a:srgbClr val="18324A"/>
                </a:solidFill>
              </a:rPr>
              <a:t>back up</a:t>
            </a:r>
            <a:r>
              <a:rPr lang="en-US" sz="2400" dirty="0">
                <a:solidFill>
                  <a:srgbClr val="18324A"/>
                </a:solidFill>
              </a:rPr>
              <a:t> and asks again.</a:t>
            </a:r>
            <a:endParaRPr lang="en-US" sz="2400" dirty="0"/>
          </a:p>
        </p:txBody>
      </p:sp>
      <p:sp>
        <p:nvSpPr>
          <p:cNvPr id="9" name="Shape 9"/>
          <p:cNvSpPr/>
          <p:nvPr/>
        </p:nvSpPr>
        <p:spPr>
          <a:xfrm>
            <a:off x="548640" y="1261872"/>
            <a:ext cx="5364328" cy="384048"/>
          </a:xfrm>
          <a:prstGeom prst="rect">
            <a:avLst/>
          </a:prstGeom>
          <a:solidFill>
            <a:srgbClr val="2F80ED"/>
          </a:solidFill>
          <a:ln>
            <a:noFill/>
          </a:ln>
        </p:spPr>
        <p:txBody>
          <a:bodyPr wrap="square" lIns="0" tIns="0" rIns="0" bIns="0" rtlCol="0" anchor="ctr"/>
          <a:lstStyle/>
          <a:p>
            <a:pPr marL="0" indent="0" algn="ctr">
              <a:buNone/>
            </a:pPr>
            <a:r>
              <a:rPr lang="en-US" sz="1800" b="1" dirty="0">
                <a:solidFill>
                  <a:srgbClr val="FFFFFF"/>
                </a:solidFill>
              </a:rPr>
              <a:t>if</a:t>
            </a:r>
            <a:endParaRPr lang="en-US" sz="1800" dirty="0"/>
          </a:p>
        </p:txBody>
      </p:sp>
      <p:sp>
        <p:nvSpPr>
          <p:cNvPr id="10" name="Shape 10"/>
          <p:cNvSpPr/>
          <p:nvPr/>
        </p:nvSpPr>
        <p:spPr>
          <a:xfrm>
            <a:off x="548640" y="1645920"/>
            <a:ext cx="5364328" cy="1604010"/>
          </a:xfrm>
          <a:prstGeom prst="rect">
            <a:avLst/>
          </a:prstGeom>
          <a:solidFill>
            <a:srgbClr val="0F172A"/>
          </a:solidFill>
          <a:ln>
            <a:noFill/>
          </a:ln>
        </p:spPr>
        <p:txBody>
          <a:bodyPr wrap="square" lIns="0" tIns="0" rIns="0" bIns="0" rtlCol="0" anchor="t"/>
          <a:lstStyle/>
          <a:p>
            <a:endParaRPr lang="en-US"/>
          </a:p>
        </p:txBody>
      </p:sp>
      <p:sp>
        <p:nvSpPr>
          <p:cNvPr id="11" name="Code"/>
          <p:cNvSpPr/>
          <p:nvPr/>
        </p:nvSpPr>
        <p:spPr>
          <a:xfrm>
            <a:off x="548640" y="1645920"/>
            <a:ext cx="5364328"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if (condition) {</a:t>
            </a:r>
            <a:endParaRPr lang="en-US" sz="2600" dirty="0"/>
          </a:p>
          <a:p>
            <a:pPr marL="0" indent="0" algn="l">
              <a:lnSpc>
                <a:spcPts val="3250"/>
              </a:lnSpc>
              <a:buNone/>
            </a:pPr>
            <a:r>
              <a:rPr lang="en-US" sz="2600" dirty="0">
                <a:solidFill>
                  <a:srgbClr val="E5E7EB"/>
                </a:solidFill>
                <a:latin typeface="Consolas"/>
                <a:ea typeface="Consolas"/>
                <a:cs typeface="Consolas"/>
              </a:rPr>
              <a:t>    </a:t>
            </a:r>
            <a:r>
              <a:rPr lang="en-US" sz="2600" dirty="0">
                <a:solidFill>
                  <a:srgbClr val="86C79A"/>
                </a:solidFill>
                <a:latin typeface="Consolas"/>
                <a:ea typeface="Consolas"/>
                <a:cs typeface="Consolas"/>
              </a:rPr>
              <a:t>// runs once</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
        <p:nvSpPr>
          <p:cNvPr id="12" name="Shape 12"/>
          <p:cNvSpPr/>
          <p:nvPr/>
        </p:nvSpPr>
        <p:spPr>
          <a:xfrm>
            <a:off x="6278728" y="1261872"/>
            <a:ext cx="5364328" cy="384048"/>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while</a:t>
            </a:r>
            <a:endParaRPr lang="en-US" sz="1800" dirty="0"/>
          </a:p>
        </p:txBody>
      </p:sp>
      <p:sp>
        <p:nvSpPr>
          <p:cNvPr id="13" name="Shape 13"/>
          <p:cNvSpPr/>
          <p:nvPr/>
        </p:nvSpPr>
        <p:spPr>
          <a:xfrm>
            <a:off x="6278728" y="1645920"/>
            <a:ext cx="5364328" cy="1604010"/>
          </a:xfrm>
          <a:prstGeom prst="rect">
            <a:avLst/>
          </a:prstGeom>
          <a:solidFill>
            <a:srgbClr val="0F172A"/>
          </a:solidFill>
          <a:ln>
            <a:noFill/>
          </a:ln>
        </p:spPr>
        <p:txBody>
          <a:bodyPr wrap="square" lIns="0" tIns="0" rIns="0" bIns="0" rtlCol="0" anchor="t"/>
          <a:lstStyle/>
          <a:p>
            <a:endParaRPr lang="en-US"/>
          </a:p>
        </p:txBody>
      </p:sp>
      <p:sp>
        <p:nvSpPr>
          <p:cNvPr id="14" name="Code"/>
          <p:cNvSpPr/>
          <p:nvPr/>
        </p:nvSpPr>
        <p:spPr>
          <a:xfrm>
            <a:off x="6278728" y="1645920"/>
            <a:ext cx="5364328"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while (condition) {</a:t>
            </a:r>
            <a:endParaRPr lang="en-US" sz="2600" dirty="0"/>
          </a:p>
          <a:p>
            <a:pPr marL="0" indent="0" algn="l">
              <a:lnSpc>
                <a:spcPts val="3250"/>
              </a:lnSpc>
              <a:buNone/>
            </a:pPr>
            <a:r>
              <a:rPr lang="en-US" sz="2600" dirty="0">
                <a:solidFill>
                  <a:srgbClr val="E5E7EB"/>
                </a:solidFill>
                <a:latin typeface="Consolas"/>
                <a:ea typeface="Consolas"/>
                <a:cs typeface="Consolas"/>
              </a:rPr>
              <a:t>    </a:t>
            </a:r>
            <a:r>
              <a:rPr lang="en-US" sz="2600" dirty="0">
                <a:solidFill>
                  <a:srgbClr val="86C79A"/>
                </a:solidFill>
                <a:latin typeface="Consolas"/>
                <a:ea typeface="Consolas"/>
                <a:cs typeface="Consolas"/>
              </a:rPr>
              <a:t>// runs again and again</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How a </a:t>
            </a:r>
            <a:r>
              <a:rPr lang="en-US" sz="3400" b="1" dirty="0">
                <a:solidFill>
                  <a:srgbClr val="2F80ED"/>
                </a:solidFill>
                <a:latin typeface="Consolas"/>
                <a:ea typeface="Consolas"/>
                <a:cs typeface="Consolas"/>
              </a:rPr>
              <a:t>while</a:t>
            </a:r>
            <a:r>
              <a:rPr lang="en-US" sz="3400" b="1" dirty="0">
                <a:solidFill>
                  <a:srgbClr val="18324A"/>
                </a:solidFill>
              </a:rPr>
              <a:t> loop runs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28</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Check the condition.</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If it is true, run the body.</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Go back to the condition. Check again.</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If it is false, leave the loop.</a:t>
            </a: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Type along: </a:t>
            </a:r>
            <a:r>
              <a:rPr lang="en-US" sz="3400" b="1" dirty="0">
                <a:solidFill>
                  <a:srgbClr val="2F80ED"/>
                </a:solidFill>
                <a:latin typeface="Consolas"/>
                <a:ea typeface="Consolas"/>
                <a:cs typeface="Consolas"/>
              </a:rPr>
              <a:t>count.c</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29</a:t>
            </a:r>
            <a:endParaRPr lang="en-US" sz="1400" dirty="0"/>
          </a:p>
        </p:txBody>
      </p:sp>
      <p:sp>
        <p:nvSpPr>
          <p:cNvPr id="6" name="Shape 6"/>
          <p:cNvSpPr/>
          <p:nvPr/>
        </p:nvSpPr>
        <p:spPr>
          <a:xfrm>
            <a:off x="548640" y="1261872"/>
            <a:ext cx="11094415" cy="490601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11094415"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#include &lt;stdio.h&gt;</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int main(void) {</a:t>
            </a:r>
            <a:endParaRPr lang="en-US" sz="2200" dirty="0"/>
          </a:p>
          <a:p>
            <a:pPr marL="0" indent="0" algn="l">
              <a:lnSpc>
                <a:spcPts val="2750"/>
              </a:lnSpc>
              <a:buNone/>
            </a:pPr>
            <a:r>
              <a:rPr lang="en-US" sz="2200" dirty="0">
                <a:solidFill>
                  <a:srgbClr val="E5E7EB"/>
                </a:solidFill>
                <a:latin typeface="Consolas"/>
                <a:ea typeface="Consolas"/>
                <a:cs typeface="Consolas"/>
              </a:rPr>
              <a:t>    int count = 1;</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while (count &lt;= 3) {</a:t>
            </a:r>
            <a:endParaRPr lang="en-US" sz="2200" dirty="0"/>
          </a:p>
          <a:p>
            <a:pPr marL="0" indent="0" algn="l">
              <a:lnSpc>
                <a:spcPts val="2750"/>
              </a:lnSpc>
              <a:buNone/>
            </a:pPr>
            <a:r>
              <a:rPr lang="en-US" sz="2200" dirty="0">
                <a:solidFill>
                  <a:srgbClr val="E5E7EB"/>
                </a:solidFill>
                <a:latin typeface="Consolas"/>
                <a:ea typeface="Consolas"/>
                <a:cs typeface="Consolas"/>
              </a:rPr>
              <a:t>        printf("%d\n", count);</a:t>
            </a:r>
            <a:endParaRPr lang="en-US" sz="2200" dirty="0"/>
          </a:p>
          <a:p>
            <a:pPr marL="0" indent="0" algn="l">
              <a:lnSpc>
                <a:spcPts val="2750"/>
              </a:lnSpc>
              <a:buNone/>
            </a:pPr>
            <a:r>
              <a:rPr lang="en-US" sz="2200" dirty="0">
                <a:solidFill>
                  <a:srgbClr val="E5E7EB"/>
                </a:solidFill>
                <a:latin typeface="Consolas"/>
                <a:ea typeface="Consolas"/>
                <a:cs typeface="Consolas"/>
              </a:rPr>
              <a:t>        count++;</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printf("Done\n");</a:t>
            </a:r>
            <a:endParaRPr lang="en-US" sz="2200" dirty="0"/>
          </a:p>
          <a:p>
            <a:pPr marL="0" indent="0" algn="l">
              <a:lnSpc>
                <a:spcPts val="2750"/>
              </a:lnSpc>
              <a:buNone/>
            </a:pPr>
            <a:r>
              <a:rPr lang="en-US" sz="2200" dirty="0">
                <a:solidFill>
                  <a:srgbClr val="E5E7EB"/>
                </a:solidFill>
                <a:latin typeface="Consolas"/>
                <a:ea typeface="Consolas"/>
                <a:cs typeface="Consolas"/>
              </a:rPr>
              <a:t>    return 0;</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start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30</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52742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52742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#include &lt;stdio.h&gt;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FFFFFF"/>
                </a:solidFill>
                <a:latin typeface="Consolas"/>
                <a:ea typeface="Consolas"/>
                <a:cs typeface="Consolas"/>
              </a:rPr>
              <a:t>    int count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while (count &lt;= 3) {</a:t>
            </a:r>
            <a:endParaRPr lang="en-US" sz="2200" dirty="0"/>
          </a:p>
          <a:p>
            <a:pPr marL="0" indent="0" algn="l">
              <a:lnSpc>
                <a:spcPts val="2750"/>
              </a:lnSpc>
              <a:buNone/>
            </a:pPr>
            <a:r>
              <a:rPr lang="en-US" sz="2200" dirty="0">
                <a:solidFill>
                  <a:srgbClr val="64748B"/>
                </a:solidFill>
                <a:latin typeface="Consolas"/>
                <a:ea typeface="Consolas"/>
                <a:cs typeface="Consolas"/>
              </a:rPr>
              <a:t>        printf("%d\n", count);</a:t>
            </a:r>
            <a:endParaRPr lang="en-US" sz="2200" dirty="0"/>
          </a:p>
          <a:p>
            <a:pPr marL="0" indent="0" algn="l">
              <a:lnSpc>
                <a:spcPts val="2750"/>
              </a:lnSpc>
              <a:buNone/>
            </a:pPr>
            <a:r>
              <a:rPr lang="en-US" sz="2200" dirty="0">
                <a:solidFill>
                  <a:srgbClr val="64748B"/>
                </a:solidFill>
                <a:latin typeface="Consolas"/>
                <a:ea typeface="Consolas"/>
                <a:cs typeface="Consolas"/>
              </a:rPr>
              <a:t>        count++;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printf("Done\n");</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0" name="Shape 10"/>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One box, called </a:t>
            </a:r>
            <a:r>
              <a:rPr lang="en-US" sz="2400" dirty="0">
                <a:solidFill>
                  <a:srgbClr val="18324A"/>
                </a:solidFill>
                <a:latin typeface="Consolas"/>
                <a:ea typeface="Consolas"/>
                <a:cs typeface="Consolas"/>
              </a:rPr>
              <a:t>count</a:t>
            </a:r>
            <a:r>
              <a:rPr lang="en-US" sz="2400" dirty="0">
                <a:solidFill>
                  <a:srgbClr val="18324A"/>
                </a:solidFill>
              </a:rPr>
              <a:t>.</a:t>
            </a:r>
            <a:endParaRPr lang="en-US" sz="2400" dirty="0"/>
          </a:p>
        </p:txBody>
      </p:sp>
      <p:sp>
        <p:nvSpPr>
          <p:cNvPr id="13" name="Shape 13"/>
          <p:cNvSpPr/>
          <p:nvPr/>
        </p:nvSpPr>
        <p:spPr>
          <a:xfrm>
            <a:off x="7589520" y="2148840"/>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7589520" y="2148840"/>
            <a:ext cx="109728" cy="68580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7699248" y="214884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holds 1.</a:t>
            </a:r>
            <a:endParaRPr lang="en-US" sz="2400" dirty="0"/>
          </a:p>
        </p:txBody>
      </p:sp>
      <p:sp>
        <p:nvSpPr>
          <p:cNvPr id="16" name="Shape 16"/>
          <p:cNvSpPr/>
          <p:nvPr/>
        </p:nvSpPr>
        <p:spPr>
          <a:xfrm>
            <a:off x="7589520" y="3035808"/>
            <a:ext cx="405353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7" name="Shape 17"/>
          <p:cNvSpPr/>
          <p:nvPr/>
        </p:nvSpPr>
        <p:spPr>
          <a:xfrm>
            <a:off x="7589520" y="3035808"/>
            <a:ext cx="109728" cy="685800"/>
          </a:xfrm>
          <a:prstGeom prst="rect">
            <a:avLst/>
          </a:prstGeom>
          <a:solidFill>
            <a:srgbClr val="F59E0B"/>
          </a:solidFill>
          <a:ln>
            <a:noFill/>
          </a:ln>
        </p:spPr>
        <p:txBody>
          <a:bodyPr wrap="square" lIns="0" tIns="0" rIns="0" bIns="0" rtlCol="0" anchor="t"/>
          <a:lstStyle/>
          <a:p>
            <a:endParaRPr lang="en-US"/>
          </a:p>
        </p:txBody>
      </p:sp>
      <p:sp>
        <p:nvSpPr>
          <p:cNvPr id="18" name="Callout"/>
          <p:cNvSpPr/>
          <p:nvPr/>
        </p:nvSpPr>
        <p:spPr>
          <a:xfrm>
            <a:off x="7699248" y="3035808"/>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This line runs </a:t>
            </a:r>
            <a:r>
              <a:rPr lang="en-US" sz="2400" b="1" dirty="0">
                <a:solidFill>
                  <a:srgbClr val="18324A"/>
                </a:solidFill>
              </a:rPr>
              <a:t>once</a:t>
            </a:r>
            <a:r>
              <a:rPr lang="en-US" sz="2400" dirty="0">
                <a:solidFill>
                  <a:srgbClr val="18324A"/>
                </a:solidFill>
              </a:rPr>
              <a:t>.</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check</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31</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22592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22592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#include &lt;stdio.h&gt;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count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    while (count &lt;= 3) {</a:t>
            </a:r>
            <a:endParaRPr lang="en-US" sz="2200" dirty="0"/>
          </a:p>
          <a:p>
            <a:pPr marL="0" indent="0" algn="l">
              <a:lnSpc>
                <a:spcPts val="2750"/>
              </a:lnSpc>
              <a:buNone/>
            </a:pPr>
            <a:r>
              <a:rPr lang="en-US" sz="2200" dirty="0">
                <a:solidFill>
                  <a:srgbClr val="64748B"/>
                </a:solidFill>
                <a:latin typeface="Consolas"/>
                <a:ea typeface="Consolas"/>
                <a:cs typeface="Consolas"/>
              </a:rPr>
              <a:t>        printf("%d\n", count);</a:t>
            </a:r>
            <a:endParaRPr lang="en-US" sz="2200" dirty="0"/>
          </a:p>
          <a:p>
            <a:pPr marL="0" indent="0" algn="l">
              <a:lnSpc>
                <a:spcPts val="2750"/>
              </a:lnSpc>
              <a:buNone/>
            </a:pPr>
            <a:r>
              <a:rPr lang="en-US" sz="2200" dirty="0">
                <a:solidFill>
                  <a:srgbClr val="64748B"/>
                </a:solidFill>
                <a:latin typeface="Consolas"/>
                <a:ea typeface="Consolas"/>
                <a:cs typeface="Consolas"/>
              </a:rPr>
              <a:t>        count++;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printf("Done\n");</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0" name="Shape 10"/>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Is </a:t>
            </a:r>
            <a:r>
              <a:rPr lang="en-US" sz="2400" dirty="0">
                <a:solidFill>
                  <a:srgbClr val="18324A"/>
                </a:solidFill>
                <a:latin typeface="Consolas"/>
                <a:ea typeface="Consolas"/>
                <a:cs typeface="Consolas"/>
              </a:rPr>
              <a:t>count</a:t>
            </a:r>
            <a:r>
              <a:rPr lang="en-US" sz="2400" dirty="0">
                <a:solidFill>
                  <a:srgbClr val="18324A"/>
                </a:solidFill>
              </a:rPr>
              <a:t> at most 3?</a:t>
            </a:r>
            <a:endParaRPr lang="en-US" sz="2400" dirty="0"/>
          </a:p>
        </p:txBody>
      </p:sp>
      <p:sp>
        <p:nvSpPr>
          <p:cNvPr id="13" name="Shape 13"/>
          <p:cNvSpPr/>
          <p:nvPr/>
        </p:nvSpPr>
        <p:spPr>
          <a:xfrm>
            <a:off x="7589520" y="2148840"/>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7589520" y="2148840"/>
            <a:ext cx="109728" cy="68580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7699248" y="2148840"/>
            <a:ext cx="3943807" cy="685800"/>
          </a:xfrm>
          <a:prstGeom prst="rect">
            <a:avLst/>
          </a:prstGeom>
          <a:noFill/>
          <a:ln>
            <a:noFill/>
          </a:ln>
        </p:spPr>
        <p:txBody>
          <a:bodyPr wrap="square" lIns="201168" tIns="73152" rIns="182880" bIns="73152" rtlCol="0" anchor="ctr"/>
          <a:lstStyle/>
          <a:p>
            <a:pPr marL="0" indent="0" algn="l">
              <a:buNone/>
            </a:pPr>
            <a:r>
              <a:rPr lang="en-US" sz="2400" b="1" dirty="0">
                <a:solidFill>
                  <a:srgbClr val="18324A"/>
                </a:solidFill>
              </a:rPr>
              <a:t>Yes:</a:t>
            </a:r>
            <a:r>
              <a:rPr lang="en-US" sz="2400" dirty="0">
                <a:solidFill>
                  <a:srgbClr val="18324A"/>
                </a:solidFill>
              </a:rPr>
              <a:t> run the body.</a:t>
            </a:r>
            <a:endParaRPr lang="en-US" sz="2400" dirty="0"/>
          </a:p>
        </p:txBody>
      </p:sp>
      <p:sp>
        <p:nvSpPr>
          <p:cNvPr id="16" name="Shape 16"/>
          <p:cNvSpPr/>
          <p:nvPr/>
        </p:nvSpPr>
        <p:spPr>
          <a:xfrm>
            <a:off x="7589520" y="3035808"/>
            <a:ext cx="4053535" cy="68580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7589520" y="3035808"/>
            <a:ext cx="109728" cy="68580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7699248" y="3035808"/>
            <a:ext cx="3943807" cy="685800"/>
          </a:xfrm>
          <a:prstGeom prst="rect">
            <a:avLst/>
          </a:prstGeom>
          <a:noFill/>
          <a:ln>
            <a:noFill/>
          </a:ln>
        </p:spPr>
        <p:txBody>
          <a:bodyPr wrap="square" lIns="201168" tIns="73152" rIns="182880" bIns="73152" rtlCol="0" anchor="ctr"/>
          <a:lstStyle/>
          <a:p>
            <a:pPr marL="0" indent="0" algn="l">
              <a:buNone/>
            </a:pPr>
            <a:r>
              <a:rPr lang="en-US" sz="2400" b="1" dirty="0">
                <a:solidFill>
                  <a:srgbClr val="18324A"/>
                </a:solidFill>
              </a:rPr>
              <a:t>No:</a:t>
            </a:r>
            <a:r>
              <a:rPr lang="en-US" sz="2400" dirty="0">
                <a:solidFill>
                  <a:srgbClr val="18324A"/>
                </a:solidFill>
              </a:rPr>
              <a:t> jump past the </a:t>
            </a:r>
            <a:r>
              <a:rPr lang="en-US" sz="2400" dirty="0">
                <a:solidFill>
                  <a:srgbClr val="18324A"/>
                </a:solidFill>
                <a:latin typeface="Consolas"/>
                <a:ea typeface="Consolas"/>
                <a:cs typeface="Consolas"/>
              </a:rPr>
              <a:t>}</a:t>
            </a:r>
            <a:r>
              <a:rPr lang="en-US" sz="2400" dirty="0">
                <a:solidFill>
                  <a:srgbClr val="18324A"/>
                </a:solidFill>
              </a:rPr>
              <a:t>.</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body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32</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57517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57517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924427"/>
            <a:ext cx="67665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924427"/>
            <a:ext cx="82296" cy="3492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#include &lt;stdio.h&gt;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count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while (count &lt;= 3) {</a:t>
            </a:r>
            <a:endParaRPr lang="en-US" sz="2200" dirty="0"/>
          </a:p>
          <a:p>
            <a:pPr marL="0" indent="0" algn="l">
              <a:lnSpc>
                <a:spcPts val="2750"/>
              </a:lnSpc>
              <a:buNone/>
            </a:pPr>
            <a:r>
              <a:rPr lang="en-US" sz="2200" dirty="0">
                <a:solidFill>
                  <a:srgbClr val="FFFFFF"/>
                </a:solidFill>
                <a:latin typeface="Consolas"/>
                <a:ea typeface="Consolas"/>
                <a:cs typeface="Consolas"/>
              </a:rPr>
              <a:t>        printf("%d\n", count);</a:t>
            </a:r>
            <a:endParaRPr lang="en-US" sz="2200" dirty="0"/>
          </a:p>
          <a:p>
            <a:pPr marL="0" indent="0" algn="l">
              <a:lnSpc>
                <a:spcPts val="2750"/>
              </a:lnSpc>
              <a:buNone/>
            </a:pPr>
            <a:r>
              <a:rPr lang="en-US" sz="2200" dirty="0">
                <a:solidFill>
                  <a:srgbClr val="FFFFFF"/>
                </a:solidFill>
                <a:latin typeface="Consolas"/>
                <a:ea typeface="Consolas"/>
                <a:cs typeface="Consolas"/>
              </a:rPr>
              <a:t>        count++;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printf("Done\n");</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2" name="Shape 12"/>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3" name="Shape 13"/>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4"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lines inside </a:t>
            </a:r>
            <a:r>
              <a:rPr lang="en-US" sz="2400" dirty="0">
                <a:solidFill>
                  <a:srgbClr val="18324A"/>
                </a:solidFill>
                <a:latin typeface="Consolas"/>
                <a:ea typeface="Consolas"/>
                <a:cs typeface="Consolas"/>
              </a:rPr>
              <a:t>{ }</a:t>
            </a:r>
            <a:r>
              <a:rPr lang="en-US" sz="2400" dirty="0">
                <a:solidFill>
                  <a:srgbClr val="18324A"/>
                </a:solidFill>
              </a:rPr>
              <a:t>.</a:t>
            </a:r>
            <a:endParaRPr lang="en-US" sz="2400" dirty="0"/>
          </a:p>
        </p:txBody>
      </p:sp>
      <p:sp>
        <p:nvSpPr>
          <p:cNvPr id="15" name="Shape 15"/>
          <p:cNvSpPr/>
          <p:nvPr/>
        </p:nvSpPr>
        <p:spPr>
          <a:xfrm>
            <a:off x="7589520" y="214884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6" name="Shape 16"/>
          <p:cNvSpPr/>
          <p:nvPr/>
        </p:nvSpPr>
        <p:spPr>
          <a:xfrm>
            <a:off x="7589520" y="2148840"/>
            <a:ext cx="109728" cy="1051560"/>
          </a:xfrm>
          <a:prstGeom prst="rect">
            <a:avLst/>
          </a:prstGeom>
          <a:solidFill>
            <a:srgbClr val="31C48D"/>
          </a:solidFill>
          <a:ln>
            <a:noFill/>
          </a:ln>
        </p:spPr>
        <p:txBody>
          <a:bodyPr wrap="square" lIns="0" tIns="0" rIns="0" bIns="0" rtlCol="0" anchor="t"/>
          <a:lstStyle/>
          <a:p>
            <a:endParaRPr lang="en-US"/>
          </a:p>
        </p:txBody>
      </p:sp>
      <p:sp>
        <p:nvSpPr>
          <p:cNvPr id="17" name="Callout"/>
          <p:cNvSpPr/>
          <p:nvPr/>
        </p:nvSpPr>
        <p:spPr>
          <a:xfrm>
            <a:off x="7699248" y="214884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They run once in every round.</a:t>
            </a:r>
            <a:endParaRPr lang="en-US" sz="2400" dirty="0"/>
          </a:p>
        </p:txBody>
      </p:sp>
      <p:sp>
        <p:nvSpPr>
          <p:cNvPr id="18" name="Shape 18"/>
          <p:cNvSpPr/>
          <p:nvPr/>
        </p:nvSpPr>
        <p:spPr>
          <a:xfrm>
            <a:off x="7589520" y="3401568"/>
            <a:ext cx="4053535" cy="105156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9" name="Shape 19"/>
          <p:cNvSpPr/>
          <p:nvPr/>
        </p:nvSpPr>
        <p:spPr>
          <a:xfrm>
            <a:off x="7589520" y="3401568"/>
            <a:ext cx="109728" cy="1051560"/>
          </a:xfrm>
          <a:prstGeom prst="rect">
            <a:avLst/>
          </a:prstGeom>
          <a:solidFill>
            <a:srgbClr val="8B5CF6"/>
          </a:solidFill>
          <a:ln>
            <a:noFill/>
          </a:ln>
        </p:spPr>
        <p:txBody>
          <a:bodyPr wrap="square" lIns="0" tIns="0" rIns="0" bIns="0" rtlCol="0" anchor="t"/>
          <a:lstStyle/>
          <a:p>
            <a:endParaRPr lang="en-US"/>
          </a:p>
        </p:txBody>
      </p:sp>
      <p:sp>
        <p:nvSpPr>
          <p:cNvPr id="20" name="Callout"/>
          <p:cNvSpPr/>
          <p:nvPr/>
        </p:nvSpPr>
        <p:spPr>
          <a:xfrm>
            <a:off x="7699248" y="340156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last line of this body is also the update.</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update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33</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92442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92442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#include &lt;stdio.h&gt;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count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while (count &lt;= 3) {</a:t>
            </a:r>
            <a:endParaRPr lang="en-US" sz="2200" dirty="0"/>
          </a:p>
          <a:p>
            <a:pPr marL="0" indent="0" algn="l">
              <a:lnSpc>
                <a:spcPts val="2750"/>
              </a:lnSpc>
              <a:buNone/>
            </a:pPr>
            <a:r>
              <a:rPr lang="en-US" sz="2200" dirty="0">
                <a:solidFill>
                  <a:srgbClr val="64748B"/>
                </a:solidFill>
                <a:latin typeface="Consolas"/>
                <a:ea typeface="Consolas"/>
                <a:cs typeface="Consolas"/>
              </a:rPr>
              <a:t>        printf("%d\n", count);</a:t>
            </a:r>
            <a:endParaRPr lang="en-US" sz="2200" dirty="0"/>
          </a:p>
          <a:p>
            <a:pPr marL="0" indent="0" algn="l">
              <a:lnSpc>
                <a:spcPts val="2750"/>
              </a:lnSpc>
              <a:buNone/>
            </a:pPr>
            <a:r>
              <a:rPr lang="en-US" sz="2200" dirty="0">
                <a:solidFill>
                  <a:srgbClr val="FFFFFF"/>
                </a:solidFill>
                <a:latin typeface="Consolas"/>
                <a:ea typeface="Consolas"/>
                <a:cs typeface="Consolas"/>
              </a:rPr>
              <a:t>        count++;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printf("Done\n");</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0" name="Shape 10"/>
          <p:cNvSpPr/>
          <p:nvPr/>
        </p:nvSpPr>
        <p:spPr>
          <a:xfrm>
            <a:off x="7589520" y="1261872"/>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7589520" y="1261872"/>
            <a:ext cx="109728" cy="105156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count++</a:t>
            </a:r>
            <a:r>
              <a:rPr lang="en-US" sz="2400" dirty="0">
                <a:solidFill>
                  <a:srgbClr val="18324A"/>
                </a:solidFill>
              </a:rPr>
              <a:t> means: add 1 to </a:t>
            </a:r>
            <a:r>
              <a:rPr lang="en-US" sz="2400" dirty="0">
                <a:solidFill>
                  <a:srgbClr val="18324A"/>
                </a:solidFill>
                <a:latin typeface="Consolas"/>
                <a:ea typeface="Consolas"/>
                <a:cs typeface="Consolas"/>
              </a:rPr>
              <a:t>count</a:t>
            </a:r>
            <a:r>
              <a:rPr lang="en-US" sz="2400" dirty="0">
                <a:solidFill>
                  <a:srgbClr val="18324A"/>
                </a:solidFill>
              </a:rPr>
              <a:t>.</a:t>
            </a:r>
            <a:endParaRPr lang="en-US" sz="2400" dirty="0"/>
          </a:p>
        </p:txBody>
      </p:sp>
      <p:sp>
        <p:nvSpPr>
          <p:cNvPr id="13" name="Shape 13"/>
          <p:cNvSpPr/>
          <p:nvPr/>
        </p:nvSpPr>
        <p:spPr>
          <a:xfrm>
            <a:off x="7589520" y="25146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7589520" y="2514600"/>
            <a:ext cx="109728" cy="105156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7699248" y="25146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Short for </a:t>
            </a:r>
            <a:r>
              <a:rPr lang="en-US" sz="2400" dirty="0">
                <a:solidFill>
                  <a:srgbClr val="18324A"/>
                </a:solidFill>
                <a:latin typeface="Consolas"/>
                <a:ea typeface="Consolas"/>
                <a:cs typeface="Consolas"/>
              </a:rPr>
              <a:t>count = count + 1</a:t>
            </a:r>
            <a:r>
              <a:rPr lang="en-US" sz="2400" dirty="0">
                <a:solidFill>
                  <a:srgbClr val="18324A"/>
                </a:solidFill>
              </a:rPr>
              <a:t>.</a:t>
            </a:r>
            <a:endParaRPr lang="en-US" sz="2400" dirty="0"/>
          </a:p>
        </p:txBody>
      </p:sp>
      <p:sp>
        <p:nvSpPr>
          <p:cNvPr id="16" name="Shape 16"/>
          <p:cNvSpPr/>
          <p:nvPr/>
        </p:nvSpPr>
        <p:spPr>
          <a:xfrm>
            <a:off x="7589520" y="3767328"/>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7589520" y="3767328"/>
            <a:ext cx="109728" cy="105156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7699248" y="37673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Without it the loop never stops.</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closing brace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34</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22592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22592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273677"/>
            <a:ext cx="67665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273677"/>
            <a:ext cx="82296" cy="3492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#include &lt;stdio.h&gt;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count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    while (count &lt;= 3) {</a:t>
            </a:r>
            <a:endParaRPr lang="en-US" sz="2200" dirty="0"/>
          </a:p>
          <a:p>
            <a:pPr marL="0" indent="0" algn="l">
              <a:lnSpc>
                <a:spcPts val="2750"/>
              </a:lnSpc>
              <a:buNone/>
            </a:pPr>
            <a:r>
              <a:rPr lang="en-US" sz="2200" dirty="0">
                <a:solidFill>
                  <a:srgbClr val="64748B"/>
                </a:solidFill>
                <a:latin typeface="Consolas"/>
                <a:ea typeface="Consolas"/>
                <a:cs typeface="Consolas"/>
              </a:rPr>
              <a:t>        printf("%d\n", count);</a:t>
            </a:r>
            <a:endParaRPr lang="en-US" sz="2200" dirty="0"/>
          </a:p>
          <a:p>
            <a:pPr marL="0" indent="0" algn="l">
              <a:lnSpc>
                <a:spcPts val="2750"/>
              </a:lnSpc>
              <a:buNone/>
            </a:pPr>
            <a:r>
              <a:rPr lang="en-US" sz="2200" dirty="0">
                <a:solidFill>
                  <a:srgbClr val="64748B"/>
                </a:solidFill>
                <a:latin typeface="Consolas"/>
                <a:ea typeface="Consolas"/>
                <a:cs typeface="Consolas"/>
              </a:rPr>
              <a:t>        count++;</a:t>
            </a:r>
            <a:endParaRPr lang="en-US" sz="2200" dirty="0"/>
          </a:p>
          <a:p>
            <a:pPr marL="0" indent="0" algn="l">
              <a:lnSpc>
                <a:spcPts val="2750"/>
              </a:lnSpc>
              <a:buNone/>
            </a:pPr>
            <a:r>
              <a:rPr lang="en-US" sz="2200" dirty="0">
                <a:solidFill>
                  <a:srgbClr val="FFFFFF"/>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printf("Done\n");</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2" name="Shape 12"/>
          <p:cNvSpPr/>
          <p:nvPr/>
        </p:nvSpPr>
        <p:spPr>
          <a:xfrm>
            <a:off x="7589520" y="1261872"/>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3" name="Shape 13"/>
          <p:cNvSpPr/>
          <p:nvPr/>
        </p:nvSpPr>
        <p:spPr>
          <a:xfrm>
            <a:off x="7589520" y="1261872"/>
            <a:ext cx="109728" cy="1051560"/>
          </a:xfrm>
          <a:prstGeom prst="rect">
            <a:avLst/>
          </a:prstGeom>
          <a:solidFill>
            <a:srgbClr val="2F80ED"/>
          </a:solidFill>
          <a:ln>
            <a:noFill/>
          </a:ln>
        </p:spPr>
        <p:txBody>
          <a:bodyPr wrap="square" lIns="0" tIns="0" rIns="0" bIns="0" rtlCol="0" anchor="t"/>
          <a:lstStyle/>
          <a:p>
            <a:endParaRPr lang="en-US"/>
          </a:p>
        </p:txBody>
      </p:sp>
      <p:sp>
        <p:nvSpPr>
          <p:cNvPr id="14"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At the </a:t>
            </a:r>
            <a:r>
              <a:rPr lang="en-US" sz="2400" dirty="0">
                <a:solidFill>
                  <a:srgbClr val="18324A"/>
                </a:solidFill>
                <a:latin typeface="Consolas"/>
                <a:ea typeface="Consolas"/>
                <a:cs typeface="Consolas"/>
              </a:rPr>
              <a:t>}</a:t>
            </a:r>
            <a:r>
              <a:rPr lang="en-US" sz="2400" dirty="0">
                <a:solidFill>
                  <a:srgbClr val="18324A"/>
                </a:solidFill>
              </a:rPr>
              <a:t> C goes </a:t>
            </a:r>
            <a:r>
              <a:rPr lang="en-US" sz="2400" b="1" dirty="0">
                <a:solidFill>
                  <a:srgbClr val="18324A"/>
                </a:solidFill>
              </a:rPr>
              <a:t>back up</a:t>
            </a:r>
            <a:r>
              <a:rPr lang="en-US" sz="2400" dirty="0">
                <a:solidFill>
                  <a:srgbClr val="18324A"/>
                </a:solidFill>
              </a:rPr>
              <a:t> to the check.</a:t>
            </a:r>
            <a:endParaRPr lang="en-US" sz="2400" dirty="0"/>
          </a:p>
        </p:txBody>
      </p:sp>
      <p:sp>
        <p:nvSpPr>
          <p:cNvPr id="15" name="Shape 15"/>
          <p:cNvSpPr/>
          <p:nvPr/>
        </p:nvSpPr>
        <p:spPr>
          <a:xfrm>
            <a:off x="7589520" y="2514600"/>
            <a:ext cx="4053535" cy="68580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6" name="Shape 16"/>
          <p:cNvSpPr/>
          <p:nvPr/>
        </p:nvSpPr>
        <p:spPr>
          <a:xfrm>
            <a:off x="7589520" y="2514600"/>
            <a:ext cx="109728" cy="685800"/>
          </a:xfrm>
          <a:prstGeom prst="rect">
            <a:avLst/>
          </a:prstGeom>
          <a:solidFill>
            <a:srgbClr val="FF6B6B"/>
          </a:solidFill>
          <a:ln>
            <a:noFill/>
          </a:ln>
        </p:spPr>
        <p:txBody>
          <a:bodyPr wrap="square" lIns="0" tIns="0" rIns="0" bIns="0" rtlCol="0" anchor="t"/>
          <a:lstStyle/>
          <a:p>
            <a:endParaRPr lang="en-US"/>
          </a:p>
        </p:txBody>
      </p:sp>
      <p:sp>
        <p:nvSpPr>
          <p:cNvPr id="17" name="Callout"/>
          <p:cNvSpPr/>
          <p:nvPr/>
        </p:nvSpPr>
        <p:spPr>
          <a:xfrm>
            <a:off x="7699248" y="251460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Not to </a:t>
            </a:r>
            <a:r>
              <a:rPr lang="en-US" sz="2400" dirty="0">
                <a:solidFill>
                  <a:srgbClr val="18324A"/>
                </a:solidFill>
                <a:latin typeface="Consolas"/>
                <a:ea typeface="Consolas"/>
                <a:cs typeface="Consolas"/>
              </a:rPr>
              <a:t>int count = 1;</a:t>
            </a:r>
            <a:r>
              <a:rPr lang="en-US" sz="2400" dirty="0">
                <a:solidFill>
                  <a:srgbClr val="18324A"/>
                </a:solidFill>
              </a:rPr>
              <a:t>.</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After the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35</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497217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497217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#include &lt;stdio.h&gt;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count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while (count &lt;= 3) {</a:t>
            </a:r>
            <a:endParaRPr lang="en-US" sz="2200" dirty="0"/>
          </a:p>
          <a:p>
            <a:pPr marL="0" indent="0" algn="l">
              <a:lnSpc>
                <a:spcPts val="2750"/>
              </a:lnSpc>
              <a:buNone/>
            </a:pPr>
            <a:r>
              <a:rPr lang="en-US" sz="2200" dirty="0">
                <a:solidFill>
                  <a:srgbClr val="64748B"/>
                </a:solidFill>
                <a:latin typeface="Consolas"/>
                <a:ea typeface="Consolas"/>
                <a:cs typeface="Consolas"/>
              </a:rPr>
              <a:t>        printf("%d\n", count);</a:t>
            </a:r>
            <a:endParaRPr lang="en-US" sz="2200" dirty="0"/>
          </a:p>
          <a:p>
            <a:pPr marL="0" indent="0" algn="l">
              <a:lnSpc>
                <a:spcPts val="2750"/>
              </a:lnSpc>
              <a:buNone/>
            </a:pPr>
            <a:r>
              <a:rPr lang="en-US" sz="2200" dirty="0">
                <a:solidFill>
                  <a:srgbClr val="64748B"/>
                </a:solidFill>
                <a:latin typeface="Consolas"/>
                <a:ea typeface="Consolas"/>
                <a:cs typeface="Consolas"/>
              </a:rPr>
              <a:t>        count++;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    printf("Done\n");</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589520" y="1645920"/>
            <a:ext cx="4053535" cy="1889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1889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1</a:t>
            </a:r>
            <a:endParaRPr lang="en-US" sz="2400" dirty="0"/>
          </a:p>
          <a:p>
            <a:pPr marL="0" indent="0" algn="l">
              <a:lnSpc>
                <a:spcPts val="3000"/>
              </a:lnSpc>
              <a:buNone/>
            </a:pPr>
            <a:r>
              <a:rPr lang="en-US" sz="2400" dirty="0">
                <a:solidFill>
                  <a:srgbClr val="D1FAE5"/>
                </a:solidFill>
                <a:latin typeface="Consolas"/>
                <a:ea typeface="Consolas"/>
                <a:cs typeface="Consolas"/>
              </a:rPr>
              <a:t>2</a:t>
            </a:r>
            <a:endParaRPr lang="en-US" sz="2400" dirty="0"/>
          </a:p>
          <a:p>
            <a:pPr marL="0" indent="0" algn="l">
              <a:lnSpc>
                <a:spcPts val="3000"/>
              </a:lnSpc>
              <a:buNone/>
            </a:pPr>
            <a:r>
              <a:rPr lang="en-US" sz="2400" dirty="0">
                <a:solidFill>
                  <a:srgbClr val="D1FAE5"/>
                </a:solidFill>
                <a:latin typeface="Consolas"/>
                <a:ea typeface="Consolas"/>
                <a:cs typeface="Consolas"/>
              </a:rPr>
              <a:t>3</a:t>
            </a:r>
            <a:endParaRPr lang="en-US" sz="2400" dirty="0"/>
          </a:p>
          <a:p>
            <a:pPr marL="0" indent="0" algn="l">
              <a:lnSpc>
                <a:spcPts val="3000"/>
              </a:lnSpc>
              <a:buNone/>
            </a:pPr>
            <a:r>
              <a:rPr lang="en-US" sz="2400" dirty="0">
                <a:solidFill>
                  <a:srgbClr val="D1FAE5"/>
                </a:solidFill>
                <a:latin typeface="Consolas"/>
                <a:ea typeface="Consolas"/>
                <a:cs typeface="Consolas"/>
              </a:rPr>
              <a:t>Done</a:t>
            </a:r>
            <a:endParaRPr lang="en-US" sz="2400" dirty="0"/>
          </a:p>
        </p:txBody>
      </p:sp>
      <p:sp>
        <p:nvSpPr>
          <p:cNvPr id="13" name="Shape 13"/>
          <p:cNvSpPr/>
          <p:nvPr/>
        </p:nvSpPr>
        <p:spPr>
          <a:xfrm>
            <a:off x="7589520" y="3810000"/>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4" name="Shape 14"/>
          <p:cNvSpPr/>
          <p:nvPr/>
        </p:nvSpPr>
        <p:spPr>
          <a:xfrm>
            <a:off x="7589520" y="3810000"/>
            <a:ext cx="109728" cy="1051560"/>
          </a:xfrm>
          <a:prstGeom prst="rect">
            <a:avLst/>
          </a:prstGeom>
          <a:solidFill>
            <a:srgbClr val="2F80ED"/>
          </a:solidFill>
          <a:ln>
            <a:noFill/>
          </a:ln>
        </p:spPr>
        <p:txBody>
          <a:bodyPr wrap="square" lIns="0" tIns="0" rIns="0" bIns="0" rtlCol="0" anchor="t"/>
          <a:lstStyle/>
          <a:p>
            <a:endParaRPr lang="en-US"/>
          </a:p>
        </p:txBody>
      </p:sp>
      <p:sp>
        <p:nvSpPr>
          <p:cNvPr id="15" name="Callout"/>
          <p:cNvSpPr/>
          <p:nvPr/>
        </p:nvSpPr>
        <p:spPr>
          <a:xfrm>
            <a:off x="7699248" y="3810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Done</a:t>
            </a:r>
            <a:r>
              <a:rPr lang="en-US" sz="2400" dirty="0">
                <a:solidFill>
                  <a:srgbClr val="18324A"/>
                </a:solidFill>
              </a:rPr>
              <a:t> is outside the loop.</a:t>
            </a:r>
            <a:endParaRPr lang="en-US" sz="2400" dirty="0"/>
          </a:p>
        </p:txBody>
      </p:sp>
      <p:sp>
        <p:nvSpPr>
          <p:cNvPr id="16" name="Shape 16"/>
          <p:cNvSpPr/>
          <p:nvPr/>
        </p:nvSpPr>
        <p:spPr>
          <a:xfrm>
            <a:off x="7589520" y="5062728"/>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7" name="Shape 17"/>
          <p:cNvSpPr/>
          <p:nvPr/>
        </p:nvSpPr>
        <p:spPr>
          <a:xfrm>
            <a:off x="7589520" y="5062728"/>
            <a:ext cx="109728" cy="685800"/>
          </a:xfrm>
          <a:prstGeom prst="rect">
            <a:avLst/>
          </a:prstGeom>
          <a:solidFill>
            <a:srgbClr val="31C48D"/>
          </a:solidFill>
          <a:ln>
            <a:noFill/>
          </a:ln>
        </p:spPr>
        <p:txBody>
          <a:bodyPr wrap="square" lIns="0" tIns="0" rIns="0" bIns="0" rtlCol="0" anchor="t"/>
          <a:lstStyle/>
          <a:p>
            <a:endParaRPr lang="en-US"/>
          </a:p>
        </p:txBody>
      </p:sp>
      <p:sp>
        <p:nvSpPr>
          <p:cNvPr id="18" name="Callout"/>
          <p:cNvSpPr/>
          <p:nvPr/>
        </p:nvSpPr>
        <p:spPr>
          <a:xfrm>
            <a:off x="7699248" y="5062728"/>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is printed once.</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Compile it and run it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36</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In Windows PowerShell the second line is </a:t>
            </a:r>
            <a:r>
              <a:rPr lang="en-US" sz="2400" dirty="0">
                <a:solidFill>
                  <a:srgbClr val="18324A"/>
                </a:solidFill>
                <a:latin typeface="Consolas"/>
                <a:ea typeface="Consolas"/>
                <a:cs typeface="Consolas"/>
              </a:rPr>
              <a:t>.\count</a:t>
            </a:r>
            <a:endParaRPr lang="en-US" sz="2400" dirty="0"/>
          </a:p>
        </p:txBody>
      </p:sp>
      <p:sp>
        <p:nvSpPr>
          <p:cNvPr id="9" name="Shape 9"/>
          <p:cNvSpPr/>
          <p:nvPr/>
        </p:nvSpPr>
        <p:spPr>
          <a:xfrm>
            <a:off x="548640" y="1261872"/>
            <a:ext cx="6766560" cy="138176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6766560" cy="1381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gcc -Wall count.c -o count</a:t>
            </a:r>
            <a:endParaRPr lang="en-US" sz="3200" dirty="0"/>
          </a:p>
          <a:p>
            <a:pPr marL="0" indent="0" algn="l">
              <a:lnSpc>
                <a:spcPts val="4000"/>
              </a:lnSpc>
              <a:buNone/>
            </a:pPr>
            <a:r>
              <a:rPr lang="en-US" sz="3200" dirty="0">
                <a:solidFill>
                  <a:srgbClr val="E5E7EB"/>
                </a:solidFill>
                <a:latin typeface="Consolas"/>
                <a:ea typeface="Consolas"/>
                <a:cs typeface="Consolas"/>
              </a:rPr>
              <a:t>./count</a:t>
            </a:r>
            <a:endParaRPr lang="en-US" sz="3200" dirty="0"/>
          </a:p>
        </p:txBody>
      </p:sp>
      <p:sp>
        <p:nvSpPr>
          <p:cNvPr id="11" name="Shape 11"/>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2" name="Shape 12"/>
          <p:cNvSpPr/>
          <p:nvPr/>
        </p:nvSpPr>
        <p:spPr>
          <a:xfrm>
            <a:off x="7589520" y="1645920"/>
            <a:ext cx="4053535" cy="1889760"/>
          </a:xfrm>
          <a:prstGeom prst="rect">
            <a:avLst/>
          </a:prstGeom>
          <a:solidFill>
            <a:srgbClr val="000000"/>
          </a:solidFill>
          <a:ln>
            <a:noFill/>
          </a:ln>
        </p:spPr>
        <p:txBody>
          <a:bodyPr wrap="square" lIns="0" tIns="0" rIns="0" bIns="0" rtlCol="0" anchor="t"/>
          <a:lstStyle/>
          <a:p>
            <a:endParaRPr lang="en-US"/>
          </a:p>
        </p:txBody>
      </p:sp>
      <p:sp>
        <p:nvSpPr>
          <p:cNvPr id="13" name="Code"/>
          <p:cNvSpPr/>
          <p:nvPr/>
        </p:nvSpPr>
        <p:spPr>
          <a:xfrm>
            <a:off x="7589520" y="1645920"/>
            <a:ext cx="4053535" cy="1889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1</a:t>
            </a:r>
            <a:endParaRPr lang="en-US" sz="2400" dirty="0"/>
          </a:p>
          <a:p>
            <a:pPr marL="0" indent="0" algn="l">
              <a:lnSpc>
                <a:spcPts val="3000"/>
              </a:lnSpc>
              <a:buNone/>
            </a:pPr>
            <a:r>
              <a:rPr lang="en-US" sz="2400" dirty="0">
                <a:solidFill>
                  <a:srgbClr val="D1FAE5"/>
                </a:solidFill>
                <a:latin typeface="Consolas"/>
                <a:ea typeface="Consolas"/>
                <a:cs typeface="Consolas"/>
              </a:rPr>
              <a:t>2</a:t>
            </a:r>
            <a:endParaRPr lang="en-US" sz="2400" dirty="0"/>
          </a:p>
          <a:p>
            <a:pPr marL="0" indent="0" algn="l">
              <a:lnSpc>
                <a:spcPts val="3000"/>
              </a:lnSpc>
              <a:buNone/>
            </a:pPr>
            <a:r>
              <a:rPr lang="en-US" sz="2400" dirty="0">
                <a:solidFill>
                  <a:srgbClr val="D1FAE5"/>
                </a:solidFill>
                <a:latin typeface="Consolas"/>
                <a:ea typeface="Consolas"/>
                <a:cs typeface="Consolas"/>
              </a:rPr>
              <a:t>3</a:t>
            </a:r>
            <a:endParaRPr lang="en-US" sz="2400" dirty="0"/>
          </a:p>
          <a:p>
            <a:pPr marL="0" indent="0" algn="l">
              <a:lnSpc>
                <a:spcPts val="3000"/>
              </a:lnSpc>
              <a:buNone/>
            </a:pPr>
            <a:r>
              <a:rPr lang="en-US" sz="2400" dirty="0">
                <a:solidFill>
                  <a:srgbClr val="D1FAE5"/>
                </a:solidFill>
                <a:latin typeface="Consolas"/>
                <a:ea typeface="Consolas"/>
                <a:cs typeface="Consolas"/>
              </a:rPr>
              <a:t>Done</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Walk through it: check 1</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37</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count</a:t>
            </a:r>
            <a:r>
              <a:rPr lang="en-US" sz="2400" dirty="0">
                <a:solidFill>
                  <a:srgbClr val="18324A"/>
                </a:solidFill>
              </a:rPr>
              <a:t> is 1. Is 1 at most 3? Yes. Print 1. </a:t>
            </a:r>
            <a:r>
              <a:rPr lang="en-US" sz="2400" dirty="0">
                <a:solidFill>
                  <a:srgbClr val="18324A"/>
                </a:solidFill>
                <a:latin typeface="Consolas"/>
                <a:ea typeface="Consolas"/>
                <a:cs typeface="Consolas"/>
              </a:rPr>
              <a:t>count</a:t>
            </a:r>
            <a:r>
              <a:rPr lang="en-US" sz="2400" dirty="0">
                <a:solidFill>
                  <a:srgbClr val="18324A"/>
                </a:solidFill>
              </a:rPr>
              <a:t> becomes 2.</a:t>
            </a:r>
            <a:endParaRPr lang="en-US" sz="2400" dirty="0"/>
          </a:p>
        </p:txBody>
      </p:sp>
      <p:sp>
        <p:nvSpPr>
          <p:cNvPr id="9" name="Shape 9"/>
          <p:cNvSpPr/>
          <p:nvPr/>
        </p:nvSpPr>
        <p:spPr>
          <a:xfrm>
            <a:off x="548640" y="1261872"/>
            <a:ext cx="5486400" cy="3921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378202"/>
            <a:ext cx="5486400" cy="444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378202"/>
            <a:ext cx="82296" cy="44450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2822702"/>
            <a:ext cx="5486400" cy="44450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2822702"/>
            <a:ext cx="82296" cy="444500"/>
          </a:xfrm>
          <a:prstGeom prst="rect">
            <a:avLst/>
          </a:prstGeom>
          <a:solidFill>
            <a:srgbClr val="F59E0B"/>
          </a:solidFill>
          <a:ln>
            <a:noFill/>
          </a:ln>
        </p:spPr>
        <p:txBody>
          <a:bodyPr wrap="square" lIns="0" tIns="0" rIns="0" bIns="0" rtlCol="0" anchor="t"/>
          <a:lstStyle/>
          <a:p>
            <a:endParaRPr lang="en-US"/>
          </a:p>
        </p:txBody>
      </p:sp>
      <p:sp>
        <p:nvSpPr>
          <p:cNvPr id="14" name="Shape 14"/>
          <p:cNvSpPr/>
          <p:nvPr/>
        </p:nvSpPr>
        <p:spPr>
          <a:xfrm>
            <a:off x="548640" y="3267202"/>
            <a:ext cx="5486400" cy="444500"/>
          </a:xfrm>
          <a:prstGeom prst="rect">
            <a:avLst/>
          </a:prstGeom>
          <a:solidFill>
            <a:srgbClr val="25406B"/>
          </a:solidFill>
          <a:ln>
            <a:noFill/>
          </a:ln>
        </p:spPr>
        <p:txBody>
          <a:bodyPr wrap="square" lIns="0" tIns="0" rIns="0" bIns="0" rtlCol="0" anchor="t"/>
          <a:lstStyle/>
          <a:p>
            <a:endParaRPr lang="en-US"/>
          </a:p>
        </p:txBody>
      </p:sp>
      <p:sp>
        <p:nvSpPr>
          <p:cNvPr id="15" name="Shape 15"/>
          <p:cNvSpPr/>
          <p:nvPr/>
        </p:nvSpPr>
        <p:spPr>
          <a:xfrm>
            <a:off x="548640" y="3267202"/>
            <a:ext cx="82296" cy="444500"/>
          </a:xfrm>
          <a:prstGeom prst="rect">
            <a:avLst/>
          </a:prstGeom>
          <a:solidFill>
            <a:srgbClr val="F59E0B"/>
          </a:solidFill>
          <a:ln>
            <a:noFill/>
          </a:ln>
        </p:spPr>
        <p:txBody>
          <a:bodyPr wrap="square" lIns="0" tIns="0" rIns="0" bIns="0" rtlCol="0" anchor="t"/>
          <a:lstStyle/>
          <a:p>
            <a:endParaRPr lang="en-US"/>
          </a:p>
        </p:txBody>
      </p:sp>
      <p:sp>
        <p:nvSpPr>
          <p:cNvPr id="16" name="Code"/>
          <p:cNvSpPr/>
          <p:nvPr/>
        </p:nvSpPr>
        <p:spPr>
          <a:xfrm>
            <a:off x="548640" y="1261872"/>
            <a:ext cx="5486400" cy="3921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int count = 1;</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FFFFFF"/>
                </a:solidFill>
                <a:latin typeface="Consolas"/>
                <a:ea typeface="Consolas"/>
                <a:cs typeface="Consolas"/>
              </a:rPr>
              <a:t>while (count &lt;= 3) {</a:t>
            </a:r>
            <a:endParaRPr lang="en-US" sz="2800" dirty="0"/>
          </a:p>
          <a:p>
            <a:pPr marL="0" indent="0" algn="l">
              <a:lnSpc>
                <a:spcPts val="3500"/>
              </a:lnSpc>
              <a:buNone/>
            </a:pPr>
            <a:r>
              <a:rPr lang="en-US" sz="2800" dirty="0">
                <a:solidFill>
                  <a:srgbClr val="FFFFFF"/>
                </a:solidFill>
                <a:latin typeface="Consolas"/>
                <a:ea typeface="Consolas"/>
                <a:cs typeface="Consolas"/>
              </a:rPr>
              <a:t>    printf("%d\n", count);</a:t>
            </a:r>
            <a:endParaRPr lang="en-US" sz="2800" dirty="0"/>
          </a:p>
          <a:p>
            <a:pPr marL="0" indent="0" algn="l">
              <a:lnSpc>
                <a:spcPts val="3500"/>
              </a:lnSpc>
              <a:buNone/>
            </a:pPr>
            <a:r>
              <a:rPr lang="en-US" sz="2800" dirty="0">
                <a:solidFill>
                  <a:srgbClr val="FFFFFF"/>
                </a:solidFill>
                <a:latin typeface="Consolas"/>
                <a:ea typeface="Consolas"/>
                <a:cs typeface="Consolas"/>
              </a:rPr>
              <a:t>    count++;</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printf("Done\n");</a:t>
            </a:r>
            <a:endParaRPr lang="en-US" sz="2800" dirty="0"/>
          </a:p>
        </p:txBody>
      </p:sp>
      <p:sp>
        <p:nvSpPr>
          <p:cNvPr id="17" name="Shape 17"/>
          <p:cNvSpPr/>
          <p:nvPr/>
        </p:nvSpPr>
        <p:spPr>
          <a:xfrm>
            <a:off x="6309360" y="1261872"/>
            <a:ext cx="106673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a:t>
            </a:r>
            <a:endParaRPr lang="en-US" sz="1800" dirty="0"/>
          </a:p>
        </p:txBody>
      </p:sp>
      <p:sp>
        <p:nvSpPr>
          <p:cNvPr id="18" name="Shape 18"/>
          <p:cNvSpPr/>
          <p:nvPr/>
        </p:nvSpPr>
        <p:spPr>
          <a:xfrm>
            <a:off x="7376099" y="1261872"/>
            <a:ext cx="160010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 &lt;= 3</a:t>
            </a:r>
            <a:endParaRPr lang="en-US" sz="1800" dirty="0"/>
          </a:p>
        </p:txBody>
      </p:sp>
      <p:sp>
        <p:nvSpPr>
          <p:cNvPr id="19" name="Shape 19"/>
          <p:cNvSpPr/>
          <p:nvPr/>
        </p:nvSpPr>
        <p:spPr>
          <a:xfrm>
            <a:off x="8976208" y="1261872"/>
            <a:ext cx="106673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20" name="Shape 20"/>
          <p:cNvSpPr/>
          <p:nvPr/>
        </p:nvSpPr>
        <p:spPr>
          <a:xfrm>
            <a:off x="10042947" y="1261872"/>
            <a:ext cx="160010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count</a:t>
            </a:r>
            <a:endParaRPr lang="en-US" sz="1800" dirty="0"/>
          </a:p>
        </p:txBody>
      </p:sp>
      <p:sp>
        <p:nvSpPr>
          <p:cNvPr id="21" name="Shape 21"/>
          <p:cNvSpPr/>
          <p:nvPr/>
        </p:nvSpPr>
        <p:spPr>
          <a:xfrm>
            <a:off x="6309360" y="1920240"/>
            <a:ext cx="106673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22" name="Shape 22"/>
          <p:cNvSpPr/>
          <p:nvPr/>
        </p:nvSpPr>
        <p:spPr>
          <a:xfrm>
            <a:off x="7376099" y="1920240"/>
            <a:ext cx="160010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23" name="Shape 23"/>
          <p:cNvSpPr/>
          <p:nvPr/>
        </p:nvSpPr>
        <p:spPr>
          <a:xfrm>
            <a:off x="8976208" y="1920240"/>
            <a:ext cx="106673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24" name="Shape 24"/>
          <p:cNvSpPr/>
          <p:nvPr/>
        </p:nvSpPr>
        <p:spPr>
          <a:xfrm>
            <a:off x="10042947" y="1920240"/>
            <a:ext cx="160010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5" name="Shape 25"/>
          <p:cNvSpPr/>
          <p:nvPr/>
        </p:nvSpPr>
        <p:spPr>
          <a:xfrm>
            <a:off x="6309360" y="2578608"/>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376099" y="2578608"/>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8976208" y="2578608"/>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10042947" y="2578608"/>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6309360" y="3236976"/>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7376099" y="3236976"/>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8976208" y="3236976"/>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10042947" y="3236976"/>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6309360" y="3895344"/>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376099" y="3895344"/>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8976208" y="3895344"/>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10042947" y="3895344"/>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Walk through it: check 2</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38</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Back up. </a:t>
            </a:r>
            <a:r>
              <a:rPr lang="en-US" sz="2400" dirty="0">
                <a:solidFill>
                  <a:srgbClr val="18324A"/>
                </a:solidFill>
                <a:latin typeface="Consolas"/>
                <a:ea typeface="Consolas"/>
                <a:cs typeface="Consolas"/>
              </a:rPr>
              <a:t>count</a:t>
            </a:r>
            <a:r>
              <a:rPr lang="en-US" sz="2400" dirty="0">
                <a:solidFill>
                  <a:srgbClr val="18324A"/>
                </a:solidFill>
              </a:rPr>
              <a:t> is 2. Yes. Print 2. </a:t>
            </a:r>
            <a:r>
              <a:rPr lang="en-US" sz="2400" dirty="0">
                <a:solidFill>
                  <a:srgbClr val="18324A"/>
                </a:solidFill>
                <a:latin typeface="Consolas"/>
                <a:ea typeface="Consolas"/>
                <a:cs typeface="Consolas"/>
              </a:rPr>
              <a:t>count</a:t>
            </a:r>
            <a:r>
              <a:rPr lang="en-US" sz="2400" dirty="0">
                <a:solidFill>
                  <a:srgbClr val="18324A"/>
                </a:solidFill>
              </a:rPr>
              <a:t> becomes 3.</a:t>
            </a:r>
            <a:endParaRPr lang="en-US" sz="2400" dirty="0"/>
          </a:p>
        </p:txBody>
      </p:sp>
      <p:sp>
        <p:nvSpPr>
          <p:cNvPr id="9" name="Shape 9"/>
          <p:cNvSpPr/>
          <p:nvPr/>
        </p:nvSpPr>
        <p:spPr>
          <a:xfrm>
            <a:off x="548640" y="1261872"/>
            <a:ext cx="5486400" cy="3921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378202"/>
            <a:ext cx="5486400" cy="444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378202"/>
            <a:ext cx="82296" cy="44450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2822702"/>
            <a:ext cx="5486400" cy="44450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2822702"/>
            <a:ext cx="82296" cy="444500"/>
          </a:xfrm>
          <a:prstGeom prst="rect">
            <a:avLst/>
          </a:prstGeom>
          <a:solidFill>
            <a:srgbClr val="F59E0B"/>
          </a:solidFill>
          <a:ln>
            <a:noFill/>
          </a:ln>
        </p:spPr>
        <p:txBody>
          <a:bodyPr wrap="square" lIns="0" tIns="0" rIns="0" bIns="0" rtlCol="0" anchor="t"/>
          <a:lstStyle/>
          <a:p>
            <a:endParaRPr lang="en-US"/>
          </a:p>
        </p:txBody>
      </p:sp>
      <p:sp>
        <p:nvSpPr>
          <p:cNvPr id="14" name="Shape 14"/>
          <p:cNvSpPr/>
          <p:nvPr/>
        </p:nvSpPr>
        <p:spPr>
          <a:xfrm>
            <a:off x="548640" y="3267202"/>
            <a:ext cx="5486400" cy="444500"/>
          </a:xfrm>
          <a:prstGeom prst="rect">
            <a:avLst/>
          </a:prstGeom>
          <a:solidFill>
            <a:srgbClr val="25406B"/>
          </a:solidFill>
          <a:ln>
            <a:noFill/>
          </a:ln>
        </p:spPr>
        <p:txBody>
          <a:bodyPr wrap="square" lIns="0" tIns="0" rIns="0" bIns="0" rtlCol="0" anchor="t"/>
          <a:lstStyle/>
          <a:p>
            <a:endParaRPr lang="en-US"/>
          </a:p>
        </p:txBody>
      </p:sp>
      <p:sp>
        <p:nvSpPr>
          <p:cNvPr id="15" name="Shape 15"/>
          <p:cNvSpPr/>
          <p:nvPr/>
        </p:nvSpPr>
        <p:spPr>
          <a:xfrm>
            <a:off x="548640" y="3267202"/>
            <a:ext cx="82296" cy="444500"/>
          </a:xfrm>
          <a:prstGeom prst="rect">
            <a:avLst/>
          </a:prstGeom>
          <a:solidFill>
            <a:srgbClr val="F59E0B"/>
          </a:solidFill>
          <a:ln>
            <a:noFill/>
          </a:ln>
        </p:spPr>
        <p:txBody>
          <a:bodyPr wrap="square" lIns="0" tIns="0" rIns="0" bIns="0" rtlCol="0" anchor="t"/>
          <a:lstStyle/>
          <a:p>
            <a:endParaRPr lang="en-US"/>
          </a:p>
        </p:txBody>
      </p:sp>
      <p:sp>
        <p:nvSpPr>
          <p:cNvPr id="16" name="Code"/>
          <p:cNvSpPr/>
          <p:nvPr/>
        </p:nvSpPr>
        <p:spPr>
          <a:xfrm>
            <a:off x="548640" y="1261872"/>
            <a:ext cx="5486400" cy="3921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int count = 1;</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FFFFFF"/>
                </a:solidFill>
                <a:latin typeface="Consolas"/>
                <a:ea typeface="Consolas"/>
                <a:cs typeface="Consolas"/>
              </a:rPr>
              <a:t>while (count &lt;= 3) {</a:t>
            </a:r>
            <a:endParaRPr lang="en-US" sz="2800" dirty="0"/>
          </a:p>
          <a:p>
            <a:pPr marL="0" indent="0" algn="l">
              <a:lnSpc>
                <a:spcPts val="3500"/>
              </a:lnSpc>
              <a:buNone/>
            </a:pPr>
            <a:r>
              <a:rPr lang="en-US" sz="2800" dirty="0">
                <a:solidFill>
                  <a:srgbClr val="FFFFFF"/>
                </a:solidFill>
                <a:latin typeface="Consolas"/>
                <a:ea typeface="Consolas"/>
                <a:cs typeface="Consolas"/>
              </a:rPr>
              <a:t>    printf("%d\n", count);</a:t>
            </a:r>
            <a:endParaRPr lang="en-US" sz="2800" dirty="0"/>
          </a:p>
          <a:p>
            <a:pPr marL="0" indent="0" algn="l">
              <a:lnSpc>
                <a:spcPts val="3500"/>
              </a:lnSpc>
              <a:buNone/>
            </a:pPr>
            <a:r>
              <a:rPr lang="en-US" sz="2800" dirty="0">
                <a:solidFill>
                  <a:srgbClr val="FFFFFF"/>
                </a:solidFill>
                <a:latin typeface="Consolas"/>
                <a:ea typeface="Consolas"/>
                <a:cs typeface="Consolas"/>
              </a:rPr>
              <a:t>    count++;</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printf("Done\n");</a:t>
            </a:r>
            <a:endParaRPr lang="en-US" sz="2800" dirty="0"/>
          </a:p>
        </p:txBody>
      </p:sp>
      <p:sp>
        <p:nvSpPr>
          <p:cNvPr id="17" name="Shape 17"/>
          <p:cNvSpPr/>
          <p:nvPr/>
        </p:nvSpPr>
        <p:spPr>
          <a:xfrm>
            <a:off x="6309360" y="1261872"/>
            <a:ext cx="106673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a:t>
            </a:r>
            <a:endParaRPr lang="en-US" sz="1800" dirty="0"/>
          </a:p>
        </p:txBody>
      </p:sp>
      <p:sp>
        <p:nvSpPr>
          <p:cNvPr id="18" name="Shape 18"/>
          <p:cNvSpPr/>
          <p:nvPr/>
        </p:nvSpPr>
        <p:spPr>
          <a:xfrm>
            <a:off x="7376099" y="1261872"/>
            <a:ext cx="160010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 &lt;= 3</a:t>
            </a:r>
            <a:endParaRPr lang="en-US" sz="1800" dirty="0"/>
          </a:p>
        </p:txBody>
      </p:sp>
      <p:sp>
        <p:nvSpPr>
          <p:cNvPr id="19" name="Shape 19"/>
          <p:cNvSpPr/>
          <p:nvPr/>
        </p:nvSpPr>
        <p:spPr>
          <a:xfrm>
            <a:off x="8976208" y="1261872"/>
            <a:ext cx="106673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20" name="Shape 20"/>
          <p:cNvSpPr/>
          <p:nvPr/>
        </p:nvSpPr>
        <p:spPr>
          <a:xfrm>
            <a:off x="10042947" y="1261872"/>
            <a:ext cx="160010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count</a:t>
            </a:r>
            <a:endParaRPr lang="en-US" sz="1800" dirty="0"/>
          </a:p>
        </p:txBody>
      </p:sp>
      <p:sp>
        <p:nvSpPr>
          <p:cNvPr id="21" name="Shape 21"/>
          <p:cNvSpPr/>
          <p:nvPr/>
        </p:nvSpPr>
        <p:spPr>
          <a:xfrm>
            <a:off x="6309360" y="1920240"/>
            <a:ext cx="106673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2" name="Shape 22"/>
          <p:cNvSpPr/>
          <p:nvPr/>
        </p:nvSpPr>
        <p:spPr>
          <a:xfrm>
            <a:off x="7376099" y="1920240"/>
            <a:ext cx="160010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3" name="Shape 23"/>
          <p:cNvSpPr/>
          <p:nvPr/>
        </p:nvSpPr>
        <p:spPr>
          <a:xfrm>
            <a:off x="8976208" y="1920240"/>
            <a:ext cx="106673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4" name="Shape 24"/>
          <p:cNvSpPr/>
          <p:nvPr/>
        </p:nvSpPr>
        <p:spPr>
          <a:xfrm>
            <a:off x="10042947" y="1920240"/>
            <a:ext cx="160010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5" name="Shape 25"/>
          <p:cNvSpPr/>
          <p:nvPr/>
        </p:nvSpPr>
        <p:spPr>
          <a:xfrm>
            <a:off x="6309360" y="2578608"/>
            <a:ext cx="106673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6" name="Shape 26"/>
          <p:cNvSpPr/>
          <p:nvPr/>
        </p:nvSpPr>
        <p:spPr>
          <a:xfrm>
            <a:off x="7376099" y="2578608"/>
            <a:ext cx="160010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27" name="Shape 27"/>
          <p:cNvSpPr/>
          <p:nvPr/>
        </p:nvSpPr>
        <p:spPr>
          <a:xfrm>
            <a:off x="8976208" y="2578608"/>
            <a:ext cx="106673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8" name="Shape 28"/>
          <p:cNvSpPr/>
          <p:nvPr/>
        </p:nvSpPr>
        <p:spPr>
          <a:xfrm>
            <a:off x="10042947" y="2578608"/>
            <a:ext cx="160010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29" name="Shape 29"/>
          <p:cNvSpPr/>
          <p:nvPr/>
        </p:nvSpPr>
        <p:spPr>
          <a:xfrm>
            <a:off x="6309360" y="3236976"/>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7376099" y="3236976"/>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8976208" y="3236976"/>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10042947" y="3236976"/>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6309360" y="3895344"/>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376099" y="3895344"/>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8976208" y="3895344"/>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10042947" y="3895344"/>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Walk through it: check 3</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39</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Back up. </a:t>
            </a:r>
            <a:r>
              <a:rPr lang="en-US" sz="2400" dirty="0">
                <a:solidFill>
                  <a:srgbClr val="18324A"/>
                </a:solidFill>
                <a:latin typeface="Consolas"/>
                <a:ea typeface="Consolas"/>
                <a:cs typeface="Consolas"/>
              </a:rPr>
              <a:t>count</a:t>
            </a:r>
            <a:r>
              <a:rPr lang="en-US" sz="2400" dirty="0">
                <a:solidFill>
                  <a:srgbClr val="18324A"/>
                </a:solidFill>
              </a:rPr>
              <a:t> is 3. Yes. Print 3. </a:t>
            </a:r>
            <a:r>
              <a:rPr lang="en-US" sz="2400" dirty="0">
                <a:solidFill>
                  <a:srgbClr val="18324A"/>
                </a:solidFill>
                <a:latin typeface="Consolas"/>
                <a:ea typeface="Consolas"/>
                <a:cs typeface="Consolas"/>
              </a:rPr>
              <a:t>count</a:t>
            </a:r>
            <a:r>
              <a:rPr lang="en-US" sz="2400" dirty="0">
                <a:solidFill>
                  <a:srgbClr val="18324A"/>
                </a:solidFill>
              </a:rPr>
              <a:t> becomes 4.</a:t>
            </a:r>
            <a:endParaRPr lang="en-US" sz="2400" dirty="0"/>
          </a:p>
        </p:txBody>
      </p:sp>
      <p:sp>
        <p:nvSpPr>
          <p:cNvPr id="9" name="Shape 9"/>
          <p:cNvSpPr/>
          <p:nvPr/>
        </p:nvSpPr>
        <p:spPr>
          <a:xfrm>
            <a:off x="548640" y="1261872"/>
            <a:ext cx="5486400" cy="3921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378202"/>
            <a:ext cx="5486400" cy="444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378202"/>
            <a:ext cx="82296" cy="44450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2822702"/>
            <a:ext cx="5486400" cy="44450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2822702"/>
            <a:ext cx="82296" cy="444500"/>
          </a:xfrm>
          <a:prstGeom prst="rect">
            <a:avLst/>
          </a:prstGeom>
          <a:solidFill>
            <a:srgbClr val="F59E0B"/>
          </a:solidFill>
          <a:ln>
            <a:noFill/>
          </a:ln>
        </p:spPr>
        <p:txBody>
          <a:bodyPr wrap="square" lIns="0" tIns="0" rIns="0" bIns="0" rtlCol="0" anchor="t"/>
          <a:lstStyle/>
          <a:p>
            <a:endParaRPr lang="en-US"/>
          </a:p>
        </p:txBody>
      </p:sp>
      <p:sp>
        <p:nvSpPr>
          <p:cNvPr id="14" name="Shape 14"/>
          <p:cNvSpPr/>
          <p:nvPr/>
        </p:nvSpPr>
        <p:spPr>
          <a:xfrm>
            <a:off x="548640" y="3267202"/>
            <a:ext cx="5486400" cy="444500"/>
          </a:xfrm>
          <a:prstGeom prst="rect">
            <a:avLst/>
          </a:prstGeom>
          <a:solidFill>
            <a:srgbClr val="25406B"/>
          </a:solidFill>
          <a:ln>
            <a:noFill/>
          </a:ln>
        </p:spPr>
        <p:txBody>
          <a:bodyPr wrap="square" lIns="0" tIns="0" rIns="0" bIns="0" rtlCol="0" anchor="t"/>
          <a:lstStyle/>
          <a:p>
            <a:endParaRPr lang="en-US"/>
          </a:p>
        </p:txBody>
      </p:sp>
      <p:sp>
        <p:nvSpPr>
          <p:cNvPr id="15" name="Shape 15"/>
          <p:cNvSpPr/>
          <p:nvPr/>
        </p:nvSpPr>
        <p:spPr>
          <a:xfrm>
            <a:off x="548640" y="3267202"/>
            <a:ext cx="82296" cy="444500"/>
          </a:xfrm>
          <a:prstGeom prst="rect">
            <a:avLst/>
          </a:prstGeom>
          <a:solidFill>
            <a:srgbClr val="F59E0B"/>
          </a:solidFill>
          <a:ln>
            <a:noFill/>
          </a:ln>
        </p:spPr>
        <p:txBody>
          <a:bodyPr wrap="square" lIns="0" tIns="0" rIns="0" bIns="0" rtlCol="0" anchor="t"/>
          <a:lstStyle/>
          <a:p>
            <a:endParaRPr lang="en-US"/>
          </a:p>
        </p:txBody>
      </p:sp>
      <p:sp>
        <p:nvSpPr>
          <p:cNvPr id="16" name="Code"/>
          <p:cNvSpPr/>
          <p:nvPr/>
        </p:nvSpPr>
        <p:spPr>
          <a:xfrm>
            <a:off x="548640" y="1261872"/>
            <a:ext cx="5486400" cy="3921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int count = 1;</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FFFFFF"/>
                </a:solidFill>
                <a:latin typeface="Consolas"/>
                <a:ea typeface="Consolas"/>
                <a:cs typeface="Consolas"/>
              </a:rPr>
              <a:t>while (count &lt;= 3) {</a:t>
            </a:r>
            <a:endParaRPr lang="en-US" sz="2800" dirty="0"/>
          </a:p>
          <a:p>
            <a:pPr marL="0" indent="0" algn="l">
              <a:lnSpc>
                <a:spcPts val="3500"/>
              </a:lnSpc>
              <a:buNone/>
            </a:pPr>
            <a:r>
              <a:rPr lang="en-US" sz="2800" dirty="0">
                <a:solidFill>
                  <a:srgbClr val="FFFFFF"/>
                </a:solidFill>
                <a:latin typeface="Consolas"/>
                <a:ea typeface="Consolas"/>
                <a:cs typeface="Consolas"/>
              </a:rPr>
              <a:t>    printf("%d\n", count);</a:t>
            </a:r>
            <a:endParaRPr lang="en-US" sz="2800" dirty="0"/>
          </a:p>
          <a:p>
            <a:pPr marL="0" indent="0" algn="l">
              <a:lnSpc>
                <a:spcPts val="3500"/>
              </a:lnSpc>
              <a:buNone/>
            </a:pPr>
            <a:r>
              <a:rPr lang="en-US" sz="2800" dirty="0">
                <a:solidFill>
                  <a:srgbClr val="FFFFFF"/>
                </a:solidFill>
                <a:latin typeface="Consolas"/>
                <a:ea typeface="Consolas"/>
                <a:cs typeface="Consolas"/>
              </a:rPr>
              <a:t>    count++;</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printf("Done\n");</a:t>
            </a:r>
            <a:endParaRPr lang="en-US" sz="2800" dirty="0"/>
          </a:p>
        </p:txBody>
      </p:sp>
      <p:sp>
        <p:nvSpPr>
          <p:cNvPr id="17" name="Shape 17"/>
          <p:cNvSpPr/>
          <p:nvPr/>
        </p:nvSpPr>
        <p:spPr>
          <a:xfrm>
            <a:off x="6309360" y="1261872"/>
            <a:ext cx="106673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a:t>
            </a:r>
            <a:endParaRPr lang="en-US" sz="1800" dirty="0"/>
          </a:p>
        </p:txBody>
      </p:sp>
      <p:sp>
        <p:nvSpPr>
          <p:cNvPr id="18" name="Shape 18"/>
          <p:cNvSpPr/>
          <p:nvPr/>
        </p:nvSpPr>
        <p:spPr>
          <a:xfrm>
            <a:off x="7376099" y="1261872"/>
            <a:ext cx="160010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 &lt;= 3</a:t>
            </a:r>
            <a:endParaRPr lang="en-US" sz="1800" dirty="0"/>
          </a:p>
        </p:txBody>
      </p:sp>
      <p:sp>
        <p:nvSpPr>
          <p:cNvPr id="19" name="Shape 19"/>
          <p:cNvSpPr/>
          <p:nvPr/>
        </p:nvSpPr>
        <p:spPr>
          <a:xfrm>
            <a:off x="8976208" y="1261872"/>
            <a:ext cx="106673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20" name="Shape 20"/>
          <p:cNvSpPr/>
          <p:nvPr/>
        </p:nvSpPr>
        <p:spPr>
          <a:xfrm>
            <a:off x="10042947" y="1261872"/>
            <a:ext cx="160010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count</a:t>
            </a:r>
            <a:endParaRPr lang="en-US" sz="1800" dirty="0"/>
          </a:p>
        </p:txBody>
      </p:sp>
      <p:sp>
        <p:nvSpPr>
          <p:cNvPr id="21" name="Shape 21"/>
          <p:cNvSpPr/>
          <p:nvPr/>
        </p:nvSpPr>
        <p:spPr>
          <a:xfrm>
            <a:off x="6309360" y="1920240"/>
            <a:ext cx="106673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2" name="Shape 22"/>
          <p:cNvSpPr/>
          <p:nvPr/>
        </p:nvSpPr>
        <p:spPr>
          <a:xfrm>
            <a:off x="7376099" y="1920240"/>
            <a:ext cx="160010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3" name="Shape 23"/>
          <p:cNvSpPr/>
          <p:nvPr/>
        </p:nvSpPr>
        <p:spPr>
          <a:xfrm>
            <a:off x="8976208" y="1920240"/>
            <a:ext cx="106673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4" name="Shape 24"/>
          <p:cNvSpPr/>
          <p:nvPr/>
        </p:nvSpPr>
        <p:spPr>
          <a:xfrm>
            <a:off x="10042947" y="1920240"/>
            <a:ext cx="160010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5" name="Shape 25"/>
          <p:cNvSpPr/>
          <p:nvPr/>
        </p:nvSpPr>
        <p:spPr>
          <a:xfrm>
            <a:off x="6309360" y="2578608"/>
            <a:ext cx="106673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6" name="Shape 26"/>
          <p:cNvSpPr/>
          <p:nvPr/>
        </p:nvSpPr>
        <p:spPr>
          <a:xfrm>
            <a:off x="7376099" y="2578608"/>
            <a:ext cx="160010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7" name="Shape 27"/>
          <p:cNvSpPr/>
          <p:nvPr/>
        </p:nvSpPr>
        <p:spPr>
          <a:xfrm>
            <a:off x="8976208" y="2578608"/>
            <a:ext cx="106673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8" name="Shape 28"/>
          <p:cNvSpPr/>
          <p:nvPr/>
        </p:nvSpPr>
        <p:spPr>
          <a:xfrm>
            <a:off x="10042947" y="2578608"/>
            <a:ext cx="160010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9" name="Shape 29"/>
          <p:cNvSpPr/>
          <p:nvPr/>
        </p:nvSpPr>
        <p:spPr>
          <a:xfrm>
            <a:off x="6309360" y="3236976"/>
            <a:ext cx="106673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30" name="Shape 30"/>
          <p:cNvSpPr/>
          <p:nvPr/>
        </p:nvSpPr>
        <p:spPr>
          <a:xfrm>
            <a:off x="7376099" y="3236976"/>
            <a:ext cx="160010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31" name="Shape 31"/>
          <p:cNvSpPr/>
          <p:nvPr/>
        </p:nvSpPr>
        <p:spPr>
          <a:xfrm>
            <a:off x="8976208" y="3236976"/>
            <a:ext cx="106673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32" name="Shape 32"/>
          <p:cNvSpPr/>
          <p:nvPr/>
        </p:nvSpPr>
        <p:spPr>
          <a:xfrm>
            <a:off x="10042947" y="3236976"/>
            <a:ext cx="160010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3" name="Shape 33"/>
          <p:cNvSpPr/>
          <p:nvPr/>
        </p:nvSpPr>
        <p:spPr>
          <a:xfrm>
            <a:off x="6309360" y="3895344"/>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376099" y="3895344"/>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8976208" y="3895344"/>
            <a:ext cx="106673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10042947" y="3895344"/>
            <a:ext cx="1600109"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Walk through it: check 4</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40</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Back up. </a:t>
            </a:r>
            <a:r>
              <a:rPr lang="en-US" sz="2400" dirty="0">
                <a:solidFill>
                  <a:srgbClr val="18324A"/>
                </a:solidFill>
                <a:latin typeface="Consolas"/>
                <a:ea typeface="Consolas"/>
                <a:cs typeface="Consolas"/>
              </a:rPr>
              <a:t>count</a:t>
            </a:r>
            <a:r>
              <a:rPr lang="en-US" sz="2400" dirty="0">
                <a:solidFill>
                  <a:srgbClr val="18324A"/>
                </a:solidFill>
              </a:rPr>
              <a:t> is 4. Is 4 at most 3? </a:t>
            </a:r>
            <a:r>
              <a:rPr lang="en-US" sz="2400" b="1" dirty="0">
                <a:solidFill>
                  <a:srgbClr val="18324A"/>
                </a:solidFill>
              </a:rPr>
              <a:t>No.</a:t>
            </a:r>
            <a:r>
              <a:rPr lang="en-US" sz="2400" dirty="0">
                <a:solidFill>
                  <a:srgbClr val="18324A"/>
                </a:solidFill>
              </a:rPr>
              <a:t> Leave the loop. </a:t>
            </a:r>
            <a:r>
              <a:rPr lang="en-US" sz="2400" dirty="0">
                <a:solidFill>
                  <a:srgbClr val="18324A"/>
                </a:solidFill>
                <a:latin typeface="Consolas"/>
                <a:ea typeface="Consolas"/>
                <a:cs typeface="Consolas"/>
              </a:rPr>
              <a:t>Done</a:t>
            </a:r>
            <a:r>
              <a:rPr lang="en-US" sz="2400" dirty="0">
                <a:solidFill>
                  <a:srgbClr val="18324A"/>
                </a:solidFill>
              </a:rPr>
              <a:t>.</a:t>
            </a:r>
            <a:endParaRPr lang="en-US" sz="2400" dirty="0"/>
          </a:p>
        </p:txBody>
      </p:sp>
      <p:sp>
        <p:nvSpPr>
          <p:cNvPr id="9" name="Shape 9"/>
          <p:cNvSpPr/>
          <p:nvPr/>
        </p:nvSpPr>
        <p:spPr>
          <a:xfrm>
            <a:off x="548640" y="1261872"/>
            <a:ext cx="5486400" cy="3921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378202"/>
            <a:ext cx="5486400" cy="444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378202"/>
            <a:ext cx="82296" cy="4445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486400" cy="3921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int count = 1;</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FFFFFF"/>
                </a:solidFill>
                <a:latin typeface="Consolas"/>
                <a:ea typeface="Consolas"/>
                <a:cs typeface="Consolas"/>
              </a:rPr>
              <a:t>while (count &lt;= 3) {</a:t>
            </a:r>
            <a:endParaRPr lang="en-US" sz="2800" dirty="0"/>
          </a:p>
          <a:p>
            <a:pPr marL="0" indent="0" algn="l">
              <a:lnSpc>
                <a:spcPts val="3500"/>
              </a:lnSpc>
              <a:buNone/>
            </a:pPr>
            <a:r>
              <a:rPr lang="en-US" sz="2800" dirty="0">
                <a:solidFill>
                  <a:srgbClr val="64748B"/>
                </a:solidFill>
                <a:latin typeface="Consolas"/>
                <a:ea typeface="Consolas"/>
                <a:cs typeface="Consolas"/>
              </a:rPr>
              <a:t>    printf("%d\n", count);</a:t>
            </a:r>
            <a:endParaRPr lang="en-US" sz="2800" dirty="0"/>
          </a:p>
          <a:p>
            <a:pPr marL="0" indent="0" algn="l">
              <a:lnSpc>
                <a:spcPts val="3500"/>
              </a:lnSpc>
              <a:buNone/>
            </a:pPr>
            <a:r>
              <a:rPr lang="en-US" sz="2800" dirty="0">
                <a:solidFill>
                  <a:srgbClr val="64748B"/>
                </a:solidFill>
                <a:latin typeface="Consolas"/>
                <a:ea typeface="Consolas"/>
                <a:cs typeface="Consolas"/>
              </a:rPr>
              <a:t>    count++;</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printf("Done\n");</a:t>
            </a:r>
            <a:endParaRPr lang="en-US" sz="2800" dirty="0"/>
          </a:p>
        </p:txBody>
      </p:sp>
      <p:sp>
        <p:nvSpPr>
          <p:cNvPr id="13" name="Shape 13"/>
          <p:cNvSpPr/>
          <p:nvPr/>
        </p:nvSpPr>
        <p:spPr>
          <a:xfrm>
            <a:off x="6309360" y="1261872"/>
            <a:ext cx="106673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a:t>
            </a:r>
            <a:endParaRPr lang="en-US" sz="1800" dirty="0"/>
          </a:p>
        </p:txBody>
      </p:sp>
      <p:sp>
        <p:nvSpPr>
          <p:cNvPr id="14" name="Shape 14"/>
          <p:cNvSpPr/>
          <p:nvPr/>
        </p:nvSpPr>
        <p:spPr>
          <a:xfrm>
            <a:off x="7376099" y="1261872"/>
            <a:ext cx="160010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 &lt;= 3</a:t>
            </a:r>
            <a:endParaRPr lang="en-US" sz="1800" dirty="0"/>
          </a:p>
        </p:txBody>
      </p:sp>
      <p:sp>
        <p:nvSpPr>
          <p:cNvPr id="15" name="Shape 15"/>
          <p:cNvSpPr/>
          <p:nvPr/>
        </p:nvSpPr>
        <p:spPr>
          <a:xfrm>
            <a:off x="8976208" y="1261872"/>
            <a:ext cx="106673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6" name="Shape 16"/>
          <p:cNvSpPr/>
          <p:nvPr/>
        </p:nvSpPr>
        <p:spPr>
          <a:xfrm>
            <a:off x="10042947" y="1261872"/>
            <a:ext cx="160010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count</a:t>
            </a:r>
            <a:endParaRPr lang="en-US" sz="1800" dirty="0"/>
          </a:p>
        </p:txBody>
      </p:sp>
      <p:sp>
        <p:nvSpPr>
          <p:cNvPr id="17" name="Shape 17"/>
          <p:cNvSpPr/>
          <p:nvPr/>
        </p:nvSpPr>
        <p:spPr>
          <a:xfrm>
            <a:off x="6309360" y="1920240"/>
            <a:ext cx="106673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7376099" y="1920240"/>
            <a:ext cx="160010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19" name="Shape 19"/>
          <p:cNvSpPr/>
          <p:nvPr/>
        </p:nvSpPr>
        <p:spPr>
          <a:xfrm>
            <a:off x="8976208" y="1920240"/>
            <a:ext cx="106673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0" name="Shape 20"/>
          <p:cNvSpPr/>
          <p:nvPr/>
        </p:nvSpPr>
        <p:spPr>
          <a:xfrm>
            <a:off x="10042947" y="1920240"/>
            <a:ext cx="160010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1" name="Shape 21"/>
          <p:cNvSpPr/>
          <p:nvPr/>
        </p:nvSpPr>
        <p:spPr>
          <a:xfrm>
            <a:off x="6309360" y="2578608"/>
            <a:ext cx="106673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7376099" y="2578608"/>
            <a:ext cx="160010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3" name="Shape 23"/>
          <p:cNvSpPr/>
          <p:nvPr/>
        </p:nvSpPr>
        <p:spPr>
          <a:xfrm>
            <a:off x="8976208" y="2578608"/>
            <a:ext cx="106673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4" name="Shape 24"/>
          <p:cNvSpPr/>
          <p:nvPr/>
        </p:nvSpPr>
        <p:spPr>
          <a:xfrm>
            <a:off x="10042947" y="2578608"/>
            <a:ext cx="160010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5" name="Shape 25"/>
          <p:cNvSpPr/>
          <p:nvPr/>
        </p:nvSpPr>
        <p:spPr>
          <a:xfrm>
            <a:off x="6309360" y="3236976"/>
            <a:ext cx="106673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6" name="Shape 26"/>
          <p:cNvSpPr/>
          <p:nvPr/>
        </p:nvSpPr>
        <p:spPr>
          <a:xfrm>
            <a:off x="7376099" y="3236976"/>
            <a:ext cx="160010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7" name="Shape 27"/>
          <p:cNvSpPr/>
          <p:nvPr/>
        </p:nvSpPr>
        <p:spPr>
          <a:xfrm>
            <a:off x="8976208" y="3236976"/>
            <a:ext cx="106673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8" name="Shape 28"/>
          <p:cNvSpPr/>
          <p:nvPr/>
        </p:nvSpPr>
        <p:spPr>
          <a:xfrm>
            <a:off x="10042947" y="3236976"/>
            <a:ext cx="160010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29" name="Shape 29"/>
          <p:cNvSpPr/>
          <p:nvPr/>
        </p:nvSpPr>
        <p:spPr>
          <a:xfrm>
            <a:off x="6309360" y="3895344"/>
            <a:ext cx="106673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0" name="Shape 30"/>
          <p:cNvSpPr/>
          <p:nvPr/>
        </p:nvSpPr>
        <p:spPr>
          <a:xfrm>
            <a:off x="7376099" y="3895344"/>
            <a:ext cx="160010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E02424"/>
                </a:solidFill>
              </a:rPr>
              <a:t>false</a:t>
            </a:r>
            <a:endParaRPr lang="en-US" sz="2400" dirty="0"/>
          </a:p>
        </p:txBody>
      </p:sp>
      <p:sp>
        <p:nvSpPr>
          <p:cNvPr id="31" name="Shape 31"/>
          <p:cNvSpPr/>
          <p:nvPr/>
        </p:nvSpPr>
        <p:spPr>
          <a:xfrm>
            <a:off x="8976208" y="3895344"/>
            <a:ext cx="1066739" cy="6583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
        <p:nvSpPr>
          <p:cNvPr id="32" name="Shape 32"/>
          <p:cNvSpPr/>
          <p:nvPr/>
        </p:nvSpPr>
        <p:spPr>
          <a:xfrm>
            <a:off x="10042947" y="3895344"/>
            <a:ext cx="1600109" cy="6583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Change one thing</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41</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15824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count</a:t>
            </a:r>
            <a:r>
              <a:rPr lang="en-US" sz="3200" dirty="0">
                <a:solidFill>
                  <a:srgbClr val="18324A"/>
                </a:solidFill>
              </a:rPr>
              <a:t> starts at </a:t>
            </a:r>
            <a:r>
              <a:rPr lang="en-US" sz="3200" b="1" dirty="0">
                <a:solidFill>
                  <a:srgbClr val="18324A"/>
                </a:solidFill>
              </a:rPr>
              <a:t>10</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is printed?</a:t>
            </a:r>
            <a:endParaRPr lang="en-US" sz="3200" dirty="0"/>
          </a:p>
        </p:txBody>
      </p:sp>
      <p:sp>
        <p:nvSpPr>
          <p:cNvPr id="8" name="Shape 8"/>
          <p:cNvSpPr/>
          <p:nvPr/>
        </p:nvSpPr>
        <p:spPr>
          <a:xfrm>
            <a:off x="5760720" y="1261872"/>
            <a:ext cx="5882335" cy="392176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1489202"/>
            <a:ext cx="5882335" cy="444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1489202"/>
            <a:ext cx="82296" cy="4445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3921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FFFFFF"/>
                </a:solidFill>
                <a:latin typeface="Consolas"/>
                <a:ea typeface="Consolas"/>
                <a:cs typeface="Consolas"/>
              </a:rPr>
              <a:t>int count = 10;</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while (count &lt;= 3) {</a:t>
            </a:r>
            <a:endParaRPr lang="en-US" sz="2800" dirty="0"/>
          </a:p>
          <a:p>
            <a:pPr marL="0" indent="0" algn="l">
              <a:lnSpc>
                <a:spcPts val="3500"/>
              </a:lnSpc>
              <a:buNone/>
            </a:pPr>
            <a:r>
              <a:rPr lang="en-US" sz="2800" dirty="0">
                <a:solidFill>
                  <a:srgbClr val="64748B"/>
                </a:solidFill>
                <a:latin typeface="Consolas"/>
                <a:ea typeface="Consolas"/>
                <a:cs typeface="Consolas"/>
              </a:rPr>
              <a:t>    printf("%d\n", count);</a:t>
            </a:r>
            <a:endParaRPr lang="en-US" sz="2800" dirty="0"/>
          </a:p>
          <a:p>
            <a:pPr marL="0" indent="0" algn="l">
              <a:lnSpc>
                <a:spcPts val="3500"/>
              </a:lnSpc>
              <a:buNone/>
            </a:pPr>
            <a:r>
              <a:rPr lang="en-US" sz="2800" dirty="0">
                <a:solidFill>
                  <a:srgbClr val="64748B"/>
                </a:solidFill>
                <a:latin typeface="Consolas"/>
                <a:ea typeface="Consolas"/>
                <a:cs typeface="Consolas"/>
              </a:rPr>
              <a:t>    count++;</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printf("Done\n");</a:t>
            </a: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Change one thing: the answer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42</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15824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count</a:t>
            </a:r>
            <a:r>
              <a:rPr lang="en-US" sz="3200" dirty="0">
                <a:solidFill>
                  <a:srgbClr val="18324A"/>
                </a:solidFill>
              </a:rPr>
              <a:t> starts at </a:t>
            </a:r>
            <a:r>
              <a:rPr lang="en-US" sz="3200" b="1" dirty="0">
                <a:solidFill>
                  <a:srgbClr val="18324A"/>
                </a:solidFill>
              </a:rPr>
              <a:t>10</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is printed?</a:t>
            </a:r>
            <a:endParaRPr lang="en-US" sz="3200" dirty="0"/>
          </a:p>
        </p:txBody>
      </p:sp>
      <p:sp>
        <p:nvSpPr>
          <p:cNvPr id="8" name="Shape 8"/>
          <p:cNvSpPr/>
          <p:nvPr/>
        </p:nvSpPr>
        <p:spPr>
          <a:xfrm>
            <a:off x="5760720" y="1261872"/>
            <a:ext cx="5882335" cy="392176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1489202"/>
            <a:ext cx="5882335" cy="444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1489202"/>
            <a:ext cx="82296" cy="4445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3921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FFFFFF"/>
                </a:solidFill>
                <a:latin typeface="Consolas"/>
                <a:ea typeface="Consolas"/>
                <a:cs typeface="Consolas"/>
              </a:rPr>
              <a:t>int count = 10;</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while (count &lt;= 3) {</a:t>
            </a:r>
            <a:endParaRPr lang="en-US" sz="2800" dirty="0"/>
          </a:p>
          <a:p>
            <a:pPr marL="0" indent="0" algn="l">
              <a:lnSpc>
                <a:spcPts val="3500"/>
              </a:lnSpc>
              <a:buNone/>
            </a:pPr>
            <a:r>
              <a:rPr lang="en-US" sz="2800" dirty="0">
                <a:solidFill>
                  <a:srgbClr val="64748B"/>
                </a:solidFill>
                <a:latin typeface="Consolas"/>
                <a:ea typeface="Consolas"/>
                <a:cs typeface="Consolas"/>
              </a:rPr>
              <a:t>    printf("%d\n", count);</a:t>
            </a:r>
            <a:endParaRPr lang="en-US" sz="2800" dirty="0"/>
          </a:p>
          <a:p>
            <a:pPr marL="0" indent="0" algn="l">
              <a:lnSpc>
                <a:spcPts val="3500"/>
              </a:lnSpc>
              <a:buNone/>
            </a:pPr>
            <a:r>
              <a:rPr lang="en-US" sz="2800" dirty="0">
                <a:solidFill>
                  <a:srgbClr val="64748B"/>
                </a:solidFill>
                <a:latin typeface="Consolas"/>
                <a:ea typeface="Consolas"/>
                <a:cs typeface="Consolas"/>
              </a:rPr>
              <a:t>    count++;</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printf("Done\n");</a:t>
            </a:r>
            <a:endParaRPr lang="en-US" sz="2800" dirty="0"/>
          </a:p>
        </p:txBody>
      </p:sp>
      <p:sp>
        <p:nvSpPr>
          <p:cNvPr id="12" name="Shape 12"/>
          <p:cNvSpPr/>
          <p:nvPr/>
        </p:nvSpPr>
        <p:spPr>
          <a:xfrm>
            <a:off x="548640" y="4251960"/>
            <a:ext cx="4937760" cy="201168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3" name="Shape 13"/>
          <p:cNvSpPr/>
          <p:nvPr/>
        </p:nvSpPr>
        <p:spPr>
          <a:xfrm>
            <a:off x="548640" y="4251960"/>
            <a:ext cx="109728" cy="2011680"/>
          </a:xfrm>
          <a:prstGeom prst="rect">
            <a:avLst/>
          </a:prstGeom>
          <a:solidFill>
            <a:srgbClr val="31C48D"/>
          </a:solidFill>
          <a:ln>
            <a:noFill/>
          </a:ln>
        </p:spPr>
        <p:txBody>
          <a:bodyPr wrap="square" lIns="0" tIns="0" rIns="0" bIns="0" rtlCol="0" anchor="t"/>
          <a:lstStyle/>
          <a:p>
            <a:endParaRPr lang="en-US"/>
          </a:p>
        </p:txBody>
      </p:sp>
      <p:sp>
        <p:nvSpPr>
          <p:cNvPr id="14" name="Callout"/>
          <p:cNvSpPr/>
          <p:nvPr/>
        </p:nvSpPr>
        <p:spPr>
          <a:xfrm>
            <a:off x="658368" y="4251960"/>
            <a:ext cx="4828032" cy="201168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rPr>
              <a:t>Only </a:t>
            </a:r>
            <a:r>
              <a:rPr lang="en-US" sz="2600" dirty="0">
                <a:solidFill>
                  <a:srgbClr val="18324A"/>
                </a:solidFill>
                <a:latin typeface="Consolas"/>
                <a:ea typeface="Consolas"/>
                <a:cs typeface="Consolas"/>
              </a:rPr>
              <a:t>Done</a:t>
            </a:r>
            <a:r>
              <a:rPr lang="en-US" sz="2600" dirty="0">
                <a:solidFill>
                  <a:srgbClr val="18324A"/>
                </a:solidFill>
              </a:rPr>
              <a:t>. Is 10 at most 3? No, at the very first check.</a:t>
            </a:r>
            <a:endParaRPr lang="en-US" sz="2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Zero rounds is normal</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43</a:t>
            </a:r>
            <a:endParaRPr lang="en-US" sz="1400" dirty="0"/>
          </a:p>
        </p:txBody>
      </p:sp>
      <p:sp>
        <p:nvSpPr>
          <p:cNvPr id="6" name="Shape 6"/>
          <p:cNvSpPr/>
          <p:nvPr/>
        </p:nvSpPr>
        <p:spPr>
          <a:xfrm>
            <a:off x="548640" y="1399032"/>
            <a:ext cx="109728" cy="7924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A </a:t>
            </a:r>
            <a:r>
              <a:rPr lang="en-US" sz="4000" b="1" dirty="0">
                <a:solidFill>
                  <a:srgbClr val="2F80ED"/>
                </a:solidFill>
                <a:latin typeface="Consolas"/>
                <a:ea typeface="Consolas"/>
                <a:cs typeface="Consolas"/>
              </a:rPr>
              <a:t>while</a:t>
            </a:r>
            <a:r>
              <a:rPr lang="en-US" sz="4000" b="1" dirty="0">
                <a:solidFill>
                  <a:srgbClr val="18324A"/>
                </a:solidFill>
              </a:rPr>
              <a:t> loop checks before every round.</a:t>
            </a:r>
            <a:endParaRPr lang="en-US" sz="4000" dirty="0"/>
          </a:p>
        </p:txBody>
      </p:sp>
      <p:sp>
        <p:nvSpPr>
          <p:cNvPr id="8" name="Shape 8"/>
          <p:cNvSpPr/>
          <p:nvPr/>
        </p:nvSpPr>
        <p:spPr>
          <a:xfrm>
            <a:off x="914400" y="2602992"/>
            <a:ext cx="10728655" cy="2514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Also before the </a:t>
            </a:r>
            <a:r>
              <a:rPr lang="en-US" sz="3000" b="1" dirty="0">
                <a:solidFill>
                  <a:srgbClr val="18324A"/>
                </a:solidFill>
              </a:rPr>
              <a:t>first</a:t>
            </a:r>
            <a:r>
              <a:rPr lang="en-US" sz="3000" dirty="0">
                <a:solidFill>
                  <a:srgbClr val="18324A"/>
                </a:solidFill>
              </a:rPr>
              <a:t> one.</a:t>
            </a:r>
            <a:endParaRPr lang="en-US" sz="3000" dirty="0"/>
          </a:p>
          <a:p>
            <a:pPr marL="0" indent="0" algn="l">
              <a:spcAft>
                <a:spcPts val="1600"/>
              </a:spcAft>
              <a:buNone/>
            </a:pPr>
            <a:r>
              <a:rPr lang="en-US" sz="3000" dirty="0">
                <a:solidFill>
                  <a:srgbClr val="18324A"/>
                </a:solidFill>
              </a:rPr>
              <a:t>If the check is false at the start, the body runs </a:t>
            </a:r>
            <a:r>
              <a:rPr lang="en-US" sz="3000" b="1" dirty="0">
                <a:solidFill>
                  <a:srgbClr val="18324A"/>
                </a:solidFill>
              </a:rPr>
              <a:t>zero times</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That is not an error. The program just goes on.</a:t>
            </a:r>
            <a:endParaRPr lang="en-US" sz="3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more: counting down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44</a:t>
            </a:r>
            <a:endParaRPr lang="en-US" sz="1400" dirty="0"/>
          </a:p>
        </p:txBody>
      </p:sp>
      <p:sp>
        <p:nvSpPr>
          <p:cNvPr id="6" name="Shape 6"/>
          <p:cNvSpPr/>
          <p:nvPr/>
        </p:nvSpPr>
        <p:spPr>
          <a:xfrm>
            <a:off x="548640" y="1261872"/>
            <a:ext cx="58521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527427"/>
            <a:ext cx="58521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52742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225927"/>
            <a:ext cx="58521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225927"/>
            <a:ext cx="82296" cy="3492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924427"/>
            <a:ext cx="5852160" cy="3492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924427"/>
            <a:ext cx="82296" cy="3492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58521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#include &lt;stdio.h&gt;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FFFFFF"/>
                </a:solidFill>
                <a:latin typeface="Consolas"/>
                <a:ea typeface="Consolas"/>
                <a:cs typeface="Consolas"/>
              </a:rPr>
              <a:t>    int n = 5;</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    while (n &gt; 0) {</a:t>
            </a:r>
            <a:endParaRPr lang="en-US" sz="2200" dirty="0"/>
          </a:p>
          <a:p>
            <a:pPr marL="0" indent="0" algn="l">
              <a:lnSpc>
                <a:spcPts val="2750"/>
              </a:lnSpc>
              <a:buNone/>
            </a:pPr>
            <a:r>
              <a:rPr lang="en-US" sz="2200" dirty="0">
                <a:solidFill>
                  <a:srgbClr val="64748B"/>
                </a:solidFill>
                <a:latin typeface="Consolas"/>
                <a:ea typeface="Consolas"/>
                <a:cs typeface="Consolas"/>
              </a:rPr>
              <a:t>        printf("%d\n", n);</a:t>
            </a:r>
            <a:endParaRPr lang="en-US" sz="2200" dirty="0"/>
          </a:p>
          <a:p>
            <a:pPr marL="0" indent="0" algn="l">
              <a:lnSpc>
                <a:spcPts val="2750"/>
              </a:lnSpc>
              <a:buNone/>
            </a:pPr>
            <a:r>
              <a:rPr lang="en-US" sz="2200" dirty="0">
                <a:solidFill>
                  <a:srgbClr val="FFFFFF"/>
                </a:solidFill>
                <a:latin typeface="Consolas"/>
                <a:ea typeface="Consolas"/>
                <a:cs typeface="Consolas"/>
              </a:rPr>
              <a:t>        n--;</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printf("Liftoff!\n");</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4" name="Shape 14"/>
          <p:cNvSpPr/>
          <p:nvPr/>
        </p:nvSpPr>
        <p:spPr>
          <a:xfrm>
            <a:off x="6675120" y="1261872"/>
            <a:ext cx="49679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6675120" y="1645920"/>
            <a:ext cx="4967935" cy="2651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6675120" y="1645920"/>
            <a:ext cx="4967935" cy="2651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5</a:t>
            </a:r>
            <a:endParaRPr lang="en-US" sz="2400" dirty="0"/>
          </a:p>
          <a:p>
            <a:pPr marL="0" indent="0" algn="l">
              <a:lnSpc>
                <a:spcPts val="3000"/>
              </a:lnSpc>
              <a:buNone/>
            </a:pPr>
            <a:r>
              <a:rPr lang="en-US" sz="2400" dirty="0">
                <a:solidFill>
                  <a:srgbClr val="D1FAE5"/>
                </a:solidFill>
                <a:latin typeface="Consolas"/>
                <a:ea typeface="Consolas"/>
                <a:cs typeface="Consolas"/>
              </a:rPr>
              <a:t>4</a:t>
            </a:r>
            <a:endParaRPr lang="en-US" sz="2400" dirty="0"/>
          </a:p>
          <a:p>
            <a:pPr marL="0" indent="0" algn="l">
              <a:lnSpc>
                <a:spcPts val="3000"/>
              </a:lnSpc>
              <a:buNone/>
            </a:pPr>
            <a:r>
              <a:rPr lang="en-US" sz="2400" dirty="0">
                <a:solidFill>
                  <a:srgbClr val="D1FAE5"/>
                </a:solidFill>
                <a:latin typeface="Consolas"/>
                <a:ea typeface="Consolas"/>
                <a:cs typeface="Consolas"/>
              </a:rPr>
              <a:t>3</a:t>
            </a:r>
            <a:endParaRPr lang="en-US" sz="2400" dirty="0"/>
          </a:p>
          <a:p>
            <a:pPr marL="0" indent="0" algn="l">
              <a:lnSpc>
                <a:spcPts val="3000"/>
              </a:lnSpc>
              <a:buNone/>
            </a:pPr>
            <a:r>
              <a:rPr lang="en-US" sz="2400" dirty="0">
                <a:solidFill>
                  <a:srgbClr val="D1FAE5"/>
                </a:solidFill>
                <a:latin typeface="Consolas"/>
                <a:ea typeface="Consolas"/>
                <a:cs typeface="Consolas"/>
              </a:rPr>
              <a:t>2</a:t>
            </a:r>
            <a:endParaRPr lang="en-US" sz="2400" dirty="0"/>
          </a:p>
          <a:p>
            <a:pPr marL="0" indent="0" algn="l">
              <a:lnSpc>
                <a:spcPts val="3000"/>
              </a:lnSpc>
              <a:buNone/>
            </a:pPr>
            <a:r>
              <a:rPr lang="en-US" sz="2400" dirty="0">
                <a:solidFill>
                  <a:srgbClr val="D1FAE5"/>
                </a:solidFill>
                <a:latin typeface="Consolas"/>
                <a:ea typeface="Consolas"/>
                <a:cs typeface="Consolas"/>
              </a:rPr>
              <a:t>1</a:t>
            </a:r>
            <a:endParaRPr lang="en-US" sz="2400" dirty="0"/>
          </a:p>
          <a:p>
            <a:pPr marL="0" indent="0" algn="l">
              <a:lnSpc>
                <a:spcPts val="3000"/>
              </a:lnSpc>
              <a:buNone/>
            </a:pPr>
            <a:r>
              <a:rPr lang="en-US" sz="2400" dirty="0">
                <a:solidFill>
                  <a:srgbClr val="D1FAE5"/>
                </a:solidFill>
                <a:latin typeface="Consolas"/>
                <a:ea typeface="Consolas"/>
                <a:cs typeface="Consolas"/>
              </a:rPr>
              <a:t>Liftoff!</a:t>
            </a:r>
            <a:endParaRPr lang="en-US" sz="2400" dirty="0"/>
          </a:p>
        </p:txBody>
      </p:sp>
      <p:sp>
        <p:nvSpPr>
          <p:cNvPr id="17" name="Shape 17"/>
          <p:cNvSpPr/>
          <p:nvPr/>
        </p:nvSpPr>
        <p:spPr>
          <a:xfrm>
            <a:off x="6675120" y="4572000"/>
            <a:ext cx="496793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8" name="Shape 18"/>
          <p:cNvSpPr/>
          <p:nvPr/>
        </p:nvSpPr>
        <p:spPr>
          <a:xfrm>
            <a:off x="6675120" y="4572000"/>
            <a:ext cx="109728" cy="685800"/>
          </a:xfrm>
          <a:prstGeom prst="rect">
            <a:avLst/>
          </a:prstGeom>
          <a:solidFill>
            <a:srgbClr val="F59E0B"/>
          </a:solidFill>
          <a:ln>
            <a:noFill/>
          </a:ln>
        </p:spPr>
        <p:txBody>
          <a:bodyPr wrap="square" lIns="0" tIns="0" rIns="0" bIns="0" rtlCol="0" anchor="t"/>
          <a:lstStyle/>
          <a:p>
            <a:endParaRPr lang="en-US"/>
          </a:p>
        </p:txBody>
      </p:sp>
      <p:sp>
        <p:nvSpPr>
          <p:cNvPr id="19" name="Callout"/>
          <p:cNvSpPr/>
          <p:nvPr/>
        </p:nvSpPr>
        <p:spPr>
          <a:xfrm>
            <a:off x="6784848" y="4572000"/>
            <a:ext cx="48582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n--</a:t>
            </a:r>
            <a:r>
              <a:rPr lang="en-US" sz="2400" dirty="0">
                <a:solidFill>
                  <a:srgbClr val="18324A"/>
                </a:solidFill>
              </a:rPr>
              <a:t> takes 1 away from </a:t>
            </a:r>
            <a:r>
              <a:rPr lang="en-US" sz="2400" dirty="0">
                <a:solidFill>
                  <a:srgbClr val="18324A"/>
                </a:solidFill>
                <a:latin typeface="Consolas"/>
                <a:ea typeface="Consolas"/>
                <a:cs typeface="Consolas"/>
              </a:rPr>
              <a:t>n</a:t>
            </a:r>
            <a:r>
              <a:rPr lang="en-US" sz="2400" dirty="0">
                <a:solidFill>
                  <a:srgbClr val="18324A"/>
                </a:solidFill>
              </a:rPr>
              <a:t>.</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8B5CF6"/>
          </a:solidFill>
          <a:ln>
            <a:noFill/>
          </a:ln>
        </p:spPr>
        <p:txBody>
          <a:bodyPr wrap="square" lIns="0" tIns="0" rIns="0" bIns="0" rtlCol="0" anchor="ctr"/>
          <a:lstStyle/>
          <a:p>
            <a:pPr marL="0" indent="0" algn="ctr">
              <a:buNone/>
            </a:pPr>
            <a:r>
              <a:rPr lang="en-US" sz="5400" b="1" dirty="0">
                <a:solidFill>
                  <a:srgbClr val="FFFFFF"/>
                </a:solidFill>
              </a:rPr>
              <a:t>4</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Tracing a loop with a pen</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Do not guess the output. Track the values.</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Why trace?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46</a:t>
            </a:r>
            <a:endParaRPr lang="en-US" sz="1400" dirty="0"/>
          </a:p>
        </p:txBody>
      </p:sp>
      <p:sp>
        <p:nvSpPr>
          <p:cNvPr id="6" name="Shape 6"/>
          <p:cNvSpPr/>
          <p:nvPr/>
        </p:nvSpPr>
        <p:spPr>
          <a:xfrm>
            <a:off x="548640" y="1399032"/>
            <a:ext cx="109728" cy="14020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On a quiz you have no compiler. You have a pen.</a:t>
            </a:r>
            <a:endParaRPr lang="en-US" sz="4000" dirty="0"/>
          </a:p>
        </p:txBody>
      </p:sp>
      <p:sp>
        <p:nvSpPr>
          <p:cNvPr id="8" name="Shape 8"/>
          <p:cNvSpPr/>
          <p:nvPr/>
        </p:nvSpPr>
        <p:spPr>
          <a:xfrm>
            <a:off x="914400" y="32125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Draw a table.</a:t>
            </a:r>
            <a:endParaRPr lang="en-US" sz="3000" dirty="0"/>
          </a:p>
          <a:p>
            <a:pPr marL="0" indent="0" algn="l">
              <a:spcAft>
                <a:spcPts val="1600"/>
              </a:spcAft>
              <a:buNone/>
            </a:pPr>
            <a:r>
              <a:rPr lang="en-US" sz="3000" b="1" dirty="0">
                <a:solidFill>
                  <a:srgbClr val="18324A"/>
                </a:solidFill>
              </a:rPr>
              <a:t>One row per round.</a:t>
            </a:r>
            <a:endParaRPr lang="en-US" sz="3000" dirty="0"/>
          </a:p>
          <a:p>
            <a:pPr marL="0" indent="0" algn="l">
              <a:spcAft>
                <a:spcPts val="1600"/>
              </a:spcAft>
              <a:buNone/>
            </a:pPr>
            <a:r>
              <a:rPr lang="en-US" sz="3000" dirty="0">
                <a:solidFill>
                  <a:srgbClr val="18324A"/>
                </a:solidFill>
              </a:rPr>
              <a:t>Write down the variable, the check, and what is printed.</a:t>
            </a:r>
            <a:endParaRPr lang="en-US" sz="3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Trace it on paper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47</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4937760" cy="262128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What does it print?</a:t>
            </a:r>
            <a:endParaRPr lang="en-US" sz="3200" dirty="0"/>
          </a:p>
          <a:p>
            <a:pPr marL="0" indent="0" algn="l">
              <a:spcAft>
                <a:spcPts val="600"/>
              </a:spcAft>
              <a:buNone/>
            </a:pPr>
            <a:r>
              <a:rPr lang="en-US" sz="3200" dirty="0">
                <a:solidFill>
                  <a:srgbClr val="18324A"/>
                </a:solidFill>
              </a:rPr>
              <a:t>What is </a:t>
            </a:r>
            <a:r>
              <a:rPr lang="en-US" sz="3200" dirty="0">
                <a:solidFill>
                  <a:srgbClr val="2F80ED"/>
                </a:solidFill>
                <a:latin typeface="Consolas"/>
                <a:ea typeface="Consolas"/>
                <a:cs typeface="Consolas"/>
              </a:rPr>
              <a:t>x</a:t>
            </a:r>
            <a:r>
              <a:rPr lang="en-US" sz="3200" dirty="0">
                <a:solidFill>
                  <a:srgbClr val="18324A"/>
                </a:solidFill>
              </a:rPr>
              <a:t> </a:t>
            </a:r>
            <a:r>
              <a:rPr lang="en-US" sz="3200" b="1" dirty="0">
                <a:solidFill>
                  <a:srgbClr val="18324A"/>
                </a:solidFill>
              </a:rPr>
              <a:t>after</a:t>
            </a:r>
            <a:r>
              <a:rPr lang="en-US" sz="3200" dirty="0">
                <a:solidFill>
                  <a:srgbClr val="18324A"/>
                </a:solidFill>
              </a:rPr>
              <a:t> the loop?</a:t>
            </a:r>
            <a:endParaRPr lang="en-US" sz="3200" dirty="0"/>
          </a:p>
          <a:p>
            <a:pPr marL="0" indent="0" algn="l">
              <a:spcAft>
                <a:spcPts val="600"/>
              </a:spcAft>
              <a:buNone/>
            </a:pPr>
            <a:r>
              <a:rPr lang="en-US" sz="3200" dirty="0">
                <a:solidFill>
                  <a:srgbClr val="18324A"/>
                </a:solidFill>
              </a:rPr>
              <a:t>2 minutes. Pen and paper.</a:t>
            </a:r>
            <a:endParaRPr lang="en-US" sz="3200" dirty="0"/>
          </a:p>
        </p:txBody>
      </p:sp>
      <p:sp>
        <p:nvSpPr>
          <p:cNvPr id="8" name="Shape 8"/>
          <p:cNvSpPr/>
          <p:nvPr/>
        </p:nvSpPr>
        <p:spPr>
          <a:xfrm>
            <a:off x="5760720" y="1261872"/>
            <a:ext cx="5882335" cy="3413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3413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int x = 1;</a:t>
            </a:r>
            <a:endParaRPr lang="en-US" sz="3200" dirty="0"/>
          </a:p>
          <a:p>
            <a:pPr marL="0" indent="0" algn="l">
              <a:lnSpc>
                <a:spcPts val="4000"/>
              </a:lnSpc>
              <a:buNone/>
            </a:pPr>
            <a:r>
              <a:rPr lang="en-US" sz="3200" dirty="0">
                <a:solidFill>
                  <a:srgbClr val="E5E7EB"/>
                </a:solidFill>
                <a:latin typeface="Consolas"/>
                <a:ea typeface="Consolas"/>
                <a:cs typeface="Consolas"/>
              </a:rPr>
              <a:t> </a:t>
            </a:r>
            <a:endParaRPr lang="en-US" sz="3200" dirty="0"/>
          </a:p>
          <a:p>
            <a:pPr marL="0" indent="0" algn="l">
              <a:lnSpc>
                <a:spcPts val="4000"/>
              </a:lnSpc>
              <a:buNone/>
            </a:pPr>
            <a:r>
              <a:rPr lang="en-US" sz="3200" dirty="0">
                <a:solidFill>
                  <a:srgbClr val="E5E7EB"/>
                </a:solidFill>
                <a:latin typeface="Consolas"/>
                <a:ea typeface="Consolas"/>
                <a:cs typeface="Consolas"/>
              </a:rPr>
              <a:t>while (x &lt;= 4) {</a:t>
            </a:r>
            <a:endParaRPr lang="en-US" sz="3200" dirty="0"/>
          </a:p>
          <a:p>
            <a:pPr marL="0" indent="0" algn="l">
              <a:lnSpc>
                <a:spcPts val="4000"/>
              </a:lnSpc>
              <a:buNone/>
            </a:pPr>
            <a:r>
              <a:rPr lang="en-US" sz="3200" dirty="0">
                <a:solidFill>
                  <a:srgbClr val="E5E7EB"/>
                </a:solidFill>
                <a:latin typeface="Consolas"/>
                <a:ea typeface="Consolas"/>
                <a:cs typeface="Consolas"/>
              </a:rPr>
              <a:t>    printf("%d ", x);</a:t>
            </a:r>
            <a:endParaRPr lang="en-US" sz="3200" dirty="0"/>
          </a:p>
          <a:p>
            <a:pPr marL="0" indent="0" algn="l">
              <a:lnSpc>
                <a:spcPts val="4000"/>
              </a:lnSpc>
              <a:buNone/>
            </a:pPr>
            <a:r>
              <a:rPr lang="en-US" sz="3200" dirty="0">
                <a:solidFill>
                  <a:srgbClr val="E5E7EB"/>
                </a:solidFill>
                <a:latin typeface="Consolas"/>
                <a:ea typeface="Consolas"/>
                <a:cs typeface="Consolas"/>
              </a:rPr>
              <a:t>    x = x + 1;</a:t>
            </a:r>
            <a:endParaRPr lang="en-US" sz="3200" dirty="0"/>
          </a:p>
          <a:p>
            <a:pPr marL="0" indent="0" algn="l">
              <a:lnSpc>
                <a:spcPts val="4000"/>
              </a:lnSpc>
              <a:buNone/>
            </a:pPr>
            <a:r>
              <a:rPr lang="en-US" sz="3200" dirty="0">
                <a:solidFill>
                  <a:srgbClr val="E5E7EB"/>
                </a:solidFill>
                <a:latin typeface="Consolas"/>
                <a:ea typeface="Consolas"/>
                <a:cs typeface="Consolas"/>
              </a:rPr>
              <a:t>}</a:t>
            </a:r>
            <a:endParaRPr lang="en-US" sz="3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trace table: row 1</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48</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Round 1: </a:t>
            </a:r>
            <a:r>
              <a:rPr lang="en-US" sz="2400" dirty="0">
                <a:solidFill>
                  <a:srgbClr val="18324A"/>
                </a:solidFill>
                <a:latin typeface="Consolas"/>
                <a:ea typeface="Consolas"/>
                <a:cs typeface="Consolas"/>
              </a:rPr>
              <a:t>x</a:t>
            </a:r>
            <a:r>
              <a:rPr lang="en-US" sz="2400" dirty="0">
                <a:solidFill>
                  <a:srgbClr val="18324A"/>
                </a:solidFill>
              </a:rPr>
              <a:t> is 1. </a:t>
            </a:r>
            <a:r>
              <a:rPr lang="en-US" sz="2400" dirty="0">
                <a:solidFill>
                  <a:srgbClr val="18324A"/>
                </a:solidFill>
                <a:latin typeface="Consolas"/>
                <a:ea typeface="Consolas"/>
                <a:cs typeface="Consolas"/>
              </a:rPr>
              <a:t>1 &lt;= 4</a:t>
            </a:r>
            <a:r>
              <a:rPr lang="en-US" sz="2400" dirty="0">
                <a:solidFill>
                  <a:srgbClr val="18324A"/>
                </a:solidFill>
              </a:rPr>
              <a:t> is true. Print 1. </a:t>
            </a:r>
            <a:r>
              <a:rPr lang="en-US" sz="2400" dirty="0">
                <a:solidFill>
                  <a:srgbClr val="18324A"/>
                </a:solidFill>
                <a:latin typeface="Consolas"/>
                <a:ea typeface="Consolas"/>
                <a:cs typeface="Consolas"/>
              </a:rPr>
              <a:t>x</a:t>
            </a:r>
            <a:r>
              <a:rPr lang="en-US" sz="2400" dirty="0">
                <a:solidFill>
                  <a:srgbClr val="18324A"/>
                </a:solidFill>
              </a:rPr>
              <a:t> becomes 2.</a:t>
            </a:r>
            <a:endParaRPr lang="en-US" sz="2400" dirty="0"/>
          </a:p>
        </p:txBody>
      </p:sp>
      <p:sp>
        <p:nvSpPr>
          <p:cNvPr id="9" name="Shape 9"/>
          <p:cNvSpPr/>
          <p:nvPr/>
        </p:nvSpPr>
        <p:spPr>
          <a:xfrm>
            <a:off x="548640" y="1261872"/>
            <a:ext cx="4754880" cy="303276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4754880" cy="3032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int x = 1;</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while (x &lt;= 4) {</a:t>
            </a:r>
            <a:endParaRPr lang="en-US" sz="2800" dirty="0"/>
          </a:p>
          <a:p>
            <a:pPr marL="0" indent="0" algn="l">
              <a:lnSpc>
                <a:spcPts val="3500"/>
              </a:lnSpc>
              <a:buNone/>
            </a:pPr>
            <a:r>
              <a:rPr lang="en-US" sz="2800" dirty="0">
                <a:solidFill>
                  <a:srgbClr val="E5E7EB"/>
                </a:solidFill>
                <a:latin typeface="Consolas"/>
                <a:ea typeface="Consolas"/>
                <a:cs typeface="Consolas"/>
              </a:rPr>
              <a:t>    printf("%d ", x);</a:t>
            </a:r>
            <a:endParaRPr lang="en-US" sz="2800" dirty="0"/>
          </a:p>
          <a:p>
            <a:pPr marL="0" indent="0" algn="l">
              <a:lnSpc>
                <a:spcPts val="3500"/>
              </a:lnSpc>
              <a:buNone/>
            </a:pPr>
            <a:r>
              <a:rPr lang="en-US" sz="2800" dirty="0">
                <a:solidFill>
                  <a:srgbClr val="E5E7EB"/>
                </a:solidFill>
                <a:latin typeface="Consolas"/>
                <a:ea typeface="Consolas"/>
                <a:cs typeface="Consolas"/>
              </a:rPr>
              <a:t>    x = x + 1;</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p:txBody>
      </p:sp>
      <p:sp>
        <p:nvSpPr>
          <p:cNvPr id="11" name="Shape 11"/>
          <p:cNvSpPr/>
          <p:nvPr/>
        </p:nvSpPr>
        <p:spPr>
          <a:xfrm>
            <a:off x="5577840"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2" name="Shape 12"/>
          <p:cNvSpPr/>
          <p:nvPr/>
        </p:nvSpPr>
        <p:spPr>
          <a:xfrm>
            <a:off x="6790883"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3" name="Shape 13"/>
          <p:cNvSpPr/>
          <p:nvPr/>
        </p:nvSpPr>
        <p:spPr>
          <a:xfrm>
            <a:off x="8003926"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4</a:t>
            </a:r>
            <a:endParaRPr lang="en-US" sz="1800" dirty="0"/>
          </a:p>
        </p:txBody>
      </p:sp>
      <p:sp>
        <p:nvSpPr>
          <p:cNvPr id="14" name="Shape 14"/>
          <p:cNvSpPr/>
          <p:nvPr/>
        </p:nvSpPr>
        <p:spPr>
          <a:xfrm>
            <a:off x="9216969"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5" name="Shape 15"/>
          <p:cNvSpPr/>
          <p:nvPr/>
        </p:nvSpPr>
        <p:spPr>
          <a:xfrm>
            <a:off x="10430012"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x</a:t>
            </a:r>
            <a:endParaRPr lang="en-US" sz="1800" dirty="0"/>
          </a:p>
        </p:txBody>
      </p:sp>
      <p:sp>
        <p:nvSpPr>
          <p:cNvPr id="16" name="Shape 16"/>
          <p:cNvSpPr/>
          <p:nvPr/>
        </p:nvSpPr>
        <p:spPr>
          <a:xfrm>
            <a:off x="5577840" y="1920240"/>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17" name="Shape 17"/>
          <p:cNvSpPr/>
          <p:nvPr/>
        </p:nvSpPr>
        <p:spPr>
          <a:xfrm>
            <a:off x="6790883" y="1920240"/>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18" name="Shape 18"/>
          <p:cNvSpPr/>
          <p:nvPr/>
        </p:nvSpPr>
        <p:spPr>
          <a:xfrm>
            <a:off x="8003926" y="1920240"/>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19" name="Shape 19"/>
          <p:cNvSpPr/>
          <p:nvPr/>
        </p:nvSpPr>
        <p:spPr>
          <a:xfrm>
            <a:off x="9216969" y="1920240"/>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20" name="Shape 20"/>
          <p:cNvSpPr/>
          <p:nvPr/>
        </p:nvSpPr>
        <p:spPr>
          <a:xfrm>
            <a:off x="10430012" y="1920240"/>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1" name="Shape 21"/>
          <p:cNvSpPr/>
          <p:nvPr/>
        </p:nvSpPr>
        <p:spPr>
          <a:xfrm>
            <a:off x="5577840" y="2578608"/>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6790883" y="2578608"/>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8003926" y="2578608"/>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9216969" y="2578608"/>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10430012" y="2578608"/>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5577840" y="3236976"/>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6790883" y="3236976"/>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8003926" y="3236976"/>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9216969" y="3236976"/>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10430012" y="3236976"/>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5577840"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6790883"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8003926"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9216969"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10430012"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5577840"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7" name="Shape 37"/>
          <p:cNvSpPr/>
          <p:nvPr/>
        </p:nvSpPr>
        <p:spPr>
          <a:xfrm>
            <a:off x="6790883"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8" name="Shape 38"/>
          <p:cNvSpPr/>
          <p:nvPr/>
        </p:nvSpPr>
        <p:spPr>
          <a:xfrm>
            <a:off x="8003926"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9" name="Shape 39"/>
          <p:cNvSpPr/>
          <p:nvPr/>
        </p:nvSpPr>
        <p:spPr>
          <a:xfrm>
            <a:off x="9216969"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40" name="Shape 40"/>
          <p:cNvSpPr/>
          <p:nvPr/>
        </p:nvSpPr>
        <p:spPr>
          <a:xfrm>
            <a:off x="10430012"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trace table: row 2</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49</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Round 2: </a:t>
            </a:r>
            <a:r>
              <a:rPr lang="en-US" sz="2400" dirty="0">
                <a:solidFill>
                  <a:srgbClr val="18324A"/>
                </a:solidFill>
                <a:latin typeface="Consolas"/>
                <a:ea typeface="Consolas"/>
                <a:cs typeface="Consolas"/>
              </a:rPr>
              <a:t>x</a:t>
            </a:r>
            <a:r>
              <a:rPr lang="en-US" sz="2400" dirty="0">
                <a:solidFill>
                  <a:srgbClr val="18324A"/>
                </a:solidFill>
              </a:rPr>
              <a:t> is 2. True. Print 2. </a:t>
            </a:r>
            <a:r>
              <a:rPr lang="en-US" sz="2400" dirty="0">
                <a:solidFill>
                  <a:srgbClr val="18324A"/>
                </a:solidFill>
                <a:latin typeface="Consolas"/>
                <a:ea typeface="Consolas"/>
                <a:cs typeface="Consolas"/>
              </a:rPr>
              <a:t>x</a:t>
            </a:r>
            <a:r>
              <a:rPr lang="en-US" sz="2400" dirty="0">
                <a:solidFill>
                  <a:srgbClr val="18324A"/>
                </a:solidFill>
              </a:rPr>
              <a:t> becomes 3.</a:t>
            </a:r>
            <a:endParaRPr lang="en-US" sz="2400" dirty="0"/>
          </a:p>
        </p:txBody>
      </p:sp>
      <p:sp>
        <p:nvSpPr>
          <p:cNvPr id="9" name="Shape 9"/>
          <p:cNvSpPr/>
          <p:nvPr/>
        </p:nvSpPr>
        <p:spPr>
          <a:xfrm>
            <a:off x="548640" y="1261872"/>
            <a:ext cx="4754880" cy="303276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4754880" cy="3032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int x = 1;</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while (x &lt;= 4) {</a:t>
            </a:r>
            <a:endParaRPr lang="en-US" sz="2800" dirty="0"/>
          </a:p>
          <a:p>
            <a:pPr marL="0" indent="0" algn="l">
              <a:lnSpc>
                <a:spcPts val="3500"/>
              </a:lnSpc>
              <a:buNone/>
            </a:pPr>
            <a:r>
              <a:rPr lang="en-US" sz="2800" dirty="0">
                <a:solidFill>
                  <a:srgbClr val="E5E7EB"/>
                </a:solidFill>
                <a:latin typeface="Consolas"/>
                <a:ea typeface="Consolas"/>
                <a:cs typeface="Consolas"/>
              </a:rPr>
              <a:t>    printf("%d ", x);</a:t>
            </a:r>
            <a:endParaRPr lang="en-US" sz="2800" dirty="0"/>
          </a:p>
          <a:p>
            <a:pPr marL="0" indent="0" algn="l">
              <a:lnSpc>
                <a:spcPts val="3500"/>
              </a:lnSpc>
              <a:buNone/>
            </a:pPr>
            <a:r>
              <a:rPr lang="en-US" sz="2800" dirty="0">
                <a:solidFill>
                  <a:srgbClr val="E5E7EB"/>
                </a:solidFill>
                <a:latin typeface="Consolas"/>
                <a:ea typeface="Consolas"/>
                <a:cs typeface="Consolas"/>
              </a:rPr>
              <a:t>    x = x + 1;</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p:txBody>
      </p:sp>
      <p:sp>
        <p:nvSpPr>
          <p:cNvPr id="11" name="Shape 11"/>
          <p:cNvSpPr/>
          <p:nvPr/>
        </p:nvSpPr>
        <p:spPr>
          <a:xfrm>
            <a:off x="5577840"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2" name="Shape 12"/>
          <p:cNvSpPr/>
          <p:nvPr/>
        </p:nvSpPr>
        <p:spPr>
          <a:xfrm>
            <a:off x="6790883"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3" name="Shape 13"/>
          <p:cNvSpPr/>
          <p:nvPr/>
        </p:nvSpPr>
        <p:spPr>
          <a:xfrm>
            <a:off x="8003926"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4</a:t>
            </a:r>
            <a:endParaRPr lang="en-US" sz="1800" dirty="0"/>
          </a:p>
        </p:txBody>
      </p:sp>
      <p:sp>
        <p:nvSpPr>
          <p:cNvPr id="14" name="Shape 14"/>
          <p:cNvSpPr/>
          <p:nvPr/>
        </p:nvSpPr>
        <p:spPr>
          <a:xfrm>
            <a:off x="9216969"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5" name="Shape 15"/>
          <p:cNvSpPr/>
          <p:nvPr/>
        </p:nvSpPr>
        <p:spPr>
          <a:xfrm>
            <a:off x="10430012"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x</a:t>
            </a:r>
            <a:endParaRPr lang="en-US" sz="1800" dirty="0"/>
          </a:p>
        </p:txBody>
      </p:sp>
      <p:sp>
        <p:nvSpPr>
          <p:cNvPr id="16" name="Shape 16"/>
          <p:cNvSpPr/>
          <p:nvPr/>
        </p:nvSpPr>
        <p:spPr>
          <a:xfrm>
            <a:off x="5577840"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7" name="Shape 17"/>
          <p:cNvSpPr/>
          <p:nvPr/>
        </p:nvSpPr>
        <p:spPr>
          <a:xfrm>
            <a:off x="6790883"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8003926"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19" name="Shape 19"/>
          <p:cNvSpPr/>
          <p:nvPr/>
        </p:nvSpPr>
        <p:spPr>
          <a:xfrm>
            <a:off x="9216969"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0" name="Shape 20"/>
          <p:cNvSpPr/>
          <p:nvPr/>
        </p:nvSpPr>
        <p:spPr>
          <a:xfrm>
            <a:off x="10430012"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1" name="Shape 21"/>
          <p:cNvSpPr/>
          <p:nvPr/>
        </p:nvSpPr>
        <p:spPr>
          <a:xfrm>
            <a:off x="5577840" y="2578608"/>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2" name="Shape 22"/>
          <p:cNvSpPr/>
          <p:nvPr/>
        </p:nvSpPr>
        <p:spPr>
          <a:xfrm>
            <a:off x="6790883" y="2578608"/>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3" name="Shape 23"/>
          <p:cNvSpPr/>
          <p:nvPr/>
        </p:nvSpPr>
        <p:spPr>
          <a:xfrm>
            <a:off x="8003926" y="2578608"/>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24" name="Shape 24"/>
          <p:cNvSpPr/>
          <p:nvPr/>
        </p:nvSpPr>
        <p:spPr>
          <a:xfrm>
            <a:off x="9216969" y="2578608"/>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5" name="Shape 25"/>
          <p:cNvSpPr/>
          <p:nvPr/>
        </p:nvSpPr>
        <p:spPr>
          <a:xfrm>
            <a:off x="10430012" y="2578608"/>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26" name="Shape 26"/>
          <p:cNvSpPr/>
          <p:nvPr/>
        </p:nvSpPr>
        <p:spPr>
          <a:xfrm>
            <a:off x="5577840" y="3236976"/>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6790883" y="3236976"/>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8003926" y="3236976"/>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9216969" y="3236976"/>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10430012" y="3236976"/>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5577840"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6790883"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8003926"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9216969"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10430012"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5577840"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7" name="Shape 37"/>
          <p:cNvSpPr/>
          <p:nvPr/>
        </p:nvSpPr>
        <p:spPr>
          <a:xfrm>
            <a:off x="6790883"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8" name="Shape 38"/>
          <p:cNvSpPr/>
          <p:nvPr/>
        </p:nvSpPr>
        <p:spPr>
          <a:xfrm>
            <a:off x="8003926"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9" name="Shape 39"/>
          <p:cNvSpPr/>
          <p:nvPr/>
        </p:nvSpPr>
        <p:spPr>
          <a:xfrm>
            <a:off x="9216969"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40" name="Shape 40"/>
          <p:cNvSpPr/>
          <p:nvPr/>
        </p:nvSpPr>
        <p:spPr>
          <a:xfrm>
            <a:off x="10430012"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trace table: row 3</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50</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Round 3: </a:t>
            </a:r>
            <a:r>
              <a:rPr lang="en-US" sz="2400" dirty="0">
                <a:solidFill>
                  <a:srgbClr val="18324A"/>
                </a:solidFill>
                <a:latin typeface="Consolas"/>
                <a:ea typeface="Consolas"/>
                <a:cs typeface="Consolas"/>
              </a:rPr>
              <a:t>x</a:t>
            </a:r>
            <a:r>
              <a:rPr lang="en-US" sz="2400" dirty="0">
                <a:solidFill>
                  <a:srgbClr val="18324A"/>
                </a:solidFill>
              </a:rPr>
              <a:t> is 3. True. Print 3. </a:t>
            </a:r>
            <a:r>
              <a:rPr lang="en-US" sz="2400" dirty="0">
                <a:solidFill>
                  <a:srgbClr val="18324A"/>
                </a:solidFill>
                <a:latin typeface="Consolas"/>
                <a:ea typeface="Consolas"/>
                <a:cs typeface="Consolas"/>
              </a:rPr>
              <a:t>x</a:t>
            </a:r>
            <a:r>
              <a:rPr lang="en-US" sz="2400" dirty="0">
                <a:solidFill>
                  <a:srgbClr val="18324A"/>
                </a:solidFill>
              </a:rPr>
              <a:t> becomes 4.</a:t>
            </a:r>
            <a:endParaRPr lang="en-US" sz="2400" dirty="0"/>
          </a:p>
        </p:txBody>
      </p:sp>
      <p:sp>
        <p:nvSpPr>
          <p:cNvPr id="9" name="Shape 9"/>
          <p:cNvSpPr/>
          <p:nvPr/>
        </p:nvSpPr>
        <p:spPr>
          <a:xfrm>
            <a:off x="548640" y="1261872"/>
            <a:ext cx="4754880" cy="303276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4754880" cy="3032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int x = 1;</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while (x &lt;= 4) {</a:t>
            </a:r>
            <a:endParaRPr lang="en-US" sz="2800" dirty="0"/>
          </a:p>
          <a:p>
            <a:pPr marL="0" indent="0" algn="l">
              <a:lnSpc>
                <a:spcPts val="3500"/>
              </a:lnSpc>
              <a:buNone/>
            </a:pPr>
            <a:r>
              <a:rPr lang="en-US" sz="2800" dirty="0">
                <a:solidFill>
                  <a:srgbClr val="E5E7EB"/>
                </a:solidFill>
                <a:latin typeface="Consolas"/>
                <a:ea typeface="Consolas"/>
                <a:cs typeface="Consolas"/>
              </a:rPr>
              <a:t>    printf("%d ", x);</a:t>
            </a:r>
            <a:endParaRPr lang="en-US" sz="2800" dirty="0"/>
          </a:p>
          <a:p>
            <a:pPr marL="0" indent="0" algn="l">
              <a:lnSpc>
                <a:spcPts val="3500"/>
              </a:lnSpc>
              <a:buNone/>
            </a:pPr>
            <a:r>
              <a:rPr lang="en-US" sz="2800" dirty="0">
                <a:solidFill>
                  <a:srgbClr val="E5E7EB"/>
                </a:solidFill>
                <a:latin typeface="Consolas"/>
                <a:ea typeface="Consolas"/>
                <a:cs typeface="Consolas"/>
              </a:rPr>
              <a:t>    x = x + 1;</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p:txBody>
      </p:sp>
      <p:sp>
        <p:nvSpPr>
          <p:cNvPr id="11" name="Shape 11"/>
          <p:cNvSpPr/>
          <p:nvPr/>
        </p:nvSpPr>
        <p:spPr>
          <a:xfrm>
            <a:off x="5577840"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2" name="Shape 12"/>
          <p:cNvSpPr/>
          <p:nvPr/>
        </p:nvSpPr>
        <p:spPr>
          <a:xfrm>
            <a:off x="6790883"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3" name="Shape 13"/>
          <p:cNvSpPr/>
          <p:nvPr/>
        </p:nvSpPr>
        <p:spPr>
          <a:xfrm>
            <a:off x="8003926"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4</a:t>
            </a:r>
            <a:endParaRPr lang="en-US" sz="1800" dirty="0"/>
          </a:p>
        </p:txBody>
      </p:sp>
      <p:sp>
        <p:nvSpPr>
          <p:cNvPr id="14" name="Shape 14"/>
          <p:cNvSpPr/>
          <p:nvPr/>
        </p:nvSpPr>
        <p:spPr>
          <a:xfrm>
            <a:off x="9216969"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5" name="Shape 15"/>
          <p:cNvSpPr/>
          <p:nvPr/>
        </p:nvSpPr>
        <p:spPr>
          <a:xfrm>
            <a:off x="10430012"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x</a:t>
            </a:r>
            <a:endParaRPr lang="en-US" sz="1800" dirty="0"/>
          </a:p>
        </p:txBody>
      </p:sp>
      <p:sp>
        <p:nvSpPr>
          <p:cNvPr id="16" name="Shape 16"/>
          <p:cNvSpPr/>
          <p:nvPr/>
        </p:nvSpPr>
        <p:spPr>
          <a:xfrm>
            <a:off x="5577840"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7" name="Shape 17"/>
          <p:cNvSpPr/>
          <p:nvPr/>
        </p:nvSpPr>
        <p:spPr>
          <a:xfrm>
            <a:off x="6790883"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8003926"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19" name="Shape 19"/>
          <p:cNvSpPr/>
          <p:nvPr/>
        </p:nvSpPr>
        <p:spPr>
          <a:xfrm>
            <a:off x="9216969"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0" name="Shape 20"/>
          <p:cNvSpPr/>
          <p:nvPr/>
        </p:nvSpPr>
        <p:spPr>
          <a:xfrm>
            <a:off x="10430012"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1" name="Shape 21"/>
          <p:cNvSpPr/>
          <p:nvPr/>
        </p:nvSpPr>
        <p:spPr>
          <a:xfrm>
            <a:off x="5577840" y="2578608"/>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6790883" y="2578608"/>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3" name="Shape 23"/>
          <p:cNvSpPr/>
          <p:nvPr/>
        </p:nvSpPr>
        <p:spPr>
          <a:xfrm>
            <a:off x="8003926" y="2578608"/>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4" name="Shape 24"/>
          <p:cNvSpPr/>
          <p:nvPr/>
        </p:nvSpPr>
        <p:spPr>
          <a:xfrm>
            <a:off x="9216969" y="2578608"/>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5" name="Shape 25"/>
          <p:cNvSpPr/>
          <p:nvPr/>
        </p:nvSpPr>
        <p:spPr>
          <a:xfrm>
            <a:off x="10430012" y="2578608"/>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6" name="Shape 26"/>
          <p:cNvSpPr/>
          <p:nvPr/>
        </p:nvSpPr>
        <p:spPr>
          <a:xfrm>
            <a:off x="5577840" y="3236976"/>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27" name="Shape 27"/>
          <p:cNvSpPr/>
          <p:nvPr/>
        </p:nvSpPr>
        <p:spPr>
          <a:xfrm>
            <a:off x="6790883" y="3236976"/>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28" name="Shape 28"/>
          <p:cNvSpPr/>
          <p:nvPr/>
        </p:nvSpPr>
        <p:spPr>
          <a:xfrm>
            <a:off x="8003926" y="3236976"/>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29" name="Shape 29"/>
          <p:cNvSpPr/>
          <p:nvPr/>
        </p:nvSpPr>
        <p:spPr>
          <a:xfrm>
            <a:off x="9216969" y="3236976"/>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30" name="Shape 30"/>
          <p:cNvSpPr/>
          <p:nvPr/>
        </p:nvSpPr>
        <p:spPr>
          <a:xfrm>
            <a:off x="10430012" y="3236976"/>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1" name="Shape 31"/>
          <p:cNvSpPr/>
          <p:nvPr/>
        </p:nvSpPr>
        <p:spPr>
          <a:xfrm>
            <a:off x="5577840"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6790883"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8003926"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9216969"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10430012" y="3895344"/>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5577840"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7" name="Shape 37"/>
          <p:cNvSpPr/>
          <p:nvPr/>
        </p:nvSpPr>
        <p:spPr>
          <a:xfrm>
            <a:off x="6790883"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8" name="Shape 38"/>
          <p:cNvSpPr/>
          <p:nvPr/>
        </p:nvSpPr>
        <p:spPr>
          <a:xfrm>
            <a:off x="8003926"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9" name="Shape 39"/>
          <p:cNvSpPr/>
          <p:nvPr/>
        </p:nvSpPr>
        <p:spPr>
          <a:xfrm>
            <a:off x="9216969"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40" name="Shape 40"/>
          <p:cNvSpPr/>
          <p:nvPr/>
        </p:nvSpPr>
        <p:spPr>
          <a:xfrm>
            <a:off x="10430012" y="4553712"/>
            <a:ext cx="1213043"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trace table: row 4</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51</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Round 4: </a:t>
            </a:r>
            <a:r>
              <a:rPr lang="en-US" sz="2400" dirty="0">
                <a:solidFill>
                  <a:srgbClr val="18324A"/>
                </a:solidFill>
                <a:latin typeface="Consolas"/>
                <a:ea typeface="Consolas"/>
                <a:cs typeface="Consolas"/>
              </a:rPr>
              <a:t>x</a:t>
            </a:r>
            <a:r>
              <a:rPr lang="en-US" sz="2400" dirty="0">
                <a:solidFill>
                  <a:srgbClr val="18324A"/>
                </a:solidFill>
              </a:rPr>
              <a:t> is 4. </a:t>
            </a:r>
            <a:r>
              <a:rPr lang="en-US" sz="2400" dirty="0">
                <a:solidFill>
                  <a:srgbClr val="18324A"/>
                </a:solidFill>
                <a:latin typeface="Consolas"/>
                <a:ea typeface="Consolas"/>
                <a:cs typeface="Consolas"/>
              </a:rPr>
              <a:t>4 &lt;= 4</a:t>
            </a:r>
            <a:r>
              <a:rPr lang="en-US" sz="2400" dirty="0">
                <a:solidFill>
                  <a:srgbClr val="18324A"/>
                </a:solidFill>
              </a:rPr>
              <a:t> is true, because of the </a:t>
            </a:r>
            <a:r>
              <a:rPr lang="en-US" sz="2400" dirty="0">
                <a:solidFill>
                  <a:srgbClr val="18324A"/>
                </a:solidFill>
                <a:latin typeface="Consolas"/>
                <a:ea typeface="Consolas"/>
                <a:cs typeface="Consolas"/>
              </a:rPr>
              <a:t>=</a:t>
            </a:r>
            <a:r>
              <a:rPr lang="en-US" sz="2400" dirty="0">
                <a:solidFill>
                  <a:srgbClr val="18324A"/>
                </a:solidFill>
              </a:rPr>
              <a:t>. Print 4. </a:t>
            </a:r>
            <a:r>
              <a:rPr lang="en-US" sz="2400" dirty="0">
                <a:solidFill>
                  <a:srgbClr val="18324A"/>
                </a:solidFill>
                <a:latin typeface="Consolas"/>
                <a:ea typeface="Consolas"/>
                <a:cs typeface="Consolas"/>
              </a:rPr>
              <a:t>x</a:t>
            </a:r>
            <a:r>
              <a:rPr lang="en-US" sz="2400" dirty="0">
                <a:solidFill>
                  <a:srgbClr val="18324A"/>
                </a:solidFill>
              </a:rPr>
              <a:t> becomes 5.</a:t>
            </a:r>
            <a:endParaRPr lang="en-US" sz="2400" dirty="0"/>
          </a:p>
        </p:txBody>
      </p:sp>
      <p:sp>
        <p:nvSpPr>
          <p:cNvPr id="9" name="Shape 9"/>
          <p:cNvSpPr/>
          <p:nvPr/>
        </p:nvSpPr>
        <p:spPr>
          <a:xfrm>
            <a:off x="548640" y="1261872"/>
            <a:ext cx="4754880" cy="303276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4754880" cy="3032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int x = 1;</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while (x &lt;= 4) {</a:t>
            </a:r>
            <a:endParaRPr lang="en-US" sz="2800" dirty="0"/>
          </a:p>
          <a:p>
            <a:pPr marL="0" indent="0" algn="l">
              <a:lnSpc>
                <a:spcPts val="3500"/>
              </a:lnSpc>
              <a:buNone/>
            </a:pPr>
            <a:r>
              <a:rPr lang="en-US" sz="2800" dirty="0">
                <a:solidFill>
                  <a:srgbClr val="E5E7EB"/>
                </a:solidFill>
                <a:latin typeface="Consolas"/>
                <a:ea typeface="Consolas"/>
                <a:cs typeface="Consolas"/>
              </a:rPr>
              <a:t>    printf("%d ", x);</a:t>
            </a:r>
            <a:endParaRPr lang="en-US" sz="2800" dirty="0"/>
          </a:p>
          <a:p>
            <a:pPr marL="0" indent="0" algn="l">
              <a:lnSpc>
                <a:spcPts val="3500"/>
              </a:lnSpc>
              <a:buNone/>
            </a:pPr>
            <a:r>
              <a:rPr lang="en-US" sz="2800" dirty="0">
                <a:solidFill>
                  <a:srgbClr val="E5E7EB"/>
                </a:solidFill>
                <a:latin typeface="Consolas"/>
                <a:ea typeface="Consolas"/>
                <a:cs typeface="Consolas"/>
              </a:rPr>
              <a:t>    x = x + 1;</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p:txBody>
      </p:sp>
      <p:sp>
        <p:nvSpPr>
          <p:cNvPr id="11" name="Shape 11"/>
          <p:cNvSpPr/>
          <p:nvPr/>
        </p:nvSpPr>
        <p:spPr>
          <a:xfrm>
            <a:off x="5577840" y="1261872"/>
            <a:ext cx="1213043"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2" name="Shape 12"/>
          <p:cNvSpPr/>
          <p:nvPr/>
        </p:nvSpPr>
        <p:spPr>
          <a:xfrm>
            <a:off x="6790883" y="1261872"/>
            <a:ext cx="1213043"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3" name="Shape 13"/>
          <p:cNvSpPr/>
          <p:nvPr/>
        </p:nvSpPr>
        <p:spPr>
          <a:xfrm>
            <a:off x="8003926" y="1261872"/>
            <a:ext cx="1213043"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4</a:t>
            </a:r>
            <a:endParaRPr lang="en-US" sz="1800" dirty="0"/>
          </a:p>
        </p:txBody>
      </p:sp>
      <p:sp>
        <p:nvSpPr>
          <p:cNvPr id="14" name="Shape 14"/>
          <p:cNvSpPr/>
          <p:nvPr/>
        </p:nvSpPr>
        <p:spPr>
          <a:xfrm>
            <a:off x="9216969" y="1261872"/>
            <a:ext cx="1213043"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5" name="Shape 15"/>
          <p:cNvSpPr/>
          <p:nvPr/>
        </p:nvSpPr>
        <p:spPr>
          <a:xfrm>
            <a:off x="10430012" y="1261872"/>
            <a:ext cx="1213043"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x</a:t>
            </a:r>
            <a:endParaRPr lang="en-US" sz="1800" dirty="0"/>
          </a:p>
        </p:txBody>
      </p:sp>
      <p:sp>
        <p:nvSpPr>
          <p:cNvPr id="16" name="Shape 16"/>
          <p:cNvSpPr/>
          <p:nvPr/>
        </p:nvSpPr>
        <p:spPr>
          <a:xfrm>
            <a:off x="5577840" y="1882140"/>
            <a:ext cx="1213043"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7" name="Shape 17"/>
          <p:cNvSpPr/>
          <p:nvPr/>
        </p:nvSpPr>
        <p:spPr>
          <a:xfrm>
            <a:off x="6790883" y="1882140"/>
            <a:ext cx="1213043"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8003926" y="1882140"/>
            <a:ext cx="1213043"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19" name="Shape 19"/>
          <p:cNvSpPr/>
          <p:nvPr/>
        </p:nvSpPr>
        <p:spPr>
          <a:xfrm>
            <a:off x="9216969" y="1882140"/>
            <a:ext cx="1213043"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0" name="Shape 20"/>
          <p:cNvSpPr/>
          <p:nvPr/>
        </p:nvSpPr>
        <p:spPr>
          <a:xfrm>
            <a:off x="10430012" y="1882140"/>
            <a:ext cx="1213043"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1" name="Shape 21"/>
          <p:cNvSpPr/>
          <p:nvPr/>
        </p:nvSpPr>
        <p:spPr>
          <a:xfrm>
            <a:off x="5577840" y="2502408"/>
            <a:ext cx="1213043"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6790883" y="2502408"/>
            <a:ext cx="1213043"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3" name="Shape 23"/>
          <p:cNvSpPr/>
          <p:nvPr/>
        </p:nvSpPr>
        <p:spPr>
          <a:xfrm>
            <a:off x="8003926" y="2502408"/>
            <a:ext cx="1213043"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4" name="Shape 24"/>
          <p:cNvSpPr/>
          <p:nvPr/>
        </p:nvSpPr>
        <p:spPr>
          <a:xfrm>
            <a:off x="9216969" y="2502408"/>
            <a:ext cx="1213043"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5" name="Shape 25"/>
          <p:cNvSpPr/>
          <p:nvPr/>
        </p:nvSpPr>
        <p:spPr>
          <a:xfrm>
            <a:off x="10430012" y="2502408"/>
            <a:ext cx="1213043"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6" name="Shape 26"/>
          <p:cNvSpPr/>
          <p:nvPr/>
        </p:nvSpPr>
        <p:spPr>
          <a:xfrm>
            <a:off x="5577840" y="3122676"/>
            <a:ext cx="1213043"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7" name="Shape 27"/>
          <p:cNvSpPr/>
          <p:nvPr/>
        </p:nvSpPr>
        <p:spPr>
          <a:xfrm>
            <a:off x="6790883" y="3122676"/>
            <a:ext cx="1213043"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8" name="Shape 28"/>
          <p:cNvSpPr/>
          <p:nvPr/>
        </p:nvSpPr>
        <p:spPr>
          <a:xfrm>
            <a:off x="8003926" y="3122676"/>
            <a:ext cx="1213043"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9" name="Shape 29"/>
          <p:cNvSpPr/>
          <p:nvPr/>
        </p:nvSpPr>
        <p:spPr>
          <a:xfrm>
            <a:off x="9216969" y="3122676"/>
            <a:ext cx="1213043"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30" name="Shape 30"/>
          <p:cNvSpPr/>
          <p:nvPr/>
        </p:nvSpPr>
        <p:spPr>
          <a:xfrm>
            <a:off x="10430012" y="3122676"/>
            <a:ext cx="1213043"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1" name="Shape 31"/>
          <p:cNvSpPr/>
          <p:nvPr/>
        </p:nvSpPr>
        <p:spPr>
          <a:xfrm>
            <a:off x="5577840" y="3742944"/>
            <a:ext cx="1213043"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2" name="Shape 32"/>
          <p:cNvSpPr/>
          <p:nvPr/>
        </p:nvSpPr>
        <p:spPr>
          <a:xfrm>
            <a:off x="6790883" y="3742944"/>
            <a:ext cx="1213043"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3" name="Shape 33"/>
          <p:cNvSpPr/>
          <p:nvPr/>
        </p:nvSpPr>
        <p:spPr>
          <a:xfrm>
            <a:off x="8003926" y="3742944"/>
            <a:ext cx="1213043"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34" name="Shape 34"/>
          <p:cNvSpPr/>
          <p:nvPr/>
        </p:nvSpPr>
        <p:spPr>
          <a:xfrm>
            <a:off x="9216969" y="3742944"/>
            <a:ext cx="1213043"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5" name="Shape 35"/>
          <p:cNvSpPr/>
          <p:nvPr/>
        </p:nvSpPr>
        <p:spPr>
          <a:xfrm>
            <a:off x="10430012" y="3742944"/>
            <a:ext cx="1213043"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5</a:t>
            </a:r>
            <a:endParaRPr lang="en-US" sz="2400" dirty="0"/>
          </a:p>
        </p:txBody>
      </p:sp>
      <p:sp>
        <p:nvSpPr>
          <p:cNvPr id="36" name="Shape 36"/>
          <p:cNvSpPr/>
          <p:nvPr/>
        </p:nvSpPr>
        <p:spPr>
          <a:xfrm>
            <a:off x="5577840" y="4363212"/>
            <a:ext cx="1213043"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7" name="Shape 37"/>
          <p:cNvSpPr/>
          <p:nvPr/>
        </p:nvSpPr>
        <p:spPr>
          <a:xfrm>
            <a:off x="6790883" y="4363212"/>
            <a:ext cx="1213043"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8" name="Shape 38"/>
          <p:cNvSpPr/>
          <p:nvPr/>
        </p:nvSpPr>
        <p:spPr>
          <a:xfrm>
            <a:off x="8003926" y="4363212"/>
            <a:ext cx="1213043"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9" name="Shape 39"/>
          <p:cNvSpPr/>
          <p:nvPr/>
        </p:nvSpPr>
        <p:spPr>
          <a:xfrm>
            <a:off x="9216969" y="4363212"/>
            <a:ext cx="1213043"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40" name="Shape 40"/>
          <p:cNvSpPr/>
          <p:nvPr/>
        </p:nvSpPr>
        <p:spPr>
          <a:xfrm>
            <a:off x="10430012" y="4363212"/>
            <a:ext cx="1213043" cy="6202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trace table: row 5</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52</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x</a:t>
            </a:r>
            <a:r>
              <a:rPr lang="en-US" sz="2400" dirty="0">
                <a:solidFill>
                  <a:srgbClr val="18324A"/>
                </a:solidFill>
              </a:rPr>
              <a:t> is 5. </a:t>
            </a:r>
            <a:r>
              <a:rPr lang="en-US" sz="2400" dirty="0">
                <a:solidFill>
                  <a:srgbClr val="18324A"/>
                </a:solidFill>
                <a:latin typeface="Consolas"/>
                <a:ea typeface="Consolas"/>
                <a:cs typeface="Consolas"/>
              </a:rPr>
              <a:t>5 &lt;= 4</a:t>
            </a:r>
            <a:r>
              <a:rPr lang="en-US" sz="2400" dirty="0">
                <a:solidFill>
                  <a:srgbClr val="18324A"/>
                </a:solidFill>
              </a:rPr>
              <a:t> is </a:t>
            </a:r>
            <a:r>
              <a:rPr lang="en-US" sz="2400" b="1" dirty="0">
                <a:solidFill>
                  <a:srgbClr val="18324A"/>
                </a:solidFill>
              </a:rPr>
              <a:t>false</a:t>
            </a:r>
            <a:r>
              <a:rPr lang="en-US" sz="2400" dirty="0">
                <a:solidFill>
                  <a:srgbClr val="18324A"/>
                </a:solidFill>
              </a:rPr>
              <a:t>. The loop ends. Nothing is printed.</a:t>
            </a:r>
            <a:endParaRPr lang="en-US" sz="2400" dirty="0"/>
          </a:p>
        </p:txBody>
      </p:sp>
      <p:sp>
        <p:nvSpPr>
          <p:cNvPr id="9" name="Shape 9"/>
          <p:cNvSpPr/>
          <p:nvPr/>
        </p:nvSpPr>
        <p:spPr>
          <a:xfrm>
            <a:off x="548640" y="1261872"/>
            <a:ext cx="4754880" cy="303276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4754880" cy="3032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int x = 1;</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while (x &lt;= 4) {</a:t>
            </a:r>
            <a:endParaRPr lang="en-US" sz="2800" dirty="0"/>
          </a:p>
          <a:p>
            <a:pPr marL="0" indent="0" algn="l">
              <a:lnSpc>
                <a:spcPts val="3500"/>
              </a:lnSpc>
              <a:buNone/>
            </a:pPr>
            <a:r>
              <a:rPr lang="en-US" sz="2800" dirty="0">
                <a:solidFill>
                  <a:srgbClr val="E5E7EB"/>
                </a:solidFill>
                <a:latin typeface="Consolas"/>
                <a:ea typeface="Consolas"/>
                <a:cs typeface="Consolas"/>
              </a:rPr>
              <a:t>    printf("%d ", x);</a:t>
            </a:r>
            <a:endParaRPr lang="en-US" sz="2800" dirty="0"/>
          </a:p>
          <a:p>
            <a:pPr marL="0" indent="0" algn="l">
              <a:lnSpc>
                <a:spcPts val="3500"/>
              </a:lnSpc>
              <a:buNone/>
            </a:pPr>
            <a:r>
              <a:rPr lang="en-US" sz="2800" dirty="0">
                <a:solidFill>
                  <a:srgbClr val="E5E7EB"/>
                </a:solidFill>
                <a:latin typeface="Consolas"/>
                <a:ea typeface="Consolas"/>
                <a:cs typeface="Consolas"/>
              </a:rPr>
              <a:t>    x = x + 1;</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p:txBody>
      </p:sp>
      <p:sp>
        <p:nvSpPr>
          <p:cNvPr id="11" name="Shape 11"/>
          <p:cNvSpPr/>
          <p:nvPr/>
        </p:nvSpPr>
        <p:spPr>
          <a:xfrm>
            <a:off x="5577840"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2" name="Shape 12"/>
          <p:cNvSpPr/>
          <p:nvPr/>
        </p:nvSpPr>
        <p:spPr>
          <a:xfrm>
            <a:off x="6790883"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3" name="Shape 13"/>
          <p:cNvSpPr/>
          <p:nvPr/>
        </p:nvSpPr>
        <p:spPr>
          <a:xfrm>
            <a:off x="8003926"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4</a:t>
            </a:r>
            <a:endParaRPr lang="en-US" sz="1800" dirty="0"/>
          </a:p>
        </p:txBody>
      </p:sp>
      <p:sp>
        <p:nvSpPr>
          <p:cNvPr id="14" name="Shape 14"/>
          <p:cNvSpPr/>
          <p:nvPr/>
        </p:nvSpPr>
        <p:spPr>
          <a:xfrm>
            <a:off x="9216969"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5" name="Shape 15"/>
          <p:cNvSpPr/>
          <p:nvPr/>
        </p:nvSpPr>
        <p:spPr>
          <a:xfrm>
            <a:off x="10430012" y="1261872"/>
            <a:ext cx="121304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x</a:t>
            </a:r>
            <a:endParaRPr lang="en-US" sz="1800" dirty="0"/>
          </a:p>
        </p:txBody>
      </p:sp>
      <p:sp>
        <p:nvSpPr>
          <p:cNvPr id="16" name="Shape 16"/>
          <p:cNvSpPr/>
          <p:nvPr/>
        </p:nvSpPr>
        <p:spPr>
          <a:xfrm>
            <a:off x="5577840"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7" name="Shape 17"/>
          <p:cNvSpPr/>
          <p:nvPr/>
        </p:nvSpPr>
        <p:spPr>
          <a:xfrm>
            <a:off x="6790883"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8003926"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19" name="Shape 19"/>
          <p:cNvSpPr/>
          <p:nvPr/>
        </p:nvSpPr>
        <p:spPr>
          <a:xfrm>
            <a:off x="9216969"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0" name="Shape 20"/>
          <p:cNvSpPr/>
          <p:nvPr/>
        </p:nvSpPr>
        <p:spPr>
          <a:xfrm>
            <a:off x="10430012" y="1920240"/>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1" name="Shape 21"/>
          <p:cNvSpPr/>
          <p:nvPr/>
        </p:nvSpPr>
        <p:spPr>
          <a:xfrm>
            <a:off x="5577840" y="2578608"/>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6790883" y="2578608"/>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3" name="Shape 23"/>
          <p:cNvSpPr/>
          <p:nvPr/>
        </p:nvSpPr>
        <p:spPr>
          <a:xfrm>
            <a:off x="8003926" y="2578608"/>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4" name="Shape 24"/>
          <p:cNvSpPr/>
          <p:nvPr/>
        </p:nvSpPr>
        <p:spPr>
          <a:xfrm>
            <a:off x="9216969" y="2578608"/>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5" name="Shape 25"/>
          <p:cNvSpPr/>
          <p:nvPr/>
        </p:nvSpPr>
        <p:spPr>
          <a:xfrm>
            <a:off x="10430012" y="2578608"/>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6" name="Shape 26"/>
          <p:cNvSpPr/>
          <p:nvPr/>
        </p:nvSpPr>
        <p:spPr>
          <a:xfrm>
            <a:off x="5577840" y="3236976"/>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7" name="Shape 27"/>
          <p:cNvSpPr/>
          <p:nvPr/>
        </p:nvSpPr>
        <p:spPr>
          <a:xfrm>
            <a:off x="6790883" y="3236976"/>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8" name="Shape 28"/>
          <p:cNvSpPr/>
          <p:nvPr/>
        </p:nvSpPr>
        <p:spPr>
          <a:xfrm>
            <a:off x="8003926" y="3236976"/>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9" name="Shape 29"/>
          <p:cNvSpPr/>
          <p:nvPr/>
        </p:nvSpPr>
        <p:spPr>
          <a:xfrm>
            <a:off x="9216969" y="3236976"/>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30" name="Shape 30"/>
          <p:cNvSpPr/>
          <p:nvPr/>
        </p:nvSpPr>
        <p:spPr>
          <a:xfrm>
            <a:off x="10430012" y="3236976"/>
            <a:ext cx="121304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1" name="Shape 31"/>
          <p:cNvSpPr/>
          <p:nvPr/>
        </p:nvSpPr>
        <p:spPr>
          <a:xfrm>
            <a:off x="5577840" y="3895344"/>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2" name="Shape 32"/>
          <p:cNvSpPr/>
          <p:nvPr/>
        </p:nvSpPr>
        <p:spPr>
          <a:xfrm>
            <a:off x="6790883" y="3895344"/>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3" name="Shape 33"/>
          <p:cNvSpPr/>
          <p:nvPr/>
        </p:nvSpPr>
        <p:spPr>
          <a:xfrm>
            <a:off x="8003926" y="3895344"/>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34" name="Shape 34"/>
          <p:cNvSpPr/>
          <p:nvPr/>
        </p:nvSpPr>
        <p:spPr>
          <a:xfrm>
            <a:off x="9216969" y="3895344"/>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5" name="Shape 35"/>
          <p:cNvSpPr/>
          <p:nvPr/>
        </p:nvSpPr>
        <p:spPr>
          <a:xfrm>
            <a:off x="10430012" y="3895344"/>
            <a:ext cx="121304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5</a:t>
            </a:r>
            <a:endParaRPr lang="en-US" sz="2400" dirty="0"/>
          </a:p>
        </p:txBody>
      </p:sp>
      <p:sp>
        <p:nvSpPr>
          <p:cNvPr id="36" name="Shape 36"/>
          <p:cNvSpPr/>
          <p:nvPr/>
        </p:nvSpPr>
        <p:spPr>
          <a:xfrm>
            <a:off x="5577840" y="4553712"/>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
        <p:nvSpPr>
          <p:cNvPr id="37" name="Shape 37"/>
          <p:cNvSpPr/>
          <p:nvPr/>
        </p:nvSpPr>
        <p:spPr>
          <a:xfrm>
            <a:off x="6790883" y="4553712"/>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5</a:t>
            </a:r>
            <a:endParaRPr lang="en-US" sz="2400" dirty="0"/>
          </a:p>
        </p:txBody>
      </p:sp>
      <p:sp>
        <p:nvSpPr>
          <p:cNvPr id="38" name="Shape 38"/>
          <p:cNvSpPr/>
          <p:nvPr/>
        </p:nvSpPr>
        <p:spPr>
          <a:xfrm>
            <a:off x="8003926" y="4553712"/>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E02424"/>
                </a:solidFill>
              </a:rPr>
              <a:t>false</a:t>
            </a:r>
            <a:endParaRPr lang="en-US" sz="2400" dirty="0"/>
          </a:p>
        </p:txBody>
      </p:sp>
      <p:sp>
        <p:nvSpPr>
          <p:cNvPr id="39" name="Shape 39"/>
          <p:cNvSpPr/>
          <p:nvPr/>
        </p:nvSpPr>
        <p:spPr>
          <a:xfrm>
            <a:off x="9216969" y="4553712"/>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
        <p:nvSpPr>
          <p:cNvPr id="40" name="Shape 40"/>
          <p:cNvSpPr/>
          <p:nvPr/>
        </p:nvSpPr>
        <p:spPr>
          <a:xfrm>
            <a:off x="10430012" y="4553712"/>
            <a:ext cx="1213043" cy="6583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What the table tells you</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53</a:t>
            </a:r>
            <a:endParaRPr lang="en-US" sz="1400" dirty="0"/>
          </a:p>
        </p:txBody>
      </p:sp>
      <p:sp>
        <p:nvSpPr>
          <p:cNvPr id="6" name="Shape 6"/>
          <p:cNvSpPr/>
          <p:nvPr/>
        </p:nvSpPr>
        <p:spPr>
          <a:xfrm>
            <a:off x="548640" y="1399032"/>
            <a:ext cx="109728" cy="7924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Output: </a:t>
            </a:r>
            <a:r>
              <a:rPr lang="en-US" sz="4000" b="1" dirty="0">
                <a:solidFill>
                  <a:srgbClr val="2F80ED"/>
                </a:solidFill>
                <a:latin typeface="Consolas"/>
                <a:ea typeface="Consolas"/>
                <a:cs typeface="Consolas"/>
              </a:rPr>
              <a:t>1 2 3 4</a:t>
            </a:r>
            <a:r>
              <a:rPr lang="en-US" sz="4000" b="1" dirty="0">
                <a:solidFill>
                  <a:srgbClr val="18324A"/>
                </a:solidFill>
              </a:rPr>
              <a:t>     After the loop: </a:t>
            </a:r>
            <a:r>
              <a:rPr lang="en-US" sz="4000" b="1" dirty="0">
                <a:solidFill>
                  <a:srgbClr val="2F80ED"/>
                </a:solidFill>
                <a:latin typeface="Consolas"/>
                <a:ea typeface="Consolas"/>
                <a:cs typeface="Consolas"/>
              </a:rPr>
              <a:t>x</a:t>
            </a:r>
            <a:r>
              <a:rPr lang="en-US" sz="4000" b="1" dirty="0">
                <a:solidFill>
                  <a:srgbClr val="18324A"/>
                </a:solidFill>
              </a:rPr>
              <a:t> is 5</a:t>
            </a:r>
            <a:endParaRPr lang="en-US" sz="4000" dirty="0"/>
          </a:p>
        </p:txBody>
      </p:sp>
      <p:sp>
        <p:nvSpPr>
          <p:cNvPr id="8" name="Shape 8"/>
          <p:cNvSpPr/>
          <p:nvPr/>
        </p:nvSpPr>
        <p:spPr>
          <a:xfrm>
            <a:off x="914400" y="26029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The body ran </a:t>
            </a:r>
            <a:r>
              <a:rPr lang="en-US" sz="3000" b="1" dirty="0">
                <a:solidFill>
                  <a:srgbClr val="18324A"/>
                </a:solidFill>
              </a:rPr>
              <a:t>4</a:t>
            </a:r>
            <a:r>
              <a:rPr lang="en-US" sz="3000" dirty="0">
                <a:solidFill>
                  <a:srgbClr val="18324A"/>
                </a:solidFill>
              </a:rPr>
              <a:t> times.</a:t>
            </a:r>
            <a:endParaRPr lang="en-US" sz="3000" dirty="0"/>
          </a:p>
          <a:p>
            <a:pPr marL="0" indent="0" algn="l">
              <a:spcAft>
                <a:spcPts val="1600"/>
              </a:spcAft>
              <a:buNone/>
            </a:pPr>
            <a:r>
              <a:rPr lang="en-US" sz="3000" dirty="0">
                <a:solidFill>
                  <a:srgbClr val="18324A"/>
                </a:solidFill>
              </a:rPr>
              <a:t>The check ran </a:t>
            </a:r>
            <a:r>
              <a:rPr lang="en-US" sz="3000" b="1" dirty="0">
                <a:solidFill>
                  <a:srgbClr val="18324A"/>
                </a:solidFill>
              </a:rPr>
              <a:t>5</a:t>
            </a:r>
            <a:r>
              <a:rPr lang="en-US" sz="3000" dirty="0">
                <a:solidFill>
                  <a:srgbClr val="18324A"/>
                </a:solidFill>
              </a:rPr>
              <a:t> times: four times true, one time false.</a:t>
            </a:r>
            <a:endParaRPr lang="en-US" sz="3000" dirty="0"/>
          </a:p>
          <a:p>
            <a:pPr marL="0" indent="0" algn="l">
              <a:spcAft>
                <a:spcPts val="1600"/>
              </a:spcAft>
              <a:buNone/>
            </a:pPr>
            <a:r>
              <a:rPr lang="en-US" sz="3000" dirty="0">
                <a:solidFill>
                  <a:srgbClr val="18324A"/>
                </a:solidFill>
              </a:rPr>
              <a:t>The check always runs one more time than the body.</a:t>
            </a:r>
            <a:endParaRPr lang="en-US" sz="3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favourite quiz question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54</a:t>
            </a:r>
            <a:endParaRPr lang="en-US" sz="1400" dirty="0"/>
          </a:p>
        </p:txBody>
      </p:sp>
      <p:sp>
        <p:nvSpPr>
          <p:cNvPr id="6" name="Shape 6"/>
          <p:cNvSpPr/>
          <p:nvPr/>
        </p:nvSpPr>
        <p:spPr>
          <a:xfrm>
            <a:off x="548640" y="1399032"/>
            <a:ext cx="109728" cy="792480"/>
          </a:xfrm>
          <a:prstGeom prst="rect">
            <a:avLst/>
          </a:prstGeom>
          <a:solidFill>
            <a:srgbClr val="F59E0B"/>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What is </a:t>
            </a:r>
            <a:r>
              <a:rPr lang="en-US" sz="4000" b="1" dirty="0">
                <a:solidFill>
                  <a:srgbClr val="F59E0B"/>
                </a:solidFill>
                <a:latin typeface="Consolas"/>
                <a:ea typeface="Consolas"/>
                <a:cs typeface="Consolas"/>
              </a:rPr>
              <a:t>x</a:t>
            </a:r>
            <a:r>
              <a:rPr lang="en-US" sz="4000" b="1" dirty="0">
                <a:solidFill>
                  <a:srgbClr val="18324A"/>
                </a:solidFill>
              </a:rPr>
              <a:t> after the loop?</a:t>
            </a:r>
            <a:endParaRPr lang="en-US" sz="4000" dirty="0"/>
          </a:p>
        </p:txBody>
      </p:sp>
      <p:sp>
        <p:nvSpPr>
          <p:cNvPr id="8" name="Shape 8"/>
          <p:cNvSpPr/>
          <p:nvPr/>
        </p:nvSpPr>
        <p:spPr>
          <a:xfrm>
            <a:off x="914400" y="26029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It is </a:t>
            </a:r>
            <a:r>
              <a:rPr lang="en-US" sz="3000" b="1" dirty="0">
                <a:solidFill>
                  <a:srgbClr val="18324A"/>
                </a:solidFill>
              </a:rPr>
              <a:t>not</a:t>
            </a:r>
            <a:r>
              <a:rPr lang="en-US" sz="3000" dirty="0">
                <a:solidFill>
                  <a:srgbClr val="18324A"/>
                </a:solidFill>
              </a:rPr>
              <a:t> the last number printed.</a:t>
            </a:r>
            <a:endParaRPr lang="en-US" sz="3000" dirty="0"/>
          </a:p>
          <a:p>
            <a:pPr marL="0" indent="0" algn="l">
              <a:spcAft>
                <a:spcPts val="1600"/>
              </a:spcAft>
              <a:buNone/>
            </a:pPr>
            <a:r>
              <a:rPr lang="en-US" sz="3000" dirty="0">
                <a:solidFill>
                  <a:srgbClr val="18324A"/>
                </a:solidFill>
              </a:rPr>
              <a:t>It is the </a:t>
            </a:r>
            <a:r>
              <a:rPr lang="en-US" sz="3000" b="1" dirty="0">
                <a:solidFill>
                  <a:srgbClr val="18324A"/>
                </a:solidFill>
              </a:rPr>
              <a:t>first number that failed the check</a:t>
            </a:r>
            <a:r>
              <a:rPr lang="en-US" sz="3000" dirty="0">
                <a:solidFill>
                  <a:srgbClr val="18324A"/>
                </a:solidFill>
              </a:rPr>
              <a:t>.</a:t>
            </a:r>
            <a:endParaRPr lang="en-US" sz="3000" dirty="0"/>
          </a:p>
        </p:txBody>
      </p:sp>
      <p:sp>
        <p:nvSpPr>
          <p:cNvPr id="9" name="Shape 9"/>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0" name="Shape 10"/>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11"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x</a:t>
            </a:r>
            <a:r>
              <a:rPr lang="en-US" sz="2400" dirty="0">
                <a:solidFill>
                  <a:srgbClr val="18324A"/>
                </a:solidFill>
              </a:rPr>
              <a:t> had to become 5, or </a:t>
            </a:r>
            <a:r>
              <a:rPr lang="en-US" sz="2400" dirty="0">
                <a:solidFill>
                  <a:srgbClr val="18324A"/>
                </a:solidFill>
                <a:latin typeface="Consolas"/>
                <a:ea typeface="Consolas"/>
                <a:cs typeface="Consolas"/>
              </a:rPr>
              <a:t>x &lt;= 4</a:t>
            </a:r>
            <a:r>
              <a:rPr lang="en-US" sz="2400" dirty="0">
                <a:solidFill>
                  <a:srgbClr val="18324A"/>
                </a:solidFill>
              </a:rPr>
              <a:t> would still be true.</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FF6B6B"/>
          </a:solidFill>
          <a:ln>
            <a:noFill/>
          </a:ln>
        </p:spPr>
        <p:txBody>
          <a:bodyPr wrap="square" lIns="0" tIns="0" rIns="0" bIns="0" rtlCol="0" anchor="ctr"/>
          <a:lstStyle/>
          <a:p>
            <a:pPr marL="0" indent="0" algn="ctr">
              <a:buNone/>
            </a:pPr>
            <a:r>
              <a:rPr lang="en-US" sz="5400" b="1" dirty="0">
                <a:solidFill>
                  <a:srgbClr val="FFFFFF"/>
                </a:solidFill>
              </a:rPr>
              <a:t>5</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The loop that never stops</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You will write one by accident. Everyone does.</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update is missing</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56</a:t>
            </a:r>
            <a:endParaRPr lang="en-US" sz="1400" dirty="0"/>
          </a:p>
        </p:txBody>
      </p:sp>
      <p:sp>
        <p:nvSpPr>
          <p:cNvPr id="6" name="Shape 6"/>
          <p:cNvSpPr/>
          <p:nvPr/>
        </p:nvSpPr>
        <p:spPr>
          <a:xfrm>
            <a:off x="548640" y="1261872"/>
            <a:ext cx="6766560" cy="4429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527552"/>
            <a:ext cx="6766560" cy="508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527552"/>
            <a:ext cx="82296" cy="508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429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int count = 1;</a:t>
            </a:r>
            <a:endParaRPr lang="en-US" sz="3200" dirty="0"/>
          </a:p>
          <a:p>
            <a:pPr marL="0" indent="0" algn="l">
              <a:lnSpc>
                <a:spcPts val="4000"/>
              </a:lnSpc>
              <a:buNone/>
            </a:pPr>
            <a:r>
              <a:rPr lang="en-US" sz="3200" dirty="0">
                <a:solidFill>
                  <a:srgbClr val="64748B"/>
                </a:solidFill>
                <a:latin typeface="Consolas"/>
                <a:ea typeface="Consolas"/>
                <a:cs typeface="Consolas"/>
              </a:rPr>
              <a:t> </a:t>
            </a:r>
            <a:endParaRPr lang="en-US" sz="3200" dirty="0"/>
          </a:p>
          <a:p>
            <a:pPr marL="0" indent="0" algn="l">
              <a:lnSpc>
                <a:spcPts val="4000"/>
              </a:lnSpc>
              <a:buNone/>
            </a:pPr>
            <a:r>
              <a:rPr lang="en-US" sz="3200" dirty="0">
                <a:solidFill>
                  <a:srgbClr val="64748B"/>
                </a:solidFill>
                <a:latin typeface="Consolas"/>
                <a:ea typeface="Consolas"/>
                <a:cs typeface="Consolas"/>
              </a:rPr>
              <a:t>while (count &lt;= 3) {</a:t>
            </a:r>
            <a:endParaRPr lang="en-US" sz="3200" dirty="0"/>
          </a:p>
          <a:p>
            <a:pPr marL="0" indent="0" algn="l">
              <a:lnSpc>
                <a:spcPts val="4000"/>
              </a:lnSpc>
              <a:buNone/>
            </a:pPr>
            <a:r>
              <a:rPr lang="en-US" sz="3200" dirty="0">
                <a:solidFill>
                  <a:srgbClr val="64748B"/>
                </a:solidFill>
                <a:latin typeface="Consolas"/>
                <a:ea typeface="Consolas"/>
                <a:cs typeface="Consolas"/>
              </a:rPr>
              <a:t>    printf("%d\n", count);</a:t>
            </a:r>
            <a:endParaRPr lang="en-US" sz="3200" dirty="0"/>
          </a:p>
          <a:p>
            <a:pPr marL="0" indent="0" algn="l">
              <a:lnSpc>
                <a:spcPts val="4000"/>
              </a:lnSpc>
              <a:buNone/>
            </a:pPr>
            <a:r>
              <a:rPr lang="en-US" sz="3200" dirty="0">
                <a:solidFill>
                  <a:srgbClr val="FFFFFF"/>
                </a:solidFill>
                <a:latin typeface="Consolas"/>
                <a:ea typeface="Consolas"/>
                <a:cs typeface="Consolas"/>
              </a:rPr>
              <a:t>    </a:t>
            </a:r>
            <a:r>
              <a:rPr lang="en-US" sz="3200" dirty="0">
                <a:solidFill>
                  <a:srgbClr val="86C79A"/>
                </a:solidFill>
                <a:latin typeface="Consolas"/>
                <a:ea typeface="Consolas"/>
                <a:cs typeface="Consolas"/>
              </a:rPr>
              <a:t>// count never changes</a:t>
            </a:r>
            <a:endParaRPr lang="en-US" sz="3200" dirty="0"/>
          </a:p>
          <a:p>
            <a:pPr marL="0" indent="0" algn="l">
              <a:lnSpc>
                <a:spcPts val="4000"/>
              </a:lnSpc>
              <a:buNone/>
            </a:pPr>
            <a:r>
              <a:rPr lang="en-US" sz="3200" dirty="0">
                <a:solidFill>
                  <a:srgbClr val="64748B"/>
                </a:solidFill>
                <a:latin typeface="Consolas"/>
                <a:ea typeface="Consolas"/>
                <a:cs typeface="Consolas"/>
              </a:rPr>
              <a:t>}</a:t>
            </a:r>
            <a:endParaRPr lang="en-US" sz="3200" dirty="0"/>
          </a:p>
          <a:p>
            <a:pPr marL="0" indent="0" algn="l">
              <a:lnSpc>
                <a:spcPts val="4000"/>
              </a:lnSpc>
              <a:buNone/>
            </a:pPr>
            <a:r>
              <a:rPr lang="en-US" sz="3200" dirty="0">
                <a:solidFill>
                  <a:srgbClr val="64748B"/>
                </a:solidFill>
                <a:latin typeface="Consolas"/>
                <a:ea typeface="Consolas"/>
                <a:cs typeface="Consolas"/>
              </a:rPr>
              <a:t> </a:t>
            </a:r>
            <a:endParaRPr lang="en-US" sz="3200" dirty="0"/>
          </a:p>
          <a:p>
            <a:pPr marL="0" indent="0" algn="l">
              <a:lnSpc>
                <a:spcPts val="4000"/>
              </a:lnSpc>
              <a:buNone/>
            </a:pPr>
            <a:r>
              <a:rPr lang="en-US" sz="3200" dirty="0">
                <a:solidFill>
                  <a:srgbClr val="64748B"/>
                </a:solidFill>
                <a:latin typeface="Consolas"/>
                <a:ea typeface="Consolas"/>
                <a:cs typeface="Consolas"/>
              </a:rPr>
              <a:t>printf("Done\n");</a:t>
            </a:r>
            <a:endParaRPr lang="en-US" sz="3200" dirty="0"/>
          </a:p>
        </p:txBody>
      </p:sp>
      <p:sp>
        <p:nvSpPr>
          <p:cNvPr id="10" name="Shape 10"/>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count</a:t>
            </a:r>
            <a:r>
              <a:rPr lang="en-US" sz="2400" dirty="0">
                <a:solidFill>
                  <a:srgbClr val="18324A"/>
                </a:solidFill>
              </a:rPr>
              <a:t> is 1. For ever.</a:t>
            </a:r>
            <a:endParaRPr lang="en-US" sz="2400" dirty="0"/>
          </a:p>
        </p:txBody>
      </p:sp>
      <p:sp>
        <p:nvSpPr>
          <p:cNvPr id="13" name="Shape 13"/>
          <p:cNvSpPr/>
          <p:nvPr/>
        </p:nvSpPr>
        <p:spPr>
          <a:xfrm>
            <a:off x="7589520" y="214884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4" name="Shape 14"/>
          <p:cNvSpPr/>
          <p:nvPr/>
        </p:nvSpPr>
        <p:spPr>
          <a:xfrm>
            <a:off x="7589520" y="2148840"/>
            <a:ext cx="109728" cy="1051560"/>
          </a:xfrm>
          <a:prstGeom prst="rect">
            <a:avLst/>
          </a:prstGeom>
          <a:solidFill>
            <a:srgbClr val="FF6B6B"/>
          </a:solidFill>
          <a:ln>
            <a:noFill/>
          </a:ln>
        </p:spPr>
        <p:txBody>
          <a:bodyPr wrap="square" lIns="0" tIns="0" rIns="0" bIns="0" rtlCol="0" anchor="t"/>
          <a:lstStyle/>
          <a:p>
            <a:endParaRPr lang="en-US"/>
          </a:p>
        </p:txBody>
      </p:sp>
      <p:sp>
        <p:nvSpPr>
          <p:cNvPr id="15" name="Callout"/>
          <p:cNvSpPr/>
          <p:nvPr/>
        </p:nvSpPr>
        <p:spPr>
          <a:xfrm>
            <a:off x="7699248" y="214884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1 &lt;= 3</a:t>
            </a:r>
            <a:r>
              <a:rPr lang="en-US" sz="2400" dirty="0">
                <a:solidFill>
                  <a:srgbClr val="18324A"/>
                </a:solidFill>
              </a:rPr>
              <a:t> is true. For ever.</a:t>
            </a:r>
            <a:endParaRPr lang="en-US" sz="2400" dirty="0"/>
          </a:p>
        </p:txBody>
      </p:sp>
      <p:sp>
        <p:nvSpPr>
          <p:cNvPr id="16" name="Shape 16"/>
          <p:cNvSpPr/>
          <p:nvPr/>
        </p:nvSpPr>
        <p:spPr>
          <a:xfrm>
            <a:off x="7589520" y="3401568"/>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7" name="Shape 17"/>
          <p:cNvSpPr/>
          <p:nvPr/>
        </p:nvSpPr>
        <p:spPr>
          <a:xfrm>
            <a:off x="7589520" y="3401568"/>
            <a:ext cx="109728" cy="1051560"/>
          </a:xfrm>
          <a:prstGeom prst="rect">
            <a:avLst/>
          </a:prstGeom>
          <a:solidFill>
            <a:srgbClr val="F59E0B"/>
          </a:solidFill>
          <a:ln>
            <a:noFill/>
          </a:ln>
        </p:spPr>
        <p:txBody>
          <a:bodyPr wrap="square" lIns="0" tIns="0" rIns="0" bIns="0" rtlCol="0" anchor="t"/>
          <a:lstStyle/>
          <a:p>
            <a:endParaRPr lang="en-US"/>
          </a:p>
        </p:txBody>
      </p:sp>
      <p:sp>
        <p:nvSpPr>
          <p:cNvPr id="18" name="Callout"/>
          <p:cNvSpPr/>
          <p:nvPr/>
        </p:nvSpPr>
        <p:spPr>
          <a:xfrm>
            <a:off x="7699248" y="340156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prints 1, 1, 1, 1, ...</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compiler says nothing</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57</a:t>
            </a:r>
            <a:endParaRPr lang="en-US" sz="1400" dirty="0"/>
          </a:p>
        </p:txBody>
      </p:sp>
      <p:sp>
        <p:nvSpPr>
          <p:cNvPr id="6" name="Shape 6"/>
          <p:cNvSpPr/>
          <p:nvPr/>
        </p:nvSpPr>
        <p:spPr>
          <a:xfrm>
            <a:off x="548640" y="1399032"/>
            <a:ext cx="109728" cy="1402080"/>
          </a:xfrm>
          <a:prstGeom prst="rect">
            <a:avLst/>
          </a:prstGeom>
          <a:solidFill>
            <a:srgbClr val="FF6B6B"/>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FF6B6B"/>
                </a:solidFill>
                <a:latin typeface="Consolas"/>
                <a:ea typeface="Consolas"/>
                <a:cs typeface="Consolas"/>
              </a:rPr>
              <a:t>gcc -Wall</a:t>
            </a:r>
            <a:r>
              <a:rPr lang="en-US" sz="4000" b="1" dirty="0">
                <a:solidFill>
                  <a:srgbClr val="18324A"/>
                </a:solidFill>
              </a:rPr>
              <a:t> prints no warning for this program.</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A loop that never ends is perfectly spelled C.</a:t>
            </a:r>
            <a:endParaRPr lang="en-US" sz="3000" dirty="0"/>
          </a:p>
          <a:p>
            <a:pPr marL="0" indent="0" algn="l">
              <a:spcAft>
                <a:spcPts val="1600"/>
              </a:spcAft>
              <a:buNone/>
            </a:pPr>
            <a:r>
              <a:rPr lang="en-US" sz="3000" dirty="0">
                <a:solidFill>
                  <a:srgbClr val="18324A"/>
                </a:solidFill>
              </a:rPr>
              <a:t>The compiler checks your </a:t>
            </a:r>
            <a:r>
              <a:rPr lang="en-US" sz="3000" b="1" dirty="0">
                <a:solidFill>
                  <a:srgbClr val="18324A"/>
                </a:solidFill>
              </a:rPr>
              <a:t>spelling</a:t>
            </a:r>
            <a:r>
              <a:rPr lang="en-US" sz="3000" dirty="0">
                <a:solidFill>
                  <a:srgbClr val="18324A"/>
                </a:solidFill>
              </a:rPr>
              <a:t>, not your </a:t>
            </a:r>
            <a:r>
              <a:rPr lang="en-US" sz="3000" b="1" dirty="0">
                <a:solidFill>
                  <a:srgbClr val="18324A"/>
                </a:solidFill>
              </a:rPr>
              <a:t>thinking</a:t>
            </a:r>
            <a:r>
              <a:rPr lang="en-US" sz="3000" dirty="0">
                <a:solidFill>
                  <a:srgbClr val="18324A"/>
                </a:solidFill>
              </a:rPr>
              <a:t>.</a:t>
            </a:r>
            <a:endParaRPr lang="en-US" sz="3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How to stop a running program: Ctrl + C</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58</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Click once inside the terminal.</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Hold the </a:t>
            </a:r>
            <a:r>
              <a:rPr lang="en-US" sz="2800" b="1" dirty="0">
                <a:solidFill>
                  <a:srgbClr val="18324A"/>
                </a:solidFill>
              </a:rPr>
              <a:t>Ctrl</a:t>
            </a:r>
            <a:r>
              <a:rPr lang="en-US" sz="2800" dirty="0">
                <a:solidFill>
                  <a:srgbClr val="18324A"/>
                </a:solidFill>
              </a:rPr>
              <a:t> key.</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Press </a:t>
            </a:r>
            <a:r>
              <a:rPr lang="en-US" sz="2800" b="1" dirty="0">
                <a:solidFill>
                  <a:srgbClr val="18324A"/>
                </a:solidFill>
              </a:rPr>
              <a:t>C</a:t>
            </a:r>
            <a:r>
              <a:rPr lang="en-US" sz="2800" dirty="0">
                <a:solidFill>
                  <a:srgbClr val="18324A"/>
                </a:solidFill>
              </a:rPr>
              <a:t>. Once.</a:t>
            </a:r>
            <a:endParaRPr lang="en-US" sz="2800" dirty="0"/>
          </a:p>
        </p:txBody>
      </p:sp>
      <p:sp>
        <p:nvSpPr>
          <p:cNvPr id="12" name="Shape 12"/>
          <p:cNvSpPr/>
          <p:nvPr/>
        </p:nvSpPr>
        <p:spPr>
          <a:xfrm>
            <a:off x="548640" y="5486400"/>
            <a:ext cx="11094415" cy="77724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3" name="Shape 13"/>
          <p:cNvSpPr/>
          <p:nvPr/>
        </p:nvSpPr>
        <p:spPr>
          <a:xfrm>
            <a:off x="548640" y="5486400"/>
            <a:ext cx="109728" cy="777240"/>
          </a:xfrm>
          <a:prstGeom prst="rect">
            <a:avLst/>
          </a:prstGeom>
          <a:solidFill>
            <a:srgbClr val="2F80ED"/>
          </a:solidFill>
          <a:ln>
            <a:noFill/>
          </a:ln>
        </p:spPr>
        <p:txBody>
          <a:bodyPr wrap="square" lIns="0" tIns="0" rIns="0" bIns="0" rtlCol="0" anchor="t"/>
          <a:lstStyle/>
          <a:p>
            <a:endParaRPr lang="en-US"/>
          </a:p>
        </p:txBody>
      </p:sp>
      <p:sp>
        <p:nvSpPr>
          <p:cNvPr id="14" name="Callout"/>
          <p:cNvSpPr/>
          <p:nvPr/>
        </p:nvSpPr>
        <p:spPr>
          <a:xfrm>
            <a:off x="658368" y="5486400"/>
            <a:ext cx="10984687" cy="77724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Windows, Mac, Linux: the same. On a Mac it is </a:t>
            </a:r>
            <a:r>
              <a:rPr lang="en-US" sz="2400" b="1" dirty="0">
                <a:solidFill>
                  <a:srgbClr val="18324A"/>
                </a:solidFill>
              </a:rPr>
              <a:t>Control</a:t>
            </a:r>
            <a:r>
              <a:rPr lang="en-US" sz="2400" dirty="0">
                <a:solidFill>
                  <a:srgbClr val="18324A"/>
                </a:solidFill>
              </a:rPr>
              <a:t>, not Command.</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Your turn: break it, stop it, fix it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59</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Open </a:t>
            </a:r>
            <a:r>
              <a:rPr lang="en-US" sz="2800" dirty="0">
                <a:solidFill>
                  <a:srgbClr val="2F80ED"/>
                </a:solidFill>
                <a:latin typeface="Consolas"/>
                <a:ea typeface="Consolas"/>
                <a:cs typeface="Consolas"/>
              </a:rPr>
              <a:t>count.c</a:t>
            </a:r>
            <a:r>
              <a:rPr lang="en-US" sz="2800" dirty="0">
                <a:solidFill>
                  <a:srgbClr val="18324A"/>
                </a:solidFill>
              </a:rPr>
              <a:t>. Put </a:t>
            </a:r>
            <a:r>
              <a:rPr lang="en-US" sz="2800" dirty="0">
                <a:solidFill>
                  <a:srgbClr val="2F80ED"/>
                </a:solidFill>
                <a:latin typeface="Consolas"/>
                <a:ea typeface="Consolas"/>
                <a:cs typeface="Consolas"/>
              </a:rPr>
              <a:t>//</a:t>
            </a:r>
            <a:r>
              <a:rPr lang="en-US" sz="2800" dirty="0">
                <a:solidFill>
                  <a:srgbClr val="18324A"/>
                </a:solidFill>
              </a:rPr>
              <a:t> in front of </a:t>
            </a:r>
            <a:r>
              <a:rPr lang="en-US" sz="2800" dirty="0">
                <a:solidFill>
                  <a:srgbClr val="2F80ED"/>
                </a:solidFill>
                <a:latin typeface="Consolas"/>
                <a:ea typeface="Consolas"/>
                <a:cs typeface="Consolas"/>
              </a:rPr>
              <a:t>count++;</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Compile with </a:t>
            </a:r>
            <a:r>
              <a:rPr lang="en-US" sz="2800" dirty="0">
                <a:solidFill>
                  <a:srgbClr val="2F80ED"/>
                </a:solidFill>
                <a:latin typeface="Consolas"/>
                <a:ea typeface="Consolas"/>
                <a:cs typeface="Consolas"/>
              </a:rPr>
              <a:t>-Wall</a:t>
            </a:r>
            <a:r>
              <a:rPr lang="en-US" sz="2800" dirty="0">
                <a:solidFill>
                  <a:srgbClr val="18324A"/>
                </a:solidFill>
              </a:rPr>
              <a:t>. Any warning?</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Run it. A wall of 1s.</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Stop it with </a:t>
            </a:r>
            <a:r>
              <a:rPr lang="en-US" sz="2800" b="1" dirty="0">
                <a:solidFill>
                  <a:srgbClr val="18324A"/>
                </a:solidFill>
              </a:rPr>
              <a:t>Ctrl + C</a:t>
            </a:r>
            <a:r>
              <a:rPr lang="en-US" sz="2800" dirty="0">
                <a:solidFill>
                  <a:srgbClr val="18324A"/>
                </a:solidFill>
              </a:rPr>
              <a:t>.</a:t>
            </a:r>
            <a:endParaRPr lang="en-US" sz="2800" dirty="0"/>
          </a:p>
        </p:txBody>
      </p:sp>
      <p:sp>
        <p:nvSpPr>
          <p:cNvPr id="14" name="Shape 14"/>
          <p:cNvSpPr/>
          <p:nvPr/>
        </p:nvSpPr>
        <p:spPr>
          <a:xfrm>
            <a:off x="731520" y="4965192"/>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9651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Take the </a:t>
            </a:r>
            <a:r>
              <a:rPr lang="en-US" sz="2800" dirty="0">
                <a:solidFill>
                  <a:srgbClr val="2F80ED"/>
                </a:solidFill>
                <a:latin typeface="Consolas"/>
                <a:ea typeface="Consolas"/>
                <a:cs typeface="Consolas"/>
              </a:rPr>
              <a:t>//</a:t>
            </a:r>
            <a:r>
              <a:rPr lang="en-US" sz="2800" dirty="0">
                <a:solidFill>
                  <a:srgbClr val="18324A"/>
                </a:solidFill>
              </a:rPr>
              <a:t> away. Compile. Run.</a:t>
            </a:r>
            <a:endParaRPr lang="en-US" sz="2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Never stops / stops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60</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habit: </a:t>
            </a:r>
            <a:r>
              <a:rPr lang="en-US" sz="2400" b="1" dirty="0">
                <a:solidFill>
                  <a:srgbClr val="18324A"/>
                </a:solidFill>
              </a:rPr>
              <a:t>before</a:t>
            </a:r>
            <a:r>
              <a:rPr lang="en-US" sz="2400" dirty="0">
                <a:solidFill>
                  <a:srgbClr val="18324A"/>
                </a:solidFill>
              </a:rPr>
              <a:t> you run a loop, put your finger on the update.</a:t>
            </a:r>
            <a:endParaRPr lang="en-US" sz="2400" dirty="0"/>
          </a:p>
        </p:txBody>
      </p:sp>
      <p:sp>
        <p:nvSpPr>
          <p:cNvPr id="9" name="Shape 9"/>
          <p:cNvSpPr/>
          <p:nvPr/>
        </p:nvSpPr>
        <p:spPr>
          <a:xfrm>
            <a:off x="548640" y="1261872"/>
            <a:ext cx="5364328" cy="384048"/>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Never stops</a:t>
            </a:r>
            <a:endParaRPr lang="en-US" sz="1800" dirty="0"/>
          </a:p>
        </p:txBody>
      </p:sp>
      <p:sp>
        <p:nvSpPr>
          <p:cNvPr id="10" name="Shape 10"/>
          <p:cNvSpPr/>
          <p:nvPr/>
        </p:nvSpPr>
        <p:spPr>
          <a:xfrm>
            <a:off x="548640" y="1645920"/>
            <a:ext cx="5364328" cy="2016760"/>
          </a:xfrm>
          <a:prstGeom prst="rect">
            <a:avLst/>
          </a:prstGeom>
          <a:solidFill>
            <a:srgbClr val="0F172A"/>
          </a:solidFill>
          <a:ln>
            <a:noFill/>
          </a:ln>
        </p:spPr>
        <p:txBody>
          <a:bodyPr wrap="square" lIns="0" tIns="0" rIns="0" bIns="0" rtlCol="0" anchor="t"/>
          <a:lstStyle/>
          <a:p>
            <a:endParaRPr lang="en-US"/>
          </a:p>
        </p:txBody>
      </p:sp>
      <p:sp>
        <p:nvSpPr>
          <p:cNvPr id="11" name="Shape 11"/>
          <p:cNvSpPr/>
          <p:nvPr/>
        </p:nvSpPr>
        <p:spPr>
          <a:xfrm>
            <a:off x="548640" y="2695575"/>
            <a:ext cx="5364328" cy="4127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2695575"/>
            <a:ext cx="82296" cy="4127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645920"/>
            <a:ext cx="5364328" cy="20167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while (count &lt;= 3) {</a:t>
            </a:r>
            <a:endParaRPr lang="en-US" sz="2600" dirty="0"/>
          </a:p>
          <a:p>
            <a:pPr marL="0" indent="0" algn="l">
              <a:lnSpc>
                <a:spcPts val="3250"/>
              </a:lnSpc>
              <a:buNone/>
            </a:pPr>
            <a:r>
              <a:rPr lang="en-US" sz="2600" dirty="0">
                <a:solidFill>
                  <a:srgbClr val="64748B"/>
                </a:solidFill>
                <a:latin typeface="Consolas"/>
                <a:ea typeface="Consolas"/>
                <a:cs typeface="Consolas"/>
              </a:rPr>
              <a:t>    printf("%d\n", count);</a:t>
            </a:r>
            <a:endParaRPr lang="en-US" sz="2600" dirty="0"/>
          </a:p>
          <a:p>
            <a:pPr marL="0" indent="0" algn="l">
              <a:lnSpc>
                <a:spcPts val="3250"/>
              </a:lnSpc>
              <a:buNone/>
            </a:pPr>
            <a:r>
              <a:rPr lang="en-US" sz="2600" dirty="0">
                <a:solidFill>
                  <a:srgbClr val="FFFFFF"/>
                </a:solidFill>
                <a:latin typeface="Consolas"/>
                <a:ea typeface="Consolas"/>
                <a:cs typeface="Consolas"/>
              </a:rPr>
              <a:t>    </a:t>
            </a:r>
            <a:r>
              <a:rPr lang="en-US" sz="2600" dirty="0">
                <a:solidFill>
                  <a:srgbClr val="86C79A"/>
                </a:solidFill>
                <a:latin typeface="Consolas"/>
                <a:ea typeface="Consolas"/>
                <a:cs typeface="Consolas"/>
              </a:rPr>
              <a:t>// count never changes</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4" name="Shape 14"/>
          <p:cNvSpPr/>
          <p:nvPr/>
        </p:nvSpPr>
        <p:spPr>
          <a:xfrm>
            <a:off x="6278728" y="1261872"/>
            <a:ext cx="5364328" cy="384048"/>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Fixed</a:t>
            </a:r>
            <a:endParaRPr lang="en-US" sz="1800" dirty="0"/>
          </a:p>
        </p:txBody>
      </p:sp>
      <p:sp>
        <p:nvSpPr>
          <p:cNvPr id="15" name="Shape 15"/>
          <p:cNvSpPr/>
          <p:nvPr/>
        </p:nvSpPr>
        <p:spPr>
          <a:xfrm>
            <a:off x="6278728" y="1645920"/>
            <a:ext cx="5364328" cy="2016760"/>
          </a:xfrm>
          <a:prstGeom prst="rect">
            <a:avLst/>
          </a:prstGeom>
          <a:solidFill>
            <a:srgbClr val="0F172A"/>
          </a:solidFill>
          <a:ln>
            <a:noFill/>
          </a:ln>
        </p:spPr>
        <p:txBody>
          <a:bodyPr wrap="square" lIns="0" tIns="0" rIns="0" bIns="0" rtlCol="0" anchor="t"/>
          <a:lstStyle/>
          <a:p>
            <a:endParaRPr lang="en-US"/>
          </a:p>
        </p:txBody>
      </p:sp>
      <p:sp>
        <p:nvSpPr>
          <p:cNvPr id="16" name="Shape 16"/>
          <p:cNvSpPr/>
          <p:nvPr/>
        </p:nvSpPr>
        <p:spPr>
          <a:xfrm>
            <a:off x="6278728" y="2695575"/>
            <a:ext cx="5364328" cy="412750"/>
          </a:xfrm>
          <a:prstGeom prst="rect">
            <a:avLst/>
          </a:prstGeom>
          <a:solidFill>
            <a:srgbClr val="25406B"/>
          </a:solidFill>
          <a:ln>
            <a:noFill/>
          </a:ln>
        </p:spPr>
        <p:txBody>
          <a:bodyPr wrap="square" lIns="0" tIns="0" rIns="0" bIns="0" rtlCol="0" anchor="t"/>
          <a:lstStyle/>
          <a:p>
            <a:endParaRPr lang="en-US"/>
          </a:p>
        </p:txBody>
      </p:sp>
      <p:sp>
        <p:nvSpPr>
          <p:cNvPr id="17" name="Shape 17"/>
          <p:cNvSpPr/>
          <p:nvPr/>
        </p:nvSpPr>
        <p:spPr>
          <a:xfrm>
            <a:off x="6278728" y="2695575"/>
            <a:ext cx="82296" cy="412750"/>
          </a:xfrm>
          <a:prstGeom prst="rect">
            <a:avLst/>
          </a:prstGeom>
          <a:solidFill>
            <a:srgbClr val="F59E0B"/>
          </a:solidFill>
          <a:ln>
            <a:noFill/>
          </a:ln>
        </p:spPr>
        <p:txBody>
          <a:bodyPr wrap="square" lIns="0" tIns="0" rIns="0" bIns="0" rtlCol="0" anchor="t"/>
          <a:lstStyle/>
          <a:p>
            <a:endParaRPr lang="en-US"/>
          </a:p>
        </p:txBody>
      </p:sp>
      <p:sp>
        <p:nvSpPr>
          <p:cNvPr id="18" name="Code"/>
          <p:cNvSpPr/>
          <p:nvPr/>
        </p:nvSpPr>
        <p:spPr>
          <a:xfrm>
            <a:off x="6278728" y="1645920"/>
            <a:ext cx="5364328" cy="20167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while (count &lt;= 3) {</a:t>
            </a:r>
            <a:endParaRPr lang="en-US" sz="2600" dirty="0"/>
          </a:p>
          <a:p>
            <a:pPr marL="0" indent="0" algn="l">
              <a:lnSpc>
                <a:spcPts val="3250"/>
              </a:lnSpc>
              <a:buNone/>
            </a:pPr>
            <a:r>
              <a:rPr lang="en-US" sz="2600" dirty="0">
                <a:solidFill>
                  <a:srgbClr val="64748B"/>
                </a:solidFill>
                <a:latin typeface="Consolas"/>
                <a:ea typeface="Consolas"/>
                <a:cs typeface="Consolas"/>
              </a:rPr>
              <a:t>    printf("%d\n", count);</a:t>
            </a:r>
            <a:endParaRPr lang="en-US" sz="2600" dirty="0"/>
          </a:p>
          <a:p>
            <a:pPr marL="0" indent="0" algn="l">
              <a:lnSpc>
                <a:spcPts val="3250"/>
              </a:lnSpc>
              <a:buNone/>
            </a:pPr>
            <a:r>
              <a:rPr lang="en-US" sz="2600" dirty="0">
                <a:solidFill>
                  <a:srgbClr val="FFFFFF"/>
                </a:solidFill>
                <a:latin typeface="Consolas"/>
                <a:ea typeface="Consolas"/>
                <a:cs typeface="Consolas"/>
              </a:rPr>
              <a:t>    count++;</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silent cousin: the semicolon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61</a:t>
            </a:r>
            <a:endParaRPr lang="en-US" sz="1400" dirty="0"/>
          </a:p>
        </p:txBody>
      </p:sp>
      <p:sp>
        <p:nvSpPr>
          <p:cNvPr id="6" name="Shape 6"/>
          <p:cNvSpPr/>
          <p:nvPr/>
        </p:nvSpPr>
        <p:spPr>
          <a:xfrm>
            <a:off x="548640" y="1261872"/>
            <a:ext cx="6766560" cy="3921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511552"/>
            <a:ext cx="6766560" cy="508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511552"/>
            <a:ext cx="82296" cy="508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3921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int count = 1;</a:t>
            </a:r>
            <a:endParaRPr lang="en-US" sz="3200" dirty="0"/>
          </a:p>
          <a:p>
            <a:pPr marL="0" indent="0" algn="l">
              <a:lnSpc>
                <a:spcPts val="4000"/>
              </a:lnSpc>
              <a:buNone/>
            </a:pPr>
            <a:r>
              <a:rPr lang="en-US" sz="3200" dirty="0">
                <a:solidFill>
                  <a:srgbClr val="64748B"/>
                </a:solidFill>
                <a:latin typeface="Consolas"/>
                <a:ea typeface="Consolas"/>
                <a:cs typeface="Consolas"/>
              </a:rPr>
              <a:t> </a:t>
            </a:r>
            <a:endParaRPr lang="en-US" sz="3200" dirty="0"/>
          </a:p>
          <a:p>
            <a:pPr marL="0" indent="0" algn="l">
              <a:lnSpc>
                <a:spcPts val="4000"/>
              </a:lnSpc>
              <a:buNone/>
            </a:pPr>
            <a:r>
              <a:rPr lang="en-US" sz="3200" dirty="0">
                <a:solidFill>
                  <a:srgbClr val="FFFFFF"/>
                </a:solidFill>
                <a:latin typeface="Consolas"/>
                <a:ea typeface="Consolas"/>
                <a:cs typeface="Consolas"/>
              </a:rPr>
              <a:t>while (count &lt;= 3);</a:t>
            </a:r>
            <a:endParaRPr lang="en-US" sz="3200" dirty="0"/>
          </a:p>
          <a:p>
            <a:pPr marL="0" indent="0" algn="l">
              <a:lnSpc>
                <a:spcPts val="4000"/>
              </a:lnSpc>
              <a:buNone/>
            </a:pPr>
            <a:r>
              <a:rPr lang="en-US" sz="3200" dirty="0">
                <a:solidFill>
                  <a:srgbClr val="64748B"/>
                </a:solidFill>
                <a:latin typeface="Consolas"/>
                <a:ea typeface="Consolas"/>
                <a:cs typeface="Consolas"/>
              </a:rPr>
              <a:t>{</a:t>
            </a:r>
            <a:endParaRPr lang="en-US" sz="3200" dirty="0"/>
          </a:p>
          <a:p>
            <a:pPr marL="0" indent="0" algn="l">
              <a:lnSpc>
                <a:spcPts val="4000"/>
              </a:lnSpc>
              <a:buNone/>
            </a:pPr>
            <a:r>
              <a:rPr lang="en-US" sz="3200" dirty="0">
                <a:solidFill>
                  <a:srgbClr val="64748B"/>
                </a:solidFill>
                <a:latin typeface="Consolas"/>
                <a:ea typeface="Consolas"/>
                <a:cs typeface="Consolas"/>
              </a:rPr>
              <a:t>    printf("%d\n", count);</a:t>
            </a:r>
            <a:endParaRPr lang="en-US" sz="3200" dirty="0"/>
          </a:p>
          <a:p>
            <a:pPr marL="0" indent="0" algn="l">
              <a:lnSpc>
                <a:spcPts val="4000"/>
              </a:lnSpc>
              <a:buNone/>
            </a:pPr>
            <a:r>
              <a:rPr lang="en-US" sz="3200" dirty="0">
                <a:solidFill>
                  <a:srgbClr val="64748B"/>
                </a:solidFill>
                <a:latin typeface="Consolas"/>
                <a:ea typeface="Consolas"/>
                <a:cs typeface="Consolas"/>
              </a:rPr>
              <a:t>    count++;</a:t>
            </a:r>
            <a:endParaRPr lang="en-US" sz="3200" dirty="0"/>
          </a:p>
          <a:p>
            <a:pPr marL="0" indent="0" algn="l">
              <a:lnSpc>
                <a:spcPts val="4000"/>
              </a:lnSpc>
              <a:buNone/>
            </a:pPr>
            <a:r>
              <a:rPr lang="en-US" sz="3200" dirty="0">
                <a:solidFill>
                  <a:srgbClr val="64748B"/>
                </a:solidFill>
                <a:latin typeface="Consolas"/>
                <a:ea typeface="Consolas"/>
                <a:cs typeface="Consolas"/>
              </a:rPr>
              <a:t>}</a:t>
            </a:r>
            <a:endParaRPr lang="en-US" sz="3200" dirty="0"/>
          </a:p>
        </p:txBody>
      </p:sp>
      <p:sp>
        <p:nvSpPr>
          <p:cNvPr id="10" name="Shape 10"/>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a:t>
            </a:r>
            <a:r>
              <a:rPr lang="en-US" sz="2400" dirty="0">
                <a:solidFill>
                  <a:srgbClr val="18324A"/>
                </a:solidFill>
                <a:latin typeface="Consolas"/>
                <a:ea typeface="Consolas"/>
                <a:cs typeface="Consolas"/>
              </a:rPr>
              <a:t>;</a:t>
            </a:r>
            <a:r>
              <a:rPr lang="en-US" sz="2400" dirty="0">
                <a:solidFill>
                  <a:srgbClr val="18324A"/>
                </a:solidFill>
              </a:rPr>
              <a:t> is an </a:t>
            </a:r>
            <a:r>
              <a:rPr lang="en-US" sz="2400" b="1" dirty="0">
                <a:solidFill>
                  <a:srgbClr val="18324A"/>
                </a:solidFill>
              </a:rPr>
              <a:t>empty body</a:t>
            </a:r>
            <a:r>
              <a:rPr lang="en-US" sz="2400" dirty="0">
                <a:solidFill>
                  <a:srgbClr val="18324A"/>
                </a:solidFill>
              </a:rPr>
              <a:t>.</a:t>
            </a:r>
            <a:endParaRPr lang="en-US" sz="2400" dirty="0"/>
          </a:p>
        </p:txBody>
      </p:sp>
      <p:sp>
        <p:nvSpPr>
          <p:cNvPr id="13" name="Shape 13"/>
          <p:cNvSpPr/>
          <p:nvPr/>
        </p:nvSpPr>
        <p:spPr>
          <a:xfrm>
            <a:off x="7589520" y="2148840"/>
            <a:ext cx="4053535" cy="141732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4" name="Shape 14"/>
          <p:cNvSpPr/>
          <p:nvPr/>
        </p:nvSpPr>
        <p:spPr>
          <a:xfrm>
            <a:off x="7589520" y="2148840"/>
            <a:ext cx="109728" cy="1417320"/>
          </a:xfrm>
          <a:prstGeom prst="rect">
            <a:avLst/>
          </a:prstGeom>
          <a:solidFill>
            <a:srgbClr val="FF6B6B"/>
          </a:solidFill>
          <a:ln>
            <a:noFill/>
          </a:ln>
        </p:spPr>
        <p:txBody>
          <a:bodyPr wrap="square" lIns="0" tIns="0" rIns="0" bIns="0" rtlCol="0" anchor="t"/>
          <a:lstStyle/>
          <a:p>
            <a:endParaRPr lang="en-US"/>
          </a:p>
        </p:txBody>
      </p:sp>
      <p:sp>
        <p:nvSpPr>
          <p:cNvPr id="15" name="Callout"/>
          <p:cNvSpPr/>
          <p:nvPr/>
        </p:nvSpPr>
        <p:spPr>
          <a:xfrm>
            <a:off x="7699248" y="2148840"/>
            <a:ext cx="3943807" cy="141732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loop repeats nothing, for ever. The screen stays empty.</a:t>
            </a:r>
            <a:endParaRPr lang="en-US" sz="2400" dirty="0"/>
          </a:p>
        </p:txBody>
      </p:sp>
      <p:sp>
        <p:nvSpPr>
          <p:cNvPr id="16" name="Shape 16"/>
          <p:cNvSpPr/>
          <p:nvPr/>
        </p:nvSpPr>
        <p:spPr>
          <a:xfrm>
            <a:off x="7589520" y="3767328"/>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7" name="Shape 17"/>
          <p:cNvSpPr/>
          <p:nvPr/>
        </p:nvSpPr>
        <p:spPr>
          <a:xfrm>
            <a:off x="7589520" y="3767328"/>
            <a:ext cx="109728" cy="1051560"/>
          </a:xfrm>
          <a:prstGeom prst="rect">
            <a:avLst/>
          </a:prstGeom>
          <a:solidFill>
            <a:srgbClr val="31C48D"/>
          </a:solidFill>
          <a:ln>
            <a:noFill/>
          </a:ln>
        </p:spPr>
        <p:txBody>
          <a:bodyPr wrap="square" lIns="0" tIns="0" rIns="0" bIns="0" rtlCol="0" anchor="t"/>
          <a:lstStyle/>
          <a:p>
            <a:endParaRPr lang="en-US"/>
          </a:p>
        </p:txBody>
      </p:sp>
      <p:sp>
        <p:nvSpPr>
          <p:cNvPr id="18" name="Callout"/>
          <p:cNvSpPr/>
          <p:nvPr/>
        </p:nvSpPr>
        <p:spPr>
          <a:xfrm>
            <a:off x="7699248" y="37673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Program frozen? Ctrl + C, then look for this </a:t>
            </a:r>
            <a:r>
              <a:rPr lang="en-US" sz="2400" dirty="0">
                <a:solidFill>
                  <a:srgbClr val="18324A"/>
                </a:solidFill>
                <a:latin typeface="Consolas"/>
                <a:ea typeface="Consolas"/>
                <a:cs typeface="Consolas"/>
              </a:rPr>
              <a:t>;</a:t>
            </a:r>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06B6D4"/>
          </a:solidFill>
          <a:ln>
            <a:noFill/>
          </a:ln>
        </p:spPr>
        <p:txBody>
          <a:bodyPr wrap="square" lIns="0" tIns="0" rIns="0" bIns="0" rtlCol="0" anchor="ctr"/>
          <a:lstStyle/>
          <a:p>
            <a:pPr marL="0" indent="0" algn="ctr">
              <a:buNone/>
            </a:pPr>
            <a:r>
              <a:rPr lang="en-US" sz="5400" b="1" dirty="0">
                <a:solidFill>
                  <a:srgbClr val="FFFFFF"/>
                </a:solidFill>
              </a:rPr>
              <a:t>6</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The </a:t>
            </a:r>
            <a:r>
              <a:rPr lang="en-US" sz="4800" b="1" dirty="0">
                <a:solidFill>
                  <a:srgbClr val="FFFFFF"/>
                </a:solidFill>
                <a:latin typeface="Consolas"/>
                <a:ea typeface="Consolas"/>
                <a:cs typeface="Consolas"/>
              </a:rPr>
              <a:t>for</a:t>
            </a:r>
            <a:r>
              <a:rPr lang="en-US" sz="4800" b="1" dirty="0">
                <a:solidFill>
                  <a:srgbClr val="FFFFFF"/>
                </a:solidFill>
              </a:rPr>
              <a:t> loop</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Start, check and update on one line</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5</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Three parts in three places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63</a:t>
            </a:r>
            <a:endParaRPr lang="en-US" sz="1400" dirty="0"/>
          </a:p>
        </p:txBody>
      </p:sp>
      <p:sp>
        <p:nvSpPr>
          <p:cNvPr id="6" name="Shape 6"/>
          <p:cNvSpPr/>
          <p:nvPr/>
        </p:nvSpPr>
        <p:spPr>
          <a:xfrm>
            <a:off x="548640" y="1261872"/>
            <a:ext cx="6766560" cy="3413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95552"/>
            <a:ext cx="6766560" cy="508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95552"/>
            <a:ext cx="82296" cy="508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511552"/>
            <a:ext cx="6766560" cy="508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511552"/>
            <a:ext cx="82296" cy="5080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527552"/>
            <a:ext cx="6766560" cy="5080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527552"/>
            <a:ext cx="82296" cy="50800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3413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FFFFFF"/>
                </a:solidFill>
                <a:latin typeface="Consolas"/>
                <a:ea typeface="Consolas"/>
                <a:cs typeface="Consolas"/>
              </a:rPr>
              <a:t>int count = 1;</a:t>
            </a:r>
            <a:endParaRPr lang="en-US" sz="3200" dirty="0"/>
          </a:p>
          <a:p>
            <a:pPr marL="0" indent="0" algn="l">
              <a:lnSpc>
                <a:spcPts val="4000"/>
              </a:lnSpc>
              <a:buNone/>
            </a:pPr>
            <a:r>
              <a:rPr lang="en-US" sz="3200" dirty="0">
                <a:solidFill>
                  <a:srgbClr val="64748B"/>
                </a:solidFill>
                <a:latin typeface="Consolas"/>
                <a:ea typeface="Consolas"/>
                <a:cs typeface="Consolas"/>
              </a:rPr>
              <a:t> </a:t>
            </a:r>
            <a:endParaRPr lang="en-US" sz="3200" dirty="0"/>
          </a:p>
          <a:p>
            <a:pPr marL="0" indent="0" algn="l">
              <a:lnSpc>
                <a:spcPts val="4000"/>
              </a:lnSpc>
              <a:buNone/>
            </a:pPr>
            <a:r>
              <a:rPr lang="en-US" sz="3200" dirty="0">
                <a:solidFill>
                  <a:srgbClr val="FFFFFF"/>
                </a:solidFill>
                <a:latin typeface="Consolas"/>
                <a:ea typeface="Consolas"/>
                <a:cs typeface="Consolas"/>
              </a:rPr>
              <a:t>while (count &lt;= 3) {</a:t>
            </a:r>
            <a:endParaRPr lang="en-US" sz="3200" dirty="0"/>
          </a:p>
          <a:p>
            <a:pPr marL="0" indent="0" algn="l">
              <a:lnSpc>
                <a:spcPts val="4000"/>
              </a:lnSpc>
              <a:buNone/>
            </a:pPr>
            <a:r>
              <a:rPr lang="en-US" sz="3200" dirty="0">
                <a:solidFill>
                  <a:srgbClr val="64748B"/>
                </a:solidFill>
                <a:latin typeface="Consolas"/>
                <a:ea typeface="Consolas"/>
                <a:cs typeface="Consolas"/>
              </a:rPr>
              <a:t>    printf("%d\n", count);</a:t>
            </a:r>
            <a:endParaRPr lang="en-US" sz="3200" dirty="0"/>
          </a:p>
          <a:p>
            <a:pPr marL="0" indent="0" algn="l">
              <a:lnSpc>
                <a:spcPts val="4000"/>
              </a:lnSpc>
              <a:buNone/>
            </a:pPr>
            <a:r>
              <a:rPr lang="en-US" sz="3200" dirty="0">
                <a:solidFill>
                  <a:srgbClr val="FFFFFF"/>
                </a:solidFill>
                <a:latin typeface="Consolas"/>
                <a:ea typeface="Consolas"/>
                <a:cs typeface="Consolas"/>
              </a:rPr>
              <a:t>    count++;</a:t>
            </a:r>
            <a:endParaRPr lang="en-US" sz="3200" dirty="0"/>
          </a:p>
          <a:p>
            <a:pPr marL="0" indent="0" algn="l">
              <a:lnSpc>
                <a:spcPts val="4000"/>
              </a:lnSpc>
              <a:buNone/>
            </a:pPr>
            <a:r>
              <a:rPr lang="en-US" sz="3200" dirty="0">
                <a:solidFill>
                  <a:srgbClr val="64748B"/>
                </a:solidFill>
                <a:latin typeface="Consolas"/>
                <a:ea typeface="Consolas"/>
                <a:cs typeface="Consolas"/>
              </a:rPr>
              <a:t>}</a:t>
            </a:r>
            <a:endParaRPr lang="en-US" sz="3200" dirty="0"/>
          </a:p>
        </p:txBody>
      </p:sp>
      <p:sp>
        <p:nvSpPr>
          <p:cNvPr id="14" name="Shape 14"/>
          <p:cNvSpPr/>
          <p:nvPr/>
        </p:nvSpPr>
        <p:spPr>
          <a:xfrm>
            <a:off x="7589520" y="1261872"/>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7589520" y="1261872"/>
            <a:ext cx="109728" cy="105156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start is above the loop.</a:t>
            </a:r>
            <a:endParaRPr lang="en-US" sz="2400" dirty="0"/>
          </a:p>
        </p:txBody>
      </p:sp>
      <p:sp>
        <p:nvSpPr>
          <p:cNvPr id="17" name="Shape 17"/>
          <p:cNvSpPr/>
          <p:nvPr/>
        </p:nvSpPr>
        <p:spPr>
          <a:xfrm>
            <a:off x="7589520" y="2514600"/>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8" name="Shape 18"/>
          <p:cNvSpPr/>
          <p:nvPr/>
        </p:nvSpPr>
        <p:spPr>
          <a:xfrm>
            <a:off x="7589520" y="2514600"/>
            <a:ext cx="109728" cy="1051560"/>
          </a:xfrm>
          <a:prstGeom prst="rect">
            <a:avLst/>
          </a:prstGeom>
          <a:solidFill>
            <a:srgbClr val="F59E0B"/>
          </a:solidFill>
          <a:ln>
            <a:noFill/>
          </a:ln>
        </p:spPr>
        <p:txBody>
          <a:bodyPr wrap="square" lIns="0" tIns="0" rIns="0" bIns="0" rtlCol="0" anchor="t"/>
          <a:lstStyle/>
          <a:p>
            <a:endParaRPr lang="en-US"/>
          </a:p>
        </p:txBody>
      </p:sp>
      <p:sp>
        <p:nvSpPr>
          <p:cNvPr id="19" name="Callout"/>
          <p:cNvSpPr/>
          <p:nvPr/>
        </p:nvSpPr>
        <p:spPr>
          <a:xfrm>
            <a:off x="7699248" y="25146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check is in the brackets.</a:t>
            </a:r>
            <a:endParaRPr lang="en-US" sz="2400" dirty="0"/>
          </a:p>
        </p:txBody>
      </p:sp>
      <p:sp>
        <p:nvSpPr>
          <p:cNvPr id="20" name="Shape 20"/>
          <p:cNvSpPr/>
          <p:nvPr/>
        </p:nvSpPr>
        <p:spPr>
          <a:xfrm>
            <a:off x="7589520" y="3767328"/>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21" name="Shape 21"/>
          <p:cNvSpPr/>
          <p:nvPr/>
        </p:nvSpPr>
        <p:spPr>
          <a:xfrm>
            <a:off x="7589520" y="3767328"/>
            <a:ext cx="109728" cy="1051560"/>
          </a:xfrm>
          <a:prstGeom prst="rect">
            <a:avLst/>
          </a:prstGeom>
          <a:solidFill>
            <a:srgbClr val="FF6B6B"/>
          </a:solidFill>
          <a:ln>
            <a:noFill/>
          </a:ln>
        </p:spPr>
        <p:txBody>
          <a:bodyPr wrap="square" lIns="0" tIns="0" rIns="0" bIns="0" rtlCol="0" anchor="t"/>
          <a:lstStyle/>
          <a:p>
            <a:endParaRPr lang="en-US"/>
          </a:p>
        </p:txBody>
      </p:sp>
      <p:sp>
        <p:nvSpPr>
          <p:cNvPr id="22" name="Callout"/>
          <p:cNvSpPr/>
          <p:nvPr/>
        </p:nvSpPr>
        <p:spPr>
          <a:xfrm>
            <a:off x="7699248" y="37673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update is at the bottom. Easy to forget.</a:t>
            </a:r>
            <a:endParaRPr 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shape of a </a:t>
            </a:r>
            <a:r>
              <a:rPr lang="en-US" sz="3400" b="1" dirty="0">
                <a:solidFill>
                  <a:srgbClr val="2F80ED"/>
                </a:solidFill>
                <a:latin typeface="Consolas"/>
                <a:ea typeface="Consolas"/>
                <a:cs typeface="Consolas"/>
              </a:rPr>
              <a:t>for</a:t>
            </a:r>
            <a:r>
              <a:rPr lang="en-US" sz="3400" b="1" dirty="0">
                <a:solidFill>
                  <a:srgbClr val="18324A"/>
                </a:solidFill>
              </a:rPr>
              <a:t>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64</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Three parts, separated by </a:t>
            </a:r>
            <a:r>
              <a:rPr lang="en-US" sz="2400" b="1" dirty="0">
                <a:solidFill>
                  <a:srgbClr val="18324A"/>
                </a:solidFill>
              </a:rPr>
              <a:t>semicolons</a:t>
            </a:r>
            <a:r>
              <a:rPr lang="en-US" sz="2400" dirty="0">
                <a:solidFill>
                  <a:srgbClr val="18324A"/>
                </a:solidFill>
              </a:rPr>
              <a:t>, not commas. No semicolon after the </a:t>
            </a:r>
            <a:r>
              <a:rPr lang="en-US" sz="2400" dirty="0">
                <a:solidFill>
                  <a:srgbClr val="18324A"/>
                </a:solidFill>
                <a:latin typeface="Consolas"/>
                <a:ea typeface="Consolas"/>
                <a:cs typeface="Consolas"/>
              </a:rPr>
              <a:t>)</a:t>
            </a:r>
            <a:r>
              <a:rPr lang="en-US" sz="2400" dirty="0">
                <a:solidFill>
                  <a:srgbClr val="18324A"/>
                </a:solidFill>
              </a:rPr>
              <a:t>.</a:t>
            </a:r>
            <a:endParaRPr lang="en-US" sz="2400" dirty="0"/>
          </a:p>
        </p:txBody>
      </p:sp>
      <p:sp>
        <p:nvSpPr>
          <p:cNvPr id="9" name="Shape 9"/>
          <p:cNvSpPr/>
          <p:nvPr/>
        </p:nvSpPr>
        <p:spPr>
          <a:xfrm>
            <a:off x="548640" y="1261872"/>
            <a:ext cx="11094415" cy="188976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11094415" cy="1889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for (start; check; update) {</a:t>
            </a:r>
            <a:endParaRPr lang="en-US" sz="3200" dirty="0"/>
          </a:p>
          <a:p>
            <a:pPr marL="0" indent="0" algn="l">
              <a:lnSpc>
                <a:spcPts val="4000"/>
              </a:lnSpc>
              <a:buNone/>
            </a:pPr>
            <a:r>
              <a:rPr lang="en-US" sz="3200" dirty="0">
                <a:solidFill>
                  <a:srgbClr val="E5E7EB"/>
                </a:solidFill>
                <a:latin typeface="Consolas"/>
                <a:ea typeface="Consolas"/>
                <a:cs typeface="Consolas"/>
              </a:rPr>
              <a:t>    body</a:t>
            </a:r>
            <a:endParaRPr lang="en-US" sz="3200" dirty="0"/>
          </a:p>
          <a:p>
            <a:pPr marL="0" indent="0" algn="l">
              <a:lnSpc>
                <a:spcPts val="4000"/>
              </a:lnSpc>
              <a:buNone/>
            </a:pPr>
            <a:r>
              <a:rPr lang="en-US" sz="3200" dirty="0">
                <a:solidFill>
                  <a:srgbClr val="E5E7EB"/>
                </a:solidFill>
                <a:latin typeface="Consolas"/>
                <a:ea typeface="Consolas"/>
                <a:cs typeface="Consolas"/>
              </a:rPr>
              <a:t>}</a:t>
            </a:r>
            <a:endParaRPr lang="en-US" sz="3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When each part runs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65</a:t>
            </a:r>
            <a:endParaRPr lang="en-US" sz="1400" dirty="0"/>
          </a:p>
        </p:txBody>
      </p:sp>
      <p:sp>
        <p:nvSpPr>
          <p:cNvPr id="6" name="Shape 6"/>
          <p:cNvSpPr/>
          <p:nvPr/>
        </p:nvSpPr>
        <p:spPr>
          <a:xfrm>
            <a:off x="548640" y="1536192"/>
            <a:ext cx="3545738"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latin typeface="Consolas"/>
                <a:ea typeface="Consolas"/>
                <a:cs typeface="Consolas"/>
              </a:rPr>
              <a:t>int i = 1</a:t>
            </a:r>
            <a:endParaRPr lang="en-US" sz="2600" dirty="0"/>
          </a:p>
        </p:txBody>
      </p:sp>
      <p:sp>
        <p:nvSpPr>
          <p:cNvPr id="7" name="Shape 7"/>
          <p:cNvSpPr/>
          <p:nvPr/>
        </p:nvSpPr>
        <p:spPr>
          <a:xfrm>
            <a:off x="548640" y="2267712"/>
            <a:ext cx="3545738"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b="1" dirty="0">
                <a:solidFill>
                  <a:srgbClr val="18324A"/>
                </a:solidFill>
              </a:rPr>
              <a:t>Start</a:t>
            </a:r>
            <a:endParaRPr lang="en-US" sz="2400" dirty="0"/>
          </a:p>
          <a:p>
            <a:pPr marL="0" indent="0" algn="ctr">
              <a:spcAft>
                <a:spcPts val="600"/>
              </a:spcAft>
              <a:buNone/>
            </a:pPr>
            <a:r>
              <a:rPr lang="en-US" sz="2400" dirty="0">
                <a:solidFill>
                  <a:srgbClr val="18324A"/>
                </a:solidFill>
              </a:rPr>
              <a:t>runs </a:t>
            </a:r>
            <a:r>
              <a:rPr lang="en-US" sz="2400" b="1" dirty="0">
                <a:solidFill>
                  <a:srgbClr val="18324A"/>
                </a:solidFill>
              </a:rPr>
              <a:t>once</a:t>
            </a:r>
            <a:r>
              <a:rPr lang="en-US" sz="2400" dirty="0">
                <a:solidFill>
                  <a:srgbClr val="18324A"/>
                </a:solidFill>
              </a:rPr>
              <a:t>, at the beginning</a:t>
            </a:r>
            <a:endParaRPr lang="en-US" sz="2400" dirty="0"/>
          </a:p>
        </p:txBody>
      </p:sp>
      <p:sp>
        <p:nvSpPr>
          <p:cNvPr id="8" name="Shape 8"/>
          <p:cNvSpPr/>
          <p:nvPr/>
        </p:nvSpPr>
        <p:spPr>
          <a:xfrm>
            <a:off x="4322978" y="1536192"/>
            <a:ext cx="3545738"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latin typeface="Consolas"/>
                <a:ea typeface="Consolas"/>
                <a:cs typeface="Consolas"/>
              </a:rPr>
              <a:t>i &lt;= 5</a:t>
            </a:r>
            <a:endParaRPr lang="en-US" sz="2600" dirty="0"/>
          </a:p>
        </p:txBody>
      </p:sp>
      <p:sp>
        <p:nvSpPr>
          <p:cNvPr id="9" name="Shape 9"/>
          <p:cNvSpPr/>
          <p:nvPr/>
        </p:nvSpPr>
        <p:spPr>
          <a:xfrm>
            <a:off x="4322978" y="2267712"/>
            <a:ext cx="3545738"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b="1" dirty="0">
                <a:solidFill>
                  <a:srgbClr val="18324A"/>
                </a:solidFill>
              </a:rPr>
              <a:t>Check</a:t>
            </a:r>
            <a:endParaRPr lang="en-US" sz="2400" dirty="0"/>
          </a:p>
          <a:p>
            <a:pPr marL="0" indent="0" algn="ctr">
              <a:spcAft>
                <a:spcPts val="600"/>
              </a:spcAft>
              <a:buNone/>
            </a:pPr>
            <a:r>
              <a:rPr lang="en-US" sz="2400" dirty="0">
                <a:solidFill>
                  <a:srgbClr val="18324A"/>
                </a:solidFill>
              </a:rPr>
              <a:t>tested </a:t>
            </a:r>
            <a:r>
              <a:rPr lang="en-US" sz="2400" b="1" dirty="0">
                <a:solidFill>
                  <a:srgbClr val="18324A"/>
                </a:solidFill>
              </a:rPr>
              <a:t>before</a:t>
            </a:r>
            <a:r>
              <a:rPr lang="en-US" sz="2400" dirty="0">
                <a:solidFill>
                  <a:srgbClr val="18324A"/>
                </a:solidFill>
              </a:rPr>
              <a:t> each round</a:t>
            </a:r>
            <a:endParaRPr lang="en-US" sz="2400" dirty="0"/>
          </a:p>
        </p:txBody>
      </p:sp>
      <p:sp>
        <p:nvSpPr>
          <p:cNvPr id="10" name="Shape 10"/>
          <p:cNvSpPr/>
          <p:nvPr/>
        </p:nvSpPr>
        <p:spPr>
          <a:xfrm>
            <a:off x="8097317" y="1536192"/>
            <a:ext cx="3545738" cy="731520"/>
          </a:xfrm>
          <a:prstGeom prst="rect">
            <a:avLst/>
          </a:prstGeom>
          <a:solidFill>
            <a:srgbClr val="F59E0B"/>
          </a:solidFill>
          <a:ln>
            <a:noFill/>
          </a:ln>
        </p:spPr>
        <p:txBody>
          <a:bodyPr wrap="square" lIns="0" tIns="0" rIns="0" bIns="0" rtlCol="0" anchor="ctr"/>
          <a:lstStyle/>
          <a:p>
            <a:pPr marL="0" indent="0" algn="ctr">
              <a:buNone/>
            </a:pPr>
            <a:r>
              <a:rPr lang="en-US" sz="2600" b="1" dirty="0">
                <a:solidFill>
                  <a:srgbClr val="FFFFFF"/>
                </a:solidFill>
                <a:latin typeface="Consolas"/>
                <a:ea typeface="Consolas"/>
                <a:cs typeface="Consolas"/>
              </a:rPr>
              <a:t>i++</a:t>
            </a:r>
            <a:endParaRPr lang="en-US" sz="2600" dirty="0"/>
          </a:p>
        </p:txBody>
      </p:sp>
      <p:sp>
        <p:nvSpPr>
          <p:cNvPr id="11" name="Shape 11"/>
          <p:cNvSpPr/>
          <p:nvPr/>
        </p:nvSpPr>
        <p:spPr>
          <a:xfrm>
            <a:off x="8097317" y="2267712"/>
            <a:ext cx="3545738" cy="2377440"/>
          </a:xfrm>
          <a:prstGeom prst="rect">
            <a:avLst/>
          </a:prstGeom>
          <a:solidFill>
            <a:srgbClr val="FFFFFF"/>
          </a:solidFill>
          <a:ln w="19050">
            <a:solidFill>
              <a:srgbClr val="F59E0B"/>
            </a:solidFill>
          </a:ln>
        </p:spPr>
        <p:txBody>
          <a:bodyPr wrap="square" lIns="73152" tIns="91440" rIns="73152" bIns="91440" rtlCol="0" anchor="ctr"/>
          <a:lstStyle/>
          <a:p>
            <a:pPr marL="0" indent="0" algn="ctr">
              <a:spcAft>
                <a:spcPts val="600"/>
              </a:spcAft>
              <a:buNone/>
            </a:pPr>
            <a:r>
              <a:rPr lang="en-US" sz="2400" b="1" dirty="0">
                <a:solidFill>
                  <a:srgbClr val="18324A"/>
                </a:solidFill>
              </a:rPr>
              <a:t>Update</a:t>
            </a:r>
            <a:endParaRPr lang="en-US" sz="2400" dirty="0"/>
          </a:p>
          <a:p>
            <a:pPr marL="0" indent="0" algn="ctr">
              <a:spcAft>
                <a:spcPts val="600"/>
              </a:spcAft>
              <a:buNone/>
            </a:pPr>
            <a:r>
              <a:rPr lang="en-US" sz="2400" dirty="0">
                <a:solidFill>
                  <a:srgbClr val="18324A"/>
                </a:solidFill>
              </a:rPr>
              <a:t>runs </a:t>
            </a:r>
            <a:r>
              <a:rPr lang="en-US" sz="2400" b="1" dirty="0">
                <a:solidFill>
                  <a:srgbClr val="18324A"/>
                </a:solidFill>
              </a:rPr>
              <a:t>after</a:t>
            </a:r>
            <a:r>
              <a:rPr lang="en-US" sz="2400" dirty="0">
                <a:solidFill>
                  <a:srgbClr val="18324A"/>
                </a:solidFill>
              </a:rPr>
              <a:t> each round</a:t>
            </a:r>
            <a:endParaRPr lang="en-US" sz="2400" dirty="0"/>
          </a:p>
        </p:txBody>
      </p:sp>
      <p:sp>
        <p:nvSpPr>
          <p:cNvPr id="12" name="Shape 12"/>
          <p:cNvSpPr/>
          <p:nvPr/>
        </p:nvSpPr>
        <p:spPr>
          <a:xfrm>
            <a:off x="548640" y="5166360"/>
            <a:ext cx="11094415" cy="9144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3" name="Shape 13"/>
          <p:cNvSpPr/>
          <p:nvPr/>
        </p:nvSpPr>
        <p:spPr>
          <a:xfrm>
            <a:off x="548640" y="5166360"/>
            <a:ext cx="109728" cy="914400"/>
          </a:xfrm>
          <a:prstGeom prst="rect">
            <a:avLst/>
          </a:prstGeom>
          <a:solidFill>
            <a:srgbClr val="2F80ED"/>
          </a:solidFill>
          <a:ln>
            <a:noFill/>
          </a:ln>
        </p:spPr>
        <p:txBody>
          <a:bodyPr wrap="square" lIns="0" tIns="0" rIns="0" bIns="0" rtlCol="0" anchor="t"/>
          <a:lstStyle/>
          <a:p>
            <a:endParaRPr lang="en-US"/>
          </a:p>
        </p:txBody>
      </p:sp>
      <p:sp>
        <p:nvSpPr>
          <p:cNvPr id="14"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Read it aloud: start </a:t>
            </a:r>
            <a:r>
              <a:rPr lang="en-US" sz="2400" dirty="0">
                <a:solidFill>
                  <a:srgbClr val="18324A"/>
                </a:solidFill>
                <a:latin typeface="Consolas"/>
                <a:ea typeface="Consolas"/>
                <a:cs typeface="Consolas"/>
              </a:rPr>
              <a:t>i</a:t>
            </a:r>
            <a:r>
              <a:rPr lang="en-US" sz="2400" dirty="0">
                <a:solidFill>
                  <a:srgbClr val="18324A"/>
                </a:solidFill>
              </a:rPr>
              <a:t> at 1; go on while </a:t>
            </a:r>
            <a:r>
              <a:rPr lang="en-US" sz="2400" dirty="0">
                <a:solidFill>
                  <a:srgbClr val="18324A"/>
                </a:solidFill>
                <a:latin typeface="Consolas"/>
                <a:ea typeface="Consolas"/>
                <a:cs typeface="Consolas"/>
              </a:rPr>
              <a:t>i</a:t>
            </a:r>
            <a:r>
              <a:rPr lang="en-US" sz="2400" dirty="0">
                <a:solidFill>
                  <a:srgbClr val="18324A"/>
                </a:solidFill>
              </a:rPr>
              <a:t> is at most 5; after each round, add 1 to </a:t>
            </a:r>
            <a:r>
              <a:rPr lang="en-US" sz="2400" dirty="0">
                <a:solidFill>
                  <a:srgbClr val="18324A"/>
                </a:solidFill>
                <a:latin typeface="Consolas"/>
                <a:ea typeface="Consolas"/>
                <a:cs typeface="Consolas"/>
              </a:rPr>
              <a:t>i</a:t>
            </a:r>
            <a:r>
              <a:rPr lang="en-US" sz="2400" dirty="0">
                <a:solidFill>
                  <a:srgbClr val="18324A"/>
                </a:solidFill>
              </a:rPr>
              <a:t>.</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Type along: </a:t>
            </a:r>
            <a:r>
              <a:rPr lang="en-US" sz="3400" b="1" dirty="0">
                <a:solidFill>
                  <a:srgbClr val="2F80ED"/>
                </a:solidFill>
                <a:latin typeface="Consolas"/>
                <a:ea typeface="Consolas"/>
                <a:cs typeface="Consolas"/>
              </a:rPr>
              <a:t>for.c</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66</a:t>
            </a:r>
            <a:endParaRPr lang="en-US" sz="1400" dirty="0"/>
          </a:p>
        </p:txBody>
      </p:sp>
      <p:sp>
        <p:nvSpPr>
          <p:cNvPr id="6" name="Shape 6"/>
          <p:cNvSpPr/>
          <p:nvPr/>
        </p:nvSpPr>
        <p:spPr>
          <a:xfrm>
            <a:off x="548640" y="1261872"/>
            <a:ext cx="6766560" cy="4493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72427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724277"/>
            <a:ext cx="82296" cy="4127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137027"/>
            <a:ext cx="6766560"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137027"/>
            <a:ext cx="82296" cy="4127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549777"/>
            <a:ext cx="6766560" cy="4127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549777"/>
            <a:ext cx="82296" cy="4127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4932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#include &lt;stdio.h&gt;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int main(void) {</a:t>
            </a:r>
            <a:endParaRPr lang="en-US" sz="2600" dirty="0"/>
          </a:p>
          <a:p>
            <a:pPr marL="0" indent="0" algn="l">
              <a:lnSpc>
                <a:spcPts val="3250"/>
              </a:lnSpc>
              <a:buNone/>
            </a:pPr>
            <a:r>
              <a:rPr lang="en-US" sz="2600" dirty="0">
                <a:solidFill>
                  <a:srgbClr val="FFFFFF"/>
                </a:solidFill>
                <a:latin typeface="Consolas"/>
                <a:ea typeface="Consolas"/>
                <a:cs typeface="Consolas"/>
              </a:rPr>
              <a:t>    for (int i = 1; i &lt;= 5; i++) {</a:t>
            </a:r>
            <a:endParaRPr lang="en-US" sz="2600" dirty="0"/>
          </a:p>
          <a:p>
            <a:pPr marL="0" indent="0" algn="l">
              <a:lnSpc>
                <a:spcPts val="3250"/>
              </a:lnSpc>
              <a:buNone/>
            </a:pPr>
            <a:r>
              <a:rPr lang="en-US" sz="2600" dirty="0">
                <a:solidFill>
                  <a:srgbClr val="FFFFFF"/>
                </a:solidFill>
                <a:latin typeface="Consolas"/>
                <a:ea typeface="Consolas"/>
                <a:cs typeface="Consolas"/>
              </a:rPr>
              <a:t>        printf("%d ", i);</a:t>
            </a:r>
            <a:endParaRPr lang="en-US" sz="2600" dirty="0"/>
          </a:p>
          <a:p>
            <a:pPr marL="0" indent="0" algn="l">
              <a:lnSpc>
                <a:spcPts val="3250"/>
              </a:lnSpc>
              <a:buNone/>
            </a:pPr>
            <a:r>
              <a:rPr lang="en-US" sz="2600" dirty="0">
                <a:solidFill>
                  <a:srgbClr val="FFFFFF"/>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    printf("\n");</a:t>
            </a:r>
            <a:endParaRPr lang="en-US" sz="2600" dirty="0"/>
          </a:p>
          <a:p>
            <a:pPr marL="0" indent="0" algn="l">
              <a:lnSpc>
                <a:spcPts val="3250"/>
              </a:lnSpc>
              <a:buNone/>
            </a:pPr>
            <a:r>
              <a:rPr lang="en-US" sz="2600" dirty="0">
                <a:solidFill>
                  <a:srgbClr val="64748B"/>
                </a:solidFill>
                <a:latin typeface="Consolas"/>
                <a:ea typeface="Consolas"/>
                <a:cs typeface="Consolas"/>
              </a:rPr>
              <a:t>    return 0;</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1 2 3 4 5</a:t>
            </a:r>
            <a:endParaRPr 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order inside a </a:t>
            </a:r>
            <a:r>
              <a:rPr lang="en-US" sz="3400" b="1" dirty="0">
                <a:solidFill>
                  <a:srgbClr val="2F80ED"/>
                </a:solidFill>
                <a:latin typeface="Consolas"/>
                <a:ea typeface="Consolas"/>
                <a:cs typeface="Consolas"/>
              </a:rPr>
              <a:t>for</a:t>
            </a:r>
            <a:r>
              <a:rPr lang="en-US" sz="3400" b="1" dirty="0">
                <a:solidFill>
                  <a:srgbClr val="18324A"/>
                </a:solidFill>
              </a:rPr>
              <a:t>: round 1</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67</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Start: </a:t>
            </a:r>
            <a:r>
              <a:rPr lang="en-US" sz="2400" dirty="0">
                <a:solidFill>
                  <a:srgbClr val="18324A"/>
                </a:solidFill>
                <a:latin typeface="Consolas"/>
                <a:ea typeface="Consolas"/>
                <a:cs typeface="Consolas"/>
              </a:rPr>
              <a:t>i</a:t>
            </a:r>
            <a:r>
              <a:rPr lang="en-US" sz="2400" dirty="0">
                <a:solidFill>
                  <a:srgbClr val="18324A"/>
                </a:solidFill>
              </a:rPr>
              <a:t> is 1. Check: true. Body: print 1. Update: </a:t>
            </a:r>
            <a:r>
              <a:rPr lang="en-US" sz="2400" dirty="0">
                <a:solidFill>
                  <a:srgbClr val="18324A"/>
                </a:solidFill>
                <a:latin typeface="Consolas"/>
                <a:ea typeface="Consolas"/>
                <a:cs typeface="Consolas"/>
              </a:rPr>
              <a:t>i</a:t>
            </a:r>
            <a:r>
              <a:rPr lang="en-US" sz="2400" dirty="0">
                <a:solidFill>
                  <a:srgbClr val="18324A"/>
                </a:solidFill>
              </a:rPr>
              <a:t> becomes 2.</a:t>
            </a:r>
            <a:endParaRPr lang="en-US" sz="2400" dirty="0"/>
          </a:p>
        </p:txBody>
      </p:sp>
      <p:sp>
        <p:nvSpPr>
          <p:cNvPr id="9" name="Shape 9"/>
          <p:cNvSpPr/>
          <p:nvPr/>
        </p:nvSpPr>
        <p:spPr>
          <a:xfrm>
            <a:off x="548640" y="1261872"/>
            <a:ext cx="6035040" cy="160401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6035040"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for (int i = 1; i &lt;= 5; i++) {</a:t>
            </a:r>
            <a:endParaRPr lang="en-US" sz="2600" dirty="0"/>
          </a:p>
          <a:p>
            <a:pPr marL="0" indent="0" algn="l">
              <a:lnSpc>
                <a:spcPts val="3250"/>
              </a:lnSpc>
              <a:buNone/>
            </a:pPr>
            <a:r>
              <a:rPr lang="en-US" sz="2600" dirty="0">
                <a:solidFill>
                  <a:srgbClr val="E5E7EB"/>
                </a:solidFill>
                <a:latin typeface="Consolas"/>
                <a:ea typeface="Consolas"/>
                <a:cs typeface="Consolas"/>
              </a:rPr>
              <a:t>    printf("%d ",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
        <p:nvSpPr>
          <p:cNvPr id="11" name="Shape 11"/>
          <p:cNvSpPr/>
          <p:nvPr/>
        </p:nvSpPr>
        <p:spPr>
          <a:xfrm>
            <a:off x="6858000"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2" name="Shape 12"/>
          <p:cNvSpPr/>
          <p:nvPr/>
        </p:nvSpPr>
        <p:spPr>
          <a:xfrm>
            <a:off x="8054264"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 &lt;= 5</a:t>
            </a:r>
            <a:endParaRPr lang="en-US" sz="1800" dirty="0"/>
          </a:p>
        </p:txBody>
      </p:sp>
      <p:sp>
        <p:nvSpPr>
          <p:cNvPr id="13" name="Shape 13"/>
          <p:cNvSpPr/>
          <p:nvPr/>
        </p:nvSpPr>
        <p:spPr>
          <a:xfrm>
            <a:off x="9250528"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4" name="Shape 14"/>
          <p:cNvSpPr/>
          <p:nvPr/>
        </p:nvSpPr>
        <p:spPr>
          <a:xfrm>
            <a:off x="10446791"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i</a:t>
            </a:r>
            <a:endParaRPr lang="en-US" sz="1800" dirty="0"/>
          </a:p>
        </p:txBody>
      </p:sp>
      <p:sp>
        <p:nvSpPr>
          <p:cNvPr id="15" name="Shape 15"/>
          <p:cNvSpPr/>
          <p:nvPr/>
        </p:nvSpPr>
        <p:spPr>
          <a:xfrm>
            <a:off x="6858000" y="1845782"/>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16" name="Shape 16"/>
          <p:cNvSpPr/>
          <p:nvPr/>
        </p:nvSpPr>
        <p:spPr>
          <a:xfrm>
            <a:off x="8054264" y="1845782"/>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17" name="Shape 17"/>
          <p:cNvSpPr/>
          <p:nvPr/>
        </p:nvSpPr>
        <p:spPr>
          <a:xfrm>
            <a:off x="9250528" y="1845782"/>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18" name="Shape 18"/>
          <p:cNvSpPr/>
          <p:nvPr/>
        </p:nvSpPr>
        <p:spPr>
          <a:xfrm>
            <a:off x="10446791" y="1845782"/>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19" name="Shape 19"/>
          <p:cNvSpPr/>
          <p:nvPr/>
        </p:nvSpPr>
        <p:spPr>
          <a:xfrm>
            <a:off x="6858000" y="242969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0" name="Shape 20"/>
          <p:cNvSpPr/>
          <p:nvPr/>
        </p:nvSpPr>
        <p:spPr>
          <a:xfrm>
            <a:off x="8054264" y="242969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1" name="Shape 21"/>
          <p:cNvSpPr/>
          <p:nvPr/>
        </p:nvSpPr>
        <p:spPr>
          <a:xfrm>
            <a:off x="9250528" y="242969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10446791" y="242969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6858000" y="301360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8054264" y="301360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9250528" y="301360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10446791" y="301360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6858000" y="359751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8054264" y="359751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9250528" y="359751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10446791" y="359751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6858000" y="418142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8054264" y="418142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9250528" y="418142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10446791" y="418142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6858000" y="4765330"/>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8054264" y="4765330"/>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7" name="Shape 37"/>
          <p:cNvSpPr/>
          <p:nvPr/>
        </p:nvSpPr>
        <p:spPr>
          <a:xfrm>
            <a:off x="9250528" y="4765330"/>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8" name="Shape 38"/>
          <p:cNvSpPr/>
          <p:nvPr/>
        </p:nvSpPr>
        <p:spPr>
          <a:xfrm>
            <a:off x="10446791" y="4765330"/>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order inside a </a:t>
            </a:r>
            <a:r>
              <a:rPr lang="en-US" sz="3400" b="1" dirty="0">
                <a:solidFill>
                  <a:srgbClr val="2F80ED"/>
                </a:solidFill>
                <a:latin typeface="Consolas"/>
                <a:ea typeface="Consolas"/>
                <a:cs typeface="Consolas"/>
              </a:rPr>
              <a:t>for</a:t>
            </a:r>
            <a:r>
              <a:rPr lang="en-US" sz="3400" b="1" dirty="0">
                <a:solidFill>
                  <a:srgbClr val="18324A"/>
                </a:solidFill>
              </a:rPr>
              <a:t>: round 2</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68</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Check again: </a:t>
            </a:r>
            <a:r>
              <a:rPr lang="en-US" sz="2400" dirty="0">
                <a:solidFill>
                  <a:srgbClr val="18324A"/>
                </a:solidFill>
                <a:latin typeface="Consolas"/>
                <a:ea typeface="Consolas"/>
                <a:cs typeface="Consolas"/>
              </a:rPr>
              <a:t>i</a:t>
            </a:r>
            <a:r>
              <a:rPr lang="en-US" sz="2400" dirty="0">
                <a:solidFill>
                  <a:srgbClr val="18324A"/>
                </a:solidFill>
              </a:rPr>
              <a:t> is 2. True. Print 2. </a:t>
            </a:r>
            <a:r>
              <a:rPr lang="en-US" sz="2400" dirty="0">
                <a:solidFill>
                  <a:srgbClr val="18324A"/>
                </a:solidFill>
                <a:latin typeface="Consolas"/>
                <a:ea typeface="Consolas"/>
                <a:cs typeface="Consolas"/>
              </a:rPr>
              <a:t>i</a:t>
            </a:r>
            <a:r>
              <a:rPr lang="en-US" sz="2400" dirty="0">
                <a:solidFill>
                  <a:srgbClr val="18324A"/>
                </a:solidFill>
              </a:rPr>
              <a:t> becomes 3.</a:t>
            </a:r>
            <a:endParaRPr lang="en-US" sz="2400" dirty="0"/>
          </a:p>
        </p:txBody>
      </p:sp>
      <p:sp>
        <p:nvSpPr>
          <p:cNvPr id="9" name="Shape 9"/>
          <p:cNvSpPr/>
          <p:nvPr/>
        </p:nvSpPr>
        <p:spPr>
          <a:xfrm>
            <a:off x="548640" y="1261872"/>
            <a:ext cx="6035040" cy="160401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6035040"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for (int i = 1; i &lt;= 5; i++) {</a:t>
            </a:r>
            <a:endParaRPr lang="en-US" sz="2600" dirty="0"/>
          </a:p>
          <a:p>
            <a:pPr marL="0" indent="0" algn="l">
              <a:lnSpc>
                <a:spcPts val="3250"/>
              </a:lnSpc>
              <a:buNone/>
            </a:pPr>
            <a:r>
              <a:rPr lang="en-US" sz="2600" dirty="0">
                <a:solidFill>
                  <a:srgbClr val="E5E7EB"/>
                </a:solidFill>
                <a:latin typeface="Consolas"/>
                <a:ea typeface="Consolas"/>
                <a:cs typeface="Consolas"/>
              </a:rPr>
              <a:t>    printf("%d ",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
        <p:nvSpPr>
          <p:cNvPr id="11" name="Shape 11"/>
          <p:cNvSpPr/>
          <p:nvPr/>
        </p:nvSpPr>
        <p:spPr>
          <a:xfrm>
            <a:off x="6858000"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2" name="Shape 12"/>
          <p:cNvSpPr/>
          <p:nvPr/>
        </p:nvSpPr>
        <p:spPr>
          <a:xfrm>
            <a:off x="8054264"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 &lt;= 5</a:t>
            </a:r>
            <a:endParaRPr lang="en-US" sz="1800" dirty="0"/>
          </a:p>
        </p:txBody>
      </p:sp>
      <p:sp>
        <p:nvSpPr>
          <p:cNvPr id="13" name="Shape 13"/>
          <p:cNvSpPr/>
          <p:nvPr/>
        </p:nvSpPr>
        <p:spPr>
          <a:xfrm>
            <a:off x="9250528"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4" name="Shape 14"/>
          <p:cNvSpPr/>
          <p:nvPr/>
        </p:nvSpPr>
        <p:spPr>
          <a:xfrm>
            <a:off x="10446791"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i</a:t>
            </a:r>
            <a:endParaRPr lang="en-US" sz="1800" dirty="0"/>
          </a:p>
        </p:txBody>
      </p:sp>
      <p:sp>
        <p:nvSpPr>
          <p:cNvPr id="15" name="Shape 15"/>
          <p:cNvSpPr/>
          <p:nvPr/>
        </p:nvSpPr>
        <p:spPr>
          <a:xfrm>
            <a:off x="6858000" y="1845782"/>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6" name="Shape 16"/>
          <p:cNvSpPr/>
          <p:nvPr/>
        </p:nvSpPr>
        <p:spPr>
          <a:xfrm>
            <a:off x="8054264" y="1845782"/>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17" name="Shape 17"/>
          <p:cNvSpPr/>
          <p:nvPr/>
        </p:nvSpPr>
        <p:spPr>
          <a:xfrm>
            <a:off x="9250528" y="1845782"/>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10446791" y="1845782"/>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19" name="Shape 19"/>
          <p:cNvSpPr/>
          <p:nvPr/>
        </p:nvSpPr>
        <p:spPr>
          <a:xfrm>
            <a:off x="6858000" y="2429691"/>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0" name="Shape 20"/>
          <p:cNvSpPr/>
          <p:nvPr/>
        </p:nvSpPr>
        <p:spPr>
          <a:xfrm>
            <a:off x="8054264" y="2429691"/>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21" name="Shape 21"/>
          <p:cNvSpPr/>
          <p:nvPr/>
        </p:nvSpPr>
        <p:spPr>
          <a:xfrm>
            <a:off x="9250528" y="2429691"/>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2" name="Shape 22"/>
          <p:cNvSpPr/>
          <p:nvPr/>
        </p:nvSpPr>
        <p:spPr>
          <a:xfrm>
            <a:off x="10446791" y="2429691"/>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23" name="Shape 23"/>
          <p:cNvSpPr/>
          <p:nvPr/>
        </p:nvSpPr>
        <p:spPr>
          <a:xfrm>
            <a:off x="6858000" y="301360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8054264" y="301360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9250528" y="301360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10446791" y="301360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6858000" y="359751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8054264" y="359751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9250528" y="359751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10446791" y="359751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6858000" y="418142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8054264" y="418142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9250528" y="418142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10446791" y="4181421"/>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6858000" y="4765330"/>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8054264" y="4765330"/>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7" name="Shape 37"/>
          <p:cNvSpPr/>
          <p:nvPr/>
        </p:nvSpPr>
        <p:spPr>
          <a:xfrm>
            <a:off x="9250528" y="4765330"/>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8" name="Shape 38"/>
          <p:cNvSpPr/>
          <p:nvPr/>
        </p:nvSpPr>
        <p:spPr>
          <a:xfrm>
            <a:off x="10446791" y="4765330"/>
            <a:ext cx="1196264" cy="583910"/>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order inside a </a:t>
            </a:r>
            <a:r>
              <a:rPr lang="en-US" sz="3400" b="1" dirty="0">
                <a:solidFill>
                  <a:srgbClr val="2F80ED"/>
                </a:solidFill>
                <a:latin typeface="Consolas"/>
                <a:ea typeface="Consolas"/>
                <a:cs typeface="Consolas"/>
              </a:rPr>
              <a:t>for</a:t>
            </a:r>
            <a:r>
              <a:rPr lang="en-US" sz="3400" b="1" dirty="0">
                <a:solidFill>
                  <a:srgbClr val="18324A"/>
                </a:solidFill>
              </a:rPr>
              <a:t>: the whole table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69</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 until </a:t>
            </a:r>
            <a:r>
              <a:rPr lang="en-US" sz="2400" dirty="0">
                <a:solidFill>
                  <a:srgbClr val="18324A"/>
                </a:solidFill>
                <a:latin typeface="Consolas"/>
                <a:ea typeface="Consolas"/>
                <a:cs typeface="Consolas"/>
              </a:rPr>
              <a:t>i</a:t>
            </a:r>
            <a:r>
              <a:rPr lang="en-US" sz="2400" dirty="0">
                <a:solidFill>
                  <a:srgbClr val="18324A"/>
                </a:solidFill>
              </a:rPr>
              <a:t> is 6. </a:t>
            </a:r>
            <a:r>
              <a:rPr lang="en-US" sz="2400" dirty="0">
                <a:solidFill>
                  <a:srgbClr val="18324A"/>
                </a:solidFill>
                <a:latin typeface="Consolas"/>
                <a:ea typeface="Consolas"/>
                <a:cs typeface="Consolas"/>
              </a:rPr>
              <a:t>6 &lt;= 5</a:t>
            </a:r>
            <a:r>
              <a:rPr lang="en-US" sz="2400" dirty="0">
                <a:solidFill>
                  <a:srgbClr val="18324A"/>
                </a:solidFill>
              </a:rPr>
              <a:t> is false. The loop ends.</a:t>
            </a:r>
            <a:endParaRPr lang="en-US" sz="2400" dirty="0"/>
          </a:p>
        </p:txBody>
      </p:sp>
      <p:sp>
        <p:nvSpPr>
          <p:cNvPr id="9" name="Shape 9"/>
          <p:cNvSpPr/>
          <p:nvPr/>
        </p:nvSpPr>
        <p:spPr>
          <a:xfrm>
            <a:off x="548640" y="1261872"/>
            <a:ext cx="6035040" cy="160401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6035040"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for (int i = 1; i &lt;= 5; i++) {</a:t>
            </a:r>
            <a:endParaRPr lang="en-US" sz="2600" dirty="0"/>
          </a:p>
          <a:p>
            <a:pPr marL="0" indent="0" algn="l">
              <a:lnSpc>
                <a:spcPts val="3250"/>
              </a:lnSpc>
              <a:buNone/>
            </a:pPr>
            <a:r>
              <a:rPr lang="en-US" sz="2600" dirty="0">
                <a:solidFill>
                  <a:srgbClr val="E5E7EB"/>
                </a:solidFill>
                <a:latin typeface="Consolas"/>
                <a:ea typeface="Consolas"/>
                <a:cs typeface="Consolas"/>
              </a:rPr>
              <a:t>    printf("%d ",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
        <p:nvSpPr>
          <p:cNvPr id="11" name="Shape 11"/>
          <p:cNvSpPr/>
          <p:nvPr/>
        </p:nvSpPr>
        <p:spPr>
          <a:xfrm>
            <a:off x="6858000"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2" name="Shape 12"/>
          <p:cNvSpPr/>
          <p:nvPr/>
        </p:nvSpPr>
        <p:spPr>
          <a:xfrm>
            <a:off x="8054264"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 &lt;= 5</a:t>
            </a:r>
            <a:endParaRPr lang="en-US" sz="1800" dirty="0"/>
          </a:p>
        </p:txBody>
      </p:sp>
      <p:sp>
        <p:nvSpPr>
          <p:cNvPr id="13" name="Shape 13"/>
          <p:cNvSpPr/>
          <p:nvPr/>
        </p:nvSpPr>
        <p:spPr>
          <a:xfrm>
            <a:off x="9250528"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4" name="Shape 14"/>
          <p:cNvSpPr/>
          <p:nvPr/>
        </p:nvSpPr>
        <p:spPr>
          <a:xfrm>
            <a:off x="10446791" y="1261872"/>
            <a:ext cx="1196264"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then </a:t>
            </a:r>
            <a:r>
              <a:rPr lang="en-US" sz="1800" b="1" dirty="0">
                <a:solidFill>
                  <a:srgbClr val="FFFFFF"/>
                </a:solidFill>
                <a:latin typeface="Consolas"/>
                <a:ea typeface="Consolas"/>
                <a:cs typeface="Consolas"/>
              </a:rPr>
              <a:t>i</a:t>
            </a:r>
            <a:endParaRPr lang="en-US" sz="1800" dirty="0"/>
          </a:p>
        </p:txBody>
      </p:sp>
      <p:sp>
        <p:nvSpPr>
          <p:cNvPr id="15" name="Shape 15"/>
          <p:cNvSpPr/>
          <p:nvPr/>
        </p:nvSpPr>
        <p:spPr>
          <a:xfrm>
            <a:off x="6858000" y="1845782"/>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6" name="Shape 16"/>
          <p:cNvSpPr/>
          <p:nvPr/>
        </p:nvSpPr>
        <p:spPr>
          <a:xfrm>
            <a:off x="8054264" y="1845782"/>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17" name="Shape 17"/>
          <p:cNvSpPr/>
          <p:nvPr/>
        </p:nvSpPr>
        <p:spPr>
          <a:xfrm>
            <a:off x="9250528" y="1845782"/>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10446791" y="1845782"/>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19" name="Shape 19"/>
          <p:cNvSpPr/>
          <p:nvPr/>
        </p:nvSpPr>
        <p:spPr>
          <a:xfrm>
            <a:off x="6858000" y="2429691"/>
            <a:ext cx="1196264"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0" name="Shape 20"/>
          <p:cNvSpPr/>
          <p:nvPr/>
        </p:nvSpPr>
        <p:spPr>
          <a:xfrm>
            <a:off x="8054264" y="2429691"/>
            <a:ext cx="1196264"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1" name="Shape 21"/>
          <p:cNvSpPr/>
          <p:nvPr/>
        </p:nvSpPr>
        <p:spPr>
          <a:xfrm>
            <a:off x="9250528" y="2429691"/>
            <a:ext cx="1196264"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10446791" y="2429691"/>
            <a:ext cx="1196264"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3" name="Shape 23"/>
          <p:cNvSpPr/>
          <p:nvPr/>
        </p:nvSpPr>
        <p:spPr>
          <a:xfrm>
            <a:off x="6858000" y="3013601"/>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4" name="Shape 24"/>
          <p:cNvSpPr/>
          <p:nvPr/>
        </p:nvSpPr>
        <p:spPr>
          <a:xfrm>
            <a:off x="8054264" y="3013601"/>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5" name="Shape 25"/>
          <p:cNvSpPr/>
          <p:nvPr/>
        </p:nvSpPr>
        <p:spPr>
          <a:xfrm>
            <a:off x="9250528" y="3013601"/>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6" name="Shape 26"/>
          <p:cNvSpPr/>
          <p:nvPr/>
        </p:nvSpPr>
        <p:spPr>
          <a:xfrm>
            <a:off x="10446791" y="3013601"/>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27" name="Shape 27"/>
          <p:cNvSpPr/>
          <p:nvPr/>
        </p:nvSpPr>
        <p:spPr>
          <a:xfrm>
            <a:off x="6858000" y="3597511"/>
            <a:ext cx="1196264"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28" name="Shape 28"/>
          <p:cNvSpPr/>
          <p:nvPr/>
        </p:nvSpPr>
        <p:spPr>
          <a:xfrm>
            <a:off x="8054264" y="3597511"/>
            <a:ext cx="1196264"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9" name="Shape 29"/>
          <p:cNvSpPr/>
          <p:nvPr/>
        </p:nvSpPr>
        <p:spPr>
          <a:xfrm>
            <a:off x="9250528" y="3597511"/>
            <a:ext cx="1196264"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0" name="Shape 30"/>
          <p:cNvSpPr/>
          <p:nvPr/>
        </p:nvSpPr>
        <p:spPr>
          <a:xfrm>
            <a:off x="10446791" y="3597511"/>
            <a:ext cx="1196264"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5</a:t>
            </a:r>
            <a:endParaRPr lang="en-US" sz="2400" dirty="0"/>
          </a:p>
        </p:txBody>
      </p:sp>
      <p:sp>
        <p:nvSpPr>
          <p:cNvPr id="31" name="Shape 31"/>
          <p:cNvSpPr/>
          <p:nvPr/>
        </p:nvSpPr>
        <p:spPr>
          <a:xfrm>
            <a:off x="6858000" y="4181421"/>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5</a:t>
            </a:r>
            <a:endParaRPr lang="en-US" sz="2400" dirty="0"/>
          </a:p>
        </p:txBody>
      </p:sp>
      <p:sp>
        <p:nvSpPr>
          <p:cNvPr id="32" name="Shape 32"/>
          <p:cNvSpPr/>
          <p:nvPr/>
        </p:nvSpPr>
        <p:spPr>
          <a:xfrm>
            <a:off x="8054264" y="4181421"/>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33" name="Shape 33"/>
          <p:cNvSpPr/>
          <p:nvPr/>
        </p:nvSpPr>
        <p:spPr>
          <a:xfrm>
            <a:off x="9250528" y="4181421"/>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5</a:t>
            </a:r>
            <a:endParaRPr lang="en-US" sz="2400" dirty="0"/>
          </a:p>
        </p:txBody>
      </p:sp>
      <p:sp>
        <p:nvSpPr>
          <p:cNvPr id="34" name="Shape 34"/>
          <p:cNvSpPr/>
          <p:nvPr/>
        </p:nvSpPr>
        <p:spPr>
          <a:xfrm>
            <a:off x="10446791" y="4181421"/>
            <a:ext cx="1196264"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35" name="Shape 35"/>
          <p:cNvSpPr/>
          <p:nvPr/>
        </p:nvSpPr>
        <p:spPr>
          <a:xfrm>
            <a:off x="6858000" y="4765330"/>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6</a:t>
            </a:r>
            <a:endParaRPr lang="en-US" sz="2400" dirty="0"/>
          </a:p>
        </p:txBody>
      </p:sp>
      <p:sp>
        <p:nvSpPr>
          <p:cNvPr id="36" name="Shape 36"/>
          <p:cNvSpPr/>
          <p:nvPr/>
        </p:nvSpPr>
        <p:spPr>
          <a:xfrm>
            <a:off x="8054264" y="4765330"/>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E02424"/>
                </a:solidFill>
              </a:rPr>
              <a:t>false</a:t>
            </a:r>
            <a:endParaRPr lang="en-US" sz="2400" dirty="0"/>
          </a:p>
        </p:txBody>
      </p:sp>
      <p:sp>
        <p:nvSpPr>
          <p:cNvPr id="37" name="Shape 37"/>
          <p:cNvSpPr/>
          <p:nvPr/>
        </p:nvSpPr>
        <p:spPr>
          <a:xfrm>
            <a:off x="9250528" y="4765330"/>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
        <p:nvSpPr>
          <p:cNvPr id="38" name="Shape 38"/>
          <p:cNvSpPr/>
          <p:nvPr/>
        </p:nvSpPr>
        <p:spPr>
          <a:xfrm>
            <a:off x="10446791" y="4765330"/>
            <a:ext cx="1196264" cy="583910"/>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title slide, answered</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70</a:t>
            </a:r>
            <a:endParaRPr lang="en-US" sz="1400" dirty="0"/>
          </a:p>
        </p:txBody>
      </p:sp>
      <p:sp>
        <p:nvSpPr>
          <p:cNvPr id="6" name="Shape 6"/>
          <p:cNvSpPr/>
          <p:nvPr/>
        </p:nvSpPr>
        <p:spPr>
          <a:xfrm>
            <a:off x="548640" y="1399032"/>
            <a:ext cx="109728" cy="7924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It prints 1, 2, 3, 4, 5.</a:t>
            </a:r>
            <a:endParaRPr lang="en-US" sz="4000" dirty="0"/>
          </a:p>
        </p:txBody>
      </p:sp>
      <p:sp>
        <p:nvSpPr>
          <p:cNvPr id="8" name="Shape 8"/>
          <p:cNvSpPr/>
          <p:nvPr/>
        </p:nvSpPr>
        <p:spPr>
          <a:xfrm>
            <a:off x="914400" y="26029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Which part changes </a:t>
            </a:r>
            <a:r>
              <a:rPr lang="en-US" sz="3000" dirty="0">
                <a:solidFill>
                  <a:srgbClr val="2F80ED"/>
                </a:solidFill>
                <a:latin typeface="Consolas"/>
                <a:ea typeface="Consolas"/>
                <a:cs typeface="Consolas"/>
              </a:rPr>
              <a:t>i</a:t>
            </a:r>
            <a:r>
              <a:rPr lang="en-US" sz="3000" dirty="0">
                <a:solidFill>
                  <a:srgbClr val="18324A"/>
                </a:solidFill>
              </a:rPr>
              <a:t> after each round?</a:t>
            </a:r>
            <a:endParaRPr lang="en-US" sz="3000" dirty="0"/>
          </a:p>
          <a:p>
            <a:pPr marL="0" indent="0" algn="l">
              <a:spcAft>
                <a:spcPts val="1600"/>
              </a:spcAft>
              <a:buNone/>
            </a:pPr>
            <a:r>
              <a:rPr lang="en-US" sz="3000" dirty="0">
                <a:solidFill>
                  <a:srgbClr val="18324A"/>
                </a:solidFill>
              </a:rPr>
              <a:t>The third one: </a:t>
            </a:r>
            <a:r>
              <a:rPr lang="en-US" sz="3000" dirty="0">
                <a:solidFill>
                  <a:srgbClr val="2F80ED"/>
                </a:solidFill>
                <a:latin typeface="Consolas"/>
                <a:ea typeface="Consolas"/>
                <a:cs typeface="Consolas"/>
              </a:rPr>
              <a:t>i++</a:t>
            </a:r>
            <a:r>
              <a:rPr lang="en-US" sz="3000" dirty="0">
                <a:solidFill>
                  <a:srgbClr val="18324A"/>
                </a:solidFill>
              </a:rPr>
              <a:t>.</a:t>
            </a:r>
            <a:endParaRPr lang="en-US" sz="3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2F80ED"/>
                </a:solidFill>
                <a:latin typeface="Consolas"/>
                <a:ea typeface="Consolas"/>
                <a:cs typeface="Consolas"/>
              </a:rPr>
              <a:t>i</a:t>
            </a:r>
            <a:r>
              <a:rPr lang="en-US" sz="3400" b="1" dirty="0">
                <a:solidFill>
                  <a:srgbClr val="18324A"/>
                </a:solidFill>
              </a:rPr>
              <a:t> lives only inside the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71</a:t>
            </a:r>
            <a:endParaRPr lang="en-US" sz="1400" dirty="0"/>
          </a:p>
        </p:txBody>
      </p:sp>
      <p:sp>
        <p:nvSpPr>
          <p:cNvPr id="6" name="Shape 6"/>
          <p:cNvSpPr/>
          <p:nvPr/>
        </p:nvSpPr>
        <p:spPr>
          <a:xfrm>
            <a:off x="548640" y="1261872"/>
            <a:ext cx="6766560" cy="2588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267202"/>
            <a:ext cx="6766560" cy="444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267202"/>
            <a:ext cx="82296" cy="4445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25882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for (int i = 1; i &lt;= 5; i++) {</a:t>
            </a:r>
            <a:endParaRPr lang="en-US" sz="2800" dirty="0"/>
          </a:p>
          <a:p>
            <a:pPr marL="0" indent="0" algn="l">
              <a:lnSpc>
                <a:spcPts val="3500"/>
              </a:lnSpc>
              <a:buNone/>
            </a:pPr>
            <a:r>
              <a:rPr lang="en-US" sz="2800" dirty="0">
                <a:solidFill>
                  <a:srgbClr val="64748B"/>
                </a:solidFill>
                <a:latin typeface="Consolas"/>
                <a:ea typeface="Consolas"/>
                <a:cs typeface="Consolas"/>
              </a:rPr>
              <a:t>    printf("%d ", i);</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FFFFFF"/>
                </a:solidFill>
                <a:latin typeface="Consolas"/>
                <a:ea typeface="Consolas"/>
                <a:cs typeface="Consolas"/>
              </a:rPr>
              <a:t>printf("%d\n", i);</a:t>
            </a:r>
            <a:endParaRPr lang="en-US" sz="28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The compiler says</a:t>
            </a:r>
            <a:endParaRPr lang="en-US" sz="1600" dirty="0"/>
          </a:p>
        </p:txBody>
      </p:sp>
      <p:sp>
        <p:nvSpPr>
          <p:cNvPr id="11" name="Shape 11"/>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error: 'i' undeclared</a:t>
            </a:r>
            <a:endParaRPr lang="en-US" sz="2400" dirty="0"/>
          </a:p>
        </p:txBody>
      </p:sp>
      <p:sp>
        <p:nvSpPr>
          <p:cNvPr id="13" name="Shape 13"/>
          <p:cNvSpPr/>
          <p:nvPr/>
        </p:nvSpPr>
        <p:spPr>
          <a:xfrm>
            <a:off x="7589520" y="2667000"/>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4" name="Shape 14"/>
          <p:cNvSpPr/>
          <p:nvPr/>
        </p:nvSpPr>
        <p:spPr>
          <a:xfrm>
            <a:off x="7589520" y="2667000"/>
            <a:ext cx="109728" cy="1051560"/>
          </a:xfrm>
          <a:prstGeom prst="rect">
            <a:avLst/>
          </a:prstGeom>
          <a:solidFill>
            <a:srgbClr val="2F80ED"/>
          </a:solidFill>
          <a:ln>
            <a:noFill/>
          </a:ln>
        </p:spPr>
        <p:txBody>
          <a:bodyPr wrap="square" lIns="0" tIns="0" rIns="0" bIns="0" rtlCol="0" anchor="t"/>
          <a:lstStyle/>
          <a:p>
            <a:endParaRPr lang="en-US"/>
          </a:p>
        </p:txBody>
      </p:sp>
      <p:sp>
        <p:nvSpPr>
          <p:cNvPr id="15" name="Callout"/>
          <p:cNvSpPr/>
          <p:nvPr/>
        </p:nvSpPr>
        <p:spPr>
          <a:xfrm>
            <a:off x="7699248" y="2667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a:t>
            </a:r>
            <a:r>
              <a:rPr lang="en-US" sz="2400" dirty="0">
                <a:solidFill>
                  <a:srgbClr val="18324A"/>
                </a:solidFill>
              </a:rPr>
              <a:t> was made on the </a:t>
            </a:r>
            <a:r>
              <a:rPr lang="en-US" sz="2400" dirty="0">
                <a:solidFill>
                  <a:srgbClr val="18324A"/>
                </a:solidFill>
                <a:latin typeface="Consolas"/>
                <a:ea typeface="Consolas"/>
                <a:cs typeface="Consolas"/>
              </a:rPr>
              <a:t>for</a:t>
            </a:r>
            <a:r>
              <a:rPr lang="en-US" sz="2400" dirty="0">
                <a:solidFill>
                  <a:srgbClr val="18324A"/>
                </a:solidFill>
              </a:rPr>
              <a:t> line.</a:t>
            </a:r>
            <a:endParaRPr lang="en-US" sz="2400" dirty="0"/>
          </a:p>
        </p:txBody>
      </p:sp>
      <p:sp>
        <p:nvSpPr>
          <p:cNvPr id="16" name="Shape 16"/>
          <p:cNvSpPr/>
          <p:nvPr/>
        </p:nvSpPr>
        <p:spPr>
          <a:xfrm>
            <a:off x="7589520" y="3919728"/>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7589520" y="3919728"/>
            <a:ext cx="109728" cy="105156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7699248" y="3919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When the loop ends, the box is gone.</a:t>
            </a:r>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Make it count to 10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72</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Change </a:t>
            </a:r>
            <a:r>
              <a:rPr lang="en-US" sz="3200" dirty="0">
                <a:solidFill>
                  <a:srgbClr val="2F80ED"/>
                </a:solidFill>
                <a:latin typeface="Consolas"/>
                <a:ea typeface="Consolas"/>
                <a:cs typeface="Consolas"/>
              </a:rPr>
              <a:t>for.c</a:t>
            </a:r>
            <a:r>
              <a:rPr lang="en-US" sz="3200" dirty="0">
                <a:solidFill>
                  <a:srgbClr val="18324A"/>
                </a:solidFill>
              </a:rPr>
              <a:t> so that it prints 1 to 10.</a:t>
            </a:r>
            <a:endParaRPr lang="en-US" sz="3200" dirty="0"/>
          </a:p>
          <a:p>
            <a:pPr marL="0" indent="0" algn="l">
              <a:spcAft>
                <a:spcPts val="600"/>
              </a:spcAft>
              <a:buNone/>
            </a:pPr>
            <a:r>
              <a:rPr lang="en-US" sz="3200" dirty="0">
                <a:solidFill>
                  <a:srgbClr val="18324A"/>
                </a:solidFill>
              </a:rPr>
              <a:t>How many characters did you change?</a:t>
            </a:r>
            <a:endParaRPr lang="en-US" sz="3200" dirty="0"/>
          </a:p>
        </p:txBody>
      </p:sp>
      <p:sp>
        <p:nvSpPr>
          <p:cNvPr id="8" name="Shape 8"/>
          <p:cNvSpPr/>
          <p:nvPr/>
        </p:nvSpPr>
        <p:spPr>
          <a:xfrm>
            <a:off x="5760720" y="1261872"/>
            <a:ext cx="5882335" cy="160401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for (int i = 1; i &lt;= 5; i++) {</a:t>
            </a:r>
            <a:endParaRPr lang="en-US" sz="2600" dirty="0"/>
          </a:p>
          <a:p>
            <a:pPr marL="0" indent="0" algn="l">
              <a:lnSpc>
                <a:spcPts val="3250"/>
              </a:lnSpc>
              <a:buNone/>
            </a:pPr>
            <a:r>
              <a:rPr lang="en-US" sz="2600" dirty="0">
                <a:solidFill>
                  <a:srgbClr val="E5E7EB"/>
                </a:solidFill>
                <a:latin typeface="Consolas"/>
                <a:ea typeface="Consolas"/>
                <a:cs typeface="Consolas"/>
              </a:rPr>
              <a:t>    printf("%d ",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body can use the counter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73</a:t>
            </a:r>
            <a:endParaRPr lang="en-US" sz="1400" dirty="0"/>
          </a:p>
        </p:txBody>
      </p:sp>
      <p:sp>
        <p:nvSpPr>
          <p:cNvPr id="6" name="Shape 6"/>
          <p:cNvSpPr/>
          <p:nvPr/>
        </p:nvSpPr>
        <p:spPr>
          <a:xfrm>
            <a:off x="548640" y="1261872"/>
            <a:ext cx="7223760" cy="2905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746502"/>
            <a:ext cx="722376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746502"/>
            <a:ext cx="82296" cy="3175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7223760"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#include &lt;stdio.h&gt;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int main(void) {</a:t>
            </a:r>
            <a:endParaRPr lang="en-US" sz="2000" dirty="0"/>
          </a:p>
          <a:p>
            <a:pPr marL="0" indent="0" algn="l">
              <a:lnSpc>
                <a:spcPts val="2500"/>
              </a:lnSpc>
              <a:buNone/>
            </a:pPr>
            <a:r>
              <a:rPr lang="en-US" sz="2000" dirty="0">
                <a:solidFill>
                  <a:srgbClr val="64748B"/>
                </a:solidFill>
                <a:latin typeface="Consolas"/>
                <a:ea typeface="Consolas"/>
                <a:cs typeface="Consolas"/>
              </a:rPr>
              <a:t>    for (int i = 1; i &lt;= 5; i++) {</a:t>
            </a:r>
            <a:endParaRPr lang="en-US" sz="2000" dirty="0"/>
          </a:p>
          <a:p>
            <a:pPr marL="0" indent="0" algn="l">
              <a:lnSpc>
                <a:spcPts val="2500"/>
              </a:lnSpc>
              <a:buNone/>
            </a:pPr>
            <a:r>
              <a:rPr lang="en-US" sz="2000" dirty="0">
                <a:solidFill>
                  <a:srgbClr val="FFFFFF"/>
                </a:solidFill>
                <a:latin typeface="Consolas"/>
                <a:ea typeface="Consolas"/>
                <a:cs typeface="Consolas"/>
              </a:rPr>
              <a:t>        printf("%d squared is %d\n", i, i * i);</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return 0;</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0" name="Shape 10"/>
          <p:cNvSpPr/>
          <p:nvPr/>
        </p:nvSpPr>
        <p:spPr>
          <a:xfrm>
            <a:off x="8046720" y="1261872"/>
            <a:ext cx="35963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8046720" y="1645920"/>
            <a:ext cx="3596335" cy="2270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8046720" y="1645920"/>
            <a:ext cx="3596335" cy="2270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1 squared is 1</a:t>
            </a:r>
            <a:endParaRPr lang="en-US" sz="2400" dirty="0"/>
          </a:p>
          <a:p>
            <a:pPr marL="0" indent="0" algn="l">
              <a:lnSpc>
                <a:spcPts val="3000"/>
              </a:lnSpc>
              <a:buNone/>
            </a:pPr>
            <a:r>
              <a:rPr lang="en-US" sz="2400" dirty="0">
                <a:solidFill>
                  <a:srgbClr val="D1FAE5"/>
                </a:solidFill>
                <a:latin typeface="Consolas"/>
                <a:ea typeface="Consolas"/>
                <a:cs typeface="Consolas"/>
              </a:rPr>
              <a:t>2 squared is 4</a:t>
            </a:r>
            <a:endParaRPr lang="en-US" sz="2400" dirty="0"/>
          </a:p>
          <a:p>
            <a:pPr marL="0" indent="0" algn="l">
              <a:lnSpc>
                <a:spcPts val="3000"/>
              </a:lnSpc>
              <a:buNone/>
            </a:pPr>
            <a:r>
              <a:rPr lang="en-US" sz="2400" dirty="0">
                <a:solidFill>
                  <a:srgbClr val="D1FAE5"/>
                </a:solidFill>
                <a:latin typeface="Consolas"/>
                <a:ea typeface="Consolas"/>
                <a:cs typeface="Consolas"/>
              </a:rPr>
              <a:t>3 squared is 9</a:t>
            </a:r>
            <a:endParaRPr lang="en-US" sz="2400" dirty="0"/>
          </a:p>
          <a:p>
            <a:pPr marL="0" indent="0" algn="l">
              <a:lnSpc>
                <a:spcPts val="3000"/>
              </a:lnSpc>
              <a:buNone/>
            </a:pPr>
            <a:r>
              <a:rPr lang="en-US" sz="2400" dirty="0">
                <a:solidFill>
                  <a:srgbClr val="D1FAE5"/>
                </a:solidFill>
                <a:latin typeface="Consolas"/>
                <a:ea typeface="Consolas"/>
                <a:cs typeface="Consolas"/>
              </a:rPr>
              <a:t>4 squared is 16</a:t>
            </a:r>
            <a:endParaRPr lang="en-US" sz="2400" dirty="0"/>
          </a:p>
          <a:p>
            <a:pPr marL="0" indent="0" algn="l">
              <a:lnSpc>
                <a:spcPts val="3000"/>
              </a:lnSpc>
              <a:buNone/>
            </a:pPr>
            <a:r>
              <a:rPr lang="en-US" sz="2400" dirty="0">
                <a:solidFill>
                  <a:srgbClr val="D1FAE5"/>
                </a:solidFill>
                <a:latin typeface="Consolas"/>
                <a:ea typeface="Consolas"/>
                <a:cs typeface="Consolas"/>
              </a:rPr>
              <a:t>5 squared is 25</a:t>
            </a:r>
            <a:endParaRPr lang="en-US"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same loop, two ways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74</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Both print </a:t>
            </a:r>
            <a:r>
              <a:rPr lang="en-US" sz="2400" dirty="0">
                <a:solidFill>
                  <a:srgbClr val="18324A"/>
                </a:solidFill>
                <a:latin typeface="Consolas"/>
                <a:ea typeface="Consolas"/>
                <a:cs typeface="Consolas"/>
              </a:rPr>
              <a:t>1 2 3 4 5</a:t>
            </a:r>
            <a:r>
              <a:rPr lang="en-US" sz="2400" dirty="0">
                <a:solidFill>
                  <a:srgbClr val="18324A"/>
                </a:solidFill>
              </a:rPr>
              <a:t>. The same four parts, in different places.</a:t>
            </a:r>
            <a:endParaRPr lang="en-US" sz="2400" dirty="0"/>
          </a:p>
        </p:txBody>
      </p:sp>
      <p:sp>
        <p:nvSpPr>
          <p:cNvPr id="9" name="Shape 9"/>
          <p:cNvSpPr/>
          <p:nvPr/>
        </p:nvSpPr>
        <p:spPr>
          <a:xfrm>
            <a:off x="548640" y="1261872"/>
            <a:ext cx="5364328" cy="384048"/>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while</a:t>
            </a:r>
            <a:endParaRPr lang="en-US" sz="1800" dirty="0"/>
          </a:p>
        </p:txBody>
      </p:sp>
      <p:sp>
        <p:nvSpPr>
          <p:cNvPr id="10" name="Shape 10"/>
          <p:cNvSpPr/>
          <p:nvPr/>
        </p:nvSpPr>
        <p:spPr>
          <a:xfrm>
            <a:off x="548640" y="1645920"/>
            <a:ext cx="5364328" cy="2112010"/>
          </a:xfrm>
          <a:prstGeom prst="rect">
            <a:avLst/>
          </a:prstGeom>
          <a:solidFill>
            <a:srgbClr val="0F172A"/>
          </a:solidFill>
          <a:ln>
            <a:noFill/>
          </a:ln>
        </p:spPr>
        <p:txBody>
          <a:bodyPr wrap="square" lIns="0" tIns="0" rIns="0" bIns="0" rtlCol="0" anchor="t"/>
          <a:lstStyle/>
          <a:p>
            <a:endParaRPr lang="en-US"/>
          </a:p>
        </p:txBody>
      </p:sp>
      <p:sp>
        <p:nvSpPr>
          <p:cNvPr id="11" name="Code"/>
          <p:cNvSpPr/>
          <p:nvPr/>
        </p:nvSpPr>
        <p:spPr>
          <a:xfrm>
            <a:off x="548640" y="1645920"/>
            <a:ext cx="5364328" cy="2112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int i = 1;</a:t>
            </a:r>
            <a:endParaRPr lang="en-US" sz="2200" dirty="0"/>
          </a:p>
          <a:p>
            <a:pPr marL="0" indent="0" algn="l">
              <a:lnSpc>
                <a:spcPts val="2750"/>
              </a:lnSpc>
              <a:buNone/>
            </a:pPr>
            <a:r>
              <a:rPr lang="en-US" sz="2200" dirty="0">
                <a:solidFill>
                  <a:srgbClr val="E5E7EB"/>
                </a:solidFill>
                <a:latin typeface="Consolas"/>
                <a:ea typeface="Consolas"/>
                <a:cs typeface="Consolas"/>
              </a:rPr>
              <a:t>while (i &lt;= 5) {</a:t>
            </a:r>
            <a:endParaRPr lang="en-US" sz="2200" dirty="0"/>
          </a:p>
          <a:p>
            <a:pPr marL="0" indent="0" algn="l">
              <a:lnSpc>
                <a:spcPts val="2750"/>
              </a:lnSpc>
              <a:buNone/>
            </a:pPr>
            <a:r>
              <a:rPr lang="en-US" sz="2200" dirty="0">
                <a:solidFill>
                  <a:srgbClr val="E5E7EB"/>
                </a:solidFill>
                <a:latin typeface="Consolas"/>
                <a:ea typeface="Consolas"/>
                <a:cs typeface="Consolas"/>
              </a:rPr>
              <a:t>    printf("%d ", i);</a:t>
            </a:r>
            <a:endParaRPr lang="en-US" sz="2200" dirty="0"/>
          </a:p>
          <a:p>
            <a:pPr marL="0" indent="0" algn="l">
              <a:lnSpc>
                <a:spcPts val="2750"/>
              </a:lnSpc>
              <a:buNone/>
            </a:pPr>
            <a:r>
              <a:rPr lang="en-US" sz="2200" dirty="0">
                <a:solidFill>
                  <a:srgbClr val="E5E7EB"/>
                </a:solidFill>
                <a:latin typeface="Consolas"/>
                <a:ea typeface="Consolas"/>
                <a:cs typeface="Consolas"/>
              </a:rPr>
              <a:t>    i++;</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
        <p:nvSpPr>
          <p:cNvPr id="12" name="Shape 12"/>
          <p:cNvSpPr/>
          <p:nvPr/>
        </p:nvSpPr>
        <p:spPr>
          <a:xfrm>
            <a:off x="6278728" y="1261872"/>
            <a:ext cx="5364328" cy="384048"/>
          </a:xfrm>
          <a:prstGeom prst="rect">
            <a:avLst/>
          </a:prstGeom>
          <a:solidFill>
            <a:srgbClr val="8B5CF6"/>
          </a:solidFill>
          <a:ln>
            <a:noFill/>
          </a:ln>
        </p:spPr>
        <p:txBody>
          <a:bodyPr wrap="square" lIns="0" tIns="0" rIns="0" bIns="0" rtlCol="0" anchor="ctr"/>
          <a:lstStyle/>
          <a:p>
            <a:pPr marL="0" indent="0" algn="ctr">
              <a:buNone/>
            </a:pPr>
            <a:r>
              <a:rPr lang="en-US" sz="1800" b="1" dirty="0">
                <a:solidFill>
                  <a:srgbClr val="FFFFFF"/>
                </a:solidFill>
              </a:rPr>
              <a:t>for</a:t>
            </a:r>
            <a:endParaRPr lang="en-US" sz="1800" dirty="0"/>
          </a:p>
        </p:txBody>
      </p:sp>
      <p:sp>
        <p:nvSpPr>
          <p:cNvPr id="13" name="Shape 13"/>
          <p:cNvSpPr/>
          <p:nvPr/>
        </p:nvSpPr>
        <p:spPr>
          <a:xfrm>
            <a:off x="6278728" y="1645920"/>
            <a:ext cx="5364328" cy="1413510"/>
          </a:xfrm>
          <a:prstGeom prst="rect">
            <a:avLst/>
          </a:prstGeom>
          <a:solidFill>
            <a:srgbClr val="0F172A"/>
          </a:solidFill>
          <a:ln>
            <a:noFill/>
          </a:ln>
        </p:spPr>
        <p:txBody>
          <a:bodyPr wrap="square" lIns="0" tIns="0" rIns="0" bIns="0" rtlCol="0" anchor="t"/>
          <a:lstStyle/>
          <a:p>
            <a:endParaRPr lang="en-US"/>
          </a:p>
        </p:txBody>
      </p:sp>
      <p:sp>
        <p:nvSpPr>
          <p:cNvPr id="14" name="Code"/>
          <p:cNvSpPr/>
          <p:nvPr/>
        </p:nvSpPr>
        <p:spPr>
          <a:xfrm>
            <a:off x="6278728" y="1645920"/>
            <a:ext cx="5364328" cy="1413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for (int i = 1; i &lt;= 5; i++) {</a:t>
            </a:r>
            <a:endParaRPr lang="en-US" sz="2200" dirty="0"/>
          </a:p>
          <a:p>
            <a:pPr marL="0" indent="0" algn="l">
              <a:lnSpc>
                <a:spcPts val="2750"/>
              </a:lnSpc>
              <a:buNone/>
            </a:pPr>
            <a:r>
              <a:rPr lang="en-US" sz="2200" dirty="0">
                <a:solidFill>
                  <a:srgbClr val="E5E7EB"/>
                </a:solidFill>
                <a:latin typeface="Consolas"/>
                <a:ea typeface="Consolas"/>
                <a:cs typeface="Consolas"/>
              </a:rPr>
              <a:t>    printf("%d ", i);</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Which one do I use?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75</a:t>
            </a:r>
            <a:endParaRPr lang="en-US" sz="1400" dirty="0"/>
          </a:p>
        </p:txBody>
      </p:sp>
      <p:sp>
        <p:nvSpPr>
          <p:cNvPr id="6" name="Shape 6"/>
          <p:cNvSpPr/>
          <p:nvPr/>
        </p:nvSpPr>
        <p:spPr>
          <a:xfrm>
            <a:off x="548640" y="1536192"/>
            <a:ext cx="5432908"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rPr>
              <a:t>for</a:t>
            </a:r>
            <a:endParaRPr lang="en-US" sz="2600" dirty="0"/>
          </a:p>
        </p:txBody>
      </p:sp>
      <p:sp>
        <p:nvSpPr>
          <p:cNvPr id="7" name="Shape 7"/>
          <p:cNvSpPr/>
          <p:nvPr/>
        </p:nvSpPr>
        <p:spPr>
          <a:xfrm>
            <a:off x="548640" y="2267712"/>
            <a:ext cx="5432908"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dirty="0">
                <a:solidFill>
                  <a:srgbClr val="18324A"/>
                </a:solidFill>
              </a:rPr>
              <a:t>You </a:t>
            </a:r>
            <a:r>
              <a:rPr lang="en-US" sz="2400" b="1" dirty="0">
                <a:solidFill>
                  <a:srgbClr val="18324A"/>
                </a:solidFill>
              </a:rPr>
              <a:t>know</a:t>
            </a:r>
            <a:r>
              <a:rPr lang="en-US" sz="2400" dirty="0">
                <a:solidFill>
                  <a:srgbClr val="18324A"/>
                </a:solidFill>
              </a:rPr>
              <a:t> how many rounds.</a:t>
            </a:r>
            <a:endParaRPr lang="en-US" sz="2400" dirty="0"/>
          </a:p>
          <a:p>
            <a:pPr marL="0" indent="0" algn="ctr">
              <a:spcAft>
                <a:spcPts val="600"/>
              </a:spcAft>
              <a:buNone/>
            </a:pPr>
            <a:r>
              <a:rPr lang="en-US" sz="2400" dirty="0">
                <a:solidFill>
                  <a:srgbClr val="18324A"/>
                </a:solidFill>
              </a:rPr>
              <a:t>5 times. </a:t>
            </a:r>
            <a:r>
              <a:rPr lang="en-US" sz="2400" dirty="0">
                <a:solidFill>
                  <a:srgbClr val="2F80ED"/>
                </a:solidFill>
                <a:latin typeface="Consolas"/>
                <a:ea typeface="Consolas"/>
                <a:cs typeface="Consolas"/>
              </a:rPr>
              <a:t>n</a:t>
            </a:r>
            <a:r>
              <a:rPr lang="en-US" sz="2400" dirty="0">
                <a:solidFill>
                  <a:srgbClr val="18324A"/>
                </a:solidFill>
              </a:rPr>
              <a:t> times. From 1 to 100.</a:t>
            </a:r>
            <a:endParaRPr lang="en-US" sz="2400" dirty="0"/>
          </a:p>
        </p:txBody>
      </p:sp>
      <p:sp>
        <p:nvSpPr>
          <p:cNvPr id="8" name="Shape 8"/>
          <p:cNvSpPr/>
          <p:nvPr/>
        </p:nvSpPr>
        <p:spPr>
          <a:xfrm>
            <a:off x="6210148" y="1536192"/>
            <a:ext cx="5432908"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rPr>
              <a:t>while</a:t>
            </a:r>
            <a:endParaRPr lang="en-US" sz="2600" dirty="0"/>
          </a:p>
        </p:txBody>
      </p:sp>
      <p:sp>
        <p:nvSpPr>
          <p:cNvPr id="9" name="Shape 9"/>
          <p:cNvSpPr/>
          <p:nvPr/>
        </p:nvSpPr>
        <p:spPr>
          <a:xfrm>
            <a:off x="6210148" y="2267712"/>
            <a:ext cx="5432908"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dirty="0">
                <a:solidFill>
                  <a:srgbClr val="18324A"/>
                </a:solidFill>
              </a:rPr>
              <a:t>You </a:t>
            </a:r>
            <a:r>
              <a:rPr lang="en-US" sz="2400" b="1" dirty="0">
                <a:solidFill>
                  <a:srgbClr val="18324A"/>
                </a:solidFill>
              </a:rPr>
              <a:t>do not know</a:t>
            </a:r>
            <a:r>
              <a:rPr lang="en-US" sz="2400" dirty="0">
                <a:solidFill>
                  <a:srgbClr val="18324A"/>
                </a:solidFill>
              </a:rPr>
              <a:t> how many.</a:t>
            </a:r>
            <a:endParaRPr lang="en-US" sz="2400" dirty="0"/>
          </a:p>
          <a:p>
            <a:pPr marL="0" indent="0" algn="ctr">
              <a:spcAft>
                <a:spcPts val="600"/>
              </a:spcAft>
              <a:buNone/>
            </a:pPr>
            <a:r>
              <a:rPr lang="en-US" sz="2400" dirty="0">
                <a:solidFill>
                  <a:srgbClr val="18324A"/>
                </a:solidFill>
              </a:rPr>
              <a:t>Keep going until something happens.</a:t>
            </a:r>
            <a:endParaRPr lang="en-US" sz="2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2F80ED"/>
                </a:solidFill>
                <a:latin typeface="Consolas"/>
                <a:ea typeface="Consolas"/>
                <a:cs typeface="Consolas"/>
              </a:rPr>
              <a:t>for</a:t>
            </a:r>
            <a:r>
              <a:rPr lang="en-US" sz="3400" b="1" dirty="0">
                <a:solidFill>
                  <a:srgbClr val="18324A"/>
                </a:solidFill>
              </a:rPr>
              <a:t> or </a:t>
            </a:r>
            <a:r>
              <a:rPr lang="en-US" sz="3400" b="1" dirty="0">
                <a:solidFill>
                  <a:srgbClr val="2F80ED"/>
                </a:solidFill>
                <a:latin typeface="Consolas"/>
                <a:ea typeface="Consolas"/>
                <a:cs typeface="Consolas"/>
              </a:rPr>
              <a:t>while</a:t>
            </a:r>
            <a:r>
              <a:rPr lang="en-US" sz="3400" b="1" dirty="0">
                <a:solidFill>
                  <a:srgbClr val="18324A"/>
                </a:solidFill>
              </a:rPr>
              <a: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76</a:t>
            </a:r>
            <a:endParaRPr lang="en-US" sz="1400" dirty="0"/>
          </a:p>
        </p:txBody>
      </p:sp>
      <p:sp>
        <p:nvSpPr>
          <p:cNvPr id="6" name="Shape 6"/>
          <p:cNvSpPr/>
          <p:nvPr/>
        </p:nvSpPr>
        <p:spPr>
          <a:xfrm>
            <a:off x="548640" y="1261872"/>
            <a:ext cx="2377440" cy="457200"/>
          </a:xfrm>
          <a:prstGeom prst="rect">
            <a:avLst/>
          </a:prstGeom>
          <a:solidFill>
            <a:srgbClr val="8B5CF6"/>
          </a:solidFill>
          <a:ln>
            <a:noFill/>
          </a:ln>
        </p:spPr>
        <p:txBody>
          <a:bodyPr wrap="square" lIns="0" tIns="0" rIns="0" bIns="0" rtlCol="0" anchor="ctr"/>
          <a:lstStyle/>
          <a:p>
            <a:pPr marL="0" indent="0" algn="ctr">
              <a:buNone/>
            </a:pPr>
            <a:r>
              <a:rPr lang="en-US" sz="1800" b="1" dirty="0">
                <a:solidFill>
                  <a:srgbClr val="FFFFFF"/>
                </a:solidFill>
              </a:rPr>
              <a:t>QUESTION</a:t>
            </a:r>
            <a:endParaRPr lang="en-US" sz="1800" dirty="0"/>
          </a:p>
        </p:txBody>
      </p:sp>
      <p:sp>
        <p:nvSpPr>
          <p:cNvPr id="7" name="Shape 7"/>
          <p:cNvSpPr/>
          <p:nvPr/>
        </p:nvSpPr>
        <p:spPr>
          <a:xfrm>
            <a:off x="548640" y="1947672"/>
            <a:ext cx="11094415"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Print the names of the 12 months.</a:t>
            </a:r>
            <a:endParaRPr lang="en-US" sz="3200" dirty="0"/>
          </a:p>
          <a:p>
            <a:pPr marL="0" indent="0" algn="l">
              <a:spcAft>
                <a:spcPts val="600"/>
              </a:spcAft>
              <a:buNone/>
            </a:pPr>
            <a:endParaRPr lang="en-US" sz="3200" dirty="0"/>
          </a:p>
          <a:p>
            <a:pPr marL="0" indent="0" algn="l">
              <a:spcAft>
                <a:spcPts val="600"/>
              </a:spcAft>
              <a:buNone/>
            </a:pPr>
            <a:r>
              <a:rPr lang="en-US" sz="3200" dirty="0">
                <a:solidFill>
                  <a:srgbClr val="18324A"/>
                </a:solidFill>
              </a:rPr>
              <a:t>Keep asking for the password until it is right.</a:t>
            </a:r>
            <a:endParaRPr lang="en-US" sz="3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2F80ED"/>
          </a:solidFill>
          <a:ln>
            <a:noFill/>
          </a:ln>
        </p:spPr>
        <p:txBody>
          <a:bodyPr wrap="square" lIns="0" tIns="0" rIns="0" bIns="0" rtlCol="0" anchor="ctr"/>
          <a:lstStyle/>
          <a:p>
            <a:pPr marL="0" indent="0" algn="ctr">
              <a:buNone/>
            </a:pPr>
            <a:r>
              <a:rPr lang="en-US" sz="5400" b="1" dirty="0">
                <a:solidFill>
                  <a:srgbClr val="FFFFFF"/>
                </a:solidFill>
              </a:rPr>
              <a:t>7</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latin typeface="Consolas"/>
                <a:ea typeface="Consolas"/>
                <a:cs typeface="Consolas"/>
              </a:rPr>
              <a:t>++</a:t>
            </a:r>
            <a:r>
              <a:rPr lang="en-US" sz="4800" b="1" dirty="0">
                <a:solidFill>
                  <a:srgbClr val="FFFFFF"/>
                </a:solidFill>
              </a:rPr>
              <a:t> and </a:t>
            </a:r>
            <a:r>
              <a:rPr lang="en-US" sz="4800" b="1" dirty="0">
                <a:solidFill>
                  <a:srgbClr val="FFFFFF"/>
                </a:solidFill>
                <a:latin typeface="Consolas"/>
                <a:ea typeface="Consolas"/>
                <a:cs typeface="Consolas"/>
              </a:rPr>
              <a:t>--</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Add one. Take one away.</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5</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Short forms for "change by one"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78</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On a line of its own, </a:t>
            </a:r>
            <a:r>
              <a:rPr lang="en-US" sz="2400" dirty="0">
                <a:solidFill>
                  <a:srgbClr val="18324A"/>
                </a:solidFill>
                <a:latin typeface="Consolas"/>
                <a:ea typeface="Consolas"/>
                <a:cs typeface="Consolas"/>
              </a:rPr>
              <a:t>i++</a:t>
            </a:r>
            <a:r>
              <a:rPr lang="en-US" sz="2400" dirty="0">
                <a:solidFill>
                  <a:srgbClr val="18324A"/>
                </a:solidFill>
              </a:rPr>
              <a:t> and </a:t>
            </a:r>
            <a:r>
              <a:rPr lang="en-US" sz="2400" dirty="0">
                <a:solidFill>
                  <a:srgbClr val="18324A"/>
                </a:solidFill>
                <a:latin typeface="Consolas"/>
                <a:ea typeface="Consolas"/>
                <a:cs typeface="Consolas"/>
              </a:rPr>
              <a:t>++i</a:t>
            </a:r>
            <a:r>
              <a:rPr lang="en-US" sz="2400" dirty="0">
                <a:solidFill>
                  <a:srgbClr val="18324A"/>
                </a:solidFill>
              </a:rPr>
              <a:t> do exactly the same thing.</a:t>
            </a:r>
            <a:endParaRPr lang="en-US" sz="2400" dirty="0"/>
          </a:p>
        </p:txBody>
      </p:sp>
      <p:sp>
        <p:nvSpPr>
          <p:cNvPr id="9" name="Shape 9"/>
          <p:cNvSpPr/>
          <p:nvPr/>
        </p:nvSpPr>
        <p:spPr>
          <a:xfrm>
            <a:off x="548640" y="1261872"/>
            <a:ext cx="36981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You write</a:t>
            </a:r>
            <a:endParaRPr lang="en-US" sz="1800" dirty="0"/>
          </a:p>
        </p:txBody>
      </p:sp>
      <p:sp>
        <p:nvSpPr>
          <p:cNvPr id="10" name="Shape 10"/>
          <p:cNvSpPr/>
          <p:nvPr/>
        </p:nvSpPr>
        <p:spPr>
          <a:xfrm>
            <a:off x="4246778" y="1261872"/>
            <a:ext cx="36981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It means</a:t>
            </a:r>
            <a:endParaRPr lang="en-US" sz="1800" dirty="0"/>
          </a:p>
        </p:txBody>
      </p:sp>
      <p:sp>
        <p:nvSpPr>
          <p:cNvPr id="11" name="Shape 11"/>
          <p:cNvSpPr/>
          <p:nvPr/>
        </p:nvSpPr>
        <p:spPr>
          <a:xfrm>
            <a:off x="7944917" y="1261872"/>
            <a:ext cx="36981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Say it as</a:t>
            </a:r>
            <a:endParaRPr lang="en-US" sz="1800" dirty="0"/>
          </a:p>
        </p:txBody>
      </p:sp>
      <p:sp>
        <p:nvSpPr>
          <p:cNvPr id="12" name="Shape 12"/>
          <p:cNvSpPr/>
          <p:nvPr/>
        </p:nvSpPr>
        <p:spPr>
          <a:xfrm>
            <a:off x="548640" y="1920240"/>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i++;</a:t>
            </a:r>
            <a:endParaRPr lang="en-US" sz="2600" dirty="0"/>
          </a:p>
        </p:txBody>
      </p:sp>
      <p:sp>
        <p:nvSpPr>
          <p:cNvPr id="13" name="Shape 13"/>
          <p:cNvSpPr/>
          <p:nvPr/>
        </p:nvSpPr>
        <p:spPr>
          <a:xfrm>
            <a:off x="4246778" y="1920240"/>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i = i + 1;</a:t>
            </a:r>
            <a:endParaRPr lang="en-US" sz="2600" dirty="0"/>
          </a:p>
        </p:txBody>
      </p:sp>
      <p:sp>
        <p:nvSpPr>
          <p:cNvPr id="14" name="Shape 14"/>
          <p:cNvSpPr/>
          <p:nvPr/>
        </p:nvSpPr>
        <p:spPr>
          <a:xfrm>
            <a:off x="7944917" y="1920240"/>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add 1 to i</a:t>
            </a:r>
            <a:endParaRPr lang="en-US" sz="2600" dirty="0"/>
          </a:p>
        </p:txBody>
      </p:sp>
      <p:sp>
        <p:nvSpPr>
          <p:cNvPr id="15" name="Shape 15"/>
          <p:cNvSpPr/>
          <p:nvPr/>
        </p:nvSpPr>
        <p:spPr>
          <a:xfrm>
            <a:off x="548640" y="2578608"/>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++i;</a:t>
            </a:r>
            <a:endParaRPr lang="en-US" sz="2600" dirty="0"/>
          </a:p>
        </p:txBody>
      </p:sp>
      <p:sp>
        <p:nvSpPr>
          <p:cNvPr id="16" name="Shape 16"/>
          <p:cNvSpPr/>
          <p:nvPr/>
        </p:nvSpPr>
        <p:spPr>
          <a:xfrm>
            <a:off x="4246778" y="2578608"/>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i = i + 1;</a:t>
            </a:r>
            <a:endParaRPr lang="en-US" sz="2600" dirty="0"/>
          </a:p>
        </p:txBody>
      </p:sp>
      <p:sp>
        <p:nvSpPr>
          <p:cNvPr id="17" name="Shape 17"/>
          <p:cNvSpPr/>
          <p:nvPr/>
        </p:nvSpPr>
        <p:spPr>
          <a:xfrm>
            <a:off x="7944917" y="2578608"/>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add 1 to i</a:t>
            </a:r>
            <a:endParaRPr lang="en-US" sz="2600" dirty="0"/>
          </a:p>
        </p:txBody>
      </p:sp>
      <p:sp>
        <p:nvSpPr>
          <p:cNvPr id="18" name="Shape 18"/>
          <p:cNvSpPr/>
          <p:nvPr/>
        </p:nvSpPr>
        <p:spPr>
          <a:xfrm>
            <a:off x="548640" y="3236976"/>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j--;</a:t>
            </a:r>
            <a:endParaRPr lang="en-US" sz="2600" dirty="0"/>
          </a:p>
        </p:txBody>
      </p:sp>
      <p:sp>
        <p:nvSpPr>
          <p:cNvPr id="19" name="Shape 19"/>
          <p:cNvSpPr/>
          <p:nvPr/>
        </p:nvSpPr>
        <p:spPr>
          <a:xfrm>
            <a:off x="4246778" y="3236976"/>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j = j - 1;</a:t>
            </a:r>
            <a:endParaRPr lang="en-US" sz="2600" dirty="0"/>
          </a:p>
        </p:txBody>
      </p:sp>
      <p:sp>
        <p:nvSpPr>
          <p:cNvPr id="20" name="Shape 20"/>
          <p:cNvSpPr/>
          <p:nvPr/>
        </p:nvSpPr>
        <p:spPr>
          <a:xfrm>
            <a:off x="7944917" y="3236976"/>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take 1 from j</a:t>
            </a:r>
            <a:endParaRPr lang="en-US" sz="2600" dirty="0"/>
          </a:p>
        </p:txBody>
      </p:sp>
      <p:sp>
        <p:nvSpPr>
          <p:cNvPr id="21" name="Shape 21"/>
          <p:cNvSpPr/>
          <p:nvPr/>
        </p:nvSpPr>
        <p:spPr>
          <a:xfrm>
            <a:off x="548640" y="3895344"/>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--j;</a:t>
            </a:r>
            <a:endParaRPr lang="en-US" sz="2600" dirty="0"/>
          </a:p>
        </p:txBody>
      </p:sp>
      <p:sp>
        <p:nvSpPr>
          <p:cNvPr id="22" name="Shape 22"/>
          <p:cNvSpPr/>
          <p:nvPr/>
        </p:nvSpPr>
        <p:spPr>
          <a:xfrm>
            <a:off x="4246778" y="3895344"/>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j = j - 1;</a:t>
            </a:r>
            <a:endParaRPr lang="en-US" sz="2600" dirty="0"/>
          </a:p>
        </p:txBody>
      </p:sp>
      <p:sp>
        <p:nvSpPr>
          <p:cNvPr id="23" name="Shape 23"/>
          <p:cNvSpPr/>
          <p:nvPr/>
        </p:nvSpPr>
        <p:spPr>
          <a:xfrm>
            <a:off x="7944917" y="3895344"/>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take 1 from j</a:t>
            </a:r>
            <a:endParaRPr lang="en-US" sz="2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Counting down with </a:t>
            </a:r>
            <a:r>
              <a:rPr lang="en-US" sz="3400" b="1" dirty="0">
                <a:solidFill>
                  <a:srgbClr val="2F80ED"/>
                </a:solidFill>
                <a:latin typeface="Consolas"/>
                <a:ea typeface="Consolas"/>
                <a:cs typeface="Consolas"/>
              </a:rPr>
              <a:t>for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79</a:t>
            </a:r>
            <a:endParaRPr lang="en-US" sz="1400" dirty="0"/>
          </a:p>
        </p:txBody>
      </p:sp>
      <p:sp>
        <p:nvSpPr>
          <p:cNvPr id="6" name="Shape 6"/>
          <p:cNvSpPr/>
          <p:nvPr/>
        </p:nvSpPr>
        <p:spPr>
          <a:xfrm>
            <a:off x="548640" y="1261872"/>
            <a:ext cx="6766560" cy="4493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72427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724277"/>
            <a:ext cx="82296" cy="4127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4932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#include &lt;stdio.h&gt;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int main(void) {</a:t>
            </a:r>
            <a:endParaRPr lang="en-US" sz="2600" dirty="0"/>
          </a:p>
          <a:p>
            <a:pPr marL="0" indent="0" algn="l">
              <a:lnSpc>
                <a:spcPts val="3250"/>
              </a:lnSpc>
              <a:buNone/>
            </a:pPr>
            <a:r>
              <a:rPr lang="en-US" sz="2600" dirty="0">
                <a:solidFill>
                  <a:srgbClr val="FFFFFF"/>
                </a:solidFill>
                <a:latin typeface="Consolas"/>
                <a:ea typeface="Consolas"/>
                <a:cs typeface="Consolas"/>
              </a:rPr>
              <a:t>    for (int i = 5; i &gt;= 1; i--) {</a:t>
            </a:r>
            <a:endParaRPr lang="en-US" sz="2600" dirty="0"/>
          </a:p>
          <a:p>
            <a:pPr marL="0" indent="0" algn="l">
              <a:lnSpc>
                <a:spcPts val="3250"/>
              </a:lnSpc>
              <a:buNone/>
            </a:pPr>
            <a:r>
              <a:rPr lang="en-US" sz="2600" dirty="0">
                <a:solidFill>
                  <a:srgbClr val="64748B"/>
                </a:solidFill>
                <a:latin typeface="Consolas"/>
                <a:ea typeface="Consolas"/>
                <a:cs typeface="Consolas"/>
              </a:rPr>
              <a:t>        printf("%d ", i);</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    printf("\n");</a:t>
            </a:r>
            <a:endParaRPr lang="en-US" sz="2600" dirty="0"/>
          </a:p>
          <a:p>
            <a:pPr marL="0" indent="0" algn="l">
              <a:lnSpc>
                <a:spcPts val="3250"/>
              </a:lnSpc>
              <a:buNone/>
            </a:pPr>
            <a:r>
              <a:rPr lang="en-US" sz="2600" dirty="0">
                <a:solidFill>
                  <a:srgbClr val="64748B"/>
                </a:solidFill>
                <a:latin typeface="Consolas"/>
                <a:ea typeface="Consolas"/>
                <a:cs typeface="Consolas"/>
              </a:rPr>
              <a:t>    return 0;</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5 4 3 2 1</a:t>
            </a:r>
            <a:endParaRPr 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Up and down: all three parts change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80</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Start at the big number. Check with </a:t>
            </a:r>
            <a:r>
              <a:rPr lang="en-US" sz="2400" dirty="0">
                <a:solidFill>
                  <a:srgbClr val="18324A"/>
                </a:solidFill>
                <a:latin typeface="Consolas"/>
                <a:ea typeface="Consolas"/>
                <a:cs typeface="Consolas"/>
              </a:rPr>
              <a:t>&gt;=</a:t>
            </a:r>
            <a:r>
              <a:rPr lang="en-US" sz="2400" dirty="0">
                <a:solidFill>
                  <a:srgbClr val="18324A"/>
                </a:solidFill>
              </a:rPr>
              <a:t>. Update with </a:t>
            </a:r>
            <a:r>
              <a:rPr lang="en-US" sz="2400" dirty="0">
                <a:solidFill>
                  <a:srgbClr val="18324A"/>
                </a:solidFill>
                <a:latin typeface="Consolas"/>
                <a:ea typeface="Consolas"/>
                <a:cs typeface="Consolas"/>
              </a:rPr>
              <a:t>--</a:t>
            </a:r>
            <a:r>
              <a:rPr lang="en-US" sz="2400" dirty="0">
                <a:solidFill>
                  <a:srgbClr val="18324A"/>
                </a:solidFill>
              </a:rPr>
              <a:t>. Change only one or two, and you have a bug.</a:t>
            </a:r>
            <a:endParaRPr lang="en-US" sz="2400" dirty="0"/>
          </a:p>
        </p:txBody>
      </p:sp>
      <p:sp>
        <p:nvSpPr>
          <p:cNvPr id="9" name="Shape 9"/>
          <p:cNvSpPr/>
          <p:nvPr/>
        </p:nvSpPr>
        <p:spPr>
          <a:xfrm>
            <a:off x="548640" y="1261872"/>
            <a:ext cx="5364328" cy="384048"/>
          </a:xfrm>
          <a:prstGeom prst="rect">
            <a:avLst/>
          </a:prstGeom>
          <a:solidFill>
            <a:srgbClr val="2F80ED"/>
          </a:solidFill>
          <a:ln>
            <a:noFill/>
          </a:ln>
        </p:spPr>
        <p:txBody>
          <a:bodyPr wrap="square" lIns="0" tIns="0" rIns="0" bIns="0" rtlCol="0" anchor="ctr"/>
          <a:lstStyle/>
          <a:p>
            <a:pPr marL="0" indent="0" algn="ctr">
              <a:buNone/>
            </a:pPr>
            <a:r>
              <a:rPr lang="en-US" sz="1800" b="1" dirty="0">
                <a:solidFill>
                  <a:srgbClr val="FFFFFF"/>
                </a:solidFill>
              </a:rPr>
              <a:t>Count up</a:t>
            </a:r>
            <a:endParaRPr lang="en-US" sz="1800" dirty="0"/>
          </a:p>
        </p:txBody>
      </p:sp>
      <p:sp>
        <p:nvSpPr>
          <p:cNvPr id="10" name="Shape 10"/>
          <p:cNvSpPr/>
          <p:nvPr/>
        </p:nvSpPr>
        <p:spPr>
          <a:xfrm>
            <a:off x="548640" y="1645920"/>
            <a:ext cx="5364328" cy="746760"/>
          </a:xfrm>
          <a:prstGeom prst="rect">
            <a:avLst/>
          </a:prstGeom>
          <a:solidFill>
            <a:srgbClr val="0F172A"/>
          </a:solidFill>
          <a:ln>
            <a:noFill/>
          </a:ln>
        </p:spPr>
        <p:txBody>
          <a:bodyPr wrap="square" lIns="0" tIns="0" rIns="0" bIns="0" rtlCol="0" anchor="t"/>
          <a:lstStyle/>
          <a:p>
            <a:endParaRPr lang="en-US"/>
          </a:p>
        </p:txBody>
      </p:sp>
      <p:sp>
        <p:nvSpPr>
          <p:cNvPr id="11" name="Code"/>
          <p:cNvSpPr/>
          <p:nvPr/>
        </p:nvSpPr>
        <p:spPr>
          <a:xfrm>
            <a:off x="548640" y="1645920"/>
            <a:ext cx="5364328"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E5E7EB"/>
                </a:solidFill>
                <a:latin typeface="Consolas"/>
                <a:ea typeface="Consolas"/>
                <a:cs typeface="Consolas"/>
              </a:rPr>
              <a:t>for (int i = 1; i &lt;= 5; i++)</a:t>
            </a:r>
            <a:endParaRPr lang="en-US" sz="2400" dirty="0"/>
          </a:p>
        </p:txBody>
      </p:sp>
      <p:sp>
        <p:nvSpPr>
          <p:cNvPr id="12" name="Shape 12"/>
          <p:cNvSpPr/>
          <p:nvPr/>
        </p:nvSpPr>
        <p:spPr>
          <a:xfrm>
            <a:off x="6278728" y="1261872"/>
            <a:ext cx="5364328" cy="384048"/>
          </a:xfrm>
          <a:prstGeom prst="rect">
            <a:avLst/>
          </a:prstGeom>
          <a:solidFill>
            <a:srgbClr val="8B5CF6"/>
          </a:solidFill>
          <a:ln>
            <a:noFill/>
          </a:ln>
        </p:spPr>
        <p:txBody>
          <a:bodyPr wrap="square" lIns="0" tIns="0" rIns="0" bIns="0" rtlCol="0" anchor="ctr"/>
          <a:lstStyle/>
          <a:p>
            <a:pPr marL="0" indent="0" algn="ctr">
              <a:buNone/>
            </a:pPr>
            <a:r>
              <a:rPr lang="en-US" sz="1800" b="1" dirty="0">
                <a:solidFill>
                  <a:srgbClr val="FFFFFF"/>
                </a:solidFill>
              </a:rPr>
              <a:t>Count down</a:t>
            </a:r>
            <a:endParaRPr lang="en-US" sz="1800" dirty="0"/>
          </a:p>
        </p:txBody>
      </p:sp>
      <p:sp>
        <p:nvSpPr>
          <p:cNvPr id="13" name="Shape 13"/>
          <p:cNvSpPr/>
          <p:nvPr/>
        </p:nvSpPr>
        <p:spPr>
          <a:xfrm>
            <a:off x="6278728" y="1645920"/>
            <a:ext cx="5364328" cy="746760"/>
          </a:xfrm>
          <a:prstGeom prst="rect">
            <a:avLst/>
          </a:prstGeom>
          <a:solidFill>
            <a:srgbClr val="0F172A"/>
          </a:solidFill>
          <a:ln>
            <a:noFill/>
          </a:ln>
        </p:spPr>
        <p:txBody>
          <a:bodyPr wrap="square" lIns="0" tIns="0" rIns="0" bIns="0" rtlCol="0" anchor="t"/>
          <a:lstStyle/>
          <a:p>
            <a:endParaRPr lang="en-US"/>
          </a:p>
        </p:txBody>
      </p:sp>
      <p:sp>
        <p:nvSpPr>
          <p:cNvPr id="14" name="Code"/>
          <p:cNvSpPr/>
          <p:nvPr/>
        </p:nvSpPr>
        <p:spPr>
          <a:xfrm>
            <a:off x="6278728" y="1645920"/>
            <a:ext cx="5364328"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E5E7EB"/>
                </a:solidFill>
                <a:latin typeface="Consolas"/>
                <a:ea typeface="Consolas"/>
                <a:cs typeface="Consolas"/>
              </a:rPr>
              <a:t>for (int i = 5; i &gt;= 1; i--)</a:t>
            </a:r>
            <a:endParaRPr 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habit gone wrong</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81</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Start at 5.</a:t>
            </a:r>
            <a:endParaRPr lang="en-US" sz="3200" dirty="0"/>
          </a:p>
          <a:p>
            <a:pPr marL="0" indent="0" algn="l">
              <a:spcAft>
                <a:spcPts val="600"/>
              </a:spcAft>
              <a:buNone/>
            </a:pPr>
            <a:r>
              <a:rPr lang="en-US" sz="3200" dirty="0">
                <a:solidFill>
                  <a:srgbClr val="18324A"/>
                </a:solidFill>
              </a:rPr>
              <a:t>Check </a:t>
            </a:r>
            <a:r>
              <a:rPr lang="en-US" sz="3200" dirty="0">
                <a:solidFill>
                  <a:srgbClr val="2F80ED"/>
                </a:solidFill>
                <a:latin typeface="Consolas"/>
                <a:ea typeface="Consolas"/>
                <a:cs typeface="Consolas"/>
              </a:rPr>
              <a:t>i &gt;= 1</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By habit: </a:t>
            </a:r>
            <a:r>
              <a:rPr lang="en-US" sz="3200" dirty="0">
                <a:solidFill>
                  <a:srgbClr val="2F80ED"/>
                </a:solidFill>
                <a:latin typeface="Consolas"/>
                <a:ea typeface="Consolas"/>
                <a:cs typeface="Consolas"/>
              </a:rPr>
              <a:t>i++</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happens?</a:t>
            </a:r>
            <a:endParaRPr lang="en-US" sz="3200" dirty="0"/>
          </a:p>
        </p:txBody>
      </p:sp>
      <p:sp>
        <p:nvSpPr>
          <p:cNvPr id="8" name="Shape 8"/>
          <p:cNvSpPr/>
          <p:nvPr/>
        </p:nvSpPr>
        <p:spPr>
          <a:xfrm>
            <a:off x="5760720" y="1261872"/>
            <a:ext cx="5882335" cy="160401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1486027"/>
            <a:ext cx="5882335"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1486027"/>
            <a:ext cx="82296" cy="4127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FFFFFF"/>
                </a:solidFill>
                <a:latin typeface="Consolas"/>
                <a:ea typeface="Consolas"/>
                <a:cs typeface="Consolas"/>
              </a:rPr>
              <a:t>for (int i = 5; i &gt;= 1; i++) {</a:t>
            </a:r>
            <a:endParaRPr lang="en-US" sz="2600" dirty="0"/>
          </a:p>
          <a:p>
            <a:pPr marL="0" indent="0" algn="l">
              <a:lnSpc>
                <a:spcPts val="3250"/>
              </a:lnSpc>
              <a:buNone/>
            </a:pPr>
            <a:r>
              <a:rPr lang="en-US" sz="2600" dirty="0">
                <a:solidFill>
                  <a:srgbClr val="64748B"/>
                </a:solidFill>
                <a:latin typeface="Consolas"/>
                <a:ea typeface="Consolas"/>
                <a:cs typeface="Consolas"/>
              </a:rPr>
              <a:t>    printf("%d ", 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habit gone wrong: the answer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82</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Start at 5.</a:t>
            </a:r>
            <a:endParaRPr lang="en-US" sz="3200" dirty="0"/>
          </a:p>
          <a:p>
            <a:pPr marL="0" indent="0" algn="l">
              <a:spcAft>
                <a:spcPts val="600"/>
              </a:spcAft>
              <a:buNone/>
            </a:pPr>
            <a:r>
              <a:rPr lang="en-US" sz="3200" dirty="0">
                <a:solidFill>
                  <a:srgbClr val="18324A"/>
                </a:solidFill>
              </a:rPr>
              <a:t>Check </a:t>
            </a:r>
            <a:r>
              <a:rPr lang="en-US" sz="3200" dirty="0">
                <a:solidFill>
                  <a:srgbClr val="2F80ED"/>
                </a:solidFill>
                <a:latin typeface="Consolas"/>
                <a:ea typeface="Consolas"/>
                <a:cs typeface="Consolas"/>
              </a:rPr>
              <a:t>i &gt;= 1</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By habit: </a:t>
            </a:r>
            <a:r>
              <a:rPr lang="en-US" sz="3200" dirty="0">
                <a:solidFill>
                  <a:srgbClr val="2F80ED"/>
                </a:solidFill>
                <a:latin typeface="Consolas"/>
                <a:ea typeface="Consolas"/>
                <a:cs typeface="Consolas"/>
              </a:rPr>
              <a:t>i++</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happens?</a:t>
            </a:r>
            <a:endParaRPr lang="en-US" sz="3200" dirty="0"/>
          </a:p>
        </p:txBody>
      </p:sp>
      <p:sp>
        <p:nvSpPr>
          <p:cNvPr id="8" name="Shape 8"/>
          <p:cNvSpPr/>
          <p:nvPr/>
        </p:nvSpPr>
        <p:spPr>
          <a:xfrm>
            <a:off x="5760720" y="1261872"/>
            <a:ext cx="5882335" cy="160401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1486027"/>
            <a:ext cx="5882335"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1486027"/>
            <a:ext cx="82296" cy="4127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FFFFFF"/>
                </a:solidFill>
                <a:latin typeface="Consolas"/>
                <a:ea typeface="Consolas"/>
                <a:cs typeface="Consolas"/>
              </a:rPr>
              <a:t>for (int i = 5; i &gt;= 1; i++) {</a:t>
            </a:r>
            <a:endParaRPr lang="en-US" sz="2600" dirty="0"/>
          </a:p>
          <a:p>
            <a:pPr marL="0" indent="0" algn="l">
              <a:lnSpc>
                <a:spcPts val="3250"/>
              </a:lnSpc>
              <a:buNone/>
            </a:pPr>
            <a:r>
              <a:rPr lang="en-US" sz="2600" dirty="0">
                <a:solidFill>
                  <a:srgbClr val="64748B"/>
                </a:solidFill>
                <a:latin typeface="Consolas"/>
                <a:ea typeface="Consolas"/>
                <a:cs typeface="Consolas"/>
              </a:rPr>
              <a:t>    printf("%d ", 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2" name="Shape 12"/>
          <p:cNvSpPr/>
          <p:nvPr/>
        </p:nvSpPr>
        <p:spPr>
          <a:xfrm>
            <a:off x="548640" y="4251960"/>
            <a:ext cx="4937760" cy="201168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3" name="Shape 13"/>
          <p:cNvSpPr/>
          <p:nvPr/>
        </p:nvSpPr>
        <p:spPr>
          <a:xfrm>
            <a:off x="548640" y="4251960"/>
            <a:ext cx="109728" cy="2011680"/>
          </a:xfrm>
          <a:prstGeom prst="rect">
            <a:avLst/>
          </a:prstGeom>
          <a:solidFill>
            <a:srgbClr val="31C48D"/>
          </a:solidFill>
          <a:ln>
            <a:noFill/>
          </a:ln>
        </p:spPr>
        <p:txBody>
          <a:bodyPr wrap="square" lIns="0" tIns="0" rIns="0" bIns="0" rtlCol="0" anchor="t"/>
          <a:lstStyle/>
          <a:p>
            <a:endParaRPr lang="en-US"/>
          </a:p>
        </p:txBody>
      </p:sp>
      <p:sp>
        <p:nvSpPr>
          <p:cNvPr id="14" name="Callout"/>
          <p:cNvSpPr/>
          <p:nvPr/>
        </p:nvSpPr>
        <p:spPr>
          <a:xfrm>
            <a:off x="658368" y="4251960"/>
            <a:ext cx="4828032" cy="201168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rPr>
              <a:t>5 6 7 8 9 ... </a:t>
            </a:r>
            <a:r>
              <a:rPr lang="en-US" sz="2600" dirty="0">
                <a:solidFill>
                  <a:srgbClr val="18324A"/>
                </a:solidFill>
                <a:latin typeface="Consolas"/>
                <a:ea typeface="Consolas"/>
                <a:cs typeface="Consolas"/>
              </a:rPr>
              <a:t>i &gt;= 1</a:t>
            </a:r>
            <a:r>
              <a:rPr lang="en-US" sz="2600" dirty="0">
                <a:solidFill>
                  <a:srgbClr val="18324A"/>
                </a:solidFill>
              </a:rPr>
              <a:t> stays true. It never stops. Ctrl + C.</a:t>
            </a:r>
            <a:endParaRPr lang="en-US" sz="26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2F80ED"/>
                </a:solidFill>
                <a:latin typeface="Consolas"/>
                <a:ea typeface="Consolas"/>
                <a:cs typeface="Consolas"/>
              </a:rPr>
              <a:t>a++</a:t>
            </a:r>
            <a:r>
              <a:rPr lang="en-US" sz="3400" b="1" dirty="0">
                <a:solidFill>
                  <a:srgbClr val="18324A"/>
                </a:solidFill>
              </a:rPr>
              <a:t> and </a:t>
            </a:r>
            <a:r>
              <a:rPr lang="en-US" sz="3400" b="1" dirty="0">
                <a:solidFill>
                  <a:srgbClr val="2F80ED"/>
                </a:solidFill>
                <a:latin typeface="Consolas"/>
                <a:ea typeface="Consolas"/>
                <a:cs typeface="Consolas"/>
              </a:rPr>
              <a:t>++a</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83</a:t>
            </a:r>
            <a:endParaRPr lang="en-US" sz="1400" dirty="0"/>
          </a:p>
        </p:txBody>
      </p:sp>
      <p:sp>
        <p:nvSpPr>
          <p:cNvPr id="6" name="Shape 6"/>
          <p:cNvSpPr/>
          <p:nvPr/>
        </p:nvSpPr>
        <p:spPr>
          <a:xfrm>
            <a:off x="548640" y="1399032"/>
            <a:ext cx="109728" cy="7924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On a line of their own: the same.</a:t>
            </a:r>
            <a:endParaRPr lang="en-US" sz="4000" dirty="0"/>
          </a:p>
        </p:txBody>
      </p:sp>
      <p:sp>
        <p:nvSpPr>
          <p:cNvPr id="8" name="Shape 8"/>
          <p:cNvSpPr/>
          <p:nvPr/>
        </p:nvSpPr>
        <p:spPr>
          <a:xfrm>
            <a:off x="914400" y="2602992"/>
            <a:ext cx="10728655" cy="11430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The difference shows only when you </a:t>
            </a:r>
            <a:r>
              <a:rPr lang="en-US" sz="3000" b="1" dirty="0">
                <a:solidFill>
                  <a:srgbClr val="18324A"/>
                </a:solidFill>
              </a:rPr>
              <a:t>use the value in the same line</a:t>
            </a:r>
            <a:r>
              <a:rPr lang="en-US" sz="3000" dirty="0">
                <a:solidFill>
                  <a:srgbClr val="18324A"/>
                </a:solidFill>
              </a:rPr>
              <a:t>.</a:t>
            </a:r>
            <a:endParaRPr lang="en-US" sz="3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2F80ED"/>
                </a:solidFill>
                <a:latin typeface="Consolas"/>
                <a:ea typeface="Consolas"/>
                <a:cs typeface="Consolas"/>
              </a:rPr>
              <a:t>a++</a:t>
            </a:r>
            <a:r>
              <a:rPr lang="en-US" sz="3400" b="1" dirty="0">
                <a:solidFill>
                  <a:srgbClr val="18324A"/>
                </a:solidFill>
              </a:rPr>
              <a:t>: use, then add</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84</a:t>
            </a:r>
            <a:endParaRPr lang="en-US" sz="1400" dirty="0"/>
          </a:p>
        </p:txBody>
      </p:sp>
      <p:sp>
        <p:nvSpPr>
          <p:cNvPr id="6" name="Shape 6"/>
          <p:cNvSpPr/>
          <p:nvPr/>
        </p:nvSpPr>
        <p:spPr>
          <a:xfrm>
            <a:off x="548640" y="1261872"/>
            <a:ext cx="5486400" cy="1381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003552"/>
            <a:ext cx="5486400" cy="508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003552"/>
            <a:ext cx="82296" cy="508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5486400" cy="1381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int a = 5;</a:t>
            </a:r>
            <a:endParaRPr lang="en-US" sz="3200" dirty="0"/>
          </a:p>
          <a:p>
            <a:pPr marL="0" indent="0" algn="l">
              <a:lnSpc>
                <a:spcPts val="4000"/>
              </a:lnSpc>
              <a:buNone/>
            </a:pPr>
            <a:r>
              <a:rPr lang="en-US" sz="3200" dirty="0">
                <a:solidFill>
                  <a:srgbClr val="FFFFFF"/>
                </a:solidFill>
                <a:latin typeface="Consolas"/>
                <a:ea typeface="Consolas"/>
                <a:cs typeface="Consolas"/>
              </a:rPr>
              <a:t>int b = a++;</a:t>
            </a:r>
            <a:endParaRPr lang="en-US" sz="3200" dirty="0"/>
          </a:p>
        </p:txBody>
      </p:sp>
      <p:sp>
        <p:nvSpPr>
          <p:cNvPr id="10" name="Shape 10"/>
          <p:cNvSpPr/>
          <p:nvPr/>
        </p:nvSpPr>
        <p:spPr>
          <a:xfrm>
            <a:off x="6309360" y="1261872"/>
            <a:ext cx="533369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6309360" y="1261872"/>
            <a:ext cx="109728" cy="68580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6419088" y="1261872"/>
            <a:ext cx="522396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a:t>
            </a:r>
            <a:r>
              <a:rPr lang="en-US" sz="2400" dirty="0">
                <a:solidFill>
                  <a:srgbClr val="18324A"/>
                </a:solidFill>
                <a:latin typeface="Consolas"/>
                <a:ea typeface="Consolas"/>
                <a:cs typeface="Consolas"/>
              </a:rPr>
              <a:t>++</a:t>
            </a:r>
            <a:r>
              <a:rPr lang="en-US" sz="2400" dirty="0">
                <a:solidFill>
                  <a:srgbClr val="18324A"/>
                </a:solidFill>
              </a:rPr>
              <a:t> is </a:t>
            </a:r>
            <a:r>
              <a:rPr lang="en-US" sz="2400" b="1" dirty="0">
                <a:solidFill>
                  <a:srgbClr val="18324A"/>
                </a:solidFill>
              </a:rPr>
              <a:t>after</a:t>
            </a:r>
            <a:r>
              <a:rPr lang="en-US" sz="2400" dirty="0">
                <a:solidFill>
                  <a:srgbClr val="18324A"/>
                </a:solidFill>
              </a:rPr>
              <a:t> the </a:t>
            </a:r>
            <a:r>
              <a:rPr lang="en-US" sz="2400" dirty="0">
                <a:solidFill>
                  <a:srgbClr val="18324A"/>
                </a:solidFill>
                <a:latin typeface="Consolas"/>
                <a:ea typeface="Consolas"/>
                <a:cs typeface="Consolas"/>
              </a:rPr>
              <a:t>a</a:t>
            </a:r>
            <a:r>
              <a:rPr lang="en-US" sz="2400" dirty="0">
                <a:solidFill>
                  <a:srgbClr val="18324A"/>
                </a:solidFill>
              </a:rPr>
              <a:t>.</a:t>
            </a:r>
            <a:endParaRPr lang="en-US" sz="2400" dirty="0"/>
          </a:p>
        </p:txBody>
      </p:sp>
      <p:sp>
        <p:nvSpPr>
          <p:cNvPr id="13" name="Shape 13"/>
          <p:cNvSpPr/>
          <p:nvPr/>
        </p:nvSpPr>
        <p:spPr>
          <a:xfrm>
            <a:off x="6309360" y="2148840"/>
            <a:ext cx="533369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6309360" y="2148840"/>
            <a:ext cx="109728" cy="68580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6419088" y="2148840"/>
            <a:ext cx="522396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First use </a:t>
            </a:r>
            <a:r>
              <a:rPr lang="en-US" sz="2400" dirty="0">
                <a:solidFill>
                  <a:srgbClr val="18324A"/>
                </a:solidFill>
                <a:latin typeface="Consolas"/>
                <a:ea typeface="Consolas"/>
                <a:cs typeface="Consolas"/>
              </a:rPr>
              <a:t>a</a:t>
            </a:r>
            <a:r>
              <a:rPr lang="en-US" sz="2400" dirty="0">
                <a:solidFill>
                  <a:srgbClr val="18324A"/>
                </a:solidFill>
              </a:rPr>
              <a:t>: </a:t>
            </a:r>
            <a:r>
              <a:rPr lang="en-US" sz="2400" dirty="0">
                <a:solidFill>
                  <a:srgbClr val="18324A"/>
                </a:solidFill>
                <a:latin typeface="Consolas"/>
                <a:ea typeface="Consolas"/>
                <a:cs typeface="Consolas"/>
              </a:rPr>
              <a:t>b</a:t>
            </a:r>
            <a:r>
              <a:rPr lang="en-US" sz="2400" dirty="0">
                <a:solidFill>
                  <a:srgbClr val="18324A"/>
                </a:solidFill>
              </a:rPr>
              <a:t> gets </a:t>
            </a:r>
            <a:r>
              <a:rPr lang="en-US" sz="2400" b="1" dirty="0">
                <a:solidFill>
                  <a:srgbClr val="18324A"/>
                </a:solidFill>
              </a:rPr>
              <a:t>5</a:t>
            </a:r>
            <a:r>
              <a:rPr lang="en-US" sz="2400" dirty="0">
                <a:solidFill>
                  <a:srgbClr val="18324A"/>
                </a:solidFill>
              </a:rPr>
              <a:t>.</a:t>
            </a:r>
            <a:endParaRPr lang="en-US" sz="2400" dirty="0"/>
          </a:p>
        </p:txBody>
      </p:sp>
      <p:sp>
        <p:nvSpPr>
          <p:cNvPr id="16" name="Shape 16"/>
          <p:cNvSpPr/>
          <p:nvPr/>
        </p:nvSpPr>
        <p:spPr>
          <a:xfrm>
            <a:off x="6309360" y="3035808"/>
            <a:ext cx="533369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7" name="Shape 17"/>
          <p:cNvSpPr/>
          <p:nvPr/>
        </p:nvSpPr>
        <p:spPr>
          <a:xfrm>
            <a:off x="6309360" y="3035808"/>
            <a:ext cx="109728" cy="685800"/>
          </a:xfrm>
          <a:prstGeom prst="rect">
            <a:avLst/>
          </a:prstGeom>
          <a:solidFill>
            <a:srgbClr val="F59E0B"/>
          </a:solidFill>
          <a:ln>
            <a:noFill/>
          </a:ln>
        </p:spPr>
        <p:txBody>
          <a:bodyPr wrap="square" lIns="0" tIns="0" rIns="0" bIns="0" rtlCol="0" anchor="t"/>
          <a:lstStyle/>
          <a:p>
            <a:endParaRPr lang="en-US"/>
          </a:p>
        </p:txBody>
      </p:sp>
      <p:sp>
        <p:nvSpPr>
          <p:cNvPr id="18" name="Callout"/>
          <p:cNvSpPr/>
          <p:nvPr/>
        </p:nvSpPr>
        <p:spPr>
          <a:xfrm>
            <a:off x="6419088" y="3035808"/>
            <a:ext cx="522396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Then add: </a:t>
            </a:r>
            <a:r>
              <a:rPr lang="en-US" sz="2400" dirty="0">
                <a:solidFill>
                  <a:srgbClr val="18324A"/>
                </a:solidFill>
                <a:latin typeface="Consolas"/>
                <a:ea typeface="Consolas"/>
                <a:cs typeface="Consolas"/>
              </a:rPr>
              <a:t>a</a:t>
            </a:r>
            <a:r>
              <a:rPr lang="en-US" sz="2400" dirty="0">
                <a:solidFill>
                  <a:srgbClr val="18324A"/>
                </a:solidFill>
              </a:rPr>
              <a:t> becomes </a:t>
            </a:r>
            <a:r>
              <a:rPr lang="en-US" sz="2400" b="1" dirty="0">
                <a:solidFill>
                  <a:srgbClr val="18324A"/>
                </a:solidFill>
              </a:rPr>
              <a:t>6</a:t>
            </a:r>
            <a:r>
              <a:rPr lang="en-US" sz="2400" dirty="0">
                <a:solidFill>
                  <a:srgbClr val="18324A"/>
                </a:solidFill>
              </a:rPr>
              <a:t>.</a:t>
            </a:r>
            <a:endParaRPr lang="en-US" sz="2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2F80ED"/>
                </a:solidFill>
                <a:latin typeface="Consolas"/>
                <a:ea typeface="Consolas"/>
                <a:cs typeface="Consolas"/>
              </a:rPr>
              <a:t>++a</a:t>
            </a:r>
            <a:r>
              <a:rPr lang="en-US" sz="3400" b="1" dirty="0">
                <a:solidFill>
                  <a:srgbClr val="18324A"/>
                </a:solidFill>
              </a:rPr>
              <a:t>: add, then use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85</a:t>
            </a:r>
            <a:endParaRPr lang="en-US" sz="1400" dirty="0"/>
          </a:p>
        </p:txBody>
      </p:sp>
      <p:sp>
        <p:nvSpPr>
          <p:cNvPr id="6" name="Shape 6"/>
          <p:cNvSpPr/>
          <p:nvPr/>
        </p:nvSpPr>
        <p:spPr>
          <a:xfrm>
            <a:off x="548640" y="1261872"/>
            <a:ext cx="5486400" cy="1381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003552"/>
            <a:ext cx="5486400" cy="508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003552"/>
            <a:ext cx="82296" cy="508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5486400" cy="1381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int a = 5;</a:t>
            </a:r>
            <a:endParaRPr lang="en-US" sz="3200" dirty="0"/>
          </a:p>
          <a:p>
            <a:pPr marL="0" indent="0" algn="l">
              <a:lnSpc>
                <a:spcPts val="4000"/>
              </a:lnSpc>
              <a:buNone/>
            </a:pPr>
            <a:r>
              <a:rPr lang="en-US" sz="3200" dirty="0">
                <a:solidFill>
                  <a:srgbClr val="FFFFFF"/>
                </a:solidFill>
                <a:latin typeface="Consolas"/>
                <a:ea typeface="Consolas"/>
                <a:cs typeface="Consolas"/>
              </a:rPr>
              <a:t>int b = ++a;</a:t>
            </a:r>
            <a:endParaRPr lang="en-US" sz="3200" dirty="0"/>
          </a:p>
        </p:txBody>
      </p:sp>
      <p:sp>
        <p:nvSpPr>
          <p:cNvPr id="10" name="Shape 10"/>
          <p:cNvSpPr/>
          <p:nvPr/>
        </p:nvSpPr>
        <p:spPr>
          <a:xfrm>
            <a:off x="6309360" y="1261872"/>
            <a:ext cx="533369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6309360" y="1261872"/>
            <a:ext cx="109728" cy="68580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6419088" y="1261872"/>
            <a:ext cx="522396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a:t>
            </a:r>
            <a:r>
              <a:rPr lang="en-US" sz="2400" dirty="0">
                <a:solidFill>
                  <a:srgbClr val="18324A"/>
                </a:solidFill>
                <a:latin typeface="Consolas"/>
                <a:ea typeface="Consolas"/>
                <a:cs typeface="Consolas"/>
              </a:rPr>
              <a:t>++</a:t>
            </a:r>
            <a:r>
              <a:rPr lang="en-US" sz="2400" dirty="0">
                <a:solidFill>
                  <a:srgbClr val="18324A"/>
                </a:solidFill>
              </a:rPr>
              <a:t> is </a:t>
            </a:r>
            <a:r>
              <a:rPr lang="en-US" sz="2400" b="1" dirty="0">
                <a:solidFill>
                  <a:srgbClr val="18324A"/>
                </a:solidFill>
              </a:rPr>
              <a:t>before</a:t>
            </a:r>
            <a:r>
              <a:rPr lang="en-US" sz="2400" dirty="0">
                <a:solidFill>
                  <a:srgbClr val="18324A"/>
                </a:solidFill>
              </a:rPr>
              <a:t> the </a:t>
            </a:r>
            <a:r>
              <a:rPr lang="en-US" sz="2400" dirty="0">
                <a:solidFill>
                  <a:srgbClr val="18324A"/>
                </a:solidFill>
                <a:latin typeface="Consolas"/>
                <a:ea typeface="Consolas"/>
                <a:cs typeface="Consolas"/>
              </a:rPr>
              <a:t>a</a:t>
            </a:r>
            <a:r>
              <a:rPr lang="en-US" sz="2400" dirty="0">
                <a:solidFill>
                  <a:srgbClr val="18324A"/>
                </a:solidFill>
              </a:rPr>
              <a:t>.</a:t>
            </a:r>
            <a:endParaRPr lang="en-US" sz="2400" dirty="0"/>
          </a:p>
        </p:txBody>
      </p:sp>
      <p:sp>
        <p:nvSpPr>
          <p:cNvPr id="13" name="Shape 13"/>
          <p:cNvSpPr/>
          <p:nvPr/>
        </p:nvSpPr>
        <p:spPr>
          <a:xfrm>
            <a:off x="6309360" y="2148840"/>
            <a:ext cx="533369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4" name="Shape 14"/>
          <p:cNvSpPr/>
          <p:nvPr/>
        </p:nvSpPr>
        <p:spPr>
          <a:xfrm>
            <a:off x="6309360" y="2148840"/>
            <a:ext cx="109728" cy="685800"/>
          </a:xfrm>
          <a:prstGeom prst="rect">
            <a:avLst/>
          </a:prstGeom>
          <a:solidFill>
            <a:srgbClr val="F59E0B"/>
          </a:solidFill>
          <a:ln>
            <a:noFill/>
          </a:ln>
        </p:spPr>
        <p:txBody>
          <a:bodyPr wrap="square" lIns="0" tIns="0" rIns="0" bIns="0" rtlCol="0" anchor="t"/>
          <a:lstStyle/>
          <a:p>
            <a:endParaRPr lang="en-US"/>
          </a:p>
        </p:txBody>
      </p:sp>
      <p:sp>
        <p:nvSpPr>
          <p:cNvPr id="15" name="Callout"/>
          <p:cNvSpPr/>
          <p:nvPr/>
        </p:nvSpPr>
        <p:spPr>
          <a:xfrm>
            <a:off x="6419088" y="2148840"/>
            <a:ext cx="522396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First add: </a:t>
            </a:r>
            <a:r>
              <a:rPr lang="en-US" sz="2400" dirty="0">
                <a:solidFill>
                  <a:srgbClr val="18324A"/>
                </a:solidFill>
                <a:latin typeface="Consolas"/>
                <a:ea typeface="Consolas"/>
                <a:cs typeface="Consolas"/>
              </a:rPr>
              <a:t>a</a:t>
            </a:r>
            <a:r>
              <a:rPr lang="en-US" sz="2400" dirty="0">
                <a:solidFill>
                  <a:srgbClr val="18324A"/>
                </a:solidFill>
              </a:rPr>
              <a:t> becomes </a:t>
            </a:r>
            <a:r>
              <a:rPr lang="en-US" sz="2400" b="1" dirty="0">
                <a:solidFill>
                  <a:srgbClr val="18324A"/>
                </a:solidFill>
              </a:rPr>
              <a:t>6</a:t>
            </a:r>
            <a:r>
              <a:rPr lang="en-US" sz="2400" dirty="0">
                <a:solidFill>
                  <a:srgbClr val="18324A"/>
                </a:solidFill>
              </a:rPr>
              <a:t>.</a:t>
            </a:r>
            <a:endParaRPr lang="en-US" sz="2400" dirty="0"/>
          </a:p>
        </p:txBody>
      </p:sp>
      <p:sp>
        <p:nvSpPr>
          <p:cNvPr id="16" name="Shape 16"/>
          <p:cNvSpPr/>
          <p:nvPr/>
        </p:nvSpPr>
        <p:spPr>
          <a:xfrm>
            <a:off x="6309360" y="3035808"/>
            <a:ext cx="533369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7" name="Shape 17"/>
          <p:cNvSpPr/>
          <p:nvPr/>
        </p:nvSpPr>
        <p:spPr>
          <a:xfrm>
            <a:off x="6309360" y="3035808"/>
            <a:ext cx="109728" cy="685800"/>
          </a:xfrm>
          <a:prstGeom prst="rect">
            <a:avLst/>
          </a:prstGeom>
          <a:solidFill>
            <a:srgbClr val="31C48D"/>
          </a:solidFill>
          <a:ln>
            <a:noFill/>
          </a:ln>
        </p:spPr>
        <p:txBody>
          <a:bodyPr wrap="square" lIns="0" tIns="0" rIns="0" bIns="0" rtlCol="0" anchor="t"/>
          <a:lstStyle/>
          <a:p>
            <a:endParaRPr lang="en-US"/>
          </a:p>
        </p:txBody>
      </p:sp>
      <p:sp>
        <p:nvSpPr>
          <p:cNvPr id="18" name="Callout"/>
          <p:cNvSpPr/>
          <p:nvPr/>
        </p:nvSpPr>
        <p:spPr>
          <a:xfrm>
            <a:off x="6419088" y="3035808"/>
            <a:ext cx="522396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Then use </a:t>
            </a:r>
            <a:r>
              <a:rPr lang="en-US" sz="2400" dirty="0">
                <a:solidFill>
                  <a:srgbClr val="18324A"/>
                </a:solidFill>
                <a:latin typeface="Consolas"/>
                <a:ea typeface="Consolas"/>
                <a:cs typeface="Consolas"/>
              </a:rPr>
              <a:t>a</a:t>
            </a:r>
            <a:r>
              <a:rPr lang="en-US" sz="2400" dirty="0">
                <a:solidFill>
                  <a:srgbClr val="18324A"/>
                </a:solidFill>
              </a:rPr>
              <a:t>: </a:t>
            </a:r>
            <a:r>
              <a:rPr lang="en-US" sz="2400" dirty="0">
                <a:solidFill>
                  <a:srgbClr val="18324A"/>
                </a:solidFill>
                <a:latin typeface="Consolas"/>
                <a:ea typeface="Consolas"/>
                <a:cs typeface="Consolas"/>
              </a:rPr>
              <a:t>b</a:t>
            </a:r>
            <a:r>
              <a:rPr lang="en-US" sz="2400" dirty="0">
                <a:solidFill>
                  <a:srgbClr val="18324A"/>
                </a:solidFill>
              </a:rPr>
              <a:t> gets </a:t>
            </a:r>
            <a:r>
              <a:rPr lang="en-US" sz="2400" b="1" dirty="0">
                <a:solidFill>
                  <a:srgbClr val="18324A"/>
                </a:solidFill>
              </a:rPr>
              <a:t>6</a:t>
            </a:r>
            <a:r>
              <a:rPr lang="en-US" sz="2400" dirty="0">
                <a:solidFill>
                  <a:srgbClr val="18324A"/>
                </a:solidFill>
              </a:rPr>
              <a:t>.</a:t>
            </a:r>
            <a:endParaRPr lang="en-US" sz="2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Hands up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86</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What is printed?</a:t>
            </a:r>
            <a:endParaRPr lang="en-US" sz="3200" dirty="0"/>
          </a:p>
          <a:p>
            <a:pPr marL="0" indent="0" algn="l">
              <a:spcAft>
                <a:spcPts val="600"/>
              </a:spcAft>
              <a:buNone/>
            </a:pPr>
            <a:endParaRPr lang="en-US" sz="3200" dirty="0"/>
          </a:p>
          <a:p>
            <a:pPr marL="0" indent="0" algn="l">
              <a:spcAft>
                <a:spcPts val="600"/>
              </a:spcAft>
              <a:buNone/>
            </a:pPr>
            <a:r>
              <a:rPr lang="en-US" sz="3200" dirty="0">
                <a:solidFill>
                  <a:srgbClr val="2F80ED"/>
                </a:solidFill>
                <a:latin typeface="Consolas"/>
                <a:ea typeface="Consolas"/>
                <a:cs typeface="Consolas"/>
              </a:rPr>
              <a:t>5 6</a:t>
            </a:r>
            <a:r>
              <a:rPr lang="en-US" sz="3200" dirty="0">
                <a:solidFill>
                  <a:srgbClr val="18324A"/>
                </a:solidFill>
              </a:rPr>
              <a:t>   or   </a:t>
            </a:r>
            <a:r>
              <a:rPr lang="en-US" sz="3200" dirty="0">
                <a:solidFill>
                  <a:srgbClr val="2F80ED"/>
                </a:solidFill>
                <a:latin typeface="Consolas"/>
                <a:ea typeface="Consolas"/>
                <a:cs typeface="Consolas"/>
              </a:rPr>
              <a:t>6 6</a:t>
            </a:r>
            <a:r>
              <a:rPr lang="en-US" sz="3200" dirty="0">
                <a:solidFill>
                  <a:srgbClr val="18324A"/>
                </a:solidFill>
              </a:rPr>
              <a:t>   or   </a:t>
            </a:r>
            <a:r>
              <a:rPr lang="en-US" sz="3200" dirty="0">
                <a:solidFill>
                  <a:srgbClr val="2F80ED"/>
                </a:solidFill>
                <a:latin typeface="Consolas"/>
                <a:ea typeface="Consolas"/>
                <a:cs typeface="Consolas"/>
              </a:rPr>
              <a:t>5 5</a:t>
            </a:r>
            <a:endParaRPr lang="en-US" sz="3200" dirty="0"/>
          </a:p>
        </p:txBody>
      </p:sp>
      <p:sp>
        <p:nvSpPr>
          <p:cNvPr id="8" name="Shape 8"/>
          <p:cNvSpPr/>
          <p:nvPr/>
        </p:nvSpPr>
        <p:spPr>
          <a:xfrm>
            <a:off x="5760720" y="1261872"/>
            <a:ext cx="5882335" cy="2397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397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int x = 5;</a:t>
            </a:r>
            <a:endParaRPr lang="en-US" sz="3200" dirty="0"/>
          </a:p>
          <a:p>
            <a:pPr marL="0" indent="0" algn="l">
              <a:lnSpc>
                <a:spcPts val="4000"/>
              </a:lnSpc>
              <a:buNone/>
            </a:pPr>
            <a:r>
              <a:rPr lang="en-US" sz="3200" dirty="0">
                <a:solidFill>
                  <a:srgbClr val="E5E7EB"/>
                </a:solidFill>
                <a:latin typeface="Consolas"/>
                <a:ea typeface="Consolas"/>
                <a:cs typeface="Consolas"/>
              </a:rPr>
              <a:t> </a:t>
            </a:r>
            <a:endParaRPr lang="en-US" sz="3200" dirty="0"/>
          </a:p>
          <a:p>
            <a:pPr marL="0" indent="0" algn="l">
              <a:lnSpc>
                <a:spcPts val="4000"/>
              </a:lnSpc>
              <a:buNone/>
            </a:pPr>
            <a:r>
              <a:rPr lang="en-US" sz="3200" dirty="0">
                <a:solidFill>
                  <a:srgbClr val="E5E7EB"/>
                </a:solidFill>
                <a:latin typeface="Consolas"/>
                <a:ea typeface="Consolas"/>
                <a:cs typeface="Consolas"/>
              </a:rPr>
              <a:t>printf("%d ", x++);</a:t>
            </a:r>
            <a:endParaRPr lang="en-US" sz="3200" dirty="0"/>
          </a:p>
          <a:p>
            <a:pPr marL="0" indent="0" algn="l">
              <a:lnSpc>
                <a:spcPts val="4000"/>
              </a:lnSpc>
              <a:buNone/>
            </a:pPr>
            <a:r>
              <a:rPr lang="en-US" sz="3200" dirty="0">
                <a:solidFill>
                  <a:srgbClr val="E5E7EB"/>
                </a:solidFill>
                <a:latin typeface="Consolas"/>
                <a:ea typeface="Consolas"/>
                <a:cs typeface="Consolas"/>
              </a:rPr>
              <a:t>printf("%d\n", x);</a:t>
            </a:r>
            <a:endParaRPr lang="en-US" sz="3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Hands up: the answer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87</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What is printed?</a:t>
            </a:r>
            <a:endParaRPr lang="en-US" sz="3200" dirty="0"/>
          </a:p>
          <a:p>
            <a:pPr marL="0" indent="0" algn="l">
              <a:spcAft>
                <a:spcPts val="600"/>
              </a:spcAft>
              <a:buNone/>
            </a:pPr>
            <a:endParaRPr lang="en-US" sz="3200" dirty="0"/>
          </a:p>
          <a:p>
            <a:pPr marL="0" indent="0" algn="l">
              <a:spcAft>
                <a:spcPts val="600"/>
              </a:spcAft>
              <a:buNone/>
            </a:pPr>
            <a:r>
              <a:rPr lang="en-US" sz="3200" dirty="0">
                <a:solidFill>
                  <a:srgbClr val="2F80ED"/>
                </a:solidFill>
                <a:latin typeface="Consolas"/>
                <a:ea typeface="Consolas"/>
                <a:cs typeface="Consolas"/>
              </a:rPr>
              <a:t>5 6</a:t>
            </a:r>
            <a:r>
              <a:rPr lang="en-US" sz="3200" dirty="0">
                <a:solidFill>
                  <a:srgbClr val="18324A"/>
                </a:solidFill>
              </a:rPr>
              <a:t>   or   </a:t>
            </a:r>
            <a:r>
              <a:rPr lang="en-US" sz="3200" dirty="0">
                <a:solidFill>
                  <a:srgbClr val="2F80ED"/>
                </a:solidFill>
                <a:latin typeface="Consolas"/>
                <a:ea typeface="Consolas"/>
                <a:cs typeface="Consolas"/>
              </a:rPr>
              <a:t>6 6</a:t>
            </a:r>
            <a:r>
              <a:rPr lang="en-US" sz="3200" dirty="0">
                <a:solidFill>
                  <a:srgbClr val="18324A"/>
                </a:solidFill>
              </a:rPr>
              <a:t>   or   </a:t>
            </a:r>
            <a:r>
              <a:rPr lang="en-US" sz="3200" dirty="0">
                <a:solidFill>
                  <a:srgbClr val="2F80ED"/>
                </a:solidFill>
                <a:latin typeface="Consolas"/>
                <a:ea typeface="Consolas"/>
                <a:cs typeface="Consolas"/>
              </a:rPr>
              <a:t>5 5</a:t>
            </a:r>
            <a:endParaRPr lang="en-US" sz="3200" dirty="0"/>
          </a:p>
        </p:txBody>
      </p:sp>
      <p:sp>
        <p:nvSpPr>
          <p:cNvPr id="8" name="Shape 8"/>
          <p:cNvSpPr/>
          <p:nvPr/>
        </p:nvSpPr>
        <p:spPr>
          <a:xfrm>
            <a:off x="5760720" y="1261872"/>
            <a:ext cx="5882335" cy="239776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2511552"/>
            <a:ext cx="5882335" cy="508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2511552"/>
            <a:ext cx="82296" cy="508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2397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int x = 5;</a:t>
            </a:r>
            <a:endParaRPr lang="en-US" sz="3200" dirty="0"/>
          </a:p>
          <a:p>
            <a:pPr marL="0" indent="0" algn="l">
              <a:lnSpc>
                <a:spcPts val="4000"/>
              </a:lnSpc>
              <a:buNone/>
            </a:pPr>
            <a:r>
              <a:rPr lang="en-US" sz="3200" dirty="0">
                <a:solidFill>
                  <a:srgbClr val="64748B"/>
                </a:solidFill>
                <a:latin typeface="Consolas"/>
                <a:ea typeface="Consolas"/>
                <a:cs typeface="Consolas"/>
              </a:rPr>
              <a:t> </a:t>
            </a:r>
            <a:endParaRPr lang="en-US" sz="3200" dirty="0"/>
          </a:p>
          <a:p>
            <a:pPr marL="0" indent="0" algn="l">
              <a:lnSpc>
                <a:spcPts val="4000"/>
              </a:lnSpc>
              <a:buNone/>
            </a:pPr>
            <a:r>
              <a:rPr lang="en-US" sz="3200" dirty="0">
                <a:solidFill>
                  <a:srgbClr val="FFFFFF"/>
                </a:solidFill>
                <a:latin typeface="Consolas"/>
                <a:ea typeface="Consolas"/>
                <a:cs typeface="Consolas"/>
              </a:rPr>
              <a:t>printf("%d ", x++);</a:t>
            </a:r>
            <a:endParaRPr lang="en-US" sz="3200" dirty="0"/>
          </a:p>
          <a:p>
            <a:pPr marL="0" indent="0" algn="l">
              <a:lnSpc>
                <a:spcPts val="4000"/>
              </a:lnSpc>
              <a:buNone/>
            </a:pPr>
            <a:r>
              <a:rPr lang="en-US" sz="3200" dirty="0">
                <a:solidFill>
                  <a:srgbClr val="64748B"/>
                </a:solidFill>
                <a:latin typeface="Consolas"/>
                <a:ea typeface="Consolas"/>
                <a:cs typeface="Consolas"/>
              </a:rPr>
              <a:t>printf("%d\n", x);</a:t>
            </a:r>
            <a:endParaRPr lang="en-US" sz="3200" dirty="0"/>
          </a:p>
        </p:txBody>
      </p:sp>
      <p:sp>
        <p:nvSpPr>
          <p:cNvPr id="12" name="Shape 12"/>
          <p:cNvSpPr/>
          <p:nvPr/>
        </p:nvSpPr>
        <p:spPr>
          <a:xfrm>
            <a:off x="548640" y="4251960"/>
            <a:ext cx="4937760" cy="201168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3" name="Shape 13"/>
          <p:cNvSpPr/>
          <p:nvPr/>
        </p:nvSpPr>
        <p:spPr>
          <a:xfrm>
            <a:off x="548640" y="4251960"/>
            <a:ext cx="109728" cy="2011680"/>
          </a:xfrm>
          <a:prstGeom prst="rect">
            <a:avLst/>
          </a:prstGeom>
          <a:solidFill>
            <a:srgbClr val="31C48D"/>
          </a:solidFill>
          <a:ln>
            <a:noFill/>
          </a:ln>
        </p:spPr>
        <p:txBody>
          <a:bodyPr wrap="square" lIns="0" tIns="0" rIns="0" bIns="0" rtlCol="0" anchor="t"/>
          <a:lstStyle/>
          <a:p>
            <a:endParaRPr lang="en-US"/>
          </a:p>
        </p:txBody>
      </p:sp>
      <p:sp>
        <p:nvSpPr>
          <p:cNvPr id="14" name="Callout"/>
          <p:cNvSpPr/>
          <p:nvPr/>
        </p:nvSpPr>
        <p:spPr>
          <a:xfrm>
            <a:off x="658368" y="4251960"/>
            <a:ext cx="4828032" cy="201168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latin typeface="Consolas"/>
                <a:ea typeface="Consolas"/>
                <a:cs typeface="Consolas"/>
              </a:rPr>
              <a:t>5 6</a:t>
            </a:r>
            <a:r>
              <a:rPr lang="en-US" sz="2600" dirty="0">
                <a:solidFill>
                  <a:srgbClr val="18324A"/>
                </a:solidFill>
              </a:rPr>
              <a:t>. The first </a:t>
            </a:r>
            <a:r>
              <a:rPr lang="en-US" sz="2600" dirty="0">
                <a:solidFill>
                  <a:srgbClr val="18324A"/>
                </a:solidFill>
                <a:latin typeface="Consolas"/>
                <a:ea typeface="Consolas"/>
                <a:cs typeface="Consolas"/>
              </a:rPr>
              <a:t>printf</a:t>
            </a:r>
            <a:r>
              <a:rPr lang="en-US" sz="2600" dirty="0">
                <a:solidFill>
                  <a:srgbClr val="18324A"/>
                </a:solidFill>
              </a:rPr>
              <a:t> gets the old value, 5. Then </a:t>
            </a:r>
            <a:r>
              <a:rPr lang="en-US" sz="2600" dirty="0">
                <a:solidFill>
                  <a:srgbClr val="18324A"/>
                </a:solidFill>
                <a:latin typeface="Consolas"/>
                <a:ea typeface="Consolas"/>
                <a:cs typeface="Consolas"/>
              </a:rPr>
              <a:t>x</a:t>
            </a:r>
            <a:r>
              <a:rPr lang="en-US" sz="2600" dirty="0">
                <a:solidFill>
                  <a:srgbClr val="18324A"/>
                </a:solidFill>
              </a:rPr>
              <a:t> becomes 6.</a:t>
            </a:r>
            <a:endParaRPr lang="en-US" sz="26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rule for this course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88</a:t>
            </a:r>
            <a:endParaRPr lang="en-US" sz="1400" dirty="0"/>
          </a:p>
        </p:txBody>
      </p:sp>
      <p:sp>
        <p:nvSpPr>
          <p:cNvPr id="6" name="Shape 6"/>
          <p:cNvSpPr/>
          <p:nvPr/>
        </p:nvSpPr>
        <p:spPr>
          <a:xfrm>
            <a:off x="548640" y="1399032"/>
            <a:ext cx="109728" cy="14020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Write </a:t>
            </a:r>
            <a:r>
              <a:rPr lang="en-US" sz="4000" b="1" dirty="0">
                <a:solidFill>
                  <a:srgbClr val="2F80ED"/>
                </a:solidFill>
                <a:latin typeface="Consolas"/>
                <a:ea typeface="Consolas"/>
                <a:cs typeface="Consolas"/>
              </a:rPr>
              <a:t>i++</a:t>
            </a:r>
            <a:r>
              <a:rPr lang="en-US" sz="4000" b="1" dirty="0">
                <a:solidFill>
                  <a:srgbClr val="18324A"/>
                </a:solidFill>
              </a:rPr>
              <a:t> on a line of its own, or as the third part of a </a:t>
            </a:r>
            <a:r>
              <a:rPr lang="en-US" sz="4000" b="1" dirty="0">
                <a:solidFill>
                  <a:srgbClr val="2F80ED"/>
                </a:solidFill>
                <a:latin typeface="Consolas"/>
                <a:ea typeface="Consolas"/>
                <a:cs typeface="Consolas"/>
              </a:rPr>
              <a:t>for</a:t>
            </a:r>
            <a:r>
              <a:rPr lang="en-US" sz="4000" b="1" dirty="0">
                <a:solidFill>
                  <a:srgbClr val="18324A"/>
                </a:solidFill>
              </a:rPr>
              <a:t>.</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You must be able to </a:t>
            </a:r>
            <a:r>
              <a:rPr lang="en-US" sz="3000" b="1" dirty="0">
                <a:solidFill>
                  <a:srgbClr val="18324A"/>
                </a:solidFill>
              </a:rPr>
              <a:t>read</a:t>
            </a:r>
            <a:r>
              <a:rPr lang="en-US" sz="3000" dirty="0">
                <a:solidFill>
                  <a:srgbClr val="18324A"/>
                </a:solidFill>
              </a:rPr>
              <a:t> </a:t>
            </a:r>
            <a:r>
              <a:rPr lang="en-US" sz="3000" dirty="0">
                <a:solidFill>
                  <a:srgbClr val="2F80ED"/>
                </a:solidFill>
                <a:latin typeface="Consolas"/>
                <a:ea typeface="Consolas"/>
                <a:cs typeface="Consolas"/>
              </a:rPr>
              <a:t>b = a++</a:t>
            </a:r>
            <a:r>
              <a:rPr lang="en-US" sz="3000" dirty="0">
                <a:solidFill>
                  <a:srgbClr val="18324A"/>
                </a:solidFill>
              </a:rPr>
              <a:t>. It can be on a quiz.</a:t>
            </a:r>
            <a:endParaRPr lang="en-US" sz="3000" dirty="0"/>
          </a:p>
          <a:p>
            <a:pPr marL="0" indent="0" algn="l">
              <a:spcAft>
                <a:spcPts val="1600"/>
              </a:spcAft>
              <a:buNone/>
            </a:pPr>
            <a:r>
              <a:rPr lang="en-US" sz="3000" dirty="0">
                <a:solidFill>
                  <a:srgbClr val="18324A"/>
                </a:solidFill>
              </a:rPr>
              <a:t>You never need to </a:t>
            </a:r>
            <a:r>
              <a:rPr lang="en-US" sz="3000" b="1" dirty="0">
                <a:solidFill>
                  <a:srgbClr val="18324A"/>
                </a:solidFill>
              </a:rPr>
              <a:t>write</a:t>
            </a:r>
            <a:r>
              <a:rPr lang="en-US" sz="3000" dirty="0">
                <a:solidFill>
                  <a:srgbClr val="18324A"/>
                </a:solidFill>
              </a:rPr>
              <a:t> it.</a:t>
            </a:r>
            <a:endParaRPr lang="en-US" sz="3000" dirty="0"/>
          </a:p>
        </p:txBody>
      </p:sp>
      <p:sp>
        <p:nvSpPr>
          <p:cNvPr id="9" name="Shape 9"/>
          <p:cNvSpPr/>
          <p:nvPr/>
        </p:nvSpPr>
        <p:spPr>
          <a:xfrm>
            <a:off x="548640" y="5212080"/>
            <a:ext cx="1109441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0" name="Shape 10"/>
          <p:cNvSpPr/>
          <p:nvPr/>
        </p:nvSpPr>
        <p:spPr>
          <a:xfrm>
            <a:off x="548640" y="5212080"/>
            <a:ext cx="109728" cy="1051560"/>
          </a:xfrm>
          <a:prstGeom prst="rect">
            <a:avLst/>
          </a:prstGeom>
          <a:solidFill>
            <a:srgbClr val="FF6B6B"/>
          </a:solidFill>
          <a:ln>
            <a:noFill/>
          </a:ln>
        </p:spPr>
        <p:txBody>
          <a:bodyPr wrap="square" lIns="0" tIns="0" rIns="0" bIns="0" rtlCol="0" anchor="t"/>
          <a:lstStyle/>
          <a:p>
            <a:endParaRPr lang="en-US"/>
          </a:p>
        </p:txBody>
      </p:sp>
      <p:sp>
        <p:nvSpPr>
          <p:cNvPr id="11"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Never write </a:t>
            </a:r>
            <a:r>
              <a:rPr lang="en-US" sz="2400" dirty="0">
                <a:solidFill>
                  <a:srgbClr val="18324A"/>
                </a:solidFill>
                <a:latin typeface="Consolas"/>
                <a:ea typeface="Consolas"/>
                <a:cs typeface="Consolas"/>
              </a:rPr>
              <a:t>i++ + ++i</a:t>
            </a:r>
            <a:r>
              <a:rPr lang="en-US" sz="2400" dirty="0">
                <a:solidFill>
                  <a:srgbClr val="18324A"/>
                </a:solidFill>
              </a:rPr>
              <a:t>. Even the compiler objects: </a:t>
            </a:r>
            <a:r>
              <a:rPr lang="en-US" sz="2400" dirty="0">
                <a:solidFill>
                  <a:srgbClr val="18324A"/>
                </a:solidFill>
                <a:latin typeface="Consolas"/>
                <a:ea typeface="Consolas"/>
                <a:cs typeface="Consolas"/>
              </a:rPr>
              <a:t>operation on 'i' may be undefined</a:t>
            </a:r>
            <a:r>
              <a:rPr lang="en-US" sz="2400" dirty="0">
                <a:solidFill>
                  <a:srgbClr val="18324A"/>
                </a:solidFill>
              </a:rPr>
              <a:t>.</a:t>
            </a:r>
            <a:endParaRPr 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31C48D"/>
          </a:solidFill>
          <a:ln>
            <a:noFill/>
          </a:ln>
        </p:spPr>
        <p:txBody>
          <a:bodyPr wrap="square" lIns="0" tIns="0" rIns="0" bIns="0" rtlCol="0" anchor="ctr"/>
          <a:lstStyle/>
          <a:p>
            <a:pPr marL="0" indent="0" algn="ctr">
              <a:buNone/>
            </a:pPr>
            <a:r>
              <a:rPr lang="en-US" sz="5400" b="1" dirty="0">
                <a:solidFill>
                  <a:srgbClr val="FFFFFF"/>
                </a:solidFill>
              </a:rPr>
              <a:t>8</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latin typeface="Consolas"/>
                <a:ea typeface="Consolas"/>
                <a:cs typeface="Consolas"/>
              </a:rPr>
              <a:t>+=</a:t>
            </a:r>
            <a:r>
              <a:rPr lang="en-US" sz="4800" b="1" dirty="0">
                <a:solidFill>
                  <a:srgbClr val="FFFFFF"/>
                </a:solidFill>
              </a:rPr>
              <a:t> and its family</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A shorter way to write </a:t>
            </a:r>
            <a:r>
              <a:rPr lang="en-US" sz="2600" dirty="0">
                <a:solidFill>
                  <a:srgbClr val="FFFFFF"/>
                </a:solidFill>
                <a:latin typeface="Consolas"/>
                <a:ea typeface="Consolas"/>
                <a:cs typeface="Consolas"/>
              </a:rPr>
              <a:t>x = x + 3</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5</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Take, add, put back</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90</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Take what is in the box, add 3, put it back. Say it as: </a:t>
            </a:r>
            <a:r>
              <a:rPr lang="en-US" sz="2400" b="1" dirty="0">
                <a:solidFill>
                  <a:srgbClr val="18324A"/>
                </a:solidFill>
              </a:rPr>
              <a:t>add 3 to</a:t>
            </a:r>
            <a:r>
              <a:rPr lang="en-US" sz="2400" dirty="0">
                <a:solidFill>
                  <a:srgbClr val="18324A"/>
                </a:solidFill>
              </a:rPr>
              <a:t> </a:t>
            </a:r>
            <a:r>
              <a:rPr lang="en-US" sz="2400" dirty="0">
                <a:solidFill>
                  <a:srgbClr val="18324A"/>
                </a:solidFill>
                <a:latin typeface="Consolas"/>
                <a:ea typeface="Consolas"/>
                <a:cs typeface="Consolas"/>
              </a:rPr>
              <a:t>x</a:t>
            </a:r>
            <a:r>
              <a:rPr lang="en-US" sz="2400" dirty="0">
                <a:solidFill>
                  <a:srgbClr val="18324A"/>
                </a:solidFill>
              </a:rPr>
              <a:t>.</a:t>
            </a:r>
            <a:endParaRPr lang="en-US" sz="2400" dirty="0"/>
          </a:p>
        </p:txBody>
      </p:sp>
      <p:sp>
        <p:nvSpPr>
          <p:cNvPr id="9" name="Shape 9"/>
          <p:cNvSpPr/>
          <p:nvPr/>
        </p:nvSpPr>
        <p:spPr>
          <a:xfrm>
            <a:off x="548640" y="1261872"/>
            <a:ext cx="5364328" cy="384048"/>
          </a:xfrm>
          <a:prstGeom prst="rect">
            <a:avLst/>
          </a:prstGeom>
          <a:solidFill>
            <a:srgbClr val="2F80ED"/>
          </a:solidFill>
          <a:ln>
            <a:noFill/>
          </a:ln>
        </p:spPr>
        <p:txBody>
          <a:bodyPr wrap="square" lIns="0" tIns="0" rIns="0" bIns="0" rtlCol="0" anchor="ctr"/>
          <a:lstStyle/>
          <a:p>
            <a:pPr marL="0" indent="0" algn="ctr">
              <a:buNone/>
            </a:pPr>
            <a:r>
              <a:rPr lang="en-US" sz="1800" b="1" dirty="0">
                <a:solidFill>
                  <a:srgbClr val="FFFFFF"/>
                </a:solidFill>
              </a:rPr>
              <a:t>Long form</a:t>
            </a:r>
            <a:endParaRPr lang="en-US" sz="1800" dirty="0"/>
          </a:p>
        </p:txBody>
      </p:sp>
      <p:sp>
        <p:nvSpPr>
          <p:cNvPr id="10" name="Shape 10"/>
          <p:cNvSpPr/>
          <p:nvPr/>
        </p:nvSpPr>
        <p:spPr>
          <a:xfrm>
            <a:off x="548640" y="1645920"/>
            <a:ext cx="5364328" cy="873760"/>
          </a:xfrm>
          <a:prstGeom prst="rect">
            <a:avLst/>
          </a:prstGeom>
          <a:solidFill>
            <a:srgbClr val="0F172A"/>
          </a:solidFill>
          <a:ln>
            <a:noFill/>
          </a:ln>
        </p:spPr>
        <p:txBody>
          <a:bodyPr wrap="square" lIns="0" tIns="0" rIns="0" bIns="0" rtlCol="0" anchor="t"/>
          <a:lstStyle/>
          <a:p>
            <a:endParaRPr lang="en-US"/>
          </a:p>
        </p:txBody>
      </p:sp>
      <p:sp>
        <p:nvSpPr>
          <p:cNvPr id="11" name="Code"/>
          <p:cNvSpPr/>
          <p:nvPr/>
        </p:nvSpPr>
        <p:spPr>
          <a:xfrm>
            <a:off x="548640" y="1645920"/>
            <a:ext cx="5364328" cy="873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x = x + 3;</a:t>
            </a:r>
            <a:endParaRPr lang="en-US" sz="3200" dirty="0"/>
          </a:p>
        </p:txBody>
      </p:sp>
      <p:sp>
        <p:nvSpPr>
          <p:cNvPr id="12" name="Shape 12"/>
          <p:cNvSpPr/>
          <p:nvPr/>
        </p:nvSpPr>
        <p:spPr>
          <a:xfrm>
            <a:off x="6278728" y="1261872"/>
            <a:ext cx="5364328" cy="384048"/>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Short form</a:t>
            </a:r>
            <a:endParaRPr lang="en-US" sz="1800" dirty="0"/>
          </a:p>
        </p:txBody>
      </p:sp>
      <p:sp>
        <p:nvSpPr>
          <p:cNvPr id="13" name="Shape 13"/>
          <p:cNvSpPr/>
          <p:nvPr/>
        </p:nvSpPr>
        <p:spPr>
          <a:xfrm>
            <a:off x="6278728" y="1645920"/>
            <a:ext cx="5364328" cy="873760"/>
          </a:xfrm>
          <a:prstGeom prst="rect">
            <a:avLst/>
          </a:prstGeom>
          <a:solidFill>
            <a:srgbClr val="0F172A"/>
          </a:solidFill>
          <a:ln>
            <a:noFill/>
          </a:ln>
        </p:spPr>
        <p:txBody>
          <a:bodyPr wrap="square" lIns="0" tIns="0" rIns="0" bIns="0" rtlCol="0" anchor="t"/>
          <a:lstStyle/>
          <a:p>
            <a:endParaRPr lang="en-US"/>
          </a:p>
        </p:txBody>
      </p:sp>
      <p:sp>
        <p:nvSpPr>
          <p:cNvPr id="14" name="Code"/>
          <p:cNvSpPr/>
          <p:nvPr/>
        </p:nvSpPr>
        <p:spPr>
          <a:xfrm>
            <a:off x="6278728" y="1645920"/>
            <a:ext cx="5364328" cy="873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x += 3;</a:t>
            </a:r>
            <a:endParaRPr lang="en-US" sz="32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All five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91</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And now you see what </a:t>
            </a:r>
            <a:r>
              <a:rPr lang="en-US" sz="2400" dirty="0">
                <a:solidFill>
                  <a:srgbClr val="18324A"/>
                </a:solidFill>
                <a:latin typeface="Consolas"/>
                <a:ea typeface="Consolas"/>
                <a:cs typeface="Consolas"/>
              </a:rPr>
              <a:t>x++</a:t>
            </a:r>
            <a:r>
              <a:rPr lang="en-US" sz="2400" dirty="0">
                <a:solidFill>
                  <a:srgbClr val="18324A"/>
                </a:solidFill>
              </a:rPr>
              <a:t> is: </a:t>
            </a:r>
            <a:r>
              <a:rPr lang="en-US" sz="2400" dirty="0">
                <a:solidFill>
                  <a:srgbClr val="18324A"/>
                </a:solidFill>
                <a:latin typeface="Consolas"/>
                <a:ea typeface="Consolas"/>
                <a:cs typeface="Consolas"/>
              </a:rPr>
              <a:t>x += 1</a:t>
            </a:r>
            <a:r>
              <a:rPr lang="en-US" sz="2400" dirty="0">
                <a:solidFill>
                  <a:srgbClr val="18324A"/>
                </a:solidFill>
              </a:rPr>
              <a:t>, which is </a:t>
            </a:r>
            <a:r>
              <a:rPr lang="en-US" sz="2400" dirty="0">
                <a:solidFill>
                  <a:srgbClr val="18324A"/>
                </a:solidFill>
                <a:latin typeface="Consolas"/>
                <a:ea typeface="Consolas"/>
                <a:cs typeface="Consolas"/>
              </a:rPr>
              <a:t>x = x + 1</a:t>
            </a:r>
            <a:r>
              <a:rPr lang="en-US" sz="2400" dirty="0">
                <a:solidFill>
                  <a:srgbClr val="18324A"/>
                </a:solidFill>
              </a:rPr>
              <a:t>.</a:t>
            </a:r>
            <a:endParaRPr lang="en-US" sz="2400" dirty="0"/>
          </a:p>
        </p:txBody>
      </p:sp>
      <p:sp>
        <p:nvSpPr>
          <p:cNvPr id="9" name="Shape 9"/>
          <p:cNvSpPr/>
          <p:nvPr/>
        </p:nvSpPr>
        <p:spPr>
          <a:xfrm>
            <a:off x="548640" y="1261872"/>
            <a:ext cx="36981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Short form</a:t>
            </a:r>
            <a:endParaRPr lang="en-US" sz="1800" dirty="0"/>
          </a:p>
        </p:txBody>
      </p:sp>
      <p:sp>
        <p:nvSpPr>
          <p:cNvPr id="10" name="Shape 10"/>
          <p:cNvSpPr/>
          <p:nvPr/>
        </p:nvSpPr>
        <p:spPr>
          <a:xfrm>
            <a:off x="4246778" y="1261872"/>
            <a:ext cx="36981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Long form</a:t>
            </a:r>
            <a:endParaRPr lang="en-US" sz="1800" dirty="0"/>
          </a:p>
        </p:txBody>
      </p:sp>
      <p:sp>
        <p:nvSpPr>
          <p:cNvPr id="11" name="Shape 11"/>
          <p:cNvSpPr/>
          <p:nvPr/>
        </p:nvSpPr>
        <p:spPr>
          <a:xfrm>
            <a:off x="7944917" y="1261872"/>
            <a:ext cx="36981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Say it as</a:t>
            </a:r>
            <a:endParaRPr lang="en-US" sz="1800" dirty="0"/>
          </a:p>
        </p:txBody>
      </p:sp>
      <p:sp>
        <p:nvSpPr>
          <p:cNvPr id="12" name="Shape 12"/>
          <p:cNvSpPr/>
          <p:nvPr/>
        </p:nvSpPr>
        <p:spPr>
          <a:xfrm>
            <a:off x="548640" y="1920240"/>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x += 3;</a:t>
            </a:r>
            <a:endParaRPr lang="en-US" sz="2600" dirty="0"/>
          </a:p>
        </p:txBody>
      </p:sp>
      <p:sp>
        <p:nvSpPr>
          <p:cNvPr id="13" name="Shape 13"/>
          <p:cNvSpPr/>
          <p:nvPr/>
        </p:nvSpPr>
        <p:spPr>
          <a:xfrm>
            <a:off x="4246778" y="1920240"/>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x = x + 3;</a:t>
            </a:r>
            <a:endParaRPr lang="en-US" sz="2600" dirty="0"/>
          </a:p>
        </p:txBody>
      </p:sp>
      <p:sp>
        <p:nvSpPr>
          <p:cNvPr id="14" name="Shape 14"/>
          <p:cNvSpPr/>
          <p:nvPr/>
        </p:nvSpPr>
        <p:spPr>
          <a:xfrm>
            <a:off x="7944917" y="1920240"/>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add 3 to x</a:t>
            </a:r>
            <a:endParaRPr lang="en-US" sz="2600" dirty="0"/>
          </a:p>
        </p:txBody>
      </p:sp>
      <p:sp>
        <p:nvSpPr>
          <p:cNvPr id="15" name="Shape 15"/>
          <p:cNvSpPr/>
          <p:nvPr/>
        </p:nvSpPr>
        <p:spPr>
          <a:xfrm>
            <a:off x="548640" y="2578608"/>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x -= 2;</a:t>
            </a:r>
            <a:endParaRPr lang="en-US" sz="2600" dirty="0"/>
          </a:p>
        </p:txBody>
      </p:sp>
      <p:sp>
        <p:nvSpPr>
          <p:cNvPr id="16" name="Shape 16"/>
          <p:cNvSpPr/>
          <p:nvPr/>
        </p:nvSpPr>
        <p:spPr>
          <a:xfrm>
            <a:off x="4246778" y="2578608"/>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x = x - 2;</a:t>
            </a:r>
            <a:endParaRPr lang="en-US" sz="2600" dirty="0"/>
          </a:p>
        </p:txBody>
      </p:sp>
      <p:sp>
        <p:nvSpPr>
          <p:cNvPr id="17" name="Shape 17"/>
          <p:cNvSpPr/>
          <p:nvPr/>
        </p:nvSpPr>
        <p:spPr>
          <a:xfrm>
            <a:off x="7944917" y="2578608"/>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take 2 from x</a:t>
            </a:r>
            <a:endParaRPr lang="en-US" sz="2600" dirty="0"/>
          </a:p>
        </p:txBody>
      </p:sp>
      <p:sp>
        <p:nvSpPr>
          <p:cNvPr id="18" name="Shape 18"/>
          <p:cNvSpPr/>
          <p:nvPr/>
        </p:nvSpPr>
        <p:spPr>
          <a:xfrm>
            <a:off x="548640" y="3236976"/>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x *= 4;</a:t>
            </a:r>
            <a:endParaRPr lang="en-US" sz="2600" dirty="0"/>
          </a:p>
        </p:txBody>
      </p:sp>
      <p:sp>
        <p:nvSpPr>
          <p:cNvPr id="19" name="Shape 19"/>
          <p:cNvSpPr/>
          <p:nvPr/>
        </p:nvSpPr>
        <p:spPr>
          <a:xfrm>
            <a:off x="4246778" y="3236976"/>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x = x * 4;</a:t>
            </a:r>
            <a:endParaRPr lang="en-US" sz="2600" dirty="0"/>
          </a:p>
        </p:txBody>
      </p:sp>
      <p:sp>
        <p:nvSpPr>
          <p:cNvPr id="20" name="Shape 20"/>
          <p:cNvSpPr/>
          <p:nvPr/>
        </p:nvSpPr>
        <p:spPr>
          <a:xfrm>
            <a:off x="7944917" y="3236976"/>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multiply x by 4</a:t>
            </a:r>
            <a:endParaRPr lang="en-US" sz="2600" dirty="0"/>
          </a:p>
        </p:txBody>
      </p:sp>
      <p:sp>
        <p:nvSpPr>
          <p:cNvPr id="21" name="Shape 21"/>
          <p:cNvSpPr/>
          <p:nvPr/>
        </p:nvSpPr>
        <p:spPr>
          <a:xfrm>
            <a:off x="548640" y="3895344"/>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x /= 5;</a:t>
            </a:r>
            <a:endParaRPr lang="en-US" sz="2600" dirty="0"/>
          </a:p>
        </p:txBody>
      </p:sp>
      <p:sp>
        <p:nvSpPr>
          <p:cNvPr id="22" name="Shape 22"/>
          <p:cNvSpPr/>
          <p:nvPr/>
        </p:nvSpPr>
        <p:spPr>
          <a:xfrm>
            <a:off x="4246778" y="3895344"/>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x = x / 5;</a:t>
            </a:r>
            <a:endParaRPr lang="en-US" sz="2600" dirty="0"/>
          </a:p>
        </p:txBody>
      </p:sp>
      <p:sp>
        <p:nvSpPr>
          <p:cNvPr id="23" name="Shape 23"/>
          <p:cNvSpPr/>
          <p:nvPr/>
        </p:nvSpPr>
        <p:spPr>
          <a:xfrm>
            <a:off x="7944917" y="3895344"/>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divide x by 5</a:t>
            </a:r>
            <a:endParaRPr lang="en-US" sz="2600" dirty="0"/>
          </a:p>
        </p:txBody>
      </p:sp>
      <p:sp>
        <p:nvSpPr>
          <p:cNvPr id="24" name="Shape 24"/>
          <p:cNvSpPr/>
          <p:nvPr/>
        </p:nvSpPr>
        <p:spPr>
          <a:xfrm>
            <a:off x="548640" y="4553712"/>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x %= 2;</a:t>
            </a:r>
            <a:endParaRPr lang="en-US" sz="2600" dirty="0"/>
          </a:p>
        </p:txBody>
      </p:sp>
      <p:sp>
        <p:nvSpPr>
          <p:cNvPr id="25" name="Shape 25"/>
          <p:cNvSpPr/>
          <p:nvPr/>
        </p:nvSpPr>
        <p:spPr>
          <a:xfrm>
            <a:off x="4246778" y="4553712"/>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x = x % 2;</a:t>
            </a:r>
            <a:endParaRPr lang="en-US" sz="2600" dirty="0"/>
          </a:p>
        </p:txBody>
      </p:sp>
      <p:sp>
        <p:nvSpPr>
          <p:cNvPr id="26" name="Shape 26"/>
          <p:cNvSpPr/>
          <p:nvPr/>
        </p:nvSpPr>
        <p:spPr>
          <a:xfrm>
            <a:off x="7944917" y="4553712"/>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keep the remainder</a:t>
            </a:r>
            <a:endParaRPr lang="en-US" sz="26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Row by row</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92</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x</a:t>
            </a:r>
            <a:r>
              <a:rPr lang="en-US" sz="3200" dirty="0">
                <a:solidFill>
                  <a:srgbClr val="18324A"/>
                </a:solidFill>
              </a:rPr>
              <a:t> starts at 10.</a:t>
            </a:r>
            <a:endParaRPr lang="en-US" sz="3200" dirty="0"/>
          </a:p>
          <a:p>
            <a:pPr marL="0" indent="0" algn="l">
              <a:spcAft>
                <a:spcPts val="600"/>
              </a:spcAft>
              <a:buNone/>
            </a:pPr>
            <a:r>
              <a:rPr lang="en-US" sz="3200" dirty="0">
                <a:solidFill>
                  <a:srgbClr val="18324A"/>
                </a:solidFill>
              </a:rPr>
              <a:t>What is </a:t>
            </a:r>
            <a:r>
              <a:rPr lang="en-US" sz="3200" dirty="0">
                <a:solidFill>
                  <a:srgbClr val="2F80ED"/>
                </a:solidFill>
                <a:latin typeface="Consolas"/>
                <a:ea typeface="Consolas"/>
                <a:cs typeface="Consolas"/>
              </a:rPr>
              <a:t>x</a:t>
            </a:r>
            <a:r>
              <a:rPr lang="en-US" sz="3200" dirty="0">
                <a:solidFill>
                  <a:srgbClr val="18324A"/>
                </a:solidFill>
              </a:rPr>
              <a:t> after each line?</a:t>
            </a:r>
            <a:endParaRPr lang="en-US" sz="3200" dirty="0"/>
          </a:p>
        </p:txBody>
      </p:sp>
      <p:sp>
        <p:nvSpPr>
          <p:cNvPr id="8" name="Shape 8"/>
          <p:cNvSpPr/>
          <p:nvPr/>
        </p:nvSpPr>
        <p:spPr>
          <a:xfrm>
            <a:off x="5760720" y="1261872"/>
            <a:ext cx="5882335" cy="3921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3921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int x = 10;</a:t>
            </a:r>
            <a:endParaRPr lang="en-US" sz="3200" dirty="0"/>
          </a:p>
          <a:p>
            <a:pPr marL="0" indent="0" algn="l">
              <a:lnSpc>
                <a:spcPts val="4000"/>
              </a:lnSpc>
              <a:buNone/>
            </a:pPr>
            <a:r>
              <a:rPr lang="en-US" sz="3200" dirty="0">
                <a:solidFill>
                  <a:srgbClr val="E5E7EB"/>
                </a:solidFill>
                <a:latin typeface="Consolas"/>
                <a:ea typeface="Consolas"/>
                <a:cs typeface="Consolas"/>
              </a:rPr>
              <a:t> </a:t>
            </a:r>
            <a:endParaRPr lang="en-US" sz="3200" dirty="0"/>
          </a:p>
          <a:p>
            <a:pPr marL="0" indent="0" algn="l">
              <a:lnSpc>
                <a:spcPts val="4000"/>
              </a:lnSpc>
              <a:buNone/>
            </a:pPr>
            <a:r>
              <a:rPr lang="en-US" sz="3200" dirty="0">
                <a:solidFill>
                  <a:srgbClr val="E5E7EB"/>
                </a:solidFill>
                <a:latin typeface="Consolas"/>
                <a:ea typeface="Consolas"/>
                <a:cs typeface="Consolas"/>
              </a:rPr>
              <a:t>x += 3;</a:t>
            </a:r>
            <a:endParaRPr lang="en-US" sz="3200" dirty="0"/>
          </a:p>
          <a:p>
            <a:pPr marL="0" indent="0" algn="l">
              <a:lnSpc>
                <a:spcPts val="4000"/>
              </a:lnSpc>
              <a:buNone/>
            </a:pPr>
            <a:r>
              <a:rPr lang="en-US" sz="3200" dirty="0">
                <a:solidFill>
                  <a:srgbClr val="E5E7EB"/>
                </a:solidFill>
                <a:latin typeface="Consolas"/>
                <a:ea typeface="Consolas"/>
                <a:cs typeface="Consolas"/>
              </a:rPr>
              <a:t>x -= 2;</a:t>
            </a:r>
            <a:endParaRPr lang="en-US" sz="3200" dirty="0"/>
          </a:p>
          <a:p>
            <a:pPr marL="0" indent="0" algn="l">
              <a:lnSpc>
                <a:spcPts val="4000"/>
              </a:lnSpc>
              <a:buNone/>
            </a:pPr>
            <a:r>
              <a:rPr lang="en-US" sz="3200" dirty="0">
                <a:solidFill>
                  <a:srgbClr val="E5E7EB"/>
                </a:solidFill>
                <a:latin typeface="Consolas"/>
                <a:ea typeface="Consolas"/>
                <a:cs typeface="Consolas"/>
              </a:rPr>
              <a:t>x *= 4;</a:t>
            </a:r>
            <a:endParaRPr lang="en-US" sz="3200" dirty="0"/>
          </a:p>
          <a:p>
            <a:pPr marL="0" indent="0" algn="l">
              <a:lnSpc>
                <a:spcPts val="4000"/>
              </a:lnSpc>
              <a:buNone/>
            </a:pPr>
            <a:r>
              <a:rPr lang="en-US" sz="3200" dirty="0">
                <a:solidFill>
                  <a:srgbClr val="E5E7EB"/>
                </a:solidFill>
                <a:latin typeface="Consolas"/>
                <a:ea typeface="Consolas"/>
                <a:cs typeface="Consolas"/>
              </a:rPr>
              <a:t>x /= 5;</a:t>
            </a:r>
            <a:endParaRPr lang="en-US" sz="3200" dirty="0"/>
          </a:p>
          <a:p>
            <a:pPr marL="0" indent="0" algn="l">
              <a:lnSpc>
                <a:spcPts val="4000"/>
              </a:lnSpc>
              <a:buNone/>
            </a:pPr>
            <a:r>
              <a:rPr lang="en-US" sz="3200" dirty="0">
                <a:solidFill>
                  <a:srgbClr val="E5E7EB"/>
                </a:solidFill>
                <a:latin typeface="Consolas"/>
                <a:ea typeface="Consolas"/>
                <a:cs typeface="Consolas"/>
              </a:rPr>
              <a:t>x %= 2;</a:t>
            </a:r>
            <a:endParaRPr lang="en-US" sz="3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Row by row: the answer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93</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44 / 5</a:t>
            </a:r>
            <a:r>
              <a:rPr lang="en-US" sz="2400" dirty="0">
                <a:solidFill>
                  <a:srgbClr val="18324A"/>
                </a:solidFill>
              </a:rPr>
              <a:t> is 8, not 8.8: </a:t>
            </a:r>
            <a:r>
              <a:rPr lang="en-US" sz="2400" dirty="0">
                <a:solidFill>
                  <a:srgbClr val="18324A"/>
                </a:solidFill>
                <a:latin typeface="Consolas"/>
                <a:ea typeface="Consolas"/>
                <a:cs typeface="Consolas"/>
              </a:rPr>
              <a:t>int</a:t>
            </a:r>
            <a:r>
              <a:rPr lang="en-US" sz="2400" dirty="0">
                <a:solidFill>
                  <a:srgbClr val="18324A"/>
                </a:solidFill>
              </a:rPr>
              <a:t> divided by </a:t>
            </a:r>
            <a:r>
              <a:rPr lang="en-US" sz="2400" dirty="0">
                <a:solidFill>
                  <a:srgbClr val="18324A"/>
                </a:solidFill>
                <a:latin typeface="Consolas"/>
                <a:ea typeface="Consolas"/>
                <a:cs typeface="Consolas"/>
              </a:rPr>
              <a:t>int</a:t>
            </a:r>
            <a:r>
              <a:rPr lang="en-US" sz="2400" dirty="0">
                <a:solidFill>
                  <a:srgbClr val="18324A"/>
                </a:solidFill>
              </a:rPr>
              <a:t> throws the decimals away. </a:t>
            </a:r>
            <a:r>
              <a:rPr lang="en-US" sz="2400" dirty="0">
                <a:solidFill>
                  <a:srgbClr val="18324A"/>
                </a:solidFill>
                <a:latin typeface="Consolas"/>
                <a:ea typeface="Consolas"/>
                <a:cs typeface="Consolas"/>
              </a:rPr>
              <a:t>8 % 2</a:t>
            </a:r>
            <a:r>
              <a:rPr lang="en-US" sz="2400" dirty="0">
                <a:solidFill>
                  <a:srgbClr val="18324A"/>
                </a:solidFill>
              </a:rPr>
              <a:t> is 0.</a:t>
            </a:r>
            <a:endParaRPr lang="en-US" sz="2400" dirty="0"/>
          </a:p>
        </p:txBody>
      </p:sp>
      <p:sp>
        <p:nvSpPr>
          <p:cNvPr id="9" name="Shape 9"/>
          <p:cNvSpPr/>
          <p:nvPr/>
        </p:nvSpPr>
        <p:spPr>
          <a:xfrm>
            <a:off x="548640" y="1261872"/>
            <a:ext cx="4937760" cy="3477260"/>
          </a:xfrm>
          <a:prstGeom prst="rect">
            <a:avLst/>
          </a:prstGeom>
          <a:solidFill>
            <a:srgbClr val="0F172A"/>
          </a:solidFill>
          <a:ln>
            <a:noFill/>
          </a:ln>
        </p:spPr>
        <p:txBody>
          <a:bodyPr wrap="square" lIns="0" tIns="0" rIns="0" bIns="0" rtlCol="0" anchor="t"/>
          <a:lstStyle/>
          <a:p>
            <a:endParaRPr lang="en-US"/>
          </a:p>
        </p:txBody>
      </p:sp>
      <p:sp>
        <p:nvSpPr>
          <p:cNvPr id="10" name="Code"/>
          <p:cNvSpPr/>
          <p:nvPr/>
        </p:nvSpPr>
        <p:spPr>
          <a:xfrm>
            <a:off x="548640" y="1261872"/>
            <a:ext cx="4937760" cy="34772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int x = 10;</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x += 3;</a:t>
            </a:r>
            <a:endParaRPr lang="en-US" sz="2800" dirty="0"/>
          </a:p>
          <a:p>
            <a:pPr marL="0" indent="0" algn="l">
              <a:lnSpc>
                <a:spcPts val="3500"/>
              </a:lnSpc>
              <a:buNone/>
            </a:pPr>
            <a:r>
              <a:rPr lang="en-US" sz="2800" dirty="0">
                <a:solidFill>
                  <a:srgbClr val="E5E7EB"/>
                </a:solidFill>
                <a:latin typeface="Consolas"/>
                <a:ea typeface="Consolas"/>
                <a:cs typeface="Consolas"/>
              </a:rPr>
              <a:t>x -= 2;</a:t>
            </a:r>
            <a:endParaRPr lang="en-US" sz="2800" dirty="0"/>
          </a:p>
          <a:p>
            <a:pPr marL="0" indent="0" algn="l">
              <a:lnSpc>
                <a:spcPts val="3500"/>
              </a:lnSpc>
              <a:buNone/>
            </a:pPr>
            <a:r>
              <a:rPr lang="en-US" sz="2800" dirty="0">
                <a:solidFill>
                  <a:srgbClr val="E5E7EB"/>
                </a:solidFill>
                <a:latin typeface="Consolas"/>
                <a:ea typeface="Consolas"/>
                <a:cs typeface="Consolas"/>
              </a:rPr>
              <a:t>x *= 4;</a:t>
            </a:r>
            <a:endParaRPr lang="en-US" sz="2800" dirty="0"/>
          </a:p>
          <a:p>
            <a:pPr marL="0" indent="0" algn="l">
              <a:lnSpc>
                <a:spcPts val="3500"/>
              </a:lnSpc>
              <a:buNone/>
            </a:pPr>
            <a:r>
              <a:rPr lang="en-US" sz="2800" dirty="0">
                <a:solidFill>
                  <a:srgbClr val="E5E7EB"/>
                </a:solidFill>
                <a:latin typeface="Consolas"/>
                <a:ea typeface="Consolas"/>
                <a:cs typeface="Consolas"/>
              </a:rPr>
              <a:t>x /= 5;</a:t>
            </a:r>
            <a:endParaRPr lang="en-US" sz="2800" dirty="0"/>
          </a:p>
          <a:p>
            <a:pPr marL="0" indent="0" algn="l">
              <a:lnSpc>
                <a:spcPts val="3500"/>
              </a:lnSpc>
              <a:buNone/>
            </a:pPr>
            <a:r>
              <a:rPr lang="en-US" sz="2800" dirty="0">
                <a:solidFill>
                  <a:srgbClr val="E5E7EB"/>
                </a:solidFill>
                <a:latin typeface="Consolas"/>
                <a:ea typeface="Consolas"/>
                <a:cs typeface="Consolas"/>
              </a:rPr>
              <a:t>x %= 2;</a:t>
            </a:r>
            <a:endParaRPr lang="en-US" sz="2800" dirty="0"/>
          </a:p>
        </p:txBody>
      </p:sp>
      <p:sp>
        <p:nvSpPr>
          <p:cNvPr id="11" name="Shape 11"/>
          <p:cNvSpPr/>
          <p:nvPr/>
        </p:nvSpPr>
        <p:spPr>
          <a:xfrm>
            <a:off x="5760720" y="1261872"/>
            <a:ext cx="2941168"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line</a:t>
            </a:r>
            <a:endParaRPr lang="en-US" sz="1800" dirty="0"/>
          </a:p>
        </p:txBody>
      </p:sp>
      <p:sp>
        <p:nvSpPr>
          <p:cNvPr id="12" name="Shape 12"/>
          <p:cNvSpPr/>
          <p:nvPr/>
        </p:nvSpPr>
        <p:spPr>
          <a:xfrm>
            <a:off x="8701888" y="1261872"/>
            <a:ext cx="2941168"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r>
              <a:rPr lang="en-US" sz="1800" b="1" dirty="0">
                <a:solidFill>
                  <a:srgbClr val="FFFFFF"/>
                </a:solidFill>
              </a:rPr>
              <a:t> is now</a:t>
            </a:r>
            <a:endParaRPr lang="en-US" sz="1800" dirty="0"/>
          </a:p>
        </p:txBody>
      </p:sp>
      <p:sp>
        <p:nvSpPr>
          <p:cNvPr id="13" name="Shape 13"/>
          <p:cNvSpPr/>
          <p:nvPr/>
        </p:nvSpPr>
        <p:spPr>
          <a:xfrm>
            <a:off x="5760720" y="1882140"/>
            <a:ext cx="2941168"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x += 3</a:t>
            </a:r>
            <a:endParaRPr lang="en-US" sz="2400" dirty="0"/>
          </a:p>
        </p:txBody>
      </p:sp>
      <p:sp>
        <p:nvSpPr>
          <p:cNvPr id="14" name="Shape 14"/>
          <p:cNvSpPr/>
          <p:nvPr/>
        </p:nvSpPr>
        <p:spPr>
          <a:xfrm>
            <a:off x="8701888" y="1882140"/>
            <a:ext cx="2941168"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13</a:t>
            </a:r>
            <a:endParaRPr lang="en-US" sz="2400" dirty="0"/>
          </a:p>
        </p:txBody>
      </p:sp>
      <p:sp>
        <p:nvSpPr>
          <p:cNvPr id="15" name="Shape 15"/>
          <p:cNvSpPr/>
          <p:nvPr/>
        </p:nvSpPr>
        <p:spPr>
          <a:xfrm>
            <a:off x="5760720" y="2502408"/>
            <a:ext cx="2941168"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x -= 2</a:t>
            </a:r>
            <a:endParaRPr lang="en-US" sz="2400" dirty="0"/>
          </a:p>
        </p:txBody>
      </p:sp>
      <p:sp>
        <p:nvSpPr>
          <p:cNvPr id="16" name="Shape 16"/>
          <p:cNvSpPr/>
          <p:nvPr/>
        </p:nvSpPr>
        <p:spPr>
          <a:xfrm>
            <a:off x="8701888" y="2502408"/>
            <a:ext cx="2941168"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11</a:t>
            </a:r>
            <a:endParaRPr lang="en-US" sz="2400" dirty="0"/>
          </a:p>
        </p:txBody>
      </p:sp>
      <p:sp>
        <p:nvSpPr>
          <p:cNvPr id="17" name="Shape 17"/>
          <p:cNvSpPr/>
          <p:nvPr/>
        </p:nvSpPr>
        <p:spPr>
          <a:xfrm>
            <a:off x="5760720" y="3122676"/>
            <a:ext cx="2941168"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x *= 4</a:t>
            </a:r>
            <a:endParaRPr lang="en-US" sz="2400" dirty="0"/>
          </a:p>
        </p:txBody>
      </p:sp>
      <p:sp>
        <p:nvSpPr>
          <p:cNvPr id="18" name="Shape 18"/>
          <p:cNvSpPr/>
          <p:nvPr/>
        </p:nvSpPr>
        <p:spPr>
          <a:xfrm>
            <a:off x="8701888" y="3122676"/>
            <a:ext cx="2941168"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44</a:t>
            </a:r>
            <a:endParaRPr lang="en-US" sz="2400" dirty="0"/>
          </a:p>
        </p:txBody>
      </p:sp>
      <p:sp>
        <p:nvSpPr>
          <p:cNvPr id="19" name="Shape 19"/>
          <p:cNvSpPr/>
          <p:nvPr/>
        </p:nvSpPr>
        <p:spPr>
          <a:xfrm>
            <a:off x="5760720" y="3742944"/>
            <a:ext cx="2941168"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x /= 5</a:t>
            </a:r>
            <a:endParaRPr lang="en-US" sz="2400" dirty="0"/>
          </a:p>
        </p:txBody>
      </p:sp>
      <p:sp>
        <p:nvSpPr>
          <p:cNvPr id="20" name="Shape 20"/>
          <p:cNvSpPr/>
          <p:nvPr/>
        </p:nvSpPr>
        <p:spPr>
          <a:xfrm>
            <a:off x="8701888" y="3742944"/>
            <a:ext cx="2941168"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8</a:t>
            </a:r>
            <a:endParaRPr lang="en-US" sz="2400" dirty="0"/>
          </a:p>
        </p:txBody>
      </p:sp>
      <p:sp>
        <p:nvSpPr>
          <p:cNvPr id="21" name="Shape 21"/>
          <p:cNvSpPr/>
          <p:nvPr/>
        </p:nvSpPr>
        <p:spPr>
          <a:xfrm>
            <a:off x="5760720" y="4363212"/>
            <a:ext cx="2941168"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x %= 2</a:t>
            </a:r>
            <a:endParaRPr lang="en-US" sz="2400" dirty="0"/>
          </a:p>
        </p:txBody>
      </p:sp>
      <p:sp>
        <p:nvSpPr>
          <p:cNvPr id="22" name="Shape 22"/>
          <p:cNvSpPr/>
          <p:nvPr/>
        </p:nvSpPr>
        <p:spPr>
          <a:xfrm>
            <a:off x="8701888" y="4363212"/>
            <a:ext cx="2941168"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update does not have to be </a:t>
            </a:r>
            <a:r>
              <a:rPr lang="en-US" sz="3400" b="1" dirty="0">
                <a:solidFill>
                  <a:srgbClr val="2F80ED"/>
                </a:solidFill>
                <a:latin typeface="Consolas"/>
                <a:ea typeface="Consolas"/>
                <a:cs typeface="Consolas"/>
              </a:rPr>
              <a: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94</a:t>
            </a:r>
            <a:endParaRPr lang="en-US" sz="1400" dirty="0"/>
          </a:p>
        </p:txBody>
      </p:sp>
      <p:sp>
        <p:nvSpPr>
          <p:cNvPr id="6" name="Shape 6"/>
          <p:cNvSpPr/>
          <p:nvPr/>
        </p:nvSpPr>
        <p:spPr>
          <a:xfrm>
            <a:off x="548640" y="1261872"/>
            <a:ext cx="6766560" cy="4175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175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#include &lt;stdio.h&gt;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int main(void) {</a:t>
            </a:r>
            <a:endParaRPr lang="en-US" sz="2400" dirty="0"/>
          </a:p>
          <a:p>
            <a:pPr marL="0" indent="0" algn="l">
              <a:lnSpc>
                <a:spcPts val="3000"/>
              </a:lnSpc>
              <a:buNone/>
            </a:pPr>
            <a:r>
              <a:rPr lang="en-US" sz="2400" dirty="0">
                <a:solidFill>
                  <a:srgbClr val="FFFFFF"/>
                </a:solidFill>
                <a:latin typeface="Consolas"/>
                <a:ea typeface="Consolas"/>
                <a:cs typeface="Consolas"/>
              </a:rPr>
              <a:t>    for (int i = 0; i &lt;= 10; i += 2) {</a:t>
            </a:r>
            <a:endParaRPr lang="en-US" sz="2400" dirty="0"/>
          </a:p>
          <a:p>
            <a:pPr marL="0" indent="0" algn="l">
              <a:lnSpc>
                <a:spcPts val="3000"/>
              </a:lnSpc>
              <a:buNone/>
            </a:pPr>
            <a:r>
              <a:rPr lang="en-US" sz="2400" dirty="0">
                <a:solidFill>
                  <a:srgbClr val="64748B"/>
                </a:solidFill>
                <a:latin typeface="Consolas"/>
                <a:ea typeface="Consolas"/>
                <a:cs typeface="Consolas"/>
              </a:rPr>
              <a:t>        printf("%d ", i);</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printf("\n");</a:t>
            </a:r>
            <a:endParaRPr lang="en-US" sz="2400" dirty="0"/>
          </a:p>
          <a:p>
            <a:pPr marL="0" indent="0" algn="l">
              <a:lnSpc>
                <a:spcPts val="3000"/>
              </a:lnSpc>
              <a:buNone/>
            </a:pPr>
            <a:r>
              <a:rPr lang="en-US" sz="2400" dirty="0">
                <a:solidFill>
                  <a:srgbClr val="64748B"/>
                </a:solidFill>
                <a:latin typeface="Consolas"/>
                <a:ea typeface="Consolas"/>
                <a:cs typeface="Consolas"/>
              </a:rPr>
              <a:t>    return 0;</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0 2 4 6 8 10</a:t>
            </a:r>
            <a:endParaRPr lang="en-US" sz="2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box that collects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95</a:t>
            </a:r>
            <a:endParaRPr lang="en-US" sz="1400" dirty="0"/>
          </a:p>
        </p:txBody>
      </p:sp>
      <p:sp>
        <p:nvSpPr>
          <p:cNvPr id="6" name="Shape 6"/>
          <p:cNvSpPr/>
          <p:nvPr/>
        </p:nvSpPr>
        <p:spPr>
          <a:xfrm>
            <a:off x="548640" y="1261872"/>
            <a:ext cx="676656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768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768852"/>
            <a:ext cx="82296" cy="381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#include &lt;stdio.h&gt;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int main(void) {</a:t>
            </a:r>
            <a:endParaRPr lang="en-US" sz="2400" dirty="0"/>
          </a:p>
          <a:p>
            <a:pPr marL="0" indent="0" algn="l">
              <a:lnSpc>
                <a:spcPts val="3000"/>
              </a:lnSpc>
              <a:buNone/>
            </a:pPr>
            <a:r>
              <a:rPr lang="en-US" sz="2400" dirty="0">
                <a:solidFill>
                  <a:srgbClr val="FFFFFF"/>
                </a:solidFill>
                <a:latin typeface="Consolas"/>
                <a:ea typeface="Consolas"/>
                <a:cs typeface="Consolas"/>
              </a:rPr>
              <a:t>    int sum = 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for (int i = 1; i &lt;= 4; i++) {</a:t>
            </a:r>
            <a:endParaRPr lang="en-US" sz="2400" dirty="0"/>
          </a:p>
          <a:p>
            <a:pPr marL="0" indent="0" algn="l">
              <a:lnSpc>
                <a:spcPts val="3000"/>
              </a:lnSpc>
              <a:buNone/>
            </a:pPr>
            <a:r>
              <a:rPr lang="en-US" sz="2400" dirty="0">
                <a:solidFill>
                  <a:srgbClr val="FFFFFF"/>
                </a:solidFill>
                <a:latin typeface="Consolas"/>
                <a:ea typeface="Consolas"/>
                <a:cs typeface="Consolas"/>
              </a:rPr>
              <a:t>        sum += i;</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printf("%d\n", sum);</a:t>
            </a:r>
            <a:endParaRPr lang="en-US" sz="2400" dirty="0"/>
          </a:p>
          <a:p>
            <a:pPr marL="0" indent="0" algn="l">
              <a:lnSpc>
                <a:spcPts val="3000"/>
              </a:lnSpc>
              <a:buNone/>
            </a:pPr>
            <a:r>
              <a:rPr lang="en-US" sz="2400" dirty="0">
                <a:solidFill>
                  <a:srgbClr val="64748B"/>
                </a:solidFill>
                <a:latin typeface="Consolas"/>
                <a:ea typeface="Consolas"/>
                <a:cs typeface="Consolas"/>
              </a:rPr>
              <a:t>    return 0;</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2" name="Shape 12"/>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10</a:t>
            </a:r>
            <a:endParaRPr lang="en-US" sz="2400" dirty="0"/>
          </a:p>
        </p:txBody>
      </p:sp>
      <p:sp>
        <p:nvSpPr>
          <p:cNvPr id="15" name="Shape 15"/>
          <p:cNvSpPr/>
          <p:nvPr/>
        </p:nvSpPr>
        <p:spPr>
          <a:xfrm>
            <a:off x="7589520" y="2667000"/>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6" name="Shape 16"/>
          <p:cNvSpPr/>
          <p:nvPr/>
        </p:nvSpPr>
        <p:spPr>
          <a:xfrm>
            <a:off x="7589520" y="2667000"/>
            <a:ext cx="109728" cy="685800"/>
          </a:xfrm>
          <a:prstGeom prst="rect">
            <a:avLst/>
          </a:prstGeom>
          <a:solidFill>
            <a:srgbClr val="2F80ED"/>
          </a:solidFill>
          <a:ln>
            <a:noFill/>
          </a:ln>
        </p:spPr>
        <p:txBody>
          <a:bodyPr wrap="square" lIns="0" tIns="0" rIns="0" bIns="0" rtlCol="0" anchor="t"/>
          <a:lstStyle/>
          <a:p>
            <a:endParaRPr lang="en-US"/>
          </a:p>
        </p:txBody>
      </p:sp>
      <p:sp>
        <p:nvSpPr>
          <p:cNvPr id="17" name="Callout"/>
          <p:cNvSpPr/>
          <p:nvPr/>
        </p:nvSpPr>
        <p:spPr>
          <a:xfrm>
            <a:off x="7699248" y="266700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sum</a:t>
            </a:r>
            <a:r>
              <a:rPr lang="en-US" sz="2400" dirty="0">
                <a:solidFill>
                  <a:srgbClr val="18324A"/>
                </a:solidFill>
              </a:rPr>
              <a:t> starts at 0.</a:t>
            </a:r>
            <a:endParaRPr lang="en-US" sz="2400" dirty="0"/>
          </a:p>
        </p:txBody>
      </p:sp>
      <p:sp>
        <p:nvSpPr>
          <p:cNvPr id="18" name="Shape 18"/>
          <p:cNvSpPr/>
          <p:nvPr/>
        </p:nvSpPr>
        <p:spPr>
          <a:xfrm>
            <a:off x="7589520" y="3553968"/>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9" name="Shape 19"/>
          <p:cNvSpPr/>
          <p:nvPr/>
        </p:nvSpPr>
        <p:spPr>
          <a:xfrm>
            <a:off x="7589520" y="3553968"/>
            <a:ext cx="109728" cy="1051560"/>
          </a:xfrm>
          <a:prstGeom prst="rect">
            <a:avLst/>
          </a:prstGeom>
          <a:solidFill>
            <a:srgbClr val="31C48D"/>
          </a:solidFill>
          <a:ln>
            <a:noFill/>
          </a:ln>
        </p:spPr>
        <p:txBody>
          <a:bodyPr wrap="square" lIns="0" tIns="0" rIns="0" bIns="0" rtlCol="0" anchor="t"/>
          <a:lstStyle/>
          <a:p>
            <a:endParaRPr lang="en-US"/>
          </a:p>
        </p:txBody>
      </p:sp>
      <p:sp>
        <p:nvSpPr>
          <p:cNvPr id="20" name="Callout"/>
          <p:cNvSpPr/>
          <p:nvPr/>
        </p:nvSpPr>
        <p:spPr>
          <a:xfrm>
            <a:off x="7699248" y="355396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Each round: add </a:t>
            </a:r>
            <a:r>
              <a:rPr lang="en-US" sz="2400" dirty="0">
                <a:solidFill>
                  <a:srgbClr val="18324A"/>
                </a:solidFill>
                <a:latin typeface="Consolas"/>
                <a:ea typeface="Consolas"/>
                <a:cs typeface="Consolas"/>
              </a:rPr>
              <a:t>i</a:t>
            </a:r>
            <a:r>
              <a:rPr lang="en-US" sz="2400" dirty="0">
                <a:solidFill>
                  <a:srgbClr val="18324A"/>
                </a:solidFill>
              </a:rPr>
              <a:t> to </a:t>
            </a:r>
            <a:r>
              <a:rPr lang="en-US" sz="2400" dirty="0">
                <a:solidFill>
                  <a:srgbClr val="18324A"/>
                </a:solidFill>
                <a:latin typeface="Consolas"/>
                <a:ea typeface="Consolas"/>
                <a:cs typeface="Consolas"/>
              </a:rPr>
              <a:t>sum</a:t>
            </a:r>
            <a:r>
              <a:rPr lang="en-US" sz="2400" dirty="0">
                <a:solidFill>
                  <a:srgbClr val="18324A"/>
                </a:solidFill>
              </a:rPr>
              <a:t>.</a:t>
            </a:r>
            <a:endParaRPr lang="en-US" sz="2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Trace the sum: round 1</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96</a:t>
            </a:r>
            <a:endParaRPr lang="en-US" sz="1400" dirty="0"/>
          </a:p>
        </p:txBody>
      </p:sp>
      <p:sp>
        <p:nvSpPr>
          <p:cNvPr id="6" name="Shape 6"/>
          <p:cNvSpPr/>
          <p:nvPr/>
        </p:nvSpPr>
        <p:spPr>
          <a:xfrm>
            <a:off x="548640" y="1261872"/>
            <a:ext cx="6035040" cy="3255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724277"/>
            <a:ext cx="603504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724277"/>
            <a:ext cx="82296" cy="4127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035040" cy="3255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sum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for (int i = 1; i &lt;= 4; i++) {</a:t>
            </a:r>
            <a:endParaRPr lang="en-US" sz="2600" dirty="0"/>
          </a:p>
          <a:p>
            <a:pPr marL="0" indent="0" algn="l">
              <a:lnSpc>
                <a:spcPts val="3250"/>
              </a:lnSpc>
              <a:buNone/>
            </a:pPr>
            <a:r>
              <a:rPr lang="en-US" sz="2600" dirty="0">
                <a:solidFill>
                  <a:srgbClr val="FFFFFF"/>
                </a:solidFill>
                <a:latin typeface="Consolas"/>
                <a:ea typeface="Consolas"/>
                <a:cs typeface="Consolas"/>
              </a:rPr>
              <a:t>    sum += 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printf("%d\n", sum);</a:t>
            </a:r>
            <a:endParaRPr lang="en-US" sz="2600" dirty="0"/>
          </a:p>
        </p:txBody>
      </p:sp>
      <p:sp>
        <p:nvSpPr>
          <p:cNvPr id="10" name="Shape 10"/>
          <p:cNvSpPr/>
          <p:nvPr/>
        </p:nvSpPr>
        <p:spPr>
          <a:xfrm>
            <a:off x="6858000"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1" name="Shape 11"/>
          <p:cNvSpPr/>
          <p:nvPr/>
        </p:nvSpPr>
        <p:spPr>
          <a:xfrm>
            <a:off x="8453018"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 += i</a:t>
            </a:r>
            <a:endParaRPr lang="en-US" sz="1800" dirty="0"/>
          </a:p>
        </p:txBody>
      </p:sp>
      <p:sp>
        <p:nvSpPr>
          <p:cNvPr id="12" name="Shape 12"/>
          <p:cNvSpPr/>
          <p:nvPr/>
        </p:nvSpPr>
        <p:spPr>
          <a:xfrm>
            <a:off x="10048037"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endParaRPr lang="en-US" sz="1800" dirty="0"/>
          </a:p>
        </p:txBody>
      </p:sp>
      <p:sp>
        <p:nvSpPr>
          <p:cNvPr id="13" name="Shape 13"/>
          <p:cNvSpPr/>
          <p:nvPr/>
        </p:nvSpPr>
        <p:spPr>
          <a:xfrm>
            <a:off x="6858000" y="1920240"/>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14" name="Shape 14"/>
          <p:cNvSpPr/>
          <p:nvPr/>
        </p:nvSpPr>
        <p:spPr>
          <a:xfrm>
            <a:off x="8453018" y="1920240"/>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0 + 1</a:t>
            </a:r>
            <a:endParaRPr lang="en-US" sz="2400" dirty="0"/>
          </a:p>
        </p:txBody>
      </p:sp>
      <p:sp>
        <p:nvSpPr>
          <p:cNvPr id="15" name="Shape 15"/>
          <p:cNvSpPr/>
          <p:nvPr/>
        </p:nvSpPr>
        <p:spPr>
          <a:xfrm>
            <a:off x="10048037" y="1920240"/>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16" name="Shape 16"/>
          <p:cNvSpPr/>
          <p:nvPr/>
        </p:nvSpPr>
        <p:spPr>
          <a:xfrm>
            <a:off x="6858000" y="2578608"/>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17" name="Shape 17"/>
          <p:cNvSpPr/>
          <p:nvPr/>
        </p:nvSpPr>
        <p:spPr>
          <a:xfrm>
            <a:off x="8453018" y="2578608"/>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18" name="Shape 18"/>
          <p:cNvSpPr/>
          <p:nvPr/>
        </p:nvSpPr>
        <p:spPr>
          <a:xfrm>
            <a:off x="10048037" y="2578608"/>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19" name="Shape 19"/>
          <p:cNvSpPr/>
          <p:nvPr/>
        </p:nvSpPr>
        <p:spPr>
          <a:xfrm>
            <a:off x="6858000" y="3236976"/>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0" name="Shape 20"/>
          <p:cNvSpPr/>
          <p:nvPr/>
        </p:nvSpPr>
        <p:spPr>
          <a:xfrm>
            <a:off x="8453018" y="3236976"/>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1" name="Shape 21"/>
          <p:cNvSpPr/>
          <p:nvPr/>
        </p:nvSpPr>
        <p:spPr>
          <a:xfrm>
            <a:off x="10048037" y="3236976"/>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6858000" y="3895344"/>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8453018" y="3895344"/>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10048037" y="3895344"/>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Trace the sum: round 2</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97</a:t>
            </a:r>
            <a:endParaRPr lang="en-US" sz="1400" dirty="0"/>
          </a:p>
        </p:txBody>
      </p:sp>
      <p:sp>
        <p:nvSpPr>
          <p:cNvPr id="6" name="Shape 6"/>
          <p:cNvSpPr/>
          <p:nvPr/>
        </p:nvSpPr>
        <p:spPr>
          <a:xfrm>
            <a:off x="548640" y="1261872"/>
            <a:ext cx="6035040" cy="3255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724277"/>
            <a:ext cx="603504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724277"/>
            <a:ext cx="82296" cy="4127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035040" cy="3255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sum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for (int i = 1; i &lt;= 4; i++) {</a:t>
            </a:r>
            <a:endParaRPr lang="en-US" sz="2600" dirty="0"/>
          </a:p>
          <a:p>
            <a:pPr marL="0" indent="0" algn="l">
              <a:lnSpc>
                <a:spcPts val="3250"/>
              </a:lnSpc>
              <a:buNone/>
            </a:pPr>
            <a:r>
              <a:rPr lang="en-US" sz="2600" dirty="0">
                <a:solidFill>
                  <a:srgbClr val="FFFFFF"/>
                </a:solidFill>
                <a:latin typeface="Consolas"/>
                <a:ea typeface="Consolas"/>
                <a:cs typeface="Consolas"/>
              </a:rPr>
              <a:t>    sum += 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printf("%d\n", sum);</a:t>
            </a:r>
            <a:endParaRPr lang="en-US" sz="2600" dirty="0"/>
          </a:p>
        </p:txBody>
      </p:sp>
      <p:sp>
        <p:nvSpPr>
          <p:cNvPr id="10" name="Shape 10"/>
          <p:cNvSpPr/>
          <p:nvPr/>
        </p:nvSpPr>
        <p:spPr>
          <a:xfrm>
            <a:off x="6858000"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1" name="Shape 11"/>
          <p:cNvSpPr/>
          <p:nvPr/>
        </p:nvSpPr>
        <p:spPr>
          <a:xfrm>
            <a:off x="8453018"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 += i</a:t>
            </a:r>
            <a:endParaRPr lang="en-US" sz="1800" dirty="0"/>
          </a:p>
        </p:txBody>
      </p:sp>
      <p:sp>
        <p:nvSpPr>
          <p:cNvPr id="12" name="Shape 12"/>
          <p:cNvSpPr/>
          <p:nvPr/>
        </p:nvSpPr>
        <p:spPr>
          <a:xfrm>
            <a:off x="10048037"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endParaRPr lang="en-US" sz="1800" dirty="0"/>
          </a:p>
        </p:txBody>
      </p:sp>
      <p:sp>
        <p:nvSpPr>
          <p:cNvPr id="13" name="Shape 13"/>
          <p:cNvSpPr/>
          <p:nvPr/>
        </p:nvSpPr>
        <p:spPr>
          <a:xfrm>
            <a:off x="6858000" y="1920240"/>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4" name="Shape 14"/>
          <p:cNvSpPr/>
          <p:nvPr/>
        </p:nvSpPr>
        <p:spPr>
          <a:xfrm>
            <a:off x="8453018" y="1920240"/>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 + 1</a:t>
            </a:r>
            <a:endParaRPr lang="en-US" sz="2400" dirty="0"/>
          </a:p>
        </p:txBody>
      </p:sp>
      <p:sp>
        <p:nvSpPr>
          <p:cNvPr id="15" name="Shape 15"/>
          <p:cNvSpPr/>
          <p:nvPr/>
        </p:nvSpPr>
        <p:spPr>
          <a:xfrm>
            <a:off x="10048037" y="1920240"/>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6" name="Shape 16"/>
          <p:cNvSpPr/>
          <p:nvPr/>
        </p:nvSpPr>
        <p:spPr>
          <a:xfrm>
            <a:off x="6858000" y="2578608"/>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17" name="Shape 17"/>
          <p:cNvSpPr/>
          <p:nvPr/>
        </p:nvSpPr>
        <p:spPr>
          <a:xfrm>
            <a:off x="8453018" y="2578608"/>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 + 2</a:t>
            </a:r>
            <a:endParaRPr lang="en-US" sz="2400" dirty="0"/>
          </a:p>
        </p:txBody>
      </p:sp>
      <p:sp>
        <p:nvSpPr>
          <p:cNvPr id="18" name="Shape 18"/>
          <p:cNvSpPr/>
          <p:nvPr/>
        </p:nvSpPr>
        <p:spPr>
          <a:xfrm>
            <a:off x="10048037" y="2578608"/>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19" name="Shape 19"/>
          <p:cNvSpPr/>
          <p:nvPr/>
        </p:nvSpPr>
        <p:spPr>
          <a:xfrm>
            <a:off x="6858000" y="3236976"/>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0" name="Shape 20"/>
          <p:cNvSpPr/>
          <p:nvPr/>
        </p:nvSpPr>
        <p:spPr>
          <a:xfrm>
            <a:off x="8453018" y="3236976"/>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1" name="Shape 21"/>
          <p:cNvSpPr/>
          <p:nvPr/>
        </p:nvSpPr>
        <p:spPr>
          <a:xfrm>
            <a:off x="10048037" y="3236976"/>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6858000" y="3895344"/>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8453018" y="3895344"/>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10048037" y="3895344"/>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Trace the sum: round 3</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98</a:t>
            </a:r>
            <a:endParaRPr lang="en-US" sz="1400" dirty="0"/>
          </a:p>
        </p:txBody>
      </p:sp>
      <p:sp>
        <p:nvSpPr>
          <p:cNvPr id="6" name="Shape 6"/>
          <p:cNvSpPr/>
          <p:nvPr/>
        </p:nvSpPr>
        <p:spPr>
          <a:xfrm>
            <a:off x="548640" y="1261872"/>
            <a:ext cx="6035040" cy="3255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724277"/>
            <a:ext cx="603504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724277"/>
            <a:ext cx="82296" cy="4127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035040" cy="3255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sum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for (int i = 1; i &lt;= 4; i++) {</a:t>
            </a:r>
            <a:endParaRPr lang="en-US" sz="2600" dirty="0"/>
          </a:p>
          <a:p>
            <a:pPr marL="0" indent="0" algn="l">
              <a:lnSpc>
                <a:spcPts val="3250"/>
              </a:lnSpc>
              <a:buNone/>
            </a:pPr>
            <a:r>
              <a:rPr lang="en-US" sz="2600" dirty="0">
                <a:solidFill>
                  <a:srgbClr val="FFFFFF"/>
                </a:solidFill>
                <a:latin typeface="Consolas"/>
                <a:ea typeface="Consolas"/>
                <a:cs typeface="Consolas"/>
              </a:rPr>
              <a:t>    sum += 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printf("%d\n", sum);</a:t>
            </a:r>
            <a:endParaRPr lang="en-US" sz="2600" dirty="0"/>
          </a:p>
        </p:txBody>
      </p:sp>
      <p:sp>
        <p:nvSpPr>
          <p:cNvPr id="10" name="Shape 10"/>
          <p:cNvSpPr/>
          <p:nvPr/>
        </p:nvSpPr>
        <p:spPr>
          <a:xfrm>
            <a:off x="6858000"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1" name="Shape 11"/>
          <p:cNvSpPr/>
          <p:nvPr/>
        </p:nvSpPr>
        <p:spPr>
          <a:xfrm>
            <a:off x="8453018"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 += i</a:t>
            </a:r>
            <a:endParaRPr lang="en-US" sz="1800" dirty="0"/>
          </a:p>
        </p:txBody>
      </p:sp>
      <p:sp>
        <p:nvSpPr>
          <p:cNvPr id="12" name="Shape 12"/>
          <p:cNvSpPr/>
          <p:nvPr/>
        </p:nvSpPr>
        <p:spPr>
          <a:xfrm>
            <a:off x="10048037"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endParaRPr lang="en-US" sz="1800" dirty="0"/>
          </a:p>
        </p:txBody>
      </p:sp>
      <p:sp>
        <p:nvSpPr>
          <p:cNvPr id="13" name="Shape 13"/>
          <p:cNvSpPr/>
          <p:nvPr/>
        </p:nvSpPr>
        <p:spPr>
          <a:xfrm>
            <a:off x="6858000" y="1920240"/>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4" name="Shape 14"/>
          <p:cNvSpPr/>
          <p:nvPr/>
        </p:nvSpPr>
        <p:spPr>
          <a:xfrm>
            <a:off x="8453018" y="1920240"/>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 + 1</a:t>
            </a:r>
            <a:endParaRPr lang="en-US" sz="2400" dirty="0"/>
          </a:p>
        </p:txBody>
      </p:sp>
      <p:sp>
        <p:nvSpPr>
          <p:cNvPr id="15" name="Shape 15"/>
          <p:cNvSpPr/>
          <p:nvPr/>
        </p:nvSpPr>
        <p:spPr>
          <a:xfrm>
            <a:off x="10048037" y="1920240"/>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6" name="Shape 16"/>
          <p:cNvSpPr/>
          <p:nvPr/>
        </p:nvSpPr>
        <p:spPr>
          <a:xfrm>
            <a:off x="6858000" y="2578608"/>
            <a:ext cx="159501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17" name="Shape 17"/>
          <p:cNvSpPr/>
          <p:nvPr/>
        </p:nvSpPr>
        <p:spPr>
          <a:xfrm>
            <a:off x="8453018" y="2578608"/>
            <a:ext cx="159501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 + 2</a:t>
            </a:r>
            <a:endParaRPr lang="en-US" sz="2400" dirty="0"/>
          </a:p>
        </p:txBody>
      </p:sp>
      <p:sp>
        <p:nvSpPr>
          <p:cNvPr id="18" name="Shape 18"/>
          <p:cNvSpPr/>
          <p:nvPr/>
        </p:nvSpPr>
        <p:spPr>
          <a:xfrm>
            <a:off x="10048037" y="2578608"/>
            <a:ext cx="159501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19" name="Shape 19"/>
          <p:cNvSpPr/>
          <p:nvPr/>
        </p:nvSpPr>
        <p:spPr>
          <a:xfrm>
            <a:off x="6858000" y="3236976"/>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20" name="Shape 20"/>
          <p:cNvSpPr/>
          <p:nvPr/>
        </p:nvSpPr>
        <p:spPr>
          <a:xfrm>
            <a:off x="8453018" y="3236976"/>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 + 3</a:t>
            </a:r>
            <a:endParaRPr lang="en-US" sz="2400" dirty="0"/>
          </a:p>
        </p:txBody>
      </p:sp>
      <p:sp>
        <p:nvSpPr>
          <p:cNvPr id="21" name="Shape 21"/>
          <p:cNvSpPr/>
          <p:nvPr/>
        </p:nvSpPr>
        <p:spPr>
          <a:xfrm>
            <a:off x="10048037" y="3236976"/>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6</a:t>
            </a:r>
            <a:endParaRPr lang="en-US" sz="2400" dirty="0"/>
          </a:p>
        </p:txBody>
      </p:sp>
      <p:sp>
        <p:nvSpPr>
          <p:cNvPr id="22" name="Shape 22"/>
          <p:cNvSpPr/>
          <p:nvPr/>
        </p:nvSpPr>
        <p:spPr>
          <a:xfrm>
            <a:off x="6858000" y="3895344"/>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8453018" y="3895344"/>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10048037" y="3895344"/>
            <a:ext cx="1595018"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Trace the sum: round 4</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99</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Prints </a:t>
            </a:r>
            <a:r>
              <a:rPr lang="en-US" sz="2400" dirty="0">
                <a:solidFill>
                  <a:srgbClr val="18324A"/>
                </a:solidFill>
                <a:latin typeface="Consolas"/>
                <a:ea typeface="Consolas"/>
                <a:cs typeface="Consolas"/>
              </a:rPr>
              <a:t>10</a:t>
            </a:r>
            <a:r>
              <a:rPr lang="en-US" sz="2400" dirty="0">
                <a:solidFill>
                  <a:srgbClr val="18324A"/>
                </a:solidFill>
              </a:rPr>
              <a:t>.</a:t>
            </a:r>
            <a:endParaRPr lang="en-US" sz="2400" dirty="0"/>
          </a:p>
        </p:txBody>
      </p:sp>
      <p:sp>
        <p:nvSpPr>
          <p:cNvPr id="9" name="Shape 9"/>
          <p:cNvSpPr/>
          <p:nvPr/>
        </p:nvSpPr>
        <p:spPr>
          <a:xfrm>
            <a:off x="548640" y="1261872"/>
            <a:ext cx="6035040" cy="32550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724277"/>
            <a:ext cx="6035040" cy="4127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724277"/>
            <a:ext cx="82296" cy="4127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035040" cy="3255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sum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for (int i = 1; i &lt;= 4; i++) {</a:t>
            </a:r>
            <a:endParaRPr lang="en-US" sz="2600" dirty="0"/>
          </a:p>
          <a:p>
            <a:pPr marL="0" indent="0" algn="l">
              <a:lnSpc>
                <a:spcPts val="3250"/>
              </a:lnSpc>
              <a:buNone/>
            </a:pPr>
            <a:r>
              <a:rPr lang="en-US" sz="2600" dirty="0">
                <a:solidFill>
                  <a:srgbClr val="FFFFFF"/>
                </a:solidFill>
                <a:latin typeface="Consolas"/>
                <a:ea typeface="Consolas"/>
                <a:cs typeface="Consolas"/>
              </a:rPr>
              <a:t>    sum += 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printf("%d\n", sum);</a:t>
            </a:r>
            <a:endParaRPr lang="en-US" sz="2600" dirty="0"/>
          </a:p>
        </p:txBody>
      </p:sp>
      <p:sp>
        <p:nvSpPr>
          <p:cNvPr id="13" name="Shape 13"/>
          <p:cNvSpPr/>
          <p:nvPr/>
        </p:nvSpPr>
        <p:spPr>
          <a:xfrm>
            <a:off x="6858000"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8453018"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 += i</a:t>
            </a:r>
            <a:endParaRPr lang="en-US" sz="1800" dirty="0"/>
          </a:p>
        </p:txBody>
      </p:sp>
      <p:sp>
        <p:nvSpPr>
          <p:cNvPr id="15" name="Shape 15"/>
          <p:cNvSpPr/>
          <p:nvPr/>
        </p:nvSpPr>
        <p:spPr>
          <a:xfrm>
            <a:off x="10048037" y="1261872"/>
            <a:ext cx="159501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endParaRPr lang="en-US" sz="1800" dirty="0"/>
          </a:p>
        </p:txBody>
      </p:sp>
      <p:sp>
        <p:nvSpPr>
          <p:cNvPr id="16" name="Shape 16"/>
          <p:cNvSpPr/>
          <p:nvPr/>
        </p:nvSpPr>
        <p:spPr>
          <a:xfrm>
            <a:off x="6858000" y="1920240"/>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7" name="Shape 17"/>
          <p:cNvSpPr/>
          <p:nvPr/>
        </p:nvSpPr>
        <p:spPr>
          <a:xfrm>
            <a:off x="8453018" y="1920240"/>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 + 1</a:t>
            </a:r>
            <a:endParaRPr lang="en-US" sz="2400" dirty="0"/>
          </a:p>
        </p:txBody>
      </p:sp>
      <p:sp>
        <p:nvSpPr>
          <p:cNvPr id="18" name="Shape 18"/>
          <p:cNvSpPr/>
          <p:nvPr/>
        </p:nvSpPr>
        <p:spPr>
          <a:xfrm>
            <a:off x="10048037" y="1920240"/>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9" name="Shape 19"/>
          <p:cNvSpPr/>
          <p:nvPr/>
        </p:nvSpPr>
        <p:spPr>
          <a:xfrm>
            <a:off x="6858000" y="2578608"/>
            <a:ext cx="159501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0" name="Shape 20"/>
          <p:cNvSpPr/>
          <p:nvPr/>
        </p:nvSpPr>
        <p:spPr>
          <a:xfrm>
            <a:off x="8453018" y="2578608"/>
            <a:ext cx="159501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 + 2</a:t>
            </a:r>
            <a:endParaRPr lang="en-US" sz="2400" dirty="0"/>
          </a:p>
        </p:txBody>
      </p:sp>
      <p:sp>
        <p:nvSpPr>
          <p:cNvPr id="21" name="Shape 21"/>
          <p:cNvSpPr/>
          <p:nvPr/>
        </p:nvSpPr>
        <p:spPr>
          <a:xfrm>
            <a:off x="10048037" y="2578608"/>
            <a:ext cx="159501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2" name="Shape 22"/>
          <p:cNvSpPr/>
          <p:nvPr/>
        </p:nvSpPr>
        <p:spPr>
          <a:xfrm>
            <a:off x="6858000" y="3236976"/>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3" name="Shape 23"/>
          <p:cNvSpPr/>
          <p:nvPr/>
        </p:nvSpPr>
        <p:spPr>
          <a:xfrm>
            <a:off x="8453018" y="3236976"/>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 + 3</a:t>
            </a:r>
            <a:endParaRPr lang="en-US" sz="2400" dirty="0"/>
          </a:p>
        </p:txBody>
      </p:sp>
      <p:sp>
        <p:nvSpPr>
          <p:cNvPr id="24" name="Shape 24"/>
          <p:cNvSpPr/>
          <p:nvPr/>
        </p:nvSpPr>
        <p:spPr>
          <a:xfrm>
            <a:off x="10048037" y="3236976"/>
            <a:ext cx="159501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25" name="Shape 25"/>
          <p:cNvSpPr/>
          <p:nvPr/>
        </p:nvSpPr>
        <p:spPr>
          <a:xfrm>
            <a:off x="6858000" y="3895344"/>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26" name="Shape 26"/>
          <p:cNvSpPr/>
          <p:nvPr/>
        </p:nvSpPr>
        <p:spPr>
          <a:xfrm>
            <a:off x="8453018" y="3895344"/>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6 + 4</a:t>
            </a:r>
            <a:endParaRPr lang="en-US" sz="2400" dirty="0"/>
          </a:p>
        </p:txBody>
      </p:sp>
      <p:sp>
        <p:nvSpPr>
          <p:cNvPr id="27" name="Shape 27"/>
          <p:cNvSpPr/>
          <p:nvPr/>
        </p:nvSpPr>
        <p:spPr>
          <a:xfrm>
            <a:off x="10048037" y="3895344"/>
            <a:ext cx="159501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10</a:t>
            </a:r>
            <a:endParaRPr lang="en-US" sz="2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accumulator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100</a:t>
            </a:r>
            <a:endParaRPr lang="en-US" sz="1400" dirty="0"/>
          </a:p>
        </p:txBody>
      </p:sp>
      <p:sp>
        <p:nvSpPr>
          <p:cNvPr id="6" name="Shape 6"/>
          <p:cNvSpPr/>
          <p:nvPr/>
        </p:nvSpPr>
        <p:spPr>
          <a:xfrm>
            <a:off x="548640" y="1399032"/>
            <a:ext cx="109728" cy="1402080"/>
          </a:xfrm>
          <a:prstGeom prst="rect">
            <a:avLst/>
          </a:prstGeom>
          <a:solidFill>
            <a:srgbClr val="31C48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A box that collects a little more in every round.</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It is the most useful idea in all of loops.</a:t>
            </a:r>
            <a:endParaRPr lang="en-US" sz="3000" dirty="0"/>
          </a:p>
          <a:p>
            <a:pPr marL="0" indent="0" algn="l">
              <a:spcAft>
                <a:spcPts val="1600"/>
              </a:spcAft>
              <a:buNone/>
            </a:pPr>
            <a:r>
              <a:rPr lang="en-US" sz="3000" dirty="0">
                <a:solidFill>
                  <a:srgbClr val="18324A"/>
                </a:solidFill>
              </a:rPr>
              <a:t>It is where </a:t>
            </a:r>
            <a:r>
              <a:rPr lang="en-US" sz="3000" b="1" dirty="0">
                <a:solidFill>
                  <a:srgbClr val="18324A"/>
                </a:solidFill>
              </a:rPr>
              <a:t>Friday</a:t>
            </a:r>
            <a:r>
              <a:rPr lang="en-US" sz="3000" dirty="0">
                <a:solidFill>
                  <a:srgbClr val="18324A"/>
                </a:solidFill>
              </a:rPr>
              <a:t> starts.</a:t>
            </a:r>
            <a:endParaRPr lang="en-US" sz="3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Today, in six sentences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101</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 loop has four parts: </a:t>
            </a:r>
            <a:r>
              <a:rPr lang="en-US" sz="2800" b="1" dirty="0">
                <a:solidFill>
                  <a:srgbClr val="18324A"/>
                </a:solidFill>
              </a:rPr>
              <a:t>start, check, body, update</a:t>
            </a:r>
            <a:r>
              <a:rPr lang="en-US" sz="2800" dirty="0">
                <a:solidFill>
                  <a:srgbClr val="18324A"/>
                </a:solidFill>
              </a:rPr>
              <a:t>.</a:t>
            </a:r>
            <a:endParaRPr lang="en-US" sz="2800" dirty="0"/>
          </a:p>
        </p:txBody>
      </p:sp>
      <p:sp>
        <p:nvSpPr>
          <p:cNvPr id="8" name="Shape 8"/>
          <p:cNvSpPr/>
          <p:nvPr/>
        </p:nvSpPr>
        <p:spPr>
          <a:xfrm>
            <a:off x="731520" y="2141220"/>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141220"/>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while</a:t>
            </a:r>
            <a:r>
              <a:rPr lang="en-US" sz="2800" dirty="0">
                <a:solidFill>
                  <a:srgbClr val="18324A"/>
                </a:solidFill>
              </a:rPr>
              <a:t> puts them in three places.</a:t>
            </a:r>
            <a:endParaRPr lang="en-US" sz="2800" dirty="0"/>
          </a:p>
        </p:txBody>
      </p:sp>
      <p:sp>
        <p:nvSpPr>
          <p:cNvPr id="10" name="Shape 10"/>
          <p:cNvSpPr/>
          <p:nvPr/>
        </p:nvSpPr>
        <p:spPr>
          <a:xfrm>
            <a:off x="731520" y="2974848"/>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2974848"/>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for</a:t>
            </a:r>
            <a:r>
              <a:rPr lang="en-US" sz="2800" dirty="0">
                <a:solidFill>
                  <a:srgbClr val="18324A"/>
                </a:solidFill>
              </a:rPr>
              <a:t> puts three of them on one line.</a:t>
            </a:r>
            <a:endParaRPr lang="en-US" sz="2800" dirty="0"/>
          </a:p>
        </p:txBody>
      </p:sp>
      <p:sp>
        <p:nvSpPr>
          <p:cNvPr id="12" name="Shape 12"/>
          <p:cNvSpPr/>
          <p:nvPr/>
        </p:nvSpPr>
        <p:spPr>
          <a:xfrm>
            <a:off x="731520" y="3808476"/>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3808476"/>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No update: the loop never stops. </a:t>
            </a:r>
            <a:r>
              <a:rPr lang="en-US" sz="2800" b="1" dirty="0">
                <a:solidFill>
                  <a:srgbClr val="18324A"/>
                </a:solidFill>
              </a:rPr>
              <a:t>Ctrl + C</a:t>
            </a:r>
            <a:r>
              <a:rPr lang="en-US" sz="2800" dirty="0">
                <a:solidFill>
                  <a:srgbClr val="18324A"/>
                </a:solidFill>
              </a:rPr>
              <a:t>.</a:t>
            </a:r>
            <a:endParaRPr lang="en-US" sz="2800" dirty="0"/>
          </a:p>
        </p:txBody>
      </p:sp>
      <p:sp>
        <p:nvSpPr>
          <p:cNvPr id="14" name="Shape 14"/>
          <p:cNvSpPr/>
          <p:nvPr/>
        </p:nvSpPr>
        <p:spPr>
          <a:xfrm>
            <a:off x="731520" y="4642104"/>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642104"/>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i++</a:t>
            </a:r>
            <a:r>
              <a:rPr lang="en-US" sz="2800" dirty="0">
                <a:solidFill>
                  <a:srgbClr val="18324A"/>
                </a:solidFill>
              </a:rPr>
              <a:t> adds one. </a:t>
            </a:r>
            <a:r>
              <a:rPr lang="en-US" sz="2800" dirty="0">
                <a:solidFill>
                  <a:srgbClr val="2F80ED"/>
                </a:solidFill>
                <a:latin typeface="Consolas"/>
                <a:ea typeface="Consolas"/>
                <a:cs typeface="Consolas"/>
              </a:rPr>
              <a:t>sum += i</a:t>
            </a:r>
            <a:r>
              <a:rPr lang="en-US" sz="2800" dirty="0">
                <a:solidFill>
                  <a:srgbClr val="18324A"/>
                </a:solidFill>
              </a:rPr>
              <a:t> adds </a:t>
            </a:r>
            <a:r>
              <a:rPr lang="en-US" sz="2800" dirty="0">
                <a:solidFill>
                  <a:srgbClr val="2F80ED"/>
                </a:solidFill>
                <a:latin typeface="Consolas"/>
                <a:ea typeface="Consolas"/>
                <a:cs typeface="Consolas"/>
              </a:rPr>
              <a:t>i</a:t>
            </a:r>
            <a:r>
              <a:rPr lang="en-US" sz="2800" dirty="0">
                <a:solidFill>
                  <a:srgbClr val="18324A"/>
                </a:solidFill>
              </a:rPr>
              <a:t>.</a:t>
            </a:r>
            <a:endParaRPr lang="en-US" sz="2800" dirty="0"/>
          </a:p>
        </p:txBody>
      </p:sp>
      <p:sp>
        <p:nvSpPr>
          <p:cNvPr id="16" name="Shape 16"/>
          <p:cNvSpPr/>
          <p:nvPr/>
        </p:nvSpPr>
        <p:spPr>
          <a:xfrm>
            <a:off x="731520" y="5475732"/>
            <a:ext cx="640080" cy="640080"/>
          </a:xfrm>
          <a:prstGeom prst="rect">
            <a:avLst/>
          </a:prstGeom>
          <a:solidFill>
            <a:srgbClr val="06B6D4"/>
          </a:solidFill>
          <a:ln>
            <a:noFill/>
          </a:ln>
        </p:spPr>
        <p:txBody>
          <a:bodyPr wrap="square" lIns="0" tIns="0" rIns="0" bIns="0" rtlCol="0" anchor="ctr"/>
          <a:lstStyle/>
          <a:p>
            <a:pPr marL="0" indent="0" algn="ctr">
              <a:buNone/>
            </a:pPr>
            <a:r>
              <a:rPr lang="en-US" sz="2400" b="1" dirty="0">
                <a:solidFill>
                  <a:srgbClr val="FFFFFF"/>
                </a:solidFill>
              </a:rPr>
              <a:t>6</a:t>
            </a:r>
            <a:endParaRPr lang="en-US" sz="2400" dirty="0"/>
          </a:p>
        </p:txBody>
      </p:sp>
      <p:sp>
        <p:nvSpPr>
          <p:cNvPr id="17" name="Shape 17"/>
          <p:cNvSpPr/>
          <p:nvPr/>
        </p:nvSpPr>
        <p:spPr>
          <a:xfrm>
            <a:off x="1691640" y="547573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Do not guess the output. </a:t>
            </a:r>
            <a:r>
              <a:rPr lang="en-US" sz="2800" b="1" dirty="0">
                <a:solidFill>
                  <a:srgbClr val="18324A"/>
                </a:solidFill>
              </a:rPr>
              <a:t>Trace it.</a:t>
            </a:r>
            <a:endParaRPr lang="en-US" sz="2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Before Friday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102</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Knowledge check 5</a:t>
            </a:r>
            <a:r>
              <a:rPr lang="en-US" sz="2800" dirty="0">
                <a:solidFill>
                  <a:srgbClr val="18324A"/>
                </a:solidFill>
              </a:rPr>
              <a:t> opens tonight on Blackboard.</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Vote</a:t>
            </a:r>
            <a:r>
              <a:rPr lang="en-US" sz="2800" dirty="0">
                <a:solidFill>
                  <a:srgbClr val="18324A"/>
                </a:solidFill>
              </a:rPr>
              <a:t> on the number of quizzes. It closes Thursday 23:59.</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Type </a:t>
            </a:r>
            <a:r>
              <a:rPr lang="en-US" sz="2800" dirty="0">
                <a:solidFill>
                  <a:srgbClr val="2F80ED"/>
                </a:solidFill>
                <a:latin typeface="Consolas"/>
                <a:ea typeface="Consolas"/>
                <a:cs typeface="Consolas"/>
              </a:rPr>
              <a:t>count.c</a:t>
            </a:r>
            <a:r>
              <a:rPr lang="en-US" sz="2800" dirty="0">
                <a:solidFill>
                  <a:srgbClr val="18324A"/>
                </a:solidFill>
              </a:rPr>
              <a:t> and </a:t>
            </a:r>
            <a:r>
              <a:rPr lang="en-US" sz="2800" dirty="0">
                <a:solidFill>
                  <a:srgbClr val="2F80ED"/>
                </a:solidFill>
                <a:latin typeface="Consolas"/>
                <a:ea typeface="Consolas"/>
                <a:cs typeface="Consolas"/>
              </a:rPr>
              <a:t>for.c</a:t>
            </a:r>
            <a:r>
              <a:rPr lang="en-US" sz="2800" dirty="0">
                <a:solidFill>
                  <a:srgbClr val="18324A"/>
                </a:solidFill>
              </a:rPr>
              <a:t> again, without looking.</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Make each of them count from 10 down to 1.</a:t>
            </a:r>
            <a:endParaRPr lang="en-US" sz="2800" dirty="0"/>
          </a:p>
        </p:txBody>
      </p:sp>
      <p:sp>
        <p:nvSpPr>
          <p:cNvPr id="14" name="Shape 14"/>
          <p:cNvSpPr/>
          <p:nvPr/>
        </p:nvSpPr>
        <p:spPr>
          <a:xfrm>
            <a:off x="731520" y="4965192"/>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9651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Download </a:t>
            </a:r>
            <a:r>
              <a:rPr lang="en-US" sz="2800" b="1" dirty="0">
                <a:solidFill>
                  <a:srgbClr val="18324A"/>
                </a:solidFill>
              </a:rPr>
              <a:t>Class 5 code</a:t>
            </a:r>
            <a:r>
              <a:rPr lang="en-US" sz="2800" dirty="0">
                <a:solidFill>
                  <a:srgbClr val="18324A"/>
                </a:solidFill>
              </a:rPr>
              <a:t> from Blackboard and do the "Try" lists.</a:t>
            </a:r>
            <a:endParaRPr lang="en-US" sz="2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Exit ticket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5</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103</a:t>
            </a:r>
            <a:endParaRPr lang="en-US" sz="1400" dirty="0"/>
          </a:p>
        </p:txBody>
      </p:sp>
      <p:sp>
        <p:nvSpPr>
          <p:cNvPr id="6" name="Shape 6"/>
          <p:cNvSpPr/>
          <p:nvPr/>
        </p:nvSpPr>
        <p:spPr>
          <a:xfrm>
            <a:off x="548640" y="1261872"/>
            <a:ext cx="2377440" cy="457200"/>
          </a:xfrm>
          <a:prstGeom prst="rect">
            <a:avLst/>
          </a:prstGeom>
          <a:solidFill>
            <a:srgbClr val="8B5CF6"/>
          </a:solidFill>
          <a:ln>
            <a:noFill/>
          </a:ln>
        </p:spPr>
        <p:txBody>
          <a:bodyPr wrap="square" lIns="0" tIns="0" rIns="0" bIns="0" rtlCol="0" anchor="ctr"/>
          <a:lstStyle/>
          <a:p>
            <a:pPr marL="0" indent="0" algn="ctr">
              <a:buNone/>
            </a:pPr>
            <a:r>
              <a:rPr lang="en-US" sz="1800" b="1" dirty="0">
                <a:solidFill>
                  <a:srgbClr val="FFFFFF"/>
                </a:solidFill>
              </a:rPr>
              <a:t>QUESTION</a:t>
            </a:r>
            <a:endParaRPr lang="en-US" sz="1800" dirty="0"/>
          </a:p>
        </p:txBody>
      </p:sp>
      <p:sp>
        <p:nvSpPr>
          <p:cNvPr id="7" name="Shape 7"/>
          <p:cNvSpPr/>
          <p:nvPr/>
        </p:nvSpPr>
        <p:spPr>
          <a:xfrm>
            <a:off x="548640" y="1947672"/>
            <a:ext cx="11094415" cy="67056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Name the four parts of a loop.</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9E6C91384D4CF4A8C11771C71AF99FC" ma:contentTypeVersion="3" ma:contentTypeDescription="Create a new document." ma:contentTypeScope="" ma:versionID="9457c7892666d9df0301343fedda2daf">
  <xsd:schema xmlns:xsd="http://www.w3.org/2001/XMLSchema" xmlns:xs="http://www.w3.org/2001/XMLSchema" xmlns:p="http://schemas.microsoft.com/office/2006/metadata/properties" xmlns:ns2="76ba2307-afa1-4918-86e6-ffe4c7b76c67" targetNamespace="http://schemas.microsoft.com/office/2006/metadata/properties" ma:root="true" ma:fieldsID="01dbc32444af8b37558df168563705b5" ns2:_="">
    <xsd:import namespace="76ba2307-afa1-4918-86e6-ffe4c7b76c6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ba2307-afa1-4918-86e6-ffe4c7b76c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59415D-7EF4-4728-B780-B028948F84C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A66058B-8C7C-44C5-988D-122F37B2CD12}">
  <ds:schemaRefs>
    <ds:schemaRef ds:uri="http://schemas.microsoft.com/sharepoint/v3/contenttype/forms"/>
  </ds:schemaRefs>
</ds:datastoreItem>
</file>

<file path=customXml/itemProps3.xml><?xml version="1.0" encoding="utf-8"?>
<ds:datastoreItem xmlns:ds="http://schemas.openxmlformats.org/officeDocument/2006/customXml" ds:itemID="{DC07D86D-9D44-4F53-9B6F-B55C63480B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ba2307-afa1-4918-86e6-ffe4c7b76c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15470</Words>
  <Application>Microsoft Office PowerPoint</Application>
  <PresentationFormat>Widescreen</PresentationFormat>
  <Paragraphs>2230</Paragraphs>
  <Slides>103</Slides>
  <Notes>103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103</vt:i4>
      </vt:variant>
    </vt:vector>
  </HeadingPairs>
  <TitlesOfParts>
    <vt:vector size="107" baseType="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 Loops in C</dc:title>
  <dc:subject>Programming Principles I - Week 3</dc:subject>
  <dc:creator>Azar Aliyev</dc:creator>
  <cp:lastModifiedBy>Abbas Aliyev</cp:lastModifiedBy>
  <cp:revision>5</cp:revision>
  <dcterms:created xsi:type="dcterms:W3CDTF">2026-09-17T10:16:02Z</dcterms:created>
  <dcterms:modified xsi:type="dcterms:W3CDTF">2026-10-16T20:06:06Z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0x010100A9E6C91384D4CF4A8C11771C71AF99FC</vt:lpwstr>
  </property>
</Properties>
</file>