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234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this week is about. Last week your programs always did the same thing: read a number, calculate, print. This week your programs start to decide. Look at the code on the slide: if the temperature is above 38, print "Check fever". If not, print nothing. By Friday you will write programs that do different things for different inputs.</a:t>
            </a:r>
          </a:p>
          <a:p>
            <a:endParaRPr lang="en-US"/>
          </a:p>
          <a:p>
            <a:r>
              <a:rPr lang="en-US"/>
              <a:t>Quiz 1 is on Friday 18 September, in the first 25 minutes of class. It is on paper, no laptop. It covers week 1 only: variables and their types, printf and its holes, scanf and the &amp;, + - * / %, the math functions, and reading or writing a small program like the circle calculator. One or two short questions. The best five of the six quizzes count, so there is no make-up quiz. The best way to prepare is Knowledge checks 1 and 2 and the practice tests on Blackboard.</a:t>
            </a:r>
          </a:p>
          <a:p>
            <a:endParaRPr lang="en-US"/>
          </a:p>
          <a:p>
            <a:r>
              <a:rPr lang="en-US"/>
              <a:t>How to try the examples in these notes. Same as last week:</a:t>
            </a:r>
          </a:p>
          <a:p>
            <a:endParaRPr lang="en-US"/>
          </a:p>
          <a:p>
            <a:r>
              <a:rPr lang="en-US"/>
              <a:t>1. Open Visual Studio Code. Click File, then Open Folder, and open your c_week1 folder (or make a new one called c_week2).</a:t>
            </a:r>
          </a:p>
          <a:p>
            <a:r>
              <a:rPr lang="en-US"/>
              <a:t>2. Click File, then New Text File. Type the program. Click File, then Save As, and give it a name ending in .c, for example test.c.</a:t>
            </a:r>
          </a:p>
          <a:p>
            <a:r>
              <a:rPr lang="en-US"/>
              <a:t>3. Click View, then Terminal. In the terminal type gcc -Wall test.c -o test and press Enter. If nothing is printed, it worked.</a:t>
            </a:r>
          </a:p>
          <a:p>
            <a:r>
              <a:rPr lang="en-US"/>
              <a:t>4. Type ./test and press Enter. (In Windows PowerShell, type .\test instead.)</a:t>
            </a:r>
          </a:p>
          <a:p>
            <a:endParaRPr lang="en-US"/>
          </a:p>
          <a:p>
            <a:r>
              <a:rPr lang="en-US"/>
              <a:t>Many examples below are only a few lines. To run them, put the lines inside this frame, where the ... is:</a:t>
            </a:r>
          </a:p>
          <a:p>
            <a:endParaRPr lang="en-US"/>
          </a:p>
          <a:p>
            <a:r>
              <a:rPr lang="en-US"/>
              <a:t>#include &lt;stdio.h&gt;</a:t>
            </a:r>
          </a:p>
          <a:p>
            <a:r>
              <a:rPr lang="en-US"/>
              <a:t>int main(void) {</a:t>
            </a:r>
          </a:p>
          <a:p>
            <a:r>
              <a:rPr lang="en-US"/>
              <a:t>    ...</a:t>
            </a:r>
          </a:p>
          <a:p>
            <a:r>
              <a:rPr lang="en-US"/>
              <a:t>    return 0;</a:t>
            </a:r>
          </a:p>
          <a:p>
            <a:r>
              <a:rPr lang="en-U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steps this week:</a:t>
            </a:r>
          </a:p>
          <a:p>
            <a:endParaRPr lang="en-US"/>
          </a:p>
          <a:p>
            <a:r>
              <a:rPr lang="en-US"/>
              <a:t>1. Why data types exist.</a:t>
            </a:r>
          </a:p>
          <a:p>
            <a:r>
              <a:rPr lang="en-US"/>
              <a:t>2. The number types: int and double (and float, which we do not use).</a:t>
            </a:r>
          </a:p>
          <a:p>
            <a:r>
              <a:rPr lang="en-US"/>
              <a:t>3. char: one character.</a:t>
            </a:r>
          </a:p>
          <a:p>
            <a:r>
              <a:rPr lang="en-US"/>
              <a:t>4. What happens when types mix, and the trap in it.</a:t>
            </a:r>
          </a:p>
          <a:p>
            <a:r>
              <a:rPr lang="en-US"/>
              <a:t>5. Yes/no in C: comparisons and &amp;&amp;, ||, !.</a:t>
            </a:r>
          </a:p>
          <a:p>
            <a:r>
              <a:rPr lang="en-US"/>
              <a:t>6. Decisions: if, else, else if, switch.</a:t>
            </a:r>
          </a:p>
          <a:p>
            <a:endParaRPr lang="en-US"/>
          </a:p>
          <a:p>
            <a:r>
              <a:rPr lang="en-US"/>
              <a:t>Tuesday's class covers steps 1 to 5 and the start of step 6 (if and if / else). Friday, after the quiz, does the rest.</a:t>
            </a:r>
          </a:p>
          <a:p>
            <a:endParaRPr lang="en-US"/>
          </a:p>
          <a:p>
            <a:r>
              <a:rPr lang="en-US"/>
              <a:t>The program at the bottom of the slide is where Tuesday ends:</a:t>
            </a:r>
          </a:p>
          <a:p>
            <a:endParaRPr lang="en-US"/>
          </a:p>
          <a:p>
            <a:r>
              <a:rPr lang="en-US"/>
              <a:t>int age = 18;</a:t>
            </a:r>
          </a:p>
          <a:p>
            <a:r>
              <a:rPr lang="en-US"/>
              <a:t>double price = 12.75;</a:t>
            </a:r>
          </a:p>
          <a:p>
            <a:r>
              <a:rPr lang="en-US"/>
              <a:t>char grade = 'A';</a:t>
            </a:r>
          </a:p>
          <a:p>
            <a:r>
              <a:rPr lang="en-US"/>
              <a:t>if (age &gt;= 18) {</a:t>
            </a:r>
          </a:p>
          <a:p>
            <a:r>
              <a:rPr lang="en-US"/>
              <a:t>    printf("Adult ticket");</a:t>
            </a:r>
          </a:p>
          <a:p>
            <a:r>
              <a:rPr lang="en-US"/>
              <a:t>} else {</a:t>
            </a:r>
          </a:p>
          <a:p>
            <a:r>
              <a:rPr lang="en-US"/>
              <a:t>    printf("Student ticket");</a:t>
            </a:r>
          </a:p>
          <a:p>
            <a:r>
              <a:rPr lang="en-US"/>
              <a:t>}</a:t>
            </a:r>
          </a:p>
          <a:p>
            <a:endParaRPr lang="en-US"/>
          </a:p>
          <a:p>
            <a:r>
              <a:rPr lang="en-US"/>
              <a:t>It prints Adult ticket, because 18 is "greater or equal to" 18. Change age to 17 and it prints Student ticket. By the end of these notes you will understand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Inside the computer, everything is a row of zeros and ones. The row on the slide, 0 1 0 0 0 0 0 1, could be the number 65. It could be the letter A. The same bits. The type tells C what the bits mean.</a:t>
            </a:r>
          </a:p>
          <a:p>
            <a:endParaRPr lang="en-US"/>
          </a:p>
          <a:p>
            <a:r>
              <a:rPr lang="en-US"/>
              <a:t>The type also tells C how big the box must be. A whole number needs some space. A number with a decimal point needs more. When you write the type, C reserves the right amount.</a:t>
            </a:r>
          </a:p>
          <a:p>
            <a:endParaRPr lang="en-US"/>
          </a:p>
          <a:p>
            <a:r>
              <a:rPr lang="en-US"/>
              <a:t>Four kinds of value from a student record:</a:t>
            </a:r>
          </a:p>
          <a:p>
            <a:endParaRPr lang="en-US"/>
          </a:p>
          <a:p>
            <a:r>
              <a:rPr lang="en-US"/>
              <a:t>Value: Kind · Example · Type</a:t>
            </a:r>
          </a:p>
          <a:p>
            <a:r>
              <a:rPr lang="en-US"/>
              <a:t>Student ID: whole number · 20261234 · int</a:t>
            </a:r>
          </a:p>
          <a:p>
            <a:r>
              <a:rPr lang="en-US"/>
              <a:t>GPA: decimal number · 3.74 · double</a:t>
            </a:r>
          </a:p>
          <a:p>
            <a:r>
              <a:rPr lang="en-US"/>
              <a:t>Letter grade: one symbol · A · char</a:t>
            </a:r>
          </a:p>
          <a:p>
            <a:r>
              <a:rPr lang="en-US"/>
              <a:t>Passed?: yes or no · 1 or 0 · int (see slide 9)</a:t>
            </a:r>
          </a:p>
          <a:p>
            <a:endParaRPr lang="en-US"/>
          </a:p>
          <a:p>
            <a:r>
              <a:rPr lang="en-US"/>
              <a:t>The question on the slide. What type for a student's age, the tuition amount, and the final letter grade? Age: int. Tuition: double, because it can be 1250.50. Letter grade: char.</a:t>
            </a:r>
          </a:p>
          <a:p>
            <a:endParaRPr lang="en-US"/>
          </a:p>
          <a:p>
            <a:r>
              <a:rPr lang="en-US"/>
              <a:t>Habit. Before you write a variable, ask: "what kind of thing is this?" A count, a measurement, or a symbol? Then the type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is the slide. You will use three of the four rows.</a:t>
            </a:r>
          </a:p>
          <a:p>
            <a:endParaRPr lang="en-US"/>
          </a:p>
          <a:p>
            <a:r>
              <a:rPr lang="en-US"/>
              <a:t>Type: Use it for · Example value · printf hole · scanf hole</a:t>
            </a:r>
          </a:p>
          <a:p>
            <a:r>
              <a:rPr lang="en-US"/>
              <a:t>int: whole numbers: counts, ages, credits · 35 · %d · %d</a:t>
            </a:r>
          </a:p>
          <a:p>
            <a:r>
              <a:rPr lang="en-US"/>
              <a:t>double: numbers with a decimal point: money, GPA, measurements · 4.50 · %f or %.2f · %lf</a:t>
            </a:r>
          </a:p>
          <a:p>
            <a:r>
              <a:rPr lang="en-US"/>
              <a:t>char: one character: a grade, a menu letter · 'B' · %c · %c</a:t>
            </a:r>
          </a:p>
          <a:p>
            <a:r>
              <a:rPr lang="en-US"/>
              <a:t>float: decimal number, smaller box, fewer digits · 3.74 · %f · %f</a:t>
            </a:r>
          </a:p>
          <a:p>
            <a:endParaRPr lang="en-US"/>
          </a:p>
          <a:p>
            <a:r>
              <a:rPr lang="en-US"/>
              <a:t>The rule: counts are int, decimals are double, one symbol is char.</a:t>
            </a:r>
          </a:p>
          <a:p>
            <a:endParaRPr lang="en-US"/>
          </a:p>
          <a:p>
            <a:r>
              <a:rPr lang="en-US"/>
              <a:t>About float. You will see float in books and on the internet. It also holds a decimal number, but in a smaller box, so it keeps fewer digits. In this course, do not use float. Use double. Here is why:</a:t>
            </a:r>
          </a:p>
          <a:p>
            <a:endParaRPr lang="en-US"/>
          </a:p>
          <a:p>
            <a:r>
              <a:rPr lang="en-US"/>
              <a:t>float f = 1.0 / 3;</a:t>
            </a:r>
          </a:p>
          <a:p>
            <a:r>
              <a:rPr lang="en-US"/>
              <a:t>double d = 1.0 / 3;</a:t>
            </a:r>
          </a:p>
          <a:p>
            <a:r>
              <a:rPr lang="en-US"/>
              <a:t>printf("%.10f\n", f);</a:t>
            </a:r>
          </a:p>
          <a:p>
            <a:r>
              <a:rPr lang="en-US"/>
              <a:t>printf("%.10f\n", d);</a:t>
            </a:r>
          </a:p>
          <a:p>
            <a:endParaRPr lang="en-US"/>
          </a:p>
          <a:p>
            <a:r>
              <a:rPr lang="en-US"/>
              <a:t>The screen shows:</a:t>
            </a:r>
          </a:p>
          <a:p>
            <a:endParaRPr lang="en-US"/>
          </a:p>
          <a:p>
            <a:r>
              <a:rPr lang="en-US"/>
              <a:t>0.3333333433</a:t>
            </a:r>
          </a:p>
          <a:p>
            <a:r>
              <a:rPr lang="en-US"/>
              <a:t>0.3333333333</a:t>
            </a:r>
          </a:p>
          <a:p>
            <a:endParaRPr lang="en-US"/>
          </a:p>
          <a:p>
            <a:r>
              <a:rPr lang="en-US"/>
              <a:t>The float goes wrong after seven digits. The double is right.</a:t>
            </a:r>
          </a:p>
          <a:p>
            <a:endParaRPr lang="en-US"/>
          </a:p>
          <a:p>
            <a:r>
              <a:rPr lang="en-US"/>
              <a:t>Example: one variable of each type.</a:t>
            </a:r>
          </a:p>
          <a:p>
            <a:endParaRPr lang="en-US"/>
          </a:p>
          <a:p>
            <a:r>
              <a:rPr lang="en-US"/>
              <a:t>int students = 35;</a:t>
            </a:r>
          </a:p>
          <a:p>
            <a:r>
              <a:rPr lang="en-US"/>
              <a:t>double price = 4.50;</a:t>
            </a:r>
          </a:p>
          <a:p>
            <a:r>
              <a:rPr lang="en-US"/>
              <a:t>char section = 'B';</a:t>
            </a:r>
          </a:p>
          <a:p>
            <a:r>
              <a:rPr lang="en-US"/>
              <a:t>printf("%d %.2f %c\n", students, price, section);</a:t>
            </a:r>
          </a:p>
          <a:p>
            <a:endParaRPr lang="en-US"/>
          </a:p>
          <a:p>
            <a:r>
              <a:rPr lang="en-US"/>
              <a:t>The screen shows 35 4.50 B.</a:t>
            </a:r>
          </a:p>
          <a:p>
            <a:endParaRPr lang="en-US"/>
          </a:p>
          <a:p>
            <a:r>
              <a:rPr lang="en-US"/>
              <a:t>Careful, again: reading a double with scanf is %lf. Printing it is %f. This is the mistake most people made on Friday.</a:t>
            </a:r>
          </a:p>
          <a:p>
            <a:endParaRPr lang="en-US"/>
          </a:p>
          <a:p>
            <a:r>
              <a:rPr lang="en-US"/>
              <a:t>Try it yourself. Which type would you use for each of these? (Answers below.)</a:t>
            </a:r>
          </a:p>
          <a:p>
            <a:endParaRPr lang="en-US"/>
          </a:p>
          <a:p>
            <a:r>
              <a:rPr lang="en-US"/>
              <a:t>1. The number of people at a table.</a:t>
            </a:r>
          </a:p>
          <a:p>
            <a:r>
              <a:rPr lang="en-US"/>
              <a:t>2. The bill in manat.</a:t>
            </a:r>
          </a:p>
          <a:p>
            <a:r>
              <a:rPr lang="en-US"/>
              <a:t>3. The letter of your section.</a:t>
            </a:r>
          </a:p>
          <a:p>
            <a:r>
              <a:rPr lang="en-US"/>
              <a:t>4. The temperature outside.</a:t>
            </a:r>
          </a:p>
          <a:p>
            <a:r>
              <a:rPr lang="en-US"/>
              <a:t>5. How many days until the exam.</a:t>
            </a:r>
          </a:p>
          <a:p>
            <a:endParaRPr lang="en-US"/>
          </a:p>
          <a:p>
            <a:r>
              <a:rPr lang="en-US"/>
              <a:t>(Answers: int, double, char, double because it can be 21.5,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words:</a:t>
            </a:r>
          </a:p>
          <a:p>
            <a:endParaRPr lang="en-US"/>
          </a:p>
          <a:p>
            <a:r>
              <a:rPr lang="en-US"/>
              <a:t>- Declaring makes the box. int count;</a:t>
            </a:r>
          </a:p>
          <a:p>
            <a:r>
              <a:rPr lang="en-US"/>
              <a:t>- Initialising makes the box and puts the first value in, on the same line. int students = 35;</a:t>
            </a:r>
          </a:p>
          <a:p>
            <a:endParaRPr lang="en-US"/>
          </a:p>
          <a:p>
            <a:r>
              <a:rPr lang="en-US"/>
              <a:t>Both are allowed. But there is a trap between them.</a:t>
            </a:r>
          </a:p>
          <a:p>
            <a:endParaRPr lang="en-US"/>
          </a:p>
          <a:p>
            <a:r>
              <a:rPr lang="en-US"/>
              <a:t>Example 1. Declared and initialised. All three of these are safe to use straight away:</a:t>
            </a:r>
          </a:p>
          <a:p>
            <a:endParaRPr lang="en-US"/>
          </a:p>
          <a:p>
            <a:r>
              <a:rPr lang="en-US"/>
              <a:t>int students = 35;</a:t>
            </a:r>
          </a:p>
          <a:p>
            <a:r>
              <a:rPr lang="en-US"/>
              <a:t>double price = 4.50;</a:t>
            </a:r>
          </a:p>
          <a:p>
            <a:r>
              <a:rPr lang="en-US"/>
              <a:t>char section = 'B';</a:t>
            </a:r>
          </a:p>
          <a:p>
            <a:endParaRPr lang="en-US"/>
          </a:p>
          <a:p>
            <a:r>
              <a:rPr lang="en-US"/>
              <a:t>Example 2. Declared first, assigned later. Also fine, as long as you assign before you use:</a:t>
            </a:r>
          </a:p>
          <a:p>
            <a:endParaRPr lang="en-US"/>
          </a:p>
          <a:p>
            <a:r>
              <a:rPr lang="en-US"/>
              <a:t>int count;</a:t>
            </a:r>
          </a:p>
          <a:p>
            <a:r>
              <a:rPr lang="en-US"/>
              <a:t>count = 10;</a:t>
            </a:r>
          </a:p>
          <a:p>
            <a:r>
              <a:rPr lang="en-US"/>
              <a:t>printf("%d\n", count);</a:t>
            </a:r>
          </a:p>
          <a:p>
            <a:endParaRPr lang="en-US"/>
          </a:p>
          <a:p>
            <a:r>
              <a:rPr lang="en-US"/>
              <a:t>The screen shows 10.</a:t>
            </a:r>
          </a:p>
          <a:p>
            <a:endParaRPr lang="en-US"/>
          </a:p>
          <a:p>
            <a:r>
              <a:rPr lang="en-US"/>
              <a:t>Example 3. Declared and never assigned. This is the trap:</a:t>
            </a:r>
          </a:p>
          <a:p>
            <a:endParaRPr lang="en-US"/>
          </a:p>
          <a:p>
            <a:r>
              <a:rPr lang="en-US"/>
              <a:t>int x;</a:t>
            </a:r>
          </a:p>
          <a:p>
            <a:r>
              <a:rPr lang="en-US"/>
              <a:t>printf("%d\n", x);</a:t>
            </a:r>
          </a:p>
          <a:p>
            <a:endParaRPr lang="en-US"/>
          </a:p>
          <a:p>
            <a:r>
              <a:rPr lang="en-US"/>
              <a:t>What is inside x? Not zero. Garbage. Whatever was lying in that part of the memory before. It might print 0. It might print 4198256. It might print something different tomorrow. When you compile this with -Wall, the compiler warns you:</a:t>
            </a:r>
          </a:p>
          <a:p>
            <a:endParaRPr lang="en-US"/>
          </a:p>
          <a:p>
            <a:r>
              <a:rPr lang="en-US"/>
              <a:t>warning: 'x' is used uninitialized</a:t>
            </a:r>
          </a:p>
          <a:p>
            <a:endParaRPr lang="en-US"/>
          </a:p>
          <a:p>
            <a:r>
              <a:rPr lang="en-US"/>
              <a:t>When you see that warning, you read a box before you put anything in it.</a:t>
            </a:r>
          </a:p>
          <a:p>
            <a:endParaRPr lang="en-US"/>
          </a:p>
          <a:p>
            <a:r>
              <a:rPr lang="en-US"/>
              <a:t>Rule: give every box a value before you read it. The easiest way is to initialise when you declare: int count = 0;.</a:t>
            </a:r>
          </a:p>
          <a:p>
            <a:endParaRPr lang="en-US"/>
          </a:p>
          <a:p>
            <a:r>
              <a:rPr lang="en-US"/>
              <a:t>The question on the slide. Which variables are safe to print immediately? students, price and section, because they were initialised. count only after the line count = 10;. x never, because nothing was ever put in it.</a:t>
            </a:r>
          </a:p>
          <a:p>
            <a:endParaRPr lang="en-US"/>
          </a:p>
          <a:p>
            <a:r>
              <a:rPr lang="en-US"/>
              <a:t>Try it yourself.</a:t>
            </a:r>
          </a:p>
          <a:p>
            <a:endParaRPr lang="en-US"/>
          </a:p>
          <a:p>
            <a:r>
              <a:rPr lang="en-US"/>
              <a:t>1. Type Example 3, compile it with -Wall, and read the warning.</a:t>
            </a:r>
          </a:p>
          <a:p>
            <a:r>
              <a:rPr lang="en-US"/>
              <a:t>2. Change int x; to int x = 0;. Compile again. The warning is gone and the program prints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saw this on Friday: 7 / 3 is 2, not 2.33. Here is the rule and what it is good for.</a:t>
            </a:r>
          </a:p>
          <a:p>
            <a:endParaRPr lang="en-US"/>
          </a:p>
          <a:p>
            <a:r>
              <a:rPr lang="en-US"/>
              <a:t>The rule. When both numbers are int, the answer is an int. The part after the decimal point is thrown away. Not rounded. Thrown away.</a:t>
            </a:r>
          </a:p>
          <a:p>
            <a:endParaRPr lang="en-US"/>
          </a:p>
          <a:p>
            <a:r>
              <a:rPr lang="en-US"/>
              <a:t>int total = 7;</a:t>
            </a:r>
          </a:p>
          <a:p>
            <a:r>
              <a:rPr lang="en-US"/>
              <a:t>int people = 2;</a:t>
            </a:r>
          </a:p>
          <a:p>
            <a:r>
              <a:rPr lang="en-US"/>
              <a:t>printf("%d\n", total / people);</a:t>
            </a:r>
          </a:p>
          <a:p>
            <a:r>
              <a:rPr lang="en-US"/>
              <a:t>printf("%d\n", total % people);</a:t>
            </a:r>
          </a:p>
          <a:p>
            <a:endParaRPr lang="en-US"/>
          </a:p>
          <a:p>
            <a:r>
              <a:rPr lang="en-US"/>
              <a:t>The screen shows:</a:t>
            </a:r>
          </a:p>
          <a:p>
            <a:endParaRPr lang="en-US"/>
          </a:p>
          <a:p>
            <a:r>
              <a:rPr lang="en-US"/>
              <a:t>3</a:t>
            </a:r>
          </a:p>
          <a:p>
            <a:r>
              <a:rPr lang="en-US"/>
              <a:t>1</a:t>
            </a:r>
          </a:p>
          <a:p>
            <a:endParaRPr lang="en-US"/>
          </a:p>
          <a:p>
            <a:r>
              <a:rPr lang="en-US"/>
              <a:t>7 / 2 is 3.5, and the .5 is thrown away, so 3. 7 % 2 is the remainder: 2 goes into 7 three times, and 1 is left, so 1.</a:t>
            </a:r>
          </a:p>
          <a:p>
            <a:endParaRPr lang="en-US"/>
          </a:p>
          <a:p>
            <a:r>
              <a:rPr lang="en-US"/>
              <a:t>Think of it as one division with two answers: 7 = 3 × 2 + 1. The / gives you the 3. The % gives you the 1.</a:t>
            </a:r>
          </a:p>
          <a:p>
            <a:endParaRPr lang="en-US"/>
          </a:p>
          <a:p>
            <a:r>
              <a:rPr lang="en-US"/>
              <a:t>Expression: Result · Why</a:t>
            </a:r>
          </a:p>
          <a:p>
            <a:r>
              <a:rPr lang="en-US"/>
              <a:t>7 / 2: 3 · 3.5, and the .5 is thrown away</a:t>
            </a:r>
          </a:p>
          <a:p>
            <a:r>
              <a:rPr lang="en-US"/>
              <a:t>7 % 2: 1 · 3 × 2 = 6, and 1 is left</a:t>
            </a:r>
          </a:p>
          <a:p>
            <a:r>
              <a:rPr lang="en-US"/>
              <a:t>130 / 60: 2 · 60 goes into 130 two times</a:t>
            </a:r>
          </a:p>
          <a:p>
            <a:r>
              <a:rPr lang="en-US"/>
              <a:t>130 % 60: 10 · 2 × 60 = 120, and 10 is left</a:t>
            </a:r>
          </a:p>
          <a:p>
            <a:r>
              <a:rPr lang="en-US"/>
              <a:t>9 % 2: 1 · odd numbers leave 1</a:t>
            </a:r>
          </a:p>
          <a:p>
            <a:r>
              <a:rPr lang="en-US"/>
              <a:t>8 % 2: 0 · even numbers leave 0</a:t>
            </a:r>
          </a:p>
          <a:p>
            <a:endParaRPr lang="en-US"/>
          </a:p>
          <a:p>
            <a:r>
              <a:rPr lang="en-US"/>
              <a:t>The example on the slide: hours and minutes.</a:t>
            </a:r>
          </a:p>
          <a:p>
            <a:endParaRPr lang="en-US"/>
          </a:p>
          <a:p>
            <a:r>
              <a:rPr lang="en-US"/>
              <a:t>int minutes = 130;</a:t>
            </a:r>
          </a:p>
          <a:p>
            <a:r>
              <a:rPr lang="en-US"/>
              <a:t>printf("%d h %d min\n", minutes / 60, minutes % 60);</a:t>
            </a:r>
          </a:p>
          <a:p>
            <a:endParaRPr lang="en-US"/>
          </a:p>
          <a:p>
            <a:r>
              <a:rPr lang="en-US"/>
              <a:t>The screen shows 2 h 10 min. The / gives the hours, the % gives the minutes left over. That is what % is for: hours and minutes, minutes and seconds, is a number even or odd, what is the last digit of a number.</a:t>
            </a:r>
          </a:p>
          <a:p>
            <a:endParaRPr lang="en-US"/>
          </a:p>
          <a:p>
            <a:r>
              <a:rPr lang="en-US"/>
              <a:t>Why it is a trap. The compiler says nothing. 7 / 2 is not an error and not a warning. It is 3, quietly. You have to know the rule. The cure is on the next slide.</a:t>
            </a:r>
          </a:p>
          <a:p>
            <a:endParaRPr lang="en-US"/>
          </a:p>
          <a:p>
            <a:r>
              <a:rPr lang="en-US"/>
              <a:t>Try it yourself. Write down what you think each line prints. Then run it.</a:t>
            </a:r>
          </a:p>
          <a:p>
            <a:endParaRPr lang="en-US"/>
          </a:p>
          <a:p>
            <a:r>
              <a:rPr lang="en-US"/>
              <a:t>1. printf("%d\n", 200 / 60);</a:t>
            </a:r>
          </a:p>
          <a:p>
            <a:r>
              <a:rPr lang="en-US"/>
              <a:t>2. printf("%d\n", 200 % 60);</a:t>
            </a:r>
          </a:p>
          <a:p>
            <a:r>
              <a:rPr lang="en-US"/>
              <a:t>3. printf("%d min %d s\n", 125 / 60, 125 % 60);</a:t>
            </a:r>
          </a:p>
          <a:p>
            <a:endParaRPr lang="en-US"/>
          </a:p>
          <a:p>
            <a:r>
              <a:rPr lang="en-US"/>
              <a:t>(Answers: 3, 20, 2 min 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cure for integer division, and the mistake almost everyone makes on the way.</a:t>
            </a:r>
          </a:p>
          <a:p>
            <a:endParaRPr lang="en-US"/>
          </a:p>
          <a:p>
            <a:r>
              <a:rPr lang="en-US"/>
              <a:t>The key sentence: C calculates the expression first, then stores the result into the variable.</a:t>
            </a:r>
          </a:p>
          <a:p>
            <a:endParaRPr lang="en-US"/>
          </a:p>
          <a:p>
            <a:r>
              <a:rPr lang="en-US"/>
              <a:t>int a = 7;</a:t>
            </a:r>
          </a:p>
          <a:p>
            <a:r>
              <a:rPr lang="en-US"/>
              <a:t>int b = 2;</a:t>
            </a:r>
          </a:p>
          <a:p>
            <a:r>
              <a:rPr lang="en-US"/>
              <a:t>double result1 = a / b;</a:t>
            </a:r>
          </a:p>
          <a:p>
            <a:r>
              <a:rPr lang="en-US"/>
              <a:t>double result2 = (double)a / b;</a:t>
            </a:r>
          </a:p>
          <a:p>
            <a:r>
              <a:rPr lang="en-US"/>
              <a:t>printf("%.2f\n", result1);</a:t>
            </a:r>
          </a:p>
          <a:p>
            <a:r>
              <a:rPr lang="en-US"/>
              <a:t>printf("%.2f\n", result2);</a:t>
            </a:r>
          </a:p>
          <a:p>
            <a:endParaRPr lang="en-US"/>
          </a:p>
          <a:p>
            <a:r>
              <a:rPr lang="en-US"/>
              <a:t>The screen shows:</a:t>
            </a:r>
          </a:p>
          <a:p>
            <a:endParaRPr lang="en-US"/>
          </a:p>
          <a:p>
            <a:r>
              <a:rPr lang="en-US"/>
              <a:t>3.00</a:t>
            </a:r>
          </a:p>
          <a:p>
            <a:r>
              <a:rPr lang="en-US"/>
              <a:t>3.50</a:t>
            </a:r>
          </a:p>
          <a:p>
            <a:endParaRPr lang="en-US"/>
          </a:p>
          <a:p>
            <a:r>
              <a:rPr lang="en-US"/>
              <a:t>Why result1 is 3.00. C looks at a / b first. Both are int, so it is integer division: 3. Then it puts 3 into the double box result1. A 3 in a double box shows as 3.00. The box being a double came too late. The half was already thrown away.</a:t>
            </a:r>
          </a:p>
          <a:p>
            <a:endParaRPr lang="en-US"/>
          </a:p>
          <a:p>
            <a:r>
              <a:rPr lang="en-US"/>
              <a:t>Why result2 is 3.50. (double)a is a cast. A type in round brackets in front of a value means "treat this value as that type, just here". So (double)a is 7.0. Then 7.0 / 2: one side is a double, so C keeps the decimals: 3.5. Then 3.5 is stored.</a:t>
            </a:r>
          </a:p>
          <a:p>
            <a:endParaRPr lang="en-US"/>
          </a:p>
          <a:p>
            <a:r>
              <a:rPr lang="en-US"/>
              <a:t>The second mistake: casting the answer instead of a number.</a:t>
            </a:r>
          </a:p>
          <a:p>
            <a:endParaRPr lang="en-US"/>
          </a:p>
          <a:p>
            <a:r>
              <a:rPr lang="en-US"/>
              <a:t>double result3 = (double)(a / b);</a:t>
            </a:r>
          </a:p>
          <a:p>
            <a:r>
              <a:rPr lang="en-US"/>
              <a:t>printf("%.2f\n", result3);</a:t>
            </a:r>
          </a:p>
          <a:p>
            <a:endParaRPr lang="en-US"/>
          </a:p>
          <a:p>
            <a:r>
              <a:rPr lang="en-US"/>
              <a:t>The screen shows 3.00. The brackets say "do a / b first". That is integer division, 3. The cast turns 3 into 3.0. Too late again. The cast must touch one of the two numbers before the division, not the answer after it.</a:t>
            </a:r>
          </a:p>
          <a:p>
            <a:endParaRPr lang="en-US"/>
          </a:p>
          <a:p>
            <a:r>
              <a:rPr lang="en-US"/>
              <a:t>Line: Result · Why</a:t>
            </a:r>
          </a:p>
          <a:p>
            <a:r>
              <a:rPr lang="en-US"/>
              <a:t>double r = a / b;: 3.00 · division first, as int, then stored</a:t>
            </a:r>
          </a:p>
          <a:p>
            <a:r>
              <a:rPr lang="en-US"/>
              <a:t>double r = (double)a / b;: 3.50 · a becomes 7.0, then decimal division</a:t>
            </a:r>
          </a:p>
          <a:p>
            <a:r>
              <a:rPr lang="en-US"/>
              <a:t>double r = a / (double)b;: 3.50 · b becomes 2.0, same thing</a:t>
            </a:r>
          </a:p>
          <a:p>
            <a:r>
              <a:rPr lang="en-US"/>
              <a:t>double r = 1.0 * a / b;: 3.50 · 1.0 * a is 7.0, then decimal division</a:t>
            </a:r>
          </a:p>
          <a:p>
            <a:r>
              <a:rPr lang="en-US"/>
              <a:t>double r = (double)(a / b);: 3.00 · division first, cast after: too late</a:t>
            </a:r>
          </a:p>
          <a:p>
            <a:endParaRPr lang="en-US"/>
          </a:p>
          <a:p>
            <a:r>
              <a:rPr lang="en-US"/>
              <a:t>The other direction. Putting a decimal into an int box throws the decimals away, and -Wall does not warn:</a:t>
            </a:r>
          </a:p>
          <a:p>
            <a:endParaRPr lang="en-US"/>
          </a:p>
          <a:p>
            <a:r>
              <a:rPr lang="en-US"/>
              <a:t>int whole = 3.99;</a:t>
            </a:r>
          </a:p>
          <a:p>
            <a:r>
              <a:rPr lang="en-US"/>
              <a:t>printf("%d\n", whole);</a:t>
            </a:r>
          </a:p>
          <a:p>
            <a:endParaRPr lang="en-US"/>
          </a:p>
          <a:p>
            <a:r>
              <a:rPr lang="en-US"/>
              <a:t>The screen shows 3. Putting a whole number into a double box is harmless: double d = 5; holds 5.00.</a:t>
            </a:r>
          </a:p>
          <a:p>
            <a:endParaRPr lang="en-US"/>
          </a:p>
          <a:p>
            <a:r>
              <a:rPr lang="en-US"/>
              <a:t>Try it yourself. With int x = 9; and int y = 4;, write down what each prints, then run it.</a:t>
            </a:r>
          </a:p>
          <a:p>
            <a:endParaRPr lang="en-US"/>
          </a:p>
          <a:p>
            <a:r>
              <a:rPr lang="en-US"/>
              <a:t>1. printf("%d\n", x / y);</a:t>
            </a:r>
          </a:p>
          <a:p>
            <a:r>
              <a:rPr lang="en-US"/>
              <a:t>2. printf("%.2f\n", (double)x / y);</a:t>
            </a:r>
          </a:p>
          <a:p>
            <a:r>
              <a:rPr lang="en-US"/>
              <a:t>3. printf("%.2f\n", (double)(x / y));</a:t>
            </a:r>
          </a:p>
          <a:p>
            <a:endParaRPr lang="en-US"/>
          </a:p>
          <a:p>
            <a:r>
              <a:rPr lang="en-US"/>
              <a:t>(Answers: 2, 2.25,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char holds one character. One letter, one digit, one symbol. It is written in single quotes:</a:t>
            </a:r>
          </a:p>
          <a:p>
            <a:endParaRPr lang="en-US"/>
          </a:p>
          <a:p>
            <a:r>
              <a:rPr lang="en-US"/>
              <a:t>char grade = 'A';</a:t>
            </a:r>
          </a:p>
          <a:p>
            <a:r>
              <a:rPr lang="en-US"/>
              <a:t>char answer = 'y';</a:t>
            </a:r>
          </a:p>
          <a:p>
            <a:r>
              <a:rPr lang="en-US"/>
              <a:t>char digit = '7';</a:t>
            </a:r>
          </a:p>
          <a:p>
            <a:r>
              <a:rPr lang="en-US"/>
              <a:t>printf("%c\n", grade);</a:t>
            </a:r>
          </a:p>
          <a:p>
            <a:r>
              <a:rPr lang="en-US"/>
              <a:t>printf("%c %c\n", answer, digit);</a:t>
            </a:r>
          </a:p>
          <a:p>
            <a:endParaRPr lang="en-US"/>
          </a:p>
          <a:p>
            <a:r>
              <a:rPr lang="en-US"/>
              <a:t>The screen shows:</a:t>
            </a:r>
          </a:p>
          <a:p>
            <a:endParaRPr lang="en-US"/>
          </a:p>
          <a:p>
            <a:r>
              <a:rPr lang="en-US"/>
              <a:t>A</a:t>
            </a:r>
          </a:p>
          <a:p>
            <a:r>
              <a:rPr lang="en-US"/>
              <a:t>y 7</a:t>
            </a:r>
          </a:p>
          <a:p>
            <a:endParaRPr lang="en-US"/>
          </a:p>
          <a:p>
            <a:r>
              <a:rPr lang="en-US"/>
              <a:t>Print a char with %c.</a:t>
            </a:r>
          </a:p>
          <a:p>
            <a:endParaRPr lang="en-US"/>
          </a:p>
          <a:p>
            <a:r>
              <a:rPr lang="en-US"/>
              <a:t>Single quotes, not double. 'A' is a char. "A" with double quotes is a string, a piece of text, which comes next week. If you write char grade = "A";, the compiler warns makes integer from pointer without a cast and the program prints rubbish. That warning means: wrong quotes.</a:t>
            </a:r>
          </a:p>
          <a:p>
            <a:endParaRPr lang="en-US"/>
          </a:p>
          <a:p>
            <a:r>
              <a:rPr lang="en-US"/>
              <a:t>'7' is not 7. These two look the same on the screen but are different things:</a:t>
            </a:r>
          </a:p>
          <a:p>
            <a:endParaRPr lang="en-US"/>
          </a:p>
          <a:p>
            <a:r>
              <a:rPr lang="en-US"/>
              <a:t>char digit = '7';</a:t>
            </a:r>
          </a:p>
          <a:p>
            <a:r>
              <a:rPr lang="en-US"/>
              <a:t>int number = 7;</a:t>
            </a:r>
          </a:p>
          <a:p>
            <a:endParaRPr lang="en-US"/>
          </a:p>
          <a:p>
            <a:r>
              <a:rPr lang="en-US"/>
              <a:t>number is a quantity. You can add to it: number + 1 is 8. digit is a symbol, a picture of a seven. The question on the slide: which one can be used directly in arithmetic? number.</a:t>
            </a:r>
          </a:p>
          <a:p>
            <a:endParaRPr lang="en-US"/>
          </a:p>
          <a:p>
            <a:r>
              <a:rPr lang="en-US"/>
              <a:t>What is really inside a char. Every symbol is stored as a number. Print a char with %d and you see that number:</a:t>
            </a:r>
          </a:p>
          <a:p>
            <a:endParaRPr lang="en-US"/>
          </a:p>
          <a:p>
            <a:r>
              <a:rPr lang="en-US"/>
              <a:t>printf("%d\n", '7');</a:t>
            </a:r>
          </a:p>
          <a:p>
            <a:r>
              <a:rPr lang="en-US"/>
              <a:t>printf("%d\n", 'A');</a:t>
            </a:r>
          </a:p>
          <a:p>
            <a:endParaRPr lang="en-US"/>
          </a:p>
          <a:p>
            <a:r>
              <a:rPr lang="en-US"/>
              <a:t>The screen shows 55 and 65. 55 is the number for the symbol 7, and 65 for the symbol A. That is the row of bits on slide 3. Next week we use this. For now, remember only: '7' is a symbol, 7 is a number, and single quotes make a char.</a:t>
            </a:r>
          </a:p>
          <a:p>
            <a:endParaRPr lang="en-US"/>
          </a:p>
          <a:p>
            <a:r>
              <a:rPr lang="en-US"/>
              <a:t>Try it yourself.</a:t>
            </a:r>
          </a:p>
          <a:p>
            <a:endParaRPr lang="en-US"/>
          </a:p>
          <a:p>
            <a:r>
              <a:rPr lang="en-US"/>
              <a:t>1. Make char c = 'Q'; and print it with %c. (Expect Q.)</a:t>
            </a:r>
          </a:p>
          <a:p>
            <a:r>
              <a:rPr lang="en-US"/>
              <a:t>2. Print the same c with %d. (Expect 81.)</a:t>
            </a:r>
          </a:p>
          <a:p>
            <a:r>
              <a:rPr lang="en-US"/>
              <a:t>3. Make char d = '5'; and int n = 5; and print n + 1 with %d. (Expect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program decides by asking questions. Is the age 18 or more? Is the score under 50? Each question has a yes/no answer.</a:t>
            </a:r>
          </a:p>
          <a:p>
            <a:endParaRPr lang="en-US"/>
          </a:p>
          <a:p>
            <a:r>
              <a:rPr lang="en-US"/>
              <a:t>In C, yes is 1 and no is 0. A comparison is a small calculation whose answer is 1 or 0. You can print it with %d.</a:t>
            </a:r>
          </a:p>
          <a:p>
            <a:endParaRPr lang="en-US"/>
          </a:p>
          <a:p>
            <a:r>
              <a:rPr lang="en-US"/>
              <a:t>The six ways to ask:</a:t>
            </a:r>
          </a:p>
          <a:p>
            <a:endParaRPr lang="en-US"/>
          </a:p>
          <a:p>
            <a:r>
              <a:rPr lang="en-US"/>
              <a:t>Symbol: Question · Example · Answer</a:t>
            </a:r>
          </a:p>
          <a:p>
            <a:r>
              <a:rPr lang="en-US"/>
              <a:t>&gt;: greater than? · 19 &gt; 18 · 1</a:t>
            </a:r>
          </a:p>
          <a:p>
            <a:r>
              <a:rPr lang="en-US"/>
              <a:t>&gt;=: greater or equal? · 18 &gt;= 18 · 1</a:t>
            </a:r>
          </a:p>
          <a:p>
            <a:r>
              <a:rPr lang="en-US"/>
              <a:t>&lt;: less than? · 10 &lt; 4 · 0</a:t>
            </a:r>
          </a:p>
          <a:p>
            <a:r>
              <a:rPr lang="en-US"/>
              <a:t>&lt;=: less or equal? · 7 &lt;= 7 · 1</a:t>
            </a:r>
          </a:p>
          <a:p>
            <a:r>
              <a:rPr lang="en-US"/>
              <a:t>==: equal? · 19 == 18 · 0</a:t>
            </a:r>
          </a:p>
          <a:p>
            <a:r>
              <a:rPr lang="en-US"/>
              <a:t>!=: not equal? · 5 != 3 · 1</a:t>
            </a:r>
          </a:p>
          <a:p>
            <a:endParaRPr lang="en-US"/>
          </a:p>
          <a:p>
            <a:r>
              <a:rPr lang="en-US"/>
              <a:t>The example on the slide.</a:t>
            </a:r>
          </a:p>
          <a:p>
            <a:endParaRPr lang="en-US"/>
          </a:p>
          <a:p>
            <a:r>
              <a:rPr lang="en-US"/>
              <a:t>int age = 19;</a:t>
            </a:r>
          </a:p>
          <a:p>
            <a:r>
              <a:rPr lang="en-US"/>
              <a:t>printf("%d\n", age &gt;= 18);</a:t>
            </a:r>
          </a:p>
          <a:p>
            <a:r>
              <a:rPr lang="en-US"/>
              <a:t>printf("%d\n", age == 18);</a:t>
            </a:r>
          </a:p>
          <a:p>
            <a:endParaRPr lang="en-US"/>
          </a:p>
          <a:p>
            <a:r>
              <a:rPr lang="en-US"/>
              <a:t>The screen shows:</a:t>
            </a:r>
          </a:p>
          <a:p>
            <a:endParaRPr lang="en-US"/>
          </a:p>
          <a:p>
            <a:r>
              <a:rPr lang="en-US"/>
              <a:t>1</a:t>
            </a:r>
          </a:p>
          <a:p>
            <a:r>
              <a:rPr lang="en-US"/>
              <a:t>0</a:t>
            </a:r>
          </a:p>
          <a:p>
            <a:endParaRPr lang="en-US"/>
          </a:p>
          <a:p>
            <a:r>
              <a:rPr lang="en-US"/>
              <a:t>Is 19 greater or equal to 18? Yes: 1. Is 19 equal to 18? No: 0.</a:t>
            </a:r>
          </a:p>
          <a:p>
            <a:endParaRPr lang="en-US"/>
          </a:p>
          <a:p>
            <a:r>
              <a:rPr lang="en-US"/>
              <a:t>The question on the slide. What is 5 != 3? Is 5 different from 3? Yes: 1.</a:t>
            </a:r>
          </a:p>
          <a:p>
            <a:endParaRPr lang="en-US"/>
          </a:p>
          <a:p>
            <a:r>
              <a:rPr lang="en-US"/>
              <a:t>The bug of the semester: = and ==.</a:t>
            </a:r>
          </a:p>
          <a:p>
            <a:endParaRPr lang="en-US"/>
          </a:p>
          <a:p>
            <a:r>
              <a:rPr lang="en-US"/>
              <a:t>- x = 5 puts 5 into x. One equals sign. It is a command.</a:t>
            </a:r>
          </a:p>
          <a:p>
            <a:r>
              <a:rPr lang="en-US"/>
              <a:t>- x == 5 asks "is x equal to 5?". Two equals signs. It is a question.</a:t>
            </a:r>
          </a:p>
          <a:p>
            <a:endParaRPr lang="en-US"/>
          </a:p>
          <a:p>
            <a:r>
              <a:rPr lang="en-US"/>
              <a:t>If you write = where you meant ==, the program still compiles and does something, just not what you wanted. With -Wall you get a hint:</a:t>
            </a:r>
          </a:p>
          <a:p>
            <a:endParaRPr lang="en-US"/>
          </a:p>
          <a:p>
            <a:r>
              <a:rPr lang="en-US"/>
              <a:t>warning: suggest parentheses around assignment used as truth value</a:t>
            </a:r>
          </a:p>
          <a:p>
            <a:endParaRPr lang="en-US"/>
          </a:p>
          <a:p>
            <a:r>
              <a:rPr lang="en-US"/>
              <a:t>When you see that warning, look for a = that should be ==.</a:t>
            </a:r>
          </a:p>
          <a:p>
            <a:endParaRPr lang="en-US"/>
          </a:p>
          <a:p>
            <a:r>
              <a:rPr lang="en-US"/>
              <a:t>Try it yourself. Write down what each prints, then run it.</a:t>
            </a:r>
          </a:p>
          <a:p>
            <a:endParaRPr lang="en-US"/>
          </a:p>
          <a:p>
            <a:r>
              <a:rPr lang="en-US"/>
              <a:t>1. printf("%d\n", 3 &gt; 2);</a:t>
            </a:r>
          </a:p>
          <a:p>
            <a:r>
              <a:rPr lang="en-US"/>
              <a:t>2. printf("%d\n", 7 != 7);</a:t>
            </a:r>
          </a:p>
          <a:p>
            <a:r>
              <a:rPr lang="en-US"/>
              <a:t>3. printf("%d\n", 40 &gt; 38);</a:t>
            </a:r>
          </a:p>
          <a:p>
            <a:r>
              <a:rPr lang="en-US"/>
              <a:t>4. int n = 9; printf("%d\n", n % 2 == 1);</a:t>
            </a:r>
          </a:p>
          <a:p>
            <a:endParaRPr lang="en-US"/>
          </a:p>
          <a:p>
            <a:r>
              <a:rPr lang="en-US"/>
              <a:t>(Answers: 1, 0, 1, 1. The last one asks "is the remainder of 9 ÷ 2 equal to 1?", and it is, so 9 is odd.)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 questions have more than one part. "Can enter the exam" is: registered and not late and has an ID card. C has three joiners.</a:t>
            </a:r>
          </a:p>
          <a:p>
            <a:endParaRPr lang="en-US"/>
          </a:p>
          <a:p>
            <a:r>
              <a:rPr lang="en-US"/>
              <a:t>- &amp;&amp; is AND: both sides must be yes. 3 &gt; 2 &amp;&amp; 2 &gt; 1 is 1. 3 &gt; 2 &amp;&amp; 2 &gt; 5 is 0, because the second half is no.</a:t>
            </a:r>
          </a:p>
          <a:p>
            <a:r>
              <a:rPr lang="en-US"/>
              <a:t>- || is OR: at least one side must be yes. 3 &gt; 2 || 2 &gt; 5 is 1, because the first half is yes.</a:t>
            </a:r>
          </a:p>
          <a:p>
            <a:r>
              <a:rPr lang="en-US"/>
              <a:t>- ! is NOT: it flips the answer. !0 is 1, and !1 is 0.</a:t>
            </a:r>
          </a:p>
          <a:p>
            <a:endParaRPr lang="en-US"/>
          </a:p>
          <a:p>
            <a:r>
              <a:rPr lang="en-US"/>
              <a:t>The | is the vertical bar, usually on the key above Enter, with Shift. Type it twice.</a:t>
            </a:r>
          </a:p>
          <a:p>
            <a:endParaRPr lang="en-US"/>
          </a:p>
          <a:p>
            <a:r>
              <a:rPr lang="en-US"/>
              <a:t>The example on the slide.</a:t>
            </a:r>
          </a:p>
          <a:p>
            <a:endParaRPr lang="en-US"/>
          </a:p>
          <a:p>
            <a:r>
              <a:rPr lang="en-US"/>
              <a:t>int age = 20;</a:t>
            </a:r>
          </a:p>
          <a:p>
            <a:r>
              <a:rPr lang="en-US"/>
              <a:t>int hasCard = 1;</a:t>
            </a:r>
          </a:p>
          <a:p>
            <a:r>
              <a:rPr lang="en-US"/>
              <a:t>if (age &gt;= 18 &amp;&amp; hasCard) {</a:t>
            </a:r>
          </a:p>
          <a:p>
            <a:r>
              <a:rPr lang="en-US"/>
              <a:t>    printf("Allowed\n");</a:t>
            </a:r>
          </a:p>
          <a:p>
            <a:r>
              <a:rPr lang="en-US"/>
              <a:t>}</a:t>
            </a:r>
          </a:p>
          <a:p>
            <a:endParaRPr lang="en-US"/>
          </a:p>
          <a:p>
            <a:r>
              <a:rPr lang="en-US"/>
              <a:t>The screen shows Allowed. Is 20 at least 18? Yes, 1. Is hasCard yes? It is 1. Both yes, so the whole condition is yes.</a:t>
            </a:r>
          </a:p>
          <a:p>
            <a:endParaRPr lang="en-US"/>
          </a:p>
          <a:p>
            <a:r>
              <a:rPr lang="en-US"/>
              <a:t>Notice hasCard stands alone, with no comparison. It is already a 1 or a 0, so it is already an answer. That is how you store a yes/no: an int with 1 for yes and 0 for no.</a:t>
            </a:r>
          </a:p>
          <a:p>
            <a:endParaRPr lang="en-US"/>
          </a:p>
          <a:p>
            <a:r>
              <a:rPr lang="en-US"/>
              <a:t>Change hasCard to 0. Now the condition is "yes and no", which is no, and nothing prints.</a:t>
            </a:r>
          </a:p>
          <a:p>
            <a:endParaRPr lang="en-US"/>
          </a:p>
          <a:p>
            <a:r>
              <a:rPr lang="en-US"/>
              <a:t>The question on the slide: a discount for a student or anyone under 18.</a:t>
            </a:r>
          </a:p>
          <a:p>
            <a:endParaRPr lang="en-US"/>
          </a:p>
          <a:p>
            <a:r>
              <a:rPr lang="en-US"/>
              <a:t>if (isStudent || age &lt; 18) {</a:t>
            </a:r>
          </a:p>
          <a:p>
            <a:r>
              <a:rPr lang="en-US"/>
              <a:t>    printf("Discount\n");</a:t>
            </a:r>
          </a:p>
          <a:p>
            <a:r>
              <a:rPr lang="en-US"/>
              <a:t>}</a:t>
            </a:r>
          </a:p>
          <a:p>
            <a:endParaRPr lang="en-US"/>
          </a:p>
          <a:p>
            <a:r>
              <a:rPr lang="en-US"/>
              <a:t>isStudent: age · The condition · Prints</a:t>
            </a:r>
          </a:p>
          <a:p>
            <a:r>
              <a:rPr lang="en-US"/>
              <a:t>1: 30 · yes or no = yes · Discount</a:t>
            </a:r>
          </a:p>
          <a:p>
            <a:r>
              <a:rPr lang="en-US"/>
              <a:t>0: 16 · no or yes = yes · Discount</a:t>
            </a:r>
          </a:p>
          <a:p>
            <a:r>
              <a:rPr lang="en-US"/>
              <a:t>0: 30 · no or no = no · nothing</a:t>
            </a:r>
          </a:p>
          <a:p>
            <a:endParaRPr lang="en-US"/>
          </a:p>
          <a:p>
            <a:r>
              <a:rPr lang="en-US"/>
              <a:t>! (not). It flips a yes/no. It reads best in front of a yes/no box:</a:t>
            </a:r>
          </a:p>
          <a:p>
            <a:endParaRPr lang="en-US"/>
          </a:p>
          <a:p>
            <a:r>
              <a:rPr lang="en-US"/>
              <a:t>int raining = 0;</a:t>
            </a:r>
          </a:p>
          <a:p>
            <a:r>
              <a:rPr lang="en-US"/>
              <a:t>if (!raining) {</a:t>
            </a:r>
          </a:p>
          <a:p>
            <a:r>
              <a:rPr lang="en-US"/>
              <a:t>    printf("Go outside\n");</a:t>
            </a:r>
          </a:p>
          <a:p>
            <a:r>
              <a:rPr lang="en-US"/>
              <a:t>}</a:t>
            </a:r>
          </a:p>
          <a:p>
            <a:endParaRPr lang="en-US"/>
          </a:p>
          <a:p>
            <a:r>
              <a:rPr lang="en-US"/>
              <a:t>The screen shows Go outside. raining is 0, no. !raining is 1, yes.</a:t>
            </a:r>
          </a:p>
          <a:p>
            <a:endParaRPr lang="en-US"/>
          </a:p>
          <a:p>
            <a:r>
              <a:rPr lang="en-US"/>
              <a:t>Try it yourself. Write each rule in C.</a:t>
            </a:r>
          </a:p>
          <a:p>
            <a:endParaRPr lang="en-US"/>
          </a:p>
          <a:p>
            <a:r>
              <a:rPr lang="en-US"/>
              <a:t>1. Can drive: age is 18 or more and has a licence (hasLicence is 1 or 0).</a:t>
            </a:r>
          </a:p>
          <a:p>
            <a:r>
              <a:rPr lang="en-US"/>
              <a:t>2. Free entry: under 6 or 65 and over.</a:t>
            </a:r>
          </a:p>
          <a:p>
            <a:r>
              <a:rPr lang="en-US"/>
              <a:t>3. Not logged in (loggedIn is 1 or 0).</a:t>
            </a:r>
          </a:p>
          <a:p>
            <a:endParaRPr lang="en-US"/>
          </a:p>
          <a:p>
            <a:r>
              <a:rPr lang="en-US"/>
              <a:t>(Answers: age &gt;= 18 &amp;&amp; hasLicence, age &lt; 6 || age &gt;= 65, !loggedIn.)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if statement runs a block of lines only when a question's answer is yes.</a:t>
            </a:r>
          </a:p>
          <a:p>
            <a:endParaRPr lang="en-US"/>
          </a:p>
          <a:p>
            <a:r>
              <a:rPr lang="en-US"/>
              <a:t>The program on the slide.</a:t>
            </a:r>
          </a:p>
          <a:p>
            <a:endParaRPr lang="en-US"/>
          </a:p>
          <a:p>
            <a:r>
              <a:rPr lang="en-US"/>
              <a:t>#include &lt;stdio.h&gt;</a:t>
            </a:r>
          </a:p>
          <a:p>
            <a:r>
              <a:rPr lang="en-US"/>
              <a:t>int main(void) {</a:t>
            </a:r>
          </a:p>
          <a:p>
            <a:r>
              <a:rPr lang="en-US"/>
              <a:t>    int score;</a:t>
            </a:r>
          </a:p>
          <a:p>
            <a:r>
              <a:rPr lang="en-US"/>
              <a:t>    printf("Score: ");</a:t>
            </a:r>
          </a:p>
          <a:p>
            <a:r>
              <a:rPr lang="en-US"/>
              <a:t>    scanf("%d", &amp;score);</a:t>
            </a:r>
          </a:p>
          <a:p>
            <a:r>
              <a:rPr lang="en-US"/>
              <a:t>    if (score &gt;= 50) {</a:t>
            </a:r>
          </a:p>
          <a:p>
            <a:r>
              <a:rPr lang="en-US"/>
              <a:t>        printf("Passed\n");</a:t>
            </a:r>
          </a:p>
          <a:p>
            <a:r>
              <a:rPr lang="en-US"/>
              <a:t>    }</a:t>
            </a:r>
          </a:p>
          <a:p>
            <a:r>
              <a:rPr lang="en-US"/>
              <a:t>    printf("Done\n");</a:t>
            </a:r>
          </a:p>
          <a:p>
            <a:r>
              <a:rPr lang="en-US"/>
              <a:t>    return 0;</a:t>
            </a:r>
          </a:p>
          <a:p>
            <a:r>
              <a:rPr lang="en-US"/>
              <a:t>}</a:t>
            </a:r>
          </a:p>
          <a:p>
            <a:endParaRPr lang="en-US"/>
          </a:p>
          <a:p>
            <a:r>
              <a:rPr lang="en-US"/>
              <a:t>Line by line.</a:t>
            </a:r>
          </a:p>
          <a:p>
            <a:endParaRPr lang="en-US"/>
          </a:p>
          <a:p>
            <a:r>
              <a:rPr lang="en-US"/>
              <a:t>- if (score &gt;= 50) { reads as "if the score is at least 50, then". The question goes in round brackets. Then an open curly brace.</a:t>
            </a:r>
          </a:p>
          <a:p>
            <a:r>
              <a:rPr lang="en-US"/>
              <a:t>- printf("Passed\n"); is the block: what to do when the answer is yes.</a:t>
            </a:r>
          </a:p>
          <a:p>
            <a:r>
              <a:rPr lang="en-US"/>
              <a:t>- } closes the block.</a:t>
            </a:r>
          </a:p>
          <a:p>
            <a:r>
              <a:rPr lang="en-US"/>
              <a:t>- printf("Done\n"); is after the closing brace, so it is not part of the if. It runs every time.</a:t>
            </a:r>
          </a:p>
          <a:p>
            <a:endParaRPr lang="en-US"/>
          </a:p>
          <a:p>
            <a:r>
              <a:rPr lang="en-US"/>
              <a:t>The two questions on the slide.</a:t>
            </a:r>
          </a:p>
          <a:p>
            <a:endParaRPr lang="en-US"/>
          </a:p>
          <a:p>
            <a:r>
              <a:rPr lang="en-US"/>
              <a:t>Run it and type 49. The screen shows:</a:t>
            </a:r>
          </a:p>
          <a:p>
            <a:endParaRPr lang="en-US"/>
          </a:p>
          <a:p>
            <a:r>
              <a:rPr lang="en-US"/>
              <a:t>Score: Done</a:t>
            </a:r>
          </a:p>
          <a:p>
            <a:endParaRPr lang="en-US"/>
          </a:p>
          <a:p>
            <a:r>
              <a:rPr lang="en-US"/>
              <a:t>Is 49 at least 50? No, so the block is skipped, and only Done prints.</a:t>
            </a:r>
          </a:p>
          <a:p>
            <a:endParaRPr lang="en-US"/>
          </a:p>
          <a:p>
            <a:r>
              <a:rPr lang="en-US"/>
              <a:t>Run it and type 50. The screen shows:</a:t>
            </a:r>
          </a:p>
          <a:p>
            <a:endParaRPr lang="en-US"/>
          </a:p>
          <a:p>
            <a:r>
              <a:rPr lang="en-US"/>
              <a:t>Score: Passed</a:t>
            </a:r>
          </a:p>
          <a:p>
            <a:r>
              <a:rPr lang="en-US"/>
              <a:t>Done</a:t>
            </a:r>
          </a:p>
          <a:p>
            <a:endParaRPr lang="en-US"/>
          </a:p>
          <a:p>
            <a:r>
              <a:rPr lang="en-US"/>
              <a:t>Is 50 at least 50? Yes, so Passed prints, and then Done prints as always.</a:t>
            </a:r>
          </a:p>
          <a:p>
            <a:endParaRPr lang="en-US"/>
          </a:p>
          <a:p>
            <a:r>
              <a:rPr lang="en-US"/>
              <a:t>The picture on the slide. The condition is a fork in the road. Yes: go through the block. No: skip around it. Then both roads join again and the program carries on.</a:t>
            </a:r>
          </a:p>
          <a:p>
            <a:endParaRPr lang="en-US"/>
          </a:p>
          <a:p>
            <a:r>
              <a:rPr lang="en-US"/>
              <a:t>Shape rules.</a:t>
            </a:r>
          </a:p>
          <a:p>
            <a:endParaRPr lang="en-US"/>
          </a:p>
          <a:p>
            <a:r>
              <a:rPr lang="en-US"/>
              <a:t>- No semicolon after the ) of the if. The braces are its body.</a:t>
            </a:r>
          </a:p>
          <a:p>
            <a:r>
              <a:rPr lang="en-US"/>
              <a:t>- Indent the block four spaces. The compiler does not care. You will, when there are three ifs inside each other.</a:t>
            </a:r>
          </a:p>
          <a:p>
            <a:r>
              <a:rPr lang="en-US"/>
              <a:t>- Even if the block is one line, use the braces. Without them, only the very next line belongs to the if, and it is easy to get wrong.</a:t>
            </a:r>
          </a:p>
          <a:p>
            <a:endParaRPr lang="en-US"/>
          </a:p>
          <a:p>
            <a:r>
              <a:rPr lang="en-US"/>
              <a:t>Try it yourself.</a:t>
            </a:r>
          </a:p>
          <a:p>
            <a:endParaRPr lang="en-US"/>
          </a:p>
          <a:p>
            <a:r>
              <a:rPr lang="en-US"/>
              <a:t>1. Change 50 to 60. Run it with 55. (Expect Done only.)</a:t>
            </a:r>
          </a:p>
          <a:p>
            <a:r>
              <a:rPr lang="en-US"/>
              <a:t>2. Add a second if after the first: if the score is 90 or more, print Excellent. Run it with 95. (Expect Passed, Excellent,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on its own does something or nothing. Usually you want one of two things. That is else.</a:t>
            </a:r>
          </a:p>
          <a:p>
            <a:endParaRPr lang="en-US"/>
          </a:p>
          <a:p>
            <a:r>
              <a:rPr lang="en-US"/>
              <a:t>The program on the slide.</a:t>
            </a:r>
          </a:p>
          <a:p>
            <a:endParaRPr lang="en-US"/>
          </a:p>
          <a:p>
            <a:r>
              <a:rPr lang="en-US"/>
              <a:t>#include &lt;stdio.h&gt;</a:t>
            </a:r>
          </a:p>
          <a:p>
            <a:r>
              <a:rPr lang="en-US"/>
              <a:t>int main(void) {</a:t>
            </a:r>
          </a:p>
          <a:p>
            <a:r>
              <a:rPr lang="en-US"/>
              <a:t>    int age;</a:t>
            </a:r>
          </a:p>
          <a:p>
            <a:r>
              <a:rPr lang="en-US"/>
              <a:t>    printf("Age: ");</a:t>
            </a:r>
          </a:p>
          <a:p>
            <a:r>
              <a:rPr lang="en-US"/>
              <a:t>    scanf("%d", &amp;age);</a:t>
            </a:r>
          </a:p>
          <a:p>
            <a:r>
              <a:rPr lang="en-US"/>
              <a:t>    if (age &gt;= 18) {</a:t>
            </a:r>
          </a:p>
          <a:p>
            <a:r>
              <a:rPr lang="en-US"/>
              <a:t>        printf("Adult ticket\n");</a:t>
            </a:r>
          </a:p>
          <a:p>
            <a:r>
              <a:rPr lang="en-US"/>
              <a:t>    } else {</a:t>
            </a:r>
          </a:p>
          <a:p>
            <a:r>
              <a:rPr lang="en-US"/>
              <a:t>        printf("Student ticket\n");</a:t>
            </a:r>
          </a:p>
          <a:p>
            <a:r>
              <a:rPr lang="en-US"/>
              <a:t>    }</a:t>
            </a:r>
          </a:p>
          <a:p>
            <a:r>
              <a:rPr lang="en-US"/>
              <a:t>    return 0;</a:t>
            </a:r>
          </a:p>
          <a:p>
            <a:r>
              <a:rPr lang="en-US"/>
              <a:t>}</a:t>
            </a:r>
          </a:p>
          <a:p>
            <a:endParaRPr lang="en-US"/>
          </a:p>
          <a:p>
            <a:r>
              <a:rPr lang="en-US"/>
              <a:t>You type: Screen shows · Why</a:t>
            </a:r>
          </a:p>
          <a:p>
            <a:r>
              <a:rPr lang="en-US"/>
              <a:t>20: Adult ticket · 20 is at least 18: yes</a:t>
            </a:r>
          </a:p>
          <a:p>
            <a:r>
              <a:rPr lang="en-US"/>
              <a:t>17: Student ticket · 17 is not: no, so else</a:t>
            </a:r>
          </a:p>
          <a:p>
            <a:r>
              <a:rPr lang="en-US"/>
              <a:t>18: Adult ticket · 18 is "greater or equal": yes</a:t>
            </a:r>
          </a:p>
          <a:p>
            <a:endParaRPr lang="en-US"/>
          </a:p>
          <a:p>
            <a:r>
              <a:rPr lang="en-US"/>
              <a:t>The rule. If the condition is yes, the if block runs. If it is no, the else block runs. Never both. Never neither. Exactly one of the two, every time.</a:t>
            </a:r>
          </a:p>
          <a:p>
            <a:endParaRPr lang="en-US"/>
          </a:p>
          <a:p>
            <a:r>
              <a:rPr lang="en-US"/>
              <a:t>else has no question of its own. It means "otherwise". It catches everything the if did not. Do not write else (age &lt; 18): else takes no brackets and no condition. That is a compile error.</a:t>
            </a:r>
          </a:p>
          <a:p>
            <a:endParaRPr lang="en-US"/>
          </a:p>
          <a:p>
            <a:r>
              <a:rPr lang="en-US"/>
              <a:t>The mini-task on the slide. Change the program: under 6 is a free ticket, otherwise a normal ticket.</a:t>
            </a:r>
          </a:p>
          <a:p>
            <a:endParaRPr lang="en-US"/>
          </a:p>
          <a:p>
            <a:r>
              <a:rPr lang="en-US"/>
              <a:t>if (age &lt; 6) {</a:t>
            </a:r>
          </a:p>
          <a:p>
            <a:r>
              <a:rPr lang="en-US"/>
              <a:t>    printf("Free ticket\n");</a:t>
            </a:r>
          </a:p>
          <a:p>
            <a:r>
              <a:rPr lang="en-US"/>
              <a:t>} else {</a:t>
            </a:r>
          </a:p>
          <a:p>
            <a:r>
              <a:rPr lang="en-US"/>
              <a:t>    printf("Normal ticket\n");</a:t>
            </a:r>
          </a:p>
          <a:p>
            <a:r>
              <a:rPr lang="en-US"/>
              <a:t>}</a:t>
            </a:r>
          </a:p>
          <a:p>
            <a:endParaRPr lang="en-US"/>
          </a:p>
          <a:p>
            <a:r>
              <a:rPr lang="en-US"/>
              <a:t>Type 4: Free ticket. Type 6: Normal ticket, because 6 is not under 6.</a:t>
            </a:r>
          </a:p>
          <a:p>
            <a:endParaRPr lang="en-US"/>
          </a:p>
          <a:p>
            <a:r>
              <a:rPr lang="en-US"/>
              <a:t>Usual mistakes.</a:t>
            </a:r>
          </a:p>
          <a:p>
            <a:endParaRPr lang="en-US"/>
          </a:p>
          <a:p>
            <a:r>
              <a:rPr lang="en-US"/>
              <a:t>- &gt; instead of &lt;: if (age &gt; 6) gives free tickets to adults.</a:t>
            </a:r>
          </a:p>
          <a:p>
            <a:r>
              <a:rPr lang="en-US"/>
              <a:t>- = instead of a comparison: if (age = 6) puts 6 into age and then treats 6 as "yes". Look for the -Wall warning from slide 9.</a:t>
            </a:r>
          </a:p>
          <a:p>
            <a:r>
              <a:rPr lang="en-US"/>
              <a:t>- A semicolon after the ): if (age &lt; 6); ends the if there, and the block runs always. -Wall warns this 'if' clause does not guard....</a:t>
            </a:r>
          </a:p>
          <a:p>
            <a:endParaRPr lang="en-US"/>
          </a:p>
          <a:p>
            <a:r>
              <a:rPr lang="en-US"/>
              <a:t>Try it yourself.</a:t>
            </a:r>
          </a:p>
          <a:p>
            <a:endParaRPr lang="en-US"/>
          </a:p>
          <a:p>
            <a:r>
              <a:rPr lang="en-US"/>
              <a:t>1. Read a number. Print Even if n % 2 == 0, otherwise Odd. Test with 8 and 9.</a:t>
            </a:r>
          </a:p>
          <a:p>
            <a:r>
              <a:rPr lang="en-US"/>
              <a:t>2. Read a temperature as a double. Print Check fever if it is above 38.0, otherwise Normal. Test with 38.5 and 36.6.</a:t>
            </a:r>
          </a:p>
          <a:p>
            <a:endParaRPr lang="en-US"/>
          </a:p>
          <a:p>
            <a:r>
              <a:rPr lang="en-US"/>
              <a:t>Before Friday.</a:t>
            </a:r>
          </a:p>
          <a:p>
            <a:endParaRPr lang="en-US"/>
          </a:p>
          <a:p>
            <a:r>
              <a:rPr lang="en-US"/>
              <a:t>1. Quiz 1 is Friday, first 25 minutes, on paper, no laptop, on week 1 only. Do Knowledge checks 1 and 2 until your best is 4 of 6 or more, and the practice tests. The quiz asks the same kind of thing on paper: what does this print, find the mistake, write a short program.</a:t>
            </a:r>
          </a:p>
          <a:p>
            <a:r>
              <a:rPr lang="en-US"/>
              <a:t>2. Do Knowledge check 3 on Blackboard, on today's slides. Zero percent, three attempts, best one counts.</a:t>
            </a:r>
          </a:p>
          <a:p>
            <a:r>
              <a:rPr lang="en-US"/>
              <a:t>3. Try the new practice tests: types and conversion, comparisons and logic, if and else.</a:t>
            </a:r>
          </a:p>
          <a:p>
            <a:r>
              <a:rPr lang="en-US"/>
              <a:t>4. Bring the weekend programs from last week, working or not.</a:t>
            </a:r>
          </a:p>
          <a:p>
            <a:endParaRPr lang="en-US"/>
          </a:p>
          <a:p>
            <a:r>
              <a:rPr lang="en-US"/>
              <a:t>Friday, after the quiz: else if chains, switch, and two whole programs, BMI and an electricity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quiz papers come back on Tuesday, marked.</a:t>
            </a:r>
          </a:p>
          <a:p>
            <a:endParaRPr lang="en-US"/>
          </a:p>
          <a:p>
            <a:r>
              <a:rPr lang="en-US"/>
              <a:t>How to try the examples in these notes. Same as last week. Open Visual Studio Code, open your folder, make a new file ending in .c, then in the terminal type gcc -Wall name.c -o name and press Enter, then ./name (or .\name in Windows PowerShell) and press Enter.</a:t>
            </a:r>
          </a:p>
          <a:p>
            <a:endParaRPr lang="en-US"/>
          </a:p>
          <a:p>
            <a:r>
              <a:rPr lang="en-US"/>
              <a:t>Two paths were not enough. On Tuesday you saw if and if/else: one condition, two paths. Grades have four categories. For that C has the chain: if, then else if, then else if, then else.</a:t>
            </a:r>
          </a:p>
          <a:p>
            <a:endParaRPr lang="en-US"/>
          </a:p>
          <a:p>
            <a:r>
              <a:rPr lang="en-US"/>
              <a:t>Example 1. The program on the slide.</a:t>
            </a:r>
          </a:p>
          <a:p>
            <a:endParaRPr lang="en-US"/>
          </a:p>
          <a:p>
            <a:r>
              <a:rPr lang="en-US"/>
              <a:t>#include &lt;stdio.h&gt;</a:t>
            </a:r>
          </a:p>
          <a:p>
            <a:r>
              <a:rPr lang="en-US"/>
              <a:t>int main(void) {</a:t>
            </a:r>
          </a:p>
          <a:p>
            <a:r>
              <a:rPr lang="en-US"/>
              <a:t>    int score;</a:t>
            </a:r>
          </a:p>
          <a:p>
            <a:r>
              <a:rPr lang="en-US"/>
              <a:t>    printf("Score: ");</a:t>
            </a:r>
          </a:p>
          <a:p>
            <a:r>
              <a:rPr lang="en-US"/>
              <a:t>    scanf("%d", &amp;score);</a:t>
            </a:r>
          </a:p>
          <a:p>
            <a:r>
              <a:rPr lang="en-US"/>
              <a:t>    if (score &gt;= 90) {</a:t>
            </a:r>
          </a:p>
          <a:p>
            <a:r>
              <a:rPr lang="en-US"/>
              <a:t>        printf("A\n");</a:t>
            </a:r>
          </a:p>
          <a:p>
            <a:r>
              <a:rPr lang="en-US"/>
              <a:t>    } else if (score &gt;= 80) {</a:t>
            </a:r>
          </a:p>
          <a:p>
            <a:r>
              <a:rPr lang="en-US"/>
              <a:t>        printf("B\n");</a:t>
            </a:r>
          </a:p>
          <a:p>
            <a:r>
              <a:rPr lang="en-US"/>
              <a:t>    } else if (score &gt;= 70) {</a:t>
            </a:r>
          </a:p>
          <a:p>
            <a:r>
              <a:rPr lang="en-US"/>
              <a:t>        printf("C\n");</a:t>
            </a:r>
          </a:p>
          <a:p>
            <a:r>
              <a:rPr lang="en-US"/>
              <a:t>    } else {</a:t>
            </a:r>
          </a:p>
          <a:p>
            <a:r>
              <a:rPr lang="en-US"/>
              <a:t>        printf("Needs improvement\n");</a:t>
            </a:r>
          </a:p>
          <a:p>
            <a:r>
              <a:rPr lang="en-US"/>
              <a:t>    }</a:t>
            </a:r>
          </a:p>
          <a:p>
            <a:r>
              <a:rPr lang="en-US"/>
              <a:t>    return 0;</a:t>
            </a:r>
          </a:p>
          <a:p>
            <a:r>
              <a:rPr lang="en-US"/>
              <a:t>}</a:t>
            </a:r>
          </a:p>
          <a:p>
            <a:endParaRPr lang="en-US"/>
          </a:p>
          <a:p>
            <a:r>
              <a:rPr lang="en-US"/>
              <a:t>Run it several times with different scores:</a:t>
            </a:r>
          </a:p>
          <a:p>
            <a:endParaRPr lang="en-US"/>
          </a:p>
          <a:p>
            <a:r>
              <a:rPr lang="en-US"/>
              <a:t>You type: Screen shows · Why</a:t>
            </a:r>
          </a:p>
          <a:p>
            <a:r>
              <a:rPr lang="en-US"/>
              <a:t>95: A · 95 &gt;= 90 is true. Print A. The chain stops.</a:t>
            </a:r>
          </a:p>
          <a:p>
            <a:r>
              <a:rPr lang="en-US"/>
              <a:t>90: A · 90 &gt;= 90 is true.</a:t>
            </a:r>
          </a:p>
          <a:p>
            <a:r>
              <a:rPr lang="en-US"/>
              <a:t>85: B · 85 &gt;= 90 is false, so go on. 85 &gt;= 80 is true. Print B. Stop.</a:t>
            </a:r>
          </a:p>
          <a:p>
            <a:r>
              <a:rPr lang="en-US"/>
              <a:t>79: C · not 90, not 80, but 79 &gt;= 70 is true.</a:t>
            </a:r>
          </a:p>
          <a:p>
            <a:r>
              <a:rPr lang="en-US"/>
              <a:t>70: C · 70 &gt;= 70 is true.</a:t>
            </a:r>
          </a:p>
          <a:p>
            <a:r>
              <a:rPr lang="en-US"/>
              <a:t>69: Needs improvement · none of the three conditions is true, so the else runs.</a:t>
            </a:r>
          </a:p>
          <a:p>
            <a:endParaRPr lang="en-US"/>
          </a:p>
          <a:p>
            <a:r>
              <a:rPr lang="en-US"/>
              <a:t>The two rules.</a:t>
            </a:r>
          </a:p>
          <a:p>
            <a:endParaRPr lang="en-US"/>
          </a:p>
          <a:p>
            <a:r>
              <a:rPr lang="en-US"/>
              <a:t>1. C checks the conditions from the top.</a:t>
            </a:r>
          </a:p>
          <a:p>
            <a:r>
              <a:rPr lang="en-US"/>
              <a:t>2. The first true condition wins. Its block runs, and then the whole chain is finished. Nothing below it is looked at.</a:t>
            </a:r>
          </a:p>
          <a:p>
            <a:endParaRPr lang="en-US"/>
          </a:p>
          <a:p>
            <a:r>
              <a:rPr lang="en-US"/>
              <a:t>So for 95, only A prints. It is true that 95 &gt;= 80 too, but C never gets there. It stopped after A.</a:t>
            </a:r>
          </a:p>
          <a:p>
            <a:endParaRPr lang="en-US"/>
          </a:p>
          <a:p>
            <a:r>
              <a:rPr lang="en-US"/>
              <a:t>A chain is not the same as three separate ifs. Look at this:</a:t>
            </a:r>
          </a:p>
          <a:p>
            <a:endParaRPr lang="en-US"/>
          </a:p>
          <a:p>
            <a:r>
              <a:rPr lang="en-US"/>
              <a:t>int score = 95;</a:t>
            </a:r>
          </a:p>
          <a:p>
            <a:r>
              <a:rPr lang="en-US"/>
              <a:t>if (score &gt;= 70) {</a:t>
            </a:r>
          </a:p>
          <a:p>
            <a:r>
              <a:rPr lang="en-US"/>
              <a:t>    printf("C\n");</a:t>
            </a:r>
          </a:p>
          <a:p>
            <a:r>
              <a:rPr lang="en-US"/>
              <a:t>}</a:t>
            </a:r>
          </a:p>
          <a:p>
            <a:r>
              <a:rPr lang="en-US"/>
              <a:t>if (score &gt;= 80) {</a:t>
            </a:r>
          </a:p>
          <a:p>
            <a:r>
              <a:rPr lang="en-US"/>
              <a:t>    printf("B\n");</a:t>
            </a:r>
          </a:p>
          <a:p>
            <a:r>
              <a:rPr lang="en-US"/>
              <a:t>}</a:t>
            </a:r>
          </a:p>
          <a:p>
            <a:r>
              <a:rPr lang="en-US"/>
              <a:t>if (score &gt;= 90) {</a:t>
            </a:r>
          </a:p>
          <a:p>
            <a:r>
              <a:rPr lang="en-US"/>
              <a:t>    printf("A\n");</a:t>
            </a:r>
          </a:p>
          <a:p>
            <a:r>
              <a:rPr lang="en-US"/>
              <a:t>}</a:t>
            </a:r>
          </a:p>
          <a:p>
            <a:endParaRPr lang="en-US"/>
          </a:p>
          <a:p>
            <a:r>
              <a:rPr lang="en-US"/>
              <a:t>The screen shows:</a:t>
            </a:r>
          </a:p>
          <a:p>
            <a:endParaRPr lang="en-US"/>
          </a:p>
          <a:p>
            <a:r>
              <a:rPr lang="en-US"/>
              <a:t>C</a:t>
            </a:r>
          </a:p>
          <a:p>
            <a:r>
              <a:rPr lang="en-US"/>
              <a:t>B</a:t>
            </a:r>
          </a:p>
          <a:p>
            <a:r>
              <a:rPr lang="en-US"/>
              <a:t>A</a:t>
            </a:r>
          </a:p>
          <a:p>
            <a:endParaRPr lang="en-US"/>
          </a:p>
          <a:p>
            <a:r>
              <a:rPr lang="en-US"/>
              <a:t>Three separate ifs, no else. Each one is checked on its own, and all three are true for 95. With a chain (else if), exactly one path runs. Never two. And if the chain ends with else, never none.</a:t>
            </a:r>
          </a:p>
          <a:p>
            <a:endParaRPr lang="en-US"/>
          </a:p>
          <a:p>
            <a:r>
              <a:rPr lang="en-US"/>
              <a:t>Try it yourself. Write a program that reads a temperature (a whole number) and prints Hot above 30, Warm above 20, otherwise Cold. Test with 35, 25, 10. (Expect Hot, Warm, Cold. For 25: 25 &gt; 30 is false, 25 &gt; 20 is true, so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program can compile and still be wrong. The compiler checks that your C is spelled correctly. It does not check that your thinking is correct.</a:t>
            </a:r>
          </a:p>
          <a:p>
            <a:endParaRPr lang="en-US"/>
          </a:p>
          <a:p>
            <a:r>
              <a:rPr lang="en-US"/>
              <a:t>Example: the same chain in the wrong order.</a:t>
            </a:r>
          </a:p>
          <a:p>
            <a:endParaRPr lang="en-US"/>
          </a:p>
          <a:p>
            <a:r>
              <a:rPr lang="en-US"/>
              <a:t>if (score &gt;= 70) {</a:t>
            </a:r>
          </a:p>
          <a:p>
            <a:r>
              <a:rPr lang="en-US"/>
              <a:t>    printf("C\n");</a:t>
            </a:r>
          </a:p>
          <a:p>
            <a:r>
              <a:rPr lang="en-US"/>
              <a:t>} else if (score &gt;= 80) {</a:t>
            </a:r>
          </a:p>
          <a:p>
            <a:r>
              <a:rPr lang="en-US"/>
              <a:t>    printf("B\n");</a:t>
            </a:r>
          </a:p>
          <a:p>
            <a:r>
              <a:rPr lang="en-US"/>
              <a:t>} else if (score &gt;= 90) {</a:t>
            </a:r>
          </a:p>
          <a:p>
            <a:r>
              <a:rPr lang="en-US"/>
              <a:t>    printf("A\n");</a:t>
            </a:r>
          </a:p>
          <a:p>
            <a:r>
              <a:rPr lang="en-US"/>
              <a:t>}</a:t>
            </a:r>
          </a:p>
          <a:p>
            <a:endParaRPr lang="en-US"/>
          </a:p>
          <a:p>
            <a:r>
              <a:rPr lang="en-US"/>
              <a:t>This compiles with no warnings. Now trace it for score = 95:</a:t>
            </a:r>
          </a:p>
          <a:p>
            <a:endParaRPr lang="en-US"/>
          </a:p>
          <a:p>
            <a:r>
              <a:rPr lang="en-US"/>
              <a:t>1. Is 95 &gt;= 70? Yes. Print C. The chain stops.</a:t>
            </a:r>
          </a:p>
          <a:p>
            <a:endParaRPr lang="en-US"/>
          </a:p>
          <a:p>
            <a:r>
              <a:rPr lang="en-US"/>
              <a:t>So a score of 95 prints C. The 80 and the 90 are never reached. Not for 95. Not for any score. Every score of 70 or more prints C. A and B can never print.</a:t>
            </a:r>
          </a:p>
          <a:p>
            <a:endParaRPr lang="en-US"/>
          </a:p>
          <a:p>
            <a:r>
              <a:rPr lang="en-US"/>
              <a:t>You type: Wrong-order chain prints · Correct chain prints</a:t>
            </a:r>
          </a:p>
          <a:p>
            <a:r>
              <a:rPr lang="en-US"/>
              <a:t>95: C · A</a:t>
            </a:r>
          </a:p>
          <a:p>
            <a:r>
              <a:rPr lang="en-US"/>
              <a:t>85: C · B</a:t>
            </a:r>
          </a:p>
          <a:p>
            <a:r>
              <a:rPr lang="en-US"/>
              <a:t>75: C · C</a:t>
            </a:r>
          </a:p>
          <a:p>
            <a:r>
              <a:rPr lang="en-US"/>
              <a:t>50: nothing · Needs improvement</a:t>
            </a:r>
          </a:p>
          <a:p>
            <a:endParaRPr lang="en-US"/>
          </a:p>
          <a:p>
            <a:r>
              <a:rPr lang="en-US"/>
              <a:t>(The wrong-order chain has no else, so 50 prints nothing at all.)</a:t>
            </a:r>
          </a:p>
          <a:p>
            <a:endParaRPr lang="en-US"/>
          </a:p>
          <a:p>
            <a:r>
              <a:rPr lang="en-US"/>
              <a:t>The fix. Put the strongest condition first. For "at least" conditions (&gt;=), that means the biggest number first: 90, then 80, then 70. For "less than" conditions (&lt;), it means the smallest number first. You see that in the BMI program on slide 18.</a:t>
            </a:r>
          </a:p>
          <a:p>
            <a:endParaRPr lang="en-US"/>
          </a:p>
          <a:p>
            <a:r>
              <a:rPr lang="en-US"/>
              <a:t>Rule to remember: the condition that catches the fewest cases goes first. If a wide condition comes first, it catches everything and the narrow ones never run.</a:t>
            </a:r>
          </a:p>
          <a:p>
            <a:endParaRPr lang="en-US"/>
          </a:p>
          <a:p>
            <a:r>
              <a:rPr lang="en-US"/>
              <a:t>Try it yourself. Take the wrong-order chain above, add printf("Done\n"); after it, and run it with 95. You see C and Done. Now swap the conditions into the right order and run again. You see A and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Sometimes the second question only makes sense after the first one. "Are you logged in?" And only if yes: "are you the admin?" If you are not logged in, asking about admin makes no sense.</a:t>
            </a:r>
          </a:p>
          <a:p>
            <a:endParaRPr lang="en-US"/>
          </a:p>
          <a:p>
            <a:r>
              <a:rPr lang="en-US"/>
              <a:t>So you put an if inside an if. That is called nesting.</a:t>
            </a:r>
          </a:p>
          <a:p>
            <a:endParaRPr lang="en-US"/>
          </a:p>
          <a:p>
            <a:r>
              <a:rPr lang="en-US"/>
              <a:t>Example: the program on the slide.</a:t>
            </a:r>
          </a:p>
          <a:p>
            <a:endParaRPr lang="en-US"/>
          </a:p>
          <a:p>
            <a:r>
              <a:rPr lang="en-US"/>
              <a:t>#include &lt;stdio.h&gt;</a:t>
            </a:r>
          </a:p>
          <a:p>
            <a:r>
              <a:rPr lang="en-US"/>
              <a:t>int main(void) {</a:t>
            </a:r>
          </a:p>
          <a:p>
            <a:r>
              <a:rPr lang="en-US"/>
              <a:t>    int loggedIn = 1;</a:t>
            </a:r>
          </a:p>
          <a:p>
            <a:r>
              <a:rPr lang="en-US"/>
              <a:t>    int isAdmin = 0;</a:t>
            </a:r>
          </a:p>
          <a:p>
            <a:r>
              <a:rPr lang="en-US"/>
              <a:t>    if (loggedIn) {</a:t>
            </a:r>
          </a:p>
          <a:p>
            <a:r>
              <a:rPr lang="en-US"/>
              <a:t>        if (isAdmin) {</a:t>
            </a:r>
          </a:p>
          <a:p>
            <a:r>
              <a:rPr lang="en-US"/>
              <a:t>            printf("Admin panel\n");</a:t>
            </a:r>
          </a:p>
          <a:p>
            <a:r>
              <a:rPr lang="en-US"/>
              <a:t>        } else {</a:t>
            </a:r>
          </a:p>
          <a:p>
            <a:r>
              <a:rPr lang="en-US"/>
              <a:t>            printf("User page\n");</a:t>
            </a:r>
          </a:p>
          <a:p>
            <a:r>
              <a:rPr lang="en-US"/>
              <a:t>        }</a:t>
            </a:r>
          </a:p>
          <a:p>
            <a:r>
              <a:rPr lang="en-US"/>
              <a:t>    } else {</a:t>
            </a:r>
          </a:p>
          <a:p>
            <a:r>
              <a:rPr lang="en-US"/>
              <a:t>        printf("Please log in\n");</a:t>
            </a:r>
          </a:p>
          <a:p>
            <a:r>
              <a:rPr lang="en-US"/>
              <a:t>    }</a:t>
            </a:r>
          </a:p>
          <a:p>
            <a:r>
              <a:rPr lang="en-US"/>
              <a:t>    return 0;</a:t>
            </a:r>
          </a:p>
          <a:p>
            <a:r>
              <a:rPr lang="en-US"/>
              <a:t>}</a:t>
            </a:r>
          </a:p>
          <a:p>
            <a:endParaRPr lang="en-US"/>
          </a:p>
          <a:p>
            <a:r>
              <a:rPr lang="en-US"/>
              <a:t>The screen shows:</a:t>
            </a:r>
          </a:p>
          <a:p>
            <a:endParaRPr lang="en-US"/>
          </a:p>
          <a:p>
            <a:r>
              <a:rPr lang="en-US"/>
              <a:t>User page</a:t>
            </a:r>
          </a:p>
          <a:p>
            <a:endParaRPr lang="en-US"/>
          </a:p>
          <a:p>
            <a:r>
              <a:rPr lang="en-US"/>
              <a:t>Trace it: loggedIn is 1, which counts as true, so C goes inside the outer block. There, isAdmin is 0, which counts as false, so the inner else runs: User page.</a:t>
            </a:r>
          </a:p>
          <a:p>
            <a:endParaRPr lang="en-US"/>
          </a:p>
          <a:p>
            <a:r>
              <a:rPr lang="en-US"/>
              <a:t>All four cases.</a:t>
            </a:r>
          </a:p>
          <a:p>
            <a:endParaRPr lang="en-US"/>
          </a:p>
          <a:p>
            <a:r>
              <a:rPr lang="en-US"/>
              <a:t>loggedIn: isAdmin · Screen shows</a:t>
            </a:r>
          </a:p>
          <a:p>
            <a:r>
              <a:rPr lang="en-US"/>
              <a:t>1: 1 · Admin panel</a:t>
            </a:r>
          </a:p>
          <a:p>
            <a:r>
              <a:rPr lang="en-US"/>
              <a:t>1: 0 · User page</a:t>
            </a:r>
          </a:p>
          <a:p>
            <a:r>
              <a:rPr lang="en-US"/>
              <a:t>0: 1 · Please log in</a:t>
            </a:r>
          </a:p>
          <a:p>
            <a:r>
              <a:rPr lang="en-US"/>
              <a:t>0: 0 · Please log in</a:t>
            </a:r>
          </a:p>
          <a:p>
            <a:endParaRPr lang="en-US"/>
          </a:p>
          <a:p>
            <a:r>
              <a:rPr lang="en-US"/>
              <a:t>Look at the last two rows. When loggedIn is 0, the inner if is never even looked at. It does not matter what isAdmin is.</a:t>
            </a:r>
          </a:p>
          <a:p>
            <a:endParaRPr lang="en-US"/>
          </a:p>
          <a:p>
            <a:r>
              <a:rPr lang="en-US"/>
              <a:t>Why if (loggedIn) and not if (loggedIn == 1)? On Tuesday: 0 is false, anything else is true. loggedIn is 1, so if (loggedIn) means "if loggedIn is not zero". Both ways work. The short way is common in C.</a:t>
            </a:r>
          </a:p>
          <a:p>
            <a:endParaRPr lang="en-US"/>
          </a:p>
          <a:p>
            <a:r>
              <a:rPr lang="en-US"/>
              <a:t>Count your braces. Every { needs its }. Indent each level one step further in, as the slide does. The compiler does not care about indentation. You do, when you read it next week.</a:t>
            </a:r>
          </a:p>
          <a:p>
            <a:endParaRPr lang="en-US"/>
          </a:p>
          <a:p>
            <a:r>
              <a:rPr lang="en-US"/>
              <a:t>Do not nest too deep. Two levels are fine. Four levels are hard to read. Later you learn ways to avoid it.</a:t>
            </a:r>
          </a:p>
          <a:p>
            <a:endParaRPr lang="en-US"/>
          </a:p>
          <a:p>
            <a:r>
              <a:rPr lang="en-US"/>
              <a:t>Try it yourself. Change the two values to loggedIn = 0 and isAdmin = 1. Before you run it, say what prints. (Answer: Please log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menu: press A to add an item, press B to view the cart. One variable, compared against a few fixed values. You could do it with else if. But C has a shape made for exactly this: switch.</a:t>
            </a:r>
          </a:p>
          <a:p>
            <a:endParaRPr lang="en-US"/>
          </a:p>
          <a:p>
            <a:r>
              <a:rPr lang="en-US"/>
              <a:t>Example: the program on the slide.</a:t>
            </a:r>
          </a:p>
          <a:p>
            <a:endParaRPr lang="en-US"/>
          </a:p>
          <a:p>
            <a:r>
              <a:rPr lang="en-US"/>
              <a:t>#include &lt;stdio.h&gt;</a:t>
            </a:r>
          </a:p>
          <a:p>
            <a:r>
              <a:rPr lang="en-US"/>
              <a:t>int main(void) {</a:t>
            </a:r>
          </a:p>
          <a:p>
            <a:r>
              <a:rPr lang="en-US"/>
              <a:t>    char option;</a:t>
            </a:r>
          </a:p>
          <a:p>
            <a:r>
              <a:rPr lang="en-US"/>
              <a:t>    printf("A/B/C: ");</a:t>
            </a:r>
          </a:p>
          <a:p>
            <a:r>
              <a:rPr lang="en-US"/>
              <a:t>    scanf(" %c", &amp;option);</a:t>
            </a:r>
          </a:p>
          <a:p>
            <a:r>
              <a:rPr lang="en-US"/>
              <a:t>    switch (option) {</a:t>
            </a:r>
          </a:p>
          <a:p>
            <a:r>
              <a:rPr lang="en-US"/>
              <a:t>        case 'A':</a:t>
            </a:r>
          </a:p>
          <a:p>
            <a:r>
              <a:rPr lang="en-US"/>
              <a:t>            printf("Add item\n");</a:t>
            </a:r>
          </a:p>
          <a:p>
            <a:r>
              <a:rPr lang="en-US"/>
              <a:t>            break;</a:t>
            </a:r>
          </a:p>
          <a:p>
            <a:r>
              <a:rPr lang="en-US"/>
              <a:t>        case 'B':</a:t>
            </a:r>
          </a:p>
          <a:p>
            <a:r>
              <a:rPr lang="en-US"/>
              <a:t>            printf("View cart\n");</a:t>
            </a:r>
          </a:p>
          <a:p>
            <a:r>
              <a:rPr lang="en-US"/>
              <a:t>            break;</a:t>
            </a:r>
          </a:p>
          <a:p>
            <a:r>
              <a:rPr lang="en-US"/>
              <a:t>        default:</a:t>
            </a:r>
          </a:p>
          <a:p>
            <a:r>
              <a:rPr lang="en-US"/>
              <a:t>            printf("Unknown option\n");</a:t>
            </a:r>
          </a:p>
          <a:p>
            <a:r>
              <a:rPr lang="en-US"/>
              <a:t>    }</a:t>
            </a:r>
          </a:p>
          <a:p>
            <a:r>
              <a:rPr lang="en-US"/>
              <a:t>    return 0;</a:t>
            </a:r>
          </a:p>
          <a:p>
            <a:r>
              <a:rPr lang="en-US"/>
              <a:t>}</a:t>
            </a:r>
          </a:p>
          <a:p>
            <a:endParaRPr lang="en-US"/>
          </a:p>
          <a:p>
            <a:r>
              <a:rPr lang="en-US"/>
              <a:t>Run it three times:</a:t>
            </a:r>
          </a:p>
          <a:p>
            <a:endParaRPr lang="en-US"/>
          </a:p>
          <a:p>
            <a:r>
              <a:rPr lang="en-US"/>
              <a:t>You type: Screen shows</a:t>
            </a:r>
          </a:p>
          <a:p>
            <a:r>
              <a:rPr lang="en-US"/>
              <a:t>A: Add item</a:t>
            </a:r>
          </a:p>
          <a:p>
            <a:r>
              <a:rPr lang="en-US"/>
              <a:t>B: View cart</a:t>
            </a:r>
          </a:p>
          <a:p>
            <a:r>
              <a:rPr lang="en-US"/>
              <a:t>D: Unknown option</a:t>
            </a:r>
          </a:p>
          <a:p>
            <a:endParaRPr lang="en-US"/>
          </a:p>
          <a:p>
            <a:r>
              <a:rPr lang="en-US"/>
              <a:t>Also: a (small letter) shows Unknown option. 'a' and 'A' are different characters.</a:t>
            </a:r>
          </a:p>
          <a:p>
            <a:endParaRPr lang="en-US"/>
          </a:p>
          <a:p>
            <a:r>
              <a:rPr lang="en-US"/>
              <a:t>How to read a switch.</a:t>
            </a:r>
          </a:p>
          <a:p>
            <a:endParaRPr lang="en-US"/>
          </a:p>
          <a:p>
            <a:r>
              <a:rPr lang="en-US"/>
              <a:t>- switch (option): look at the box option.</a:t>
            </a:r>
          </a:p>
          <a:p>
            <a:r>
              <a:rPr lang="en-US"/>
              <a:t>- case 'A': if the box holds 'A', start running from here.</a:t>
            </a:r>
          </a:p>
          <a:p>
            <a:r>
              <a:rPr lang="en-US"/>
              <a:t>- break; stop, leave the switch.</a:t>
            </a:r>
          </a:p>
          <a:p>
            <a:r>
              <a:rPr lang="en-US"/>
              <a:t>- default: if no case matched, run this. Always write a default, or an unknown letter prints nothing at all.</a:t>
            </a:r>
          </a:p>
          <a:p>
            <a:endParaRPr lang="en-US"/>
          </a:p>
          <a:p>
            <a:r>
              <a:rPr lang="en-US"/>
              <a:t>What break does. Try this. Delete both break; lines, compile, and run with A. The screen shows:</a:t>
            </a:r>
          </a:p>
          <a:p>
            <a:endParaRPr lang="en-US"/>
          </a:p>
          <a:p>
            <a:r>
              <a:rPr lang="en-US"/>
              <a:t>Add item</a:t>
            </a:r>
          </a:p>
          <a:p>
            <a:r>
              <a:rPr lang="en-US"/>
              <a:t>View cart</a:t>
            </a:r>
          </a:p>
          <a:p>
            <a:r>
              <a:rPr lang="en-US"/>
              <a:t>Unknown option</a:t>
            </a:r>
          </a:p>
          <a:p>
            <a:endParaRPr lang="en-US"/>
          </a:p>
          <a:p>
            <a:r>
              <a:rPr lang="en-US"/>
              <a:t>All three lines. Without break, C starts at case 'A' and keeps going down through every case below it until the end of the switch. This is called falling through. It is almost never what you want. Put the break lines back. (Run it with B and no breaks: View cart and Unknown option.)</a:t>
            </a:r>
          </a:p>
          <a:p>
            <a:endParaRPr lang="en-US"/>
          </a:p>
          <a:p>
            <a:r>
              <a:rPr lang="en-US"/>
              <a:t>The space in " %c". Look at scanf(" %c", &amp;option);. There is a space before %c, inside the quotes. It is there on purpose.</a:t>
            </a:r>
          </a:p>
          <a:p>
            <a:endParaRPr lang="en-US"/>
          </a:p>
          <a:p>
            <a:r>
              <a:rPr lang="en-US"/>
              <a:t>When you type A and press Enter, two things go in: the letter A and the Enter key. %d and %lf skip spaces and Enters by themselves. %c does not. It takes exactly the next character, whatever it is. So if an earlier scanf left an Enter behind, %c reads that Enter, and your box holds a new line instead of a letter. The space before %c says "skip spaces and Enters first". Rule: when reading one character, always write " %c" with the space.</a:t>
            </a:r>
          </a:p>
          <a:p>
            <a:endParaRPr lang="en-US"/>
          </a:p>
          <a:p>
            <a:r>
              <a:rPr lang="en-US"/>
              <a:t>Here is what goes wrong without it:</a:t>
            </a:r>
          </a:p>
          <a:p>
            <a:endParaRPr lang="en-US"/>
          </a:p>
          <a:p>
            <a:r>
              <a:rPr lang="en-US"/>
              <a:t>int n;</a:t>
            </a:r>
          </a:p>
          <a:p>
            <a:r>
              <a:rPr lang="en-US"/>
              <a:t>char option;</a:t>
            </a:r>
          </a:p>
          <a:p>
            <a:r>
              <a:rPr lang="en-US"/>
              <a:t>printf("Number: ");</a:t>
            </a:r>
          </a:p>
          <a:p>
            <a:r>
              <a:rPr lang="en-US"/>
              <a:t>scanf("%d", &amp;n);</a:t>
            </a:r>
          </a:p>
          <a:p>
            <a:r>
              <a:rPr lang="en-US"/>
              <a:t>printf("A/B/C: ");</a:t>
            </a:r>
          </a:p>
          <a:p>
            <a:r>
              <a:rPr lang="en-US"/>
              <a:t>scanf("%c", &amp;option);</a:t>
            </a:r>
          </a:p>
          <a:p>
            <a:r>
              <a:rPr lang="en-US"/>
              <a:t>printf("You chose [%c]\n", option);</a:t>
            </a:r>
          </a:p>
          <a:p>
            <a:endParaRPr lang="en-US"/>
          </a:p>
          <a:p>
            <a:r>
              <a:rPr lang="en-US"/>
              <a:t>You type 5, Enter, then B, Enter. The screen shows You chose [ and then a new line and ]. The box got the Enter, not the B. With " %c" it shows You chose [B].</a:t>
            </a:r>
          </a:p>
          <a:p>
            <a:endParaRPr lang="en-US"/>
          </a:p>
          <a:p>
            <a:r>
              <a:rPr lang="en-US"/>
              <a:t>switch versus else if. switch only compares against fixed values: 'A', 'B', 1, 2. It cannot do case score &gt;= 90. For ranges, use else if. For a fixed list of choices, use switch.</a:t>
            </a:r>
          </a:p>
          <a:p>
            <a:endParaRPr lang="en-US"/>
          </a:p>
          <a:p>
            <a:r>
              <a:rPr lang="en-US"/>
              <a:t>Try it yourself. Add a case 'C': that prints Checkout (with its break). Run with C. Then run with c and see Unknown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bugs. You will make every one of them. Here is each one with what it looks like and how to see it.</a:t>
            </a:r>
          </a:p>
          <a:p>
            <a:endParaRPr lang="en-US"/>
          </a:p>
          <a:p>
            <a:r>
              <a:rPr lang="en-US"/>
              <a:t>1. = instead of ==.</a:t>
            </a:r>
          </a:p>
          <a:p>
            <a:endParaRPr lang="en-US"/>
          </a:p>
          <a:p>
            <a:r>
              <a:rPr lang="en-US"/>
              <a:t>int x = 3;</a:t>
            </a:r>
          </a:p>
          <a:p>
            <a:r>
              <a:rPr lang="en-US"/>
              <a:t>if (x = 5) {</a:t>
            </a:r>
          </a:p>
          <a:p>
            <a:r>
              <a:rPr lang="en-US"/>
              <a:t>    printf("five\n");</a:t>
            </a:r>
          </a:p>
          <a:p>
            <a:r>
              <a:rPr lang="en-US"/>
              <a:t>}</a:t>
            </a:r>
          </a:p>
          <a:p>
            <a:r>
              <a:rPr lang="en-US"/>
              <a:t>printf("x is %d\n", x);</a:t>
            </a:r>
          </a:p>
          <a:p>
            <a:endParaRPr lang="en-US"/>
          </a:p>
          <a:p>
            <a:r>
              <a:rPr lang="en-US"/>
              <a:t>The screen shows:</a:t>
            </a:r>
          </a:p>
          <a:p>
            <a:endParaRPr lang="en-US"/>
          </a:p>
          <a:p>
            <a:r>
              <a:rPr lang="en-US"/>
              <a:t>five</a:t>
            </a:r>
          </a:p>
          <a:p>
            <a:r>
              <a:rPr lang="en-US"/>
              <a:t>x is 5</a:t>
            </a:r>
          </a:p>
          <a:p>
            <a:endParaRPr lang="en-US"/>
          </a:p>
          <a:p>
            <a:r>
              <a:rPr lang="en-US"/>
              <a:t>x = 5 is not a question. It is an order: put 5 into the box. Then C looks at the value, 5. Five is not zero, so it counts as true. The block runs, and x is now 5, not 3. The condition changed your variable.</a:t>
            </a:r>
          </a:p>
          <a:p>
            <a:endParaRPr lang="en-US"/>
          </a:p>
          <a:p>
            <a:r>
              <a:rPr lang="en-US"/>
              <a:t>With -Wall, the compiler warns you: warning: suggest parentheses around assignment used as truth value. It is a warning, not an error, so the program still builds. When you see that warning, you almost certainly meant ==.</a:t>
            </a:r>
          </a:p>
          <a:p>
            <a:endParaRPr lang="en-US"/>
          </a:p>
          <a:p>
            <a:r>
              <a:rPr lang="en-US"/>
              <a:t>Rule: inside a condition, always two equals signs.</a:t>
            </a:r>
          </a:p>
          <a:p>
            <a:endParaRPr lang="en-US"/>
          </a:p>
          <a:p>
            <a:r>
              <a:rPr lang="en-US"/>
              <a:t>2. Missing braces. Without { }, only one line belongs to the if.</a:t>
            </a:r>
          </a:p>
          <a:p>
            <a:endParaRPr lang="en-US"/>
          </a:p>
          <a:p>
            <a:r>
              <a:rPr lang="en-US"/>
              <a:t>if (x &gt;= 0)</a:t>
            </a:r>
          </a:p>
          <a:p>
            <a:r>
              <a:rPr lang="en-US"/>
              <a:t>    printf("positive");</a:t>
            </a:r>
          </a:p>
          <a:p>
            <a:r>
              <a:rPr lang="en-US"/>
              <a:t>    printf("done");</a:t>
            </a:r>
          </a:p>
          <a:p>
            <a:endParaRPr lang="en-US"/>
          </a:p>
          <a:p>
            <a:r>
              <a:rPr lang="en-US"/>
              <a:t>The second printf is indented as if it belonged to the if. It does not. It runs every time, whatever x is. With -Wall the compiler warns: this 'if' clause does not guard.... Rule: always write the braces, even for one line.</a:t>
            </a:r>
          </a:p>
          <a:p>
            <a:endParaRPr lang="en-US"/>
          </a:p>
          <a:p>
            <a:r>
              <a:rPr lang="en-US"/>
              <a:t>3. Wrong format specifier. scanf("%d", &amp;weight) for a double box. Last week's bug. Use %lf for double in scanf.</a:t>
            </a:r>
          </a:p>
          <a:p>
            <a:endParaRPr lang="en-US"/>
          </a:p>
          <a:p>
            <a:r>
              <a:rPr lang="en-US"/>
              <a:t>4. Integer division inside a double.</a:t>
            </a:r>
          </a:p>
          <a:p>
            <a:endParaRPr lang="en-US"/>
          </a:p>
          <a:p>
            <a:r>
              <a:rPr lang="en-US"/>
              <a:t>int sum = 7, count = 2;</a:t>
            </a:r>
          </a:p>
          <a:p>
            <a:r>
              <a:rPr lang="en-US"/>
              <a:t>double avg = sum / count;</a:t>
            </a:r>
          </a:p>
          <a:p>
            <a:r>
              <a:rPr lang="en-US"/>
              <a:t>printf("%.2f\n", avg);</a:t>
            </a:r>
          </a:p>
          <a:p>
            <a:endParaRPr lang="en-US"/>
          </a:p>
          <a:p>
            <a:r>
              <a:rPr lang="en-US"/>
              <a:t>Prints 3.00, not 3.50. sum / count is int / int, so it is 3 before it is stored. Fix: (double) sum / count prints 3.50. From Tuesday.</a:t>
            </a:r>
          </a:p>
          <a:p>
            <a:endParaRPr lang="en-US"/>
          </a:p>
          <a:p>
            <a:r>
              <a:rPr lang="en-US"/>
              <a:t>5. Wrong else if order. Slide 14. Lower threshold first, and the higher ones never run.</a:t>
            </a:r>
          </a:p>
          <a:p>
            <a:endParaRPr lang="en-US"/>
          </a:p>
          <a:p>
            <a:r>
              <a:rPr lang="en-US"/>
              <a:t>6. Forgetting break. Slide 16. The switch falls through into the next case.</a:t>
            </a:r>
          </a:p>
          <a:p>
            <a:endParaRPr lang="en-US"/>
          </a:p>
          <a:p>
            <a:r>
              <a:rPr lang="en-US"/>
              <a:t>The debugging habit. When the output is wrong, do not stare at the whole program. Pick one input, for example 95, and trace it with a pen, line by line, writing down what each box holds. You will find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whole program: read two numbers, calculate, then choose a path.</a:t>
            </a:r>
          </a:p>
          <a:p>
            <a:endParaRPr lang="en-US"/>
          </a:p>
          <a:p>
            <a:r>
              <a:rPr lang="en-US"/>
              <a:t>Step 1: the plan, before the code.</a:t>
            </a:r>
          </a:p>
          <a:p>
            <a:endParaRPr lang="en-US"/>
          </a:p>
          <a:p>
            <a:r>
              <a:rPr lang="en-US"/>
              <a:t>1. Read weight (kg) and height (m).</a:t>
            </a:r>
          </a:p>
          <a:p>
            <a:r>
              <a:rPr lang="en-US"/>
              <a:t>2. BMI = weight ÷ (height × height).</a:t>
            </a:r>
          </a:p>
          <a:p>
            <a:r>
              <a:rPr lang="en-US"/>
              <a:t>3. Under 18.5: Underweight. Under 25: Normal. Under 30: Overweight. Otherwise: Obese.</a:t>
            </a:r>
          </a:p>
          <a:p>
            <a:endParaRPr lang="en-US"/>
          </a:p>
          <a:p>
            <a:r>
              <a:rPr lang="en-US"/>
              <a:t>Step 2: the code.</a:t>
            </a:r>
          </a:p>
          <a:p>
            <a:endParaRPr lang="en-US"/>
          </a:p>
          <a:p>
            <a:r>
              <a:rPr lang="en-US"/>
              <a:t>#include &lt;stdio.h&gt;</a:t>
            </a:r>
          </a:p>
          <a:p>
            <a:r>
              <a:rPr lang="en-US"/>
              <a:t>int main(void) {</a:t>
            </a:r>
          </a:p>
          <a:p>
            <a:r>
              <a:rPr lang="en-US"/>
              <a:t>    double weight, height, bmi;</a:t>
            </a:r>
          </a:p>
          <a:p>
            <a:r>
              <a:rPr lang="en-US"/>
              <a:t>    printf("Weight and height: ");</a:t>
            </a:r>
          </a:p>
          <a:p>
            <a:r>
              <a:rPr lang="en-US"/>
              <a:t>    scanf("%lf %lf", &amp;weight, &amp;height);</a:t>
            </a:r>
          </a:p>
          <a:p>
            <a:r>
              <a:rPr lang="en-US"/>
              <a:t>    bmi = weight / (height * height);</a:t>
            </a:r>
          </a:p>
          <a:p>
            <a:r>
              <a:rPr lang="en-US"/>
              <a:t>    printf("BMI: %.1f\n", bmi);</a:t>
            </a:r>
          </a:p>
          <a:p>
            <a:r>
              <a:rPr lang="en-US"/>
              <a:t>    if (bmi &lt; 18.5) {</a:t>
            </a:r>
          </a:p>
          <a:p>
            <a:r>
              <a:rPr lang="en-US"/>
              <a:t>        printf("Underweight\n");</a:t>
            </a:r>
          </a:p>
          <a:p>
            <a:r>
              <a:rPr lang="en-US"/>
              <a:t>    } else if (bmi &lt; 25.0) {</a:t>
            </a:r>
          </a:p>
          <a:p>
            <a:r>
              <a:rPr lang="en-US"/>
              <a:t>        printf("Normal\n");</a:t>
            </a:r>
          </a:p>
          <a:p>
            <a:r>
              <a:rPr lang="en-US"/>
              <a:t>    } else if (bmi &lt; 30.0) {</a:t>
            </a:r>
          </a:p>
          <a:p>
            <a:r>
              <a:rPr lang="en-US"/>
              <a:t>        printf("Overweight\n");</a:t>
            </a:r>
          </a:p>
          <a:p>
            <a:r>
              <a:rPr lang="en-US"/>
              <a:t>    } else {</a:t>
            </a:r>
          </a:p>
          <a:p>
            <a:r>
              <a:rPr lang="en-US"/>
              <a:t>        printf("Obese\n");</a:t>
            </a:r>
          </a:p>
          <a:p>
            <a:r>
              <a:rPr lang="en-US"/>
              <a:t>    }</a:t>
            </a:r>
          </a:p>
          <a:p>
            <a:r>
              <a:rPr lang="en-US"/>
              <a:t>    return 0;</a:t>
            </a:r>
          </a:p>
          <a:p>
            <a:r>
              <a:rPr lang="en-US"/>
              <a:t>}</a:t>
            </a:r>
          </a:p>
          <a:p>
            <a:endParaRPr lang="en-US"/>
          </a:p>
          <a:p>
            <a:r>
              <a:rPr lang="en-US"/>
              <a:t>Line by line.</a:t>
            </a:r>
          </a:p>
          <a:p>
            <a:endParaRPr lang="en-US"/>
          </a:p>
          <a:p>
            <a:r>
              <a:rPr lang="en-US"/>
              <a:t>- double weight, height, bmi; three boxes, all double, because 1.75 is not a whole number.</a:t>
            </a:r>
          </a:p>
          <a:p>
            <a:r>
              <a:rPr lang="en-US"/>
              <a:t>- scanf("%lf %lf", &amp;weight, &amp;height); two holes, two boxes, two &amp;. %lf because they are double.</a:t>
            </a:r>
          </a:p>
          <a:p>
            <a:r>
              <a:rPr lang="en-US"/>
              <a:t>- bmi = weight / (height * height); the brackets make height × height happen first. Both are double, so it is real division; nothing is thrown away.</a:t>
            </a:r>
          </a:p>
          <a:p>
            <a:r>
              <a:rPr lang="en-US"/>
              <a:t>- printf("BMI: %.1f\n", bmi); one digit after the point. This line is not on the slide; it is there so you can see the number.</a:t>
            </a:r>
          </a:p>
          <a:p>
            <a:r>
              <a:rPr lang="en-US"/>
              <a:t>- The chain: the smallest limit first, because the conditions are "less than".</a:t>
            </a:r>
          </a:p>
          <a:p>
            <a:endParaRPr lang="en-US"/>
          </a:p>
          <a:p>
            <a:r>
              <a:rPr lang="en-US"/>
              <a:t>Step 3: run it.</a:t>
            </a:r>
          </a:p>
          <a:p>
            <a:endParaRPr lang="en-US"/>
          </a:p>
          <a:p>
            <a:r>
              <a:rPr lang="en-US"/>
              <a:t>You type: Screen shows</a:t>
            </a:r>
          </a:p>
          <a:p>
            <a:r>
              <a:rPr lang="en-US"/>
              <a:t>70 1.75: BMI: 22.9 then Normal</a:t>
            </a:r>
          </a:p>
          <a:p>
            <a:r>
              <a:rPr lang="en-US"/>
              <a:t>50 1.70: BMI: 17.3 then Underweight</a:t>
            </a:r>
          </a:p>
          <a:p>
            <a:r>
              <a:rPr lang="en-US"/>
              <a:t>85 1.70: BMI: 29.4 then Overweight</a:t>
            </a:r>
          </a:p>
          <a:p>
            <a:r>
              <a:rPr lang="en-US"/>
              <a:t>100 1.75: BMI: 32.7 then Obese</a:t>
            </a:r>
          </a:p>
          <a:p>
            <a:endParaRPr lang="en-US"/>
          </a:p>
          <a:p>
            <a:r>
              <a:rPr lang="en-US"/>
              <a:t>The question on the slide. Why is the second condition bmi &lt; 25.0 and not bmi &gt;= 18.5 &amp;&amp; bmi &lt; 25.0? Because C only reaches the second condition if the first one was false. If bmi &lt; 18.5 is false, then bmi is already at least 18.5. The chain already knows that. Writing it again is not wrong, just unnecessary.</a:t>
            </a:r>
          </a:p>
          <a:p>
            <a:endParaRPr lang="en-US"/>
          </a:p>
          <a:p>
            <a:r>
              <a:rPr lang="en-US"/>
              <a:t>Why the order is smallest first. The conditions are "less than". bmi &lt; 18.5 catches the fewest values, so it goes first. If bmi &lt; 30.0 came first, every normal BMI would print Overweight. Same rule as slide 14, the other way round.</a:t>
            </a:r>
          </a:p>
          <a:p>
            <a:endParaRPr lang="en-US"/>
          </a:p>
          <a:p>
            <a:r>
              <a:rPr lang="en-US"/>
              <a:t>If your output is wrong, check:</a:t>
            </a:r>
          </a:p>
          <a:p>
            <a:endParaRPr lang="en-US"/>
          </a:p>
          <a:p>
            <a:r>
              <a:rPr lang="en-US"/>
              <a:t>1. %lf in scanf, with the L, and &amp; on both boxes.</a:t>
            </a:r>
          </a:p>
          <a:p>
            <a:r>
              <a:rPr lang="en-US"/>
              <a:t>2. Brackets around height * height.</a:t>
            </a:r>
          </a:p>
          <a:p>
            <a:r>
              <a:rPr lang="en-US"/>
              <a:t>3. \n at the end of every printf.</a:t>
            </a:r>
          </a:p>
          <a:p>
            <a:endParaRPr lang="en-US"/>
          </a:p>
          <a:p>
            <a:r>
              <a:rPr lang="en-US"/>
              <a:t>Try it yourself. Change the program so it also prints Weight: 70.0 kg and Height: 1.75 m before the BMI. (Use %.1f and %.2f.)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bill with tiers. The first 100 kWh cost 0.10 each. The next 100 cost 0.15 each. Everything above 200 costs 0.20 each. Most real bills and taxes work like this.</a:t>
            </a:r>
          </a:p>
          <a:p>
            <a:endParaRPr lang="en-US"/>
          </a:p>
          <a:p>
            <a:r>
              <a:rPr lang="en-US"/>
              <a:t>The code.</a:t>
            </a:r>
          </a:p>
          <a:p>
            <a:endParaRPr lang="en-US"/>
          </a:p>
          <a:p>
            <a:r>
              <a:rPr lang="en-US"/>
              <a:t>#include &lt;stdio.h&gt;</a:t>
            </a:r>
          </a:p>
          <a:p>
            <a:r>
              <a:rPr lang="en-US"/>
              <a:t>int main(void) {</a:t>
            </a:r>
          </a:p>
          <a:p>
            <a:r>
              <a:rPr lang="en-US"/>
              <a:t>    double kwh, bill;</a:t>
            </a:r>
          </a:p>
          <a:p>
            <a:r>
              <a:rPr lang="en-US"/>
              <a:t>    printf("kWh: ");</a:t>
            </a:r>
          </a:p>
          <a:p>
            <a:r>
              <a:rPr lang="en-US"/>
              <a:t>    scanf("%lf", &amp;kwh);</a:t>
            </a:r>
          </a:p>
          <a:p>
            <a:r>
              <a:rPr lang="en-US"/>
              <a:t>    if (kwh &lt;= 100) {</a:t>
            </a:r>
          </a:p>
          <a:p>
            <a:r>
              <a:rPr lang="en-US"/>
              <a:t>        bill = kwh * 0.10;</a:t>
            </a:r>
          </a:p>
          <a:p>
            <a:r>
              <a:rPr lang="en-US"/>
              <a:t>    } else if (kwh &lt;= 200) {</a:t>
            </a:r>
          </a:p>
          <a:p>
            <a:r>
              <a:rPr lang="en-US"/>
              <a:t>        bill = 100 * 0.10 + (kwh - 100) * 0.15;</a:t>
            </a:r>
          </a:p>
          <a:p>
            <a:r>
              <a:rPr lang="en-US"/>
              <a:t>    } else {</a:t>
            </a:r>
          </a:p>
          <a:p>
            <a:r>
              <a:rPr lang="en-US"/>
              <a:t>        bill = 100 * 0.10 + 100 * 0.15 + (kwh - 200) * 0.20;</a:t>
            </a:r>
          </a:p>
          <a:p>
            <a:r>
              <a:rPr lang="en-US"/>
              <a:t>    }</a:t>
            </a:r>
          </a:p>
          <a:p>
            <a:r>
              <a:rPr lang="en-US"/>
              <a:t>    printf("Bill = %.2f\n", bill);</a:t>
            </a:r>
          </a:p>
          <a:p>
            <a:r>
              <a:rPr lang="en-US"/>
              <a:t>    return 0;</a:t>
            </a:r>
          </a:p>
          <a:p>
            <a:r>
              <a:rPr lang="en-US"/>
              <a:t>}</a:t>
            </a:r>
          </a:p>
          <a:p>
            <a:endParaRPr lang="en-US"/>
          </a:p>
          <a:p>
            <a:r>
              <a:rPr lang="en-US"/>
              <a:t>The three paths.</a:t>
            </a:r>
          </a:p>
          <a:p>
            <a:endParaRPr lang="en-US"/>
          </a:p>
          <a:p>
            <a:r>
              <a:rPr lang="en-US"/>
              <a:t>- Up to 100: every unit at 0.10.</a:t>
            </a:r>
          </a:p>
          <a:p>
            <a:r>
              <a:rPr lang="en-US"/>
              <a:t>- 101 to 200: the first 100 at 0.10, and only the part above 100 at 0.15.</a:t>
            </a:r>
          </a:p>
          <a:p>
            <a:r>
              <a:rPr lang="en-US"/>
              <a:t>- Above 200: the first 100 at 0.10, the second 100 at 0.15, and only the part above 200 at 0.20.</a:t>
            </a:r>
          </a:p>
          <a:p>
            <a:endParaRPr lang="en-US"/>
          </a:p>
          <a:p>
            <a:r>
              <a:rPr lang="en-US"/>
              <a:t>The mistake everyone makes: 150 kWh at 0.15 each = 22.50. Wrong. The first 100 units are still 0.10 each. Only the 50 above 100 are 0.15.</a:t>
            </a:r>
          </a:p>
          <a:p>
            <a:endParaRPr lang="en-US"/>
          </a:p>
          <a:p>
            <a:r>
              <a:rPr lang="en-US"/>
              <a:t>You type: Which path · The sum · Screen shows</a:t>
            </a:r>
          </a:p>
          <a:p>
            <a:r>
              <a:rPr lang="en-US"/>
              <a:t>80: first · 80 × 0.10 · Bill = 8.00</a:t>
            </a:r>
          </a:p>
          <a:p>
            <a:r>
              <a:rPr lang="en-US"/>
              <a:t>100: first · 100 × 0.10 · Bill = 10.00</a:t>
            </a:r>
          </a:p>
          <a:p>
            <a:r>
              <a:rPr lang="en-US"/>
              <a:t>150: second · 100 × 0.10 + 50 × 0.15 = 10.00 + 7.50 · Bill = 17.50</a:t>
            </a:r>
          </a:p>
          <a:p>
            <a:r>
              <a:rPr lang="en-US"/>
              <a:t>200: second · 10.00 + 100 × 0.15 · Bill = 25.00</a:t>
            </a:r>
          </a:p>
          <a:p>
            <a:r>
              <a:rPr lang="en-US"/>
              <a:t>250: third · 10.00 + 15.00 + 50 × 0.20 = 10.00 · Bill = 35.00</a:t>
            </a:r>
          </a:p>
          <a:p>
            <a:endParaRPr lang="en-US"/>
          </a:p>
          <a:p>
            <a:r>
              <a:rPr lang="en-US"/>
              <a:t>Here each path has its own formula, not just its own message. That is what conditionals are for: different calculations for different cases.</a:t>
            </a:r>
          </a:p>
          <a:p>
            <a:endParaRPr lang="en-US"/>
          </a:p>
          <a:p>
            <a:r>
              <a:rPr lang="en-US"/>
              <a:t>Try it yourself. Change the rule: the first 50 kWh are free, then 0.12 per kWh. Two paths. Test with 30 (expect 0.00) and 150 (expect 12.00: 100 units above 50, at 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can write programs, you must be able to read them. On the quiz you cannot run the code. So practise tracing with a pen.</a:t>
            </a:r>
          </a:p>
          <a:p>
            <a:endParaRPr lang="en-US"/>
          </a:p>
          <a:p>
            <a:r>
              <a:rPr lang="en-US"/>
              <a:t>int x = 5;</a:t>
            </a:r>
          </a:p>
          <a:p>
            <a:r>
              <a:rPr lang="en-US"/>
              <a:t>int y = 12;</a:t>
            </a:r>
          </a:p>
          <a:p>
            <a:r>
              <a:rPr lang="en-US"/>
              <a:t>if (x * 2 &gt; y) {</a:t>
            </a:r>
          </a:p>
          <a:p>
            <a:r>
              <a:rPr lang="en-US"/>
              <a:t>    printf("A");</a:t>
            </a:r>
          </a:p>
          <a:p>
            <a:r>
              <a:rPr lang="en-US"/>
              <a:t>} else if (y % x == 2) {</a:t>
            </a:r>
          </a:p>
          <a:p>
            <a:r>
              <a:rPr lang="en-US"/>
              <a:t>    printf("B");</a:t>
            </a:r>
          </a:p>
          <a:p>
            <a:r>
              <a:rPr lang="en-US"/>
              <a:t>} else {</a:t>
            </a:r>
          </a:p>
          <a:p>
            <a:r>
              <a:rPr lang="en-US"/>
              <a:t>    printf("C");</a:t>
            </a:r>
          </a:p>
          <a:p>
            <a:r>
              <a:rPr lang="en-US"/>
              <a:t>}</a:t>
            </a:r>
          </a:p>
          <a:p>
            <a:r>
              <a:rPr lang="en-US"/>
              <a:t>printf("D");</a:t>
            </a:r>
          </a:p>
          <a:p>
            <a:endParaRPr lang="en-US"/>
          </a:p>
          <a:p>
            <a:r>
              <a:rPr lang="en-US"/>
              <a:t>Trace it step by step.</a:t>
            </a:r>
          </a:p>
          <a:p>
            <a:endParaRPr lang="en-US"/>
          </a:p>
          <a:p>
            <a:r>
              <a:rPr lang="en-US"/>
              <a:t>1. x is 5, y is 12.</a:t>
            </a:r>
          </a:p>
          <a:p>
            <a:r>
              <a:rPr lang="en-US"/>
              <a:t>2. First condition: x * 2 &gt; y. That is 10 &gt; 12. False (value 0). Skip the A block.</a:t>
            </a:r>
          </a:p>
          <a:p>
            <a:r>
              <a:rPr lang="en-US"/>
              <a:t>3. Second condition: y % x == 2. 12 % 5 is the remainder of 12 ÷ 5. 5 goes into 12 twice (10), remainder 2. So 2 == 2. True. Print B. The chain stops; the else is not looked at.</a:t>
            </a:r>
          </a:p>
          <a:p>
            <a:r>
              <a:rPr lang="en-US"/>
              <a:t>4. printf("D"); is after the chain, outside all the braces. It runs every time. Print D.</a:t>
            </a:r>
          </a:p>
          <a:p>
            <a:r>
              <a:rPr lang="en-US"/>
              <a:t>5. There is no \n anywhere, so both letters land on one line.</a:t>
            </a:r>
          </a:p>
          <a:p>
            <a:endParaRPr lang="en-US"/>
          </a:p>
          <a:p>
            <a:r>
              <a:rPr lang="en-US"/>
              <a:t>The four answers.</a:t>
            </a:r>
          </a:p>
          <a:p>
            <a:endParaRPr lang="en-US"/>
          </a:p>
          <a:p>
            <a:r>
              <a:rPr lang="en-US"/>
              <a:t>1. x * 2 &gt; y is 10 &gt; 12, false, value 0.</a:t>
            </a:r>
          </a:p>
          <a:p>
            <a:r>
              <a:rPr lang="en-US"/>
              <a:t>2. y % x is 12 % 5, which is 2.</a:t>
            </a:r>
          </a:p>
          <a:p>
            <a:r>
              <a:rPr lang="en-US"/>
              <a:t>3. The screen shows BD.</a:t>
            </a:r>
          </a:p>
          <a:p>
            <a:r>
              <a:rPr lang="en-US"/>
              <a:t>4. The else if branch runs.</a:t>
            </a:r>
          </a:p>
          <a:p>
            <a:endParaRPr lang="en-US"/>
          </a:p>
          <a:p>
            <a:r>
              <a:rPr lang="en-US"/>
              <a:t>The trap is the printf("D"). It looks like part of the chain, but look at the braces: the chain's last } closes before it. It belongs to nobody, so it always runs.</a:t>
            </a:r>
          </a:p>
          <a:p>
            <a:endParaRPr lang="en-US"/>
          </a:p>
          <a:p>
            <a:r>
              <a:rPr lang="en-US"/>
              <a:t>Try it yourself. Change x to 7 and trace again before running. (x * 2 &gt; y is 14 &gt; 12, true. Screen shows AD.) Then change x to 6. (12 &gt; 12 is false; 12 % 6 is 0, not 2; so else. Screen shows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programs for the weekend. Each one is: ask, read, decide, print. Before you type, write in plain words what goes in, what comes out, and what the conditions are.</a:t>
            </a:r>
          </a:p>
          <a:p>
            <a:endParaRPr lang="en-US"/>
          </a:p>
          <a:p>
            <a:r>
              <a:rPr lang="en-US"/>
              <a:t>Task 1. The larger of two integers. Read two whole numbers, print the larger one.</a:t>
            </a:r>
          </a:p>
          <a:p>
            <a:endParaRPr lang="en-US"/>
          </a:p>
          <a:p>
            <a:r>
              <a:rPr lang="en-US"/>
              <a:t>Example run: you type 3 8, the screen shows Larger: 8. You type 9 2, it shows Larger: 9.</a:t>
            </a:r>
          </a:p>
          <a:p>
            <a:endParaRPr lang="en-US"/>
          </a:p>
          <a:p>
            <a:r>
              <a:rPr lang="en-US"/>
              <a:t>Hint: one if (a &gt; b) with an else. (What happens when they are equal? Either answer is fine, and it prints that number.)</a:t>
            </a:r>
          </a:p>
          <a:p>
            <a:endParaRPr lang="en-US"/>
          </a:p>
          <a:p>
            <a:r>
              <a:rPr lang="en-US"/>
              <a:t>Task 2. Even or odd. Read a whole number, say whether it is even or odd.</a:t>
            </a:r>
          </a:p>
          <a:p>
            <a:endParaRPr lang="en-US"/>
          </a:p>
          <a:p>
            <a:r>
              <a:rPr lang="en-US"/>
              <a:t>Example run: you type 7, the screen shows 7 is odd. You type 10, it shows 10 is even.</a:t>
            </a:r>
          </a:p>
          <a:p>
            <a:endParaRPr lang="en-US"/>
          </a:p>
          <a:p>
            <a:r>
              <a:rPr lang="en-US"/>
              <a:t>Hint: n % 2 is 0 for even numbers. Compare with ==, two equals signs.</a:t>
            </a:r>
          </a:p>
          <a:p>
            <a:endParaRPr lang="en-US"/>
          </a:p>
          <a:p>
            <a:r>
              <a:rPr lang="en-US"/>
              <a:t>Task 3. A B C D F. Read a score, print the grade: 90 and above A, 80 and above B, 70 and above C, 60 and above D, otherwise F.</a:t>
            </a:r>
          </a:p>
          <a:p>
            <a:endParaRPr lang="en-US"/>
          </a:p>
          <a:p>
            <a:r>
              <a:rPr lang="en-US"/>
              <a:t>Example run: you type 83, the screen shows B. You type 65, it shows D. You type 12, it shows F.</a:t>
            </a:r>
          </a:p>
          <a:p>
            <a:endParaRPr lang="en-US"/>
          </a:p>
          <a:p>
            <a:r>
              <a:rPr lang="en-US"/>
              <a:t>Hint: the chain from slide 13 with two more steps. Biggest number first.</a:t>
            </a:r>
          </a:p>
          <a:p>
            <a:endParaRPr lang="en-US"/>
          </a:p>
          <a:p>
            <a:r>
              <a:rPr lang="en-US"/>
              <a:t>Task 4. A tiny calculator with switch. Read an operation (+, - or *), then two numbers with decimals, print the result.</a:t>
            </a:r>
          </a:p>
          <a:p>
            <a:endParaRPr lang="en-US"/>
          </a:p>
          <a:p>
            <a:r>
              <a:rPr lang="en-US"/>
              <a:t>Example run: you type +, Enter, then 3 4, Enter, the screen shows Result: 7.00. You type * then 2.5 4, it shows Result: 10.00. You type / then 1 2, it shows Unknown operation.</a:t>
            </a:r>
          </a:p>
          <a:p>
            <a:endParaRPr lang="en-US"/>
          </a:p>
          <a:p>
            <a:r>
              <a:rPr lang="en-US"/>
              <a:t>Hint: char op; and scanf(" %c", &amp;op); with the space. Then switch (op) with case '+':, case '-':, case '*':, each with a break, and a default. Read the two numbers with %lf.</a:t>
            </a:r>
          </a:p>
          <a:p>
            <a:endParaRPr lang="en-US"/>
          </a:p>
          <a:p>
            <a:r>
              <a:rPr lang="en-US"/>
              <a:t>Task 5. Pay with overtime. Read hours worked and the hourly rate. Up to 40 hours are paid at the rate. Every hour above 40 is paid at one and a half times the rate.</a:t>
            </a:r>
          </a:p>
          <a:p>
            <a:endParaRPr lang="en-US"/>
          </a:p>
          <a:p>
            <a:r>
              <a:rPr lang="en-US"/>
              <a:t>Example run: you type 40 10, the screen shows Pay: 400.00. You type 45 10, it shows Pay: 475.00 (40 × 10 = 400, plus 5 × 15 = 75). You type 30 12.5, it shows Pay: 375.00.</a:t>
            </a:r>
          </a:p>
          <a:p>
            <a:endParaRPr lang="en-US"/>
          </a:p>
          <a:p>
            <a:r>
              <a:rPr lang="en-US"/>
              <a:t>Hint: if (hours &lt;= 40) one formula, else another. In the else, the pay is 40 hours at the rate plus the hours above 40 at rate * 1.5. All boxes double.</a:t>
            </a:r>
          </a:p>
          <a:p>
            <a:endParaRPr lang="en-US"/>
          </a:p>
          <a:p>
            <a:r>
              <a:rPr lang="en-US"/>
              <a:t>Before you say a program is done: it compiles with -Wall and no warnings; every number printed has a label; you tested it with at least two inputs, one for each path; the code is indented.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each one on paper first. Then read the answer. A good answer gives the result and the rule that produced it.</a:t>
            </a:r>
          </a:p>
          <a:p>
            <a:endParaRPr lang="en-US"/>
          </a:p>
          <a:p>
            <a:r>
              <a:rPr lang="en-US"/>
              <a:t>Q1. int a = 9, b = 4; printf("%d %d", a / b, a % b); What is printed?</a:t>
            </a:r>
          </a:p>
          <a:p>
            <a:endParaRPr lang="en-US"/>
          </a:p>
          <a:p>
            <a:r>
              <a:rPr lang="en-US"/>
              <a:t>2 1. Both are int, so 9 / 4 is 2 with the .25 thrown away. 9 % 4 is the remainder: 4 goes into 9 twice (8), 1 is left.</a:t>
            </a:r>
          </a:p>
          <a:p>
            <a:endParaRPr lang="en-US"/>
          </a:p>
          <a:p>
            <a:r>
              <a:rPr lang="en-US"/>
              <a:t>Q2. double avg = 7 / 2; printf("%.1f", avg); Why is this not 3.5?</a:t>
            </a:r>
          </a:p>
          <a:p>
            <a:endParaRPr lang="en-US"/>
          </a:p>
          <a:p>
            <a:r>
              <a:rPr lang="en-US"/>
              <a:t>It prints 3.0. 7 / 2 is int / int, so it is calculated as 3 before it is stored in avg. Making the box a double does not help; the division has already happened. Fix: 7.0 / 2 or (double) 7 / 2, which gives 3.5.</a:t>
            </a:r>
          </a:p>
          <a:p>
            <a:endParaRPr lang="en-US"/>
          </a:p>
          <a:p>
            <a:r>
              <a:rPr lang="en-US"/>
              <a:t>Q3.</a:t>
            </a:r>
          </a:p>
          <a:p>
            <a:endParaRPr lang="en-US"/>
          </a:p>
          <a:p>
            <a:r>
              <a:rPr lang="en-US"/>
              <a:t>if (x &gt;= 0)</a:t>
            </a:r>
          </a:p>
          <a:p>
            <a:r>
              <a:rPr lang="en-US"/>
              <a:t>    printf("positive");</a:t>
            </a:r>
          </a:p>
          <a:p>
            <a:r>
              <a:rPr lang="en-US"/>
              <a:t>    printf("done");</a:t>
            </a:r>
          </a:p>
          <a:p>
            <a:endParaRPr lang="en-US"/>
          </a:p>
          <a:p>
            <a:r>
              <a:rPr lang="en-US"/>
              <a:t>Which line is always printed?</a:t>
            </a:r>
          </a:p>
          <a:p>
            <a:endParaRPr lang="en-US"/>
          </a:p>
          <a:p>
            <a:r>
              <a:rPr lang="en-US"/>
              <a:t>done. There are no braces, so only the first line after the if belongs to it. The second printf is indented to look like it belongs, but it does not. For x = 5 the screen shows positivedone; for x = -3 it shows done. With -Wall the compiler warns you: this 'if' clause does not guard.... Always write the braces.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this week you can:</a:t>
            </a:r>
          </a:p>
          <a:p>
            <a:endParaRPr lang="en-US"/>
          </a:p>
          <a:p>
            <a:r>
              <a:rPr lang="en-US"/>
              <a:t>- Choose a type: int for counts, double for decimals, char for one symbol.</a:t>
            </a:r>
          </a:p>
          <a:p>
            <a:r>
              <a:rPr lang="en-US"/>
              <a:t>- Explain why 7 / 2 is 3 and how (double) fixes it.</a:t>
            </a:r>
          </a:p>
          <a:p>
            <a:r>
              <a:rPr lang="en-US"/>
              <a:t>- Write a comparison and know it gives 1 or 0.</a:t>
            </a:r>
          </a:p>
          <a:p>
            <a:r>
              <a:rPr lang="en-US"/>
              <a:t>- Combine conditions with &amp;&amp;, ||, !.</a:t>
            </a:r>
          </a:p>
          <a:p>
            <a:r>
              <a:rPr lang="en-US"/>
              <a:t>- Write if, if/else, an else if chain in the right order, a nested if, and a switch with break and default.</a:t>
            </a:r>
          </a:p>
          <a:p>
            <a:r>
              <a:rPr lang="en-US"/>
              <a:t>- Trace a program with a pen for one input and say exactly what it prints.</a:t>
            </a:r>
          </a:p>
          <a:p>
            <a:endParaRPr lang="en-US"/>
          </a:p>
          <a:p>
            <a:r>
              <a:rPr lang="en-US"/>
              <a:t>The three questions for every program. What data do I need? What type should store it? What decisions must the program make?</a:t>
            </a:r>
          </a:p>
          <a:p>
            <a:endParaRPr lang="en-US"/>
          </a:p>
          <a:p>
            <a:r>
              <a:rPr lang="en-US"/>
              <a:t>Before Tuesday.</a:t>
            </a:r>
          </a:p>
          <a:p>
            <a:endParaRPr lang="en-US"/>
          </a:p>
          <a:p>
            <a:r>
              <a:rPr lang="en-US"/>
              <a:t>1. Do Knowledge check 4 on Blackboard, in the Week 2 module: this class's slides. Six questions, three attempts, best kept, worth 0%. Knowledge check 3 covers Tuesday's slides and is open too.</a:t>
            </a:r>
          </a:p>
          <a:p>
            <a:r>
              <a:rPr lang="en-US"/>
              <a:t>2. Do the new practice tests in the Practice folder: comparisons and logic, if and else if, switch, and whole programs for week 2. Unlimited attempts.</a:t>
            </a:r>
          </a:p>
          <a:p>
            <a:r>
              <a:rPr lang="en-US"/>
              <a:t>3. Write the five programs from slide 21. Bring them Tuesday, working or not.</a:t>
            </a:r>
          </a:p>
          <a:p>
            <a:r>
              <a:rPr lang="en-US"/>
              <a:t>4. Quiz 1 comes back on Tuesday, marked, and the mark appears in Blackboard.</a:t>
            </a:r>
          </a:p>
          <a:p>
            <a:endParaRPr lang="en-US"/>
          </a:p>
          <a:p>
            <a:r>
              <a:rPr lang="en-US"/>
              <a:t>Next week: loops. Doing something a hundred times without writing it a hundred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a:effectLst/>
      </p:bgPr>
    </p:bg>
    <p:spTree>
      <p:nvGrpSpPr>
        <p:cNvPr id="1" name=""/>
        <p:cNvGrpSpPr/>
        <p:nvPr/>
      </p:nvGrpSpPr>
      <p:grpSpPr>
        <a:xfrm>
          <a:off x="0" y="0"/>
          <a:ext cx="0" cy="0"/>
          <a:chOff x="0" y="0"/>
          <a:chExt cx="0" cy="0"/>
        </a:xfrm>
      </p:grpSpPr>
      <p:sp>
        <p:nvSpPr>
          <p:cNvPr id="2" name="Text 0"/>
          <p:cNvSpPr/>
          <p:nvPr/>
        </p:nvSpPr>
        <p:spPr>
          <a:xfrm>
            <a:off x="685800" y="713232"/>
            <a:ext cx="7406640" cy="502920"/>
          </a:xfrm>
          <a:prstGeom prst="rect">
            <a:avLst/>
          </a:prstGeom>
          <a:noFill/>
          <a:ln/>
        </p:spPr>
        <p:txBody>
          <a:bodyPr wrap="square" lIns="0" tIns="0" rIns="0" bIns="0" rtlCol="0" anchor="ctr">
            <a:normAutofit/>
          </a:bodyPr>
          <a:lstStyle/>
          <a:p>
            <a:pPr marL="0" indent="0" algn="l">
              <a:buNone/>
            </a:pPr>
            <a:r>
              <a:rPr lang="en-US" sz="2200" b="1" dirty="0">
                <a:solidFill>
                  <a:srgbClr val="56CCF2"/>
                </a:solidFill>
                <a:latin typeface="Aptos" pitchFamily="34" charset="0"/>
                <a:ea typeface="Aptos" pitchFamily="34" charset="-122"/>
                <a:cs typeface="Aptos" pitchFamily="34" charset="-120"/>
              </a:rPr>
              <a:t>Programming Principles I</a:t>
            </a:r>
            <a:endParaRPr lang="en-US" sz="2200" dirty="0"/>
          </a:p>
        </p:txBody>
      </p:sp>
      <p:sp>
        <p:nvSpPr>
          <p:cNvPr id="3" name="Text 1"/>
          <p:cNvSpPr/>
          <p:nvPr/>
        </p:nvSpPr>
        <p:spPr>
          <a:xfrm>
            <a:off x="685800" y="1508760"/>
            <a:ext cx="2743200" cy="502920"/>
          </a:xfrm>
          <a:prstGeom prst="rect">
            <a:avLst/>
          </a:prstGeom>
          <a:noFill/>
          <a:ln/>
        </p:spPr>
        <p:txBody>
          <a:bodyPr wrap="square" lIns="0" tIns="0" rIns="0" bIns="0" rtlCol="0" anchor="ctr">
            <a:normAutofit/>
          </a:bodyPr>
          <a:lstStyle/>
          <a:p>
            <a:pPr marL="0" indent="0" algn="l">
              <a:buNone/>
            </a:pPr>
            <a:r>
              <a:rPr lang="en-US" sz="3000" b="1" dirty="0">
                <a:solidFill>
                  <a:srgbClr val="FFFFFF"/>
                </a:solidFill>
                <a:latin typeface="Aptos" pitchFamily="34" charset="0"/>
                <a:ea typeface="Aptos" pitchFamily="34" charset="-122"/>
                <a:cs typeface="Aptos" pitchFamily="34" charset="-120"/>
              </a:rPr>
              <a:t>Week 2</a:t>
            </a:r>
            <a:endParaRPr lang="en-US" sz="3000" dirty="0"/>
          </a:p>
        </p:txBody>
      </p:sp>
      <p:sp>
        <p:nvSpPr>
          <p:cNvPr id="4" name="Text 2"/>
          <p:cNvSpPr/>
          <p:nvPr/>
        </p:nvSpPr>
        <p:spPr>
          <a:xfrm>
            <a:off x="685800" y="2057400"/>
            <a:ext cx="8412480" cy="731520"/>
          </a:xfrm>
          <a:prstGeom prst="rect">
            <a:avLst/>
          </a:prstGeom>
          <a:noFill/>
          <a:ln/>
        </p:spPr>
        <p:txBody>
          <a:bodyPr wrap="square" lIns="0" tIns="0" rIns="0" bIns="0" rtlCol="0" anchor="ctr">
            <a:normAutofit/>
          </a:bodyPr>
          <a:lstStyle/>
          <a:p>
            <a:pPr marL="0" indent="0" algn="l">
              <a:buNone/>
            </a:pPr>
            <a:r>
              <a:rPr lang="en-US" sz="4000" b="1" dirty="0">
                <a:solidFill>
                  <a:srgbClr val="FFFFFF"/>
                </a:solidFill>
                <a:latin typeface="Aptos" pitchFamily="34" charset="0"/>
                <a:ea typeface="Aptos" pitchFamily="34" charset="-122"/>
                <a:cs typeface="Aptos" pitchFamily="34" charset="-120"/>
              </a:rPr>
              <a:t>Data Types &amp; Conditionals</a:t>
            </a:r>
            <a:endParaRPr lang="en-US" sz="4000" dirty="0"/>
          </a:p>
        </p:txBody>
      </p:sp>
      <p:sp>
        <p:nvSpPr>
          <p:cNvPr id="5" name="Text 3"/>
          <p:cNvSpPr/>
          <p:nvPr/>
        </p:nvSpPr>
        <p:spPr>
          <a:xfrm>
            <a:off x="713232" y="2944368"/>
            <a:ext cx="8412480" cy="320040"/>
          </a:xfrm>
          <a:prstGeom prst="rect">
            <a:avLst/>
          </a:prstGeom>
          <a:noFill/>
          <a:ln/>
        </p:spPr>
        <p:txBody>
          <a:bodyPr wrap="square" lIns="0" tIns="0" rIns="0" bIns="0" rtlCol="0" anchor="ctr">
            <a:normAutofit/>
          </a:bodyPr>
          <a:lstStyle/>
          <a:p>
            <a:pPr marL="0" indent="0" algn="l">
              <a:buNone/>
            </a:pPr>
            <a:r>
              <a:rPr lang="en-US" sz="1600" dirty="0">
                <a:solidFill>
                  <a:srgbClr val="DCEBFA"/>
                </a:solidFill>
                <a:latin typeface="Aptos" pitchFamily="34" charset="0"/>
                <a:ea typeface="Aptos" pitchFamily="34" charset="-122"/>
                <a:cs typeface="Aptos" pitchFamily="34" charset="-120"/>
              </a:rPr>
              <a:t>Choosing the right kind of data · Making decisions with if / else / switch</a:t>
            </a:r>
            <a:endParaRPr lang="en-US" sz="1600" dirty="0"/>
          </a:p>
        </p:txBody>
      </p:sp>
      <p:sp>
        <p:nvSpPr>
          <p:cNvPr id="6" name="Text 4"/>
          <p:cNvSpPr/>
          <p:nvPr/>
        </p:nvSpPr>
        <p:spPr>
          <a:xfrm>
            <a:off x="6903720" y="4224528"/>
            <a:ext cx="4389120" cy="841248"/>
          </a:xfrm>
          <a:prstGeom prst="rect">
            <a:avLst/>
          </a:prstGeom>
          <a:noFill/>
          <a:ln/>
        </p:spPr>
        <p:txBody>
          <a:bodyPr wrap="square" lIns="635" tIns="635" rIns="635" bIns="635" rtlCol="0" anchor="ctr">
            <a:normAutofit/>
          </a:bodyPr>
          <a:lstStyle/>
          <a:p>
            <a:pPr marL="0" indent="0" algn="l">
              <a:buNone/>
            </a:pPr>
            <a:r>
              <a:rPr lang="en-US" sz="1900" b="1" dirty="0">
                <a:solidFill>
                  <a:srgbClr val="FFFFFF"/>
                </a:solidFill>
                <a:latin typeface="Cascadia Mono" pitchFamily="34" charset="0"/>
                <a:ea typeface="Cascadia Mono" pitchFamily="34" charset="-122"/>
                <a:cs typeface="Cascadia Mono" pitchFamily="34" charset="-120"/>
              </a:rPr>
              <a:t>if (temperature &gt; 38.0) {</a:t>
            </a:r>
            <a:endParaRPr lang="en-US" sz="1900" dirty="0"/>
          </a:p>
          <a:p>
            <a:pPr marL="0" indent="0" algn="l">
              <a:buNone/>
            </a:pPr>
            <a:r>
              <a:rPr lang="en-US" sz="1900" b="1" dirty="0">
                <a:solidFill>
                  <a:srgbClr val="FFFFFF"/>
                </a:solidFill>
                <a:latin typeface="Cascadia Mono" pitchFamily="34" charset="0"/>
                <a:ea typeface="Cascadia Mono" pitchFamily="34" charset="-122"/>
                <a:cs typeface="Cascadia Mono" pitchFamily="34" charset="-120"/>
              </a:rPr>
              <a:t>    printf("Check fever");</a:t>
            </a:r>
            <a:endParaRPr lang="en-US" sz="1900" dirty="0"/>
          </a:p>
          <a:p>
            <a:pPr marL="0" indent="0" algn="l">
              <a:buNone/>
            </a:pPr>
            <a:r>
              <a:rPr lang="en-US" sz="1900" b="1" dirty="0">
                <a:solidFill>
                  <a:srgbClr val="FFFFFF"/>
                </a:solidFill>
                <a:latin typeface="Cascadia Mono" pitchFamily="34" charset="0"/>
                <a:ea typeface="Cascadia Mono" pitchFamily="34" charset="-122"/>
                <a:cs typeface="Cascadia Mono" pitchFamily="34" charset="-120"/>
              </a:rPr>
              <a:t>}</a:t>
            </a:r>
            <a:endParaRPr lang="en-US" sz="1900" dirty="0"/>
          </a:p>
        </p:txBody>
      </p:sp>
      <p:sp>
        <p:nvSpPr>
          <p:cNvPr id="7" name="Text 5"/>
          <p:cNvSpPr/>
          <p:nvPr/>
        </p:nvSpPr>
        <p:spPr>
          <a:xfrm>
            <a:off x="713232" y="6309360"/>
            <a:ext cx="3840480" cy="228600"/>
          </a:xfrm>
          <a:prstGeom prst="rect">
            <a:avLst/>
          </a:prstGeom>
          <a:noFill/>
          <a:ln/>
        </p:spPr>
        <p:txBody>
          <a:bodyPr wrap="square" lIns="0" tIns="0" rIns="0" bIns="0" rtlCol="0" anchor="ctr">
            <a:normAutofit/>
          </a:bodyPr>
          <a:lstStyle/>
          <a:p>
            <a:pPr marL="0" indent="0" algn="l">
              <a:buNone/>
            </a:pPr>
            <a:r>
              <a:rPr lang="en-US" sz="1100" dirty="0">
                <a:solidFill>
                  <a:srgbClr val="BFD7F3"/>
                </a:solidFill>
                <a:latin typeface="Aptos" pitchFamily="34" charset="0"/>
                <a:ea typeface="Aptos" pitchFamily="34" charset="-122"/>
                <a:cs typeface="Aptos" pitchFamily="34" charset="-120"/>
              </a:rPr>
              <a:t>ADA University · Fall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Today’s roadmap</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The goal is not to memorize every type, but to know what problem each type solves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68680" y="1389888"/>
            <a:ext cx="384048" cy="384048"/>
          </a:xfrm>
          <a:prstGeom prst="rect">
            <a:avLst/>
          </a:prstGeom>
          <a:solidFill>
            <a:srgbClr val="2F80ED"/>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8" name="Text 6"/>
          <p:cNvSpPr/>
          <p:nvPr/>
        </p:nvSpPr>
        <p:spPr>
          <a:xfrm>
            <a:off x="1389888" y="142646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Why data types exist</a:t>
            </a:r>
            <a:endParaRPr lang="en-US" sz="1550" dirty="0"/>
          </a:p>
        </p:txBody>
      </p:sp>
      <p:sp>
        <p:nvSpPr>
          <p:cNvPr id="9" name="Text 7"/>
          <p:cNvSpPr/>
          <p:nvPr/>
        </p:nvSpPr>
        <p:spPr>
          <a:xfrm>
            <a:off x="868680" y="2029968"/>
            <a:ext cx="384048" cy="384048"/>
          </a:xfrm>
          <a:prstGeom prst="rect">
            <a:avLst/>
          </a:prstGeom>
          <a:solidFill>
            <a:srgbClr val="27AE60"/>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0" name="Text 8"/>
          <p:cNvSpPr/>
          <p:nvPr/>
        </p:nvSpPr>
        <p:spPr>
          <a:xfrm>
            <a:off x="1389888" y="206654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Numbers: int, float, double</a:t>
            </a:r>
            <a:endParaRPr lang="en-US" sz="1550" dirty="0"/>
          </a:p>
        </p:txBody>
      </p:sp>
      <p:sp>
        <p:nvSpPr>
          <p:cNvPr id="11" name="Text 9"/>
          <p:cNvSpPr/>
          <p:nvPr/>
        </p:nvSpPr>
        <p:spPr>
          <a:xfrm>
            <a:off x="868680" y="2670048"/>
            <a:ext cx="384048" cy="384048"/>
          </a:xfrm>
          <a:prstGeom prst="rect">
            <a:avLst/>
          </a:prstGeom>
          <a:solidFill>
            <a:srgbClr val="F2C94C"/>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2" name="Text 10"/>
          <p:cNvSpPr/>
          <p:nvPr/>
        </p:nvSpPr>
        <p:spPr>
          <a:xfrm>
            <a:off x="1389888" y="270662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Characters and simple text idea</a:t>
            </a:r>
            <a:endParaRPr lang="en-US" sz="1550" dirty="0"/>
          </a:p>
        </p:txBody>
      </p:sp>
      <p:sp>
        <p:nvSpPr>
          <p:cNvPr id="13" name="Text 11"/>
          <p:cNvSpPr/>
          <p:nvPr/>
        </p:nvSpPr>
        <p:spPr>
          <a:xfrm>
            <a:off x="868680" y="3310128"/>
            <a:ext cx="384048" cy="384048"/>
          </a:xfrm>
          <a:prstGeom prst="rect">
            <a:avLst/>
          </a:prstGeom>
          <a:solidFill>
            <a:srgbClr val="EB5757"/>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4" name="Text 12"/>
          <p:cNvSpPr/>
          <p:nvPr/>
        </p:nvSpPr>
        <p:spPr>
          <a:xfrm>
            <a:off x="1389888" y="334670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Type conversion and traps</a:t>
            </a:r>
            <a:endParaRPr lang="en-US" sz="1550" dirty="0"/>
          </a:p>
        </p:txBody>
      </p:sp>
      <p:sp>
        <p:nvSpPr>
          <p:cNvPr id="15" name="Text 13"/>
          <p:cNvSpPr/>
          <p:nvPr/>
        </p:nvSpPr>
        <p:spPr>
          <a:xfrm>
            <a:off x="868680" y="3950208"/>
            <a:ext cx="384048" cy="384048"/>
          </a:xfrm>
          <a:prstGeom prst="rect">
            <a:avLst/>
          </a:prstGeom>
          <a:solidFill>
            <a:srgbClr val="7B61FF"/>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16" name="Text 14"/>
          <p:cNvSpPr/>
          <p:nvPr/>
        </p:nvSpPr>
        <p:spPr>
          <a:xfrm>
            <a:off x="1389888" y="398678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Boolean logic in C</a:t>
            </a:r>
            <a:endParaRPr lang="en-US" sz="1550" dirty="0"/>
          </a:p>
        </p:txBody>
      </p:sp>
      <p:sp>
        <p:nvSpPr>
          <p:cNvPr id="17" name="Text 15"/>
          <p:cNvSpPr/>
          <p:nvPr/>
        </p:nvSpPr>
        <p:spPr>
          <a:xfrm>
            <a:off x="868680" y="4590288"/>
            <a:ext cx="384048" cy="384048"/>
          </a:xfrm>
          <a:prstGeom prst="rect">
            <a:avLst/>
          </a:prstGeom>
          <a:solidFill>
            <a:srgbClr val="56CCF2"/>
          </a:solid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6</a:t>
            </a:r>
            <a:endParaRPr lang="en-US" sz="1800" dirty="0"/>
          </a:p>
        </p:txBody>
      </p:sp>
      <p:sp>
        <p:nvSpPr>
          <p:cNvPr id="18" name="Text 16"/>
          <p:cNvSpPr/>
          <p:nvPr/>
        </p:nvSpPr>
        <p:spPr>
          <a:xfrm>
            <a:off x="1389888" y="4626864"/>
            <a:ext cx="4114800" cy="292608"/>
          </a:xfrm>
          <a:prstGeom prst="rect">
            <a:avLst/>
          </a:prstGeom>
          <a:noFill/>
          <a:ln/>
        </p:spPr>
        <p:txBody>
          <a:bodyPr wrap="square" lIns="635" tIns="635" rIns="635" bIns="635" rtlCol="0" anchor="ctr">
            <a:normAutofit/>
          </a:bodyPr>
          <a:lstStyle/>
          <a:p>
            <a:pPr marL="0" indent="0" algn="l">
              <a:buNone/>
            </a:pPr>
            <a:r>
              <a:rPr lang="en-US" sz="1550" dirty="0">
                <a:solidFill>
                  <a:srgbClr val="1F2937"/>
                </a:solidFill>
                <a:latin typeface="Aptos" pitchFamily="34" charset="0"/>
                <a:ea typeface="Aptos" pitchFamily="34" charset="-122"/>
                <a:cs typeface="Aptos" pitchFamily="34" charset="-120"/>
              </a:rPr>
              <a:t>if / else / else-if / switch</a:t>
            </a:r>
            <a:endParaRPr lang="en-US" sz="1550" dirty="0"/>
          </a:p>
        </p:txBody>
      </p:sp>
      <p:sp>
        <p:nvSpPr>
          <p:cNvPr id="19" name="Text 17"/>
          <p:cNvSpPr/>
          <p:nvPr/>
        </p:nvSpPr>
        <p:spPr>
          <a:xfrm>
            <a:off x="5989320" y="1325880"/>
            <a:ext cx="5074920" cy="35204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20" dirty="0">
                <a:solidFill>
                  <a:srgbClr val="E5E7EB"/>
                </a:solidFill>
                <a:latin typeface="Cascadia Mono" pitchFamily="34" charset="0"/>
                <a:ea typeface="Cascadia Mono" pitchFamily="34" charset="-122"/>
                <a:cs typeface="Cascadia Mono" pitchFamily="34" charset="-120"/>
              </a:rPr>
              <a:t>int age = 18;</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double price = 12.75;</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char grade = 'A';</a:t>
            </a:r>
            <a:endParaRPr lang="en-US" sz="1320" dirty="0"/>
          </a:p>
          <a:p>
            <a:pPr marL="0" indent="0" algn="l">
              <a:buNone/>
            </a:pP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if (age &gt;= 18) {</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    printf("Adult ticket");</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 else {</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    printf("Student ticket");</a:t>
            </a:r>
            <a:endParaRPr lang="en-US" sz="1320" dirty="0"/>
          </a:p>
          <a:p>
            <a:pPr marL="0" indent="0" algn="l">
              <a:buNone/>
            </a:pPr>
            <a:r>
              <a:rPr lang="en-US" sz="1320" dirty="0">
                <a:solidFill>
                  <a:srgbClr val="E5E7EB"/>
                </a:solidFill>
                <a:latin typeface="Cascadia Mono" pitchFamily="34" charset="0"/>
                <a:ea typeface="Cascadia Mono" pitchFamily="34" charset="-122"/>
                <a:cs typeface="Cascadia Mono" pitchFamily="34" charset="-120"/>
              </a:rPr>
              <a:t>}</a:t>
            </a:r>
            <a:endParaRPr lang="en-US" sz="1320" dirty="0"/>
          </a:p>
        </p:txBody>
      </p:sp>
      <p:sp>
        <p:nvSpPr>
          <p:cNvPr id="20" name="Text 18"/>
          <p:cNvSpPr/>
          <p:nvPr/>
        </p:nvSpPr>
        <p:spPr>
          <a:xfrm>
            <a:off x="914400" y="5559552"/>
            <a:ext cx="9875520" cy="54864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By the end, students should be able to choose suitable types and write programs that behave differently for different inputs.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Why do we need data types?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 type tells C how much memory to reserve and how to interpret the bits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31520" y="1417320"/>
            <a:ext cx="2286000" cy="301752"/>
          </a:xfrm>
          <a:prstGeom prst="rect">
            <a:avLst/>
          </a:prstGeom>
          <a:solidFill>
            <a:srgbClr val="FFFFFF"/>
          </a:solidFill>
          <a:ln w="16510">
            <a:solidFill>
              <a:srgbClr val="2F80ED"/>
            </a:solidFill>
          </a:ln>
        </p:spPr>
        <p:txBody>
          <a:bodyPr wrap="square" lIns="635" tIns="635" rIns="635" bIns="635" rtlCol="0" anchor="ctr">
            <a:normAutofit/>
          </a:bodyPr>
          <a:lstStyle/>
          <a:p>
            <a:pPr marL="0" indent="0" algn="ctr">
              <a:buNone/>
            </a:pPr>
            <a:r>
              <a:rPr lang="en-US" sz="1550" b="1" dirty="0">
                <a:solidFill>
                  <a:srgbClr val="2F80ED"/>
                </a:solidFill>
                <a:latin typeface="Aptos" pitchFamily="34" charset="0"/>
                <a:ea typeface="Aptos" pitchFamily="34" charset="-122"/>
                <a:cs typeface="Aptos" pitchFamily="34" charset="-120"/>
              </a:rPr>
              <a:t>Student ID</a:t>
            </a:r>
            <a:endParaRPr lang="en-US" sz="1550" dirty="0"/>
          </a:p>
        </p:txBody>
      </p:sp>
      <p:sp>
        <p:nvSpPr>
          <p:cNvPr id="8" name="Text 6"/>
          <p:cNvSpPr/>
          <p:nvPr/>
        </p:nvSpPr>
        <p:spPr>
          <a:xfrm>
            <a:off x="731520" y="1810512"/>
            <a:ext cx="2286000" cy="93268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Whole number</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Example: 20261234</a:t>
            </a:r>
            <a:endParaRPr lang="en-US" sz="1280" dirty="0"/>
          </a:p>
        </p:txBody>
      </p:sp>
      <p:sp>
        <p:nvSpPr>
          <p:cNvPr id="9" name="Text 7"/>
          <p:cNvSpPr/>
          <p:nvPr/>
        </p:nvSpPr>
        <p:spPr>
          <a:xfrm>
            <a:off x="3291840" y="1417320"/>
            <a:ext cx="2286000" cy="301752"/>
          </a:xfrm>
          <a:prstGeom prst="rect">
            <a:avLst/>
          </a:prstGeom>
          <a:solidFill>
            <a:srgbClr val="FFFFFF"/>
          </a:solidFill>
          <a:ln w="16510">
            <a:solidFill>
              <a:srgbClr val="27AE60"/>
            </a:solidFill>
          </a:ln>
        </p:spPr>
        <p:txBody>
          <a:bodyPr wrap="square" lIns="635" tIns="635" rIns="635" bIns="635" rtlCol="0" anchor="ctr">
            <a:normAutofit/>
          </a:bodyPr>
          <a:lstStyle/>
          <a:p>
            <a:pPr marL="0" indent="0" algn="ctr">
              <a:buNone/>
            </a:pPr>
            <a:r>
              <a:rPr lang="en-US" sz="1550" b="1" dirty="0">
                <a:solidFill>
                  <a:srgbClr val="27AE60"/>
                </a:solidFill>
                <a:latin typeface="Aptos" pitchFamily="34" charset="0"/>
                <a:ea typeface="Aptos" pitchFamily="34" charset="-122"/>
                <a:cs typeface="Aptos" pitchFamily="34" charset="-120"/>
              </a:rPr>
              <a:t>GPA</a:t>
            </a:r>
            <a:endParaRPr lang="en-US" sz="1550" dirty="0"/>
          </a:p>
        </p:txBody>
      </p:sp>
      <p:sp>
        <p:nvSpPr>
          <p:cNvPr id="10" name="Text 8"/>
          <p:cNvSpPr/>
          <p:nvPr/>
        </p:nvSpPr>
        <p:spPr>
          <a:xfrm>
            <a:off x="3291840" y="1810512"/>
            <a:ext cx="2286000" cy="93268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Decimal value</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Example: 3.74</a:t>
            </a:r>
            <a:endParaRPr lang="en-US" sz="1280" dirty="0"/>
          </a:p>
        </p:txBody>
      </p:sp>
      <p:sp>
        <p:nvSpPr>
          <p:cNvPr id="11" name="Text 9"/>
          <p:cNvSpPr/>
          <p:nvPr/>
        </p:nvSpPr>
        <p:spPr>
          <a:xfrm>
            <a:off x="5852160" y="1417320"/>
            <a:ext cx="2286000" cy="301752"/>
          </a:xfrm>
          <a:prstGeom prst="rect">
            <a:avLst/>
          </a:prstGeom>
          <a:solidFill>
            <a:srgbClr val="FFFFFF"/>
          </a:solidFill>
          <a:ln w="16510">
            <a:solidFill>
              <a:srgbClr val="F2C94C"/>
            </a:solidFill>
          </a:ln>
        </p:spPr>
        <p:txBody>
          <a:bodyPr wrap="square" lIns="635" tIns="635" rIns="635" bIns="635" rtlCol="0" anchor="ctr">
            <a:normAutofit/>
          </a:bodyPr>
          <a:lstStyle/>
          <a:p>
            <a:pPr marL="0" indent="0" algn="ctr">
              <a:buNone/>
            </a:pPr>
            <a:r>
              <a:rPr lang="en-US" sz="1550" b="1" dirty="0">
                <a:solidFill>
                  <a:srgbClr val="F2C94C"/>
                </a:solidFill>
                <a:latin typeface="Aptos" pitchFamily="34" charset="0"/>
                <a:ea typeface="Aptos" pitchFamily="34" charset="-122"/>
                <a:cs typeface="Aptos" pitchFamily="34" charset="-120"/>
              </a:rPr>
              <a:t>Grade</a:t>
            </a:r>
            <a:endParaRPr lang="en-US" sz="1550" dirty="0"/>
          </a:p>
        </p:txBody>
      </p:sp>
      <p:sp>
        <p:nvSpPr>
          <p:cNvPr id="12" name="Text 10"/>
          <p:cNvSpPr/>
          <p:nvPr/>
        </p:nvSpPr>
        <p:spPr>
          <a:xfrm>
            <a:off x="5852160" y="1810512"/>
            <a:ext cx="2286000" cy="93268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Single symbol</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Example: A</a:t>
            </a:r>
            <a:endParaRPr lang="en-US" sz="1280" dirty="0"/>
          </a:p>
        </p:txBody>
      </p:sp>
      <p:sp>
        <p:nvSpPr>
          <p:cNvPr id="13" name="Text 11"/>
          <p:cNvSpPr/>
          <p:nvPr/>
        </p:nvSpPr>
        <p:spPr>
          <a:xfrm>
            <a:off x="8412480" y="1417320"/>
            <a:ext cx="2286000" cy="301752"/>
          </a:xfrm>
          <a:prstGeom prst="rect">
            <a:avLst/>
          </a:prstGeom>
          <a:solidFill>
            <a:srgbClr val="FFFFFF"/>
          </a:solidFill>
          <a:ln w="16510">
            <a:solidFill>
              <a:srgbClr val="EB5757"/>
            </a:solidFill>
          </a:ln>
        </p:spPr>
        <p:txBody>
          <a:bodyPr wrap="square" lIns="635" tIns="635" rIns="635" bIns="635" rtlCol="0" anchor="ctr">
            <a:normAutofit/>
          </a:bodyPr>
          <a:lstStyle/>
          <a:p>
            <a:pPr marL="0" indent="0" algn="ctr">
              <a:buNone/>
            </a:pPr>
            <a:r>
              <a:rPr lang="en-US" sz="1550" b="1" dirty="0">
                <a:solidFill>
                  <a:srgbClr val="EB5757"/>
                </a:solidFill>
                <a:latin typeface="Aptos" pitchFamily="34" charset="0"/>
                <a:ea typeface="Aptos" pitchFamily="34" charset="-122"/>
                <a:cs typeface="Aptos" pitchFamily="34" charset="-120"/>
              </a:rPr>
              <a:t>Passed?</a:t>
            </a:r>
            <a:endParaRPr lang="en-US" sz="1550" dirty="0"/>
          </a:p>
        </p:txBody>
      </p:sp>
      <p:sp>
        <p:nvSpPr>
          <p:cNvPr id="14" name="Text 12"/>
          <p:cNvSpPr/>
          <p:nvPr/>
        </p:nvSpPr>
        <p:spPr>
          <a:xfrm>
            <a:off x="8412480" y="1810512"/>
            <a:ext cx="2286000" cy="93268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Decision result</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true or false</a:t>
            </a:r>
            <a:endParaRPr lang="en-US" sz="1280" dirty="0"/>
          </a:p>
        </p:txBody>
      </p:sp>
      <p:sp>
        <p:nvSpPr>
          <p:cNvPr id="15" name="Text 13"/>
          <p:cNvSpPr/>
          <p:nvPr/>
        </p:nvSpPr>
        <p:spPr>
          <a:xfrm>
            <a:off x="18288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16" name="Text 14"/>
          <p:cNvSpPr/>
          <p:nvPr/>
        </p:nvSpPr>
        <p:spPr>
          <a:xfrm>
            <a:off x="22860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1</a:t>
            </a:r>
            <a:endParaRPr lang="en-US" sz="1220" dirty="0"/>
          </a:p>
        </p:txBody>
      </p:sp>
      <p:sp>
        <p:nvSpPr>
          <p:cNvPr id="17" name="Text 15"/>
          <p:cNvSpPr/>
          <p:nvPr/>
        </p:nvSpPr>
        <p:spPr>
          <a:xfrm>
            <a:off x="27432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18" name="Text 16"/>
          <p:cNvSpPr/>
          <p:nvPr/>
        </p:nvSpPr>
        <p:spPr>
          <a:xfrm>
            <a:off x="32004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19" name="Text 17"/>
          <p:cNvSpPr/>
          <p:nvPr/>
        </p:nvSpPr>
        <p:spPr>
          <a:xfrm>
            <a:off x="36576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20" name="Text 18"/>
          <p:cNvSpPr/>
          <p:nvPr/>
        </p:nvSpPr>
        <p:spPr>
          <a:xfrm>
            <a:off x="41148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21" name="Text 19"/>
          <p:cNvSpPr/>
          <p:nvPr/>
        </p:nvSpPr>
        <p:spPr>
          <a:xfrm>
            <a:off x="45720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0</a:t>
            </a:r>
            <a:endParaRPr lang="en-US" sz="1220" dirty="0"/>
          </a:p>
        </p:txBody>
      </p:sp>
      <p:sp>
        <p:nvSpPr>
          <p:cNvPr id="22" name="Text 20"/>
          <p:cNvSpPr/>
          <p:nvPr/>
        </p:nvSpPr>
        <p:spPr>
          <a:xfrm>
            <a:off x="5029200" y="3794760"/>
            <a:ext cx="411480" cy="347472"/>
          </a:xfrm>
          <a:prstGeom prst="rect">
            <a:avLst/>
          </a:prstGeom>
          <a:solidFill>
            <a:srgbClr val="1B365D"/>
          </a:solidFill>
          <a:ln>
            <a:solidFill>
              <a:srgbClr val="1B365D"/>
            </a:solidFill>
          </a:ln>
        </p:spPr>
        <p:txBody>
          <a:bodyPr wrap="square" lIns="254" tIns="254" rIns="254" bIns="254" rtlCol="0" anchor="ctr">
            <a:normAutofit/>
          </a:bodyPr>
          <a:lstStyle/>
          <a:p>
            <a:pPr marL="0" indent="0" algn="ctr">
              <a:buNone/>
            </a:pPr>
            <a:r>
              <a:rPr lang="en-US" sz="1220" b="1" dirty="0">
                <a:solidFill>
                  <a:srgbClr val="FFFFFF"/>
                </a:solidFill>
                <a:latin typeface="Aptos" pitchFamily="34" charset="0"/>
                <a:ea typeface="Aptos" pitchFamily="34" charset="-122"/>
                <a:cs typeface="Aptos" pitchFamily="34" charset="-120"/>
              </a:rPr>
              <a:t>1</a:t>
            </a:r>
            <a:endParaRPr lang="en-US" sz="1220" dirty="0"/>
          </a:p>
        </p:txBody>
      </p:sp>
      <p:sp>
        <p:nvSpPr>
          <p:cNvPr id="23" name="Shape 21"/>
          <p:cNvSpPr/>
          <p:nvPr/>
        </p:nvSpPr>
        <p:spPr>
          <a:xfrm>
            <a:off x="5623560" y="3968496"/>
            <a:ext cx="960120" cy="0"/>
          </a:xfrm>
          <a:prstGeom prst="line">
            <a:avLst/>
          </a:prstGeom>
          <a:noFill/>
          <a:ln w="17780">
            <a:solidFill>
              <a:srgbClr val="2F80ED"/>
            </a:solidFill>
            <a:prstDash val="solid"/>
            <a:tailEnd type="triangle"/>
          </a:ln>
        </p:spPr>
      </p:sp>
      <p:sp>
        <p:nvSpPr>
          <p:cNvPr id="24" name="Text 22"/>
          <p:cNvSpPr/>
          <p:nvPr/>
        </p:nvSpPr>
        <p:spPr>
          <a:xfrm>
            <a:off x="6720840" y="3474720"/>
            <a:ext cx="4069080" cy="91440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The same bits can mean a number, a character, or something else. The type gives the meaning.</a:t>
            </a:r>
            <a:endParaRPr lang="en-US" sz="1350" dirty="0"/>
          </a:p>
        </p:txBody>
      </p:sp>
      <p:sp>
        <p:nvSpPr>
          <p:cNvPr id="25" name="Text 23"/>
          <p:cNvSpPr/>
          <p:nvPr/>
        </p:nvSpPr>
        <p:spPr>
          <a:xfrm>
            <a:off x="914400" y="5394960"/>
            <a:ext cx="982980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Guiding question: What type would you use for a student’s age, tuition amount, and final letter grade?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Core C data types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These are enough for almost all beginner programs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298448"/>
            <a:ext cx="1097280" cy="274320"/>
          </a:xfrm>
          <a:prstGeom prst="rect">
            <a:avLst/>
          </a:prstGeom>
          <a:noFill/>
          <a:ln/>
        </p:spPr>
        <p:txBody>
          <a:bodyPr wrap="square" lIns="635" tIns="635" rIns="635" bIns="635" rtlCol="0" anchor="ctr">
            <a:normAutofit/>
          </a:bodyPr>
          <a:lstStyle/>
          <a:p>
            <a:pPr marL="0" indent="0" algn="l">
              <a:buNone/>
            </a:pPr>
            <a:r>
              <a:rPr lang="en-US" sz="1300" b="1" dirty="0">
                <a:solidFill>
                  <a:srgbClr val="1B365D"/>
                </a:solidFill>
                <a:latin typeface="Aptos" pitchFamily="34" charset="0"/>
                <a:ea typeface="Aptos" pitchFamily="34" charset="-122"/>
                <a:cs typeface="Aptos" pitchFamily="34" charset="-120"/>
              </a:rPr>
              <a:t>Type</a:t>
            </a:r>
            <a:endParaRPr lang="en-US" sz="1300" dirty="0"/>
          </a:p>
        </p:txBody>
      </p:sp>
      <p:sp>
        <p:nvSpPr>
          <p:cNvPr id="8" name="Text 6"/>
          <p:cNvSpPr/>
          <p:nvPr/>
        </p:nvSpPr>
        <p:spPr>
          <a:xfrm>
            <a:off x="2011680" y="1298448"/>
            <a:ext cx="2377440" cy="274320"/>
          </a:xfrm>
          <a:prstGeom prst="rect">
            <a:avLst/>
          </a:prstGeom>
          <a:noFill/>
          <a:ln/>
        </p:spPr>
        <p:txBody>
          <a:bodyPr wrap="square" lIns="635" tIns="635" rIns="635" bIns="635" rtlCol="0" anchor="ctr">
            <a:normAutofit/>
          </a:bodyPr>
          <a:lstStyle/>
          <a:p>
            <a:pPr marL="0" indent="0" algn="l">
              <a:buNone/>
            </a:pPr>
            <a:r>
              <a:rPr lang="en-US" sz="1300" b="1" dirty="0">
                <a:solidFill>
                  <a:srgbClr val="1B365D"/>
                </a:solidFill>
                <a:latin typeface="Aptos" pitchFamily="34" charset="0"/>
                <a:ea typeface="Aptos" pitchFamily="34" charset="-122"/>
                <a:cs typeface="Aptos" pitchFamily="34" charset="-120"/>
              </a:rPr>
              <a:t>Use when...</a:t>
            </a:r>
            <a:endParaRPr lang="en-US" sz="1300" dirty="0"/>
          </a:p>
        </p:txBody>
      </p:sp>
      <p:sp>
        <p:nvSpPr>
          <p:cNvPr id="9" name="Text 7"/>
          <p:cNvSpPr/>
          <p:nvPr/>
        </p:nvSpPr>
        <p:spPr>
          <a:xfrm>
            <a:off x="4572000" y="1298448"/>
            <a:ext cx="2834640" cy="274320"/>
          </a:xfrm>
          <a:prstGeom prst="rect">
            <a:avLst/>
          </a:prstGeom>
          <a:noFill/>
          <a:ln/>
        </p:spPr>
        <p:txBody>
          <a:bodyPr wrap="square" lIns="635" tIns="635" rIns="635" bIns="635" rtlCol="0" anchor="ctr">
            <a:normAutofit/>
          </a:bodyPr>
          <a:lstStyle/>
          <a:p>
            <a:pPr marL="0" indent="0" algn="l">
              <a:buNone/>
            </a:pPr>
            <a:r>
              <a:rPr lang="en-US" sz="1300" b="1" dirty="0">
                <a:solidFill>
                  <a:srgbClr val="1B365D"/>
                </a:solidFill>
                <a:latin typeface="Aptos" pitchFamily="34" charset="0"/>
                <a:ea typeface="Aptos" pitchFamily="34" charset="-122"/>
                <a:cs typeface="Aptos" pitchFamily="34" charset="-120"/>
              </a:rPr>
              <a:t>Example</a:t>
            </a:r>
            <a:endParaRPr lang="en-US" sz="1300" dirty="0"/>
          </a:p>
        </p:txBody>
      </p:sp>
      <p:sp>
        <p:nvSpPr>
          <p:cNvPr id="10" name="Text 8"/>
          <p:cNvSpPr/>
          <p:nvPr/>
        </p:nvSpPr>
        <p:spPr>
          <a:xfrm>
            <a:off x="8138160" y="1298448"/>
            <a:ext cx="2194560" cy="274320"/>
          </a:xfrm>
          <a:prstGeom prst="rect">
            <a:avLst/>
          </a:prstGeom>
          <a:noFill/>
          <a:ln/>
        </p:spPr>
        <p:txBody>
          <a:bodyPr wrap="square" lIns="635" tIns="635" rIns="635" bIns="635" rtlCol="0" anchor="ctr">
            <a:normAutofit/>
          </a:bodyPr>
          <a:lstStyle/>
          <a:p>
            <a:pPr marL="0" indent="0" algn="l">
              <a:buNone/>
            </a:pPr>
            <a:r>
              <a:rPr lang="en-US" sz="1300" b="1" dirty="0">
                <a:solidFill>
                  <a:srgbClr val="1B365D"/>
                </a:solidFill>
                <a:latin typeface="Aptos" pitchFamily="34" charset="0"/>
                <a:ea typeface="Aptos" pitchFamily="34" charset="-122"/>
                <a:cs typeface="Aptos" pitchFamily="34" charset="-120"/>
              </a:rPr>
              <a:t>Format</a:t>
            </a:r>
            <a:endParaRPr lang="en-US" sz="1300" dirty="0"/>
          </a:p>
        </p:txBody>
      </p:sp>
      <p:sp>
        <p:nvSpPr>
          <p:cNvPr id="11" name="Text 9"/>
          <p:cNvSpPr/>
          <p:nvPr/>
        </p:nvSpPr>
        <p:spPr>
          <a:xfrm>
            <a:off x="777240" y="1691640"/>
            <a:ext cx="100584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20" dirty="0">
                <a:solidFill>
                  <a:srgbClr val="E5E7EB"/>
                </a:solidFill>
                <a:latin typeface="Cascadia Mono" pitchFamily="34" charset="0"/>
                <a:ea typeface="Cascadia Mono" pitchFamily="34" charset="-122"/>
                <a:cs typeface="Cascadia Mono" pitchFamily="34" charset="-120"/>
              </a:rPr>
              <a:t>int</a:t>
            </a:r>
            <a:endParaRPr lang="en-US" sz="1220" dirty="0"/>
          </a:p>
        </p:txBody>
      </p:sp>
      <p:sp>
        <p:nvSpPr>
          <p:cNvPr id="12" name="Text 10"/>
          <p:cNvSpPr/>
          <p:nvPr/>
        </p:nvSpPr>
        <p:spPr>
          <a:xfrm>
            <a:off x="2011680" y="1719072"/>
            <a:ext cx="23774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Whole numbers</a:t>
            </a:r>
            <a:endParaRPr lang="en-US" sz="1320" dirty="0"/>
          </a:p>
        </p:txBody>
      </p:sp>
      <p:sp>
        <p:nvSpPr>
          <p:cNvPr id="13" name="Text 11"/>
          <p:cNvSpPr/>
          <p:nvPr/>
        </p:nvSpPr>
        <p:spPr>
          <a:xfrm>
            <a:off x="4572000" y="1719072"/>
            <a:ext cx="30632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credits, quantity, age</a:t>
            </a:r>
            <a:endParaRPr lang="en-US" sz="1320" dirty="0"/>
          </a:p>
        </p:txBody>
      </p:sp>
      <p:sp>
        <p:nvSpPr>
          <p:cNvPr id="14" name="Text 12"/>
          <p:cNvSpPr/>
          <p:nvPr/>
        </p:nvSpPr>
        <p:spPr>
          <a:xfrm>
            <a:off x="8138160" y="1691640"/>
            <a:ext cx="228600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dirty="0">
                <a:solidFill>
                  <a:srgbClr val="E5E7EB"/>
                </a:solidFill>
                <a:latin typeface="Cascadia Mono" pitchFamily="34" charset="0"/>
                <a:ea typeface="Cascadia Mono" pitchFamily="34" charset="-122"/>
                <a:cs typeface="Cascadia Mono" pitchFamily="34" charset="-120"/>
              </a:rPr>
              <a:t>%d</a:t>
            </a:r>
            <a:endParaRPr lang="en-US" sz="1030" dirty="0"/>
          </a:p>
        </p:txBody>
      </p:sp>
      <p:sp>
        <p:nvSpPr>
          <p:cNvPr id="15" name="Text 13"/>
          <p:cNvSpPr/>
          <p:nvPr/>
        </p:nvSpPr>
        <p:spPr>
          <a:xfrm>
            <a:off x="777240" y="2404872"/>
            <a:ext cx="100584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20" dirty="0">
                <a:solidFill>
                  <a:srgbClr val="E5E7EB"/>
                </a:solidFill>
                <a:latin typeface="Cascadia Mono" pitchFamily="34" charset="0"/>
                <a:ea typeface="Cascadia Mono" pitchFamily="34" charset="-122"/>
                <a:cs typeface="Cascadia Mono" pitchFamily="34" charset="-120"/>
              </a:rPr>
              <a:t>float</a:t>
            </a:r>
            <a:endParaRPr lang="en-US" sz="1220" dirty="0"/>
          </a:p>
        </p:txBody>
      </p:sp>
      <p:sp>
        <p:nvSpPr>
          <p:cNvPr id="16" name="Text 14"/>
          <p:cNvSpPr/>
          <p:nvPr/>
        </p:nvSpPr>
        <p:spPr>
          <a:xfrm>
            <a:off x="2011680" y="2432304"/>
            <a:ext cx="23774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Decimal, lower precision</a:t>
            </a:r>
            <a:endParaRPr lang="en-US" sz="1320" dirty="0"/>
          </a:p>
        </p:txBody>
      </p:sp>
      <p:sp>
        <p:nvSpPr>
          <p:cNvPr id="17" name="Text 15"/>
          <p:cNvSpPr/>
          <p:nvPr/>
        </p:nvSpPr>
        <p:spPr>
          <a:xfrm>
            <a:off x="4572000" y="2432304"/>
            <a:ext cx="30632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simple measurements</a:t>
            </a:r>
            <a:endParaRPr lang="en-US" sz="1320" dirty="0"/>
          </a:p>
        </p:txBody>
      </p:sp>
      <p:sp>
        <p:nvSpPr>
          <p:cNvPr id="18" name="Text 16"/>
          <p:cNvSpPr/>
          <p:nvPr/>
        </p:nvSpPr>
        <p:spPr>
          <a:xfrm>
            <a:off x="8138160" y="2404872"/>
            <a:ext cx="228600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dirty="0">
                <a:solidFill>
                  <a:srgbClr val="E5E7EB"/>
                </a:solidFill>
                <a:latin typeface="Cascadia Mono" pitchFamily="34" charset="0"/>
                <a:ea typeface="Cascadia Mono" pitchFamily="34" charset="-122"/>
                <a:cs typeface="Cascadia Mono" pitchFamily="34" charset="-120"/>
              </a:rPr>
              <a:t>%f</a:t>
            </a:r>
            <a:endParaRPr lang="en-US" sz="1030" dirty="0"/>
          </a:p>
        </p:txBody>
      </p:sp>
      <p:sp>
        <p:nvSpPr>
          <p:cNvPr id="19" name="Text 17"/>
          <p:cNvSpPr/>
          <p:nvPr/>
        </p:nvSpPr>
        <p:spPr>
          <a:xfrm>
            <a:off x="777240" y="3118104"/>
            <a:ext cx="100584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20" dirty="0">
                <a:solidFill>
                  <a:srgbClr val="E5E7EB"/>
                </a:solidFill>
                <a:latin typeface="Cascadia Mono" pitchFamily="34" charset="0"/>
                <a:ea typeface="Cascadia Mono" pitchFamily="34" charset="-122"/>
                <a:cs typeface="Cascadia Mono" pitchFamily="34" charset="-120"/>
              </a:rPr>
              <a:t>double</a:t>
            </a:r>
            <a:endParaRPr lang="en-US" sz="1220" dirty="0"/>
          </a:p>
        </p:txBody>
      </p:sp>
      <p:sp>
        <p:nvSpPr>
          <p:cNvPr id="20" name="Text 18"/>
          <p:cNvSpPr/>
          <p:nvPr/>
        </p:nvSpPr>
        <p:spPr>
          <a:xfrm>
            <a:off x="2011680" y="3145536"/>
            <a:ext cx="23774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Decimal, better precision</a:t>
            </a:r>
            <a:endParaRPr lang="en-US" sz="1320" dirty="0"/>
          </a:p>
        </p:txBody>
      </p:sp>
      <p:sp>
        <p:nvSpPr>
          <p:cNvPr id="21" name="Text 19"/>
          <p:cNvSpPr/>
          <p:nvPr/>
        </p:nvSpPr>
        <p:spPr>
          <a:xfrm>
            <a:off x="4572000" y="3145536"/>
            <a:ext cx="30632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money-ish values, physics, GPA</a:t>
            </a:r>
            <a:endParaRPr lang="en-US" sz="1320" dirty="0"/>
          </a:p>
        </p:txBody>
      </p:sp>
      <p:sp>
        <p:nvSpPr>
          <p:cNvPr id="22" name="Text 20"/>
          <p:cNvSpPr/>
          <p:nvPr/>
        </p:nvSpPr>
        <p:spPr>
          <a:xfrm>
            <a:off x="8138160" y="3118104"/>
            <a:ext cx="228600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dirty="0">
                <a:solidFill>
                  <a:srgbClr val="E5E7EB"/>
                </a:solidFill>
                <a:latin typeface="Cascadia Mono" pitchFamily="34" charset="0"/>
                <a:ea typeface="Cascadia Mono" pitchFamily="34" charset="-122"/>
                <a:cs typeface="Cascadia Mono" pitchFamily="34" charset="-120"/>
              </a:rPr>
              <a:t>%lf in scanf / %f in printf</a:t>
            </a:r>
            <a:endParaRPr lang="en-US" sz="1030" dirty="0"/>
          </a:p>
        </p:txBody>
      </p:sp>
      <p:sp>
        <p:nvSpPr>
          <p:cNvPr id="23" name="Text 21"/>
          <p:cNvSpPr/>
          <p:nvPr/>
        </p:nvSpPr>
        <p:spPr>
          <a:xfrm>
            <a:off x="777240" y="3831336"/>
            <a:ext cx="100584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20" dirty="0">
                <a:solidFill>
                  <a:srgbClr val="E5E7EB"/>
                </a:solidFill>
                <a:latin typeface="Cascadia Mono" pitchFamily="34" charset="0"/>
                <a:ea typeface="Cascadia Mono" pitchFamily="34" charset="-122"/>
                <a:cs typeface="Cascadia Mono" pitchFamily="34" charset="-120"/>
              </a:rPr>
              <a:t>char</a:t>
            </a:r>
            <a:endParaRPr lang="en-US" sz="1220" dirty="0"/>
          </a:p>
        </p:txBody>
      </p:sp>
      <p:sp>
        <p:nvSpPr>
          <p:cNvPr id="24" name="Text 22"/>
          <p:cNvSpPr/>
          <p:nvPr/>
        </p:nvSpPr>
        <p:spPr>
          <a:xfrm>
            <a:off x="2011680" y="3858768"/>
            <a:ext cx="23774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One character</a:t>
            </a:r>
            <a:endParaRPr lang="en-US" sz="1320" dirty="0"/>
          </a:p>
        </p:txBody>
      </p:sp>
      <p:sp>
        <p:nvSpPr>
          <p:cNvPr id="25" name="Text 23"/>
          <p:cNvSpPr/>
          <p:nvPr/>
        </p:nvSpPr>
        <p:spPr>
          <a:xfrm>
            <a:off x="4572000" y="3858768"/>
            <a:ext cx="3063240" cy="256032"/>
          </a:xfrm>
          <a:prstGeom prst="rect">
            <a:avLst/>
          </a:prstGeom>
          <a:noFill/>
          <a:ln/>
        </p:spPr>
        <p:txBody>
          <a:bodyPr wrap="square" lIns="635" tIns="635" rIns="635" bIns="635"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grade, menu option</a:t>
            </a:r>
            <a:endParaRPr lang="en-US" sz="1320" dirty="0"/>
          </a:p>
        </p:txBody>
      </p:sp>
      <p:sp>
        <p:nvSpPr>
          <p:cNvPr id="26" name="Text 24"/>
          <p:cNvSpPr/>
          <p:nvPr/>
        </p:nvSpPr>
        <p:spPr>
          <a:xfrm>
            <a:off x="8138160" y="3831336"/>
            <a:ext cx="2286000" cy="34747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30" dirty="0">
                <a:solidFill>
                  <a:srgbClr val="E5E7EB"/>
                </a:solidFill>
                <a:latin typeface="Cascadia Mono" pitchFamily="34" charset="0"/>
                <a:ea typeface="Cascadia Mono" pitchFamily="34" charset="-122"/>
                <a:cs typeface="Cascadia Mono" pitchFamily="34" charset="-120"/>
              </a:rPr>
              <a:t>%c</a:t>
            </a:r>
            <a:endParaRPr lang="en-US" sz="1030" dirty="0"/>
          </a:p>
        </p:txBody>
      </p:sp>
      <p:sp>
        <p:nvSpPr>
          <p:cNvPr id="27" name="Text 25"/>
          <p:cNvSpPr/>
          <p:nvPr/>
        </p:nvSpPr>
        <p:spPr>
          <a:xfrm>
            <a:off x="914400" y="5074920"/>
            <a:ext cx="5120640" cy="62179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Practical rule: use int for counts, double for decimal calculations, char for one symbol.</a:t>
            </a:r>
            <a:endParaRPr lang="en-US" sz="1350" dirty="0"/>
          </a:p>
        </p:txBody>
      </p:sp>
      <p:sp>
        <p:nvSpPr>
          <p:cNvPr id="28" name="Text 26"/>
          <p:cNvSpPr/>
          <p:nvPr/>
        </p:nvSpPr>
        <p:spPr>
          <a:xfrm>
            <a:off x="6400800" y="5074920"/>
            <a:ext cx="4480560" cy="621792"/>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Do not use float just because the number has a decimal. double is usually the safer default in this course.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Declaring and initializing variables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 variable should have a type, a name, and usually a clear initial value</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25880"/>
            <a:ext cx="5212080" cy="219456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00" dirty="0">
                <a:solidFill>
                  <a:srgbClr val="E5E7EB"/>
                </a:solidFill>
                <a:latin typeface="Cascadia Mono" pitchFamily="34" charset="0"/>
                <a:ea typeface="Cascadia Mono" pitchFamily="34" charset="-122"/>
                <a:cs typeface="Cascadia Mono" pitchFamily="34" charset="-120"/>
              </a:rPr>
              <a:t>int students = 35;</a:t>
            </a: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double price = 4.50;</a:t>
            </a: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char section = 'B';</a:t>
            </a:r>
            <a:endParaRPr lang="en-US" sz="1500" dirty="0"/>
          </a:p>
          <a:p>
            <a:pPr marL="0" indent="0" algn="l">
              <a:buNone/>
            </a:pP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int count;        // declared, not initialized</a:t>
            </a: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count = 10;       // assigned later</a:t>
            </a:r>
            <a:endParaRPr lang="en-US" sz="1500" dirty="0"/>
          </a:p>
        </p:txBody>
      </p:sp>
      <p:sp>
        <p:nvSpPr>
          <p:cNvPr id="8" name="Text 6"/>
          <p:cNvSpPr/>
          <p:nvPr/>
        </p:nvSpPr>
        <p:spPr>
          <a:xfrm>
            <a:off x="6446520" y="1417320"/>
            <a:ext cx="4160520" cy="53035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Declaration creates the variable.</a:t>
            </a:r>
            <a:endParaRPr lang="en-US" sz="1350" dirty="0"/>
          </a:p>
        </p:txBody>
      </p:sp>
      <p:sp>
        <p:nvSpPr>
          <p:cNvPr id="9" name="Text 7"/>
          <p:cNvSpPr/>
          <p:nvPr/>
        </p:nvSpPr>
        <p:spPr>
          <a:xfrm>
            <a:off x="6446520" y="2176272"/>
            <a:ext cx="416052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Initialization creates it and immediately stores the first value.</a:t>
            </a:r>
            <a:endParaRPr lang="en-US" sz="1350" dirty="0"/>
          </a:p>
        </p:txBody>
      </p:sp>
      <p:sp>
        <p:nvSpPr>
          <p:cNvPr id="10" name="Text 8"/>
          <p:cNvSpPr/>
          <p:nvPr/>
        </p:nvSpPr>
        <p:spPr>
          <a:xfrm>
            <a:off x="6446520" y="2935224"/>
            <a:ext cx="4160520" cy="64008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Uninitialized local variables contain garbage. Do not read them before assigning a value.</a:t>
            </a:r>
            <a:endParaRPr lang="en-US" sz="1350" dirty="0"/>
          </a:p>
        </p:txBody>
      </p:sp>
      <p:sp>
        <p:nvSpPr>
          <p:cNvPr id="11" name="Text 9"/>
          <p:cNvSpPr/>
          <p:nvPr/>
        </p:nvSpPr>
        <p:spPr>
          <a:xfrm>
            <a:off x="960120" y="4434840"/>
            <a:ext cx="4206240" cy="68580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00" dirty="0">
                <a:solidFill>
                  <a:srgbClr val="E5E7EB"/>
                </a:solidFill>
                <a:latin typeface="Cascadia Mono" pitchFamily="34" charset="0"/>
                <a:ea typeface="Cascadia Mono" pitchFamily="34" charset="-122"/>
                <a:cs typeface="Cascadia Mono" pitchFamily="34" charset="-120"/>
              </a:rPr>
              <a:t>int x;</a:t>
            </a: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printf("%d", x); // bad habit</a:t>
            </a:r>
            <a:endParaRPr lang="en-US" sz="1500" dirty="0"/>
          </a:p>
        </p:txBody>
      </p:sp>
      <p:sp>
        <p:nvSpPr>
          <p:cNvPr id="12" name="Text 10"/>
          <p:cNvSpPr/>
          <p:nvPr/>
        </p:nvSpPr>
        <p:spPr>
          <a:xfrm>
            <a:off x="6263640" y="4389120"/>
            <a:ext cx="4389120" cy="594360"/>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Which variables above are safe to print immediately?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Integer division: the first serious trap</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When both operands are int, C gives an int result</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71600"/>
            <a:ext cx="5120640" cy="17830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600" dirty="0">
                <a:solidFill>
                  <a:srgbClr val="E5E7EB"/>
                </a:solidFill>
                <a:latin typeface="Cascadia Mono" pitchFamily="34" charset="0"/>
                <a:ea typeface="Cascadia Mono" pitchFamily="34" charset="-122"/>
                <a:cs typeface="Cascadia Mono" pitchFamily="34" charset="-120"/>
              </a:rPr>
              <a:t>int total = 7;</a:t>
            </a:r>
            <a:endParaRPr lang="en-US" sz="1600" dirty="0"/>
          </a:p>
          <a:p>
            <a:pPr marL="0" indent="0" algn="l">
              <a:buNone/>
            </a:pPr>
            <a:r>
              <a:rPr lang="en-US" sz="1600" dirty="0">
                <a:solidFill>
                  <a:srgbClr val="E5E7EB"/>
                </a:solidFill>
                <a:latin typeface="Cascadia Mono" pitchFamily="34" charset="0"/>
                <a:ea typeface="Cascadia Mono" pitchFamily="34" charset="-122"/>
                <a:cs typeface="Cascadia Mono" pitchFamily="34" charset="-120"/>
              </a:rPr>
              <a:t>int people = 2;</a:t>
            </a:r>
            <a:endParaRPr lang="en-US" sz="1600" dirty="0"/>
          </a:p>
          <a:p>
            <a:pPr marL="0" indent="0" algn="l">
              <a:buNone/>
            </a:pPr>
            <a:endParaRPr lang="en-US" sz="1600" dirty="0"/>
          </a:p>
          <a:p>
            <a:pPr marL="0" indent="0" algn="l">
              <a:buNone/>
            </a:pPr>
            <a:r>
              <a:rPr lang="en-US" sz="1600" dirty="0">
                <a:solidFill>
                  <a:srgbClr val="E5E7EB"/>
                </a:solidFill>
                <a:latin typeface="Cascadia Mono" pitchFamily="34" charset="0"/>
                <a:ea typeface="Cascadia Mono" pitchFamily="34" charset="-122"/>
                <a:cs typeface="Cascadia Mono" pitchFamily="34" charset="-120"/>
              </a:rPr>
              <a:t>printf("%d", total / people);   // 3</a:t>
            </a:r>
            <a:endParaRPr lang="en-US" sz="1600" dirty="0"/>
          </a:p>
          <a:p>
            <a:pPr marL="0" indent="0" algn="l">
              <a:buNone/>
            </a:pPr>
            <a:r>
              <a:rPr lang="en-US" sz="1600" dirty="0">
                <a:solidFill>
                  <a:srgbClr val="E5E7EB"/>
                </a:solidFill>
                <a:latin typeface="Cascadia Mono" pitchFamily="34" charset="0"/>
                <a:ea typeface="Cascadia Mono" pitchFamily="34" charset="-122"/>
                <a:cs typeface="Cascadia Mono" pitchFamily="34" charset="-120"/>
              </a:rPr>
              <a:t>printf("%d", total % people);   // 1</a:t>
            </a:r>
            <a:endParaRPr lang="en-US" sz="1600" dirty="0"/>
          </a:p>
        </p:txBody>
      </p:sp>
      <p:sp>
        <p:nvSpPr>
          <p:cNvPr id="8" name="Text 6"/>
          <p:cNvSpPr/>
          <p:nvPr/>
        </p:nvSpPr>
        <p:spPr>
          <a:xfrm>
            <a:off x="6492240" y="1417320"/>
            <a:ext cx="1188720" cy="365760"/>
          </a:xfrm>
          <a:prstGeom prst="rect">
            <a:avLst/>
          </a:prstGeom>
          <a:noFill/>
          <a:ln/>
        </p:spPr>
        <p:txBody>
          <a:bodyPr wrap="square" lIns="635" tIns="635" rIns="635" bIns="635" rtlCol="0" anchor="ctr">
            <a:normAutofit/>
          </a:bodyPr>
          <a:lstStyle/>
          <a:p>
            <a:pPr marL="0" indent="0" algn="ctr">
              <a:buNone/>
            </a:pPr>
            <a:r>
              <a:rPr lang="en-US" sz="2200" b="1" dirty="0">
                <a:solidFill>
                  <a:srgbClr val="1B365D"/>
                </a:solidFill>
                <a:latin typeface="Aptos" pitchFamily="34" charset="0"/>
                <a:ea typeface="Aptos" pitchFamily="34" charset="-122"/>
                <a:cs typeface="Aptos" pitchFamily="34" charset="-120"/>
              </a:rPr>
              <a:t>7 ÷ 2</a:t>
            </a:r>
            <a:endParaRPr lang="en-US" sz="2200" dirty="0"/>
          </a:p>
        </p:txBody>
      </p:sp>
      <p:sp>
        <p:nvSpPr>
          <p:cNvPr id="9" name="Shape 7"/>
          <p:cNvSpPr/>
          <p:nvPr/>
        </p:nvSpPr>
        <p:spPr>
          <a:xfrm>
            <a:off x="7818120" y="1618488"/>
            <a:ext cx="1097280" cy="0"/>
          </a:xfrm>
          <a:prstGeom prst="line">
            <a:avLst/>
          </a:prstGeom>
          <a:noFill/>
          <a:ln w="17780">
            <a:solidFill>
              <a:srgbClr val="2F80ED"/>
            </a:solidFill>
            <a:prstDash val="solid"/>
            <a:tailEnd type="triangle"/>
          </a:ln>
        </p:spPr>
      </p:sp>
      <p:sp>
        <p:nvSpPr>
          <p:cNvPr id="10" name="Text 8"/>
          <p:cNvSpPr/>
          <p:nvPr/>
        </p:nvSpPr>
        <p:spPr>
          <a:xfrm>
            <a:off x="9052560" y="1417320"/>
            <a:ext cx="2011680" cy="365760"/>
          </a:xfrm>
          <a:prstGeom prst="rect">
            <a:avLst/>
          </a:prstGeom>
          <a:noFill/>
          <a:ln/>
        </p:spPr>
        <p:txBody>
          <a:bodyPr wrap="square" lIns="635" tIns="635" rIns="635" bIns="635" rtlCol="0" anchor="ctr">
            <a:normAutofit/>
          </a:bodyPr>
          <a:lstStyle/>
          <a:p>
            <a:pPr marL="0" indent="0" algn="ctr">
              <a:buNone/>
            </a:pPr>
            <a:r>
              <a:rPr lang="en-US" sz="2000" b="1" dirty="0">
                <a:solidFill>
                  <a:srgbClr val="27AE60"/>
                </a:solidFill>
                <a:latin typeface="Aptos" pitchFamily="34" charset="0"/>
                <a:ea typeface="Aptos" pitchFamily="34" charset="-122"/>
                <a:cs typeface="Aptos" pitchFamily="34" charset="-120"/>
              </a:rPr>
              <a:t>3 remainder 1</a:t>
            </a:r>
            <a:endParaRPr lang="en-US" sz="2000" dirty="0"/>
          </a:p>
        </p:txBody>
      </p:sp>
      <p:sp>
        <p:nvSpPr>
          <p:cNvPr id="11" name="Text 9"/>
          <p:cNvSpPr/>
          <p:nvPr/>
        </p:nvSpPr>
        <p:spPr>
          <a:xfrm>
            <a:off x="6492240" y="2423160"/>
            <a:ext cx="4251960" cy="59436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Integer division removes the fractional part. It does not round.</a:t>
            </a:r>
            <a:endParaRPr lang="en-US" sz="1350" dirty="0"/>
          </a:p>
        </p:txBody>
      </p:sp>
      <p:sp>
        <p:nvSpPr>
          <p:cNvPr id="12" name="Text 10"/>
          <p:cNvSpPr/>
          <p:nvPr/>
        </p:nvSpPr>
        <p:spPr>
          <a:xfrm>
            <a:off x="6492240" y="3246120"/>
            <a:ext cx="4251960" cy="73152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Modulo (%) gives the remainder. Useful for even/odd, cycles, clocks, and grouping.</a:t>
            </a:r>
            <a:endParaRPr lang="en-US" sz="1350" dirty="0"/>
          </a:p>
        </p:txBody>
      </p:sp>
      <p:sp>
        <p:nvSpPr>
          <p:cNvPr id="13" name="Text 11"/>
          <p:cNvSpPr/>
          <p:nvPr/>
        </p:nvSpPr>
        <p:spPr>
          <a:xfrm>
            <a:off x="960120" y="4251960"/>
            <a:ext cx="5852160" cy="65836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50" dirty="0">
                <a:solidFill>
                  <a:srgbClr val="E5E7EB"/>
                </a:solidFill>
                <a:latin typeface="Cascadia Mono" pitchFamily="34" charset="0"/>
                <a:ea typeface="Cascadia Mono" pitchFamily="34" charset="-122"/>
                <a:cs typeface="Cascadia Mono" pitchFamily="34" charset="-120"/>
              </a:rPr>
              <a:t>int minutes = 130;</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printf("%d h %d min", minutes / 60, minutes % 60);</a:t>
            </a:r>
            <a:endParaRPr lang="en-US" sz="1450" dirty="0"/>
          </a:p>
        </p:txBody>
      </p:sp>
      <p:sp>
        <p:nvSpPr>
          <p:cNvPr id="14" name="Text 12"/>
          <p:cNvSpPr/>
          <p:nvPr/>
        </p:nvSpPr>
        <p:spPr>
          <a:xfrm>
            <a:off x="7315200" y="4251960"/>
            <a:ext cx="3337560" cy="658368"/>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Predict: What prints for 130 minutes?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Type conversion</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C sometimes converts values automatically, but we must know when precision is lost</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298448"/>
            <a:ext cx="5212080" cy="251460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50" dirty="0">
                <a:solidFill>
                  <a:srgbClr val="E5E7EB"/>
                </a:solidFill>
                <a:latin typeface="Cascadia Mono" pitchFamily="34" charset="0"/>
                <a:ea typeface="Cascadia Mono" pitchFamily="34" charset="-122"/>
                <a:cs typeface="Cascadia Mono" pitchFamily="34" charset="-120"/>
              </a:rPr>
              <a:t>int a = 7;</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int b = 2;</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double result1 = a / b;</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double result2 = (double)a / b;</a:t>
            </a:r>
            <a:endParaRPr lang="en-US" sz="1450" dirty="0"/>
          </a:p>
          <a:p>
            <a:pPr marL="0" indent="0" algn="l">
              <a:buNone/>
            </a:pP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printf("%.2f\n", result1);</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printf("%.2f\n", result2);</a:t>
            </a:r>
            <a:endParaRPr lang="en-US" sz="1450" dirty="0"/>
          </a:p>
        </p:txBody>
      </p:sp>
      <p:sp>
        <p:nvSpPr>
          <p:cNvPr id="8" name="Text 6"/>
          <p:cNvSpPr/>
          <p:nvPr/>
        </p:nvSpPr>
        <p:spPr>
          <a:xfrm>
            <a:off x="6400800" y="1417320"/>
            <a:ext cx="4389120" cy="68580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result1 is 3.00 because a / b happens as integer division first.</a:t>
            </a:r>
            <a:endParaRPr lang="en-US" sz="1350" dirty="0"/>
          </a:p>
        </p:txBody>
      </p:sp>
      <p:sp>
        <p:nvSpPr>
          <p:cNvPr id="9" name="Text 7"/>
          <p:cNvSpPr/>
          <p:nvPr/>
        </p:nvSpPr>
        <p:spPr>
          <a:xfrm>
            <a:off x="6400800" y="2331720"/>
            <a:ext cx="4389120" cy="68580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result2 is 3.50 because casting a to double forces decimal division.</a:t>
            </a:r>
            <a:endParaRPr lang="en-US" sz="1350" dirty="0"/>
          </a:p>
        </p:txBody>
      </p:sp>
      <p:sp>
        <p:nvSpPr>
          <p:cNvPr id="10" name="Text 8"/>
          <p:cNvSpPr/>
          <p:nvPr/>
        </p:nvSpPr>
        <p:spPr>
          <a:xfrm>
            <a:off x="960120" y="4572000"/>
            <a:ext cx="1920240" cy="274320"/>
          </a:xfrm>
          <a:prstGeom prst="rect">
            <a:avLst/>
          </a:prstGeom>
          <a:noFill/>
          <a:ln/>
        </p:spPr>
        <p:txBody>
          <a:bodyPr wrap="square" lIns="635" tIns="635" rIns="635" bIns="635" rtlCol="0" anchor="ctr">
            <a:normAutofit/>
          </a:bodyPr>
          <a:lstStyle/>
          <a:p>
            <a:pPr marL="0" indent="0" algn="l">
              <a:buNone/>
            </a:pPr>
            <a:r>
              <a:rPr lang="en-US" sz="1600" b="1" dirty="0">
                <a:solidFill>
                  <a:srgbClr val="1B365D"/>
                </a:solidFill>
                <a:latin typeface="Aptos" pitchFamily="34" charset="0"/>
                <a:ea typeface="Aptos" pitchFamily="34" charset="-122"/>
                <a:cs typeface="Aptos" pitchFamily="34" charset="-120"/>
              </a:rPr>
              <a:t>Mental model</a:t>
            </a:r>
            <a:endParaRPr lang="en-US" sz="1600" dirty="0"/>
          </a:p>
        </p:txBody>
      </p:sp>
      <p:sp>
        <p:nvSpPr>
          <p:cNvPr id="11" name="Text 9"/>
          <p:cNvSpPr/>
          <p:nvPr/>
        </p:nvSpPr>
        <p:spPr>
          <a:xfrm>
            <a:off x="2971800" y="4407408"/>
            <a:ext cx="5760720" cy="54864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C calculates the expression first, then stores the result into the variable.</a:t>
            </a:r>
            <a:endParaRPr lang="en-US" sz="1350" dirty="0"/>
          </a:p>
        </p:txBody>
      </p:sp>
      <p:sp>
        <p:nvSpPr>
          <p:cNvPr id="12" name="Text 10"/>
          <p:cNvSpPr/>
          <p:nvPr/>
        </p:nvSpPr>
        <p:spPr>
          <a:xfrm>
            <a:off x="960120" y="5532120"/>
            <a:ext cx="9601200" cy="502920"/>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Guiding question: Why is “double result = a / b;” still not enough?</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Characters: char</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 char stores one character, written with single quotes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25880"/>
            <a:ext cx="4983480" cy="16459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700" dirty="0">
                <a:solidFill>
                  <a:srgbClr val="E5E7EB"/>
                </a:solidFill>
                <a:latin typeface="Cascadia Mono" pitchFamily="34" charset="0"/>
                <a:ea typeface="Cascadia Mono" pitchFamily="34" charset="-122"/>
                <a:cs typeface="Cascadia Mono" pitchFamily="34" charset="-120"/>
              </a:rPr>
              <a:t>char grade = 'A';</a:t>
            </a:r>
            <a:endParaRPr lang="en-US" sz="1700" dirty="0"/>
          </a:p>
          <a:p>
            <a:pPr marL="0" indent="0" algn="l">
              <a:buNone/>
            </a:pPr>
            <a:r>
              <a:rPr lang="en-US" sz="1700" dirty="0">
                <a:solidFill>
                  <a:srgbClr val="E5E7EB"/>
                </a:solidFill>
                <a:latin typeface="Cascadia Mono" pitchFamily="34" charset="0"/>
                <a:ea typeface="Cascadia Mono" pitchFamily="34" charset="-122"/>
                <a:cs typeface="Cascadia Mono" pitchFamily="34" charset="-120"/>
              </a:rPr>
              <a:t>char answer = 'y';</a:t>
            </a:r>
            <a:endParaRPr lang="en-US" sz="1700" dirty="0"/>
          </a:p>
          <a:p>
            <a:pPr marL="0" indent="0" algn="l">
              <a:buNone/>
            </a:pPr>
            <a:r>
              <a:rPr lang="en-US" sz="1700" dirty="0">
                <a:solidFill>
                  <a:srgbClr val="E5E7EB"/>
                </a:solidFill>
                <a:latin typeface="Cascadia Mono" pitchFamily="34" charset="0"/>
                <a:ea typeface="Cascadia Mono" pitchFamily="34" charset="-122"/>
                <a:cs typeface="Cascadia Mono" pitchFamily="34" charset="-120"/>
              </a:rPr>
              <a:t>char digit = '7';</a:t>
            </a:r>
            <a:endParaRPr lang="en-US" sz="1700" dirty="0"/>
          </a:p>
          <a:p>
            <a:pPr marL="0" indent="0" algn="l">
              <a:buNone/>
            </a:pPr>
            <a:endParaRPr lang="en-US" sz="1700" dirty="0"/>
          </a:p>
          <a:p>
            <a:pPr marL="0" indent="0" algn="l">
              <a:buNone/>
            </a:pPr>
            <a:r>
              <a:rPr lang="en-US" sz="1700" dirty="0">
                <a:solidFill>
                  <a:srgbClr val="E5E7EB"/>
                </a:solidFill>
                <a:latin typeface="Cascadia Mono" pitchFamily="34" charset="0"/>
                <a:ea typeface="Cascadia Mono" pitchFamily="34" charset="-122"/>
                <a:cs typeface="Cascadia Mono" pitchFamily="34" charset="-120"/>
              </a:rPr>
              <a:t>printf("%c\n", grade);</a:t>
            </a:r>
            <a:endParaRPr lang="en-US" sz="1700" dirty="0"/>
          </a:p>
        </p:txBody>
      </p:sp>
      <p:sp>
        <p:nvSpPr>
          <p:cNvPr id="8" name="Text 6"/>
          <p:cNvSpPr/>
          <p:nvPr/>
        </p:nvSpPr>
        <p:spPr>
          <a:xfrm>
            <a:off x="6400800" y="1417320"/>
            <a:ext cx="406908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Use single quotes for one character: 'A'</a:t>
            </a:r>
            <a:endParaRPr lang="en-US" sz="1350" dirty="0"/>
          </a:p>
        </p:txBody>
      </p:sp>
      <p:sp>
        <p:nvSpPr>
          <p:cNvPr id="9" name="Text 7"/>
          <p:cNvSpPr/>
          <p:nvPr/>
        </p:nvSpPr>
        <p:spPr>
          <a:xfrm>
            <a:off x="6400800" y="2176272"/>
            <a:ext cx="4069080" cy="530352"/>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Do not confuse character 7 with number 7.</a:t>
            </a:r>
            <a:endParaRPr lang="en-US" sz="1350" dirty="0"/>
          </a:p>
        </p:txBody>
      </p:sp>
      <p:sp>
        <p:nvSpPr>
          <p:cNvPr id="10" name="Text 8"/>
          <p:cNvSpPr/>
          <p:nvPr/>
        </p:nvSpPr>
        <p:spPr>
          <a:xfrm>
            <a:off x="6400800" y="3063240"/>
            <a:ext cx="2926080" cy="71323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00" dirty="0">
                <a:solidFill>
                  <a:srgbClr val="E5E7EB"/>
                </a:solidFill>
                <a:latin typeface="Cascadia Mono" pitchFamily="34" charset="0"/>
                <a:ea typeface="Cascadia Mono" pitchFamily="34" charset="-122"/>
                <a:cs typeface="Cascadia Mono" pitchFamily="34" charset="-120"/>
              </a:rPr>
              <a:t>char digit = '7';</a:t>
            </a:r>
            <a:endParaRPr lang="en-US" sz="1500" dirty="0"/>
          </a:p>
          <a:p>
            <a:pPr marL="0" indent="0" algn="l">
              <a:buNone/>
            </a:pPr>
            <a:r>
              <a:rPr lang="en-US" sz="1500" dirty="0">
                <a:solidFill>
                  <a:srgbClr val="E5E7EB"/>
                </a:solidFill>
                <a:latin typeface="Cascadia Mono" pitchFamily="34" charset="0"/>
                <a:ea typeface="Cascadia Mono" pitchFamily="34" charset="-122"/>
                <a:cs typeface="Cascadia Mono" pitchFamily="34" charset="-120"/>
              </a:rPr>
              <a:t>int number = 7;</a:t>
            </a:r>
            <a:endParaRPr lang="en-US" sz="1500" dirty="0"/>
          </a:p>
        </p:txBody>
      </p:sp>
      <p:sp>
        <p:nvSpPr>
          <p:cNvPr id="11" name="Text 9"/>
          <p:cNvSpPr/>
          <p:nvPr/>
        </p:nvSpPr>
        <p:spPr>
          <a:xfrm>
            <a:off x="914400" y="4069080"/>
            <a:ext cx="475488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Which one can be used directly in arithmetic?</a:t>
            </a:r>
            <a:endParaRPr lang="en-US" sz="1350" dirty="0"/>
          </a:p>
        </p:txBody>
      </p:sp>
      <p:sp>
        <p:nvSpPr>
          <p:cNvPr id="12" name="Text 10"/>
          <p:cNvSpPr/>
          <p:nvPr/>
        </p:nvSpPr>
        <p:spPr>
          <a:xfrm>
            <a:off x="6309360" y="4069080"/>
            <a:ext cx="4389120" cy="502920"/>
          </a:xfrm>
          <a:prstGeom prst="rect">
            <a:avLst/>
          </a:prstGeom>
          <a:solidFill>
            <a:srgbClr val="FFFFFF"/>
          </a:solidFill>
          <a:ln w="15240">
            <a:solidFill>
              <a:srgbClr val="F2C94C"/>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Important: strings come next week. Today char means one symbol only.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Comparisons produce yes/no answers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C uses numbers for truth: 0 is false, non-zero is true</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914400" y="1417320"/>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&gt;</a:t>
            </a:r>
            <a:endParaRPr lang="en-US" sz="1300" dirty="0"/>
          </a:p>
        </p:txBody>
      </p:sp>
      <p:sp>
        <p:nvSpPr>
          <p:cNvPr id="8" name="Text 6"/>
          <p:cNvSpPr/>
          <p:nvPr/>
        </p:nvSpPr>
        <p:spPr>
          <a:xfrm>
            <a:off x="1965960" y="1453896"/>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greater than</a:t>
            </a:r>
            <a:endParaRPr lang="en-US" sz="1350" dirty="0"/>
          </a:p>
        </p:txBody>
      </p:sp>
      <p:sp>
        <p:nvSpPr>
          <p:cNvPr id="9" name="Text 7"/>
          <p:cNvSpPr/>
          <p:nvPr/>
        </p:nvSpPr>
        <p:spPr>
          <a:xfrm>
            <a:off x="914400" y="2075688"/>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&gt;=</a:t>
            </a:r>
            <a:endParaRPr lang="en-US" sz="1300" dirty="0"/>
          </a:p>
        </p:txBody>
      </p:sp>
      <p:sp>
        <p:nvSpPr>
          <p:cNvPr id="10" name="Text 8"/>
          <p:cNvSpPr/>
          <p:nvPr/>
        </p:nvSpPr>
        <p:spPr>
          <a:xfrm>
            <a:off x="1965960" y="2112264"/>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greater or equal</a:t>
            </a:r>
            <a:endParaRPr lang="en-US" sz="1350" dirty="0"/>
          </a:p>
        </p:txBody>
      </p:sp>
      <p:sp>
        <p:nvSpPr>
          <p:cNvPr id="11" name="Text 9"/>
          <p:cNvSpPr/>
          <p:nvPr/>
        </p:nvSpPr>
        <p:spPr>
          <a:xfrm>
            <a:off x="914400" y="2734056"/>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&lt;</a:t>
            </a:r>
            <a:endParaRPr lang="en-US" sz="1300" dirty="0"/>
          </a:p>
        </p:txBody>
      </p:sp>
      <p:sp>
        <p:nvSpPr>
          <p:cNvPr id="12" name="Text 10"/>
          <p:cNvSpPr/>
          <p:nvPr/>
        </p:nvSpPr>
        <p:spPr>
          <a:xfrm>
            <a:off x="1965960" y="2770632"/>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less than</a:t>
            </a:r>
            <a:endParaRPr lang="en-US" sz="1350" dirty="0"/>
          </a:p>
        </p:txBody>
      </p:sp>
      <p:sp>
        <p:nvSpPr>
          <p:cNvPr id="13" name="Text 11"/>
          <p:cNvSpPr/>
          <p:nvPr/>
        </p:nvSpPr>
        <p:spPr>
          <a:xfrm>
            <a:off x="6217920" y="1417320"/>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&lt;=</a:t>
            </a:r>
            <a:endParaRPr lang="en-US" sz="1300" dirty="0"/>
          </a:p>
        </p:txBody>
      </p:sp>
      <p:sp>
        <p:nvSpPr>
          <p:cNvPr id="14" name="Text 12"/>
          <p:cNvSpPr/>
          <p:nvPr/>
        </p:nvSpPr>
        <p:spPr>
          <a:xfrm>
            <a:off x="7269480" y="1453896"/>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less or equal</a:t>
            </a:r>
            <a:endParaRPr lang="en-US" sz="1350" dirty="0"/>
          </a:p>
        </p:txBody>
      </p:sp>
      <p:sp>
        <p:nvSpPr>
          <p:cNvPr id="15" name="Text 13"/>
          <p:cNvSpPr/>
          <p:nvPr/>
        </p:nvSpPr>
        <p:spPr>
          <a:xfrm>
            <a:off x="6217920" y="2075688"/>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a:t>
            </a:r>
            <a:endParaRPr lang="en-US" sz="1300" dirty="0"/>
          </a:p>
        </p:txBody>
      </p:sp>
      <p:sp>
        <p:nvSpPr>
          <p:cNvPr id="16" name="Text 14"/>
          <p:cNvSpPr/>
          <p:nvPr/>
        </p:nvSpPr>
        <p:spPr>
          <a:xfrm>
            <a:off x="7269480" y="2112264"/>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equal to</a:t>
            </a:r>
            <a:endParaRPr lang="en-US" sz="1350" dirty="0"/>
          </a:p>
        </p:txBody>
      </p:sp>
      <p:sp>
        <p:nvSpPr>
          <p:cNvPr id="17" name="Text 15"/>
          <p:cNvSpPr/>
          <p:nvPr/>
        </p:nvSpPr>
        <p:spPr>
          <a:xfrm>
            <a:off x="6217920" y="2734056"/>
            <a:ext cx="777240" cy="33832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300" dirty="0">
                <a:solidFill>
                  <a:srgbClr val="E5E7EB"/>
                </a:solidFill>
                <a:latin typeface="Cascadia Mono" pitchFamily="34" charset="0"/>
                <a:ea typeface="Cascadia Mono" pitchFamily="34" charset="-122"/>
                <a:cs typeface="Cascadia Mono" pitchFamily="34" charset="-120"/>
              </a:rPr>
              <a:t>!=</a:t>
            </a:r>
            <a:endParaRPr lang="en-US" sz="1300" dirty="0"/>
          </a:p>
        </p:txBody>
      </p:sp>
      <p:sp>
        <p:nvSpPr>
          <p:cNvPr id="18" name="Text 16"/>
          <p:cNvSpPr/>
          <p:nvPr/>
        </p:nvSpPr>
        <p:spPr>
          <a:xfrm>
            <a:off x="7269480" y="2770632"/>
            <a:ext cx="2926080" cy="228600"/>
          </a:xfrm>
          <a:prstGeom prst="rect">
            <a:avLst/>
          </a:prstGeom>
          <a:noFill/>
          <a:ln/>
        </p:spPr>
        <p:txBody>
          <a:bodyPr wrap="square" lIns="635" tIns="635" rIns="635" bIns="635"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not equal</a:t>
            </a:r>
            <a:endParaRPr lang="en-US" sz="1350" dirty="0"/>
          </a:p>
        </p:txBody>
      </p:sp>
      <p:sp>
        <p:nvSpPr>
          <p:cNvPr id="19" name="Text 17"/>
          <p:cNvSpPr/>
          <p:nvPr/>
        </p:nvSpPr>
        <p:spPr>
          <a:xfrm>
            <a:off x="960120" y="3703320"/>
            <a:ext cx="5349240" cy="932688"/>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dirty="0">
                <a:solidFill>
                  <a:srgbClr val="E5E7EB"/>
                </a:solidFill>
                <a:latin typeface="Cascadia Mono" pitchFamily="34" charset="0"/>
                <a:ea typeface="Cascadia Mono" pitchFamily="34" charset="-122"/>
                <a:cs typeface="Cascadia Mono" pitchFamily="34" charset="-120"/>
              </a:rPr>
              <a:t>int age = 19;</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printf("%d", age &gt;= 18);   // 1</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printf("%d", age == 18);   // 0</a:t>
            </a:r>
            <a:endParaRPr lang="en-US" sz="1550" dirty="0"/>
          </a:p>
        </p:txBody>
      </p:sp>
      <p:sp>
        <p:nvSpPr>
          <p:cNvPr id="20" name="Text 18"/>
          <p:cNvSpPr/>
          <p:nvPr/>
        </p:nvSpPr>
        <p:spPr>
          <a:xfrm>
            <a:off x="6629400" y="3703320"/>
            <a:ext cx="3931920" cy="566928"/>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Warning: = assigns. == compares.</a:t>
            </a:r>
            <a:endParaRPr lang="en-US" sz="1350" dirty="0"/>
          </a:p>
        </p:txBody>
      </p:sp>
      <p:sp>
        <p:nvSpPr>
          <p:cNvPr id="21" name="Text 19"/>
          <p:cNvSpPr/>
          <p:nvPr/>
        </p:nvSpPr>
        <p:spPr>
          <a:xfrm>
            <a:off x="6629400" y="4526280"/>
            <a:ext cx="3931920" cy="56692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Predict: What is the value of 5 != 3 ?</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Combining conditions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Real decisions usually depend on more than one condition</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25880"/>
            <a:ext cx="4892040" cy="16916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dirty="0">
                <a:solidFill>
                  <a:srgbClr val="E5E7EB"/>
                </a:solidFill>
                <a:latin typeface="Cascadia Mono" pitchFamily="34" charset="0"/>
                <a:ea typeface="Cascadia Mono" pitchFamily="34" charset="-122"/>
                <a:cs typeface="Cascadia Mono" pitchFamily="34" charset="-120"/>
              </a:rPr>
              <a:t>int age = 20;</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int hasCard = 1;</a:t>
            </a:r>
            <a:endParaRPr lang="en-US" sz="1550" dirty="0"/>
          </a:p>
          <a:p>
            <a:pPr marL="0" indent="0" algn="l">
              <a:buNone/>
            </a:pP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if (age &gt;= 18 &amp;&amp; hasCard) {</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    printf("Allowed");</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a:t>
            </a:r>
            <a:endParaRPr lang="en-US" sz="1550" dirty="0"/>
          </a:p>
        </p:txBody>
      </p:sp>
      <p:sp>
        <p:nvSpPr>
          <p:cNvPr id="8" name="Text 6"/>
          <p:cNvSpPr/>
          <p:nvPr/>
        </p:nvSpPr>
        <p:spPr>
          <a:xfrm>
            <a:off x="6172200" y="1325880"/>
            <a:ext cx="2194560" cy="301752"/>
          </a:xfrm>
          <a:prstGeom prst="rect">
            <a:avLst/>
          </a:prstGeom>
          <a:solidFill>
            <a:srgbClr val="FFFFFF"/>
          </a:solidFill>
          <a:ln w="16510">
            <a:solidFill>
              <a:srgbClr val="27AE60"/>
            </a:solidFill>
          </a:ln>
        </p:spPr>
        <p:txBody>
          <a:bodyPr wrap="square" lIns="635" tIns="635" rIns="635" bIns="635" rtlCol="0" anchor="ctr">
            <a:normAutofit/>
          </a:bodyPr>
          <a:lstStyle/>
          <a:p>
            <a:pPr marL="0" indent="0" algn="ctr">
              <a:buNone/>
            </a:pPr>
            <a:r>
              <a:rPr lang="en-US" sz="1550" b="1" dirty="0">
                <a:solidFill>
                  <a:srgbClr val="27AE60"/>
                </a:solidFill>
                <a:latin typeface="Aptos" pitchFamily="34" charset="0"/>
                <a:ea typeface="Aptos" pitchFamily="34" charset="-122"/>
                <a:cs typeface="Aptos" pitchFamily="34" charset="-120"/>
              </a:rPr>
              <a:t>&amp;&amp;</a:t>
            </a:r>
            <a:endParaRPr lang="en-US" sz="1550" dirty="0"/>
          </a:p>
        </p:txBody>
      </p:sp>
      <p:sp>
        <p:nvSpPr>
          <p:cNvPr id="9" name="Text 7"/>
          <p:cNvSpPr/>
          <p:nvPr/>
        </p:nvSpPr>
        <p:spPr>
          <a:xfrm>
            <a:off x="6172200" y="1719072"/>
            <a:ext cx="2194560" cy="84124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AND</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Both sides must be true</a:t>
            </a:r>
            <a:endParaRPr lang="en-US" sz="1280" dirty="0"/>
          </a:p>
        </p:txBody>
      </p:sp>
      <p:sp>
        <p:nvSpPr>
          <p:cNvPr id="10" name="Text 8"/>
          <p:cNvSpPr/>
          <p:nvPr/>
        </p:nvSpPr>
        <p:spPr>
          <a:xfrm>
            <a:off x="8595360" y="1325880"/>
            <a:ext cx="2194560" cy="301752"/>
          </a:xfrm>
          <a:prstGeom prst="rect">
            <a:avLst/>
          </a:prstGeom>
          <a:solidFill>
            <a:srgbClr val="FFFFFF"/>
          </a:solidFill>
          <a:ln w="16510">
            <a:solidFill>
              <a:srgbClr val="2F80ED"/>
            </a:solidFill>
          </a:ln>
        </p:spPr>
        <p:txBody>
          <a:bodyPr wrap="square" lIns="635" tIns="635" rIns="635" bIns="635" rtlCol="0" anchor="ctr">
            <a:normAutofit/>
          </a:bodyPr>
          <a:lstStyle/>
          <a:p>
            <a:pPr marL="0" indent="0" algn="ctr">
              <a:buNone/>
            </a:pPr>
            <a:r>
              <a:rPr lang="en-US" sz="1550" b="1" dirty="0">
                <a:solidFill>
                  <a:srgbClr val="2F80ED"/>
                </a:solidFill>
                <a:latin typeface="Aptos" pitchFamily="34" charset="0"/>
                <a:ea typeface="Aptos" pitchFamily="34" charset="-122"/>
                <a:cs typeface="Aptos" pitchFamily="34" charset="-120"/>
              </a:rPr>
              <a:t>||</a:t>
            </a:r>
            <a:endParaRPr lang="en-US" sz="1550" dirty="0"/>
          </a:p>
        </p:txBody>
      </p:sp>
      <p:sp>
        <p:nvSpPr>
          <p:cNvPr id="11" name="Text 9"/>
          <p:cNvSpPr/>
          <p:nvPr/>
        </p:nvSpPr>
        <p:spPr>
          <a:xfrm>
            <a:off x="8595360" y="1719072"/>
            <a:ext cx="2194560" cy="84124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OR</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At least one side is true</a:t>
            </a:r>
            <a:endParaRPr lang="en-US" sz="1280" dirty="0"/>
          </a:p>
        </p:txBody>
      </p:sp>
      <p:sp>
        <p:nvSpPr>
          <p:cNvPr id="12" name="Text 10"/>
          <p:cNvSpPr/>
          <p:nvPr/>
        </p:nvSpPr>
        <p:spPr>
          <a:xfrm>
            <a:off x="7360920" y="2907792"/>
            <a:ext cx="2194560" cy="301752"/>
          </a:xfrm>
          <a:prstGeom prst="rect">
            <a:avLst/>
          </a:prstGeom>
          <a:solidFill>
            <a:srgbClr val="FFFFFF"/>
          </a:solidFill>
          <a:ln w="16510">
            <a:solidFill>
              <a:srgbClr val="EB5757"/>
            </a:solidFill>
          </a:ln>
        </p:spPr>
        <p:txBody>
          <a:bodyPr wrap="square" lIns="635" tIns="635" rIns="635" bIns="635" rtlCol="0" anchor="ctr">
            <a:normAutofit/>
          </a:bodyPr>
          <a:lstStyle/>
          <a:p>
            <a:pPr marL="0" indent="0" algn="ctr">
              <a:buNone/>
            </a:pPr>
            <a:r>
              <a:rPr lang="en-US" sz="1550" b="1" dirty="0">
                <a:solidFill>
                  <a:srgbClr val="EB5757"/>
                </a:solidFill>
                <a:latin typeface="Aptos" pitchFamily="34" charset="0"/>
                <a:ea typeface="Aptos" pitchFamily="34" charset="-122"/>
                <a:cs typeface="Aptos" pitchFamily="34" charset="-120"/>
              </a:rPr>
              <a:t>!</a:t>
            </a:r>
            <a:endParaRPr lang="en-US" sz="1550" dirty="0"/>
          </a:p>
        </p:txBody>
      </p:sp>
      <p:sp>
        <p:nvSpPr>
          <p:cNvPr id="13" name="Text 11"/>
          <p:cNvSpPr/>
          <p:nvPr/>
        </p:nvSpPr>
        <p:spPr>
          <a:xfrm>
            <a:off x="7360920" y="3300984"/>
            <a:ext cx="2194560" cy="84124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NOT</a:t>
            </a:r>
            <a:endParaRPr lang="en-US" sz="1280" dirty="0"/>
          </a:p>
          <a:p>
            <a:pPr marL="0" indent="0" algn="ctr">
              <a:buNone/>
            </a:pPr>
            <a:r>
              <a:rPr lang="en-US" sz="1280" dirty="0">
                <a:solidFill>
                  <a:srgbClr val="1F2937"/>
                </a:solidFill>
                <a:latin typeface="Aptos" pitchFamily="34" charset="0"/>
                <a:ea typeface="Aptos" pitchFamily="34" charset="-122"/>
                <a:cs typeface="Aptos" pitchFamily="34" charset="-120"/>
              </a:rPr>
              <a:t>Reverses the truth value</a:t>
            </a:r>
            <a:endParaRPr lang="en-US" sz="1280" dirty="0"/>
          </a:p>
        </p:txBody>
      </p:sp>
      <p:sp>
        <p:nvSpPr>
          <p:cNvPr id="14" name="Text 12"/>
          <p:cNvSpPr/>
          <p:nvPr/>
        </p:nvSpPr>
        <p:spPr>
          <a:xfrm>
            <a:off x="914400" y="4297680"/>
            <a:ext cx="5303520" cy="594360"/>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Real-life example: “Can enter exam” = registered AND not late AND has ID card.</a:t>
            </a:r>
            <a:endParaRPr lang="en-US" sz="1350" dirty="0"/>
          </a:p>
        </p:txBody>
      </p:sp>
      <p:sp>
        <p:nvSpPr>
          <p:cNvPr id="15" name="Text 13"/>
          <p:cNvSpPr/>
          <p:nvPr/>
        </p:nvSpPr>
        <p:spPr>
          <a:xfrm>
            <a:off x="6583680" y="4297680"/>
            <a:ext cx="4434840" cy="59436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Guiding question: Write the condition for a discount: student OR age under 18.</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The if statement</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An if statement runs a block only when the condition is true</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298448"/>
            <a:ext cx="4800600" cy="27889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30" dirty="0">
                <a:solidFill>
                  <a:srgbClr val="E5E7EB"/>
                </a:solidFill>
                <a:latin typeface="Cascadia Mono" pitchFamily="34" charset="0"/>
                <a:ea typeface="Cascadia Mono" pitchFamily="34" charset="-122"/>
                <a:cs typeface="Cascadia Mono" pitchFamily="34" charset="-120"/>
              </a:rPr>
              <a:t>int score;</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printf("Score: ");</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scanf("%d", &amp;score);</a:t>
            </a:r>
            <a:endParaRPr lang="en-US" sz="1430" dirty="0"/>
          </a:p>
          <a:p>
            <a:pPr marL="0" indent="0" algn="l">
              <a:buNone/>
            </a:pP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if (score &gt;= 50) {</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    printf("Passed\n");</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a:t>
            </a:r>
            <a:endParaRPr lang="en-US" sz="1430" dirty="0"/>
          </a:p>
          <a:p>
            <a:pPr marL="0" indent="0" algn="l">
              <a:buNone/>
            </a:pP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printf("Done\n");</a:t>
            </a:r>
            <a:endParaRPr lang="en-US" sz="1430" dirty="0"/>
          </a:p>
        </p:txBody>
      </p:sp>
      <p:sp>
        <p:nvSpPr>
          <p:cNvPr id="8" name="Text 6"/>
          <p:cNvSpPr/>
          <p:nvPr/>
        </p:nvSpPr>
        <p:spPr>
          <a:xfrm>
            <a:off x="6537960" y="1417320"/>
            <a:ext cx="2286000" cy="365760"/>
          </a:xfrm>
          <a:prstGeom prst="rect">
            <a:avLst/>
          </a:prstGeom>
          <a:solidFill>
            <a:srgbClr val="2F80ED"/>
          </a:solidFill>
          <a:ln/>
        </p:spPr>
        <p:txBody>
          <a:bodyPr wrap="square" lIns="635" tIns="635" rIns="635" bIns="635"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Condition</a:t>
            </a:r>
            <a:endParaRPr lang="en-US" sz="1800" dirty="0"/>
          </a:p>
        </p:txBody>
      </p:sp>
      <p:sp>
        <p:nvSpPr>
          <p:cNvPr id="9" name="Shape 7"/>
          <p:cNvSpPr/>
          <p:nvPr/>
        </p:nvSpPr>
        <p:spPr>
          <a:xfrm>
            <a:off x="7680960" y="1828800"/>
            <a:ext cx="0" cy="658368"/>
          </a:xfrm>
          <a:prstGeom prst="line">
            <a:avLst/>
          </a:prstGeom>
          <a:noFill/>
          <a:ln w="17780">
            <a:solidFill>
              <a:srgbClr val="2F80ED"/>
            </a:solidFill>
            <a:prstDash val="solid"/>
            <a:tailEnd type="triangle"/>
          </a:ln>
        </p:spPr>
      </p:sp>
      <p:sp>
        <p:nvSpPr>
          <p:cNvPr id="10" name="Text 8"/>
          <p:cNvSpPr/>
          <p:nvPr/>
        </p:nvSpPr>
        <p:spPr>
          <a:xfrm>
            <a:off x="6355080" y="2487168"/>
            <a:ext cx="1143000" cy="329184"/>
          </a:xfrm>
          <a:prstGeom prst="rect">
            <a:avLst/>
          </a:prstGeom>
          <a:noFill/>
          <a:ln/>
        </p:spPr>
        <p:txBody>
          <a:bodyPr wrap="square" lIns="635" tIns="635" rIns="635" bIns="635" rtlCol="0" anchor="ctr">
            <a:normAutofit/>
          </a:bodyPr>
          <a:lstStyle/>
          <a:p>
            <a:pPr marL="0" indent="0" algn="ctr">
              <a:buNone/>
            </a:pPr>
            <a:r>
              <a:rPr lang="en-US" sz="1300" b="1" dirty="0">
                <a:solidFill>
                  <a:srgbClr val="27AE60"/>
                </a:solidFill>
                <a:latin typeface="Aptos" pitchFamily="34" charset="0"/>
                <a:ea typeface="Aptos" pitchFamily="34" charset="-122"/>
                <a:cs typeface="Aptos" pitchFamily="34" charset="-120"/>
              </a:rPr>
              <a:t>true</a:t>
            </a:r>
            <a:endParaRPr lang="en-US" sz="1300" dirty="0"/>
          </a:p>
        </p:txBody>
      </p:sp>
      <p:sp>
        <p:nvSpPr>
          <p:cNvPr id="11" name="Text 9"/>
          <p:cNvSpPr/>
          <p:nvPr/>
        </p:nvSpPr>
        <p:spPr>
          <a:xfrm>
            <a:off x="5715000" y="2852928"/>
            <a:ext cx="2103120" cy="438912"/>
          </a:xfrm>
          <a:prstGeom prst="rect">
            <a:avLst/>
          </a:prstGeom>
          <a:solidFill>
            <a:srgbClr val="FFFFFF"/>
          </a:solidFill>
          <a:ln>
            <a:solidFill>
              <a:srgbClr val="27AE60"/>
            </a:solidFill>
          </a:ln>
        </p:spPr>
        <p:txBody>
          <a:bodyPr wrap="square" lIns="635" tIns="635" rIns="635" bIns="635" rtlCol="0" anchor="ctr">
            <a:normAutofit/>
          </a:bodyPr>
          <a:lstStyle/>
          <a:p>
            <a:pPr marL="0" indent="0" algn="ctr">
              <a:buNone/>
            </a:pPr>
            <a:r>
              <a:rPr lang="en-US" sz="1700" b="1" dirty="0">
                <a:solidFill>
                  <a:srgbClr val="27AE60"/>
                </a:solidFill>
                <a:latin typeface="Aptos" pitchFamily="34" charset="0"/>
                <a:ea typeface="Aptos" pitchFamily="34" charset="-122"/>
                <a:cs typeface="Aptos" pitchFamily="34" charset="-120"/>
              </a:rPr>
              <a:t>run block</a:t>
            </a:r>
            <a:endParaRPr lang="en-US" sz="1700" dirty="0"/>
          </a:p>
        </p:txBody>
      </p:sp>
      <p:sp>
        <p:nvSpPr>
          <p:cNvPr id="12" name="Text 10"/>
          <p:cNvSpPr/>
          <p:nvPr/>
        </p:nvSpPr>
        <p:spPr>
          <a:xfrm>
            <a:off x="8229600" y="2487168"/>
            <a:ext cx="1143000" cy="329184"/>
          </a:xfrm>
          <a:prstGeom prst="rect">
            <a:avLst/>
          </a:prstGeom>
          <a:noFill/>
          <a:ln/>
        </p:spPr>
        <p:txBody>
          <a:bodyPr wrap="square" lIns="635" tIns="635" rIns="635" bIns="635" rtlCol="0" anchor="ctr">
            <a:normAutofit/>
          </a:bodyPr>
          <a:lstStyle/>
          <a:p>
            <a:pPr marL="0" indent="0" algn="ctr">
              <a:buNone/>
            </a:pPr>
            <a:r>
              <a:rPr lang="en-US" sz="1300" b="1" dirty="0">
                <a:solidFill>
                  <a:srgbClr val="EB5757"/>
                </a:solidFill>
                <a:latin typeface="Aptos" pitchFamily="34" charset="0"/>
                <a:ea typeface="Aptos" pitchFamily="34" charset="-122"/>
                <a:cs typeface="Aptos" pitchFamily="34" charset="-120"/>
              </a:rPr>
              <a:t>false</a:t>
            </a:r>
            <a:endParaRPr lang="en-US" sz="1300" dirty="0"/>
          </a:p>
        </p:txBody>
      </p:sp>
      <p:sp>
        <p:nvSpPr>
          <p:cNvPr id="13" name="Text 11"/>
          <p:cNvSpPr/>
          <p:nvPr/>
        </p:nvSpPr>
        <p:spPr>
          <a:xfrm>
            <a:off x="7909560" y="2852928"/>
            <a:ext cx="2103120" cy="438912"/>
          </a:xfrm>
          <a:prstGeom prst="rect">
            <a:avLst/>
          </a:prstGeom>
          <a:solidFill>
            <a:srgbClr val="FFFFFF"/>
          </a:solidFill>
          <a:ln>
            <a:solidFill>
              <a:srgbClr val="EB5757"/>
            </a:solidFill>
          </a:ln>
        </p:spPr>
        <p:txBody>
          <a:bodyPr wrap="square" lIns="635" tIns="635" rIns="635" bIns="635" rtlCol="0" anchor="ctr">
            <a:normAutofit/>
          </a:bodyPr>
          <a:lstStyle/>
          <a:p>
            <a:pPr marL="0" indent="0" algn="ctr">
              <a:buNone/>
            </a:pPr>
            <a:r>
              <a:rPr lang="en-US" sz="1700" b="1" dirty="0">
                <a:solidFill>
                  <a:srgbClr val="EB5757"/>
                </a:solidFill>
                <a:latin typeface="Aptos" pitchFamily="34" charset="0"/>
                <a:ea typeface="Aptos" pitchFamily="34" charset="-122"/>
                <a:cs typeface="Aptos" pitchFamily="34" charset="-120"/>
              </a:rPr>
              <a:t>skip block</a:t>
            </a:r>
            <a:endParaRPr lang="en-US" sz="1700" dirty="0"/>
          </a:p>
        </p:txBody>
      </p:sp>
      <p:sp>
        <p:nvSpPr>
          <p:cNvPr id="14" name="Text 12"/>
          <p:cNvSpPr/>
          <p:nvPr/>
        </p:nvSpPr>
        <p:spPr>
          <a:xfrm>
            <a:off x="960120" y="4800600"/>
            <a:ext cx="4389120" cy="54864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If score is 49, which lines print?</a:t>
            </a:r>
            <a:endParaRPr lang="en-US" sz="1350" dirty="0"/>
          </a:p>
        </p:txBody>
      </p:sp>
      <p:sp>
        <p:nvSpPr>
          <p:cNvPr id="15" name="Text 13"/>
          <p:cNvSpPr/>
          <p:nvPr/>
        </p:nvSpPr>
        <p:spPr>
          <a:xfrm>
            <a:off x="6309360" y="4800600"/>
            <a:ext cx="4389120" cy="54864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If score is 50, which lines print?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if / else</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Use else when exactly one of two paths should run</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325880"/>
            <a:ext cx="5120640" cy="28346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50" dirty="0">
                <a:solidFill>
                  <a:srgbClr val="E5E7EB"/>
                </a:solidFill>
                <a:latin typeface="Cascadia Mono" pitchFamily="34" charset="0"/>
                <a:ea typeface="Cascadia Mono" pitchFamily="34" charset="-122"/>
                <a:cs typeface="Cascadia Mono" pitchFamily="34" charset="-120"/>
              </a:rPr>
              <a:t>int age;</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printf("Age: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scanf("%d", &amp;age);</a:t>
            </a:r>
            <a:endParaRPr lang="en-US" sz="1450" dirty="0"/>
          </a:p>
          <a:p>
            <a:pPr marL="0" indent="0" algn="l">
              <a:buNone/>
            </a:pP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if (age &gt;= 18)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printf("Adult ticket\n");</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else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printf("Student ticket\n");</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a:t>
            </a:r>
            <a:endParaRPr lang="en-US" sz="1450" dirty="0"/>
          </a:p>
        </p:txBody>
      </p:sp>
      <p:sp>
        <p:nvSpPr>
          <p:cNvPr id="8" name="Text 6"/>
          <p:cNvSpPr/>
          <p:nvPr/>
        </p:nvSpPr>
        <p:spPr>
          <a:xfrm>
            <a:off x="6400800" y="1417320"/>
            <a:ext cx="4343400" cy="56692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If the condition is true, the if block runs.</a:t>
            </a:r>
            <a:endParaRPr lang="en-US" sz="1350" dirty="0"/>
          </a:p>
        </p:txBody>
      </p:sp>
      <p:sp>
        <p:nvSpPr>
          <p:cNvPr id="9" name="Text 7"/>
          <p:cNvSpPr/>
          <p:nvPr/>
        </p:nvSpPr>
        <p:spPr>
          <a:xfrm>
            <a:off x="6400800" y="2212848"/>
            <a:ext cx="4343400" cy="566928"/>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If it is false, the else block runs.</a:t>
            </a:r>
            <a:endParaRPr lang="en-US" sz="1350" dirty="0"/>
          </a:p>
        </p:txBody>
      </p:sp>
      <p:sp>
        <p:nvSpPr>
          <p:cNvPr id="10" name="Text 8"/>
          <p:cNvSpPr/>
          <p:nvPr/>
        </p:nvSpPr>
        <p:spPr>
          <a:xfrm>
            <a:off x="6400800" y="3008376"/>
            <a:ext cx="4343400" cy="566928"/>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Never both. Never neither.</a:t>
            </a:r>
            <a:endParaRPr lang="en-US" sz="1350" dirty="0"/>
          </a:p>
        </p:txBody>
      </p:sp>
      <p:sp>
        <p:nvSpPr>
          <p:cNvPr id="11" name="Text 9"/>
          <p:cNvSpPr/>
          <p:nvPr/>
        </p:nvSpPr>
        <p:spPr>
          <a:xfrm>
            <a:off x="914400" y="4937760"/>
            <a:ext cx="9509760" cy="62179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Mini-task: Modify the program: age &lt; 6 gets “free ticket”, otherwise normal ticket.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else-if chains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Use else-if when there are multiple categories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31520" y="1216152"/>
            <a:ext cx="5349240" cy="38404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50" dirty="0">
                <a:solidFill>
                  <a:srgbClr val="E5E7EB"/>
                </a:solidFill>
                <a:latin typeface="Cascadia Mono" pitchFamily="34" charset="0"/>
                <a:ea typeface="Cascadia Mono" pitchFamily="34" charset="-122"/>
                <a:cs typeface="Cascadia Mono" pitchFamily="34" charset="-120"/>
              </a:rPr>
              <a:t>int score;</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scanf("%d", &amp;score);</a:t>
            </a:r>
            <a:endParaRPr lang="en-US" sz="1250" dirty="0"/>
          </a:p>
          <a:p>
            <a:pPr marL="0" indent="0" algn="l">
              <a:buNone/>
            </a:pP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if (score &gt;= 90) {</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printf("A");</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else if (score &gt;= 80) {</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printf("B");</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else if (score &gt;= 70) {</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printf("C");</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else {</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    printf("Needs improvement");</a:t>
            </a:r>
            <a:endParaRPr lang="en-US" sz="1250" dirty="0"/>
          </a:p>
          <a:p>
            <a:pPr marL="0" indent="0" algn="l">
              <a:buNone/>
            </a:pPr>
            <a:r>
              <a:rPr lang="en-US" sz="1250" dirty="0">
                <a:solidFill>
                  <a:srgbClr val="E5E7EB"/>
                </a:solidFill>
                <a:latin typeface="Cascadia Mono" pitchFamily="34" charset="0"/>
                <a:ea typeface="Cascadia Mono" pitchFamily="34" charset="-122"/>
                <a:cs typeface="Cascadia Mono" pitchFamily="34" charset="-120"/>
              </a:rPr>
              <a:t>}</a:t>
            </a:r>
            <a:endParaRPr lang="en-US" sz="1250" dirty="0"/>
          </a:p>
        </p:txBody>
      </p:sp>
      <p:sp>
        <p:nvSpPr>
          <p:cNvPr id="8" name="Text 6"/>
          <p:cNvSpPr/>
          <p:nvPr/>
        </p:nvSpPr>
        <p:spPr>
          <a:xfrm>
            <a:off x="6400800" y="1417320"/>
            <a:ext cx="4206240" cy="53035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C checks from top to bottom.</a:t>
            </a:r>
            <a:endParaRPr lang="en-US" sz="1350" dirty="0"/>
          </a:p>
        </p:txBody>
      </p:sp>
      <p:sp>
        <p:nvSpPr>
          <p:cNvPr id="9" name="Text 7"/>
          <p:cNvSpPr/>
          <p:nvPr/>
        </p:nvSpPr>
        <p:spPr>
          <a:xfrm>
            <a:off x="6400800" y="2176272"/>
            <a:ext cx="420624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The first true condition wins.</a:t>
            </a:r>
            <a:endParaRPr lang="en-US" sz="1350" dirty="0"/>
          </a:p>
        </p:txBody>
      </p:sp>
      <p:sp>
        <p:nvSpPr>
          <p:cNvPr id="10" name="Text 8"/>
          <p:cNvSpPr/>
          <p:nvPr/>
        </p:nvSpPr>
        <p:spPr>
          <a:xfrm>
            <a:off x="6400800" y="2935224"/>
            <a:ext cx="4206240" cy="64008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Order matters. Put the strongest condition first in this example.</a:t>
            </a:r>
            <a:endParaRPr lang="en-US" sz="1350" dirty="0"/>
          </a:p>
        </p:txBody>
      </p:sp>
      <p:sp>
        <p:nvSpPr>
          <p:cNvPr id="11" name="Text 9"/>
          <p:cNvSpPr/>
          <p:nvPr/>
        </p:nvSpPr>
        <p:spPr>
          <a:xfrm>
            <a:off x="6400800" y="4023360"/>
            <a:ext cx="4206240" cy="822960"/>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Predict: What prints for 85? What about 95? What about 69?</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Order can break your logic</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 program can compile successfully and still be logically wrong</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68680" y="1298448"/>
            <a:ext cx="5120640" cy="210312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20" dirty="0">
                <a:solidFill>
                  <a:srgbClr val="E5E7EB"/>
                </a:solidFill>
                <a:latin typeface="Cascadia Mono" pitchFamily="34" charset="0"/>
                <a:ea typeface="Cascadia Mono" pitchFamily="34" charset="-122"/>
                <a:cs typeface="Cascadia Mono" pitchFamily="34" charset="-120"/>
              </a:rPr>
              <a:t>if (score &gt;= 70) {</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    printf("C");</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 else if (score &gt;= 80) {</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    printf("B");</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 else if (score &gt;= 90) {</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    printf("A");</a:t>
            </a:r>
            <a:endParaRPr lang="en-US" sz="1520" dirty="0"/>
          </a:p>
          <a:p>
            <a:pPr marL="0" indent="0" algn="l">
              <a:buNone/>
            </a:pPr>
            <a:r>
              <a:rPr lang="en-US" sz="1520" dirty="0">
                <a:solidFill>
                  <a:srgbClr val="E5E7EB"/>
                </a:solidFill>
                <a:latin typeface="Cascadia Mono" pitchFamily="34" charset="0"/>
                <a:ea typeface="Cascadia Mono" pitchFamily="34" charset="-122"/>
                <a:cs typeface="Cascadia Mono" pitchFamily="34" charset="-120"/>
              </a:rPr>
              <a:t>}</a:t>
            </a:r>
            <a:endParaRPr lang="en-US" sz="1520" dirty="0"/>
          </a:p>
        </p:txBody>
      </p:sp>
      <p:sp>
        <p:nvSpPr>
          <p:cNvPr id="8" name="Text 6"/>
          <p:cNvSpPr/>
          <p:nvPr/>
        </p:nvSpPr>
        <p:spPr>
          <a:xfrm>
            <a:off x="6400800" y="1417320"/>
            <a:ext cx="4434840" cy="621792"/>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This code compiles, but A and B are unreachable.</a:t>
            </a:r>
            <a:endParaRPr lang="en-US" sz="1350" dirty="0"/>
          </a:p>
        </p:txBody>
      </p:sp>
      <p:sp>
        <p:nvSpPr>
          <p:cNvPr id="9" name="Text 7"/>
          <p:cNvSpPr/>
          <p:nvPr/>
        </p:nvSpPr>
        <p:spPr>
          <a:xfrm>
            <a:off x="6400800" y="2286000"/>
            <a:ext cx="4434840" cy="749808"/>
          </a:xfrm>
          <a:prstGeom prst="rect">
            <a:avLst/>
          </a:prstGeom>
          <a:solidFill>
            <a:srgbClr val="FFFFFF"/>
          </a:solidFill>
          <a:ln w="15240">
            <a:solidFill>
              <a:srgbClr val="F2C94C"/>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For score = 95, the first condition score &gt;= 70 is already true.</a:t>
            </a:r>
            <a:endParaRPr lang="en-US" sz="1350" dirty="0"/>
          </a:p>
        </p:txBody>
      </p:sp>
      <p:sp>
        <p:nvSpPr>
          <p:cNvPr id="10" name="Text 8"/>
          <p:cNvSpPr/>
          <p:nvPr/>
        </p:nvSpPr>
        <p:spPr>
          <a:xfrm>
            <a:off x="6400800" y="3291840"/>
            <a:ext cx="4434840" cy="56692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Fix: check 90 first, then 80, then 70.</a:t>
            </a:r>
            <a:endParaRPr lang="en-US" sz="1350" dirty="0"/>
          </a:p>
        </p:txBody>
      </p:sp>
      <p:sp>
        <p:nvSpPr>
          <p:cNvPr id="11" name="Text 9"/>
          <p:cNvSpPr/>
          <p:nvPr/>
        </p:nvSpPr>
        <p:spPr>
          <a:xfrm>
            <a:off x="960120" y="4846320"/>
            <a:ext cx="9509760" cy="59436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Class question: Give another real-life situation where order matters.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Nested decisions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Sometimes a second decision only makes sense inside the first decision</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225296"/>
            <a:ext cx="5394960" cy="38404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270" dirty="0">
                <a:solidFill>
                  <a:srgbClr val="E5E7EB"/>
                </a:solidFill>
                <a:latin typeface="Cascadia Mono" pitchFamily="34" charset="0"/>
                <a:ea typeface="Cascadia Mono" pitchFamily="34" charset="-122"/>
                <a:cs typeface="Cascadia Mono" pitchFamily="34" charset="-120"/>
              </a:rPr>
              <a:t>int loggedIn = 1;</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int isAdmin = 0;</a:t>
            </a:r>
            <a:endParaRPr lang="en-US" sz="1270" dirty="0"/>
          </a:p>
          <a:p>
            <a:pPr marL="0" indent="0" algn="l">
              <a:buNone/>
            </a:pP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if (loggedIn) {</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if (isAdmin) {</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printf("Admin panel");</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 else {</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printf("User page");</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else {</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    printf("Please log in");</a:t>
            </a:r>
            <a:endParaRPr lang="en-US" sz="1270" dirty="0"/>
          </a:p>
          <a:p>
            <a:pPr marL="0" indent="0" algn="l">
              <a:buNone/>
            </a:pPr>
            <a:r>
              <a:rPr lang="en-US" sz="1270" dirty="0">
                <a:solidFill>
                  <a:srgbClr val="E5E7EB"/>
                </a:solidFill>
                <a:latin typeface="Cascadia Mono" pitchFamily="34" charset="0"/>
                <a:ea typeface="Cascadia Mono" pitchFamily="34" charset="-122"/>
                <a:cs typeface="Cascadia Mono" pitchFamily="34" charset="-120"/>
              </a:rPr>
              <a:t>}</a:t>
            </a:r>
            <a:endParaRPr lang="en-US" sz="1270" dirty="0"/>
          </a:p>
        </p:txBody>
      </p:sp>
      <p:sp>
        <p:nvSpPr>
          <p:cNvPr id="8" name="Text 6"/>
          <p:cNvSpPr/>
          <p:nvPr/>
        </p:nvSpPr>
        <p:spPr>
          <a:xfrm>
            <a:off x="6492240" y="1417320"/>
            <a:ext cx="4297680" cy="749808"/>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Real-life idea: first check if the person has entered the building, then check which room they may enter.</a:t>
            </a:r>
            <a:endParaRPr lang="en-US" sz="1350" dirty="0"/>
          </a:p>
        </p:txBody>
      </p:sp>
      <p:sp>
        <p:nvSpPr>
          <p:cNvPr id="9" name="Text 7"/>
          <p:cNvSpPr/>
          <p:nvPr/>
        </p:nvSpPr>
        <p:spPr>
          <a:xfrm>
            <a:off x="6492240" y="2468880"/>
            <a:ext cx="4297680" cy="64008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Nested if is useful, but too much nesting makes code hard to read.</a:t>
            </a:r>
            <a:endParaRPr lang="en-US" sz="1350" dirty="0"/>
          </a:p>
        </p:txBody>
      </p:sp>
      <p:sp>
        <p:nvSpPr>
          <p:cNvPr id="10" name="Text 8"/>
          <p:cNvSpPr/>
          <p:nvPr/>
        </p:nvSpPr>
        <p:spPr>
          <a:xfrm>
            <a:off x="6492240" y="3429000"/>
            <a:ext cx="4297680" cy="64008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Guiding question: What prints when loggedIn = 1 and isAdmin = 0?</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switch statements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switch is useful when one variable is compared to fixed values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685800" y="1207008"/>
            <a:ext cx="5440680" cy="425196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40" dirty="0">
                <a:solidFill>
                  <a:srgbClr val="E5E7EB"/>
                </a:solidFill>
                <a:latin typeface="Cascadia Mono" pitchFamily="34" charset="0"/>
                <a:ea typeface="Cascadia Mono" pitchFamily="34" charset="-122"/>
                <a:cs typeface="Cascadia Mono" pitchFamily="34" charset="-120"/>
              </a:rPr>
              <a:t>char option;</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printf("A/B/C: ");</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scanf(" %c", &amp;option);</a:t>
            </a:r>
            <a:endParaRPr lang="en-US" sz="1140" dirty="0"/>
          </a:p>
          <a:p>
            <a:pPr marL="0" indent="0" algn="l">
              <a:buNone/>
            </a:pP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switch (option) {</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case 'A':</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printf("Add item");</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break;</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case 'B':</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printf("View cart");</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break;</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default:</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        printf("Unknown option");</a:t>
            </a:r>
            <a:endParaRPr lang="en-US" sz="1140" dirty="0"/>
          </a:p>
          <a:p>
            <a:pPr marL="0" indent="0" algn="l">
              <a:buNone/>
            </a:pPr>
            <a:r>
              <a:rPr lang="en-US" sz="1140" dirty="0">
                <a:solidFill>
                  <a:srgbClr val="E5E7EB"/>
                </a:solidFill>
                <a:latin typeface="Cascadia Mono" pitchFamily="34" charset="0"/>
                <a:ea typeface="Cascadia Mono" pitchFamily="34" charset="-122"/>
                <a:cs typeface="Cascadia Mono" pitchFamily="34" charset="-120"/>
              </a:rPr>
              <a:t>}</a:t>
            </a:r>
            <a:endParaRPr lang="en-US" sz="1140" dirty="0"/>
          </a:p>
        </p:txBody>
      </p:sp>
      <p:sp>
        <p:nvSpPr>
          <p:cNvPr id="8" name="Text 6"/>
          <p:cNvSpPr/>
          <p:nvPr/>
        </p:nvSpPr>
        <p:spPr>
          <a:xfrm>
            <a:off x="6400800" y="1371600"/>
            <a:ext cx="420624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Good for menus and fixed choices.</a:t>
            </a:r>
            <a:endParaRPr lang="en-US" sz="1350" dirty="0"/>
          </a:p>
        </p:txBody>
      </p:sp>
      <p:sp>
        <p:nvSpPr>
          <p:cNvPr id="9" name="Text 7"/>
          <p:cNvSpPr/>
          <p:nvPr/>
        </p:nvSpPr>
        <p:spPr>
          <a:xfrm>
            <a:off x="6400800" y="2139696"/>
            <a:ext cx="4206240" cy="68580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break stops the program from falling into the next case.</a:t>
            </a:r>
            <a:endParaRPr lang="en-US" sz="1350" dirty="0"/>
          </a:p>
        </p:txBody>
      </p:sp>
      <p:sp>
        <p:nvSpPr>
          <p:cNvPr id="10" name="Text 8"/>
          <p:cNvSpPr/>
          <p:nvPr/>
        </p:nvSpPr>
        <p:spPr>
          <a:xfrm>
            <a:off x="6400800" y="3054096"/>
            <a:ext cx="4206240" cy="68580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The space before %c in scanf skips leftover whitespace.</a:t>
            </a:r>
            <a:endParaRPr lang="en-US" sz="1350" dirty="0"/>
          </a:p>
        </p:txBody>
      </p:sp>
      <p:sp>
        <p:nvSpPr>
          <p:cNvPr id="11" name="Text 9"/>
          <p:cNvSpPr/>
          <p:nvPr/>
        </p:nvSpPr>
        <p:spPr>
          <a:xfrm>
            <a:off x="6400800" y="4069080"/>
            <a:ext cx="4206240" cy="530352"/>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What happens if the user enters 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Common Week 2 bugs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Most beginner bugs here come from small symbols with big meanings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2588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EB5757"/>
                </a:solidFill>
                <a:latin typeface="Aptos" pitchFamily="34" charset="0"/>
                <a:ea typeface="Aptos" pitchFamily="34" charset="-122"/>
                <a:cs typeface="Aptos" pitchFamily="34" charset="-120"/>
              </a:rPr>
              <a:t>= instead of ==</a:t>
            </a:r>
            <a:endParaRPr lang="en-US" sz="1500" dirty="0"/>
          </a:p>
        </p:txBody>
      </p:sp>
      <p:sp>
        <p:nvSpPr>
          <p:cNvPr id="8" name="Text 6"/>
          <p:cNvSpPr/>
          <p:nvPr/>
        </p:nvSpPr>
        <p:spPr>
          <a:xfrm>
            <a:off x="822960" y="167335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if (x = 5)</a:t>
            </a:r>
            <a:endParaRPr lang="en-US" sz="1280" dirty="0"/>
          </a:p>
        </p:txBody>
      </p:sp>
      <p:sp>
        <p:nvSpPr>
          <p:cNvPr id="9" name="Text 7"/>
          <p:cNvSpPr/>
          <p:nvPr/>
        </p:nvSpPr>
        <p:spPr>
          <a:xfrm>
            <a:off x="822960" y="233172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2F80ED"/>
                </a:solidFill>
                <a:latin typeface="Aptos" pitchFamily="34" charset="0"/>
                <a:ea typeface="Aptos" pitchFamily="34" charset="-122"/>
                <a:cs typeface="Aptos" pitchFamily="34" charset="-120"/>
              </a:rPr>
              <a:t>Missing braces</a:t>
            </a:r>
            <a:endParaRPr lang="en-US" sz="1500" dirty="0"/>
          </a:p>
        </p:txBody>
      </p:sp>
      <p:sp>
        <p:nvSpPr>
          <p:cNvPr id="10" name="Text 8"/>
          <p:cNvSpPr/>
          <p:nvPr/>
        </p:nvSpPr>
        <p:spPr>
          <a:xfrm>
            <a:off x="822960" y="267919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only one statement belongs to if</a:t>
            </a:r>
            <a:endParaRPr lang="en-US" sz="1280" dirty="0"/>
          </a:p>
        </p:txBody>
      </p:sp>
      <p:sp>
        <p:nvSpPr>
          <p:cNvPr id="11" name="Text 9"/>
          <p:cNvSpPr/>
          <p:nvPr/>
        </p:nvSpPr>
        <p:spPr>
          <a:xfrm>
            <a:off x="822960" y="333756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EB5757"/>
                </a:solidFill>
                <a:latin typeface="Aptos" pitchFamily="34" charset="0"/>
                <a:ea typeface="Aptos" pitchFamily="34" charset="-122"/>
                <a:cs typeface="Aptos" pitchFamily="34" charset="-120"/>
              </a:rPr>
              <a:t>Wrong format specifier</a:t>
            </a:r>
            <a:endParaRPr lang="en-US" sz="1500" dirty="0"/>
          </a:p>
        </p:txBody>
      </p:sp>
      <p:sp>
        <p:nvSpPr>
          <p:cNvPr id="12" name="Text 10"/>
          <p:cNvSpPr/>
          <p:nvPr/>
        </p:nvSpPr>
        <p:spPr>
          <a:xfrm>
            <a:off x="822960" y="368503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%d for double input</a:t>
            </a:r>
            <a:endParaRPr lang="en-US" sz="1280" dirty="0"/>
          </a:p>
        </p:txBody>
      </p:sp>
      <p:sp>
        <p:nvSpPr>
          <p:cNvPr id="13" name="Text 11"/>
          <p:cNvSpPr/>
          <p:nvPr/>
        </p:nvSpPr>
        <p:spPr>
          <a:xfrm>
            <a:off x="6080760" y="132588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2F80ED"/>
                </a:solidFill>
                <a:latin typeface="Aptos" pitchFamily="34" charset="0"/>
                <a:ea typeface="Aptos" pitchFamily="34" charset="-122"/>
                <a:cs typeface="Aptos" pitchFamily="34" charset="-120"/>
              </a:rPr>
              <a:t>Integer division</a:t>
            </a:r>
            <a:endParaRPr lang="en-US" sz="1500" dirty="0"/>
          </a:p>
        </p:txBody>
      </p:sp>
      <p:sp>
        <p:nvSpPr>
          <p:cNvPr id="14" name="Text 12"/>
          <p:cNvSpPr/>
          <p:nvPr/>
        </p:nvSpPr>
        <p:spPr>
          <a:xfrm>
            <a:off x="6080760" y="167335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double avg = sum / count</a:t>
            </a:r>
            <a:endParaRPr lang="en-US" sz="1280" dirty="0"/>
          </a:p>
        </p:txBody>
      </p:sp>
      <p:sp>
        <p:nvSpPr>
          <p:cNvPr id="15" name="Text 13"/>
          <p:cNvSpPr/>
          <p:nvPr/>
        </p:nvSpPr>
        <p:spPr>
          <a:xfrm>
            <a:off x="6080760" y="233172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EB5757"/>
                </a:solidFill>
                <a:latin typeface="Aptos" pitchFamily="34" charset="0"/>
                <a:ea typeface="Aptos" pitchFamily="34" charset="-122"/>
                <a:cs typeface="Aptos" pitchFamily="34" charset="-120"/>
              </a:rPr>
              <a:t>Wrong else-if order</a:t>
            </a:r>
            <a:endParaRPr lang="en-US" sz="1500" dirty="0"/>
          </a:p>
        </p:txBody>
      </p:sp>
      <p:sp>
        <p:nvSpPr>
          <p:cNvPr id="16" name="Text 14"/>
          <p:cNvSpPr/>
          <p:nvPr/>
        </p:nvSpPr>
        <p:spPr>
          <a:xfrm>
            <a:off x="6080760" y="267919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lower threshold first</a:t>
            </a:r>
            <a:endParaRPr lang="en-US" sz="1280" dirty="0"/>
          </a:p>
        </p:txBody>
      </p:sp>
      <p:sp>
        <p:nvSpPr>
          <p:cNvPr id="17" name="Text 15"/>
          <p:cNvSpPr/>
          <p:nvPr/>
        </p:nvSpPr>
        <p:spPr>
          <a:xfrm>
            <a:off x="6080760" y="3337560"/>
            <a:ext cx="2468880" cy="292608"/>
          </a:xfrm>
          <a:prstGeom prst="rect">
            <a:avLst/>
          </a:prstGeom>
          <a:noFill/>
          <a:ln/>
        </p:spPr>
        <p:txBody>
          <a:bodyPr wrap="square" lIns="635" tIns="635" rIns="635" bIns="635" rtlCol="0" anchor="ctr">
            <a:normAutofit/>
          </a:bodyPr>
          <a:lstStyle/>
          <a:p>
            <a:pPr marL="0" indent="0" algn="l">
              <a:buNone/>
            </a:pPr>
            <a:r>
              <a:rPr lang="en-US" sz="1500" b="1" dirty="0">
                <a:solidFill>
                  <a:srgbClr val="2F80ED"/>
                </a:solidFill>
                <a:latin typeface="Aptos" pitchFamily="34" charset="0"/>
                <a:ea typeface="Aptos" pitchFamily="34" charset="-122"/>
                <a:cs typeface="Aptos" pitchFamily="34" charset="-120"/>
              </a:rPr>
              <a:t>Forgetting break</a:t>
            </a:r>
            <a:endParaRPr lang="en-US" sz="1500" dirty="0"/>
          </a:p>
        </p:txBody>
      </p:sp>
      <p:sp>
        <p:nvSpPr>
          <p:cNvPr id="18" name="Text 16"/>
          <p:cNvSpPr/>
          <p:nvPr/>
        </p:nvSpPr>
        <p:spPr>
          <a:xfrm>
            <a:off x="6080760" y="3685032"/>
            <a:ext cx="4663440" cy="338328"/>
          </a:xfrm>
          <a:prstGeom prst="rect">
            <a:avLst/>
          </a:prstGeom>
          <a:solidFill>
            <a:srgbClr val="FFFFFF"/>
          </a:solidFill>
          <a:ln>
            <a:solidFill>
              <a:srgbClr val="D7DEE8"/>
            </a:solidFill>
          </a:ln>
        </p:spPr>
        <p:txBody>
          <a:bodyPr wrap="square" lIns="762" tIns="762" rIns="762" bIns="762" rtlCol="0" anchor="ctr">
            <a:normAutofit/>
          </a:bodyPr>
          <a:lstStyle/>
          <a:p>
            <a:pPr marL="0" indent="0" algn="l">
              <a:buNone/>
            </a:pPr>
            <a:r>
              <a:rPr lang="en-US" sz="1280" dirty="0">
                <a:solidFill>
                  <a:srgbClr val="1F2937"/>
                </a:solidFill>
                <a:latin typeface="Aptos" pitchFamily="34" charset="0"/>
                <a:ea typeface="Aptos" pitchFamily="34" charset="-122"/>
                <a:cs typeface="Aptos" pitchFamily="34" charset="-120"/>
              </a:rPr>
              <a:t>switch falls through</a:t>
            </a:r>
            <a:endParaRPr lang="en-US" sz="1280" dirty="0"/>
          </a:p>
        </p:txBody>
      </p:sp>
      <p:sp>
        <p:nvSpPr>
          <p:cNvPr id="19" name="Text 17"/>
          <p:cNvSpPr/>
          <p:nvPr/>
        </p:nvSpPr>
        <p:spPr>
          <a:xfrm>
            <a:off x="914400" y="5486400"/>
            <a:ext cx="9875520" cy="566928"/>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Debugging habit: when the output is wrong, trace with one specific input instead of staring at the whole program.</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Worked example: BMI category</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A real program combines data types, input, calculations, and decisions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298448"/>
            <a:ext cx="1645920" cy="274320"/>
          </a:xfrm>
          <a:prstGeom prst="rect">
            <a:avLst/>
          </a:prstGeom>
          <a:noFill/>
          <a:ln/>
        </p:spPr>
        <p:txBody>
          <a:bodyPr wrap="square" lIns="635" tIns="635" rIns="635" bIns="635" rtlCol="0" anchor="ctr">
            <a:normAutofit/>
          </a:bodyPr>
          <a:lstStyle/>
          <a:p>
            <a:pPr marL="0" indent="0" algn="l">
              <a:buNone/>
            </a:pPr>
            <a:r>
              <a:rPr lang="en-US" sz="1700" b="1" dirty="0">
                <a:solidFill>
                  <a:srgbClr val="1B365D"/>
                </a:solidFill>
                <a:latin typeface="Aptos" pitchFamily="34" charset="0"/>
                <a:ea typeface="Aptos" pitchFamily="34" charset="-122"/>
                <a:cs typeface="Aptos" pitchFamily="34" charset="-120"/>
              </a:rPr>
              <a:t>Problem</a:t>
            </a:r>
            <a:endParaRPr lang="en-US" sz="1700" dirty="0"/>
          </a:p>
        </p:txBody>
      </p:sp>
      <p:sp>
        <p:nvSpPr>
          <p:cNvPr id="8" name="Text 6"/>
          <p:cNvSpPr/>
          <p:nvPr/>
        </p:nvSpPr>
        <p:spPr>
          <a:xfrm>
            <a:off x="777240" y="1691640"/>
            <a:ext cx="4663440" cy="71323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Read weight in kg and height in meters. Compute BMI = weight / height² and print a simple category.</a:t>
            </a:r>
            <a:endParaRPr lang="en-US" sz="1350" dirty="0"/>
          </a:p>
        </p:txBody>
      </p:sp>
      <p:sp>
        <p:nvSpPr>
          <p:cNvPr id="9" name="Text 7"/>
          <p:cNvSpPr/>
          <p:nvPr/>
        </p:nvSpPr>
        <p:spPr>
          <a:xfrm>
            <a:off x="5806440" y="1216152"/>
            <a:ext cx="5394960" cy="40690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170" dirty="0">
                <a:solidFill>
                  <a:srgbClr val="E5E7EB"/>
                </a:solidFill>
                <a:latin typeface="Cascadia Mono" pitchFamily="34" charset="0"/>
                <a:ea typeface="Cascadia Mono" pitchFamily="34" charset="-122"/>
                <a:cs typeface="Cascadia Mono" pitchFamily="34" charset="-120"/>
              </a:rPr>
              <a:t>double weight, height, bmi;</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scanf("%lf %lf", &amp;weight, &amp;height);</a:t>
            </a:r>
            <a:endParaRPr lang="en-US" sz="1170" dirty="0"/>
          </a:p>
          <a:p>
            <a:pPr marL="0" indent="0" algn="l">
              <a:buNone/>
            </a:pP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bmi = weight / (height * height);</a:t>
            </a:r>
            <a:endParaRPr lang="en-US" sz="1170" dirty="0"/>
          </a:p>
          <a:p>
            <a:pPr marL="0" indent="0" algn="l">
              <a:buNone/>
            </a:pP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if (bmi &lt; 18.5) {</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printf("Underweight");</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else if (bmi &lt; 25.0) {</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printf("Normal");</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else if (bmi &lt; 30.0) {</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printf("Overweight");</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else {</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    printf("Obese");</a:t>
            </a:r>
            <a:endParaRPr lang="en-US" sz="1170" dirty="0"/>
          </a:p>
          <a:p>
            <a:pPr marL="0" indent="0" algn="l">
              <a:buNone/>
            </a:pPr>
            <a:r>
              <a:rPr lang="en-US" sz="1170" dirty="0">
                <a:solidFill>
                  <a:srgbClr val="E5E7EB"/>
                </a:solidFill>
                <a:latin typeface="Cascadia Mono" pitchFamily="34" charset="0"/>
                <a:ea typeface="Cascadia Mono" pitchFamily="34" charset="-122"/>
                <a:cs typeface="Cascadia Mono" pitchFamily="34" charset="-120"/>
              </a:rPr>
              <a:t>}</a:t>
            </a:r>
            <a:endParaRPr lang="en-US" sz="1170" dirty="0"/>
          </a:p>
        </p:txBody>
      </p:sp>
      <p:sp>
        <p:nvSpPr>
          <p:cNvPr id="10" name="Text 8"/>
          <p:cNvSpPr/>
          <p:nvPr/>
        </p:nvSpPr>
        <p:spPr>
          <a:xfrm>
            <a:off x="868680" y="3017520"/>
            <a:ext cx="4572000" cy="777240"/>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Question: Why do we not write bmi &gt;= 18.5 &amp;&amp; bmi &lt; 25.0 for the second condition?</a:t>
            </a:r>
            <a:endParaRPr lang="en-US" sz="1350" dirty="0"/>
          </a:p>
        </p:txBody>
      </p:sp>
      <p:sp>
        <p:nvSpPr>
          <p:cNvPr id="11" name="Text 9"/>
          <p:cNvSpPr/>
          <p:nvPr/>
        </p:nvSpPr>
        <p:spPr>
          <a:xfrm>
            <a:off x="868680" y="4069080"/>
            <a:ext cx="4572000" cy="566928"/>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Answer idea: previous failed conditions already give information.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Worked example: electricity bill</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Tiered pricing is a strong real-life example of conditionals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298448"/>
            <a:ext cx="1371600" cy="274320"/>
          </a:xfrm>
          <a:prstGeom prst="rect">
            <a:avLst/>
          </a:prstGeom>
          <a:noFill/>
          <a:ln/>
        </p:spPr>
        <p:txBody>
          <a:bodyPr wrap="square" lIns="635" tIns="635" rIns="635" bIns="635" rtlCol="0" anchor="ctr">
            <a:normAutofit/>
          </a:bodyPr>
          <a:lstStyle/>
          <a:p>
            <a:pPr marL="0" indent="0" algn="l">
              <a:buNone/>
            </a:pPr>
            <a:r>
              <a:rPr lang="en-US" sz="1700" b="1" dirty="0">
                <a:solidFill>
                  <a:srgbClr val="1B365D"/>
                </a:solidFill>
                <a:latin typeface="Aptos" pitchFamily="34" charset="0"/>
                <a:ea typeface="Aptos" pitchFamily="34" charset="-122"/>
                <a:cs typeface="Aptos" pitchFamily="34" charset="-120"/>
              </a:rPr>
              <a:t>Rule</a:t>
            </a:r>
            <a:endParaRPr lang="en-US" sz="1700" dirty="0"/>
          </a:p>
        </p:txBody>
      </p:sp>
      <p:sp>
        <p:nvSpPr>
          <p:cNvPr id="8" name="Text 6"/>
          <p:cNvSpPr/>
          <p:nvPr/>
        </p:nvSpPr>
        <p:spPr>
          <a:xfrm>
            <a:off x="777240" y="1691640"/>
            <a:ext cx="4617720" cy="100584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First 100 kWh: 0.10 per kWh</a:t>
            </a:r>
            <a:endParaRPr lang="en-US" sz="1350" dirty="0"/>
          </a:p>
          <a:p>
            <a:pPr marL="0" indent="0" algn="l">
              <a:buNone/>
            </a:pPr>
            <a:r>
              <a:rPr lang="en-US" sz="1350" dirty="0">
                <a:solidFill>
                  <a:srgbClr val="1F2937"/>
                </a:solidFill>
                <a:latin typeface="Aptos" pitchFamily="34" charset="0"/>
                <a:ea typeface="Aptos" pitchFamily="34" charset="-122"/>
                <a:cs typeface="Aptos" pitchFamily="34" charset="-120"/>
              </a:rPr>
              <a:t>Next 100 kWh: 0.15 per kWh</a:t>
            </a:r>
            <a:endParaRPr lang="en-US" sz="1350" dirty="0"/>
          </a:p>
          <a:p>
            <a:pPr marL="0" indent="0" algn="l">
              <a:buNone/>
            </a:pPr>
            <a:r>
              <a:rPr lang="en-US" sz="1350" dirty="0">
                <a:solidFill>
                  <a:srgbClr val="1F2937"/>
                </a:solidFill>
                <a:latin typeface="Aptos" pitchFamily="34" charset="0"/>
                <a:ea typeface="Aptos" pitchFamily="34" charset="-122"/>
                <a:cs typeface="Aptos" pitchFamily="34" charset="-120"/>
              </a:rPr>
              <a:t>Above 200 kWh: 0.20 per kWh</a:t>
            </a:r>
            <a:endParaRPr lang="en-US" sz="1350" dirty="0"/>
          </a:p>
        </p:txBody>
      </p:sp>
      <p:sp>
        <p:nvSpPr>
          <p:cNvPr id="9" name="Text 7"/>
          <p:cNvSpPr/>
          <p:nvPr/>
        </p:nvSpPr>
        <p:spPr>
          <a:xfrm>
            <a:off x="5577840" y="1207008"/>
            <a:ext cx="5669280" cy="406908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060" dirty="0">
                <a:solidFill>
                  <a:srgbClr val="E5E7EB"/>
                </a:solidFill>
                <a:latin typeface="Cascadia Mono" pitchFamily="34" charset="0"/>
                <a:ea typeface="Cascadia Mono" pitchFamily="34" charset="-122"/>
                <a:cs typeface="Cascadia Mono" pitchFamily="34" charset="-120"/>
              </a:rPr>
              <a:t>double kwh, bill;</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scanf("%lf", &amp;kwh);</a:t>
            </a:r>
            <a:endParaRPr lang="en-US" sz="1060" dirty="0"/>
          </a:p>
          <a:p>
            <a:pPr marL="0" indent="0" algn="l">
              <a:buNone/>
            </a:pP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if (kwh &lt;= 100) {</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    bill = kwh * 0.10;</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 else if (kwh &lt;= 200) {</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    bill = 100 * 0.10 + (kwh - 100) * 0.15;</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 else {</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    bill = 100 * 0.10 + 100 * 0.15 + (kwh - 200) * 0.20;</a:t>
            </a: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a:t>
            </a:r>
            <a:endParaRPr lang="en-US" sz="1060" dirty="0"/>
          </a:p>
          <a:p>
            <a:pPr marL="0" indent="0" algn="l">
              <a:buNone/>
            </a:pPr>
            <a:endParaRPr lang="en-US" sz="1060" dirty="0"/>
          </a:p>
          <a:p>
            <a:pPr marL="0" indent="0" algn="l">
              <a:buNone/>
            </a:pPr>
            <a:r>
              <a:rPr lang="en-US" sz="1060" dirty="0">
                <a:solidFill>
                  <a:srgbClr val="E5E7EB"/>
                </a:solidFill>
                <a:latin typeface="Cascadia Mono" pitchFamily="34" charset="0"/>
                <a:ea typeface="Cascadia Mono" pitchFamily="34" charset="-122"/>
                <a:cs typeface="Cascadia Mono" pitchFamily="34" charset="-120"/>
              </a:rPr>
              <a:t>printf("Bill = %.2f", bill);</a:t>
            </a:r>
            <a:endParaRPr lang="en-US" sz="1060" dirty="0"/>
          </a:p>
        </p:txBody>
      </p:sp>
      <p:sp>
        <p:nvSpPr>
          <p:cNvPr id="10" name="Text 8"/>
          <p:cNvSpPr/>
          <p:nvPr/>
        </p:nvSpPr>
        <p:spPr>
          <a:xfrm>
            <a:off x="914400" y="4251960"/>
            <a:ext cx="4389120" cy="603504"/>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Predict the bill for 80, 150, and 250 kWh.</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Code tracing exercise</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Before writing code, students must be able to read code</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68680" y="1298448"/>
            <a:ext cx="4846320" cy="310896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50" dirty="0">
                <a:solidFill>
                  <a:srgbClr val="E5E7EB"/>
                </a:solidFill>
                <a:latin typeface="Cascadia Mono" pitchFamily="34" charset="0"/>
                <a:ea typeface="Cascadia Mono" pitchFamily="34" charset="-122"/>
                <a:cs typeface="Cascadia Mono" pitchFamily="34" charset="-120"/>
              </a:rPr>
              <a:t>int x = 5;</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int y = 12;</a:t>
            </a:r>
            <a:endParaRPr lang="en-US" sz="1450" dirty="0"/>
          </a:p>
          <a:p>
            <a:pPr marL="0" indent="0" algn="l">
              <a:buNone/>
            </a:pP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if (x * 2 &gt; y)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printf("A");</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else if (y % x == 2)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printf("B");</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else {</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    printf("C");</a:t>
            </a: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a:t>
            </a:r>
            <a:endParaRPr lang="en-US" sz="1450" dirty="0"/>
          </a:p>
          <a:p>
            <a:pPr marL="0" indent="0" algn="l">
              <a:buNone/>
            </a:pPr>
            <a:endParaRPr lang="en-US" sz="1450" dirty="0"/>
          </a:p>
          <a:p>
            <a:pPr marL="0" indent="0" algn="l">
              <a:buNone/>
            </a:pPr>
            <a:r>
              <a:rPr lang="en-US" sz="1450" dirty="0">
                <a:solidFill>
                  <a:srgbClr val="E5E7EB"/>
                </a:solidFill>
                <a:latin typeface="Cascadia Mono" pitchFamily="34" charset="0"/>
                <a:ea typeface="Cascadia Mono" pitchFamily="34" charset="-122"/>
                <a:cs typeface="Cascadia Mono" pitchFamily="34" charset="-120"/>
              </a:rPr>
              <a:t>printf("D");</a:t>
            </a:r>
            <a:endParaRPr lang="en-US" sz="1450" dirty="0"/>
          </a:p>
        </p:txBody>
      </p:sp>
      <p:sp>
        <p:nvSpPr>
          <p:cNvPr id="8" name="Text 6"/>
          <p:cNvSpPr/>
          <p:nvPr/>
        </p:nvSpPr>
        <p:spPr>
          <a:xfrm>
            <a:off x="6446520" y="1325880"/>
            <a:ext cx="2286000" cy="310896"/>
          </a:xfrm>
          <a:prstGeom prst="rect">
            <a:avLst/>
          </a:prstGeom>
          <a:noFill/>
          <a:ln/>
        </p:spPr>
        <p:txBody>
          <a:bodyPr wrap="square" lIns="635" tIns="635" rIns="635" bIns="635" rtlCol="0" anchor="ctr">
            <a:normAutofit/>
          </a:bodyPr>
          <a:lstStyle/>
          <a:p>
            <a:pPr marL="0" indent="0" algn="l">
              <a:buNone/>
            </a:pPr>
            <a:r>
              <a:rPr lang="en-US" sz="1800" b="1" dirty="0">
                <a:solidFill>
                  <a:srgbClr val="1B365D"/>
                </a:solidFill>
                <a:latin typeface="Aptos" pitchFamily="34" charset="0"/>
                <a:ea typeface="Aptos" pitchFamily="34" charset="-122"/>
                <a:cs typeface="Aptos" pitchFamily="34" charset="-120"/>
              </a:rPr>
              <a:t>Questions</a:t>
            </a:r>
            <a:endParaRPr lang="en-US" sz="1800" dirty="0"/>
          </a:p>
        </p:txBody>
      </p:sp>
      <p:sp>
        <p:nvSpPr>
          <p:cNvPr id="9" name="Text 7"/>
          <p:cNvSpPr/>
          <p:nvPr/>
        </p:nvSpPr>
        <p:spPr>
          <a:xfrm>
            <a:off x="6446520" y="1828800"/>
            <a:ext cx="4114800" cy="43891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1. What is x * 2 &gt; y?</a:t>
            </a:r>
            <a:endParaRPr lang="en-US" sz="1350" dirty="0"/>
          </a:p>
        </p:txBody>
      </p:sp>
      <p:sp>
        <p:nvSpPr>
          <p:cNvPr id="10" name="Text 8"/>
          <p:cNvSpPr/>
          <p:nvPr/>
        </p:nvSpPr>
        <p:spPr>
          <a:xfrm>
            <a:off x="6446520" y="2450592"/>
            <a:ext cx="4114800" cy="43891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2. What is y % x?</a:t>
            </a:r>
            <a:endParaRPr lang="en-US" sz="1350" dirty="0"/>
          </a:p>
        </p:txBody>
      </p:sp>
      <p:sp>
        <p:nvSpPr>
          <p:cNvPr id="11" name="Text 9"/>
          <p:cNvSpPr/>
          <p:nvPr/>
        </p:nvSpPr>
        <p:spPr>
          <a:xfrm>
            <a:off x="6446520" y="3072384"/>
            <a:ext cx="4114800" cy="438912"/>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3. What exactly is printed?</a:t>
            </a:r>
            <a:endParaRPr lang="en-US" sz="1350" dirty="0"/>
          </a:p>
        </p:txBody>
      </p:sp>
      <p:sp>
        <p:nvSpPr>
          <p:cNvPr id="12" name="Text 10"/>
          <p:cNvSpPr/>
          <p:nvPr/>
        </p:nvSpPr>
        <p:spPr>
          <a:xfrm>
            <a:off x="6446520" y="3694176"/>
            <a:ext cx="4114800" cy="438912"/>
          </a:xfrm>
          <a:prstGeom prst="rect">
            <a:avLst/>
          </a:prstGeom>
          <a:solidFill>
            <a:srgbClr val="FFFFFF"/>
          </a:solidFill>
          <a:ln w="15240">
            <a:solidFill>
              <a:srgbClr val="7B61FF"/>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4. Which branch runs?</a:t>
            </a:r>
            <a:endParaRPr lang="en-US" sz="1350" dirty="0"/>
          </a:p>
        </p:txBody>
      </p:sp>
      <p:sp>
        <p:nvSpPr>
          <p:cNvPr id="13" name="Text 11"/>
          <p:cNvSpPr/>
          <p:nvPr/>
        </p:nvSpPr>
        <p:spPr>
          <a:xfrm>
            <a:off x="914400" y="5349240"/>
            <a:ext cx="9601200" cy="566928"/>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Do not run it first. Trace it like an exam question.</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In-class practice tasks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Start simple, then combine ideas</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777240" y="1417320"/>
            <a:ext cx="3246120" cy="301752"/>
          </a:xfrm>
          <a:prstGeom prst="rect">
            <a:avLst/>
          </a:prstGeom>
          <a:solidFill>
            <a:srgbClr val="FFFFFF"/>
          </a:solidFill>
          <a:ln w="16510">
            <a:solidFill>
              <a:srgbClr val="2F80ED"/>
            </a:solidFill>
          </a:ln>
        </p:spPr>
        <p:txBody>
          <a:bodyPr wrap="square" lIns="635" tIns="635" rIns="635" bIns="635" rtlCol="0" anchor="ctr">
            <a:normAutofit/>
          </a:bodyPr>
          <a:lstStyle/>
          <a:p>
            <a:pPr marL="0" indent="0" algn="ctr">
              <a:buNone/>
            </a:pPr>
            <a:r>
              <a:rPr lang="en-US" sz="1550" b="1" dirty="0">
                <a:solidFill>
                  <a:srgbClr val="2F80ED"/>
                </a:solidFill>
                <a:latin typeface="Aptos" pitchFamily="34" charset="0"/>
                <a:ea typeface="Aptos" pitchFamily="34" charset="-122"/>
                <a:cs typeface="Aptos" pitchFamily="34" charset="-120"/>
              </a:rPr>
              <a:t>Task 1</a:t>
            </a:r>
            <a:endParaRPr lang="en-US" sz="1550" dirty="0"/>
          </a:p>
        </p:txBody>
      </p:sp>
      <p:sp>
        <p:nvSpPr>
          <p:cNvPr id="8" name="Text 6"/>
          <p:cNvSpPr/>
          <p:nvPr/>
        </p:nvSpPr>
        <p:spPr>
          <a:xfrm>
            <a:off x="777240" y="1810512"/>
            <a:ext cx="3246120" cy="65836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Read two integers and print the larger one.</a:t>
            </a:r>
            <a:endParaRPr lang="en-US" sz="1280" dirty="0"/>
          </a:p>
        </p:txBody>
      </p:sp>
      <p:sp>
        <p:nvSpPr>
          <p:cNvPr id="9" name="Text 7"/>
          <p:cNvSpPr/>
          <p:nvPr/>
        </p:nvSpPr>
        <p:spPr>
          <a:xfrm>
            <a:off x="4434840" y="1417320"/>
            <a:ext cx="3246120" cy="301752"/>
          </a:xfrm>
          <a:prstGeom prst="rect">
            <a:avLst/>
          </a:prstGeom>
          <a:solidFill>
            <a:srgbClr val="FFFFFF"/>
          </a:solidFill>
          <a:ln w="16510">
            <a:solidFill>
              <a:srgbClr val="27AE60"/>
            </a:solidFill>
          </a:ln>
        </p:spPr>
        <p:txBody>
          <a:bodyPr wrap="square" lIns="635" tIns="635" rIns="635" bIns="635" rtlCol="0" anchor="ctr">
            <a:normAutofit/>
          </a:bodyPr>
          <a:lstStyle/>
          <a:p>
            <a:pPr marL="0" indent="0" algn="ctr">
              <a:buNone/>
            </a:pPr>
            <a:r>
              <a:rPr lang="en-US" sz="1550" b="1" dirty="0">
                <a:solidFill>
                  <a:srgbClr val="27AE60"/>
                </a:solidFill>
                <a:latin typeface="Aptos" pitchFamily="34" charset="0"/>
                <a:ea typeface="Aptos" pitchFamily="34" charset="-122"/>
                <a:cs typeface="Aptos" pitchFamily="34" charset="-120"/>
              </a:rPr>
              <a:t>Task 2</a:t>
            </a:r>
            <a:endParaRPr lang="en-US" sz="1550" dirty="0"/>
          </a:p>
        </p:txBody>
      </p:sp>
      <p:sp>
        <p:nvSpPr>
          <p:cNvPr id="10" name="Text 8"/>
          <p:cNvSpPr/>
          <p:nvPr/>
        </p:nvSpPr>
        <p:spPr>
          <a:xfrm>
            <a:off x="4434840" y="1810512"/>
            <a:ext cx="3246120" cy="65836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Read an integer and print whether it is even or odd.</a:t>
            </a:r>
            <a:endParaRPr lang="en-US" sz="1280" dirty="0"/>
          </a:p>
        </p:txBody>
      </p:sp>
      <p:sp>
        <p:nvSpPr>
          <p:cNvPr id="11" name="Text 9"/>
          <p:cNvSpPr/>
          <p:nvPr/>
        </p:nvSpPr>
        <p:spPr>
          <a:xfrm>
            <a:off x="8092440" y="1417320"/>
            <a:ext cx="3246120" cy="301752"/>
          </a:xfrm>
          <a:prstGeom prst="rect">
            <a:avLst/>
          </a:prstGeom>
          <a:solidFill>
            <a:srgbClr val="FFFFFF"/>
          </a:solidFill>
          <a:ln w="16510">
            <a:solidFill>
              <a:srgbClr val="F2C94C"/>
            </a:solidFill>
          </a:ln>
        </p:spPr>
        <p:txBody>
          <a:bodyPr wrap="square" lIns="635" tIns="635" rIns="635" bIns="635" rtlCol="0" anchor="ctr">
            <a:normAutofit/>
          </a:bodyPr>
          <a:lstStyle/>
          <a:p>
            <a:pPr marL="0" indent="0" algn="ctr">
              <a:buNone/>
            </a:pPr>
            <a:r>
              <a:rPr lang="en-US" sz="1550" b="1" dirty="0">
                <a:solidFill>
                  <a:srgbClr val="F2C94C"/>
                </a:solidFill>
                <a:latin typeface="Aptos" pitchFamily="34" charset="0"/>
                <a:ea typeface="Aptos" pitchFamily="34" charset="-122"/>
                <a:cs typeface="Aptos" pitchFamily="34" charset="-120"/>
              </a:rPr>
              <a:t>Task 3</a:t>
            </a:r>
            <a:endParaRPr lang="en-US" sz="1550" dirty="0"/>
          </a:p>
        </p:txBody>
      </p:sp>
      <p:sp>
        <p:nvSpPr>
          <p:cNvPr id="12" name="Text 10"/>
          <p:cNvSpPr/>
          <p:nvPr/>
        </p:nvSpPr>
        <p:spPr>
          <a:xfrm>
            <a:off x="8092440" y="1810512"/>
            <a:ext cx="3246120" cy="65836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Read a score and print A/B/C/D/F using else-if.</a:t>
            </a:r>
            <a:endParaRPr lang="en-US" sz="1280" dirty="0"/>
          </a:p>
        </p:txBody>
      </p:sp>
      <p:sp>
        <p:nvSpPr>
          <p:cNvPr id="13" name="Text 11"/>
          <p:cNvSpPr/>
          <p:nvPr/>
        </p:nvSpPr>
        <p:spPr>
          <a:xfrm>
            <a:off x="2560320" y="3063240"/>
            <a:ext cx="3566160" cy="301752"/>
          </a:xfrm>
          <a:prstGeom prst="rect">
            <a:avLst/>
          </a:prstGeom>
          <a:solidFill>
            <a:srgbClr val="FFFFFF"/>
          </a:solidFill>
          <a:ln w="16510">
            <a:solidFill>
              <a:srgbClr val="EB5757"/>
            </a:solidFill>
          </a:ln>
        </p:spPr>
        <p:txBody>
          <a:bodyPr wrap="square" lIns="635" tIns="635" rIns="635" bIns="635" rtlCol="0" anchor="ctr">
            <a:normAutofit/>
          </a:bodyPr>
          <a:lstStyle/>
          <a:p>
            <a:pPr marL="0" indent="0" algn="ctr">
              <a:buNone/>
            </a:pPr>
            <a:r>
              <a:rPr lang="en-US" sz="1550" b="1" dirty="0">
                <a:solidFill>
                  <a:srgbClr val="EB5757"/>
                </a:solidFill>
                <a:latin typeface="Aptos" pitchFamily="34" charset="0"/>
                <a:ea typeface="Aptos" pitchFamily="34" charset="-122"/>
                <a:cs typeface="Aptos" pitchFamily="34" charset="-120"/>
              </a:rPr>
              <a:t>Task 4</a:t>
            </a:r>
            <a:endParaRPr lang="en-US" sz="1550" dirty="0"/>
          </a:p>
        </p:txBody>
      </p:sp>
      <p:sp>
        <p:nvSpPr>
          <p:cNvPr id="14" name="Text 12"/>
          <p:cNvSpPr/>
          <p:nvPr/>
        </p:nvSpPr>
        <p:spPr>
          <a:xfrm>
            <a:off x="2560320" y="3456432"/>
            <a:ext cx="3566160" cy="74980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Build a tiny menu with switch: add, subtract, multiply.</a:t>
            </a:r>
            <a:endParaRPr lang="en-US" sz="1280" dirty="0"/>
          </a:p>
        </p:txBody>
      </p:sp>
      <p:sp>
        <p:nvSpPr>
          <p:cNvPr id="15" name="Text 13"/>
          <p:cNvSpPr/>
          <p:nvPr/>
        </p:nvSpPr>
        <p:spPr>
          <a:xfrm>
            <a:off x="6629400" y="3063240"/>
            <a:ext cx="3566160" cy="301752"/>
          </a:xfrm>
          <a:prstGeom prst="rect">
            <a:avLst/>
          </a:prstGeom>
          <a:solidFill>
            <a:srgbClr val="FFFFFF"/>
          </a:solidFill>
          <a:ln w="16510">
            <a:solidFill>
              <a:srgbClr val="7B61FF"/>
            </a:solidFill>
          </a:ln>
        </p:spPr>
        <p:txBody>
          <a:bodyPr wrap="square" lIns="635" tIns="635" rIns="635" bIns="635" rtlCol="0" anchor="ctr">
            <a:normAutofit/>
          </a:bodyPr>
          <a:lstStyle/>
          <a:p>
            <a:pPr marL="0" indent="0" algn="ctr">
              <a:buNone/>
            </a:pPr>
            <a:r>
              <a:rPr lang="en-US" sz="1550" b="1" dirty="0">
                <a:solidFill>
                  <a:srgbClr val="7B61FF"/>
                </a:solidFill>
                <a:latin typeface="Aptos" pitchFamily="34" charset="0"/>
                <a:ea typeface="Aptos" pitchFamily="34" charset="-122"/>
                <a:cs typeface="Aptos" pitchFamily="34" charset="-120"/>
              </a:rPr>
              <a:t>Task 5</a:t>
            </a:r>
            <a:endParaRPr lang="en-US" sz="1550" dirty="0"/>
          </a:p>
        </p:txBody>
      </p:sp>
      <p:sp>
        <p:nvSpPr>
          <p:cNvPr id="16" name="Text 14"/>
          <p:cNvSpPr/>
          <p:nvPr/>
        </p:nvSpPr>
        <p:spPr>
          <a:xfrm>
            <a:off x="6629400" y="3456432"/>
            <a:ext cx="3566160" cy="749808"/>
          </a:xfrm>
          <a:prstGeom prst="rect">
            <a:avLst/>
          </a:prstGeom>
          <a:solidFill>
            <a:srgbClr val="FFFFFF"/>
          </a:solidFill>
          <a:ln w="12700">
            <a:solidFill>
              <a:srgbClr val="D7DEE8"/>
            </a:solidFill>
          </a:ln>
        </p:spPr>
        <p:txBody>
          <a:bodyPr wrap="square" lIns="1270" tIns="1270" rIns="1270" bIns="1270" rtlCol="0" anchor="ctr">
            <a:normAutofit/>
          </a:bodyPr>
          <a:lstStyle/>
          <a:p>
            <a:pPr marL="0" indent="0" algn="ctr">
              <a:buNone/>
            </a:pPr>
            <a:r>
              <a:rPr lang="en-US" sz="1280" dirty="0">
                <a:solidFill>
                  <a:srgbClr val="1F2937"/>
                </a:solidFill>
                <a:latin typeface="Aptos" pitchFamily="34" charset="0"/>
                <a:ea typeface="Aptos" pitchFamily="34" charset="-122"/>
                <a:cs typeface="Aptos" pitchFamily="34" charset="-120"/>
              </a:rPr>
              <a:t>Read hours and hourly rate. Include overtime after 40 hours.</a:t>
            </a:r>
            <a:endParaRPr lang="en-US" sz="1280" dirty="0"/>
          </a:p>
        </p:txBody>
      </p:sp>
      <p:sp>
        <p:nvSpPr>
          <p:cNvPr id="17" name="Text 15"/>
          <p:cNvSpPr/>
          <p:nvPr/>
        </p:nvSpPr>
        <p:spPr>
          <a:xfrm>
            <a:off x="914400" y="5349240"/>
            <a:ext cx="9829800" cy="530352"/>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Guidance: For each task, first write inputs, outputs, and conditions in plain English.</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Quiz-style questions</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Short questions, but they reveal real understanding</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22960" y="1371600"/>
            <a:ext cx="4937760" cy="7772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dirty="0">
                <a:solidFill>
                  <a:srgbClr val="E5E7EB"/>
                </a:solidFill>
                <a:latin typeface="Cascadia Mono" pitchFamily="34" charset="0"/>
                <a:ea typeface="Cascadia Mono" pitchFamily="34" charset="-122"/>
                <a:cs typeface="Cascadia Mono" pitchFamily="34" charset="-120"/>
              </a:rPr>
              <a:t>int a = 9, b = 4;</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printf("%d %d", a / b, a % b);</a:t>
            </a:r>
            <a:endParaRPr lang="en-US" sz="1550" dirty="0"/>
          </a:p>
        </p:txBody>
      </p:sp>
      <p:sp>
        <p:nvSpPr>
          <p:cNvPr id="8" name="Text 6"/>
          <p:cNvSpPr/>
          <p:nvPr/>
        </p:nvSpPr>
        <p:spPr>
          <a:xfrm>
            <a:off x="6446520" y="1371600"/>
            <a:ext cx="4069080" cy="502920"/>
          </a:xfrm>
          <a:prstGeom prst="rect">
            <a:avLst/>
          </a:prstGeom>
          <a:solidFill>
            <a:srgbClr val="FFFFFF"/>
          </a:solidFill>
          <a:ln w="15240">
            <a:solidFill>
              <a:srgbClr val="2F80E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Q1: What is printed?</a:t>
            </a:r>
            <a:endParaRPr lang="en-US" sz="1350" dirty="0"/>
          </a:p>
        </p:txBody>
      </p:sp>
      <p:sp>
        <p:nvSpPr>
          <p:cNvPr id="9" name="Text 7"/>
          <p:cNvSpPr/>
          <p:nvPr/>
        </p:nvSpPr>
        <p:spPr>
          <a:xfrm>
            <a:off x="822960" y="2487168"/>
            <a:ext cx="4937760" cy="7772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550" dirty="0">
                <a:solidFill>
                  <a:srgbClr val="E5E7EB"/>
                </a:solidFill>
                <a:latin typeface="Cascadia Mono" pitchFamily="34" charset="0"/>
                <a:ea typeface="Cascadia Mono" pitchFamily="34" charset="-122"/>
                <a:cs typeface="Cascadia Mono" pitchFamily="34" charset="-120"/>
              </a:rPr>
              <a:t>double avg = 7 / 2;</a:t>
            </a:r>
            <a:endParaRPr lang="en-US" sz="1550" dirty="0"/>
          </a:p>
          <a:p>
            <a:pPr marL="0" indent="0" algn="l">
              <a:buNone/>
            </a:pPr>
            <a:r>
              <a:rPr lang="en-US" sz="1550" dirty="0">
                <a:solidFill>
                  <a:srgbClr val="E5E7EB"/>
                </a:solidFill>
                <a:latin typeface="Cascadia Mono" pitchFamily="34" charset="0"/>
                <a:ea typeface="Cascadia Mono" pitchFamily="34" charset="-122"/>
                <a:cs typeface="Cascadia Mono" pitchFamily="34" charset="-120"/>
              </a:rPr>
              <a:t>printf("%.1f", avg);</a:t>
            </a:r>
            <a:endParaRPr lang="en-US" sz="1550" dirty="0"/>
          </a:p>
        </p:txBody>
      </p:sp>
      <p:sp>
        <p:nvSpPr>
          <p:cNvPr id="10" name="Text 8"/>
          <p:cNvSpPr/>
          <p:nvPr/>
        </p:nvSpPr>
        <p:spPr>
          <a:xfrm>
            <a:off x="6446520" y="2487168"/>
            <a:ext cx="4069080" cy="502920"/>
          </a:xfrm>
          <a:prstGeom prst="rect">
            <a:avLst/>
          </a:prstGeom>
          <a:solidFill>
            <a:srgbClr val="FFFFFF"/>
          </a:solidFill>
          <a:ln w="15240">
            <a:solidFill>
              <a:srgbClr val="EB5757"/>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Q2: Why is this not 3.5?</a:t>
            </a:r>
            <a:endParaRPr lang="en-US" sz="1350" dirty="0"/>
          </a:p>
        </p:txBody>
      </p:sp>
      <p:sp>
        <p:nvSpPr>
          <p:cNvPr id="11" name="Text 9"/>
          <p:cNvSpPr/>
          <p:nvPr/>
        </p:nvSpPr>
        <p:spPr>
          <a:xfrm>
            <a:off x="822960" y="3602736"/>
            <a:ext cx="4937760" cy="1005840"/>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30" dirty="0">
                <a:solidFill>
                  <a:srgbClr val="E5E7EB"/>
                </a:solidFill>
                <a:latin typeface="Cascadia Mono" pitchFamily="34" charset="0"/>
                <a:ea typeface="Cascadia Mono" pitchFamily="34" charset="-122"/>
                <a:cs typeface="Cascadia Mono" pitchFamily="34" charset="-120"/>
              </a:rPr>
              <a:t>if (x &gt;= 0)</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    printf("positive");</a:t>
            </a:r>
            <a:endParaRPr lang="en-US" sz="1430" dirty="0"/>
          </a:p>
          <a:p>
            <a:pPr marL="0" indent="0" algn="l">
              <a:buNone/>
            </a:pPr>
            <a:r>
              <a:rPr lang="en-US" sz="1430" dirty="0">
                <a:solidFill>
                  <a:srgbClr val="E5E7EB"/>
                </a:solidFill>
                <a:latin typeface="Cascadia Mono" pitchFamily="34" charset="0"/>
                <a:ea typeface="Cascadia Mono" pitchFamily="34" charset="-122"/>
                <a:cs typeface="Cascadia Mono" pitchFamily="34" charset="-120"/>
              </a:rPr>
              <a:t>    printf("done");</a:t>
            </a:r>
            <a:endParaRPr lang="en-US" sz="1430" dirty="0"/>
          </a:p>
        </p:txBody>
      </p:sp>
      <p:sp>
        <p:nvSpPr>
          <p:cNvPr id="12" name="Text 10"/>
          <p:cNvSpPr/>
          <p:nvPr/>
        </p:nvSpPr>
        <p:spPr>
          <a:xfrm>
            <a:off x="6446520" y="3602736"/>
            <a:ext cx="4069080" cy="530352"/>
          </a:xfrm>
          <a:prstGeom prst="rect">
            <a:avLst/>
          </a:prstGeom>
          <a:solidFill>
            <a:srgbClr val="FFFFFF"/>
          </a:solidFill>
          <a:ln w="15240">
            <a:solidFill>
              <a:srgbClr val="27AE60"/>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Q3: Which line is always printed?</a:t>
            </a:r>
            <a:endParaRPr lang="en-US" sz="1350" dirty="0"/>
          </a:p>
        </p:txBody>
      </p:sp>
      <p:sp>
        <p:nvSpPr>
          <p:cNvPr id="13" name="Text 11"/>
          <p:cNvSpPr/>
          <p:nvPr/>
        </p:nvSpPr>
        <p:spPr>
          <a:xfrm>
            <a:off x="914400" y="5532120"/>
            <a:ext cx="9829800" cy="530352"/>
          </a:xfrm>
          <a:prstGeom prst="rect">
            <a:avLst/>
          </a:prstGeom>
          <a:solidFill>
            <a:srgbClr val="FFFFFF"/>
          </a:solidFill>
          <a:ln w="15240">
            <a:solidFill>
              <a:srgbClr val="1B365D"/>
            </a:solidFill>
          </a:ln>
        </p:spPr>
        <p:txBody>
          <a:bodyPr wrap="square" lIns="1778" tIns="1778" rIns="1778" bIns="1778" rtlCol="0" anchor="ctr">
            <a:normAutofit/>
          </a:bodyPr>
          <a:lstStyle/>
          <a:p>
            <a:pPr marL="0" indent="0" algn="l">
              <a:buNone/>
            </a:pPr>
            <a:r>
              <a:rPr lang="en-US" sz="1350" dirty="0">
                <a:solidFill>
                  <a:srgbClr val="1F2937"/>
                </a:solidFill>
                <a:latin typeface="Aptos" pitchFamily="34" charset="0"/>
                <a:ea typeface="Aptos" pitchFamily="34" charset="-122"/>
                <a:cs typeface="Aptos" pitchFamily="34" charset="-120"/>
              </a:rPr>
              <a:t>Good answer format: do not only give the result; explain the rule that produced it.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D"/>
        </a:solidFill>
        <a:effectLst/>
      </p:bgPr>
    </p:bg>
    <p:spTree>
      <p:nvGrpSpPr>
        <p:cNvPr id="1" name=""/>
        <p:cNvGrpSpPr/>
        <p:nvPr/>
      </p:nvGrpSpPr>
      <p:grpSpPr>
        <a:xfrm>
          <a:off x="0" y="0"/>
          <a:ext cx="0" cy="0"/>
          <a:chOff x="0" y="0"/>
          <a:chExt cx="0" cy="0"/>
        </a:xfrm>
      </p:grpSpPr>
      <p:sp>
        <p:nvSpPr>
          <p:cNvPr id="2" name="Text 0"/>
          <p:cNvSpPr/>
          <p:nvPr/>
        </p:nvSpPr>
        <p:spPr>
          <a:xfrm>
            <a:off x="502920" y="310896"/>
            <a:ext cx="10241280" cy="384048"/>
          </a:xfrm>
          <a:prstGeom prst="rect">
            <a:avLst/>
          </a:prstGeom>
          <a:noFill/>
          <a:ln/>
        </p:spPr>
        <p:txBody>
          <a:bodyPr wrap="square" lIns="0" tIns="0" rIns="0" bIns="0" rtlCol="0" anchor="ctr">
            <a:normAutofit/>
          </a:bodyPr>
          <a:lstStyle/>
          <a:p>
            <a:pPr marL="0" indent="0" algn="l">
              <a:buNone/>
            </a:pPr>
            <a:r>
              <a:rPr lang="en-US" sz="2500" b="1" dirty="0">
                <a:solidFill>
                  <a:srgbClr val="1B365D"/>
                </a:solidFill>
                <a:latin typeface="Aptos Display" pitchFamily="34" charset="0"/>
                <a:ea typeface="Aptos Display" pitchFamily="34" charset="-122"/>
                <a:cs typeface="Aptos Display" pitchFamily="34" charset="-120"/>
              </a:rPr>
              <a:t>Week 2 summary</a:t>
            </a:r>
            <a:endParaRPr lang="en-US" sz="2500" dirty="0"/>
          </a:p>
        </p:txBody>
      </p:sp>
      <p:sp>
        <p:nvSpPr>
          <p:cNvPr id="3" name="Text 1"/>
          <p:cNvSpPr/>
          <p:nvPr/>
        </p:nvSpPr>
        <p:spPr>
          <a:xfrm>
            <a:off x="530352" y="749808"/>
            <a:ext cx="8412480" cy="219456"/>
          </a:xfrm>
          <a:prstGeom prst="rect">
            <a:avLst/>
          </a:prstGeom>
          <a:noFill/>
          <a:ln/>
        </p:spPr>
        <p:txBody>
          <a:bodyPr wrap="square" lIns="0" tIns="0" rIns="0" bIns="0" rtlCol="0" anchor="ctr">
            <a:normAutofit/>
          </a:bodyPr>
          <a:lstStyle/>
          <a:p>
            <a:pPr marL="0" indent="0" algn="l">
              <a:buNone/>
            </a:pPr>
            <a:r>
              <a:rPr lang="en-US" sz="850" dirty="0">
                <a:solidFill>
                  <a:srgbClr val="6B7280"/>
                </a:solidFill>
                <a:latin typeface="Aptos" pitchFamily="34" charset="0"/>
                <a:ea typeface="Aptos" pitchFamily="34" charset="-122"/>
                <a:cs typeface="Aptos" pitchFamily="34" charset="-120"/>
              </a:rPr>
              <a:t>What students should take away before Week 3</a:t>
            </a:r>
            <a:endParaRPr lang="en-US" sz="850" dirty="0"/>
          </a:p>
        </p:txBody>
      </p:sp>
      <p:sp>
        <p:nvSpPr>
          <p:cNvPr id="4" name="Shape 2"/>
          <p:cNvSpPr/>
          <p:nvPr/>
        </p:nvSpPr>
        <p:spPr>
          <a:xfrm>
            <a:off x="502920" y="1051560"/>
            <a:ext cx="11155680" cy="0"/>
          </a:xfrm>
          <a:prstGeom prst="line">
            <a:avLst/>
          </a:prstGeom>
          <a:noFill/>
          <a:ln w="12700">
            <a:solidFill>
              <a:srgbClr val="D7DEE8"/>
            </a:solidFill>
            <a:prstDash val="solid"/>
          </a:ln>
        </p:spPr>
      </p:sp>
      <p:sp>
        <p:nvSpPr>
          <p:cNvPr id="5" name="Text 3"/>
          <p:cNvSpPr/>
          <p:nvPr/>
        </p:nvSpPr>
        <p:spPr>
          <a:xfrm>
            <a:off x="502920" y="6537960"/>
            <a:ext cx="6766560" cy="164592"/>
          </a:xfrm>
          <a:prstGeom prst="rect">
            <a:avLst/>
          </a:prstGeom>
          <a:noFill/>
          <a:ln/>
        </p:spPr>
        <p:txBody>
          <a:bodyPr wrap="square" lIns="0" tIns="0" rIns="0" bIns="0" rtlCol="0" anchor="ctr">
            <a:normAutofit/>
          </a:bodyPr>
          <a:lstStyle/>
          <a:p>
            <a:pPr marL="0" indent="0" algn="l">
              <a:buNone/>
            </a:pPr>
            <a:r>
              <a:rPr lang="en-US" sz="800" dirty="0">
                <a:solidFill>
                  <a:srgbClr val="6B7280"/>
                </a:solidFill>
                <a:latin typeface="Aptos" pitchFamily="34" charset="0"/>
                <a:ea typeface="Aptos" pitchFamily="34" charset="-122"/>
                <a:cs typeface="Aptos" pitchFamily="34" charset="-120"/>
              </a:rPr>
              <a:t>CSCI 1101 · Programming Principles I · Week 2</a:t>
            </a:r>
            <a:endParaRPr lang="en-US" sz="800" dirty="0"/>
          </a:p>
        </p:txBody>
      </p:sp>
      <p:sp>
        <p:nvSpPr>
          <p:cNvPr id="6" name="Text 4"/>
          <p:cNvSpPr/>
          <p:nvPr/>
        </p:nvSpPr>
        <p:spPr>
          <a:xfrm>
            <a:off x="11448288" y="6455664"/>
            <a:ext cx="219456" cy="219456"/>
          </a:xfrm>
          <a:prstGeom prst="rect">
            <a:avLst/>
          </a:prstGeom>
          <a:solidFill>
            <a:srgbClr val="2F80ED"/>
          </a:solidFill>
          <a:ln>
            <a:solidFill>
              <a:srgbClr val="2F80ED"/>
            </a:solid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7" name="Text 5"/>
          <p:cNvSpPr/>
          <p:nvPr/>
        </p:nvSpPr>
        <p:spPr>
          <a:xfrm>
            <a:off x="868680" y="141732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2F80ED"/>
                </a:solidFill>
                <a:latin typeface="Aptos" pitchFamily="34" charset="0"/>
                <a:ea typeface="Aptos" pitchFamily="34" charset="-122"/>
                <a:cs typeface="Aptos" pitchFamily="34" charset="-120"/>
              </a:rPr>
              <a:t>Data types</a:t>
            </a:r>
            <a:endParaRPr lang="en-US" sz="1550" dirty="0"/>
          </a:p>
        </p:txBody>
      </p:sp>
      <p:sp>
        <p:nvSpPr>
          <p:cNvPr id="8" name="Text 6"/>
          <p:cNvSpPr/>
          <p:nvPr/>
        </p:nvSpPr>
        <p:spPr>
          <a:xfrm>
            <a:off x="2697480" y="144475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choose how values are stored and interpreted</a:t>
            </a:r>
            <a:endParaRPr lang="en-US" sz="1300" dirty="0"/>
          </a:p>
        </p:txBody>
      </p:sp>
      <p:sp>
        <p:nvSpPr>
          <p:cNvPr id="9" name="Text 7"/>
          <p:cNvSpPr/>
          <p:nvPr/>
        </p:nvSpPr>
        <p:spPr>
          <a:xfrm>
            <a:off x="868680" y="237744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27AE60"/>
                </a:solidFill>
                <a:latin typeface="Aptos" pitchFamily="34" charset="0"/>
                <a:ea typeface="Aptos" pitchFamily="34" charset="-122"/>
                <a:cs typeface="Aptos" pitchFamily="34" charset="-120"/>
              </a:rPr>
              <a:t>int vs double</a:t>
            </a:r>
            <a:endParaRPr lang="en-US" sz="1550" dirty="0"/>
          </a:p>
        </p:txBody>
      </p:sp>
      <p:sp>
        <p:nvSpPr>
          <p:cNvPr id="10" name="Text 8"/>
          <p:cNvSpPr/>
          <p:nvPr/>
        </p:nvSpPr>
        <p:spPr>
          <a:xfrm>
            <a:off x="2697480" y="240487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whole-number operations behave differently from decimal operations</a:t>
            </a:r>
            <a:endParaRPr lang="en-US" sz="1300" dirty="0"/>
          </a:p>
        </p:txBody>
      </p:sp>
      <p:sp>
        <p:nvSpPr>
          <p:cNvPr id="11" name="Text 9"/>
          <p:cNvSpPr/>
          <p:nvPr/>
        </p:nvSpPr>
        <p:spPr>
          <a:xfrm>
            <a:off x="868680" y="333756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F2C94C"/>
                </a:solidFill>
                <a:latin typeface="Aptos" pitchFamily="34" charset="0"/>
                <a:ea typeface="Aptos" pitchFamily="34" charset="-122"/>
                <a:cs typeface="Aptos" pitchFamily="34" charset="-120"/>
              </a:rPr>
              <a:t>char</a:t>
            </a:r>
            <a:endParaRPr lang="en-US" sz="1550" dirty="0"/>
          </a:p>
        </p:txBody>
      </p:sp>
      <p:sp>
        <p:nvSpPr>
          <p:cNvPr id="12" name="Text 10"/>
          <p:cNvSpPr/>
          <p:nvPr/>
        </p:nvSpPr>
        <p:spPr>
          <a:xfrm>
            <a:off x="2697480" y="336499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stores one symbol, not a word</a:t>
            </a:r>
            <a:endParaRPr lang="en-US" sz="1300" dirty="0"/>
          </a:p>
        </p:txBody>
      </p:sp>
      <p:sp>
        <p:nvSpPr>
          <p:cNvPr id="13" name="Text 11"/>
          <p:cNvSpPr/>
          <p:nvPr/>
        </p:nvSpPr>
        <p:spPr>
          <a:xfrm>
            <a:off x="6446520" y="141732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EB5757"/>
                </a:solidFill>
                <a:latin typeface="Aptos" pitchFamily="34" charset="0"/>
                <a:ea typeface="Aptos" pitchFamily="34" charset="-122"/>
                <a:cs typeface="Aptos" pitchFamily="34" charset="-120"/>
              </a:rPr>
              <a:t>Comparisons</a:t>
            </a:r>
            <a:endParaRPr lang="en-US" sz="1550" dirty="0"/>
          </a:p>
        </p:txBody>
      </p:sp>
      <p:sp>
        <p:nvSpPr>
          <p:cNvPr id="14" name="Text 12"/>
          <p:cNvSpPr/>
          <p:nvPr/>
        </p:nvSpPr>
        <p:spPr>
          <a:xfrm>
            <a:off x="8275320" y="144475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produce true/false values represented by numbers</a:t>
            </a:r>
            <a:endParaRPr lang="en-US" sz="1300" dirty="0"/>
          </a:p>
        </p:txBody>
      </p:sp>
      <p:sp>
        <p:nvSpPr>
          <p:cNvPr id="15" name="Text 13"/>
          <p:cNvSpPr/>
          <p:nvPr/>
        </p:nvSpPr>
        <p:spPr>
          <a:xfrm>
            <a:off x="6446520" y="237744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7B61FF"/>
                </a:solidFill>
                <a:latin typeface="Aptos" pitchFamily="34" charset="0"/>
                <a:ea typeface="Aptos" pitchFamily="34" charset="-122"/>
                <a:cs typeface="Aptos" pitchFamily="34" charset="-120"/>
              </a:rPr>
              <a:t>Conditionals</a:t>
            </a:r>
            <a:endParaRPr lang="en-US" sz="1550" dirty="0"/>
          </a:p>
        </p:txBody>
      </p:sp>
      <p:sp>
        <p:nvSpPr>
          <p:cNvPr id="16" name="Text 14"/>
          <p:cNvSpPr/>
          <p:nvPr/>
        </p:nvSpPr>
        <p:spPr>
          <a:xfrm>
            <a:off x="8275320" y="240487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make programs choose between paths</a:t>
            </a:r>
            <a:endParaRPr lang="en-US" sz="1300" dirty="0"/>
          </a:p>
        </p:txBody>
      </p:sp>
      <p:sp>
        <p:nvSpPr>
          <p:cNvPr id="17" name="Text 15"/>
          <p:cNvSpPr/>
          <p:nvPr/>
        </p:nvSpPr>
        <p:spPr>
          <a:xfrm>
            <a:off x="6446520" y="3337560"/>
            <a:ext cx="1828800" cy="292608"/>
          </a:xfrm>
          <a:prstGeom prst="rect">
            <a:avLst/>
          </a:prstGeom>
          <a:noFill/>
          <a:ln/>
        </p:spPr>
        <p:txBody>
          <a:bodyPr wrap="square" lIns="635" tIns="635" rIns="635" bIns="635" rtlCol="0" anchor="ctr">
            <a:normAutofit/>
          </a:bodyPr>
          <a:lstStyle/>
          <a:p>
            <a:pPr marL="0" indent="0" algn="l">
              <a:buNone/>
            </a:pPr>
            <a:r>
              <a:rPr lang="en-US" sz="1550" b="1" dirty="0">
                <a:solidFill>
                  <a:srgbClr val="56CCF2"/>
                </a:solidFill>
                <a:latin typeface="Aptos" pitchFamily="34" charset="0"/>
                <a:ea typeface="Aptos" pitchFamily="34" charset="-122"/>
                <a:cs typeface="Aptos" pitchFamily="34" charset="-120"/>
              </a:rPr>
              <a:t>Tracing</a:t>
            </a:r>
            <a:endParaRPr lang="en-US" sz="1550" dirty="0"/>
          </a:p>
        </p:txBody>
      </p:sp>
      <p:sp>
        <p:nvSpPr>
          <p:cNvPr id="18" name="Text 16"/>
          <p:cNvSpPr/>
          <p:nvPr/>
        </p:nvSpPr>
        <p:spPr>
          <a:xfrm>
            <a:off x="8275320" y="3364992"/>
            <a:ext cx="3017520" cy="256032"/>
          </a:xfrm>
          <a:prstGeom prst="rect">
            <a:avLst/>
          </a:prstGeom>
          <a:noFill/>
          <a:ln/>
        </p:spPr>
        <p:txBody>
          <a:bodyPr wrap="square" lIns="635" tIns="635" rIns="635" bIns="635" rtlCol="0" anchor="ctr">
            <a:normAutofit/>
          </a:bodyPr>
          <a:lstStyle/>
          <a:p>
            <a:pPr marL="0" indent="0" algn="l">
              <a:buNone/>
            </a:pPr>
            <a:r>
              <a:rPr lang="en-US" sz="1300" dirty="0">
                <a:solidFill>
                  <a:srgbClr val="1F2937"/>
                </a:solidFill>
                <a:latin typeface="Aptos" pitchFamily="34" charset="0"/>
                <a:ea typeface="Aptos" pitchFamily="34" charset="-122"/>
                <a:cs typeface="Aptos" pitchFamily="34" charset="-120"/>
              </a:rPr>
              <a:t>is the safest way to understand unfamiliar code</a:t>
            </a:r>
            <a:endParaRPr lang="en-US" sz="1300" dirty="0"/>
          </a:p>
        </p:txBody>
      </p:sp>
      <p:sp>
        <p:nvSpPr>
          <p:cNvPr id="19" name="Text 17"/>
          <p:cNvSpPr/>
          <p:nvPr/>
        </p:nvSpPr>
        <p:spPr>
          <a:xfrm>
            <a:off x="2011680" y="4800600"/>
            <a:ext cx="7955280" cy="896112"/>
          </a:xfrm>
          <a:prstGeom prst="rect">
            <a:avLst/>
          </a:prstGeom>
          <a:solidFill>
            <a:srgbClr val="111827"/>
          </a:solidFill>
          <a:ln w="12700">
            <a:solidFill>
              <a:srgbClr val="273244"/>
            </a:solidFill>
          </a:ln>
        </p:spPr>
        <p:txBody>
          <a:bodyPr wrap="square" lIns="1778" tIns="1778" rIns="1778" bIns="1778" rtlCol="0" anchor="t">
            <a:normAutofit/>
          </a:bodyPr>
          <a:lstStyle/>
          <a:p>
            <a:pPr marL="0" indent="0" algn="l">
              <a:buNone/>
            </a:pPr>
            <a:r>
              <a:rPr lang="en-US" sz="1420" dirty="0">
                <a:solidFill>
                  <a:srgbClr val="E5E7EB"/>
                </a:solidFill>
                <a:latin typeface="Cascadia Mono" pitchFamily="34" charset="0"/>
                <a:ea typeface="Cascadia Mono" pitchFamily="34" charset="-122"/>
                <a:cs typeface="Cascadia Mono" pitchFamily="34" charset="-120"/>
              </a:rPr>
              <a:t>// Always ask:</a:t>
            </a:r>
            <a:endParaRPr lang="en-US" sz="1420" dirty="0"/>
          </a:p>
          <a:p>
            <a:pPr marL="0" indent="0" algn="l">
              <a:buNone/>
            </a:pPr>
            <a:r>
              <a:rPr lang="en-US" sz="1420" dirty="0">
                <a:solidFill>
                  <a:srgbClr val="E5E7EB"/>
                </a:solidFill>
                <a:latin typeface="Cascadia Mono" pitchFamily="34" charset="0"/>
                <a:ea typeface="Cascadia Mono" pitchFamily="34" charset="-122"/>
                <a:cs typeface="Cascadia Mono" pitchFamily="34" charset="-120"/>
              </a:rPr>
              <a:t>// 1. What data do I need?</a:t>
            </a:r>
            <a:endParaRPr lang="en-US" sz="1420" dirty="0"/>
          </a:p>
          <a:p>
            <a:pPr marL="0" indent="0" algn="l">
              <a:buNone/>
            </a:pPr>
            <a:r>
              <a:rPr lang="en-US" sz="1420" dirty="0">
                <a:solidFill>
                  <a:srgbClr val="E5E7EB"/>
                </a:solidFill>
                <a:latin typeface="Cascadia Mono" pitchFamily="34" charset="0"/>
                <a:ea typeface="Cascadia Mono" pitchFamily="34" charset="-122"/>
                <a:cs typeface="Cascadia Mono" pitchFamily="34" charset="-120"/>
              </a:rPr>
              <a:t>// 2. What type should store it?</a:t>
            </a:r>
            <a:endParaRPr lang="en-US" sz="1420" dirty="0"/>
          </a:p>
          <a:p>
            <a:pPr marL="0" indent="0" algn="l">
              <a:buNone/>
            </a:pPr>
            <a:r>
              <a:rPr lang="en-US" sz="1420" dirty="0">
                <a:solidFill>
                  <a:srgbClr val="E5E7EB"/>
                </a:solidFill>
                <a:latin typeface="Cascadia Mono" pitchFamily="34" charset="0"/>
                <a:ea typeface="Cascadia Mono" pitchFamily="34" charset="-122"/>
                <a:cs typeface="Cascadia Mono" pitchFamily="34" charset="-120"/>
              </a:rPr>
              <a:t>// 3. What decisions must the program make?</a:t>
            </a:r>
            <a:endParaRPr lang="en-US" sz="14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0" ma:contentTypeDescription="Create a new document." ma:contentTypeScope="" ma:versionID="16305a12aecb9e0b68b9df3b394648fd">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C08159-0959-475F-ACAF-322E386BB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1D32272-7738-4115-8686-9AFAA4D5B313}">
  <ds:schemaRefs>
    <ds:schemaRef ds:uri="http://schemas.microsoft.com/sharepoint/v3/contenttype/forms"/>
  </ds:schemaRefs>
</ds:datastoreItem>
</file>

<file path=customXml/itemProps3.xml><?xml version="1.0" encoding="utf-8"?>
<ds:datastoreItem xmlns:ds="http://schemas.openxmlformats.org/officeDocument/2006/customXml" ds:itemID="{D501CAFF-C39D-4CD1-B575-1C7580B75F9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12258</Words>
  <Application>Microsoft Office PowerPoint</Application>
  <PresentationFormat>Widescreen</PresentationFormat>
  <Paragraphs>1372</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ADA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Data Types and Conditionals</dc:title>
  <dc:subject>CSCI 1101 Programming Principles I - Week 2</dc:subject>
  <dc:creator>Azar Aliyev</dc:creator>
  <cp:lastModifiedBy>Abbas Aliyev</cp:lastModifiedBy>
  <cp:revision>7</cp:revision>
  <dcterms:created xsi:type="dcterms:W3CDTF">2026-09-04T09:12:15Z</dcterms:created>
  <dcterms:modified xsi:type="dcterms:W3CDTF">2026-10-16T20:06:03Z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